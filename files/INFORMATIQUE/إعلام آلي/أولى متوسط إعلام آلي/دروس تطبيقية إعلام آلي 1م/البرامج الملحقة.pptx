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57" r:id="rId4"/>
    <p:sldId id="258" r:id="rId5"/>
    <p:sldId id="273" r:id="rId6"/>
    <p:sldId id="260" r:id="rId7"/>
    <p:sldId id="274" r:id="rId8"/>
    <p:sldId id="259" r:id="rId9"/>
    <p:sldId id="275" r:id="rId10"/>
    <p:sldId id="261" r:id="rId11"/>
    <p:sldId id="276" r:id="rId12"/>
    <p:sldId id="262" r:id="rId13"/>
    <p:sldId id="266" r:id="rId1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5BB4"/>
    <a:srgbClr val="C0504D"/>
    <a:srgbClr val="E34F5A"/>
    <a:srgbClr val="8C9BE8"/>
    <a:srgbClr val="E03C48"/>
    <a:srgbClr val="DF3541"/>
    <a:srgbClr val="E86E77"/>
    <a:srgbClr val="0000FF"/>
    <a:srgbClr val="0808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60"/>
  </p:normalViewPr>
  <p:slideViewPr>
    <p:cSldViewPr>
      <p:cViewPr varScale="1">
        <p:scale>
          <a:sx n="69" d="100"/>
          <a:sy n="69" d="100"/>
        </p:scale>
        <p:origin x="-141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14/08/2018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14/08/2018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14/08/2018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14/08/2018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14/08/2018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14/08/2018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14/08/2018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14/08/2018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14/08/2018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14/08/2018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14/08/2018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14/08/2018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17.tm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tmp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tm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14.png"/><Relationship Id="rId5" Type="http://schemas.openxmlformats.org/officeDocument/2006/relationships/image" Target="../media/image6.png"/><Relationship Id="rId10" Type="http://schemas.openxmlformats.org/officeDocument/2006/relationships/image" Target="../media/image13.png"/><Relationship Id="rId4" Type="http://schemas.openxmlformats.org/officeDocument/2006/relationships/image" Target="../media/image5.pn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besmallah.bmp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24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grpSp>
        <p:nvGrpSpPr>
          <p:cNvPr id="4" name="Groupe 3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5" name="Groupe 4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7" name="Groupe 180"/>
              <p:cNvGrpSpPr/>
              <p:nvPr/>
            </p:nvGrpSpPr>
            <p:grpSpPr>
              <a:xfrm>
                <a:off x="0" y="0"/>
                <a:ext cx="9144000" cy="6885384"/>
                <a:chOff x="0" y="0"/>
                <a:chExt cx="9144000" cy="6885384"/>
              </a:xfrm>
            </p:grpSpPr>
            <p:grpSp>
              <p:nvGrpSpPr>
                <p:cNvPr id="15" name="Groupe 18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17" name="Rectangle 16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E34F5A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18" name="Groupe 15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20" name="Rectangle 19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D75BB4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21" name="Rectangle 20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E34F5A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19" name="Rectangle 18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D75BB4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sp>
              <p:nvSpPr>
                <p:cNvPr id="16" name="ZoneTexte 15"/>
                <p:cNvSpPr txBox="1"/>
                <p:nvPr/>
              </p:nvSpPr>
              <p:spPr>
                <a:xfrm>
                  <a:off x="7164288" y="87015"/>
                  <a:ext cx="187220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400" b="1" dirty="0" smtClean="0">
                      <a:solidFill>
                        <a:schemeClr val="bg1"/>
                      </a:solidFill>
                    </a:rPr>
                    <a:t>المجال المفاهيمي</a:t>
                  </a:r>
                  <a:endParaRPr lang="fr-FR" sz="24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8" name="ZoneTexte 7"/>
              <p:cNvSpPr txBox="1"/>
              <p:nvPr/>
            </p:nvSpPr>
            <p:spPr>
              <a:xfrm>
                <a:off x="2339752" y="87015"/>
                <a:ext cx="34563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400" b="1" dirty="0" smtClean="0">
                    <a:solidFill>
                      <a:schemeClr val="bg1"/>
                    </a:solidFill>
                  </a:rPr>
                  <a:t>استخــــدام الحاســــــوب</a:t>
                </a:r>
                <a:endParaRPr lang="fr-FR" sz="2400" b="1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9" name="Image 8" descr="3-2-blogging-transparent-thumb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195736" y="6165304"/>
                <a:ext cx="864096" cy="741369"/>
              </a:xfrm>
              <a:prstGeom prst="rect">
                <a:avLst/>
              </a:prstGeom>
            </p:spPr>
          </p:pic>
          <p:pic>
            <p:nvPicPr>
              <p:cNvPr id="10" name="Picture 1" descr="C:\Users\RIDHA\Downloads\صور المعلوماتية\computer_pc_PNG7714.png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971600" y="0"/>
                <a:ext cx="1944216" cy="637297"/>
              </a:xfrm>
              <a:prstGeom prst="rect">
                <a:avLst/>
              </a:prstGeom>
              <a:noFill/>
            </p:spPr>
          </p:pic>
          <p:pic>
            <p:nvPicPr>
              <p:cNvPr id="11" name="Image 10" descr="12-2-education-png-image-thumb.pn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8388424" y="5976664"/>
                <a:ext cx="720080" cy="980728"/>
              </a:xfrm>
              <a:prstGeom prst="rect">
                <a:avLst/>
              </a:prstGeom>
            </p:spPr>
          </p:pic>
          <p:sp>
            <p:nvSpPr>
              <p:cNvPr id="12" name="ZoneTexte 11"/>
              <p:cNvSpPr txBox="1"/>
              <p:nvPr/>
            </p:nvSpPr>
            <p:spPr>
              <a:xfrm>
                <a:off x="5652120" y="6381328"/>
                <a:ext cx="2808312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1900" b="1" dirty="0" smtClean="0">
                    <a:solidFill>
                      <a:schemeClr val="bg1"/>
                    </a:solidFill>
                  </a:rPr>
                  <a:t>متوسطة قلواز </a:t>
                </a:r>
                <a:r>
                  <a:rPr lang="ar-DZ" sz="1900" b="1" dirty="0" err="1" smtClean="0">
                    <a:solidFill>
                      <a:schemeClr val="bg1"/>
                    </a:solidFill>
                  </a:rPr>
                  <a:t>موسى </a:t>
                </a:r>
                <a:r>
                  <a:rPr lang="ar-DZ" sz="1900" b="1" dirty="0" smtClean="0">
                    <a:solidFill>
                      <a:schemeClr val="bg1"/>
                    </a:solidFill>
                  </a:rPr>
                  <a:t>- بوراشد</a:t>
                </a:r>
                <a:endParaRPr lang="fr-FR" sz="19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ZoneTexte 12"/>
              <p:cNvSpPr txBox="1"/>
              <p:nvPr/>
            </p:nvSpPr>
            <p:spPr>
              <a:xfrm>
                <a:off x="-180528" y="6396335"/>
                <a:ext cx="24482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تصميم الأستاذ ماحي رضا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ZoneTexte 13"/>
              <p:cNvSpPr txBox="1"/>
              <p:nvPr/>
            </p:nvSpPr>
            <p:spPr>
              <a:xfrm>
                <a:off x="2987824" y="6381328"/>
                <a:ext cx="20882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المستوى:الأول متوسط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6" name="Image 5" descr="3d print business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88024" y="6274668"/>
              <a:ext cx="1440160" cy="583332"/>
            </a:xfrm>
            <a:prstGeom prst="rect">
              <a:avLst/>
            </a:prstGeom>
          </p:spPr>
        </p:pic>
      </p:grpSp>
      <p:pic>
        <p:nvPicPr>
          <p:cNvPr id="26" name="Image 25" descr="11-2-animation-png-hd-thumb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flipH="1">
            <a:off x="6516216" y="2193557"/>
            <a:ext cx="3672408" cy="3384376"/>
          </a:xfrm>
          <a:prstGeom prst="rect">
            <a:avLst/>
          </a:prstGeom>
        </p:spPr>
      </p:pic>
      <p:grpSp>
        <p:nvGrpSpPr>
          <p:cNvPr id="27" name="Group 77"/>
          <p:cNvGrpSpPr/>
          <p:nvPr/>
        </p:nvGrpSpPr>
        <p:grpSpPr>
          <a:xfrm rot="20065487">
            <a:off x="5360260" y="1471941"/>
            <a:ext cx="2577601" cy="2672434"/>
            <a:chOff x="914400" y="1122362"/>
            <a:chExt cx="2080267" cy="3453889"/>
          </a:xfrm>
        </p:grpSpPr>
        <p:sp>
          <p:nvSpPr>
            <p:cNvPr id="28" name="Freeform 6"/>
            <p:cNvSpPr>
              <a:spLocks/>
            </p:cNvSpPr>
            <p:nvPr/>
          </p:nvSpPr>
          <p:spPr bwMode="auto">
            <a:xfrm>
              <a:off x="1259206" y="4208781"/>
              <a:ext cx="1138806" cy="367470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433" y="0"/>
                </a:cxn>
                <a:cxn ang="0">
                  <a:pos x="657" y="193"/>
                </a:cxn>
                <a:cxn ang="0">
                  <a:pos x="0" y="35"/>
                </a:cxn>
              </a:cxnLst>
              <a:rect l="0" t="0" r="r" b="b"/>
              <a:pathLst>
                <a:path w="657" h="193">
                  <a:moveTo>
                    <a:pt x="0" y="35"/>
                  </a:moveTo>
                  <a:lnTo>
                    <a:pt x="433" y="0"/>
                  </a:lnTo>
                  <a:lnTo>
                    <a:pt x="657" y="193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7"/>
            <p:cNvSpPr>
              <a:spLocks/>
            </p:cNvSpPr>
            <p:nvPr/>
          </p:nvSpPr>
          <p:spPr bwMode="auto">
            <a:xfrm>
              <a:off x="1265879" y="3815606"/>
              <a:ext cx="1728788" cy="4858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89" y="176"/>
                </a:cxn>
                <a:cxn ang="0">
                  <a:pos x="9" y="265"/>
                </a:cxn>
                <a:cxn ang="0">
                  <a:pos x="0" y="0"/>
                </a:cxn>
              </a:cxnLst>
              <a:rect l="0" t="0" r="r" b="b"/>
              <a:pathLst>
                <a:path w="1089" h="265">
                  <a:moveTo>
                    <a:pt x="0" y="0"/>
                  </a:moveTo>
                  <a:lnTo>
                    <a:pt x="1089" y="176"/>
                  </a:lnTo>
                  <a:lnTo>
                    <a:pt x="9" y="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8"/>
            <p:cNvSpPr>
              <a:spLocks/>
            </p:cNvSpPr>
            <p:nvPr/>
          </p:nvSpPr>
          <p:spPr bwMode="auto">
            <a:xfrm>
              <a:off x="914400" y="1122362"/>
              <a:ext cx="2062163" cy="3013075"/>
            </a:xfrm>
            <a:custGeom>
              <a:avLst/>
              <a:gdLst/>
              <a:ahLst/>
              <a:cxnLst>
                <a:cxn ang="0">
                  <a:pos x="1299" y="1898"/>
                </a:cxn>
                <a:cxn ang="0">
                  <a:pos x="0" y="1689"/>
                </a:cxn>
                <a:cxn ang="0">
                  <a:pos x="0" y="0"/>
                </a:cxn>
                <a:cxn ang="0">
                  <a:pos x="1299" y="0"/>
                </a:cxn>
                <a:cxn ang="0">
                  <a:pos x="1299" y="1898"/>
                </a:cxn>
              </a:cxnLst>
              <a:rect l="0" t="0" r="r" b="b"/>
              <a:pathLst>
                <a:path w="1299" h="1898">
                  <a:moveTo>
                    <a:pt x="1299" y="1898"/>
                  </a:moveTo>
                  <a:lnTo>
                    <a:pt x="0" y="1689"/>
                  </a:lnTo>
                  <a:lnTo>
                    <a:pt x="0" y="0"/>
                  </a:lnTo>
                  <a:lnTo>
                    <a:pt x="1299" y="0"/>
                  </a:lnTo>
                  <a:lnTo>
                    <a:pt x="1299" y="1898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1" name="ZoneTexte 30"/>
          <p:cNvSpPr txBox="1"/>
          <p:nvPr/>
        </p:nvSpPr>
        <p:spPr>
          <a:xfrm rot="20130558">
            <a:off x="5236975" y="1742029"/>
            <a:ext cx="252069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ar-DZ" sz="2000" b="1" dirty="0" smtClean="0">
                <a:solidFill>
                  <a:schemeClr val="bg1"/>
                </a:solidFill>
              </a:rPr>
              <a:t>ينتمي نظام التشغيل </a:t>
            </a:r>
            <a:r>
              <a:rPr lang="fr-FR" sz="2000" b="1" dirty="0" smtClean="0">
                <a:solidFill>
                  <a:schemeClr val="bg1"/>
                </a:solidFill>
              </a:rPr>
              <a:t>Windows</a:t>
            </a:r>
            <a:r>
              <a:rPr lang="ar-DZ" sz="2000" b="1" dirty="0" smtClean="0">
                <a:solidFill>
                  <a:schemeClr val="bg1"/>
                </a:solidFill>
              </a:rPr>
              <a:t> إلى البرمجيات وهو يحتوي على عدة برامج ملحقة به مهمة ولكل منها دور معين. </a:t>
            </a:r>
            <a:endParaRPr lang="fr-FR" sz="2000" dirty="0">
              <a:solidFill>
                <a:schemeClr val="bg1"/>
              </a:solidFill>
            </a:endParaRPr>
          </a:p>
        </p:txBody>
      </p:sp>
      <p:pic>
        <p:nvPicPr>
          <p:cNvPr id="32" name="Image 31" descr="Person-question-2-151x300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-108520" y="2204864"/>
            <a:ext cx="1438275" cy="3289548"/>
          </a:xfrm>
          <a:prstGeom prst="rect">
            <a:avLst/>
          </a:prstGeom>
        </p:spPr>
      </p:pic>
      <p:sp>
        <p:nvSpPr>
          <p:cNvPr id="33" name="Pensées 32"/>
          <p:cNvSpPr/>
          <p:nvPr/>
        </p:nvSpPr>
        <p:spPr>
          <a:xfrm>
            <a:off x="827584" y="980728"/>
            <a:ext cx="3672408" cy="1800200"/>
          </a:xfrm>
          <a:prstGeom prst="cloudCallout">
            <a:avLst>
              <a:gd name="adj1" fmla="val -49179"/>
              <a:gd name="adj2" fmla="val 74222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4" name="ZoneTexte 33"/>
          <p:cNvSpPr txBox="1"/>
          <p:nvPr/>
        </p:nvSpPr>
        <p:spPr>
          <a:xfrm>
            <a:off x="899592" y="1558533"/>
            <a:ext cx="3528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ماهي هذه البرامج؟</a:t>
            </a:r>
            <a:endParaRPr lang="fr-FR" sz="20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35" name="Picture 4" descr="C:\Users\RIDHA\Pictures\Image13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123728" y="4149080"/>
            <a:ext cx="1224136" cy="2220466"/>
          </a:xfrm>
          <a:prstGeom prst="rect">
            <a:avLst/>
          </a:prstGeom>
          <a:noFill/>
        </p:spPr>
      </p:pic>
      <p:grpSp>
        <p:nvGrpSpPr>
          <p:cNvPr id="36" name="Groupe 35"/>
          <p:cNvGrpSpPr/>
          <p:nvPr/>
        </p:nvGrpSpPr>
        <p:grpSpPr>
          <a:xfrm>
            <a:off x="2627784" y="3717032"/>
            <a:ext cx="2160240" cy="648072"/>
            <a:chOff x="3563888" y="1268760"/>
            <a:chExt cx="2664296" cy="936104"/>
          </a:xfrm>
        </p:grpSpPr>
        <p:sp>
          <p:nvSpPr>
            <p:cNvPr id="37" name="Pensées 36"/>
            <p:cNvSpPr/>
            <p:nvPr/>
          </p:nvSpPr>
          <p:spPr>
            <a:xfrm>
              <a:off x="3563888" y="1268760"/>
              <a:ext cx="2664296" cy="936104"/>
            </a:xfrm>
            <a:prstGeom prst="cloudCallout">
              <a:avLst>
                <a:gd name="adj1" fmla="val -25273"/>
                <a:gd name="adj2" fmla="val 9506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rtl="1"/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38" name="ZoneTexte 37"/>
            <p:cNvSpPr txBox="1"/>
            <p:nvPr/>
          </p:nvSpPr>
          <p:spPr>
            <a:xfrm>
              <a:off x="3779913" y="1484784"/>
              <a:ext cx="2304256" cy="5779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000" b="1" dirty="0" smtClean="0"/>
                <a:t>الإجابة برفع الإصبع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 tmFilter="0,0; .5, 1; 1, 1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5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5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000"/>
                            </p:stCondLst>
                            <p:childTnLst>
                              <p:par>
                                <p:cTn id="3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7500"/>
                            </p:stCondLst>
                            <p:childTnLst>
                              <p:par>
                                <p:cTn id="3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3" grpId="0" animBg="1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/>
          <p:cNvGrpSpPr/>
          <p:nvPr/>
        </p:nvGrpSpPr>
        <p:grpSpPr>
          <a:xfrm>
            <a:off x="0" y="620689"/>
            <a:ext cx="9144000" cy="5760639"/>
            <a:chOff x="0" y="620689"/>
            <a:chExt cx="9144000" cy="5600015"/>
          </a:xfrm>
        </p:grpSpPr>
        <p:pic>
          <p:nvPicPr>
            <p:cNvPr id="2" name="Image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20689"/>
              <a:ext cx="9144000" cy="5600015"/>
            </a:xfrm>
            <a:prstGeom prst="rect">
              <a:avLst/>
            </a:prstGeom>
          </p:spPr>
        </p:pic>
        <p:sp>
          <p:nvSpPr>
            <p:cNvPr id="3" name="Rectangle 2"/>
            <p:cNvSpPr/>
            <p:nvPr/>
          </p:nvSpPr>
          <p:spPr>
            <a:xfrm>
              <a:off x="2267744" y="2300693"/>
              <a:ext cx="4392488" cy="1800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D75BB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5" name="Groupe 4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6" name="Groupe 4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8" name="Groupe 180"/>
              <p:cNvGrpSpPr/>
              <p:nvPr/>
            </p:nvGrpSpPr>
            <p:grpSpPr>
              <a:xfrm>
                <a:off x="0" y="0"/>
                <a:ext cx="9144000" cy="6885384"/>
                <a:chOff x="0" y="0"/>
                <a:chExt cx="9144000" cy="6885384"/>
              </a:xfrm>
            </p:grpSpPr>
            <p:grpSp>
              <p:nvGrpSpPr>
                <p:cNvPr id="16" name="Groupe 18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18" name="Rectangle 17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E34F5A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19" name="Groupe 15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21" name="Rectangle 20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D75BB4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22" name="Rectangle 21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E34F5A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20" name="Rectangle 19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D75BB4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sp>
              <p:nvSpPr>
                <p:cNvPr id="17" name="ZoneTexte 16"/>
                <p:cNvSpPr txBox="1"/>
                <p:nvPr/>
              </p:nvSpPr>
              <p:spPr>
                <a:xfrm>
                  <a:off x="7164288" y="87015"/>
                  <a:ext cx="187220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400" b="1" dirty="0" smtClean="0">
                      <a:solidFill>
                        <a:schemeClr val="bg1"/>
                      </a:solidFill>
                    </a:rPr>
                    <a:t>المجال المفاهيمي</a:t>
                  </a:r>
                  <a:endParaRPr lang="fr-FR" sz="24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9" name="ZoneTexte 8"/>
              <p:cNvSpPr txBox="1"/>
              <p:nvPr/>
            </p:nvSpPr>
            <p:spPr>
              <a:xfrm>
                <a:off x="2339752" y="87015"/>
                <a:ext cx="34563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400" b="1" dirty="0" smtClean="0">
                    <a:solidFill>
                      <a:schemeClr val="bg1"/>
                    </a:solidFill>
                  </a:rPr>
                  <a:t>استخــــدام الحاســــــوب</a:t>
                </a:r>
                <a:endParaRPr lang="fr-FR" sz="2400" b="1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" name="Image 9" descr="3-2-blogging-transparent-thumb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195736" y="6165304"/>
                <a:ext cx="864096" cy="741369"/>
              </a:xfrm>
              <a:prstGeom prst="rect">
                <a:avLst/>
              </a:prstGeom>
            </p:spPr>
          </p:pic>
          <p:pic>
            <p:nvPicPr>
              <p:cNvPr id="11" name="Picture 1" descr="C:\Users\RIDHA\Downloads\صور المعلوماتية\computer_pc_PNG7714.png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971600" y="0"/>
                <a:ext cx="1944216" cy="637297"/>
              </a:xfrm>
              <a:prstGeom prst="rect">
                <a:avLst/>
              </a:prstGeom>
              <a:noFill/>
            </p:spPr>
          </p:pic>
          <p:pic>
            <p:nvPicPr>
              <p:cNvPr id="12" name="Image 11" descr="12-2-education-png-image-thumb.pn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8388424" y="5976664"/>
                <a:ext cx="720080" cy="980728"/>
              </a:xfrm>
              <a:prstGeom prst="rect">
                <a:avLst/>
              </a:prstGeom>
            </p:spPr>
          </p:pic>
          <p:sp>
            <p:nvSpPr>
              <p:cNvPr id="13" name="ZoneTexte 12"/>
              <p:cNvSpPr txBox="1"/>
              <p:nvPr/>
            </p:nvSpPr>
            <p:spPr>
              <a:xfrm>
                <a:off x="5652120" y="6381328"/>
                <a:ext cx="2808312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1900" b="1" dirty="0" smtClean="0">
                    <a:solidFill>
                      <a:schemeClr val="bg1"/>
                    </a:solidFill>
                  </a:rPr>
                  <a:t>متوسطة قلواز </a:t>
                </a:r>
                <a:r>
                  <a:rPr lang="ar-DZ" sz="1900" b="1" dirty="0" err="1" smtClean="0">
                    <a:solidFill>
                      <a:schemeClr val="bg1"/>
                    </a:solidFill>
                  </a:rPr>
                  <a:t>موسى </a:t>
                </a:r>
                <a:r>
                  <a:rPr lang="ar-DZ" sz="1900" b="1" dirty="0" smtClean="0">
                    <a:solidFill>
                      <a:schemeClr val="bg1"/>
                    </a:solidFill>
                  </a:rPr>
                  <a:t>- بوراشد</a:t>
                </a:r>
                <a:endParaRPr lang="fr-FR" sz="19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ZoneTexte 13"/>
              <p:cNvSpPr txBox="1"/>
              <p:nvPr/>
            </p:nvSpPr>
            <p:spPr>
              <a:xfrm>
                <a:off x="-180528" y="6396335"/>
                <a:ext cx="24482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تصميم الأستاذ ماحي رضا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ZoneTexte 14"/>
              <p:cNvSpPr txBox="1"/>
              <p:nvPr/>
            </p:nvSpPr>
            <p:spPr>
              <a:xfrm>
                <a:off x="2987824" y="6381328"/>
                <a:ext cx="20882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المستوى:الأول متوسط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7" name="Image 6" descr="3d print business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88024" y="6274668"/>
              <a:ext cx="1440160" cy="583332"/>
            </a:xfrm>
            <a:prstGeom prst="rect">
              <a:avLst/>
            </a:prstGeom>
          </p:spPr>
        </p:pic>
      </p:grpSp>
      <p:pic>
        <p:nvPicPr>
          <p:cNvPr id="39" name="Picture 6" descr="G:\Bibliotaque video\desigin\3D man\Vector.Character.Plarinum.Bundle.eps-ai-psd-png_2\Vector.Character.Plarinum.Bundle.eps-ai-psd-png\malepack2\Young_Businessman_Vector_Character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732240" y="1867327"/>
            <a:ext cx="2182525" cy="42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ZoneTexte 35"/>
          <p:cNvSpPr txBox="1"/>
          <p:nvPr/>
        </p:nvSpPr>
        <p:spPr>
          <a:xfrm>
            <a:off x="1979712" y="2339589"/>
            <a:ext cx="46805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500" b="1" dirty="0" smtClean="0">
                <a:solidFill>
                  <a:srgbClr val="FFFF00"/>
                </a:solidFill>
              </a:rPr>
              <a:t>المجال المفاهيمي: </a:t>
            </a:r>
            <a:r>
              <a:rPr lang="ar-DZ" sz="2500" b="1" dirty="0" smtClean="0">
                <a:solidFill>
                  <a:schemeClr val="bg1"/>
                </a:solidFill>
              </a:rPr>
              <a:t>استخدام الحاسوب</a:t>
            </a:r>
            <a:r>
              <a:rPr lang="ar-DZ" sz="2500" b="1" dirty="0" smtClean="0">
                <a:solidFill>
                  <a:srgbClr val="FF0000"/>
                </a:solidFill>
              </a:rPr>
              <a:t> </a:t>
            </a:r>
            <a:endParaRPr lang="fr-FR" sz="2500" b="1" dirty="0">
              <a:solidFill>
                <a:srgbClr val="FF0000"/>
              </a:solidFill>
            </a:endParaRPr>
          </a:p>
        </p:txBody>
      </p:sp>
      <p:sp>
        <p:nvSpPr>
          <p:cNvPr id="37" name="ZoneTexte 36"/>
          <p:cNvSpPr txBox="1"/>
          <p:nvPr/>
        </p:nvSpPr>
        <p:spPr>
          <a:xfrm>
            <a:off x="1979712" y="2807930"/>
            <a:ext cx="46805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500" b="1" dirty="0" smtClean="0">
                <a:solidFill>
                  <a:srgbClr val="FFFF00"/>
                </a:solidFill>
              </a:rPr>
              <a:t>الوحدة المفاهمية:  </a:t>
            </a:r>
            <a:r>
              <a:rPr lang="ar-DZ" sz="2500" b="1" dirty="0" smtClean="0">
                <a:solidFill>
                  <a:schemeClr val="bg1"/>
                </a:solidFill>
              </a:rPr>
              <a:t>نظام التشغيل</a:t>
            </a:r>
            <a:endParaRPr lang="fr-FR" sz="2500" b="1" dirty="0">
              <a:solidFill>
                <a:srgbClr val="FF0000"/>
              </a:solidFill>
            </a:endParaRPr>
          </a:p>
        </p:txBody>
      </p:sp>
      <p:sp>
        <p:nvSpPr>
          <p:cNvPr id="38" name="ZoneTexte 37"/>
          <p:cNvSpPr txBox="1"/>
          <p:nvPr/>
        </p:nvSpPr>
        <p:spPr>
          <a:xfrm>
            <a:off x="2051720" y="3287306"/>
            <a:ext cx="460851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500" b="1" dirty="0" smtClean="0">
                <a:solidFill>
                  <a:srgbClr val="FFFF00"/>
                </a:solidFill>
              </a:rPr>
              <a:t>الحصة التعلمية: </a:t>
            </a:r>
            <a:r>
              <a:rPr lang="ar-DZ" sz="2500" b="1" dirty="0" smtClean="0">
                <a:solidFill>
                  <a:schemeClr val="bg1"/>
                </a:solidFill>
              </a:rPr>
              <a:t>استعمال برنامج الحاسبة والرسام والدفتر</a:t>
            </a:r>
            <a:endParaRPr lang="fr-FR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950"/>
                            </p:stCondLst>
                            <p:childTnLst>
                              <p:par>
                                <p:cTn id="1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 tmFilter="0,0; .5, 1; 1, 1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750"/>
                            </p:stCondLst>
                            <p:childTnLst>
                              <p:par>
                                <p:cTn id="21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 tmFilter="0,0; .5, 1; 1, 1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57" y="620688"/>
            <a:ext cx="9144000" cy="5645442"/>
          </a:xfrm>
          <a:prstGeom prst="rect">
            <a:avLst/>
          </a:prstGeom>
        </p:spPr>
      </p:pic>
      <p:grpSp>
        <p:nvGrpSpPr>
          <p:cNvPr id="56" name="Groupe 55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5" name="Groupe 4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14" name="Groupe 18"/>
              <p:cNvGrpSpPr/>
              <p:nvPr/>
            </p:nvGrpSpPr>
            <p:grpSpPr>
              <a:xfrm>
                <a:off x="0" y="0"/>
                <a:ext cx="9144000" cy="6885384"/>
                <a:chOff x="0" y="0"/>
                <a:chExt cx="9144000" cy="6885384"/>
              </a:xfrm>
            </p:grpSpPr>
            <p:sp>
              <p:nvSpPr>
                <p:cNvPr id="16" name="Rectangle 15"/>
                <p:cNvSpPr/>
                <p:nvPr/>
              </p:nvSpPr>
              <p:spPr>
                <a:xfrm rot="10800000" flipV="1">
                  <a:off x="0" y="0"/>
                  <a:ext cx="6983760" cy="620688"/>
                </a:xfrm>
                <a:prstGeom prst="rect">
                  <a:avLst/>
                </a:prstGeom>
                <a:solidFill>
                  <a:srgbClr val="E34F5A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grpSp>
              <p:nvGrpSpPr>
                <p:cNvPr id="17" name="Groupe 15"/>
                <p:cNvGrpSpPr/>
                <p:nvPr/>
              </p:nvGrpSpPr>
              <p:grpSpPr>
                <a:xfrm>
                  <a:off x="0" y="6237312"/>
                  <a:ext cx="9144000" cy="648072"/>
                  <a:chOff x="0" y="6237312"/>
                  <a:chExt cx="9144000" cy="648072"/>
                </a:xfrm>
              </p:grpSpPr>
              <p:sp>
                <p:nvSpPr>
                  <p:cNvPr id="19" name="Rectangle 18"/>
                  <p:cNvSpPr/>
                  <p:nvPr/>
                </p:nvSpPr>
                <p:spPr>
                  <a:xfrm>
                    <a:off x="0" y="6309320"/>
                    <a:ext cx="9144000" cy="576064"/>
                  </a:xfrm>
                  <a:prstGeom prst="rect">
                    <a:avLst/>
                  </a:prstGeom>
                  <a:solidFill>
                    <a:srgbClr val="D75BB4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20" name="Rectangle 19"/>
                  <p:cNvSpPr/>
                  <p:nvPr/>
                </p:nvSpPr>
                <p:spPr>
                  <a:xfrm flipV="1">
                    <a:off x="0" y="6237312"/>
                    <a:ext cx="9144000" cy="72008"/>
                  </a:xfrm>
                  <a:prstGeom prst="rect">
                    <a:avLst/>
                  </a:prstGeom>
                  <a:solidFill>
                    <a:srgbClr val="E34F5A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sp>
              <p:nvSpPr>
                <p:cNvPr id="18" name="Rectangle 17"/>
                <p:cNvSpPr/>
                <p:nvPr/>
              </p:nvSpPr>
              <p:spPr>
                <a:xfrm rot="10800000" flipV="1">
                  <a:off x="7020272" y="0"/>
                  <a:ext cx="2123728" cy="620688"/>
                </a:xfrm>
                <a:prstGeom prst="rect">
                  <a:avLst/>
                </a:prstGeom>
                <a:solidFill>
                  <a:srgbClr val="D75BB4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  <p:pic>
            <p:nvPicPr>
              <p:cNvPr id="8" name="Image 7" descr="3-2-blogging-transparent-thumb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195736" y="6165304"/>
                <a:ext cx="864096" cy="741369"/>
              </a:xfrm>
              <a:prstGeom prst="rect">
                <a:avLst/>
              </a:prstGeom>
            </p:spPr>
          </p:pic>
          <p:pic>
            <p:nvPicPr>
              <p:cNvPr id="10" name="Image 9" descr="12-2-education-png-image-thumb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388424" y="5976664"/>
                <a:ext cx="720080" cy="980728"/>
              </a:xfrm>
              <a:prstGeom prst="rect">
                <a:avLst/>
              </a:prstGeom>
            </p:spPr>
          </p:pic>
          <p:sp>
            <p:nvSpPr>
              <p:cNvPr id="11" name="ZoneTexte 10"/>
              <p:cNvSpPr txBox="1"/>
              <p:nvPr/>
            </p:nvSpPr>
            <p:spPr>
              <a:xfrm>
                <a:off x="5652120" y="6381328"/>
                <a:ext cx="2808312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1900" b="1" dirty="0" smtClean="0">
                    <a:solidFill>
                      <a:schemeClr val="bg1"/>
                    </a:solidFill>
                  </a:rPr>
                  <a:t>متوسطة قلواز </a:t>
                </a:r>
                <a:r>
                  <a:rPr lang="ar-DZ" sz="1900" b="1" dirty="0" err="1" smtClean="0">
                    <a:solidFill>
                      <a:schemeClr val="bg1"/>
                    </a:solidFill>
                  </a:rPr>
                  <a:t>موسى </a:t>
                </a:r>
                <a:r>
                  <a:rPr lang="ar-DZ" sz="1900" b="1" dirty="0" smtClean="0">
                    <a:solidFill>
                      <a:schemeClr val="bg1"/>
                    </a:solidFill>
                  </a:rPr>
                  <a:t>- بوراشد</a:t>
                </a:r>
                <a:endParaRPr lang="fr-FR" sz="19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ZoneTexte 11"/>
              <p:cNvSpPr txBox="1"/>
              <p:nvPr/>
            </p:nvSpPr>
            <p:spPr>
              <a:xfrm>
                <a:off x="-180528" y="6396335"/>
                <a:ext cx="24482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تصميم الأستاذ ماحي رضا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ZoneTexte 12"/>
              <p:cNvSpPr txBox="1"/>
              <p:nvPr/>
            </p:nvSpPr>
            <p:spPr>
              <a:xfrm>
                <a:off x="2987824" y="6413266"/>
                <a:ext cx="20882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المستوى:الأول متوسط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55" name="Image 54" descr="3d print business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88024" y="6274668"/>
              <a:ext cx="1440160" cy="583332"/>
            </a:xfrm>
            <a:prstGeom prst="rect">
              <a:avLst/>
            </a:prstGeom>
          </p:spPr>
        </p:pic>
      </p:grpSp>
      <p:sp>
        <p:nvSpPr>
          <p:cNvPr id="133" name="Shape 856"/>
          <p:cNvSpPr/>
          <p:nvPr/>
        </p:nvSpPr>
        <p:spPr>
          <a:xfrm>
            <a:off x="7698639" y="2512060"/>
            <a:ext cx="457251" cy="5072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135" name="Shape 859"/>
          <p:cNvSpPr/>
          <p:nvPr/>
        </p:nvSpPr>
        <p:spPr>
          <a:xfrm>
            <a:off x="5178359" y="2520663"/>
            <a:ext cx="2566052" cy="4954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165" name="Shape 856"/>
          <p:cNvSpPr/>
          <p:nvPr/>
        </p:nvSpPr>
        <p:spPr>
          <a:xfrm>
            <a:off x="7698639" y="3273891"/>
            <a:ext cx="457251" cy="5072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167" name="Shape 859"/>
          <p:cNvSpPr/>
          <p:nvPr/>
        </p:nvSpPr>
        <p:spPr>
          <a:xfrm>
            <a:off x="5178359" y="3282494"/>
            <a:ext cx="2566052" cy="4954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169" name="Shape 856"/>
          <p:cNvSpPr/>
          <p:nvPr/>
        </p:nvSpPr>
        <p:spPr>
          <a:xfrm>
            <a:off x="4569443" y="2519988"/>
            <a:ext cx="457251" cy="5072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D75BB4"/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171" name="Shape 859"/>
          <p:cNvSpPr/>
          <p:nvPr/>
        </p:nvSpPr>
        <p:spPr>
          <a:xfrm>
            <a:off x="2049163" y="2528591"/>
            <a:ext cx="2566052" cy="4954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solidFill>
            <a:srgbClr val="D75BB4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173" name="Shape 856"/>
          <p:cNvSpPr/>
          <p:nvPr/>
        </p:nvSpPr>
        <p:spPr>
          <a:xfrm>
            <a:off x="4569443" y="3258503"/>
            <a:ext cx="457251" cy="5072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175" name="Shape 859"/>
          <p:cNvSpPr/>
          <p:nvPr/>
        </p:nvSpPr>
        <p:spPr>
          <a:xfrm>
            <a:off x="2049163" y="3267106"/>
            <a:ext cx="2566052" cy="4954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106" name="ZoneTexte 105"/>
          <p:cNvSpPr txBox="1"/>
          <p:nvPr/>
        </p:nvSpPr>
        <p:spPr>
          <a:xfrm>
            <a:off x="7770647" y="2492896"/>
            <a:ext cx="288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chemeClr val="bg1"/>
                </a:solidFill>
              </a:rPr>
              <a:t>1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176" name="ZoneTexte 175"/>
          <p:cNvSpPr txBox="1"/>
          <p:nvPr/>
        </p:nvSpPr>
        <p:spPr>
          <a:xfrm>
            <a:off x="7770647" y="3235562"/>
            <a:ext cx="288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r-FR" sz="2800" b="1" dirty="0" smtClean="0">
                <a:solidFill>
                  <a:schemeClr val="bg1"/>
                </a:solidFill>
              </a:rPr>
              <a:t>2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177" name="ZoneTexte 176"/>
          <p:cNvSpPr txBox="1"/>
          <p:nvPr/>
        </p:nvSpPr>
        <p:spPr>
          <a:xfrm>
            <a:off x="4641451" y="2500823"/>
            <a:ext cx="288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r-FR" sz="2800" b="1" dirty="0" smtClean="0">
                <a:solidFill>
                  <a:schemeClr val="bg1"/>
                </a:solidFill>
              </a:rPr>
              <a:t>3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178" name="ZoneTexte 177"/>
          <p:cNvSpPr txBox="1"/>
          <p:nvPr/>
        </p:nvSpPr>
        <p:spPr>
          <a:xfrm>
            <a:off x="4641451" y="3239338"/>
            <a:ext cx="288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r-FR" sz="2800" b="1" dirty="0" smtClean="0">
                <a:solidFill>
                  <a:schemeClr val="bg1"/>
                </a:solidFill>
              </a:rPr>
              <a:t>4</a:t>
            </a:r>
            <a:endParaRPr lang="fr-FR" sz="2800" b="1" dirty="0">
              <a:solidFill>
                <a:schemeClr val="bg1"/>
              </a:solidFill>
            </a:endParaRPr>
          </a:p>
        </p:txBody>
      </p:sp>
      <p:pic>
        <p:nvPicPr>
          <p:cNvPr id="179" name="Picture 6" descr="G:\Bibliotaque video\desigin\3D man\Vector.Character.Plarinum.Bundle.eps-ai-psd-png_2\Vector.Character.Plarinum.Bundle.eps-ai-psd-png\malepack2\Young_Businessman_Vector_Character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1484784"/>
            <a:ext cx="2160241" cy="3801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0" name="ZoneTexte 179"/>
          <p:cNvSpPr txBox="1"/>
          <p:nvPr/>
        </p:nvSpPr>
        <p:spPr>
          <a:xfrm>
            <a:off x="5652120" y="2546989"/>
            <a:ext cx="20162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200" b="1" dirty="0" smtClean="0">
                <a:solidFill>
                  <a:schemeClr val="bg1"/>
                </a:solidFill>
              </a:rPr>
              <a:t>برنامج الحاسبة</a:t>
            </a:r>
            <a:endParaRPr lang="fr-FR" sz="2200" b="1" dirty="0">
              <a:solidFill>
                <a:schemeClr val="bg1"/>
              </a:solidFill>
            </a:endParaRPr>
          </a:p>
        </p:txBody>
      </p:sp>
      <p:sp>
        <p:nvSpPr>
          <p:cNvPr id="181" name="ZoneTexte 180"/>
          <p:cNvSpPr txBox="1"/>
          <p:nvPr/>
        </p:nvSpPr>
        <p:spPr>
          <a:xfrm>
            <a:off x="5652120" y="3284984"/>
            <a:ext cx="20162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200" b="1" dirty="0" smtClean="0">
                <a:solidFill>
                  <a:schemeClr val="bg1"/>
                </a:solidFill>
              </a:rPr>
              <a:t>برنامج الرسام</a:t>
            </a:r>
            <a:endParaRPr lang="fr-FR" sz="2200" b="1" dirty="0">
              <a:solidFill>
                <a:schemeClr val="bg1"/>
              </a:solidFill>
            </a:endParaRPr>
          </a:p>
        </p:txBody>
      </p:sp>
      <p:sp>
        <p:nvSpPr>
          <p:cNvPr id="182" name="ZoneTexte 181"/>
          <p:cNvSpPr txBox="1"/>
          <p:nvPr/>
        </p:nvSpPr>
        <p:spPr>
          <a:xfrm>
            <a:off x="1977155" y="2566065"/>
            <a:ext cx="259228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200" b="1" dirty="0" smtClean="0">
                <a:solidFill>
                  <a:schemeClr val="bg1"/>
                </a:solidFill>
              </a:rPr>
              <a:t>برنامج الدفتر</a:t>
            </a:r>
            <a:endParaRPr lang="fr-FR" sz="2200" b="1" dirty="0">
              <a:solidFill>
                <a:schemeClr val="bg1"/>
              </a:solidFill>
            </a:endParaRPr>
          </a:p>
        </p:txBody>
      </p:sp>
      <p:sp>
        <p:nvSpPr>
          <p:cNvPr id="183" name="ZoneTexte 182"/>
          <p:cNvSpPr txBox="1"/>
          <p:nvPr/>
        </p:nvSpPr>
        <p:spPr>
          <a:xfrm>
            <a:off x="2337195" y="3331671"/>
            <a:ext cx="22322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200" b="1" dirty="0" smtClean="0">
                <a:solidFill>
                  <a:schemeClr val="bg1"/>
                </a:solidFill>
              </a:rPr>
              <a:t>تشغيل البرامج</a:t>
            </a:r>
            <a:endParaRPr lang="fr-FR" sz="2200" b="1" dirty="0">
              <a:solidFill>
                <a:schemeClr val="bg1"/>
              </a:solidFill>
            </a:endParaRPr>
          </a:p>
        </p:txBody>
      </p:sp>
      <p:sp>
        <p:nvSpPr>
          <p:cNvPr id="38" name="ZoneTexte 37"/>
          <p:cNvSpPr txBox="1"/>
          <p:nvPr/>
        </p:nvSpPr>
        <p:spPr>
          <a:xfrm>
            <a:off x="6948264" y="44624"/>
            <a:ext cx="2123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الحصة </a:t>
            </a:r>
            <a:r>
              <a:rPr lang="ar-DZ" sz="2800" b="1" dirty="0" err="1" smtClean="0">
                <a:solidFill>
                  <a:schemeClr val="bg1"/>
                </a:solidFill>
              </a:rPr>
              <a:t>التعلمية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39" name="ZoneTexte 38"/>
          <p:cNvSpPr txBox="1"/>
          <p:nvPr/>
        </p:nvSpPr>
        <p:spPr>
          <a:xfrm>
            <a:off x="2627784" y="44624"/>
            <a:ext cx="4032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استعمال الحاسبة والرسام والدفتر</a:t>
            </a:r>
            <a:endParaRPr lang="fr-FR" sz="2800" b="1" dirty="0">
              <a:solidFill>
                <a:schemeClr val="bg1"/>
              </a:solidFill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643" y="3041"/>
            <a:ext cx="626185" cy="626185"/>
          </a:xfrm>
          <a:prstGeom prst="rect">
            <a:avLst/>
          </a:prstGeom>
        </p:spPr>
      </p:pic>
      <p:pic>
        <p:nvPicPr>
          <p:cNvPr id="47" name="Image 46"/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39112"/>
            <a:ext cx="504056" cy="5245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 animBg="1"/>
      <p:bldP spid="135" grpId="0" animBg="1"/>
      <p:bldP spid="165" grpId="0" animBg="1"/>
      <p:bldP spid="167" grpId="0" animBg="1"/>
      <p:bldP spid="169" grpId="0" animBg="1"/>
      <p:bldP spid="171" grpId="0" animBg="1"/>
      <p:bldP spid="173" grpId="0" animBg="1"/>
      <p:bldP spid="175" grpId="0" animBg="1"/>
      <p:bldP spid="106" grpId="0"/>
      <p:bldP spid="176" grpId="0"/>
      <p:bldP spid="177" grpId="0"/>
      <p:bldP spid="178" grpId="0"/>
      <p:bldP spid="180" grpId="0"/>
      <p:bldP spid="181" grpId="0"/>
      <p:bldP spid="182" grpId="0"/>
      <p:bldP spid="18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grpSp>
        <p:nvGrpSpPr>
          <p:cNvPr id="5" name="Groupe 4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6" name="Groupe 5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16" name="Groupe 18"/>
              <p:cNvGrpSpPr/>
              <p:nvPr/>
            </p:nvGrpSpPr>
            <p:grpSpPr>
              <a:xfrm>
                <a:off x="0" y="0"/>
                <a:ext cx="9144000" cy="6885384"/>
                <a:chOff x="0" y="0"/>
                <a:chExt cx="9144000" cy="6885384"/>
              </a:xfrm>
            </p:grpSpPr>
            <p:sp>
              <p:nvSpPr>
                <p:cNvPr id="18" name="Rectangle 17"/>
                <p:cNvSpPr/>
                <p:nvPr/>
              </p:nvSpPr>
              <p:spPr>
                <a:xfrm rot="10800000" flipV="1">
                  <a:off x="0" y="0"/>
                  <a:ext cx="6983760" cy="620688"/>
                </a:xfrm>
                <a:prstGeom prst="rect">
                  <a:avLst/>
                </a:prstGeom>
                <a:solidFill>
                  <a:srgbClr val="E34F5A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grpSp>
              <p:nvGrpSpPr>
                <p:cNvPr id="19" name="Groupe 15"/>
                <p:cNvGrpSpPr/>
                <p:nvPr/>
              </p:nvGrpSpPr>
              <p:grpSpPr>
                <a:xfrm>
                  <a:off x="0" y="6237312"/>
                  <a:ext cx="9144000" cy="648072"/>
                  <a:chOff x="0" y="6237312"/>
                  <a:chExt cx="9144000" cy="648072"/>
                </a:xfrm>
              </p:grpSpPr>
              <p:sp>
                <p:nvSpPr>
                  <p:cNvPr id="21" name="Rectangle 20"/>
                  <p:cNvSpPr/>
                  <p:nvPr/>
                </p:nvSpPr>
                <p:spPr>
                  <a:xfrm>
                    <a:off x="0" y="6309320"/>
                    <a:ext cx="9144000" cy="576064"/>
                  </a:xfrm>
                  <a:prstGeom prst="rect">
                    <a:avLst/>
                  </a:prstGeom>
                  <a:solidFill>
                    <a:srgbClr val="D75BB4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22" name="Rectangle 21"/>
                  <p:cNvSpPr/>
                  <p:nvPr/>
                </p:nvSpPr>
                <p:spPr>
                  <a:xfrm flipV="1">
                    <a:off x="0" y="6237312"/>
                    <a:ext cx="9144000" cy="72008"/>
                  </a:xfrm>
                  <a:prstGeom prst="rect">
                    <a:avLst/>
                  </a:prstGeom>
                  <a:solidFill>
                    <a:srgbClr val="E34F5A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sp>
              <p:nvSpPr>
                <p:cNvPr id="20" name="Rectangle 19"/>
                <p:cNvSpPr/>
                <p:nvPr/>
              </p:nvSpPr>
              <p:spPr>
                <a:xfrm rot="10800000" flipV="1">
                  <a:off x="7020272" y="0"/>
                  <a:ext cx="2123728" cy="620688"/>
                </a:xfrm>
                <a:prstGeom prst="rect">
                  <a:avLst/>
                </a:prstGeom>
                <a:solidFill>
                  <a:srgbClr val="D75BB4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  <p:pic>
            <p:nvPicPr>
              <p:cNvPr id="10" name="Image 9" descr="3-2-blogging-transparent-thumb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195736" y="6165304"/>
                <a:ext cx="864096" cy="741369"/>
              </a:xfrm>
              <a:prstGeom prst="rect">
                <a:avLst/>
              </a:prstGeom>
            </p:spPr>
          </p:pic>
          <p:pic>
            <p:nvPicPr>
              <p:cNvPr id="12" name="Image 11" descr="12-2-education-png-image-thumb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388424" y="5976664"/>
                <a:ext cx="720080" cy="980728"/>
              </a:xfrm>
              <a:prstGeom prst="rect">
                <a:avLst/>
              </a:prstGeom>
            </p:spPr>
          </p:pic>
          <p:sp>
            <p:nvSpPr>
              <p:cNvPr id="13" name="ZoneTexte 12"/>
              <p:cNvSpPr txBox="1"/>
              <p:nvPr/>
            </p:nvSpPr>
            <p:spPr>
              <a:xfrm>
                <a:off x="5652120" y="6381328"/>
                <a:ext cx="2808312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1900" b="1" dirty="0" smtClean="0">
                    <a:solidFill>
                      <a:schemeClr val="bg1"/>
                    </a:solidFill>
                  </a:rPr>
                  <a:t>متوسطة قلواز </a:t>
                </a:r>
                <a:r>
                  <a:rPr lang="ar-DZ" sz="1900" b="1" dirty="0" err="1" smtClean="0">
                    <a:solidFill>
                      <a:schemeClr val="bg1"/>
                    </a:solidFill>
                  </a:rPr>
                  <a:t>موسى </a:t>
                </a:r>
                <a:r>
                  <a:rPr lang="ar-DZ" sz="1900" b="1" dirty="0" smtClean="0">
                    <a:solidFill>
                      <a:schemeClr val="bg1"/>
                    </a:solidFill>
                  </a:rPr>
                  <a:t>- بوراشد</a:t>
                </a:r>
                <a:endParaRPr lang="fr-FR" sz="19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ZoneTexte 13"/>
              <p:cNvSpPr txBox="1"/>
              <p:nvPr/>
            </p:nvSpPr>
            <p:spPr>
              <a:xfrm>
                <a:off x="-180528" y="6396335"/>
                <a:ext cx="24482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تصميم الأستاذ ماحي رضا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ZoneTexte 14"/>
              <p:cNvSpPr txBox="1"/>
              <p:nvPr/>
            </p:nvSpPr>
            <p:spPr>
              <a:xfrm>
                <a:off x="2987824" y="6381328"/>
                <a:ext cx="20882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المستوى:الأول متوسط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7" name="Image 6" descr="3d print business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88024" y="6274668"/>
              <a:ext cx="1440160" cy="583332"/>
            </a:xfrm>
            <a:prstGeom prst="rect">
              <a:avLst/>
            </a:prstGeom>
          </p:spPr>
        </p:pic>
      </p:grpSp>
      <p:pic>
        <p:nvPicPr>
          <p:cNvPr id="29" name="Image 28" descr="Person-question-2-151x300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-108520" y="2204864"/>
            <a:ext cx="1438275" cy="3289548"/>
          </a:xfrm>
          <a:prstGeom prst="rect">
            <a:avLst/>
          </a:prstGeom>
        </p:spPr>
      </p:pic>
      <p:sp>
        <p:nvSpPr>
          <p:cNvPr id="30" name="Pensées 29"/>
          <p:cNvSpPr/>
          <p:nvPr/>
        </p:nvSpPr>
        <p:spPr>
          <a:xfrm>
            <a:off x="827584" y="980728"/>
            <a:ext cx="3672408" cy="1800200"/>
          </a:xfrm>
          <a:prstGeom prst="cloudCallout">
            <a:avLst>
              <a:gd name="adj1" fmla="val -49179"/>
              <a:gd name="adj2" fmla="val 74222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1" name="ZoneTexte 30"/>
          <p:cNvSpPr txBox="1"/>
          <p:nvPr/>
        </p:nvSpPr>
        <p:spPr>
          <a:xfrm>
            <a:off x="899592" y="1484784"/>
            <a:ext cx="36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ماهو دور برنامج الحاسبة؟</a:t>
            </a:r>
            <a:endParaRPr lang="fr-FR" sz="20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32" name="Picture 4" descr="C:\Users\RIDHA\Pictures\Image13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923928" y="4077072"/>
            <a:ext cx="1224136" cy="2220466"/>
          </a:xfrm>
          <a:prstGeom prst="rect">
            <a:avLst/>
          </a:prstGeom>
          <a:noFill/>
        </p:spPr>
      </p:pic>
      <p:grpSp>
        <p:nvGrpSpPr>
          <p:cNvPr id="33" name="Groupe 32"/>
          <p:cNvGrpSpPr/>
          <p:nvPr/>
        </p:nvGrpSpPr>
        <p:grpSpPr>
          <a:xfrm>
            <a:off x="4499992" y="2852938"/>
            <a:ext cx="3384376" cy="1296145"/>
            <a:chOff x="3563888" y="1268760"/>
            <a:chExt cx="2664296" cy="936104"/>
          </a:xfrm>
        </p:grpSpPr>
        <p:sp>
          <p:nvSpPr>
            <p:cNvPr id="34" name="Pensées 33"/>
            <p:cNvSpPr/>
            <p:nvPr/>
          </p:nvSpPr>
          <p:spPr>
            <a:xfrm>
              <a:off x="3563888" y="1268760"/>
              <a:ext cx="2664296" cy="936104"/>
            </a:xfrm>
            <a:prstGeom prst="cloudCallout">
              <a:avLst>
                <a:gd name="adj1" fmla="val -35665"/>
                <a:gd name="adj2" fmla="val 84207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rtl="1"/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35" name="ZoneTexte 34"/>
            <p:cNvSpPr txBox="1"/>
            <p:nvPr/>
          </p:nvSpPr>
          <p:spPr>
            <a:xfrm>
              <a:off x="3620575" y="1540320"/>
              <a:ext cx="2463594" cy="5112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000" b="1" dirty="0" smtClean="0"/>
                <a:t>ماهي أنظمة تشغيل الهاتف التي تعرفها؟</a:t>
              </a:r>
            </a:p>
          </p:txBody>
        </p:sp>
      </p:grpSp>
      <p:sp>
        <p:nvSpPr>
          <p:cNvPr id="28" name="ZoneTexte 27"/>
          <p:cNvSpPr txBox="1"/>
          <p:nvPr/>
        </p:nvSpPr>
        <p:spPr>
          <a:xfrm>
            <a:off x="6948264" y="44624"/>
            <a:ext cx="2123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الحصة </a:t>
            </a:r>
            <a:r>
              <a:rPr lang="ar-DZ" sz="2800" b="1" dirty="0" err="1" smtClean="0">
                <a:solidFill>
                  <a:schemeClr val="bg1"/>
                </a:solidFill>
              </a:rPr>
              <a:t>التعلمية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27" name="ZoneTexte 26"/>
          <p:cNvSpPr txBox="1"/>
          <p:nvPr/>
        </p:nvSpPr>
        <p:spPr>
          <a:xfrm>
            <a:off x="2627784" y="44624"/>
            <a:ext cx="4032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استعمال الحاسبة والرسام والدفتر</a:t>
            </a:r>
            <a:endParaRPr lang="fr-FR" sz="2800" b="1" dirty="0">
              <a:solidFill>
                <a:schemeClr val="bg1"/>
              </a:solidFill>
            </a:endParaRPr>
          </a:p>
        </p:txBody>
      </p:sp>
      <p:pic>
        <p:nvPicPr>
          <p:cNvPr id="37" name="Image 3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643" y="3041"/>
            <a:ext cx="626185" cy="626185"/>
          </a:xfrm>
          <a:prstGeom prst="rect">
            <a:avLst/>
          </a:prstGeom>
        </p:spPr>
      </p:pic>
      <p:pic>
        <p:nvPicPr>
          <p:cNvPr id="38" name="Image 37"/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39112"/>
            <a:ext cx="504056" cy="5245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49" descr="news-tv-studio-set-45-virtual-green-screen-background-loop_hpc80ufm__F0000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88632"/>
          </a:xfrm>
          <a:prstGeom prst="rect">
            <a:avLst/>
          </a:prstGeom>
        </p:spPr>
      </p:pic>
      <p:grpSp>
        <p:nvGrpSpPr>
          <p:cNvPr id="24" name="Groupe 23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5" name="Groupe 4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5" name="Groupe 18"/>
              <p:cNvGrpSpPr/>
              <p:nvPr/>
            </p:nvGrpSpPr>
            <p:grpSpPr>
              <a:xfrm>
                <a:off x="0" y="0"/>
                <a:ext cx="9144000" cy="6885384"/>
                <a:chOff x="0" y="0"/>
                <a:chExt cx="9144000" cy="6885384"/>
              </a:xfrm>
            </p:grpSpPr>
            <p:sp>
              <p:nvSpPr>
                <p:cNvPr id="37" name="Rectangle 36"/>
                <p:cNvSpPr/>
                <p:nvPr/>
              </p:nvSpPr>
              <p:spPr>
                <a:xfrm rot="10800000" flipV="1">
                  <a:off x="0" y="0"/>
                  <a:ext cx="6983760" cy="620688"/>
                </a:xfrm>
                <a:prstGeom prst="rect">
                  <a:avLst/>
                </a:prstGeom>
                <a:solidFill>
                  <a:srgbClr val="E34F5A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grpSp>
              <p:nvGrpSpPr>
                <p:cNvPr id="38" name="Groupe 15"/>
                <p:cNvGrpSpPr/>
                <p:nvPr/>
              </p:nvGrpSpPr>
              <p:grpSpPr>
                <a:xfrm>
                  <a:off x="0" y="6237312"/>
                  <a:ext cx="9144000" cy="648072"/>
                  <a:chOff x="0" y="6237312"/>
                  <a:chExt cx="9144000" cy="648072"/>
                </a:xfrm>
              </p:grpSpPr>
              <p:sp>
                <p:nvSpPr>
                  <p:cNvPr id="40" name="Rectangle 39"/>
                  <p:cNvSpPr/>
                  <p:nvPr/>
                </p:nvSpPr>
                <p:spPr>
                  <a:xfrm>
                    <a:off x="0" y="6309320"/>
                    <a:ext cx="9144000" cy="576064"/>
                  </a:xfrm>
                  <a:prstGeom prst="rect">
                    <a:avLst/>
                  </a:prstGeom>
                  <a:solidFill>
                    <a:srgbClr val="D75BB4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41" name="Rectangle 40"/>
                  <p:cNvSpPr/>
                  <p:nvPr/>
                </p:nvSpPr>
                <p:spPr>
                  <a:xfrm flipV="1">
                    <a:off x="0" y="6237312"/>
                    <a:ext cx="9144000" cy="72008"/>
                  </a:xfrm>
                  <a:prstGeom prst="rect">
                    <a:avLst/>
                  </a:prstGeom>
                  <a:solidFill>
                    <a:srgbClr val="E34F5A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sp>
              <p:nvSpPr>
                <p:cNvPr id="39" name="Rectangle 38"/>
                <p:cNvSpPr/>
                <p:nvPr/>
              </p:nvSpPr>
              <p:spPr>
                <a:xfrm rot="10800000" flipV="1">
                  <a:off x="7020272" y="0"/>
                  <a:ext cx="2123728" cy="620688"/>
                </a:xfrm>
                <a:prstGeom prst="rect">
                  <a:avLst/>
                </a:prstGeom>
                <a:solidFill>
                  <a:srgbClr val="D75BB4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  <p:pic>
            <p:nvPicPr>
              <p:cNvPr id="29" name="Image 28" descr="3-2-blogging-transparent-thumb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195736" y="6165304"/>
                <a:ext cx="864096" cy="741369"/>
              </a:xfrm>
              <a:prstGeom prst="rect">
                <a:avLst/>
              </a:prstGeom>
            </p:spPr>
          </p:pic>
          <p:pic>
            <p:nvPicPr>
              <p:cNvPr id="31" name="Image 30" descr="12-2-education-png-image-thumb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388424" y="5976664"/>
                <a:ext cx="720080" cy="980728"/>
              </a:xfrm>
              <a:prstGeom prst="rect">
                <a:avLst/>
              </a:prstGeom>
            </p:spPr>
          </p:pic>
          <p:sp>
            <p:nvSpPr>
              <p:cNvPr id="32" name="ZoneTexte 31"/>
              <p:cNvSpPr txBox="1"/>
              <p:nvPr/>
            </p:nvSpPr>
            <p:spPr>
              <a:xfrm>
                <a:off x="5652120" y="6381328"/>
                <a:ext cx="2808312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1900" b="1" dirty="0" smtClean="0">
                    <a:solidFill>
                      <a:schemeClr val="bg1"/>
                    </a:solidFill>
                  </a:rPr>
                  <a:t>متوسطة قلواز </a:t>
                </a:r>
                <a:r>
                  <a:rPr lang="ar-DZ" sz="1900" b="1" dirty="0" err="1" smtClean="0">
                    <a:solidFill>
                      <a:schemeClr val="bg1"/>
                    </a:solidFill>
                  </a:rPr>
                  <a:t>موسى </a:t>
                </a:r>
                <a:r>
                  <a:rPr lang="ar-DZ" sz="1900" b="1" dirty="0" smtClean="0">
                    <a:solidFill>
                      <a:schemeClr val="bg1"/>
                    </a:solidFill>
                  </a:rPr>
                  <a:t>- بوراشد</a:t>
                </a:r>
                <a:endParaRPr lang="fr-FR" sz="19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ZoneTexte 32"/>
              <p:cNvSpPr txBox="1"/>
              <p:nvPr/>
            </p:nvSpPr>
            <p:spPr>
              <a:xfrm>
                <a:off x="-180528" y="6396335"/>
                <a:ext cx="24482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تصميم الأستاذ ماحي رضا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ZoneTexte 33"/>
              <p:cNvSpPr txBox="1"/>
              <p:nvPr/>
            </p:nvSpPr>
            <p:spPr>
              <a:xfrm>
                <a:off x="2987824" y="6381328"/>
                <a:ext cx="20882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المستوى:الأول متوسط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26" name="Image 25" descr="3d print business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88024" y="6274668"/>
              <a:ext cx="1440160" cy="583332"/>
            </a:xfrm>
            <a:prstGeom prst="rect">
              <a:avLst/>
            </a:prstGeom>
          </p:spPr>
        </p:pic>
      </p:grpSp>
      <p:sp>
        <p:nvSpPr>
          <p:cNvPr id="51" name="Shape 856"/>
          <p:cNvSpPr/>
          <p:nvPr/>
        </p:nvSpPr>
        <p:spPr>
          <a:xfrm>
            <a:off x="8388424" y="756101"/>
            <a:ext cx="576064" cy="5072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2" name="Shape 859"/>
          <p:cNvSpPr/>
          <p:nvPr/>
        </p:nvSpPr>
        <p:spPr>
          <a:xfrm>
            <a:off x="4031940" y="764704"/>
            <a:ext cx="4284477" cy="4954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3" name="ZoneTexte 52"/>
          <p:cNvSpPr txBox="1"/>
          <p:nvPr/>
        </p:nvSpPr>
        <p:spPr>
          <a:xfrm>
            <a:off x="8388424" y="756101"/>
            <a:ext cx="504056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1-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54" name="ZoneTexte 53"/>
          <p:cNvSpPr txBox="1"/>
          <p:nvPr/>
        </p:nvSpPr>
        <p:spPr>
          <a:xfrm>
            <a:off x="4220837" y="764704"/>
            <a:ext cx="39515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برنامج الحاسبة</a:t>
            </a:r>
            <a:r>
              <a:rPr lang="ar-DZ" sz="2800" b="1" dirty="0">
                <a:solidFill>
                  <a:srgbClr val="FFFF00"/>
                </a:solidFill>
              </a:rPr>
              <a:t> </a:t>
            </a:r>
            <a:r>
              <a:rPr lang="fr-FR" sz="2800" b="1" dirty="0" smtClean="0">
                <a:solidFill>
                  <a:srgbClr val="FFFF00"/>
                </a:solidFill>
              </a:rPr>
              <a:t>Calculatrice</a:t>
            </a:r>
            <a:r>
              <a:rPr lang="ar-DZ" sz="2800" b="1" dirty="0" smtClean="0">
                <a:solidFill>
                  <a:srgbClr val="FFFF00"/>
                </a:solidFill>
              </a:rPr>
              <a:t>: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55" name="ZoneTexte 54"/>
          <p:cNvSpPr txBox="1"/>
          <p:nvPr/>
        </p:nvSpPr>
        <p:spPr>
          <a:xfrm>
            <a:off x="6948264" y="44624"/>
            <a:ext cx="2123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الحصة </a:t>
            </a:r>
            <a:r>
              <a:rPr lang="ar-DZ" sz="2800" b="1" dirty="0" err="1" smtClean="0">
                <a:solidFill>
                  <a:schemeClr val="bg1"/>
                </a:solidFill>
              </a:rPr>
              <a:t>التعلمية</a:t>
            </a:r>
            <a:endParaRPr lang="fr-FR" sz="2800" b="1" dirty="0">
              <a:solidFill>
                <a:schemeClr val="bg1"/>
              </a:solidFill>
            </a:endParaRPr>
          </a:p>
        </p:txBody>
      </p:sp>
      <p:grpSp>
        <p:nvGrpSpPr>
          <p:cNvPr id="66" name="Group 67"/>
          <p:cNvGrpSpPr/>
          <p:nvPr/>
        </p:nvGrpSpPr>
        <p:grpSpPr>
          <a:xfrm rot="10800000" flipH="1">
            <a:off x="179512" y="1124745"/>
            <a:ext cx="7903124" cy="1232737"/>
            <a:chOff x="914400" y="1122362"/>
            <a:chExt cx="2120114" cy="4783971"/>
          </a:xfrm>
        </p:grpSpPr>
        <p:sp>
          <p:nvSpPr>
            <p:cNvPr id="67" name="Freeform 6"/>
            <p:cNvSpPr>
              <a:spLocks/>
            </p:cNvSpPr>
            <p:nvPr/>
          </p:nvSpPr>
          <p:spPr bwMode="auto">
            <a:xfrm>
              <a:off x="1324954" y="3916832"/>
              <a:ext cx="627805" cy="1989501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433" y="0"/>
                </a:cxn>
                <a:cxn ang="0">
                  <a:pos x="657" y="193"/>
                </a:cxn>
                <a:cxn ang="0">
                  <a:pos x="0" y="35"/>
                </a:cxn>
              </a:cxnLst>
              <a:rect l="0" t="0" r="r" b="b"/>
              <a:pathLst>
                <a:path w="657" h="193">
                  <a:moveTo>
                    <a:pt x="0" y="35"/>
                  </a:moveTo>
                  <a:lnTo>
                    <a:pt x="433" y="0"/>
                  </a:lnTo>
                  <a:lnTo>
                    <a:pt x="657" y="193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7"/>
            <p:cNvSpPr>
              <a:spLocks/>
            </p:cNvSpPr>
            <p:nvPr/>
          </p:nvSpPr>
          <p:spPr bwMode="auto">
            <a:xfrm>
              <a:off x="1310489" y="3567512"/>
              <a:ext cx="1477666" cy="6986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89" y="176"/>
                </a:cxn>
                <a:cxn ang="0">
                  <a:pos x="9" y="265"/>
                </a:cxn>
                <a:cxn ang="0">
                  <a:pos x="0" y="0"/>
                </a:cxn>
              </a:cxnLst>
              <a:rect l="0" t="0" r="r" b="b"/>
              <a:pathLst>
                <a:path w="1089" h="265">
                  <a:moveTo>
                    <a:pt x="0" y="0"/>
                  </a:moveTo>
                  <a:lnTo>
                    <a:pt x="1089" y="176"/>
                  </a:lnTo>
                  <a:lnTo>
                    <a:pt x="9" y="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8"/>
            <p:cNvSpPr>
              <a:spLocks/>
            </p:cNvSpPr>
            <p:nvPr/>
          </p:nvSpPr>
          <p:spPr bwMode="auto">
            <a:xfrm>
              <a:off x="914400" y="1122362"/>
              <a:ext cx="2120114" cy="3013076"/>
            </a:xfrm>
            <a:custGeom>
              <a:avLst/>
              <a:gdLst/>
              <a:ahLst/>
              <a:cxnLst>
                <a:cxn ang="0">
                  <a:pos x="1299" y="1898"/>
                </a:cxn>
                <a:cxn ang="0">
                  <a:pos x="0" y="1689"/>
                </a:cxn>
                <a:cxn ang="0">
                  <a:pos x="0" y="0"/>
                </a:cxn>
                <a:cxn ang="0">
                  <a:pos x="1299" y="0"/>
                </a:cxn>
                <a:cxn ang="0">
                  <a:pos x="1299" y="1898"/>
                </a:cxn>
              </a:cxnLst>
              <a:rect l="0" t="0" r="r" b="b"/>
              <a:pathLst>
                <a:path w="1299" h="1898">
                  <a:moveTo>
                    <a:pt x="1299" y="1898"/>
                  </a:moveTo>
                  <a:lnTo>
                    <a:pt x="0" y="1689"/>
                  </a:lnTo>
                  <a:lnTo>
                    <a:pt x="0" y="0"/>
                  </a:lnTo>
                  <a:lnTo>
                    <a:pt x="1299" y="0"/>
                  </a:lnTo>
                  <a:lnTo>
                    <a:pt x="1299" y="1898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0" name="Rectangle 69"/>
          <p:cNvSpPr/>
          <p:nvPr/>
        </p:nvSpPr>
        <p:spPr>
          <a:xfrm>
            <a:off x="107504" y="1772816"/>
            <a:ext cx="78488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من برامج </a:t>
            </a:r>
            <a:r>
              <a:rPr lang="fr-FR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Windows </a:t>
            </a:r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 يستعمل لإجراء عمليات حسابية بسيطة وعلمية في الحاسوب.</a:t>
            </a:r>
            <a:endParaRPr lang="fr-FR" sz="2000" dirty="0">
              <a:solidFill>
                <a:schemeClr val="bg1"/>
              </a:solidFill>
            </a:endParaRPr>
          </a:p>
        </p:txBody>
      </p:sp>
      <p:pic>
        <p:nvPicPr>
          <p:cNvPr id="113" name="Image 112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25" y="2564904"/>
            <a:ext cx="4029075" cy="3067050"/>
          </a:xfrm>
          <a:prstGeom prst="rect">
            <a:avLst/>
          </a:prstGeom>
        </p:spPr>
      </p:pic>
      <p:pic>
        <p:nvPicPr>
          <p:cNvPr id="114" name="Image 113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1028" y="2576991"/>
            <a:ext cx="3109423" cy="3067050"/>
          </a:xfrm>
          <a:prstGeom prst="rect">
            <a:avLst/>
          </a:prstGeom>
        </p:spPr>
      </p:pic>
      <p:sp>
        <p:nvSpPr>
          <p:cNvPr id="115" name="Rectangle 114"/>
          <p:cNvSpPr/>
          <p:nvPr/>
        </p:nvSpPr>
        <p:spPr>
          <a:xfrm>
            <a:off x="755576" y="3172906"/>
            <a:ext cx="310437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fr-FR" sz="2000" b="1" dirty="0" smtClean="0">
                <a:ea typeface="Times New Roman"/>
                <a:cs typeface="Times New Roman"/>
              </a:rPr>
              <a:t> Calculatrice Scientifique</a:t>
            </a:r>
            <a:endParaRPr lang="fr-FR" sz="2000" dirty="0"/>
          </a:p>
        </p:txBody>
      </p:sp>
      <p:sp>
        <p:nvSpPr>
          <p:cNvPr id="116" name="Rectangle 115"/>
          <p:cNvSpPr/>
          <p:nvPr/>
        </p:nvSpPr>
        <p:spPr>
          <a:xfrm>
            <a:off x="5580112" y="3197747"/>
            <a:ext cx="2520280" cy="38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fr-FR" sz="1900" b="1" dirty="0" smtClean="0">
                <a:ea typeface="Times New Roman"/>
                <a:cs typeface="Times New Roman"/>
              </a:rPr>
              <a:t> Calculatrice Standard</a:t>
            </a:r>
            <a:endParaRPr lang="fr-FR" sz="1900" dirty="0"/>
          </a:p>
        </p:txBody>
      </p:sp>
      <p:sp>
        <p:nvSpPr>
          <p:cNvPr id="117" name="ZoneTexte 116"/>
          <p:cNvSpPr txBox="1"/>
          <p:nvPr/>
        </p:nvSpPr>
        <p:spPr>
          <a:xfrm>
            <a:off x="2627784" y="44624"/>
            <a:ext cx="4032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استعمال الحاسبة والرسام والدفتر</a:t>
            </a:r>
            <a:endParaRPr lang="fr-FR" sz="2800" b="1" dirty="0">
              <a:solidFill>
                <a:schemeClr val="bg1"/>
              </a:solidFill>
            </a:endParaRPr>
          </a:p>
        </p:txBody>
      </p:sp>
      <p:pic>
        <p:nvPicPr>
          <p:cNvPr id="118" name="Image 11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643" y="3041"/>
            <a:ext cx="626185" cy="626185"/>
          </a:xfrm>
          <a:prstGeom prst="rect">
            <a:avLst/>
          </a:prstGeom>
        </p:spPr>
      </p:pic>
      <p:pic>
        <p:nvPicPr>
          <p:cNvPr id="119" name="Image 118"/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39112"/>
            <a:ext cx="504056" cy="5245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2" grpId="0" animBg="1"/>
      <p:bldP spid="53" grpId="0"/>
      <p:bldP spid="54" grpId="0"/>
      <p:bldP spid="70" grpId="0"/>
      <p:bldP spid="115" grpId="0"/>
      <p:bldP spid="1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grpSp>
        <p:nvGrpSpPr>
          <p:cNvPr id="5" name="Groupe 4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6" name="Groupe 5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8" name="Groupe 18"/>
              <p:cNvGrpSpPr/>
              <p:nvPr/>
            </p:nvGrpSpPr>
            <p:grpSpPr>
              <a:xfrm>
                <a:off x="0" y="0"/>
                <a:ext cx="9144000" cy="6885384"/>
                <a:chOff x="0" y="0"/>
                <a:chExt cx="9144000" cy="6885384"/>
              </a:xfrm>
            </p:grpSpPr>
            <p:sp>
              <p:nvSpPr>
                <p:cNvPr id="15" name="Rectangle 14"/>
                <p:cNvSpPr/>
                <p:nvPr/>
              </p:nvSpPr>
              <p:spPr>
                <a:xfrm rot="10800000" flipV="1">
                  <a:off x="0" y="0"/>
                  <a:ext cx="6983760" cy="620688"/>
                </a:xfrm>
                <a:prstGeom prst="rect">
                  <a:avLst/>
                </a:prstGeom>
                <a:solidFill>
                  <a:srgbClr val="E34F5A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grpSp>
              <p:nvGrpSpPr>
                <p:cNvPr id="16" name="Groupe 15"/>
                <p:cNvGrpSpPr/>
                <p:nvPr/>
              </p:nvGrpSpPr>
              <p:grpSpPr>
                <a:xfrm>
                  <a:off x="0" y="6237312"/>
                  <a:ext cx="9144000" cy="648072"/>
                  <a:chOff x="0" y="6237312"/>
                  <a:chExt cx="9144000" cy="648072"/>
                </a:xfrm>
              </p:grpSpPr>
              <p:sp>
                <p:nvSpPr>
                  <p:cNvPr id="18" name="Rectangle 17"/>
                  <p:cNvSpPr/>
                  <p:nvPr/>
                </p:nvSpPr>
                <p:spPr>
                  <a:xfrm>
                    <a:off x="0" y="6309320"/>
                    <a:ext cx="9144000" cy="576064"/>
                  </a:xfrm>
                  <a:prstGeom prst="rect">
                    <a:avLst/>
                  </a:prstGeom>
                  <a:solidFill>
                    <a:srgbClr val="D75BB4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9" name="Rectangle 18"/>
                  <p:cNvSpPr/>
                  <p:nvPr/>
                </p:nvSpPr>
                <p:spPr>
                  <a:xfrm flipV="1">
                    <a:off x="0" y="6237312"/>
                    <a:ext cx="9144000" cy="72008"/>
                  </a:xfrm>
                  <a:prstGeom prst="rect">
                    <a:avLst/>
                  </a:prstGeom>
                  <a:solidFill>
                    <a:srgbClr val="E34F5A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sp>
              <p:nvSpPr>
                <p:cNvPr id="17" name="Rectangle 16"/>
                <p:cNvSpPr/>
                <p:nvPr/>
              </p:nvSpPr>
              <p:spPr>
                <a:xfrm rot="10800000" flipV="1">
                  <a:off x="7020272" y="0"/>
                  <a:ext cx="2123728" cy="620688"/>
                </a:xfrm>
                <a:prstGeom prst="rect">
                  <a:avLst/>
                </a:prstGeom>
                <a:solidFill>
                  <a:srgbClr val="D75BB4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  <p:pic>
            <p:nvPicPr>
              <p:cNvPr id="9" name="Image 8" descr="3-2-blogging-transparent-thumb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195736" y="6165304"/>
                <a:ext cx="864096" cy="741369"/>
              </a:xfrm>
              <a:prstGeom prst="rect">
                <a:avLst/>
              </a:prstGeom>
            </p:spPr>
          </p:pic>
          <p:pic>
            <p:nvPicPr>
              <p:cNvPr id="11" name="Image 10" descr="12-2-education-png-image-thumb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388424" y="5976664"/>
                <a:ext cx="720080" cy="980728"/>
              </a:xfrm>
              <a:prstGeom prst="rect">
                <a:avLst/>
              </a:prstGeom>
            </p:spPr>
          </p:pic>
          <p:sp>
            <p:nvSpPr>
              <p:cNvPr id="12" name="ZoneTexte 11"/>
              <p:cNvSpPr txBox="1"/>
              <p:nvPr/>
            </p:nvSpPr>
            <p:spPr>
              <a:xfrm>
                <a:off x="5652120" y="6381328"/>
                <a:ext cx="2808312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1900" b="1" dirty="0" smtClean="0">
                    <a:solidFill>
                      <a:schemeClr val="bg1"/>
                    </a:solidFill>
                  </a:rPr>
                  <a:t>متوسطة قلواز </a:t>
                </a:r>
                <a:r>
                  <a:rPr lang="ar-DZ" sz="1900" b="1" dirty="0" err="1" smtClean="0">
                    <a:solidFill>
                      <a:schemeClr val="bg1"/>
                    </a:solidFill>
                  </a:rPr>
                  <a:t>موسى </a:t>
                </a:r>
                <a:r>
                  <a:rPr lang="ar-DZ" sz="1900" b="1" dirty="0" smtClean="0">
                    <a:solidFill>
                      <a:schemeClr val="bg1"/>
                    </a:solidFill>
                  </a:rPr>
                  <a:t>- بوراشد</a:t>
                </a:r>
                <a:endParaRPr lang="fr-FR" sz="19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ZoneTexte 12"/>
              <p:cNvSpPr txBox="1"/>
              <p:nvPr/>
            </p:nvSpPr>
            <p:spPr>
              <a:xfrm>
                <a:off x="-180528" y="6396335"/>
                <a:ext cx="24482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تصميم الأستاذ ماحي رضا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ZoneTexte 13"/>
              <p:cNvSpPr txBox="1"/>
              <p:nvPr/>
            </p:nvSpPr>
            <p:spPr>
              <a:xfrm>
                <a:off x="2987824" y="6381328"/>
                <a:ext cx="20882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المستوى:الأول متوسط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7" name="Image 6" descr="3d print business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88024" y="6274668"/>
              <a:ext cx="1440160" cy="583332"/>
            </a:xfrm>
            <a:prstGeom prst="rect">
              <a:avLst/>
            </a:prstGeom>
          </p:spPr>
        </p:pic>
      </p:grpSp>
      <p:pic>
        <p:nvPicPr>
          <p:cNvPr id="20" name="Image 19" descr="Person-question-2-151x300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-108520" y="2204864"/>
            <a:ext cx="1438275" cy="3289548"/>
          </a:xfrm>
          <a:prstGeom prst="rect">
            <a:avLst/>
          </a:prstGeom>
        </p:spPr>
      </p:pic>
      <p:sp>
        <p:nvSpPr>
          <p:cNvPr id="21" name="Pensées 20"/>
          <p:cNvSpPr/>
          <p:nvPr/>
        </p:nvSpPr>
        <p:spPr>
          <a:xfrm>
            <a:off x="827584" y="980728"/>
            <a:ext cx="3672408" cy="1800200"/>
          </a:xfrm>
          <a:prstGeom prst="cloudCallout">
            <a:avLst>
              <a:gd name="adj1" fmla="val -49179"/>
              <a:gd name="adj2" fmla="val 74222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ZoneTexte 21"/>
          <p:cNvSpPr txBox="1"/>
          <p:nvPr/>
        </p:nvSpPr>
        <p:spPr>
          <a:xfrm>
            <a:off x="971600" y="1484784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ماهو دور برنامج الرسام؟</a:t>
            </a:r>
            <a:endParaRPr lang="fr-FR" sz="20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23" name="Picture 4" descr="C:\Users\RIDHA\Pictures\Image13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923928" y="4077072"/>
            <a:ext cx="1224136" cy="2220466"/>
          </a:xfrm>
          <a:prstGeom prst="rect">
            <a:avLst/>
          </a:prstGeom>
          <a:noFill/>
        </p:spPr>
      </p:pic>
      <p:sp>
        <p:nvSpPr>
          <p:cNvPr id="27" name="ZoneTexte 26"/>
          <p:cNvSpPr txBox="1"/>
          <p:nvPr/>
        </p:nvSpPr>
        <p:spPr>
          <a:xfrm>
            <a:off x="6948264" y="44624"/>
            <a:ext cx="2123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الحصة </a:t>
            </a:r>
            <a:r>
              <a:rPr lang="ar-DZ" sz="2800" b="1" dirty="0" err="1" smtClean="0">
                <a:solidFill>
                  <a:schemeClr val="bg1"/>
                </a:solidFill>
              </a:rPr>
              <a:t>التعلمية</a:t>
            </a:r>
            <a:endParaRPr lang="fr-FR" sz="2800" b="1" dirty="0">
              <a:solidFill>
                <a:schemeClr val="bg1"/>
              </a:solidFill>
            </a:endParaRPr>
          </a:p>
        </p:txBody>
      </p:sp>
      <p:grpSp>
        <p:nvGrpSpPr>
          <p:cNvPr id="29" name="Groupe 28"/>
          <p:cNvGrpSpPr/>
          <p:nvPr/>
        </p:nvGrpSpPr>
        <p:grpSpPr>
          <a:xfrm>
            <a:off x="4499992" y="3573016"/>
            <a:ext cx="2160240" cy="648072"/>
            <a:chOff x="3563888" y="1268760"/>
            <a:chExt cx="2664296" cy="936104"/>
          </a:xfrm>
        </p:grpSpPr>
        <p:sp>
          <p:nvSpPr>
            <p:cNvPr id="30" name="Pensées 29"/>
            <p:cNvSpPr/>
            <p:nvPr/>
          </p:nvSpPr>
          <p:spPr>
            <a:xfrm>
              <a:off x="3563888" y="1268760"/>
              <a:ext cx="2664296" cy="936104"/>
            </a:xfrm>
            <a:prstGeom prst="cloudCallout">
              <a:avLst>
                <a:gd name="adj1" fmla="val -25273"/>
                <a:gd name="adj2" fmla="val 9506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rtl="1"/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31" name="ZoneTexte 30"/>
            <p:cNvSpPr txBox="1"/>
            <p:nvPr/>
          </p:nvSpPr>
          <p:spPr>
            <a:xfrm>
              <a:off x="3779913" y="1484784"/>
              <a:ext cx="2304256" cy="5779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000" b="1" dirty="0" smtClean="0"/>
                <a:t>الإجابة برفع الإصبع</a:t>
              </a:r>
            </a:p>
          </p:txBody>
        </p:sp>
      </p:grpSp>
      <p:sp>
        <p:nvSpPr>
          <p:cNvPr id="32" name="ZoneTexte 31"/>
          <p:cNvSpPr txBox="1"/>
          <p:nvPr/>
        </p:nvSpPr>
        <p:spPr>
          <a:xfrm>
            <a:off x="2627784" y="44624"/>
            <a:ext cx="4032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استعمال الحاسبة والرسام والدفتر</a:t>
            </a:r>
            <a:endParaRPr lang="fr-FR" sz="2800" b="1" dirty="0">
              <a:solidFill>
                <a:schemeClr val="bg1"/>
              </a:solidFill>
            </a:endParaRPr>
          </a:p>
        </p:txBody>
      </p:sp>
      <p:pic>
        <p:nvPicPr>
          <p:cNvPr id="33" name="Image 3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643" y="3041"/>
            <a:ext cx="626185" cy="626185"/>
          </a:xfrm>
          <a:prstGeom prst="rect">
            <a:avLst/>
          </a:prstGeom>
        </p:spPr>
      </p:pic>
      <p:pic>
        <p:nvPicPr>
          <p:cNvPr id="34" name="Image 33"/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39112"/>
            <a:ext cx="504056" cy="52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35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22" descr="news-tv-studio-set-45-virtual-green-screen-background-loop_hpc80ufm__F0000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88632"/>
          </a:xfrm>
          <a:prstGeom prst="rect">
            <a:avLst/>
          </a:prstGeom>
        </p:spPr>
      </p:pic>
      <p:grpSp>
        <p:nvGrpSpPr>
          <p:cNvPr id="24" name="Groupe 23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5" name="Groupe 4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5" name="Groupe 18"/>
              <p:cNvGrpSpPr/>
              <p:nvPr/>
            </p:nvGrpSpPr>
            <p:grpSpPr>
              <a:xfrm>
                <a:off x="0" y="0"/>
                <a:ext cx="9144000" cy="6885384"/>
                <a:chOff x="0" y="0"/>
                <a:chExt cx="9144000" cy="6885384"/>
              </a:xfrm>
            </p:grpSpPr>
            <p:sp>
              <p:nvSpPr>
                <p:cNvPr id="37" name="Rectangle 36"/>
                <p:cNvSpPr/>
                <p:nvPr/>
              </p:nvSpPr>
              <p:spPr>
                <a:xfrm rot="10800000" flipV="1">
                  <a:off x="0" y="0"/>
                  <a:ext cx="6983760" cy="620688"/>
                </a:xfrm>
                <a:prstGeom prst="rect">
                  <a:avLst/>
                </a:prstGeom>
                <a:solidFill>
                  <a:srgbClr val="E34F5A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grpSp>
              <p:nvGrpSpPr>
                <p:cNvPr id="38" name="Groupe 15"/>
                <p:cNvGrpSpPr/>
                <p:nvPr/>
              </p:nvGrpSpPr>
              <p:grpSpPr>
                <a:xfrm>
                  <a:off x="0" y="6237312"/>
                  <a:ext cx="9144000" cy="648072"/>
                  <a:chOff x="0" y="6237312"/>
                  <a:chExt cx="9144000" cy="648072"/>
                </a:xfrm>
              </p:grpSpPr>
              <p:sp>
                <p:nvSpPr>
                  <p:cNvPr id="40" name="Rectangle 39"/>
                  <p:cNvSpPr/>
                  <p:nvPr/>
                </p:nvSpPr>
                <p:spPr>
                  <a:xfrm>
                    <a:off x="0" y="6309320"/>
                    <a:ext cx="9144000" cy="576064"/>
                  </a:xfrm>
                  <a:prstGeom prst="rect">
                    <a:avLst/>
                  </a:prstGeom>
                  <a:solidFill>
                    <a:srgbClr val="D75BB4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41" name="Rectangle 40"/>
                  <p:cNvSpPr/>
                  <p:nvPr/>
                </p:nvSpPr>
                <p:spPr>
                  <a:xfrm flipV="1">
                    <a:off x="0" y="6237312"/>
                    <a:ext cx="9144000" cy="72008"/>
                  </a:xfrm>
                  <a:prstGeom prst="rect">
                    <a:avLst/>
                  </a:prstGeom>
                  <a:solidFill>
                    <a:srgbClr val="E34F5A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sp>
              <p:nvSpPr>
                <p:cNvPr id="39" name="Rectangle 38"/>
                <p:cNvSpPr/>
                <p:nvPr/>
              </p:nvSpPr>
              <p:spPr>
                <a:xfrm rot="10800000" flipV="1">
                  <a:off x="7020272" y="0"/>
                  <a:ext cx="2123728" cy="620688"/>
                </a:xfrm>
                <a:prstGeom prst="rect">
                  <a:avLst/>
                </a:prstGeom>
                <a:solidFill>
                  <a:srgbClr val="D75BB4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  <p:pic>
            <p:nvPicPr>
              <p:cNvPr id="29" name="Image 28" descr="3-2-blogging-transparent-thumb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195736" y="6165304"/>
                <a:ext cx="864096" cy="741369"/>
              </a:xfrm>
              <a:prstGeom prst="rect">
                <a:avLst/>
              </a:prstGeom>
            </p:spPr>
          </p:pic>
          <p:pic>
            <p:nvPicPr>
              <p:cNvPr id="31" name="Image 30" descr="12-2-education-png-image-thumb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388424" y="5976664"/>
                <a:ext cx="720080" cy="980728"/>
              </a:xfrm>
              <a:prstGeom prst="rect">
                <a:avLst/>
              </a:prstGeom>
            </p:spPr>
          </p:pic>
          <p:sp>
            <p:nvSpPr>
              <p:cNvPr id="32" name="ZoneTexte 31"/>
              <p:cNvSpPr txBox="1"/>
              <p:nvPr/>
            </p:nvSpPr>
            <p:spPr>
              <a:xfrm>
                <a:off x="5652120" y="6381328"/>
                <a:ext cx="2808312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1900" b="1" dirty="0" smtClean="0">
                    <a:solidFill>
                      <a:schemeClr val="bg1"/>
                    </a:solidFill>
                  </a:rPr>
                  <a:t>متوسطة قلواز </a:t>
                </a:r>
                <a:r>
                  <a:rPr lang="ar-DZ" sz="1900" b="1" dirty="0" err="1" smtClean="0">
                    <a:solidFill>
                      <a:schemeClr val="bg1"/>
                    </a:solidFill>
                  </a:rPr>
                  <a:t>موسى </a:t>
                </a:r>
                <a:r>
                  <a:rPr lang="ar-DZ" sz="1900" b="1" dirty="0" smtClean="0">
                    <a:solidFill>
                      <a:schemeClr val="bg1"/>
                    </a:solidFill>
                  </a:rPr>
                  <a:t>- بوراشد</a:t>
                </a:r>
                <a:endParaRPr lang="fr-FR" sz="19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ZoneTexte 32"/>
              <p:cNvSpPr txBox="1"/>
              <p:nvPr/>
            </p:nvSpPr>
            <p:spPr>
              <a:xfrm>
                <a:off x="-180528" y="6396335"/>
                <a:ext cx="24482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تصميم الأستاذ ماحي رضا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ZoneTexte 33"/>
              <p:cNvSpPr txBox="1"/>
              <p:nvPr/>
            </p:nvSpPr>
            <p:spPr>
              <a:xfrm>
                <a:off x="2987824" y="6381328"/>
                <a:ext cx="20882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المستوى:الأول متوسط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26" name="Image 25" descr="3d print business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88024" y="6274668"/>
              <a:ext cx="1440160" cy="583332"/>
            </a:xfrm>
            <a:prstGeom prst="rect">
              <a:avLst/>
            </a:prstGeom>
          </p:spPr>
        </p:pic>
      </p:grpSp>
      <p:sp>
        <p:nvSpPr>
          <p:cNvPr id="45" name="Shape 856"/>
          <p:cNvSpPr/>
          <p:nvPr/>
        </p:nvSpPr>
        <p:spPr>
          <a:xfrm>
            <a:off x="8388424" y="756101"/>
            <a:ext cx="576064" cy="5072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46" name="Shape 859"/>
          <p:cNvSpPr/>
          <p:nvPr/>
        </p:nvSpPr>
        <p:spPr>
          <a:xfrm>
            <a:off x="5148064" y="764704"/>
            <a:ext cx="3168352" cy="4954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47" name="ZoneTexte 46"/>
          <p:cNvSpPr txBox="1"/>
          <p:nvPr/>
        </p:nvSpPr>
        <p:spPr>
          <a:xfrm>
            <a:off x="8388424" y="745540"/>
            <a:ext cx="504056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2-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48" name="ZoneTexte 47"/>
          <p:cNvSpPr txBox="1"/>
          <p:nvPr/>
        </p:nvSpPr>
        <p:spPr>
          <a:xfrm>
            <a:off x="5220072" y="764704"/>
            <a:ext cx="2988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برنامج الرسام </a:t>
            </a:r>
            <a:r>
              <a:rPr lang="en-US" sz="2800" b="1" dirty="0" smtClean="0">
                <a:solidFill>
                  <a:srgbClr val="FFFF00"/>
                </a:solidFill>
              </a:rPr>
              <a:t>P</a:t>
            </a:r>
            <a:r>
              <a:rPr lang="fr-FR" sz="2800" b="1" dirty="0" err="1" smtClean="0">
                <a:solidFill>
                  <a:srgbClr val="FFFF00"/>
                </a:solidFill>
              </a:rPr>
              <a:t>aint</a:t>
            </a:r>
            <a:r>
              <a:rPr lang="ar-DZ" sz="2800" b="1" dirty="0" smtClean="0">
                <a:solidFill>
                  <a:srgbClr val="FFFF00"/>
                </a:solidFill>
              </a:rPr>
              <a:t>: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61" name="ZoneTexte 60"/>
          <p:cNvSpPr txBox="1"/>
          <p:nvPr/>
        </p:nvSpPr>
        <p:spPr>
          <a:xfrm>
            <a:off x="6948264" y="44624"/>
            <a:ext cx="2123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الحصة </a:t>
            </a:r>
            <a:r>
              <a:rPr lang="ar-DZ" sz="2800" b="1" dirty="0" err="1" smtClean="0">
                <a:solidFill>
                  <a:schemeClr val="bg1"/>
                </a:solidFill>
              </a:rPr>
              <a:t>التعلمية</a:t>
            </a:r>
            <a:endParaRPr lang="fr-FR" sz="2800" b="1" dirty="0">
              <a:solidFill>
                <a:schemeClr val="bg1"/>
              </a:solidFill>
            </a:endParaRPr>
          </a:p>
        </p:txBody>
      </p:sp>
      <p:grpSp>
        <p:nvGrpSpPr>
          <p:cNvPr id="77" name="Group 67"/>
          <p:cNvGrpSpPr/>
          <p:nvPr/>
        </p:nvGrpSpPr>
        <p:grpSpPr>
          <a:xfrm rot="10800000" flipH="1">
            <a:off x="557308" y="1052737"/>
            <a:ext cx="7903124" cy="1008110"/>
            <a:chOff x="914400" y="773050"/>
            <a:chExt cx="2120114" cy="5691979"/>
          </a:xfrm>
        </p:grpSpPr>
        <p:sp>
          <p:nvSpPr>
            <p:cNvPr id="78" name="Freeform 6"/>
            <p:cNvSpPr>
              <a:spLocks/>
            </p:cNvSpPr>
            <p:nvPr/>
          </p:nvSpPr>
          <p:spPr bwMode="auto">
            <a:xfrm>
              <a:off x="1315295" y="3826791"/>
              <a:ext cx="830634" cy="2638238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433" y="0"/>
                </a:cxn>
                <a:cxn ang="0">
                  <a:pos x="657" y="193"/>
                </a:cxn>
                <a:cxn ang="0">
                  <a:pos x="0" y="35"/>
                </a:cxn>
              </a:cxnLst>
              <a:rect l="0" t="0" r="r" b="b"/>
              <a:pathLst>
                <a:path w="657" h="193">
                  <a:moveTo>
                    <a:pt x="0" y="35"/>
                  </a:moveTo>
                  <a:lnTo>
                    <a:pt x="433" y="0"/>
                  </a:lnTo>
                  <a:lnTo>
                    <a:pt x="657" y="193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7"/>
            <p:cNvSpPr>
              <a:spLocks/>
            </p:cNvSpPr>
            <p:nvPr/>
          </p:nvSpPr>
          <p:spPr bwMode="auto">
            <a:xfrm>
              <a:off x="1310489" y="3567512"/>
              <a:ext cx="1477666" cy="6986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89" y="176"/>
                </a:cxn>
                <a:cxn ang="0">
                  <a:pos x="9" y="265"/>
                </a:cxn>
                <a:cxn ang="0">
                  <a:pos x="0" y="0"/>
                </a:cxn>
              </a:cxnLst>
              <a:rect l="0" t="0" r="r" b="b"/>
              <a:pathLst>
                <a:path w="1089" h="265">
                  <a:moveTo>
                    <a:pt x="0" y="0"/>
                  </a:moveTo>
                  <a:lnTo>
                    <a:pt x="1089" y="176"/>
                  </a:lnTo>
                  <a:lnTo>
                    <a:pt x="9" y="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8"/>
            <p:cNvSpPr>
              <a:spLocks/>
            </p:cNvSpPr>
            <p:nvPr/>
          </p:nvSpPr>
          <p:spPr bwMode="auto">
            <a:xfrm>
              <a:off x="914400" y="773050"/>
              <a:ext cx="2120114" cy="3362393"/>
            </a:xfrm>
            <a:custGeom>
              <a:avLst/>
              <a:gdLst/>
              <a:ahLst/>
              <a:cxnLst>
                <a:cxn ang="0">
                  <a:pos x="1299" y="1898"/>
                </a:cxn>
                <a:cxn ang="0">
                  <a:pos x="0" y="1689"/>
                </a:cxn>
                <a:cxn ang="0">
                  <a:pos x="0" y="0"/>
                </a:cxn>
                <a:cxn ang="0">
                  <a:pos x="1299" y="0"/>
                </a:cxn>
                <a:cxn ang="0">
                  <a:pos x="1299" y="1898"/>
                </a:cxn>
              </a:cxnLst>
              <a:rect l="0" t="0" r="r" b="b"/>
              <a:pathLst>
                <a:path w="1299" h="1898">
                  <a:moveTo>
                    <a:pt x="1299" y="1898"/>
                  </a:moveTo>
                  <a:lnTo>
                    <a:pt x="0" y="1689"/>
                  </a:lnTo>
                  <a:lnTo>
                    <a:pt x="0" y="0"/>
                  </a:lnTo>
                  <a:lnTo>
                    <a:pt x="1299" y="0"/>
                  </a:lnTo>
                  <a:lnTo>
                    <a:pt x="1299" y="1898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2" name="Rectangle 81"/>
          <p:cNvSpPr/>
          <p:nvPr/>
        </p:nvSpPr>
        <p:spPr>
          <a:xfrm>
            <a:off x="467545" y="1576535"/>
            <a:ext cx="79208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من برامج </a:t>
            </a:r>
            <a:r>
              <a:rPr lang="fr-FR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Windows</a:t>
            </a:r>
            <a:r>
              <a:rPr lang="ar-DZ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 يستعمل لإنجاز رسومات و تخطيطات </a:t>
            </a:r>
            <a:r>
              <a:rPr lang="ar-DZ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بسيطة</a:t>
            </a:r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.</a:t>
            </a:r>
            <a:endParaRPr lang="fr-FR" sz="2000" dirty="0">
              <a:solidFill>
                <a:schemeClr val="bg1"/>
              </a:solidFill>
            </a:endParaRPr>
          </a:p>
        </p:txBody>
      </p:sp>
      <p:pic>
        <p:nvPicPr>
          <p:cNvPr id="86" name="Image 85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2204864"/>
            <a:ext cx="8424936" cy="3771800"/>
          </a:xfrm>
          <a:prstGeom prst="rect">
            <a:avLst/>
          </a:prstGeom>
        </p:spPr>
      </p:pic>
      <p:sp>
        <p:nvSpPr>
          <p:cNvPr id="87" name="ZoneTexte 86"/>
          <p:cNvSpPr txBox="1"/>
          <p:nvPr/>
        </p:nvSpPr>
        <p:spPr>
          <a:xfrm>
            <a:off x="2627784" y="44624"/>
            <a:ext cx="4032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استعمال الحاسبة والرسام والدفتر</a:t>
            </a:r>
            <a:endParaRPr lang="fr-FR" sz="2800" b="1" dirty="0">
              <a:solidFill>
                <a:schemeClr val="bg1"/>
              </a:solidFill>
            </a:endParaRPr>
          </a:p>
        </p:txBody>
      </p:sp>
      <p:pic>
        <p:nvPicPr>
          <p:cNvPr id="88" name="Image 8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643" y="3041"/>
            <a:ext cx="626185" cy="626185"/>
          </a:xfrm>
          <a:prstGeom prst="rect">
            <a:avLst/>
          </a:prstGeom>
        </p:spPr>
      </p:pic>
      <p:pic>
        <p:nvPicPr>
          <p:cNvPr id="89" name="Image 88"/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39112"/>
            <a:ext cx="504056" cy="5245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  <p:bldP spid="47" grpId="0"/>
      <p:bldP spid="48" grpId="0"/>
      <p:bldP spid="8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grpSp>
        <p:nvGrpSpPr>
          <p:cNvPr id="5" name="Groupe 4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6" name="Groupe 5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8" name="Groupe 18"/>
              <p:cNvGrpSpPr/>
              <p:nvPr/>
            </p:nvGrpSpPr>
            <p:grpSpPr>
              <a:xfrm>
                <a:off x="0" y="0"/>
                <a:ext cx="9144000" cy="6885384"/>
                <a:chOff x="0" y="0"/>
                <a:chExt cx="9144000" cy="6885384"/>
              </a:xfrm>
            </p:grpSpPr>
            <p:sp>
              <p:nvSpPr>
                <p:cNvPr id="15" name="Rectangle 14"/>
                <p:cNvSpPr/>
                <p:nvPr/>
              </p:nvSpPr>
              <p:spPr>
                <a:xfrm rot="10800000" flipV="1">
                  <a:off x="0" y="0"/>
                  <a:ext cx="6983760" cy="620688"/>
                </a:xfrm>
                <a:prstGeom prst="rect">
                  <a:avLst/>
                </a:prstGeom>
                <a:solidFill>
                  <a:srgbClr val="E34F5A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grpSp>
              <p:nvGrpSpPr>
                <p:cNvPr id="16" name="Groupe 15"/>
                <p:cNvGrpSpPr/>
                <p:nvPr/>
              </p:nvGrpSpPr>
              <p:grpSpPr>
                <a:xfrm>
                  <a:off x="0" y="6237312"/>
                  <a:ext cx="9144000" cy="648072"/>
                  <a:chOff x="0" y="6237312"/>
                  <a:chExt cx="9144000" cy="648072"/>
                </a:xfrm>
              </p:grpSpPr>
              <p:sp>
                <p:nvSpPr>
                  <p:cNvPr id="18" name="Rectangle 17"/>
                  <p:cNvSpPr/>
                  <p:nvPr/>
                </p:nvSpPr>
                <p:spPr>
                  <a:xfrm>
                    <a:off x="0" y="6309320"/>
                    <a:ext cx="9144000" cy="576064"/>
                  </a:xfrm>
                  <a:prstGeom prst="rect">
                    <a:avLst/>
                  </a:prstGeom>
                  <a:solidFill>
                    <a:srgbClr val="D75BB4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9" name="Rectangle 18"/>
                  <p:cNvSpPr/>
                  <p:nvPr/>
                </p:nvSpPr>
                <p:spPr>
                  <a:xfrm flipV="1">
                    <a:off x="0" y="6237312"/>
                    <a:ext cx="9144000" cy="72008"/>
                  </a:xfrm>
                  <a:prstGeom prst="rect">
                    <a:avLst/>
                  </a:prstGeom>
                  <a:solidFill>
                    <a:srgbClr val="E34F5A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sp>
              <p:nvSpPr>
                <p:cNvPr id="17" name="Rectangle 16"/>
                <p:cNvSpPr/>
                <p:nvPr/>
              </p:nvSpPr>
              <p:spPr>
                <a:xfrm rot="10800000" flipV="1">
                  <a:off x="7020272" y="0"/>
                  <a:ext cx="2123728" cy="620688"/>
                </a:xfrm>
                <a:prstGeom prst="rect">
                  <a:avLst/>
                </a:prstGeom>
                <a:solidFill>
                  <a:srgbClr val="D75BB4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  <p:pic>
            <p:nvPicPr>
              <p:cNvPr id="9" name="Image 8" descr="3-2-blogging-transparent-thumb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195736" y="6165304"/>
                <a:ext cx="864096" cy="741369"/>
              </a:xfrm>
              <a:prstGeom prst="rect">
                <a:avLst/>
              </a:prstGeom>
            </p:spPr>
          </p:pic>
          <p:pic>
            <p:nvPicPr>
              <p:cNvPr id="11" name="Image 10" descr="12-2-education-png-image-thumb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388424" y="5976664"/>
                <a:ext cx="720080" cy="980728"/>
              </a:xfrm>
              <a:prstGeom prst="rect">
                <a:avLst/>
              </a:prstGeom>
            </p:spPr>
          </p:pic>
          <p:sp>
            <p:nvSpPr>
              <p:cNvPr id="12" name="ZoneTexte 11"/>
              <p:cNvSpPr txBox="1"/>
              <p:nvPr/>
            </p:nvSpPr>
            <p:spPr>
              <a:xfrm>
                <a:off x="5652120" y="6381328"/>
                <a:ext cx="2808312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1900" b="1" dirty="0" smtClean="0">
                    <a:solidFill>
                      <a:schemeClr val="bg1"/>
                    </a:solidFill>
                  </a:rPr>
                  <a:t>متوسطة قلواز </a:t>
                </a:r>
                <a:r>
                  <a:rPr lang="ar-DZ" sz="1900" b="1" dirty="0" err="1" smtClean="0">
                    <a:solidFill>
                      <a:schemeClr val="bg1"/>
                    </a:solidFill>
                  </a:rPr>
                  <a:t>موسى </a:t>
                </a:r>
                <a:r>
                  <a:rPr lang="ar-DZ" sz="1900" b="1" dirty="0" smtClean="0">
                    <a:solidFill>
                      <a:schemeClr val="bg1"/>
                    </a:solidFill>
                  </a:rPr>
                  <a:t>- بوراشد</a:t>
                </a:r>
                <a:endParaRPr lang="fr-FR" sz="19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ZoneTexte 12"/>
              <p:cNvSpPr txBox="1"/>
              <p:nvPr/>
            </p:nvSpPr>
            <p:spPr>
              <a:xfrm>
                <a:off x="-180528" y="6396335"/>
                <a:ext cx="24482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تصميم الأستاذ ماحي رضا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ZoneTexte 13"/>
              <p:cNvSpPr txBox="1"/>
              <p:nvPr/>
            </p:nvSpPr>
            <p:spPr>
              <a:xfrm>
                <a:off x="2987824" y="6381328"/>
                <a:ext cx="20882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المستوى:الأول متوسط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7" name="Image 6" descr="3d print business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88024" y="6274668"/>
              <a:ext cx="1440160" cy="583332"/>
            </a:xfrm>
            <a:prstGeom prst="rect">
              <a:avLst/>
            </a:prstGeom>
          </p:spPr>
        </p:pic>
      </p:grpSp>
      <p:pic>
        <p:nvPicPr>
          <p:cNvPr id="20" name="Image 19" descr="Person-question-2-151x300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-108520" y="2204864"/>
            <a:ext cx="1438275" cy="3289548"/>
          </a:xfrm>
          <a:prstGeom prst="rect">
            <a:avLst/>
          </a:prstGeom>
        </p:spPr>
      </p:pic>
      <p:sp>
        <p:nvSpPr>
          <p:cNvPr id="21" name="Pensées 20"/>
          <p:cNvSpPr/>
          <p:nvPr/>
        </p:nvSpPr>
        <p:spPr>
          <a:xfrm>
            <a:off x="827584" y="980728"/>
            <a:ext cx="3960440" cy="1800200"/>
          </a:xfrm>
          <a:prstGeom prst="cloudCallout">
            <a:avLst>
              <a:gd name="adj1" fmla="val -49179"/>
              <a:gd name="adj2" fmla="val 74222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ZoneTexte 21"/>
          <p:cNvSpPr txBox="1"/>
          <p:nvPr/>
        </p:nvSpPr>
        <p:spPr>
          <a:xfrm>
            <a:off x="1115616" y="1412776"/>
            <a:ext cx="34563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ماهو دور برنامج الدفتر؟ وماذا يظهر عليها؟</a:t>
            </a:r>
            <a:endParaRPr lang="fr-FR" sz="20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23" name="Picture 4" descr="C:\Users\RIDHA\Pictures\Image13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923928" y="4077072"/>
            <a:ext cx="1224136" cy="2220466"/>
          </a:xfrm>
          <a:prstGeom prst="rect">
            <a:avLst/>
          </a:prstGeom>
          <a:noFill/>
        </p:spPr>
      </p:pic>
      <p:sp>
        <p:nvSpPr>
          <p:cNvPr id="24" name="ZoneTexte 23"/>
          <p:cNvSpPr txBox="1"/>
          <p:nvPr/>
        </p:nvSpPr>
        <p:spPr>
          <a:xfrm>
            <a:off x="6948264" y="44624"/>
            <a:ext cx="2123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الحصة </a:t>
            </a:r>
            <a:r>
              <a:rPr lang="ar-DZ" sz="2800" b="1" dirty="0" err="1" smtClean="0">
                <a:solidFill>
                  <a:schemeClr val="bg1"/>
                </a:solidFill>
              </a:rPr>
              <a:t>التعلمية</a:t>
            </a:r>
            <a:endParaRPr lang="fr-FR" sz="2800" b="1" dirty="0">
              <a:solidFill>
                <a:schemeClr val="bg1"/>
              </a:solidFill>
            </a:endParaRPr>
          </a:p>
        </p:txBody>
      </p:sp>
      <p:grpSp>
        <p:nvGrpSpPr>
          <p:cNvPr id="26" name="Groupe 25"/>
          <p:cNvGrpSpPr/>
          <p:nvPr/>
        </p:nvGrpSpPr>
        <p:grpSpPr>
          <a:xfrm>
            <a:off x="4499992" y="3573016"/>
            <a:ext cx="2160240" cy="648072"/>
            <a:chOff x="3563888" y="1268760"/>
            <a:chExt cx="2664296" cy="936104"/>
          </a:xfrm>
        </p:grpSpPr>
        <p:sp>
          <p:nvSpPr>
            <p:cNvPr id="27" name="Pensées 26"/>
            <p:cNvSpPr/>
            <p:nvPr/>
          </p:nvSpPr>
          <p:spPr>
            <a:xfrm>
              <a:off x="3563888" y="1268760"/>
              <a:ext cx="2664296" cy="936104"/>
            </a:xfrm>
            <a:prstGeom prst="cloudCallout">
              <a:avLst>
                <a:gd name="adj1" fmla="val -25273"/>
                <a:gd name="adj2" fmla="val 9506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rtl="1"/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28" name="ZoneTexte 27"/>
            <p:cNvSpPr txBox="1"/>
            <p:nvPr/>
          </p:nvSpPr>
          <p:spPr>
            <a:xfrm>
              <a:off x="3779913" y="1484784"/>
              <a:ext cx="2304256" cy="5779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000" b="1" dirty="0" smtClean="0"/>
                <a:t>الإجابة برفع الإصبع</a:t>
              </a:r>
            </a:p>
          </p:txBody>
        </p:sp>
      </p:grpSp>
      <p:sp>
        <p:nvSpPr>
          <p:cNvPr id="29" name="ZoneTexte 28"/>
          <p:cNvSpPr txBox="1"/>
          <p:nvPr/>
        </p:nvSpPr>
        <p:spPr>
          <a:xfrm>
            <a:off x="2627784" y="44624"/>
            <a:ext cx="4032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استعمال الحاسبة والرسام والدفتر</a:t>
            </a:r>
            <a:endParaRPr lang="fr-FR" sz="2800" b="1" dirty="0">
              <a:solidFill>
                <a:schemeClr val="bg1"/>
              </a:solidFill>
            </a:endParaRPr>
          </a:p>
        </p:txBody>
      </p:sp>
      <p:pic>
        <p:nvPicPr>
          <p:cNvPr id="30" name="Image 2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643" y="3041"/>
            <a:ext cx="626185" cy="626185"/>
          </a:xfrm>
          <a:prstGeom prst="rect">
            <a:avLst/>
          </a:prstGeom>
        </p:spPr>
      </p:pic>
      <p:pic>
        <p:nvPicPr>
          <p:cNvPr id="31" name="Image 30"/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39112"/>
            <a:ext cx="504056" cy="52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568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 44" descr="news-tv-studio-set-45-virtual-green-screen-background-loop_hpc80ufm__F0000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88632"/>
          </a:xfrm>
          <a:prstGeom prst="rect">
            <a:avLst/>
          </a:prstGeom>
        </p:spPr>
      </p:pic>
      <p:grpSp>
        <p:nvGrpSpPr>
          <p:cNvPr id="23" name="Groupe 22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4" name="Groupe 4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4" name="Groupe 18"/>
              <p:cNvGrpSpPr/>
              <p:nvPr/>
            </p:nvGrpSpPr>
            <p:grpSpPr>
              <a:xfrm>
                <a:off x="0" y="0"/>
                <a:ext cx="9144000" cy="6885384"/>
                <a:chOff x="0" y="0"/>
                <a:chExt cx="9144000" cy="6885384"/>
              </a:xfrm>
            </p:grpSpPr>
            <p:sp>
              <p:nvSpPr>
                <p:cNvPr id="36" name="Rectangle 35"/>
                <p:cNvSpPr/>
                <p:nvPr/>
              </p:nvSpPr>
              <p:spPr>
                <a:xfrm rot="10800000" flipV="1">
                  <a:off x="0" y="0"/>
                  <a:ext cx="6983760" cy="620688"/>
                </a:xfrm>
                <a:prstGeom prst="rect">
                  <a:avLst/>
                </a:prstGeom>
                <a:solidFill>
                  <a:srgbClr val="E34F5A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grpSp>
              <p:nvGrpSpPr>
                <p:cNvPr id="37" name="Groupe 15"/>
                <p:cNvGrpSpPr/>
                <p:nvPr/>
              </p:nvGrpSpPr>
              <p:grpSpPr>
                <a:xfrm>
                  <a:off x="0" y="6237312"/>
                  <a:ext cx="9144000" cy="648072"/>
                  <a:chOff x="0" y="6237312"/>
                  <a:chExt cx="9144000" cy="648072"/>
                </a:xfrm>
              </p:grpSpPr>
              <p:sp>
                <p:nvSpPr>
                  <p:cNvPr id="39" name="Rectangle 38"/>
                  <p:cNvSpPr/>
                  <p:nvPr/>
                </p:nvSpPr>
                <p:spPr>
                  <a:xfrm>
                    <a:off x="0" y="6309320"/>
                    <a:ext cx="9144000" cy="576064"/>
                  </a:xfrm>
                  <a:prstGeom prst="rect">
                    <a:avLst/>
                  </a:prstGeom>
                  <a:solidFill>
                    <a:srgbClr val="D75BB4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40" name="Rectangle 39"/>
                  <p:cNvSpPr/>
                  <p:nvPr/>
                </p:nvSpPr>
                <p:spPr>
                  <a:xfrm flipV="1">
                    <a:off x="0" y="6237312"/>
                    <a:ext cx="9144000" cy="72008"/>
                  </a:xfrm>
                  <a:prstGeom prst="rect">
                    <a:avLst/>
                  </a:prstGeom>
                  <a:solidFill>
                    <a:srgbClr val="E34F5A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sp>
              <p:nvSpPr>
                <p:cNvPr id="38" name="Rectangle 37"/>
                <p:cNvSpPr/>
                <p:nvPr/>
              </p:nvSpPr>
              <p:spPr>
                <a:xfrm rot="10800000" flipV="1">
                  <a:off x="7020272" y="0"/>
                  <a:ext cx="2123728" cy="620688"/>
                </a:xfrm>
                <a:prstGeom prst="rect">
                  <a:avLst/>
                </a:prstGeom>
                <a:solidFill>
                  <a:srgbClr val="D75BB4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  <p:pic>
            <p:nvPicPr>
              <p:cNvPr id="28" name="Image 27" descr="3-2-blogging-transparent-thumb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195736" y="6165304"/>
                <a:ext cx="864096" cy="741369"/>
              </a:xfrm>
              <a:prstGeom prst="rect">
                <a:avLst/>
              </a:prstGeom>
            </p:spPr>
          </p:pic>
          <p:pic>
            <p:nvPicPr>
              <p:cNvPr id="30" name="Image 29" descr="12-2-education-png-image-thumb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388424" y="5976664"/>
                <a:ext cx="720080" cy="980728"/>
              </a:xfrm>
              <a:prstGeom prst="rect">
                <a:avLst/>
              </a:prstGeom>
            </p:spPr>
          </p:pic>
          <p:sp>
            <p:nvSpPr>
              <p:cNvPr id="31" name="ZoneTexte 30"/>
              <p:cNvSpPr txBox="1"/>
              <p:nvPr/>
            </p:nvSpPr>
            <p:spPr>
              <a:xfrm>
                <a:off x="5652120" y="6381328"/>
                <a:ext cx="2808312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1900" b="1" dirty="0" smtClean="0">
                    <a:solidFill>
                      <a:schemeClr val="bg1"/>
                    </a:solidFill>
                  </a:rPr>
                  <a:t>متوسطة قلواز </a:t>
                </a:r>
                <a:r>
                  <a:rPr lang="ar-DZ" sz="1900" b="1" dirty="0" err="1" smtClean="0">
                    <a:solidFill>
                      <a:schemeClr val="bg1"/>
                    </a:solidFill>
                  </a:rPr>
                  <a:t>موسى </a:t>
                </a:r>
                <a:r>
                  <a:rPr lang="ar-DZ" sz="1900" b="1" dirty="0" smtClean="0">
                    <a:solidFill>
                      <a:schemeClr val="bg1"/>
                    </a:solidFill>
                  </a:rPr>
                  <a:t>- بوراشد</a:t>
                </a:r>
                <a:endParaRPr lang="fr-FR" sz="19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ZoneTexte 31"/>
              <p:cNvSpPr txBox="1"/>
              <p:nvPr/>
            </p:nvSpPr>
            <p:spPr>
              <a:xfrm>
                <a:off x="-180528" y="6396335"/>
                <a:ext cx="24482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تصميم الأستاذ ماحي رضا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ZoneTexte 32"/>
              <p:cNvSpPr txBox="1"/>
              <p:nvPr/>
            </p:nvSpPr>
            <p:spPr>
              <a:xfrm>
                <a:off x="2987824" y="6381328"/>
                <a:ext cx="20882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المستوى:الأول متوسط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25" name="Image 24" descr="3d print business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88024" y="6274668"/>
              <a:ext cx="1440160" cy="583332"/>
            </a:xfrm>
            <a:prstGeom prst="rect">
              <a:avLst/>
            </a:prstGeom>
          </p:spPr>
        </p:pic>
      </p:grpSp>
      <p:sp>
        <p:nvSpPr>
          <p:cNvPr id="46" name="Shape 856"/>
          <p:cNvSpPr/>
          <p:nvPr/>
        </p:nvSpPr>
        <p:spPr>
          <a:xfrm>
            <a:off x="8388424" y="756101"/>
            <a:ext cx="576064" cy="5072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D75BB4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47" name="Shape 859"/>
          <p:cNvSpPr/>
          <p:nvPr/>
        </p:nvSpPr>
        <p:spPr>
          <a:xfrm>
            <a:off x="4499992" y="764704"/>
            <a:ext cx="3816423" cy="4954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solidFill>
            <a:srgbClr val="D75BB4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48" name="ZoneTexte 47"/>
          <p:cNvSpPr txBox="1"/>
          <p:nvPr/>
        </p:nvSpPr>
        <p:spPr>
          <a:xfrm>
            <a:off x="8388424" y="745540"/>
            <a:ext cx="504056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3-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49" name="ZoneTexte 48"/>
          <p:cNvSpPr txBox="1"/>
          <p:nvPr/>
        </p:nvSpPr>
        <p:spPr>
          <a:xfrm>
            <a:off x="4716016" y="764704"/>
            <a:ext cx="34563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برنامج الدفتر </a:t>
            </a:r>
            <a:r>
              <a:rPr lang="fr-FR" sz="2800" b="1" dirty="0" err="1" smtClean="0">
                <a:solidFill>
                  <a:srgbClr val="FFFF00"/>
                </a:solidFill>
              </a:rPr>
              <a:t>Wordpad</a:t>
            </a:r>
            <a:r>
              <a:rPr lang="ar-DZ" sz="2800" b="1" dirty="0">
                <a:solidFill>
                  <a:srgbClr val="FFFF00"/>
                </a:solidFill>
              </a:rPr>
              <a:t> </a:t>
            </a:r>
            <a:r>
              <a:rPr lang="ar-DZ" sz="2800" b="1" dirty="0" smtClean="0">
                <a:solidFill>
                  <a:srgbClr val="FFFF00"/>
                </a:solidFill>
              </a:rPr>
              <a:t>: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58" name="ZoneTexte 57"/>
          <p:cNvSpPr txBox="1"/>
          <p:nvPr/>
        </p:nvSpPr>
        <p:spPr>
          <a:xfrm>
            <a:off x="6948264" y="44624"/>
            <a:ext cx="2123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الحصة </a:t>
            </a:r>
            <a:r>
              <a:rPr lang="ar-DZ" sz="2800" b="1" dirty="0" err="1" smtClean="0">
                <a:solidFill>
                  <a:schemeClr val="bg1"/>
                </a:solidFill>
              </a:rPr>
              <a:t>التعلمية</a:t>
            </a:r>
            <a:endParaRPr lang="fr-FR" sz="2800" b="1" dirty="0">
              <a:solidFill>
                <a:schemeClr val="bg1"/>
              </a:solidFill>
            </a:endParaRPr>
          </a:p>
        </p:txBody>
      </p:sp>
      <p:grpSp>
        <p:nvGrpSpPr>
          <p:cNvPr id="60" name="Group 67"/>
          <p:cNvGrpSpPr/>
          <p:nvPr/>
        </p:nvGrpSpPr>
        <p:grpSpPr>
          <a:xfrm rot="10800000" flipH="1">
            <a:off x="341284" y="1063412"/>
            <a:ext cx="7983583" cy="1287351"/>
            <a:chOff x="914400" y="1122362"/>
            <a:chExt cx="2120114" cy="5236043"/>
          </a:xfrm>
        </p:grpSpPr>
        <p:sp>
          <p:nvSpPr>
            <p:cNvPr id="61" name="Freeform 6"/>
            <p:cNvSpPr>
              <a:spLocks/>
            </p:cNvSpPr>
            <p:nvPr/>
          </p:nvSpPr>
          <p:spPr bwMode="auto">
            <a:xfrm>
              <a:off x="1315295" y="3765932"/>
              <a:ext cx="714731" cy="2592473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433" y="0"/>
                </a:cxn>
                <a:cxn ang="0">
                  <a:pos x="657" y="193"/>
                </a:cxn>
                <a:cxn ang="0">
                  <a:pos x="0" y="35"/>
                </a:cxn>
              </a:cxnLst>
              <a:rect l="0" t="0" r="r" b="b"/>
              <a:pathLst>
                <a:path w="657" h="193">
                  <a:moveTo>
                    <a:pt x="0" y="35"/>
                  </a:moveTo>
                  <a:lnTo>
                    <a:pt x="433" y="0"/>
                  </a:lnTo>
                  <a:lnTo>
                    <a:pt x="657" y="193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7"/>
            <p:cNvSpPr>
              <a:spLocks/>
            </p:cNvSpPr>
            <p:nvPr/>
          </p:nvSpPr>
          <p:spPr bwMode="auto">
            <a:xfrm>
              <a:off x="1310489" y="3567512"/>
              <a:ext cx="1477666" cy="6986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89" y="176"/>
                </a:cxn>
                <a:cxn ang="0">
                  <a:pos x="9" y="265"/>
                </a:cxn>
                <a:cxn ang="0">
                  <a:pos x="0" y="0"/>
                </a:cxn>
              </a:cxnLst>
              <a:rect l="0" t="0" r="r" b="b"/>
              <a:pathLst>
                <a:path w="1089" h="265">
                  <a:moveTo>
                    <a:pt x="0" y="0"/>
                  </a:moveTo>
                  <a:lnTo>
                    <a:pt x="1089" y="176"/>
                  </a:lnTo>
                  <a:lnTo>
                    <a:pt x="9" y="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8"/>
            <p:cNvSpPr>
              <a:spLocks/>
            </p:cNvSpPr>
            <p:nvPr/>
          </p:nvSpPr>
          <p:spPr bwMode="auto">
            <a:xfrm>
              <a:off x="914400" y="1122362"/>
              <a:ext cx="2120114" cy="3013075"/>
            </a:xfrm>
            <a:custGeom>
              <a:avLst/>
              <a:gdLst/>
              <a:ahLst/>
              <a:cxnLst>
                <a:cxn ang="0">
                  <a:pos x="1299" y="1898"/>
                </a:cxn>
                <a:cxn ang="0">
                  <a:pos x="0" y="1689"/>
                </a:cxn>
                <a:cxn ang="0">
                  <a:pos x="0" y="0"/>
                </a:cxn>
                <a:cxn ang="0">
                  <a:pos x="1299" y="0"/>
                </a:cxn>
                <a:cxn ang="0">
                  <a:pos x="1299" y="1898"/>
                </a:cxn>
              </a:cxnLst>
              <a:rect l="0" t="0" r="r" b="b"/>
              <a:pathLst>
                <a:path w="1299" h="1898">
                  <a:moveTo>
                    <a:pt x="1299" y="1898"/>
                  </a:moveTo>
                  <a:lnTo>
                    <a:pt x="0" y="1689"/>
                  </a:lnTo>
                  <a:lnTo>
                    <a:pt x="0" y="0"/>
                  </a:lnTo>
                  <a:lnTo>
                    <a:pt x="1299" y="0"/>
                  </a:lnTo>
                  <a:lnTo>
                    <a:pt x="1299" y="1898"/>
                  </a:ln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4" name="Rectangle 63"/>
          <p:cNvSpPr/>
          <p:nvPr/>
        </p:nvSpPr>
        <p:spPr>
          <a:xfrm>
            <a:off x="35496" y="1642879"/>
            <a:ext cx="821632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rtl="1"/>
            <a:r>
              <a:rPr lang="ar-DZ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هو معالج نصوص بسيط يثبت مع نظام التشغيل </a:t>
            </a:r>
            <a:r>
              <a:rPr lang="fr-FR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Windows</a:t>
            </a:r>
            <a:r>
              <a:rPr lang="ar-DZ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 يستعمل لكتابة النصوص ومعالجتها من حيث اللون والحجم ونوع الخط ...إلخ.</a:t>
            </a:r>
            <a:endParaRPr lang="fr-FR" sz="2000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grpSp>
        <p:nvGrpSpPr>
          <p:cNvPr id="65" name="Group 53"/>
          <p:cNvGrpSpPr>
            <a:grpSpLocks/>
          </p:cNvGrpSpPr>
          <p:nvPr/>
        </p:nvGrpSpPr>
        <p:grpSpPr bwMode="auto">
          <a:xfrm flipH="1">
            <a:off x="8216321" y="2755245"/>
            <a:ext cx="216024" cy="216024"/>
            <a:chOff x="2078" y="1680"/>
            <a:chExt cx="1615" cy="1615"/>
          </a:xfrm>
        </p:grpSpPr>
        <p:sp>
          <p:nvSpPr>
            <p:cNvPr id="66" name="Oval 54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7" name="Oval 55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8" name="Oval 56"/>
            <p:cNvSpPr>
              <a:spLocks noChangeArrowheads="1"/>
            </p:cNvSpPr>
            <p:nvPr/>
          </p:nvSpPr>
          <p:spPr bwMode="gray">
            <a:xfrm>
              <a:off x="2250" y="1855"/>
              <a:ext cx="1270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69" name="Oval 57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fr-FR"/>
            </a:p>
          </p:txBody>
        </p:sp>
        <p:sp>
          <p:nvSpPr>
            <p:cNvPr id="70" name="Oval 58"/>
            <p:cNvSpPr>
              <a:spLocks noChangeArrowheads="1"/>
            </p:cNvSpPr>
            <p:nvPr/>
          </p:nvSpPr>
          <p:spPr bwMode="gray">
            <a:xfrm>
              <a:off x="2336" y="1936"/>
              <a:ext cx="1091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71" name="Oval 59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</p:grpSp>
      <p:sp>
        <p:nvSpPr>
          <p:cNvPr id="4" name="Rectangle 3"/>
          <p:cNvSpPr/>
          <p:nvPr/>
        </p:nvSpPr>
        <p:spPr>
          <a:xfrm>
            <a:off x="251520" y="2668850"/>
            <a:ext cx="79114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rtl="1"/>
            <a:r>
              <a:rPr lang="ar-DZ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للقيام ببعض العمليات على ملف الدفتر نستعمل الأدوات التالية من القائمة الرئيسية </a:t>
            </a:r>
            <a:r>
              <a:rPr lang="fr-FR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Accueil</a:t>
            </a:r>
            <a:r>
              <a:rPr lang="ar-DZ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 :</a:t>
            </a:r>
            <a:endParaRPr lang="fr-FR" sz="2000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grpSp>
        <p:nvGrpSpPr>
          <p:cNvPr id="73" name="Group 104"/>
          <p:cNvGrpSpPr/>
          <p:nvPr/>
        </p:nvGrpSpPr>
        <p:grpSpPr>
          <a:xfrm>
            <a:off x="4333075" y="3386397"/>
            <a:ext cx="3975421" cy="527690"/>
            <a:chOff x="545209" y="1173645"/>
            <a:chExt cx="3814621" cy="1114425"/>
          </a:xfrm>
        </p:grpSpPr>
        <p:sp>
          <p:nvSpPr>
            <p:cNvPr id="74" name="Rectangle 73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" name="Rectangle 75"/>
            <p:cNvSpPr/>
            <p:nvPr/>
          </p:nvSpPr>
          <p:spPr>
            <a:xfrm flipH="1">
              <a:off x="545209" y="1373671"/>
              <a:ext cx="3039920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7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4" name="Rectangle 83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85" name="Rectangle 84"/>
          <p:cNvSpPr/>
          <p:nvPr/>
        </p:nvSpPr>
        <p:spPr>
          <a:xfrm>
            <a:off x="7533031" y="3396074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86" name="TextBox 68"/>
          <p:cNvSpPr txBox="1"/>
          <p:nvPr/>
        </p:nvSpPr>
        <p:spPr>
          <a:xfrm>
            <a:off x="4686652" y="3529637"/>
            <a:ext cx="2414331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 algn="r" rtl="1"/>
            <a:r>
              <a:rPr lang="ar-DZ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لتغيير  </a:t>
            </a:r>
            <a:r>
              <a:rPr lang="ar-DZ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نوع  الخط  </a:t>
            </a:r>
            <a:endParaRPr lang="fr-FR" sz="2000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grpSp>
        <p:nvGrpSpPr>
          <p:cNvPr id="87" name="Group 104"/>
          <p:cNvGrpSpPr/>
          <p:nvPr/>
        </p:nvGrpSpPr>
        <p:grpSpPr>
          <a:xfrm>
            <a:off x="4333075" y="4029804"/>
            <a:ext cx="3975421" cy="527690"/>
            <a:chOff x="545209" y="1173645"/>
            <a:chExt cx="3814621" cy="1114425"/>
          </a:xfrm>
        </p:grpSpPr>
        <p:sp>
          <p:nvSpPr>
            <p:cNvPr id="88" name="Rectangle 87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9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ectangle 89"/>
            <p:cNvSpPr/>
            <p:nvPr/>
          </p:nvSpPr>
          <p:spPr>
            <a:xfrm flipH="1">
              <a:off x="545209" y="1373671"/>
              <a:ext cx="3039922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Rectangle 91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93" name="Group 118"/>
          <p:cNvGrpSpPr/>
          <p:nvPr/>
        </p:nvGrpSpPr>
        <p:grpSpPr>
          <a:xfrm>
            <a:off x="4333074" y="4629502"/>
            <a:ext cx="3975424" cy="523025"/>
            <a:chOff x="545207" y="2392845"/>
            <a:chExt cx="3814623" cy="1114425"/>
          </a:xfrm>
        </p:grpSpPr>
        <p:sp>
          <p:nvSpPr>
            <p:cNvPr id="94" name="Rectangle 93"/>
            <p:cNvSpPr/>
            <p:nvPr/>
          </p:nvSpPr>
          <p:spPr>
            <a:xfrm flipH="1">
              <a:off x="3947080" y="2592870"/>
              <a:ext cx="41275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Freeform 120"/>
            <p:cNvSpPr/>
            <p:nvPr/>
          </p:nvSpPr>
          <p:spPr>
            <a:xfrm rot="5400000" flipH="1">
              <a:off x="3527344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Rectangle 95"/>
            <p:cNvSpPr/>
            <p:nvPr/>
          </p:nvSpPr>
          <p:spPr>
            <a:xfrm flipH="1">
              <a:off x="545207" y="2592869"/>
              <a:ext cx="3039919" cy="91440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Freeform 122"/>
            <p:cNvSpPr/>
            <p:nvPr/>
          </p:nvSpPr>
          <p:spPr>
            <a:xfrm rot="16200000" flipH="1" flipV="1">
              <a:off x="2887581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Rectangle 97"/>
            <p:cNvSpPr/>
            <p:nvPr/>
          </p:nvSpPr>
          <p:spPr>
            <a:xfrm flipH="1">
              <a:off x="3306524" y="2392845"/>
              <a:ext cx="914400" cy="9144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99" name="Rectangle 98"/>
          <p:cNvSpPr/>
          <p:nvPr/>
        </p:nvSpPr>
        <p:spPr>
          <a:xfrm>
            <a:off x="4794049" y="4133750"/>
            <a:ext cx="24422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rtl="1"/>
            <a:r>
              <a:rPr lang="ar-DZ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تكبير وتصغير حجم الخط </a:t>
            </a:r>
            <a:endParaRPr lang="fr-FR" sz="2000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7581586" y="4036494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01" name="Rectangle 100"/>
          <p:cNvSpPr/>
          <p:nvPr/>
        </p:nvSpPr>
        <p:spPr>
          <a:xfrm>
            <a:off x="7595531" y="4629503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02" name="Rectangle 101"/>
          <p:cNvSpPr/>
          <p:nvPr/>
        </p:nvSpPr>
        <p:spPr>
          <a:xfrm>
            <a:off x="5530121" y="4735427"/>
            <a:ext cx="16401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 rtl="1">
              <a:tabLst>
                <a:tab pos="1581785" algn="l"/>
              </a:tabLst>
            </a:pPr>
            <a:r>
              <a:rPr lang="ar-DZ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تحديد اتجاه الخط </a:t>
            </a:r>
            <a:endParaRPr lang="fr-FR" sz="2000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grpSp>
        <p:nvGrpSpPr>
          <p:cNvPr id="103" name="Group 104"/>
          <p:cNvGrpSpPr/>
          <p:nvPr/>
        </p:nvGrpSpPr>
        <p:grpSpPr>
          <a:xfrm>
            <a:off x="4333074" y="5277574"/>
            <a:ext cx="3978099" cy="527690"/>
            <a:chOff x="542639" y="1173645"/>
            <a:chExt cx="3817191" cy="1114425"/>
          </a:xfrm>
        </p:grpSpPr>
        <p:sp>
          <p:nvSpPr>
            <p:cNvPr id="104" name="Rectangle 103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Rectangle 105"/>
            <p:cNvSpPr/>
            <p:nvPr/>
          </p:nvSpPr>
          <p:spPr>
            <a:xfrm flipH="1">
              <a:off x="542639" y="1373671"/>
              <a:ext cx="3042488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7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8" name="Rectangle 107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09" name="Rectangle 108"/>
          <p:cNvSpPr/>
          <p:nvPr/>
        </p:nvSpPr>
        <p:spPr>
          <a:xfrm>
            <a:off x="5508103" y="5381520"/>
            <a:ext cx="173689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DZ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تلوين الخط </a:t>
            </a:r>
            <a:endParaRPr lang="fr-FR" sz="2000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7584263" y="5284264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pic>
        <p:nvPicPr>
          <p:cNvPr id="111" name="Image 110" descr="نوع خط"/>
          <p:cNvPicPr/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499992" y="4221160"/>
            <a:ext cx="52135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6" name="Image 115" descr="خط"/>
          <p:cNvPicPr/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427984" y="3580740"/>
            <a:ext cx="1152128" cy="238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7" name="Image 116" descr="لون الخط"/>
          <p:cNvPicPr/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416325" y="5468930"/>
            <a:ext cx="360040" cy="241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8" name="Image 117" descr="Capture2.PNG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499992" y="4806029"/>
            <a:ext cx="1012225" cy="218335"/>
          </a:xfrm>
          <a:prstGeom prst="rect">
            <a:avLst/>
          </a:prstGeom>
        </p:spPr>
      </p:pic>
      <p:sp>
        <p:nvSpPr>
          <p:cNvPr id="119" name="ZoneTexte 118"/>
          <p:cNvSpPr txBox="1"/>
          <p:nvPr/>
        </p:nvSpPr>
        <p:spPr>
          <a:xfrm>
            <a:off x="2627784" y="44624"/>
            <a:ext cx="4032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استعمال الحاسبة والرسام والدفتر</a:t>
            </a:r>
            <a:endParaRPr lang="fr-FR" sz="2800" b="1" dirty="0">
              <a:solidFill>
                <a:schemeClr val="bg1"/>
              </a:solidFill>
            </a:endParaRPr>
          </a:p>
        </p:txBody>
      </p:sp>
      <p:pic>
        <p:nvPicPr>
          <p:cNvPr id="120" name="Image 119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643" y="3041"/>
            <a:ext cx="626185" cy="626185"/>
          </a:xfrm>
          <a:prstGeom prst="rect">
            <a:avLst/>
          </a:prstGeom>
        </p:spPr>
      </p:pic>
      <p:pic>
        <p:nvPicPr>
          <p:cNvPr id="121" name="Image 120"/>
          <p:cNvPicPr/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39112"/>
            <a:ext cx="504056" cy="5245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00"/>
                            </p:stCondLst>
                            <p:childTnLst>
                              <p:par>
                                <p:cTn id="5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000"/>
                            </p:stCondLst>
                            <p:childTnLst>
                              <p:par>
                                <p:cTn id="5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500"/>
                            </p:stCondLst>
                            <p:childTnLst>
                              <p:par>
                                <p:cTn id="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000"/>
                            </p:stCondLst>
                            <p:childTnLst>
                              <p:par>
                                <p:cTn id="6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500"/>
                            </p:stCondLst>
                            <p:childTnLst>
                              <p:par>
                                <p:cTn id="7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8000"/>
                            </p:stCondLst>
                            <p:childTnLst>
                              <p:par>
                                <p:cTn id="7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8500"/>
                            </p:stCondLst>
                            <p:childTnLst>
                              <p:par>
                                <p:cTn id="8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48" grpId="0"/>
      <p:bldP spid="49" grpId="0"/>
      <p:bldP spid="85" grpId="0"/>
      <p:bldP spid="86" grpId="0"/>
      <p:bldP spid="99" grpId="0"/>
      <p:bldP spid="100" grpId="0"/>
      <p:bldP spid="101" grpId="0"/>
      <p:bldP spid="102" grpId="0"/>
      <p:bldP spid="109" grpId="0"/>
      <p:bldP spid="1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grpSp>
        <p:nvGrpSpPr>
          <p:cNvPr id="5" name="Groupe 4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6" name="Groupe 5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8" name="Groupe 18"/>
              <p:cNvGrpSpPr/>
              <p:nvPr/>
            </p:nvGrpSpPr>
            <p:grpSpPr>
              <a:xfrm>
                <a:off x="0" y="0"/>
                <a:ext cx="9144000" cy="6885384"/>
                <a:chOff x="0" y="0"/>
                <a:chExt cx="9144000" cy="6885384"/>
              </a:xfrm>
            </p:grpSpPr>
            <p:sp>
              <p:nvSpPr>
                <p:cNvPr id="15" name="Rectangle 14"/>
                <p:cNvSpPr/>
                <p:nvPr/>
              </p:nvSpPr>
              <p:spPr>
                <a:xfrm rot="10800000" flipV="1">
                  <a:off x="0" y="0"/>
                  <a:ext cx="6983760" cy="620688"/>
                </a:xfrm>
                <a:prstGeom prst="rect">
                  <a:avLst/>
                </a:prstGeom>
                <a:solidFill>
                  <a:srgbClr val="E34F5A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>
                    <a:solidFill>
                      <a:prstClr val="white"/>
                    </a:solidFill>
                  </a:endParaRPr>
                </a:p>
              </p:txBody>
            </p:sp>
            <p:grpSp>
              <p:nvGrpSpPr>
                <p:cNvPr id="16" name="Groupe 15"/>
                <p:cNvGrpSpPr/>
                <p:nvPr/>
              </p:nvGrpSpPr>
              <p:grpSpPr>
                <a:xfrm>
                  <a:off x="0" y="6237312"/>
                  <a:ext cx="9144000" cy="648072"/>
                  <a:chOff x="0" y="6237312"/>
                  <a:chExt cx="9144000" cy="648072"/>
                </a:xfrm>
              </p:grpSpPr>
              <p:sp>
                <p:nvSpPr>
                  <p:cNvPr id="18" name="Rectangle 17"/>
                  <p:cNvSpPr/>
                  <p:nvPr/>
                </p:nvSpPr>
                <p:spPr>
                  <a:xfrm>
                    <a:off x="0" y="6309320"/>
                    <a:ext cx="9144000" cy="576064"/>
                  </a:xfrm>
                  <a:prstGeom prst="rect">
                    <a:avLst/>
                  </a:prstGeom>
                  <a:solidFill>
                    <a:srgbClr val="D75BB4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19" name="Rectangle 18"/>
                  <p:cNvSpPr/>
                  <p:nvPr/>
                </p:nvSpPr>
                <p:spPr>
                  <a:xfrm flipV="1">
                    <a:off x="0" y="6237312"/>
                    <a:ext cx="9144000" cy="72008"/>
                  </a:xfrm>
                  <a:prstGeom prst="rect">
                    <a:avLst/>
                  </a:prstGeom>
                  <a:solidFill>
                    <a:srgbClr val="E34F5A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>
                      <a:solidFill>
                        <a:prstClr val="white"/>
                      </a:solidFill>
                    </a:endParaRPr>
                  </a:p>
                </p:txBody>
              </p:sp>
            </p:grpSp>
            <p:sp>
              <p:nvSpPr>
                <p:cNvPr id="17" name="Rectangle 16"/>
                <p:cNvSpPr/>
                <p:nvPr/>
              </p:nvSpPr>
              <p:spPr>
                <a:xfrm rot="10800000" flipV="1">
                  <a:off x="7020272" y="0"/>
                  <a:ext cx="2123728" cy="620688"/>
                </a:xfrm>
                <a:prstGeom prst="rect">
                  <a:avLst/>
                </a:prstGeom>
                <a:solidFill>
                  <a:srgbClr val="D75BB4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>
                    <a:solidFill>
                      <a:prstClr val="white"/>
                    </a:solidFill>
                  </a:endParaRPr>
                </a:p>
              </p:txBody>
            </p:sp>
          </p:grpSp>
          <p:pic>
            <p:nvPicPr>
              <p:cNvPr id="9" name="Image 8" descr="3-2-blogging-transparent-thumb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195736" y="6165304"/>
                <a:ext cx="864096" cy="741369"/>
              </a:xfrm>
              <a:prstGeom prst="rect">
                <a:avLst/>
              </a:prstGeom>
            </p:spPr>
          </p:pic>
          <p:pic>
            <p:nvPicPr>
              <p:cNvPr id="11" name="Image 10" descr="12-2-education-png-image-thumb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388424" y="5976664"/>
                <a:ext cx="720080" cy="980728"/>
              </a:xfrm>
              <a:prstGeom prst="rect">
                <a:avLst/>
              </a:prstGeom>
            </p:spPr>
          </p:pic>
          <p:sp>
            <p:nvSpPr>
              <p:cNvPr id="12" name="ZoneTexte 11"/>
              <p:cNvSpPr txBox="1"/>
              <p:nvPr/>
            </p:nvSpPr>
            <p:spPr>
              <a:xfrm>
                <a:off x="5652120" y="6381328"/>
                <a:ext cx="2808312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1900" b="1" dirty="0" smtClean="0">
                    <a:solidFill>
                      <a:prstClr val="white"/>
                    </a:solidFill>
                  </a:rPr>
                  <a:t>متوسطة قلواز </a:t>
                </a:r>
                <a:r>
                  <a:rPr lang="ar-DZ" sz="1900" b="1" dirty="0" err="1" smtClean="0">
                    <a:solidFill>
                      <a:prstClr val="white"/>
                    </a:solidFill>
                  </a:rPr>
                  <a:t>موسى </a:t>
                </a:r>
                <a:r>
                  <a:rPr lang="ar-DZ" sz="1900" b="1" dirty="0" smtClean="0">
                    <a:solidFill>
                      <a:prstClr val="white"/>
                    </a:solidFill>
                  </a:rPr>
                  <a:t>- بوراشد</a:t>
                </a:r>
                <a:endParaRPr lang="fr-FR" sz="1900" b="1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3" name="ZoneTexte 12"/>
              <p:cNvSpPr txBox="1"/>
              <p:nvPr/>
            </p:nvSpPr>
            <p:spPr>
              <a:xfrm>
                <a:off x="-180528" y="6396335"/>
                <a:ext cx="24482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prstClr val="white"/>
                    </a:solidFill>
                  </a:rPr>
                  <a:t>تصميم الأستاذ ماحي رضا</a:t>
                </a:r>
                <a:endParaRPr lang="fr-FR" sz="2000" b="1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4" name="ZoneTexte 13"/>
              <p:cNvSpPr txBox="1"/>
              <p:nvPr/>
            </p:nvSpPr>
            <p:spPr>
              <a:xfrm>
                <a:off x="2987824" y="6381328"/>
                <a:ext cx="20882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prstClr val="white"/>
                    </a:solidFill>
                  </a:rPr>
                  <a:t>المستوى:الأول متوسط</a:t>
                </a:r>
                <a:endParaRPr lang="fr-FR" sz="2000" b="1" dirty="0">
                  <a:solidFill>
                    <a:prstClr val="white"/>
                  </a:solidFill>
                </a:endParaRPr>
              </a:p>
            </p:txBody>
          </p:sp>
        </p:grpSp>
        <p:pic>
          <p:nvPicPr>
            <p:cNvPr id="7" name="Image 6" descr="3d print business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88024" y="6274668"/>
              <a:ext cx="1440160" cy="583332"/>
            </a:xfrm>
            <a:prstGeom prst="rect">
              <a:avLst/>
            </a:prstGeom>
          </p:spPr>
        </p:pic>
      </p:grpSp>
      <p:pic>
        <p:nvPicPr>
          <p:cNvPr id="20" name="Image 19" descr="Person-question-2-151x300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-108520" y="2204864"/>
            <a:ext cx="1438275" cy="3289548"/>
          </a:xfrm>
          <a:prstGeom prst="rect">
            <a:avLst/>
          </a:prstGeom>
        </p:spPr>
      </p:pic>
      <p:sp>
        <p:nvSpPr>
          <p:cNvPr id="21" name="Pensées 20"/>
          <p:cNvSpPr/>
          <p:nvPr/>
        </p:nvSpPr>
        <p:spPr>
          <a:xfrm>
            <a:off x="827584" y="980728"/>
            <a:ext cx="3960440" cy="1800200"/>
          </a:xfrm>
          <a:prstGeom prst="cloudCallout">
            <a:avLst>
              <a:gd name="adj1" fmla="val -49179"/>
              <a:gd name="adj2" fmla="val 74222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prstClr val="white"/>
              </a:solidFill>
            </a:endParaRPr>
          </a:p>
        </p:txBody>
      </p:sp>
      <p:sp>
        <p:nvSpPr>
          <p:cNvPr id="22" name="ZoneTexte 21"/>
          <p:cNvSpPr txBox="1"/>
          <p:nvPr/>
        </p:nvSpPr>
        <p:spPr>
          <a:xfrm>
            <a:off x="1115616" y="1412776"/>
            <a:ext cx="34563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ln w="1905"/>
                <a:gradFill>
                  <a:gsLst>
                    <a:gs pos="0">
                      <a:srgbClr val="F79646">
                        <a:shade val="20000"/>
                        <a:satMod val="200000"/>
                      </a:srgbClr>
                    </a:gs>
                    <a:gs pos="78000">
                      <a:srgbClr val="F79646">
                        <a:tint val="90000"/>
                        <a:shade val="89000"/>
                        <a:satMod val="220000"/>
                      </a:srgbClr>
                    </a:gs>
                    <a:gs pos="100000">
                      <a:srgbClr val="F79646">
                        <a:tint val="12000"/>
                        <a:satMod val="255000"/>
                      </a:srgb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ماهي الخطوات المتبعة لتشغيل هذه البرامج؟</a:t>
            </a:r>
            <a:endParaRPr lang="fr-FR" sz="2000" b="1" dirty="0">
              <a:ln w="1905"/>
              <a:gradFill>
                <a:gsLst>
                  <a:gs pos="0">
                    <a:srgbClr val="F79646">
                      <a:shade val="20000"/>
                      <a:satMod val="200000"/>
                    </a:srgbClr>
                  </a:gs>
                  <a:gs pos="78000">
                    <a:srgbClr val="F79646">
                      <a:tint val="90000"/>
                      <a:shade val="89000"/>
                      <a:satMod val="220000"/>
                    </a:srgbClr>
                  </a:gs>
                  <a:gs pos="100000">
                    <a:srgbClr val="F79646">
                      <a:tint val="12000"/>
                      <a:satMod val="255000"/>
                    </a:srgb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23" name="Picture 4" descr="C:\Users\RIDHA\Pictures\Image13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923928" y="4077072"/>
            <a:ext cx="1224136" cy="2220466"/>
          </a:xfrm>
          <a:prstGeom prst="rect">
            <a:avLst/>
          </a:prstGeom>
          <a:noFill/>
        </p:spPr>
      </p:pic>
      <p:sp>
        <p:nvSpPr>
          <p:cNvPr id="24" name="ZoneTexte 23"/>
          <p:cNvSpPr txBox="1"/>
          <p:nvPr/>
        </p:nvSpPr>
        <p:spPr>
          <a:xfrm>
            <a:off x="6948264" y="44624"/>
            <a:ext cx="2123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prstClr val="white"/>
                </a:solidFill>
              </a:rPr>
              <a:t>الحصة </a:t>
            </a:r>
            <a:r>
              <a:rPr lang="ar-DZ" sz="2800" b="1" dirty="0" err="1" smtClean="0">
                <a:solidFill>
                  <a:prstClr val="white"/>
                </a:solidFill>
              </a:rPr>
              <a:t>التعلمية</a:t>
            </a:r>
            <a:endParaRPr lang="fr-FR" sz="2800" b="1" dirty="0">
              <a:solidFill>
                <a:prstClr val="white"/>
              </a:solidFill>
            </a:endParaRPr>
          </a:p>
        </p:txBody>
      </p:sp>
      <p:grpSp>
        <p:nvGrpSpPr>
          <p:cNvPr id="26" name="Groupe 25"/>
          <p:cNvGrpSpPr/>
          <p:nvPr/>
        </p:nvGrpSpPr>
        <p:grpSpPr>
          <a:xfrm>
            <a:off x="4499992" y="3573016"/>
            <a:ext cx="2160240" cy="648072"/>
            <a:chOff x="3563888" y="1268760"/>
            <a:chExt cx="2664296" cy="936104"/>
          </a:xfrm>
        </p:grpSpPr>
        <p:sp>
          <p:nvSpPr>
            <p:cNvPr id="27" name="Pensées 26"/>
            <p:cNvSpPr/>
            <p:nvPr/>
          </p:nvSpPr>
          <p:spPr>
            <a:xfrm>
              <a:off x="3563888" y="1268760"/>
              <a:ext cx="2664296" cy="936104"/>
            </a:xfrm>
            <a:prstGeom prst="cloudCallout">
              <a:avLst>
                <a:gd name="adj1" fmla="val -25273"/>
                <a:gd name="adj2" fmla="val 9506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rtl="1"/>
              <a:endParaRPr lang="fr-FR" b="1" dirty="0">
                <a:solidFill>
                  <a:prstClr val="black"/>
                </a:solidFill>
              </a:endParaRPr>
            </a:p>
          </p:txBody>
        </p:sp>
        <p:sp>
          <p:nvSpPr>
            <p:cNvPr id="28" name="ZoneTexte 27"/>
            <p:cNvSpPr txBox="1"/>
            <p:nvPr/>
          </p:nvSpPr>
          <p:spPr>
            <a:xfrm>
              <a:off x="3779913" y="1484784"/>
              <a:ext cx="2304256" cy="5779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000" b="1" dirty="0" smtClean="0">
                  <a:solidFill>
                    <a:prstClr val="black"/>
                  </a:solidFill>
                </a:rPr>
                <a:t>الإجابة برفع الإصبع</a:t>
              </a:r>
            </a:p>
          </p:txBody>
        </p:sp>
      </p:grpSp>
      <p:sp>
        <p:nvSpPr>
          <p:cNvPr id="29" name="ZoneTexte 28"/>
          <p:cNvSpPr txBox="1"/>
          <p:nvPr/>
        </p:nvSpPr>
        <p:spPr>
          <a:xfrm>
            <a:off x="2627784" y="44624"/>
            <a:ext cx="4032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prstClr val="white"/>
                </a:solidFill>
              </a:rPr>
              <a:t>استعمال الحاسبة والرسام والدفتر</a:t>
            </a:r>
            <a:endParaRPr lang="fr-FR" sz="2800" b="1" dirty="0">
              <a:solidFill>
                <a:prstClr val="white"/>
              </a:solidFill>
            </a:endParaRPr>
          </a:p>
        </p:txBody>
      </p:sp>
      <p:pic>
        <p:nvPicPr>
          <p:cNvPr id="30" name="Image 2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643" y="3041"/>
            <a:ext cx="626185" cy="626185"/>
          </a:xfrm>
          <a:prstGeom prst="rect">
            <a:avLst/>
          </a:prstGeom>
        </p:spPr>
      </p:pic>
      <p:pic>
        <p:nvPicPr>
          <p:cNvPr id="31" name="Image 30"/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39112"/>
            <a:ext cx="504056" cy="52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575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26" descr="news-tv-studio-set-45-virtual-green-screen-background-loop_hpc80ufm__F0000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88632"/>
          </a:xfrm>
          <a:prstGeom prst="rect">
            <a:avLst/>
          </a:prstGeom>
        </p:spPr>
      </p:pic>
      <p:grpSp>
        <p:nvGrpSpPr>
          <p:cNvPr id="6" name="Groupe 5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7" name="Groupe 4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17" name="Groupe 18"/>
              <p:cNvGrpSpPr/>
              <p:nvPr/>
            </p:nvGrpSpPr>
            <p:grpSpPr>
              <a:xfrm>
                <a:off x="0" y="0"/>
                <a:ext cx="9144000" cy="6885384"/>
                <a:chOff x="0" y="0"/>
                <a:chExt cx="9144000" cy="6885384"/>
              </a:xfrm>
            </p:grpSpPr>
            <p:sp>
              <p:nvSpPr>
                <p:cNvPr id="19" name="Rectangle 18"/>
                <p:cNvSpPr/>
                <p:nvPr/>
              </p:nvSpPr>
              <p:spPr>
                <a:xfrm rot="10800000" flipV="1">
                  <a:off x="0" y="0"/>
                  <a:ext cx="6983760" cy="620688"/>
                </a:xfrm>
                <a:prstGeom prst="rect">
                  <a:avLst/>
                </a:prstGeom>
                <a:solidFill>
                  <a:srgbClr val="E34F5A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grpSp>
              <p:nvGrpSpPr>
                <p:cNvPr id="20" name="Groupe 15"/>
                <p:cNvGrpSpPr/>
                <p:nvPr/>
              </p:nvGrpSpPr>
              <p:grpSpPr>
                <a:xfrm>
                  <a:off x="0" y="6237312"/>
                  <a:ext cx="9144000" cy="648072"/>
                  <a:chOff x="0" y="6237312"/>
                  <a:chExt cx="9144000" cy="648072"/>
                </a:xfrm>
              </p:grpSpPr>
              <p:sp>
                <p:nvSpPr>
                  <p:cNvPr id="22" name="Rectangle 21"/>
                  <p:cNvSpPr/>
                  <p:nvPr/>
                </p:nvSpPr>
                <p:spPr>
                  <a:xfrm>
                    <a:off x="0" y="6309320"/>
                    <a:ext cx="9144000" cy="576064"/>
                  </a:xfrm>
                  <a:prstGeom prst="rect">
                    <a:avLst/>
                  </a:prstGeom>
                  <a:solidFill>
                    <a:srgbClr val="D75BB4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23" name="Rectangle 22"/>
                  <p:cNvSpPr/>
                  <p:nvPr/>
                </p:nvSpPr>
                <p:spPr>
                  <a:xfrm flipV="1">
                    <a:off x="0" y="6237312"/>
                    <a:ext cx="9144000" cy="72008"/>
                  </a:xfrm>
                  <a:prstGeom prst="rect">
                    <a:avLst/>
                  </a:prstGeom>
                  <a:solidFill>
                    <a:srgbClr val="E34F5A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sp>
              <p:nvSpPr>
                <p:cNvPr id="21" name="Rectangle 20"/>
                <p:cNvSpPr/>
                <p:nvPr/>
              </p:nvSpPr>
              <p:spPr>
                <a:xfrm rot="10800000" flipV="1">
                  <a:off x="7020272" y="0"/>
                  <a:ext cx="2123728" cy="620688"/>
                </a:xfrm>
                <a:prstGeom prst="rect">
                  <a:avLst/>
                </a:prstGeom>
                <a:solidFill>
                  <a:srgbClr val="D75BB4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  <p:pic>
            <p:nvPicPr>
              <p:cNvPr id="11" name="Image 10" descr="3-2-blogging-transparent-thumb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195736" y="6165304"/>
                <a:ext cx="864096" cy="741369"/>
              </a:xfrm>
              <a:prstGeom prst="rect">
                <a:avLst/>
              </a:prstGeom>
            </p:spPr>
          </p:pic>
          <p:pic>
            <p:nvPicPr>
              <p:cNvPr id="13" name="Image 12" descr="12-2-education-png-image-thumb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388424" y="5976664"/>
                <a:ext cx="720080" cy="980728"/>
              </a:xfrm>
              <a:prstGeom prst="rect">
                <a:avLst/>
              </a:prstGeom>
            </p:spPr>
          </p:pic>
          <p:sp>
            <p:nvSpPr>
              <p:cNvPr id="14" name="ZoneTexte 13"/>
              <p:cNvSpPr txBox="1"/>
              <p:nvPr/>
            </p:nvSpPr>
            <p:spPr>
              <a:xfrm>
                <a:off x="5652120" y="6381328"/>
                <a:ext cx="2808312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1900" b="1" dirty="0" smtClean="0">
                    <a:solidFill>
                      <a:schemeClr val="bg1"/>
                    </a:solidFill>
                  </a:rPr>
                  <a:t>متوسطة قلواز </a:t>
                </a:r>
                <a:r>
                  <a:rPr lang="ar-DZ" sz="1900" b="1" dirty="0" err="1" smtClean="0">
                    <a:solidFill>
                      <a:schemeClr val="bg1"/>
                    </a:solidFill>
                  </a:rPr>
                  <a:t>موسى </a:t>
                </a:r>
                <a:r>
                  <a:rPr lang="ar-DZ" sz="1900" b="1" dirty="0" smtClean="0">
                    <a:solidFill>
                      <a:schemeClr val="bg1"/>
                    </a:solidFill>
                  </a:rPr>
                  <a:t>- بوراشد</a:t>
                </a:r>
                <a:endParaRPr lang="fr-FR" sz="19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ZoneTexte 14"/>
              <p:cNvSpPr txBox="1"/>
              <p:nvPr/>
            </p:nvSpPr>
            <p:spPr>
              <a:xfrm>
                <a:off x="-180528" y="6396335"/>
                <a:ext cx="24482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تصميم الأستاذ ماحي رضا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ZoneTexte 15"/>
              <p:cNvSpPr txBox="1"/>
              <p:nvPr/>
            </p:nvSpPr>
            <p:spPr>
              <a:xfrm>
                <a:off x="2987824" y="6381328"/>
                <a:ext cx="20882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المستوى:الأول متوسط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8" name="Image 7" descr="3d print business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88024" y="6274668"/>
              <a:ext cx="1440160" cy="583332"/>
            </a:xfrm>
            <a:prstGeom prst="rect">
              <a:avLst/>
            </a:prstGeom>
          </p:spPr>
        </p:pic>
      </p:grpSp>
      <p:sp>
        <p:nvSpPr>
          <p:cNvPr id="67" name="ZoneTexte 66"/>
          <p:cNvSpPr txBox="1"/>
          <p:nvPr/>
        </p:nvSpPr>
        <p:spPr>
          <a:xfrm>
            <a:off x="6948264" y="44624"/>
            <a:ext cx="2123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الحصة </a:t>
            </a:r>
            <a:r>
              <a:rPr lang="ar-DZ" sz="2800" b="1" dirty="0" err="1" smtClean="0">
                <a:solidFill>
                  <a:schemeClr val="bg1"/>
                </a:solidFill>
              </a:rPr>
              <a:t>التعلمية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69" name="Rectangle 52"/>
          <p:cNvSpPr>
            <a:spLocks noChangeArrowheads="1"/>
          </p:cNvSpPr>
          <p:nvPr/>
        </p:nvSpPr>
        <p:spPr bwMode="auto">
          <a:xfrm>
            <a:off x="7404443" y="1628800"/>
            <a:ext cx="613569" cy="418508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70" name="Group 64"/>
          <p:cNvGrpSpPr/>
          <p:nvPr/>
        </p:nvGrpSpPr>
        <p:grpSpPr>
          <a:xfrm>
            <a:off x="5001370" y="1682042"/>
            <a:ext cx="3024336" cy="556319"/>
            <a:chOff x="568727" y="1693797"/>
            <a:chExt cx="3024336" cy="1026832"/>
          </a:xfrm>
        </p:grpSpPr>
        <p:sp>
          <p:nvSpPr>
            <p:cNvPr id="71" name="Freeform 9"/>
            <p:cNvSpPr>
              <a:spLocks/>
            </p:cNvSpPr>
            <p:nvPr/>
          </p:nvSpPr>
          <p:spPr bwMode="auto">
            <a:xfrm flipH="1">
              <a:off x="568727" y="1943390"/>
              <a:ext cx="2400702" cy="77723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10"/>
            <p:cNvSpPr>
              <a:spLocks/>
            </p:cNvSpPr>
            <p:nvPr/>
          </p:nvSpPr>
          <p:spPr bwMode="auto">
            <a:xfrm flipH="1">
              <a:off x="2688188" y="2261625"/>
              <a:ext cx="280988" cy="457589"/>
            </a:xfrm>
            <a:custGeom>
              <a:avLst/>
              <a:gdLst/>
              <a:ahLst/>
              <a:cxnLst>
                <a:cxn ang="0">
                  <a:pos x="177" y="5"/>
                </a:cxn>
                <a:cxn ang="0">
                  <a:pos x="0" y="0"/>
                </a:cxn>
                <a:cxn ang="0">
                  <a:pos x="1" y="220"/>
                </a:cxn>
                <a:cxn ang="0">
                  <a:pos x="177" y="5"/>
                </a:cxn>
              </a:cxnLst>
              <a:rect l="0" t="0" r="r" b="b"/>
              <a:pathLst>
                <a:path w="177" h="220">
                  <a:moveTo>
                    <a:pt x="177" y="5"/>
                  </a:moveTo>
                  <a:lnTo>
                    <a:pt x="0" y="0"/>
                  </a:lnTo>
                  <a:lnTo>
                    <a:pt x="1" y="220"/>
                  </a:lnTo>
                  <a:lnTo>
                    <a:pt x="177" y="5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83"/>
            <p:cNvSpPr>
              <a:spLocks/>
            </p:cNvSpPr>
            <p:nvPr/>
          </p:nvSpPr>
          <p:spPr bwMode="auto">
            <a:xfrm flipH="1">
              <a:off x="2685013" y="1693797"/>
              <a:ext cx="908050" cy="584466"/>
            </a:xfrm>
            <a:custGeom>
              <a:avLst/>
              <a:gdLst/>
              <a:ahLst/>
              <a:cxnLst>
                <a:cxn ang="0">
                  <a:pos x="504" y="4"/>
                </a:cxn>
                <a:cxn ang="0">
                  <a:pos x="0" y="0"/>
                </a:cxn>
                <a:cxn ang="0">
                  <a:pos x="71" y="281"/>
                </a:cxn>
                <a:cxn ang="0">
                  <a:pos x="572" y="281"/>
                </a:cxn>
                <a:cxn ang="0">
                  <a:pos x="504" y="4"/>
                </a:cxn>
              </a:cxnLst>
              <a:rect l="0" t="0" r="r" b="b"/>
              <a:pathLst>
                <a:path w="572" h="281">
                  <a:moveTo>
                    <a:pt x="504" y="4"/>
                  </a:moveTo>
                  <a:lnTo>
                    <a:pt x="0" y="0"/>
                  </a:lnTo>
                  <a:lnTo>
                    <a:pt x="71" y="281"/>
                  </a:lnTo>
                  <a:lnTo>
                    <a:pt x="572" y="281"/>
                  </a:lnTo>
                  <a:lnTo>
                    <a:pt x="504" y="4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4" name="TextBox 68"/>
          <p:cNvSpPr txBox="1"/>
          <p:nvPr/>
        </p:nvSpPr>
        <p:spPr>
          <a:xfrm>
            <a:off x="5343437" y="1860155"/>
            <a:ext cx="1440160" cy="30732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 algn="r" rtl="1">
              <a:spcBef>
                <a:spcPct val="20000"/>
              </a:spcBef>
              <a:defRPr/>
            </a:pPr>
            <a:r>
              <a:rPr lang="fr-FR" sz="2000" b="1" dirty="0" smtClean="0">
                <a:solidFill>
                  <a:schemeClr val="bg1"/>
                </a:solidFill>
              </a:rPr>
              <a:t>Démarrer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75" name="TextBox 82"/>
          <p:cNvSpPr txBox="1"/>
          <p:nvPr/>
        </p:nvSpPr>
        <p:spPr>
          <a:xfrm>
            <a:off x="7431386" y="1641972"/>
            <a:ext cx="3782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-</a:t>
            </a:r>
            <a:r>
              <a:rPr lang="ar-DZ" sz="2000" b="1" dirty="0">
                <a:solidFill>
                  <a:schemeClr val="bg1"/>
                </a:solidFill>
              </a:rPr>
              <a:t>أ</a:t>
            </a:r>
            <a:endParaRPr lang="en-US" sz="2000" b="1" dirty="0">
              <a:solidFill>
                <a:schemeClr val="bg1"/>
              </a:solidFill>
            </a:endParaRPr>
          </a:p>
        </p:txBody>
      </p:sp>
      <p:grpSp>
        <p:nvGrpSpPr>
          <p:cNvPr id="76" name="Group 64"/>
          <p:cNvGrpSpPr/>
          <p:nvPr/>
        </p:nvGrpSpPr>
        <p:grpSpPr>
          <a:xfrm>
            <a:off x="4283968" y="2485342"/>
            <a:ext cx="3741738" cy="549944"/>
            <a:chOff x="-148675" y="1693797"/>
            <a:chExt cx="3741738" cy="1026832"/>
          </a:xfrm>
        </p:grpSpPr>
        <p:sp>
          <p:nvSpPr>
            <p:cNvPr id="77" name="Freeform 9"/>
            <p:cNvSpPr>
              <a:spLocks/>
            </p:cNvSpPr>
            <p:nvPr/>
          </p:nvSpPr>
          <p:spPr bwMode="auto">
            <a:xfrm flipH="1">
              <a:off x="-148675" y="1943390"/>
              <a:ext cx="3118104" cy="777239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10"/>
            <p:cNvSpPr>
              <a:spLocks/>
            </p:cNvSpPr>
            <p:nvPr/>
          </p:nvSpPr>
          <p:spPr bwMode="auto">
            <a:xfrm flipH="1">
              <a:off x="2688188" y="2261625"/>
              <a:ext cx="280988" cy="457589"/>
            </a:xfrm>
            <a:custGeom>
              <a:avLst/>
              <a:gdLst/>
              <a:ahLst/>
              <a:cxnLst>
                <a:cxn ang="0">
                  <a:pos x="177" y="5"/>
                </a:cxn>
                <a:cxn ang="0">
                  <a:pos x="0" y="0"/>
                </a:cxn>
                <a:cxn ang="0">
                  <a:pos x="1" y="220"/>
                </a:cxn>
                <a:cxn ang="0">
                  <a:pos x="177" y="5"/>
                </a:cxn>
              </a:cxnLst>
              <a:rect l="0" t="0" r="r" b="b"/>
              <a:pathLst>
                <a:path w="177" h="220">
                  <a:moveTo>
                    <a:pt x="177" y="5"/>
                  </a:moveTo>
                  <a:lnTo>
                    <a:pt x="0" y="0"/>
                  </a:lnTo>
                  <a:lnTo>
                    <a:pt x="1" y="220"/>
                  </a:lnTo>
                  <a:lnTo>
                    <a:pt x="177" y="5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83"/>
            <p:cNvSpPr>
              <a:spLocks/>
            </p:cNvSpPr>
            <p:nvPr/>
          </p:nvSpPr>
          <p:spPr bwMode="auto">
            <a:xfrm flipH="1">
              <a:off x="2685013" y="1693797"/>
              <a:ext cx="908050" cy="584466"/>
            </a:xfrm>
            <a:custGeom>
              <a:avLst/>
              <a:gdLst/>
              <a:ahLst/>
              <a:cxnLst>
                <a:cxn ang="0">
                  <a:pos x="504" y="4"/>
                </a:cxn>
                <a:cxn ang="0">
                  <a:pos x="0" y="0"/>
                </a:cxn>
                <a:cxn ang="0">
                  <a:pos x="71" y="281"/>
                </a:cxn>
                <a:cxn ang="0">
                  <a:pos x="572" y="281"/>
                </a:cxn>
                <a:cxn ang="0">
                  <a:pos x="504" y="4"/>
                </a:cxn>
              </a:cxnLst>
              <a:rect l="0" t="0" r="r" b="b"/>
              <a:pathLst>
                <a:path w="572" h="281">
                  <a:moveTo>
                    <a:pt x="504" y="4"/>
                  </a:moveTo>
                  <a:lnTo>
                    <a:pt x="0" y="0"/>
                  </a:lnTo>
                  <a:lnTo>
                    <a:pt x="71" y="281"/>
                  </a:lnTo>
                  <a:lnTo>
                    <a:pt x="572" y="281"/>
                  </a:lnTo>
                  <a:lnTo>
                    <a:pt x="504" y="4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2" name="TextBox 68"/>
          <p:cNvSpPr txBox="1"/>
          <p:nvPr/>
        </p:nvSpPr>
        <p:spPr>
          <a:xfrm>
            <a:off x="4603263" y="2670409"/>
            <a:ext cx="2414331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fr-FR" sz="2000" b="1" dirty="0" smtClean="0">
                <a:solidFill>
                  <a:schemeClr val="bg1"/>
                </a:solidFill>
              </a:rPr>
              <a:t>Tous les programmes</a:t>
            </a:r>
            <a:endParaRPr lang="fr-FR" sz="2000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7431386" y="2434060"/>
            <a:ext cx="4863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-</a:t>
            </a:r>
            <a:r>
              <a:rPr lang="ar-DZ" sz="2000" b="1" dirty="0" smtClean="0">
                <a:solidFill>
                  <a:schemeClr val="bg1"/>
                </a:solidFill>
              </a:rPr>
              <a:t>ب</a:t>
            </a:r>
            <a:endParaRPr lang="en-US" sz="2000" b="1" dirty="0">
              <a:solidFill>
                <a:schemeClr val="bg1"/>
              </a:solidFill>
            </a:endParaRPr>
          </a:p>
        </p:txBody>
      </p:sp>
      <p:grpSp>
        <p:nvGrpSpPr>
          <p:cNvPr id="84" name="Group 64"/>
          <p:cNvGrpSpPr/>
          <p:nvPr/>
        </p:nvGrpSpPr>
        <p:grpSpPr>
          <a:xfrm>
            <a:off x="5001370" y="3287524"/>
            <a:ext cx="3021658" cy="554758"/>
            <a:chOff x="571405" y="1693797"/>
            <a:chExt cx="3021658" cy="1026832"/>
          </a:xfrm>
        </p:grpSpPr>
        <p:sp>
          <p:nvSpPr>
            <p:cNvPr id="85" name="Freeform 9"/>
            <p:cNvSpPr>
              <a:spLocks/>
            </p:cNvSpPr>
            <p:nvPr/>
          </p:nvSpPr>
          <p:spPr bwMode="auto">
            <a:xfrm flipH="1">
              <a:off x="571405" y="1943391"/>
              <a:ext cx="2398024" cy="777238"/>
            </a:xfrm>
            <a:prstGeom prst="rect">
              <a:avLst/>
            </a:pr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10"/>
            <p:cNvSpPr>
              <a:spLocks/>
            </p:cNvSpPr>
            <p:nvPr/>
          </p:nvSpPr>
          <p:spPr bwMode="auto">
            <a:xfrm flipH="1">
              <a:off x="2688188" y="2261625"/>
              <a:ext cx="280988" cy="457589"/>
            </a:xfrm>
            <a:custGeom>
              <a:avLst/>
              <a:gdLst/>
              <a:ahLst/>
              <a:cxnLst>
                <a:cxn ang="0">
                  <a:pos x="177" y="5"/>
                </a:cxn>
                <a:cxn ang="0">
                  <a:pos x="0" y="0"/>
                </a:cxn>
                <a:cxn ang="0">
                  <a:pos x="1" y="220"/>
                </a:cxn>
                <a:cxn ang="0">
                  <a:pos x="177" y="5"/>
                </a:cxn>
              </a:cxnLst>
              <a:rect l="0" t="0" r="r" b="b"/>
              <a:pathLst>
                <a:path w="177" h="220">
                  <a:moveTo>
                    <a:pt x="177" y="5"/>
                  </a:moveTo>
                  <a:lnTo>
                    <a:pt x="0" y="0"/>
                  </a:lnTo>
                  <a:lnTo>
                    <a:pt x="1" y="220"/>
                  </a:lnTo>
                  <a:lnTo>
                    <a:pt x="177" y="5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83"/>
            <p:cNvSpPr>
              <a:spLocks/>
            </p:cNvSpPr>
            <p:nvPr/>
          </p:nvSpPr>
          <p:spPr bwMode="auto">
            <a:xfrm flipH="1">
              <a:off x="2685013" y="1693797"/>
              <a:ext cx="908050" cy="584466"/>
            </a:xfrm>
            <a:custGeom>
              <a:avLst/>
              <a:gdLst/>
              <a:ahLst/>
              <a:cxnLst>
                <a:cxn ang="0">
                  <a:pos x="504" y="4"/>
                </a:cxn>
                <a:cxn ang="0">
                  <a:pos x="0" y="0"/>
                </a:cxn>
                <a:cxn ang="0">
                  <a:pos x="71" y="281"/>
                </a:cxn>
                <a:cxn ang="0">
                  <a:pos x="572" y="281"/>
                </a:cxn>
                <a:cxn ang="0">
                  <a:pos x="504" y="4"/>
                </a:cxn>
              </a:cxnLst>
              <a:rect l="0" t="0" r="r" b="b"/>
              <a:pathLst>
                <a:path w="572" h="281">
                  <a:moveTo>
                    <a:pt x="504" y="4"/>
                  </a:moveTo>
                  <a:lnTo>
                    <a:pt x="0" y="0"/>
                  </a:lnTo>
                  <a:lnTo>
                    <a:pt x="71" y="281"/>
                  </a:lnTo>
                  <a:lnTo>
                    <a:pt x="572" y="281"/>
                  </a:lnTo>
                  <a:lnTo>
                    <a:pt x="504" y="4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8" name="TextBox 68"/>
          <p:cNvSpPr txBox="1"/>
          <p:nvPr/>
        </p:nvSpPr>
        <p:spPr>
          <a:xfrm>
            <a:off x="5181390" y="3462497"/>
            <a:ext cx="1764196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fr-FR" sz="2000" b="1" dirty="0" smtClean="0">
                <a:solidFill>
                  <a:schemeClr val="bg1"/>
                </a:solidFill>
              </a:rPr>
              <a:t>Accessoires</a:t>
            </a:r>
            <a:endParaRPr lang="fr-FR" sz="2000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89" name="TextBox 82"/>
          <p:cNvSpPr txBox="1"/>
          <p:nvPr/>
        </p:nvSpPr>
        <p:spPr>
          <a:xfrm>
            <a:off x="7428708" y="3226148"/>
            <a:ext cx="4889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-</a:t>
            </a:r>
            <a:r>
              <a:rPr lang="ar-DZ" sz="2000" b="1" dirty="0" smtClean="0">
                <a:solidFill>
                  <a:schemeClr val="bg1"/>
                </a:solidFill>
              </a:rPr>
              <a:t>ج</a:t>
            </a:r>
            <a:endParaRPr lang="en-US" sz="2000" b="1" dirty="0">
              <a:solidFill>
                <a:schemeClr val="bg1"/>
              </a:solidFill>
            </a:endParaRPr>
          </a:p>
        </p:txBody>
      </p:sp>
      <p:grpSp>
        <p:nvGrpSpPr>
          <p:cNvPr id="90" name="Group 64"/>
          <p:cNvGrpSpPr/>
          <p:nvPr/>
        </p:nvGrpSpPr>
        <p:grpSpPr>
          <a:xfrm>
            <a:off x="1979712" y="4110569"/>
            <a:ext cx="6045994" cy="1459905"/>
            <a:chOff x="-2452931" y="1693797"/>
            <a:chExt cx="6045994" cy="1026832"/>
          </a:xfrm>
        </p:grpSpPr>
        <p:sp>
          <p:nvSpPr>
            <p:cNvPr id="91" name="Freeform 9"/>
            <p:cNvSpPr>
              <a:spLocks/>
            </p:cNvSpPr>
            <p:nvPr/>
          </p:nvSpPr>
          <p:spPr bwMode="auto">
            <a:xfrm flipH="1">
              <a:off x="-2452931" y="1943391"/>
              <a:ext cx="5422360" cy="777238"/>
            </a:xfrm>
            <a:prstGeom prst="rect">
              <a:avLst/>
            </a:pr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10"/>
            <p:cNvSpPr>
              <a:spLocks/>
            </p:cNvSpPr>
            <p:nvPr/>
          </p:nvSpPr>
          <p:spPr bwMode="auto">
            <a:xfrm flipH="1">
              <a:off x="2688188" y="2261625"/>
              <a:ext cx="280988" cy="457589"/>
            </a:xfrm>
            <a:custGeom>
              <a:avLst/>
              <a:gdLst/>
              <a:ahLst/>
              <a:cxnLst>
                <a:cxn ang="0">
                  <a:pos x="177" y="5"/>
                </a:cxn>
                <a:cxn ang="0">
                  <a:pos x="0" y="0"/>
                </a:cxn>
                <a:cxn ang="0">
                  <a:pos x="1" y="220"/>
                </a:cxn>
                <a:cxn ang="0">
                  <a:pos x="177" y="5"/>
                </a:cxn>
              </a:cxnLst>
              <a:rect l="0" t="0" r="r" b="b"/>
              <a:pathLst>
                <a:path w="177" h="220">
                  <a:moveTo>
                    <a:pt x="177" y="5"/>
                  </a:moveTo>
                  <a:lnTo>
                    <a:pt x="0" y="0"/>
                  </a:lnTo>
                  <a:lnTo>
                    <a:pt x="1" y="220"/>
                  </a:lnTo>
                  <a:lnTo>
                    <a:pt x="177" y="5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Freeform 83"/>
            <p:cNvSpPr>
              <a:spLocks/>
            </p:cNvSpPr>
            <p:nvPr/>
          </p:nvSpPr>
          <p:spPr bwMode="auto">
            <a:xfrm flipH="1">
              <a:off x="2685013" y="1693797"/>
              <a:ext cx="908050" cy="584466"/>
            </a:xfrm>
            <a:custGeom>
              <a:avLst/>
              <a:gdLst/>
              <a:ahLst/>
              <a:cxnLst>
                <a:cxn ang="0">
                  <a:pos x="504" y="4"/>
                </a:cxn>
                <a:cxn ang="0">
                  <a:pos x="0" y="0"/>
                </a:cxn>
                <a:cxn ang="0">
                  <a:pos x="71" y="281"/>
                </a:cxn>
                <a:cxn ang="0">
                  <a:pos x="572" y="281"/>
                </a:cxn>
                <a:cxn ang="0">
                  <a:pos x="504" y="4"/>
                </a:cxn>
              </a:cxnLst>
              <a:rect l="0" t="0" r="r" b="b"/>
              <a:pathLst>
                <a:path w="572" h="281">
                  <a:moveTo>
                    <a:pt x="504" y="4"/>
                  </a:moveTo>
                  <a:lnTo>
                    <a:pt x="0" y="0"/>
                  </a:lnTo>
                  <a:lnTo>
                    <a:pt x="71" y="281"/>
                  </a:lnTo>
                  <a:lnTo>
                    <a:pt x="572" y="281"/>
                  </a:lnTo>
                  <a:lnTo>
                    <a:pt x="504" y="4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94" name="TextBox 68"/>
          <p:cNvSpPr txBox="1"/>
          <p:nvPr/>
        </p:nvSpPr>
        <p:spPr>
          <a:xfrm>
            <a:off x="3601445" y="4830853"/>
            <a:ext cx="3389332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fr-FR" sz="2000" b="1" dirty="0" err="1" smtClean="0">
                <a:solidFill>
                  <a:schemeClr val="bg1"/>
                </a:solidFill>
                <a:latin typeface="Times New Roman"/>
                <a:ea typeface="Times New Roman"/>
              </a:rPr>
              <a:t>Paint</a:t>
            </a:r>
            <a:r>
              <a:rPr lang="fr-FR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 -</a:t>
            </a:r>
            <a:r>
              <a:rPr lang="ar-DZ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  </a:t>
            </a:r>
            <a:r>
              <a:rPr lang="ar-DZ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لتشغيل برنامج الرسام.</a:t>
            </a:r>
            <a:endParaRPr lang="fr-FR" sz="2000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95" name="TextBox 82"/>
          <p:cNvSpPr txBox="1"/>
          <p:nvPr/>
        </p:nvSpPr>
        <p:spPr>
          <a:xfrm>
            <a:off x="7424890" y="4393036"/>
            <a:ext cx="3782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DZ" sz="2000" b="1" dirty="0">
                <a:solidFill>
                  <a:schemeClr val="bg1"/>
                </a:solidFill>
              </a:rPr>
              <a:t>د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96" name="Shape 856"/>
          <p:cNvSpPr/>
          <p:nvPr/>
        </p:nvSpPr>
        <p:spPr>
          <a:xfrm>
            <a:off x="8316416" y="756101"/>
            <a:ext cx="576064" cy="5072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D75BB4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7" name="Shape 859"/>
          <p:cNvSpPr/>
          <p:nvPr/>
        </p:nvSpPr>
        <p:spPr>
          <a:xfrm>
            <a:off x="3419872" y="764704"/>
            <a:ext cx="4824536" cy="4954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solidFill>
            <a:srgbClr val="D75BB4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8" name="ZoneTexte 97"/>
          <p:cNvSpPr txBox="1"/>
          <p:nvPr/>
        </p:nvSpPr>
        <p:spPr>
          <a:xfrm>
            <a:off x="8316416" y="745540"/>
            <a:ext cx="504056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3-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99" name="ZoneTexte 98"/>
          <p:cNvSpPr txBox="1"/>
          <p:nvPr/>
        </p:nvSpPr>
        <p:spPr>
          <a:xfrm>
            <a:off x="3635896" y="764704"/>
            <a:ext cx="44644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تشغيل البرامج: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124" name="TextBox 68"/>
          <p:cNvSpPr txBox="1"/>
          <p:nvPr/>
        </p:nvSpPr>
        <p:spPr>
          <a:xfrm>
            <a:off x="3399638" y="4490354"/>
            <a:ext cx="3587094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fr-FR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Calculatrice -</a:t>
            </a:r>
            <a:r>
              <a:rPr lang="ar-DZ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  </a:t>
            </a:r>
            <a:r>
              <a:rPr lang="ar-DZ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لتشغيل برنامج الحاسبة. </a:t>
            </a:r>
            <a:endParaRPr lang="fr-FR" sz="2000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25" name="TextBox 68"/>
          <p:cNvSpPr txBox="1"/>
          <p:nvPr/>
        </p:nvSpPr>
        <p:spPr>
          <a:xfrm>
            <a:off x="3587897" y="5138630"/>
            <a:ext cx="3429697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fr-FR" sz="2000" b="1" dirty="0" err="1" smtClean="0">
                <a:solidFill>
                  <a:schemeClr val="bg1"/>
                </a:solidFill>
                <a:latin typeface="Times New Roman"/>
                <a:ea typeface="Times New Roman"/>
              </a:rPr>
              <a:t>Wordpad</a:t>
            </a:r>
            <a:r>
              <a:rPr lang="fr-FR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 -</a:t>
            </a:r>
            <a:r>
              <a:rPr lang="ar-DZ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 لتشغيل برنامج الدفتر.</a:t>
            </a:r>
            <a:endParaRPr lang="fr-FR" sz="2000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26" name="ZoneTexte 125"/>
          <p:cNvSpPr txBox="1"/>
          <p:nvPr/>
        </p:nvSpPr>
        <p:spPr>
          <a:xfrm>
            <a:off x="2627784" y="44624"/>
            <a:ext cx="4032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استعمال الحاسبة والرسام والدفتر</a:t>
            </a:r>
            <a:endParaRPr lang="fr-FR" sz="2800" b="1" dirty="0">
              <a:solidFill>
                <a:schemeClr val="bg1"/>
              </a:solidFill>
            </a:endParaRPr>
          </a:p>
        </p:txBody>
      </p:sp>
      <p:pic>
        <p:nvPicPr>
          <p:cNvPr id="127" name="Image 12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643" y="3041"/>
            <a:ext cx="626185" cy="626185"/>
          </a:xfrm>
          <a:prstGeom prst="rect">
            <a:avLst/>
          </a:prstGeom>
        </p:spPr>
      </p:pic>
      <p:pic>
        <p:nvPicPr>
          <p:cNvPr id="128" name="Image 127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39112"/>
            <a:ext cx="504056" cy="5245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74" grpId="0"/>
      <p:bldP spid="75" grpId="0"/>
      <p:bldP spid="82" grpId="0"/>
      <p:bldP spid="83" grpId="0"/>
      <p:bldP spid="88" grpId="0"/>
      <p:bldP spid="89" grpId="0"/>
      <p:bldP spid="94" grpId="0"/>
      <p:bldP spid="95" grpId="0"/>
      <p:bldP spid="96" grpId="0" animBg="1"/>
      <p:bldP spid="97" grpId="0" animBg="1"/>
      <p:bldP spid="98" grpId="0"/>
      <p:bldP spid="99" grpId="0"/>
      <p:bldP spid="124" grpId="0"/>
      <p:bldP spid="1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 descr="news-tv-studio-set-45-virtual-green-screen-background-loop_hpc80ufm__F0000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88632"/>
          </a:xfrm>
          <a:prstGeom prst="rect">
            <a:avLst/>
          </a:prstGeom>
        </p:spPr>
      </p:pic>
      <p:grpSp>
        <p:nvGrpSpPr>
          <p:cNvPr id="4" name="Groupe 3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5" name="Groupe 4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7" name="Groupe 180"/>
              <p:cNvGrpSpPr/>
              <p:nvPr/>
            </p:nvGrpSpPr>
            <p:grpSpPr>
              <a:xfrm>
                <a:off x="0" y="0"/>
                <a:ext cx="9144000" cy="6885384"/>
                <a:chOff x="0" y="0"/>
                <a:chExt cx="9144000" cy="6885384"/>
              </a:xfrm>
            </p:grpSpPr>
            <p:grpSp>
              <p:nvGrpSpPr>
                <p:cNvPr id="15" name="Groupe 18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17" name="Rectangle 16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E34F5A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18" name="Groupe 15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20" name="Rectangle 19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D75BB4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21" name="Rectangle 20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E34F5A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19" name="Rectangle 18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D75BB4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sp>
              <p:nvSpPr>
                <p:cNvPr id="16" name="ZoneTexte 15"/>
                <p:cNvSpPr txBox="1"/>
                <p:nvPr/>
              </p:nvSpPr>
              <p:spPr>
                <a:xfrm>
                  <a:off x="7164288" y="87015"/>
                  <a:ext cx="187220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400" b="1" dirty="0" smtClean="0">
                      <a:solidFill>
                        <a:schemeClr val="bg1"/>
                      </a:solidFill>
                    </a:rPr>
                    <a:t>المجال المفاهيمي</a:t>
                  </a:r>
                  <a:endParaRPr lang="fr-FR" sz="24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8" name="ZoneTexte 7"/>
              <p:cNvSpPr txBox="1"/>
              <p:nvPr/>
            </p:nvSpPr>
            <p:spPr>
              <a:xfrm>
                <a:off x="2339752" y="87015"/>
                <a:ext cx="34563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400" b="1" dirty="0" smtClean="0">
                    <a:solidFill>
                      <a:schemeClr val="bg1"/>
                    </a:solidFill>
                  </a:rPr>
                  <a:t>استخــــدام الحاســــــوب</a:t>
                </a:r>
                <a:endParaRPr lang="fr-FR" sz="2400" b="1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9" name="Image 8" descr="3-2-blogging-transparent-thumb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195736" y="6165304"/>
                <a:ext cx="864096" cy="741369"/>
              </a:xfrm>
              <a:prstGeom prst="rect">
                <a:avLst/>
              </a:prstGeom>
            </p:spPr>
          </p:pic>
          <p:pic>
            <p:nvPicPr>
              <p:cNvPr id="10" name="Picture 1" descr="C:\Users\RIDHA\Downloads\صور المعلوماتية\computer_pc_PNG7714.png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971600" y="0"/>
                <a:ext cx="1944216" cy="637297"/>
              </a:xfrm>
              <a:prstGeom prst="rect">
                <a:avLst/>
              </a:prstGeom>
              <a:noFill/>
            </p:spPr>
          </p:pic>
          <p:pic>
            <p:nvPicPr>
              <p:cNvPr id="11" name="Image 10" descr="12-2-education-png-image-thumb.pn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8388424" y="5976664"/>
                <a:ext cx="720080" cy="980728"/>
              </a:xfrm>
              <a:prstGeom prst="rect">
                <a:avLst/>
              </a:prstGeom>
            </p:spPr>
          </p:pic>
          <p:sp>
            <p:nvSpPr>
              <p:cNvPr id="12" name="ZoneTexte 11"/>
              <p:cNvSpPr txBox="1"/>
              <p:nvPr/>
            </p:nvSpPr>
            <p:spPr>
              <a:xfrm>
                <a:off x="5652120" y="6381328"/>
                <a:ext cx="2808312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1900" b="1" dirty="0" smtClean="0">
                    <a:solidFill>
                      <a:schemeClr val="bg1"/>
                    </a:solidFill>
                  </a:rPr>
                  <a:t>متوسطة قلواز </a:t>
                </a:r>
                <a:r>
                  <a:rPr lang="ar-DZ" sz="1900" b="1" dirty="0" err="1" smtClean="0">
                    <a:solidFill>
                      <a:schemeClr val="bg1"/>
                    </a:solidFill>
                  </a:rPr>
                  <a:t>موسى </a:t>
                </a:r>
                <a:r>
                  <a:rPr lang="ar-DZ" sz="1900" b="1" dirty="0" smtClean="0">
                    <a:solidFill>
                      <a:schemeClr val="bg1"/>
                    </a:solidFill>
                  </a:rPr>
                  <a:t>- بوراشد</a:t>
                </a:r>
                <a:endParaRPr lang="fr-FR" sz="19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ZoneTexte 12"/>
              <p:cNvSpPr txBox="1"/>
              <p:nvPr/>
            </p:nvSpPr>
            <p:spPr>
              <a:xfrm>
                <a:off x="-180528" y="6396335"/>
                <a:ext cx="24482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تصميم الأستاذ ماحي رضا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ZoneTexte 13"/>
              <p:cNvSpPr txBox="1"/>
              <p:nvPr/>
            </p:nvSpPr>
            <p:spPr>
              <a:xfrm>
                <a:off x="2987824" y="6381328"/>
                <a:ext cx="20882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المستوى:الأول متوسط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6" name="Image 5" descr="3d print business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88024" y="6274668"/>
              <a:ext cx="1440160" cy="583332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31763</TotalTime>
  <Words>426</Words>
  <Application>Microsoft Office PowerPoint</Application>
  <PresentationFormat>Affichage à l'écran (4:3)</PresentationFormat>
  <Paragraphs>114</Paragraphs>
  <Slides>13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4" baseType="lpstr"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RIDHA</dc:creator>
  <cp:lastModifiedBy>RIDHA MAHI</cp:lastModifiedBy>
  <cp:revision>273</cp:revision>
  <dcterms:created xsi:type="dcterms:W3CDTF">2017-08-21T12:09:26Z</dcterms:created>
  <dcterms:modified xsi:type="dcterms:W3CDTF">2018-08-13T23:59:32Z</dcterms:modified>
</cp:coreProperties>
</file>