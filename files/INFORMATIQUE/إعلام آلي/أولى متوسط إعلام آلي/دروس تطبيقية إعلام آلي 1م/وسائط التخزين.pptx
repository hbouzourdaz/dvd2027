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6" r:id="rId8"/>
    <p:sldId id="280" r:id="rId9"/>
    <p:sldId id="265" r:id="rId10"/>
    <p:sldId id="277" r:id="rId11"/>
    <p:sldId id="267" r:id="rId12"/>
    <p:sldId id="281" r:id="rId13"/>
    <p:sldId id="279" r:id="rId14"/>
    <p:sldId id="278" r:id="rId15"/>
    <p:sldId id="269" r:id="rId16"/>
    <p:sldId id="270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FF6600"/>
    <a:srgbClr val="CC0000"/>
    <a:srgbClr val="FF33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3728" autoAdjust="0"/>
  </p:normalViewPr>
  <p:slideViewPr>
    <p:cSldViewPr>
      <p:cViewPr>
        <p:scale>
          <a:sx n="70" d="100"/>
          <a:sy n="70" d="100"/>
        </p:scale>
        <p:origin x="-138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16/08/2018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5.png"/><Relationship Id="rId7" Type="http://schemas.openxmlformats.org/officeDocument/2006/relationships/image" Target="../media/image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5.png"/><Relationship Id="rId7" Type="http://schemas.openxmlformats.org/officeDocument/2006/relationships/image" Target="../media/image9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3.png"/><Relationship Id="rId10" Type="http://schemas.openxmlformats.org/officeDocument/2006/relationships/image" Target="../media/image10.jpeg"/><Relationship Id="rId4" Type="http://schemas.openxmlformats.org/officeDocument/2006/relationships/image" Target="../media/image5.pn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9.png"/><Relationship Id="rId7" Type="http://schemas.openxmlformats.org/officeDocument/2006/relationships/image" Target="../media/image9.jpeg"/><Relationship Id="rId12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9.png"/><Relationship Id="rId7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19.png"/><Relationship Id="rId7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image" Target="../media/image9.jpeg"/><Relationship Id="rId12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3.png"/><Relationship Id="rId5" Type="http://schemas.openxmlformats.org/officeDocument/2006/relationships/image" Target="../media/image2.jpeg"/><Relationship Id="rId10" Type="http://schemas.openxmlformats.org/officeDocument/2006/relationships/image" Target="../media/image12.jpeg"/><Relationship Id="rId4" Type="http://schemas.openxmlformats.org/officeDocument/2006/relationships/image" Target="../media/image17.png"/><Relationship Id="rId9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804248" y="2680682"/>
            <a:ext cx="3312368" cy="3052574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651702" y="1336785"/>
            <a:ext cx="2326184" cy="3078655"/>
            <a:chOff x="914400" y="1486693"/>
            <a:chExt cx="2080267" cy="3089558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486693"/>
              <a:ext cx="2062162" cy="2648744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16602">
            <a:off x="5533318" y="1533063"/>
            <a:ext cx="22275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 smtClean="0">
                <a:solidFill>
                  <a:schemeClr val="bg1"/>
                </a:solidFill>
              </a:rPr>
              <a:t>في معظم حفلات الزفاف في الجزائر يتم  إلتقاط صور تذكارية بالهاتف أو ألة التصوير للعريس والعروس والعائلة والأقارب.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6635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107504" y="807539"/>
            <a:ext cx="4752528" cy="2040745"/>
          </a:xfrm>
          <a:prstGeom prst="cloudCallout">
            <a:avLst>
              <a:gd name="adj1" fmla="val -34391"/>
              <a:gd name="adj2" fmla="val 673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611560" y="1064930"/>
            <a:ext cx="3955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DZ" sz="2000" b="1" dirty="0" smtClean="0">
                <a:solidFill>
                  <a:srgbClr val="FF6600"/>
                </a:solidFill>
              </a:rPr>
              <a:t>أين يتم تخزين هذه الصور في الهاتف أو آلة التصوير؟</a:t>
            </a:r>
            <a:endParaRPr lang="ar-DZ" sz="2000" b="1" dirty="0">
              <a:solidFill>
                <a:srgbClr val="FF6600"/>
              </a:solidFill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83768" y="4149080"/>
            <a:ext cx="1224136" cy="2220466"/>
          </a:xfrm>
          <a:prstGeom prst="rect">
            <a:avLst/>
          </a:prstGeom>
          <a:noFill/>
        </p:spPr>
      </p:pic>
      <p:sp>
        <p:nvSpPr>
          <p:cNvPr id="86" name="Pensées 85"/>
          <p:cNvSpPr/>
          <p:nvPr/>
        </p:nvSpPr>
        <p:spPr>
          <a:xfrm>
            <a:off x="2555776" y="3140968"/>
            <a:ext cx="2880320" cy="1032385"/>
          </a:xfrm>
          <a:prstGeom prst="cloudCallout">
            <a:avLst>
              <a:gd name="adj1" fmla="val -15402"/>
              <a:gd name="adj2" fmla="val 9506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2919067" y="3459720"/>
            <a:ext cx="216024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/>
              <a:t>الإجابة برفع الإصبع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أولى 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38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3" name="ZoneTexte 42"/>
          <p:cNvSpPr txBox="1"/>
          <p:nvPr/>
        </p:nvSpPr>
        <p:spPr>
          <a:xfrm>
            <a:off x="359060" y="1691469"/>
            <a:ext cx="4249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DZ" sz="2000" b="1" dirty="0" smtClean="0">
                <a:solidFill>
                  <a:srgbClr val="FF6600"/>
                </a:solidFill>
              </a:rPr>
              <a:t>هل يمكن تخزينها بعد ذلك في الحاسوب؟ وأين يتم تخزينها في الحاسوب إن كان جوابك بنعم؟</a:t>
            </a:r>
            <a:endParaRPr lang="ar-DZ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12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62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12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12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62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 (1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44000" cy="565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4459451" y="1988840"/>
            <a:ext cx="3496925" cy="23042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459450" y="2089207"/>
            <a:ext cx="34969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200" b="1" dirty="0" smtClean="0">
                <a:solidFill>
                  <a:schemeClr val="bg1"/>
                </a:solidFill>
              </a:rPr>
              <a:t>استخدام الحاسوب</a:t>
            </a:r>
            <a:endParaRPr lang="fr-FR" sz="22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459450" y="2677561"/>
            <a:ext cx="34837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200" b="1" dirty="0" smtClean="0">
                <a:solidFill>
                  <a:schemeClr val="bg1"/>
                </a:solidFill>
              </a:rPr>
              <a:t>تنظيم المعلومات في الحاسوب</a:t>
            </a:r>
            <a:endParaRPr lang="fr-FR" sz="22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459450" y="3523561"/>
            <a:ext cx="34969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200" b="1" dirty="0" smtClean="0">
                <a:solidFill>
                  <a:schemeClr val="bg1"/>
                </a:solidFill>
              </a:rPr>
              <a:t>وسائط التخزين</a:t>
            </a:r>
            <a:endParaRPr lang="fr-FR" sz="22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أولى 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e 31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33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6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98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80512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45" y="1948231"/>
            <a:ext cx="233279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116291" y="2015888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007941" y="2036934"/>
            <a:ext cx="3096344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104285" y="206084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427984" y="2060848"/>
            <a:ext cx="221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وحدة قياس الذاكرات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7113941" y="2636912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4017596" y="2657958"/>
            <a:ext cx="3084339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7080273" y="265795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4283968" y="2701035"/>
            <a:ext cx="230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وسائط التخزين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7076771" y="3300953"/>
            <a:ext cx="497905" cy="496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3995936" y="3321999"/>
            <a:ext cx="307468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7070620" y="3353937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4139952" y="3332891"/>
            <a:ext cx="2838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عمليات على </a:t>
            </a:r>
            <a:r>
              <a:rPr lang="ar-DZ" sz="2000" b="1" dirty="0" smtClean="0">
                <a:solidFill>
                  <a:schemeClr val="bg1"/>
                </a:solidFill>
              </a:rPr>
              <a:t>الأقراص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0" name="Groupe 7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75" name="Image 74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76" name="Image 75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7" name="ZoneTexte 76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8" name="ZoneTexte 77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ZoneTexte 78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9" name="Image 58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60" name="ZoneTexte 5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e 38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40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9" name="ZoneTexte 48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1412776"/>
            <a:ext cx="3528392" cy="1368152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23728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3059832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pic>
        <p:nvPicPr>
          <p:cNvPr id="33" name="Image 32" descr="11-2-animation-png-hd-thumb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6948264" y="3102385"/>
            <a:ext cx="3096344" cy="3096344"/>
          </a:xfrm>
          <a:prstGeom prst="rect">
            <a:avLst/>
          </a:prstGeom>
        </p:spPr>
      </p:pic>
      <p:grpSp>
        <p:nvGrpSpPr>
          <p:cNvPr id="34" name="Group 77"/>
          <p:cNvGrpSpPr/>
          <p:nvPr/>
        </p:nvGrpSpPr>
        <p:grpSpPr>
          <a:xfrm rot="20503916">
            <a:off x="5363315" y="917597"/>
            <a:ext cx="2606425" cy="3943016"/>
            <a:chOff x="914400" y="1122362"/>
            <a:chExt cx="2080267" cy="3507909"/>
          </a:xfrm>
        </p:grpSpPr>
        <p:sp>
          <p:nvSpPr>
            <p:cNvPr id="35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8" name="Groupe 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4" name="Image 13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5" name="Image 14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6" name="ZoneTexte 15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237312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1" name="ZoneTexte 30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4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ZoneTexte 46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 rot="20509197">
            <a:off x="5241556" y="1099553"/>
            <a:ext cx="26043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SA" sz="2000" b="1" dirty="0">
                <a:solidFill>
                  <a:schemeClr val="bg1"/>
                </a:solidFill>
              </a:rPr>
              <a:t>في الحاسوب يتم تخزين البيانات أثناء المعالجة  في الذاكرة وهناك عدة وسائط أخرى تخزن فيها المعلومات داخل وخارج الحاسوب، ولي هذه الذاكرة  و وسائط التخزين وحدة قياس مثل وحدة قياس الطول والوزن...إلخ. 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971600" y="1785010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DZ" sz="2000" b="1" dirty="0">
                <a:solidFill>
                  <a:srgbClr val="FF6600"/>
                </a:solidFill>
              </a:rPr>
              <a:t>إذا ماهي وحدة قياس هذه الذاكرة و وسائط التخزين</a:t>
            </a:r>
            <a:r>
              <a:rPr lang="ar-DZ" sz="2000" b="1" dirty="0" smtClean="0">
                <a:solidFill>
                  <a:srgbClr val="FF6600"/>
                </a:solidFill>
              </a:rPr>
              <a:t>؟</a:t>
            </a:r>
            <a:endParaRPr lang="ar-DZ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8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8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r>
              <a:rPr lang="ar-DZ" sz="2400" b="1" dirty="0" smtClean="0">
                <a:solidFill>
                  <a:srgbClr val="FFFF00"/>
                </a:solidFill>
              </a:rPr>
              <a:t>وحدة قياس الذاكرات: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180343" y="796642"/>
            <a:ext cx="46796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endParaRPr lang="en-US" sz="2100" b="1" dirty="0" smtClean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ZoneTexte 47"/>
            <p:cNvSpPr txBox="1"/>
            <p:nvPr/>
          </p:nvSpPr>
          <p:spPr>
            <a:xfrm>
              <a:off x="3226365" y="44624"/>
              <a:ext cx="22116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وسائط التخزين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e 4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5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9" name="Rectangle 88"/>
          <p:cNvSpPr/>
          <p:nvPr/>
        </p:nvSpPr>
        <p:spPr>
          <a:xfrm>
            <a:off x="2987824" y="1538167"/>
            <a:ext cx="4813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solidFill>
                  <a:srgbClr val="FFFF00"/>
                </a:solidFill>
                <a:ea typeface="Times New Roman"/>
                <a:cs typeface="Times New Roman"/>
              </a:rPr>
              <a:t>بالإنجليزية :</a:t>
            </a:r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البايت 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</a:rPr>
              <a:t>Byte  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SA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ويرمز </a:t>
            </a:r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لها ب </a:t>
            </a:r>
            <a:r>
              <a:rPr lang="fr-FR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B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999234" y="2031231"/>
            <a:ext cx="4813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solidFill>
                  <a:srgbClr val="FFFF00"/>
                </a:solidFill>
                <a:ea typeface="Times New Roman"/>
                <a:cs typeface="Times New Roman"/>
              </a:rPr>
              <a:t>بالفرنسية : </a:t>
            </a:r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الأوكتي </a:t>
            </a:r>
            <a:r>
              <a:rPr lang="fr-FR" sz="2400" b="1" dirty="0" err="1">
                <a:solidFill>
                  <a:schemeClr val="bg1"/>
                </a:solidFill>
                <a:ea typeface="Times New Roman"/>
                <a:cs typeface="Times New Roman"/>
              </a:rPr>
              <a:t>Octer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</a:rPr>
              <a:t>  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SA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ويرمز </a:t>
            </a:r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لها ب </a:t>
            </a:r>
            <a:r>
              <a:rPr lang="fr-FR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O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09" name="Chevron 108"/>
          <p:cNvSpPr/>
          <p:nvPr/>
        </p:nvSpPr>
        <p:spPr>
          <a:xfrm flipH="1">
            <a:off x="8316416" y="2870791"/>
            <a:ext cx="432048" cy="108000"/>
          </a:xfrm>
          <a:prstGeom prst="chevron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00"/>
              </a:solidFill>
              <a:latin typeface="Raleway" panose="020B0003030101060003" pitchFamily="34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431282" y="2693959"/>
            <a:ext cx="48131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400" b="1" dirty="0">
                <a:solidFill>
                  <a:srgbClr val="FFFF00"/>
                </a:solidFill>
                <a:ea typeface="Times New Roman"/>
                <a:cs typeface="Times New Roman"/>
              </a:rPr>
              <a:t>أجزاء الأوكتي: </a:t>
            </a:r>
            <a:r>
              <a:rPr lang="ar-SA" sz="2400" b="1" dirty="0">
                <a:solidFill>
                  <a:schemeClr val="bg1"/>
                </a:solidFill>
                <a:ea typeface="Times New Roman"/>
                <a:cs typeface="Times New Roman"/>
              </a:rPr>
              <a:t>هي 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</a:rPr>
              <a:t>bit 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SA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بحيث 1</a:t>
            </a:r>
            <a:r>
              <a:rPr lang="ar-DZ" sz="2400" b="1" dirty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en-US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O</a:t>
            </a:r>
            <a:r>
              <a:rPr lang="ar-DZ" sz="2400" b="1" dirty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= 8 </a:t>
            </a:r>
            <a:r>
              <a:rPr lang="en-US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bit</a:t>
            </a:r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11" name="Chevron 110"/>
          <p:cNvSpPr/>
          <p:nvPr/>
        </p:nvSpPr>
        <p:spPr>
          <a:xfrm flipH="1">
            <a:off x="8316416" y="3360191"/>
            <a:ext cx="432048" cy="108000"/>
          </a:xfrm>
          <a:prstGeom prst="chevron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00"/>
              </a:solidFill>
              <a:latin typeface="Raleway" panose="020B0003030101060003" pitchFamily="34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6156176" y="3183359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مضاعفات</a:t>
            </a:r>
            <a:r>
              <a:rPr lang="ar-SA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 </a:t>
            </a:r>
            <a:r>
              <a:rPr lang="ar-SA" sz="2400" b="1" dirty="0">
                <a:solidFill>
                  <a:srgbClr val="FFFF00"/>
                </a:solidFill>
                <a:ea typeface="Times New Roman"/>
                <a:cs typeface="Times New Roman"/>
              </a:rPr>
              <a:t>الأوكتي</a:t>
            </a:r>
            <a:r>
              <a:rPr lang="ar-SA" sz="24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: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113" name="Group 53"/>
          <p:cNvGrpSpPr>
            <a:grpSpLocks/>
          </p:cNvGrpSpPr>
          <p:nvPr/>
        </p:nvGrpSpPr>
        <p:grpSpPr bwMode="auto">
          <a:xfrm flipH="1">
            <a:off x="7830507" y="1660987"/>
            <a:ext cx="216024" cy="216024"/>
            <a:chOff x="2078" y="1680"/>
            <a:chExt cx="1615" cy="1615"/>
          </a:xfrm>
        </p:grpSpPr>
        <p:sp>
          <p:nvSpPr>
            <p:cNvPr id="114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5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6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17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18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19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120" name="Group 53"/>
          <p:cNvGrpSpPr>
            <a:grpSpLocks/>
          </p:cNvGrpSpPr>
          <p:nvPr/>
        </p:nvGrpSpPr>
        <p:grpSpPr bwMode="auto">
          <a:xfrm flipH="1">
            <a:off x="7842947" y="2154051"/>
            <a:ext cx="216024" cy="216024"/>
            <a:chOff x="2078" y="1680"/>
            <a:chExt cx="1615" cy="1615"/>
          </a:xfrm>
        </p:grpSpPr>
        <p:sp>
          <p:nvSpPr>
            <p:cNvPr id="121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3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24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25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26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5180297" y="3789040"/>
            <a:ext cx="29200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- 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1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>
                <a:solidFill>
                  <a:schemeClr val="bg1"/>
                </a:solidFill>
                <a:cs typeface="+mj-cs"/>
              </a:rPr>
              <a:t>كيلو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أوكتي </a:t>
            </a:r>
            <a:r>
              <a:rPr lang="en-US" sz="2000" b="1" dirty="0" err="1" smtClean="0">
                <a:solidFill>
                  <a:schemeClr val="bg1"/>
                </a:solidFill>
                <a:cs typeface="+mj-cs"/>
              </a:rPr>
              <a:t>Ko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  </a:t>
            </a:r>
            <a:r>
              <a:rPr lang="ar-DZ" sz="2000" b="1" dirty="0" smtClean="0">
                <a:solidFill>
                  <a:schemeClr val="bg1"/>
                </a:solidFill>
              </a:rPr>
              <a:t>=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  <a:cs typeface="+mj-cs"/>
              </a:rPr>
              <a:t>10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O</a:t>
            </a:r>
            <a:r>
              <a:rPr lang="ar-DZ" sz="2000" b="1" dirty="0">
                <a:solidFill>
                  <a:schemeClr val="bg1"/>
                </a:solidFill>
                <a:cs typeface="+mj-cs"/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  <a:cs typeface="+mj-cs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109491" y="4304471"/>
            <a:ext cx="39909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- 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1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ميقا أوكتي </a:t>
            </a:r>
            <a:r>
              <a:rPr lang="en-US" sz="2000" b="1" dirty="0" smtClean="0">
                <a:solidFill>
                  <a:schemeClr val="bg1"/>
                </a:solidFill>
                <a:cs typeface="+mj-cs"/>
              </a:rPr>
              <a:t>Mo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 </a:t>
            </a:r>
            <a:r>
              <a:rPr lang="ar-DZ" sz="2000" b="1" dirty="0" smtClean="0">
                <a:solidFill>
                  <a:schemeClr val="bg1"/>
                </a:solidFill>
              </a:rPr>
              <a:t>=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  <a:cs typeface="+mj-cs"/>
              </a:rPr>
              <a:t>10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Ko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</a:t>
            </a:r>
            <a:r>
              <a:rPr lang="ar-DZ" sz="2000" b="1" dirty="0" smtClean="0">
                <a:solidFill>
                  <a:schemeClr val="bg1"/>
                </a:solidFill>
              </a:rPr>
              <a:t>=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20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  <a:cs typeface="+mj-cs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3006625" y="4837222"/>
            <a:ext cx="50937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- 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1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جيقا أوكتي </a:t>
            </a:r>
            <a:r>
              <a:rPr lang="en-US" sz="2000" b="1" dirty="0" smtClean="0">
                <a:solidFill>
                  <a:schemeClr val="bg1"/>
                </a:solidFill>
                <a:cs typeface="+mj-cs"/>
              </a:rPr>
              <a:t>Go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 </a:t>
            </a:r>
            <a:r>
              <a:rPr lang="ar-DZ" sz="2000" b="1" dirty="0" smtClean="0">
                <a:solidFill>
                  <a:schemeClr val="bg1"/>
                </a:solidFill>
              </a:rPr>
              <a:t>=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  <a:cs typeface="+mj-cs"/>
              </a:rPr>
              <a:t>10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Mo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=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20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Ko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=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30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  <a:cs typeface="+mj-cs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2044567" y="5357056"/>
            <a:ext cx="60558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- 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1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تيرا أوكتي   </a:t>
            </a:r>
            <a:r>
              <a:rPr lang="en-US" sz="2000" b="1" dirty="0" smtClean="0">
                <a:solidFill>
                  <a:schemeClr val="bg1"/>
                </a:solidFill>
                <a:cs typeface="+mj-cs"/>
              </a:rPr>
              <a:t>To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 </a:t>
            </a:r>
            <a:r>
              <a:rPr lang="ar-DZ" sz="2000" b="1" dirty="0" smtClean="0">
                <a:solidFill>
                  <a:schemeClr val="bg1"/>
                </a:solidFill>
              </a:rPr>
              <a:t>=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  <a:cs typeface="+mj-cs"/>
              </a:rPr>
              <a:t>10</a:t>
            </a:r>
            <a:r>
              <a:rPr lang="ar-DZ" sz="2000" b="1" dirty="0" smtClean="0">
                <a:solidFill>
                  <a:srgbClr val="FFFF00"/>
                </a:solidFill>
                <a:cs typeface="+mj-cs"/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fr-FR" sz="2000" b="1" dirty="0">
                <a:solidFill>
                  <a:schemeClr val="bg1"/>
                </a:solidFill>
                <a:cs typeface="+mj-cs"/>
              </a:rPr>
              <a:t>G</a:t>
            </a:r>
            <a:r>
              <a:rPr lang="fr-FR" sz="2000" b="1" dirty="0" smtClean="0">
                <a:solidFill>
                  <a:schemeClr val="bg1"/>
                </a:solidFill>
                <a:cs typeface="+mj-cs"/>
              </a:rPr>
              <a:t>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 </a:t>
            </a:r>
            <a:r>
              <a:rPr lang="ar-DZ" sz="2000" b="1" dirty="0" smtClean="0">
                <a:solidFill>
                  <a:schemeClr val="bg1"/>
                </a:solidFill>
              </a:rPr>
              <a:t>= 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20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Mo</a:t>
            </a:r>
            <a:r>
              <a:rPr lang="ar-DZ" sz="2000" b="1" dirty="0" smtClean="0">
                <a:solidFill>
                  <a:schemeClr val="bg1"/>
                </a:solidFill>
              </a:rPr>
              <a:t> =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30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Ko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= </a:t>
            </a:r>
            <a:r>
              <a:rPr lang="ar-DZ" sz="2000" b="1" baseline="30000" dirty="0" smtClean="0">
                <a:solidFill>
                  <a:srgbClr val="FFFF00"/>
                </a:solidFill>
              </a:rPr>
              <a:t>40</a:t>
            </a:r>
            <a:r>
              <a:rPr lang="ar-DZ" sz="2000" b="1" dirty="0" smtClean="0">
                <a:solidFill>
                  <a:srgbClr val="FFFF00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O</a:t>
            </a:r>
            <a:r>
              <a:rPr lang="ar-DZ" sz="2000" b="1" dirty="0" smtClean="0">
                <a:solidFill>
                  <a:schemeClr val="bg1"/>
                </a:solidFill>
                <a:cs typeface="+mj-cs"/>
              </a:rPr>
              <a:t>.</a:t>
            </a:r>
            <a:endParaRPr lang="fr-FR" sz="2000" b="1" dirty="0">
              <a:solidFill>
                <a:schemeClr val="bg1"/>
              </a:solidFill>
              <a:latin typeface="Times New Roman"/>
              <a:ea typeface="Times New Roman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3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80" grpId="0"/>
      <p:bldP spid="89" grpId="0"/>
      <p:bldP spid="108" grpId="0"/>
      <p:bldP spid="109" grpId="0" animBg="1"/>
      <p:bldP spid="110" grpId="0"/>
      <p:bldP spid="111" grpId="0" animBg="1"/>
      <p:bldP spid="1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475656" y="1780628"/>
            <a:ext cx="3528392" cy="1504356"/>
          </a:xfrm>
          <a:prstGeom prst="cloudCallout">
            <a:avLst>
              <a:gd name="adj1" fmla="val -41968"/>
              <a:gd name="adj2" fmla="val 820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520" y="3372961"/>
            <a:ext cx="2941886" cy="2952328"/>
          </a:xfrm>
          <a:prstGeom prst="rect">
            <a:avLst/>
          </a:prstGeom>
          <a:noFill/>
        </p:spPr>
      </p:pic>
      <p:pic>
        <p:nvPicPr>
          <p:cNvPr id="25" name="Image 24" descr="11-2-animation-png-hd-thumb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flipH="1">
            <a:off x="6372200" y="3140968"/>
            <a:ext cx="3096344" cy="3096344"/>
          </a:xfrm>
          <a:prstGeom prst="rect">
            <a:avLst/>
          </a:prstGeom>
        </p:spPr>
      </p:pic>
      <p:grpSp>
        <p:nvGrpSpPr>
          <p:cNvPr id="26" name="Group 77"/>
          <p:cNvGrpSpPr/>
          <p:nvPr/>
        </p:nvGrpSpPr>
        <p:grpSpPr>
          <a:xfrm rot="20503916">
            <a:off x="5303910" y="2290603"/>
            <a:ext cx="2304318" cy="2525521"/>
            <a:chOff x="914400" y="1122362"/>
            <a:chExt cx="2080267" cy="3507909"/>
          </a:xfrm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ZoneTexte 33"/>
          <p:cNvSpPr txBox="1"/>
          <p:nvPr/>
        </p:nvSpPr>
        <p:spPr>
          <a:xfrm rot="20502721">
            <a:off x="5240975" y="2586970"/>
            <a:ext cx="2179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chemeClr val="bg1"/>
                </a:solidFill>
              </a:rPr>
              <a:t>يمكن تطبيق عدة عمليات على الملفات و المجلدات .</a:t>
            </a:r>
            <a:endParaRPr lang="fr-FR" sz="2200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Groupe 38"/>
            <p:cNvGrpSpPr/>
            <p:nvPr/>
          </p:nvGrpSpPr>
          <p:grpSpPr>
            <a:xfrm>
              <a:off x="653186" y="44624"/>
              <a:ext cx="1254518" cy="542384"/>
              <a:chOff x="653186" y="44624"/>
              <a:chExt cx="966486" cy="542384"/>
            </a:xfrm>
          </p:grpSpPr>
          <p:pic>
            <p:nvPicPr>
              <p:cNvPr id="40" name="Picture 4" descr="D:\informatique\مذكرات سنة أولى متوسط\cfrd.jpg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186" y="44624"/>
                <a:ext cx="966486" cy="54238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2" descr="D:\informatique\مذكرات سنة أولى متوسط\ihuyt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0513" y="252619"/>
                <a:ext cx="227151" cy="2240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3" descr="D:\informatique\مذكرات سنة أولى متوسط\الفبقك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429" y="234847"/>
                <a:ext cx="209352" cy="20935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5" descr="D:\informatique\مذكرات سنة أولى متوسط\فيد.jp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7624" y="356493"/>
                <a:ext cx="213268" cy="21326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7" descr="D:\informatique\مذكرات سنة أولى متوسط\Tex.png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201" y="348257"/>
                <a:ext cx="200423" cy="20042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7" name="ZoneTexte 36"/>
          <p:cNvSpPr txBox="1"/>
          <p:nvPr/>
        </p:nvSpPr>
        <p:spPr>
          <a:xfrm>
            <a:off x="3098828" y="25460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1493917" y="2178863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DZ" sz="2000" b="1" dirty="0">
                <a:solidFill>
                  <a:srgbClr val="FF6600"/>
                </a:solidFill>
              </a:rPr>
              <a:t>إذا ماهي وحدة قياس هذه الذاكرة و وسائط التخزين</a:t>
            </a:r>
            <a:r>
              <a:rPr lang="ar-DZ" sz="2000" b="1" dirty="0" smtClean="0">
                <a:solidFill>
                  <a:srgbClr val="FF6600"/>
                </a:solidFill>
              </a:rPr>
              <a:t>؟</a:t>
            </a:r>
            <a:endParaRPr lang="ar-DZ" sz="2000" b="1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645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5" name="Pensées 4"/>
          <p:cNvSpPr/>
          <p:nvPr/>
        </p:nvSpPr>
        <p:spPr>
          <a:xfrm>
            <a:off x="1428515" y="1756847"/>
            <a:ext cx="3528392" cy="1504356"/>
          </a:xfrm>
          <a:prstGeom prst="cloudCallout">
            <a:avLst>
              <a:gd name="adj1" fmla="val -41968"/>
              <a:gd name="adj2" fmla="val 8204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08520" y="3356992"/>
            <a:ext cx="2941886" cy="2952328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1644539" y="2132856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لكن ماهي الخطوات المتبعة لإنشاء مجلد جديد؟ </a:t>
            </a:r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2" name="Groupe 2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4" name="Groupe 2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6" name="Groupe 2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28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34" name="Rectangle 3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3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3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38" name="Rectangle 3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36" name="Rectangle 3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29" name="Image 28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0" name="Image 29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1" name="ZoneTexte 30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2" name="ZoneTexte 31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" name="ZoneTexte 32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7" name="Image 26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5" name="ZoneTexte 24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/>
          </p:nvGrpSpPr>
          <p:grpSpPr>
            <a:xfrm>
              <a:off x="653186" y="44624"/>
              <a:ext cx="1254518" cy="542384"/>
              <a:chOff x="653186" y="44624"/>
              <a:chExt cx="966486" cy="542384"/>
            </a:xfrm>
          </p:grpSpPr>
          <p:pic>
            <p:nvPicPr>
              <p:cNvPr id="17" name="Picture 4" descr="D:\informatique\مذكرات سنة أولى متوسط\cfrd.jp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186" y="44624"/>
                <a:ext cx="966486" cy="54238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D:\informatique\مذكرات سنة أولى متوسط\ihuyt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20513" y="252619"/>
                <a:ext cx="227151" cy="2240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3" descr="D:\informatique\مذكرات سنة أولى متوسط\الفبقك.jpg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6429" y="234847"/>
                <a:ext cx="209352" cy="20935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5" descr="D:\informatique\مذكرات سنة أولى متوسط\فيد.jpg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87624" y="356493"/>
                <a:ext cx="213268" cy="21326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7" descr="D:\informatique\مذكرات سنة أولى متوسط\Tex.pn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201" y="348257"/>
                <a:ext cx="200423" cy="20042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9" name="Image 38" descr="11-2-animation-png-hd-thumb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 flipH="1">
            <a:off x="6372200" y="3140968"/>
            <a:ext cx="3096344" cy="3096344"/>
          </a:xfrm>
          <a:prstGeom prst="rect">
            <a:avLst/>
          </a:prstGeom>
        </p:spPr>
      </p:pic>
      <p:grpSp>
        <p:nvGrpSpPr>
          <p:cNvPr id="40" name="Group 77"/>
          <p:cNvGrpSpPr/>
          <p:nvPr/>
        </p:nvGrpSpPr>
        <p:grpSpPr>
          <a:xfrm rot="20503916">
            <a:off x="5303910" y="2290603"/>
            <a:ext cx="2304318" cy="2525521"/>
            <a:chOff x="914400" y="1122362"/>
            <a:chExt cx="2080267" cy="3507909"/>
          </a:xfrm>
        </p:grpSpPr>
        <p:sp>
          <p:nvSpPr>
            <p:cNvPr id="41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ZoneTexte 43"/>
          <p:cNvSpPr txBox="1"/>
          <p:nvPr/>
        </p:nvSpPr>
        <p:spPr>
          <a:xfrm rot="20502721">
            <a:off x="5283159" y="2520984"/>
            <a:ext cx="21790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100" b="1" dirty="0" smtClean="0">
                <a:solidFill>
                  <a:schemeClr val="bg1"/>
                </a:solidFill>
              </a:rPr>
              <a:t>لقد تعرفنا في البداية على وسائط التخزين التالية بطاقة الذاكرة والقرص الصلب</a:t>
            </a:r>
          </a:p>
          <a:p>
            <a:pPr algn="justLow" rtl="1"/>
            <a:endParaRPr lang="fr-FR" sz="2100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56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735087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وسائط التخزين: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3" name="Image 12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4" name="Image 13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5" name="ZoneTexte 1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49" name="Image 48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50" name="ZoneTexte 4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Groupe 5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6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" name="Groupe 65"/>
          <p:cNvGrpSpPr/>
          <p:nvPr/>
        </p:nvGrpSpPr>
        <p:grpSpPr>
          <a:xfrm>
            <a:off x="2699792" y="1340768"/>
            <a:ext cx="5760640" cy="543713"/>
            <a:chOff x="2216076" y="2348880"/>
            <a:chExt cx="5760640" cy="543713"/>
          </a:xfrm>
        </p:grpSpPr>
        <p:grpSp>
          <p:nvGrpSpPr>
            <p:cNvPr id="67" name="Groupe 58"/>
            <p:cNvGrpSpPr/>
            <p:nvPr/>
          </p:nvGrpSpPr>
          <p:grpSpPr>
            <a:xfrm>
              <a:off x="2216076" y="2348880"/>
              <a:ext cx="5760640" cy="504056"/>
              <a:chOff x="2216076" y="2852936"/>
              <a:chExt cx="5760640" cy="576064"/>
            </a:xfrm>
          </p:grpSpPr>
          <p:sp>
            <p:nvSpPr>
              <p:cNvPr id="70" name="Notched Right Arrow 54"/>
              <p:cNvSpPr/>
              <p:nvPr/>
            </p:nvSpPr>
            <p:spPr>
              <a:xfrm flipH="1">
                <a:off x="2216076" y="3008511"/>
                <a:ext cx="576064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7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1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8" name="ZoneTexte 67"/>
            <p:cNvSpPr txBox="1"/>
            <p:nvPr/>
          </p:nvSpPr>
          <p:spPr>
            <a:xfrm>
              <a:off x="4304308" y="2446317"/>
              <a:ext cx="3094397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300" b="1" dirty="0">
                  <a:solidFill>
                    <a:srgbClr val="FFFF00"/>
                  </a:solidFill>
                </a:rPr>
                <a:t>القرص الصلب </a:t>
              </a:r>
              <a:r>
                <a:rPr lang="fr-FR" sz="2300" b="1" dirty="0">
                  <a:solidFill>
                    <a:srgbClr val="FFFF00"/>
                  </a:solidFill>
                </a:rPr>
                <a:t>Disque </a:t>
              </a:r>
              <a:r>
                <a:rPr lang="fr-FR" sz="2300" b="1" dirty="0" smtClean="0">
                  <a:solidFill>
                    <a:srgbClr val="FFFF00"/>
                  </a:solidFill>
                </a:rPr>
                <a:t>dur</a:t>
              </a:r>
              <a:r>
                <a:rPr lang="ar-DZ" sz="2300" b="1" dirty="0" smtClean="0">
                  <a:solidFill>
                    <a:srgbClr val="FFFF00"/>
                  </a:solidFill>
                </a:rPr>
                <a:t>:</a:t>
              </a:r>
              <a:r>
                <a:rPr lang="fr-FR" sz="2300" b="1" dirty="0" smtClean="0">
                  <a:solidFill>
                    <a:srgbClr val="FFFF00"/>
                  </a:solidFill>
                </a:rPr>
                <a:t> </a:t>
              </a:r>
              <a:endParaRPr lang="fr-FR" sz="23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69" name="ZoneTexte 68"/>
          <p:cNvSpPr txBox="1"/>
          <p:nvPr/>
        </p:nvSpPr>
        <p:spPr>
          <a:xfrm>
            <a:off x="3226365" y="25460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98" name="object 114"/>
          <p:cNvGrpSpPr/>
          <p:nvPr/>
        </p:nvGrpSpPr>
        <p:grpSpPr>
          <a:xfrm>
            <a:off x="240190" y="1916832"/>
            <a:ext cx="7716186" cy="494319"/>
            <a:chOff x="1427162" y="3059772"/>
            <a:chExt cx="1862138" cy="942180"/>
          </a:xfrm>
        </p:grpSpPr>
        <p:grpSp>
          <p:nvGrpSpPr>
            <p:cNvPr id="99" name="مجموعة 82"/>
            <p:cNvGrpSpPr/>
            <p:nvPr/>
          </p:nvGrpSpPr>
          <p:grpSpPr>
            <a:xfrm flipH="1" flipV="1">
              <a:off x="1446212" y="3078822"/>
              <a:ext cx="1843088" cy="923130"/>
              <a:chOff x="1981200" y="1433286"/>
              <a:chExt cx="1843088" cy="923130"/>
            </a:xfrm>
            <a:solidFill>
              <a:schemeClr val="bg1">
                <a:lumMod val="75000"/>
              </a:schemeClr>
            </a:solidFill>
          </p:grpSpPr>
          <p:sp>
            <p:nvSpPr>
              <p:cNvPr id="104" name="object 87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bject  88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مجموعة 83"/>
            <p:cNvGrpSpPr/>
            <p:nvPr/>
          </p:nvGrpSpPr>
          <p:grpSpPr>
            <a:xfrm flipH="1" flipV="1">
              <a:off x="1427162" y="3059772"/>
              <a:ext cx="1843088" cy="923130"/>
              <a:chOff x="1981200" y="1433286"/>
              <a:chExt cx="1843088" cy="923130"/>
            </a:xfrm>
            <a:solidFill>
              <a:schemeClr val="accent2"/>
            </a:solidFill>
          </p:grpSpPr>
          <p:sp>
            <p:nvSpPr>
              <p:cNvPr id="101" name="object 85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bject  86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6" name="Rectangle 105"/>
          <p:cNvSpPr/>
          <p:nvPr/>
        </p:nvSpPr>
        <p:spPr>
          <a:xfrm>
            <a:off x="2195736" y="1988840"/>
            <a:ext cx="55734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</a:rPr>
              <a:t>الخارجي </a:t>
            </a:r>
            <a:r>
              <a:rPr lang="ar-DZ" sz="2200" b="1" dirty="0" smtClean="0">
                <a:solidFill>
                  <a:schemeClr val="bg1"/>
                </a:solidFill>
              </a:rPr>
              <a:t>والداخلي، سعته </a:t>
            </a:r>
            <a:r>
              <a:rPr lang="ar-DZ" sz="2200" b="1" dirty="0">
                <a:solidFill>
                  <a:schemeClr val="bg1"/>
                </a:solidFill>
              </a:rPr>
              <a:t>تتراوح من  320 </a:t>
            </a:r>
            <a:r>
              <a:rPr lang="fr-FR" sz="2200" b="1" dirty="0">
                <a:solidFill>
                  <a:schemeClr val="bg1"/>
                </a:solidFill>
              </a:rPr>
              <a:t>Go </a:t>
            </a:r>
            <a:r>
              <a:rPr lang="ar-DZ" sz="2200" b="1" dirty="0" smtClean="0">
                <a:solidFill>
                  <a:schemeClr val="bg1"/>
                </a:solidFill>
              </a:rPr>
              <a:t> فما </a:t>
            </a:r>
            <a:r>
              <a:rPr lang="ar-DZ" sz="2200" b="1" dirty="0">
                <a:solidFill>
                  <a:schemeClr val="bg1"/>
                </a:solidFill>
              </a:rPr>
              <a:t>فوق.</a:t>
            </a:r>
            <a:endParaRPr lang="fr-FR" sz="2200" dirty="0">
              <a:solidFill>
                <a:schemeClr val="bg1"/>
              </a:solidFill>
            </a:endParaRPr>
          </a:p>
        </p:txBody>
      </p:sp>
      <p:grpSp>
        <p:nvGrpSpPr>
          <p:cNvPr id="107" name="Groupe 106"/>
          <p:cNvGrpSpPr/>
          <p:nvPr/>
        </p:nvGrpSpPr>
        <p:grpSpPr>
          <a:xfrm>
            <a:off x="2699792" y="2564904"/>
            <a:ext cx="5760640" cy="543713"/>
            <a:chOff x="2216076" y="2348880"/>
            <a:chExt cx="5760640" cy="543713"/>
          </a:xfrm>
        </p:grpSpPr>
        <p:grpSp>
          <p:nvGrpSpPr>
            <p:cNvPr id="108" name="Groupe 58"/>
            <p:cNvGrpSpPr/>
            <p:nvPr/>
          </p:nvGrpSpPr>
          <p:grpSpPr>
            <a:xfrm>
              <a:off x="2216076" y="2348880"/>
              <a:ext cx="5760640" cy="504056"/>
              <a:chOff x="2216076" y="2852936"/>
              <a:chExt cx="5760640" cy="576064"/>
            </a:xfrm>
          </p:grpSpPr>
          <p:sp>
            <p:nvSpPr>
              <p:cNvPr id="110" name="Notched Right Arrow 54"/>
              <p:cNvSpPr/>
              <p:nvPr/>
            </p:nvSpPr>
            <p:spPr>
              <a:xfrm flipH="1">
                <a:off x="2216076" y="3008511"/>
                <a:ext cx="576064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1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2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09" name="ZoneTexte 108"/>
            <p:cNvSpPr txBox="1"/>
            <p:nvPr/>
          </p:nvSpPr>
          <p:spPr>
            <a:xfrm>
              <a:off x="2526626" y="2446317"/>
              <a:ext cx="487208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300" b="1" dirty="0">
                  <a:solidFill>
                    <a:srgbClr val="FFFF00"/>
                  </a:solidFill>
                </a:rPr>
                <a:t>القرص المضغوط ب</a:t>
              </a:r>
              <a:r>
                <a:rPr lang="fr-FR" sz="2300" b="1" dirty="0">
                  <a:solidFill>
                    <a:srgbClr val="FFFF00"/>
                  </a:solidFill>
                </a:rPr>
                <a:t>CD </a:t>
              </a:r>
              <a:r>
                <a:rPr lang="ar-DZ" sz="2300" b="1" dirty="0" smtClean="0">
                  <a:solidFill>
                    <a:srgbClr val="FFFF00"/>
                  </a:solidFill>
                </a:rPr>
                <a:t> و </a:t>
              </a:r>
              <a:r>
                <a:rPr lang="ar-DZ" sz="2300" b="1" dirty="0">
                  <a:solidFill>
                    <a:srgbClr val="FFFF00"/>
                  </a:solidFill>
                </a:rPr>
                <a:t>الفيديو الرقمي </a:t>
              </a:r>
              <a:r>
                <a:rPr lang="fr-FR" sz="2300" b="1" dirty="0" smtClean="0">
                  <a:solidFill>
                    <a:srgbClr val="FFFF00"/>
                  </a:solidFill>
                </a:rPr>
                <a:t>DVD</a:t>
              </a:r>
              <a:r>
                <a:rPr lang="ar-DZ" sz="2300" b="1" dirty="0" smtClean="0">
                  <a:solidFill>
                    <a:srgbClr val="FFFF00"/>
                  </a:solidFill>
                </a:rPr>
                <a:t>:</a:t>
              </a:r>
              <a:endParaRPr lang="fr-FR" sz="23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20" name="object 114"/>
          <p:cNvGrpSpPr/>
          <p:nvPr/>
        </p:nvGrpSpPr>
        <p:grpSpPr>
          <a:xfrm>
            <a:off x="240190" y="3140968"/>
            <a:ext cx="7716186" cy="494319"/>
            <a:chOff x="1427162" y="3059772"/>
            <a:chExt cx="1862138" cy="942180"/>
          </a:xfrm>
        </p:grpSpPr>
        <p:grpSp>
          <p:nvGrpSpPr>
            <p:cNvPr id="121" name="مجموعة 82"/>
            <p:cNvGrpSpPr/>
            <p:nvPr/>
          </p:nvGrpSpPr>
          <p:grpSpPr>
            <a:xfrm flipH="1" flipV="1">
              <a:off x="1446212" y="3078822"/>
              <a:ext cx="1843088" cy="923130"/>
              <a:chOff x="1981200" y="1433286"/>
              <a:chExt cx="1843088" cy="923130"/>
            </a:xfrm>
            <a:solidFill>
              <a:schemeClr val="bg1">
                <a:lumMod val="75000"/>
              </a:schemeClr>
            </a:solidFill>
          </p:grpSpPr>
          <p:sp>
            <p:nvSpPr>
              <p:cNvPr id="128" name="object 87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bject  88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مجموعة 83"/>
            <p:cNvGrpSpPr/>
            <p:nvPr/>
          </p:nvGrpSpPr>
          <p:grpSpPr>
            <a:xfrm flipH="1" flipV="1">
              <a:off x="1427162" y="3059772"/>
              <a:ext cx="1843088" cy="923130"/>
              <a:chOff x="1981200" y="1433286"/>
              <a:chExt cx="1843088" cy="923130"/>
            </a:xfrm>
            <a:solidFill>
              <a:schemeClr val="accent2"/>
            </a:solidFill>
          </p:grpSpPr>
          <p:sp>
            <p:nvSpPr>
              <p:cNvPr id="123" name="object 85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bject  86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1" name="Rectangle 130"/>
          <p:cNvSpPr/>
          <p:nvPr/>
        </p:nvSpPr>
        <p:spPr>
          <a:xfrm>
            <a:off x="395536" y="3212976"/>
            <a:ext cx="73736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</a:rPr>
              <a:t>بحيث سعة </a:t>
            </a:r>
            <a:r>
              <a:rPr lang="fr-FR" sz="2200" b="1" dirty="0" smtClean="0">
                <a:solidFill>
                  <a:schemeClr val="bg1"/>
                </a:solidFill>
              </a:rPr>
              <a:t>CD</a:t>
            </a:r>
            <a:r>
              <a:rPr lang="ar-DZ" sz="2200" b="1" dirty="0" smtClean="0">
                <a:solidFill>
                  <a:schemeClr val="bg1"/>
                </a:solidFill>
              </a:rPr>
              <a:t> تساوي 700</a:t>
            </a:r>
            <a:r>
              <a:rPr lang="fr-FR" sz="2200" b="1" dirty="0" smtClean="0">
                <a:solidFill>
                  <a:schemeClr val="bg1"/>
                </a:solidFill>
              </a:rPr>
              <a:t>Mo </a:t>
            </a:r>
            <a:r>
              <a:rPr lang="ar-DZ" sz="2200" b="1" dirty="0" smtClean="0">
                <a:solidFill>
                  <a:schemeClr val="bg1"/>
                </a:solidFill>
              </a:rPr>
              <a:t> وسعة</a:t>
            </a:r>
            <a:r>
              <a:rPr lang="fr-FR" sz="2200" b="1" dirty="0" smtClean="0">
                <a:solidFill>
                  <a:schemeClr val="bg1"/>
                </a:solidFill>
              </a:rPr>
              <a:t>DVD </a:t>
            </a:r>
            <a:r>
              <a:rPr lang="ar-DZ" sz="2200" b="1" dirty="0" smtClean="0">
                <a:solidFill>
                  <a:schemeClr val="bg1"/>
                </a:solidFill>
              </a:rPr>
              <a:t> تساوي </a:t>
            </a:r>
            <a:r>
              <a:rPr lang="ar-DZ" sz="2200" b="1" dirty="0">
                <a:solidFill>
                  <a:schemeClr val="bg1"/>
                </a:solidFill>
              </a:rPr>
              <a:t>4.7 </a:t>
            </a:r>
            <a:r>
              <a:rPr lang="fr-FR" sz="2200" b="1" dirty="0">
                <a:solidFill>
                  <a:schemeClr val="bg1"/>
                </a:solidFill>
              </a:rPr>
              <a:t>Go  </a:t>
            </a:r>
            <a:r>
              <a:rPr lang="ar-DZ" sz="2200" b="1" dirty="0" smtClean="0">
                <a:solidFill>
                  <a:schemeClr val="bg1"/>
                </a:solidFill>
              </a:rPr>
              <a:t> أو 8 </a:t>
            </a:r>
            <a:r>
              <a:rPr lang="fr-FR" sz="2200" b="1" dirty="0" smtClean="0">
                <a:solidFill>
                  <a:schemeClr val="bg1"/>
                </a:solidFill>
              </a:rPr>
              <a:t>Go</a:t>
            </a:r>
            <a:r>
              <a:rPr lang="ar-DZ" sz="2200" b="1" dirty="0" smtClean="0">
                <a:solidFill>
                  <a:schemeClr val="bg1"/>
                </a:solidFill>
              </a:rPr>
              <a:t>.</a:t>
            </a:r>
            <a:endParaRPr lang="fr-FR" sz="2200" dirty="0">
              <a:solidFill>
                <a:schemeClr val="bg1"/>
              </a:solidFill>
            </a:endParaRPr>
          </a:p>
        </p:txBody>
      </p:sp>
      <p:grpSp>
        <p:nvGrpSpPr>
          <p:cNvPr id="159" name="Groupe 158"/>
          <p:cNvGrpSpPr/>
          <p:nvPr/>
        </p:nvGrpSpPr>
        <p:grpSpPr>
          <a:xfrm>
            <a:off x="2699792" y="3789040"/>
            <a:ext cx="5760640" cy="543713"/>
            <a:chOff x="2216076" y="2348880"/>
            <a:chExt cx="5760640" cy="543713"/>
          </a:xfrm>
        </p:grpSpPr>
        <p:grpSp>
          <p:nvGrpSpPr>
            <p:cNvPr id="160" name="Groupe 58"/>
            <p:cNvGrpSpPr/>
            <p:nvPr/>
          </p:nvGrpSpPr>
          <p:grpSpPr>
            <a:xfrm>
              <a:off x="2216076" y="2348880"/>
              <a:ext cx="5760640" cy="504056"/>
              <a:chOff x="2216076" y="2852936"/>
              <a:chExt cx="5760640" cy="576064"/>
            </a:xfrm>
          </p:grpSpPr>
          <p:sp>
            <p:nvSpPr>
              <p:cNvPr id="162" name="Notched Right Arrow 54"/>
              <p:cNvSpPr/>
              <p:nvPr/>
            </p:nvSpPr>
            <p:spPr>
              <a:xfrm flipH="1">
                <a:off x="2216076" y="3008511"/>
                <a:ext cx="576064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64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 16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3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61" name="ZoneTexte 160"/>
            <p:cNvSpPr txBox="1"/>
            <p:nvPr/>
          </p:nvSpPr>
          <p:spPr>
            <a:xfrm>
              <a:off x="4088284" y="2446317"/>
              <a:ext cx="3310421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300" b="1" dirty="0">
                  <a:solidFill>
                    <a:srgbClr val="FFFF00"/>
                  </a:solidFill>
                </a:rPr>
                <a:t>قرص الفلاش </a:t>
              </a:r>
              <a:r>
                <a:rPr lang="fr-FR" sz="2300" b="1" dirty="0">
                  <a:solidFill>
                    <a:srgbClr val="FFFF00"/>
                  </a:solidFill>
                </a:rPr>
                <a:t>Flash </a:t>
              </a:r>
              <a:r>
                <a:rPr lang="fr-FR" sz="2300" b="1" dirty="0" smtClean="0">
                  <a:solidFill>
                    <a:srgbClr val="FFFF00"/>
                  </a:solidFill>
                </a:rPr>
                <a:t>Disque</a:t>
              </a:r>
              <a:r>
                <a:rPr lang="ar-DZ" sz="2300" b="1" dirty="0">
                  <a:solidFill>
                    <a:srgbClr val="FFFF00"/>
                  </a:solidFill>
                </a:rPr>
                <a:t>:</a:t>
              </a:r>
              <a:endParaRPr lang="fr-FR" sz="23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66" name="object 114"/>
          <p:cNvGrpSpPr/>
          <p:nvPr/>
        </p:nvGrpSpPr>
        <p:grpSpPr>
          <a:xfrm>
            <a:off x="240190" y="4365104"/>
            <a:ext cx="7716186" cy="494319"/>
            <a:chOff x="1427162" y="3059772"/>
            <a:chExt cx="1862138" cy="942180"/>
          </a:xfrm>
        </p:grpSpPr>
        <p:grpSp>
          <p:nvGrpSpPr>
            <p:cNvPr id="167" name="مجموعة 82"/>
            <p:cNvGrpSpPr/>
            <p:nvPr/>
          </p:nvGrpSpPr>
          <p:grpSpPr>
            <a:xfrm flipH="1" flipV="1">
              <a:off x="1446212" y="3078822"/>
              <a:ext cx="1843088" cy="923130"/>
              <a:chOff x="1981200" y="1433286"/>
              <a:chExt cx="1843088" cy="923130"/>
            </a:xfrm>
            <a:solidFill>
              <a:schemeClr val="bg1">
                <a:lumMod val="75000"/>
              </a:schemeClr>
            </a:solidFill>
          </p:grpSpPr>
          <p:sp>
            <p:nvSpPr>
              <p:cNvPr id="171" name="object 87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bject  88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8" name="مجموعة 83"/>
            <p:cNvGrpSpPr/>
            <p:nvPr/>
          </p:nvGrpSpPr>
          <p:grpSpPr>
            <a:xfrm flipH="1" flipV="1">
              <a:off x="1427162" y="3059772"/>
              <a:ext cx="1843088" cy="923130"/>
              <a:chOff x="1981200" y="1433286"/>
              <a:chExt cx="1843088" cy="923130"/>
            </a:xfrm>
            <a:solidFill>
              <a:schemeClr val="accent2"/>
            </a:solidFill>
          </p:grpSpPr>
          <p:sp>
            <p:nvSpPr>
              <p:cNvPr id="169" name="object 85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bject  86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3" name="Rectangle 172"/>
          <p:cNvSpPr/>
          <p:nvPr/>
        </p:nvSpPr>
        <p:spPr>
          <a:xfrm>
            <a:off x="653186" y="4437112"/>
            <a:ext cx="71160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</a:rPr>
              <a:t>سعته تتراوح من </a:t>
            </a:r>
            <a:r>
              <a:rPr lang="ar-DZ" sz="2200" b="1" dirty="0" smtClean="0">
                <a:solidFill>
                  <a:schemeClr val="bg1"/>
                </a:solidFill>
              </a:rPr>
              <a:t>4</a:t>
            </a:r>
            <a:r>
              <a:rPr lang="fr-FR" sz="2200" b="1" dirty="0" smtClean="0">
                <a:solidFill>
                  <a:schemeClr val="bg1"/>
                </a:solidFill>
              </a:rPr>
              <a:t>Go </a:t>
            </a:r>
            <a:r>
              <a:rPr lang="ar-DZ" sz="2200" b="1" dirty="0" smtClean="0">
                <a:solidFill>
                  <a:schemeClr val="bg1"/>
                </a:solidFill>
              </a:rPr>
              <a:t> فما </a:t>
            </a:r>
            <a:r>
              <a:rPr lang="ar-DZ" sz="2200" b="1" dirty="0">
                <a:solidFill>
                  <a:schemeClr val="bg1"/>
                </a:solidFill>
              </a:rPr>
              <a:t>فوق.</a:t>
            </a:r>
            <a:endParaRPr lang="fr-FR" sz="2200" dirty="0">
              <a:solidFill>
                <a:schemeClr val="bg1"/>
              </a:solidFill>
            </a:endParaRPr>
          </a:p>
        </p:txBody>
      </p:sp>
      <p:grpSp>
        <p:nvGrpSpPr>
          <p:cNvPr id="174" name="Groupe 173"/>
          <p:cNvGrpSpPr/>
          <p:nvPr/>
        </p:nvGrpSpPr>
        <p:grpSpPr>
          <a:xfrm>
            <a:off x="2699792" y="5013176"/>
            <a:ext cx="5760640" cy="543230"/>
            <a:chOff x="2216076" y="2348880"/>
            <a:chExt cx="5760640" cy="543230"/>
          </a:xfrm>
        </p:grpSpPr>
        <p:grpSp>
          <p:nvGrpSpPr>
            <p:cNvPr id="175" name="Groupe 58"/>
            <p:cNvGrpSpPr/>
            <p:nvPr/>
          </p:nvGrpSpPr>
          <p:grpSpPr>
            <a:xfrm>
              <a:off x="2216076" y="2348880"/>
              <a:ext cx="5760640" cy="504056"/>
              <a:chOff x="2216076" y="2852936"/>
              <a:chExt cx="5760640" cy="576064"/>
            </a:xfrm>
          </p:grpSpPr>
          <p:sp>
            <p:nvSpPr>
              <p:cNvPr id="177" name="Notched Right Arrow 54"/>
              <p:cNvSpPr/>
              <p:nvPr/>
            </p:nvSpPr>
            <p:spPr>
              <a:xfrm flipH="1">
                <a:off x="2216076" y="3008511"/>
                <a:ext cx="576064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solidFill>
                <a:schemeClr val="tx2"/>
              </a:solidFill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17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4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176" name="ZoneTexte 175"/>
            <p:cNvSpPr txBox="1"/>
            <p:nvPr/>
          </p:nvSpPr>
          <p:spPr>
            <a:xfrm>
              <a:off x="3812484" y="2445834"/>
              <a:ext cx="358816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300" b="1" dirty="0">
                  <a:solidFill>
                    <a:srgbClr val="FFFF00"/>
                  </a:solidFill>
                </a:rPr>
                <a:t>بطاقة الذاكرة </a:t>
              </a:r>
              <a:r>
                <a:rPr lang="fr-FR" sz="2300" b="1" dirty="0">
                  <a:solidFill>
                    <a:srgbClr val="FFFF00"/>
                  </a:solidFill>
                </a:rPr>
                <a:t>Carte </a:t>
              </a:r>
              <a:r>
                <a:rPr lang="fr-FR" sz="2300" b="1" dirty="0" smtClean="0">
                  <a:solidFill>
                    <a:srgbClr val="FFFF00"/>
                  </a:solidFill>
                </a:rPr>
                <a:t>Mémoire</a:t>
              </a:r>
              <a:r>
                <a:rPr lang="ar-DZ" sz="2300" b="1" dirty="0" smtClean="0">
                  <a:solidFill>
                    <a:srgbClr val="FFFF00"/>
                  </a:solidFill>
                </a:rPr>
                <a:t>:</a:t>
              </a:r>
              <a:endParaRPr lang="fr-FR" sz="23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81" name="object 114"/>
          <p:cNvGrpSpPr/>
          <p:nvPr/>
        </p:nvGrpSpPr>
        <p:grpSpPr>
          <a:xfrm>
            <a:off x="240190" y="5589240"/>
            <a:ext cx="7716186" cy="494319"/>
            <a:chOff x="1427162" y="3059772"/>
            <a:chExt cx="1862138" cy="942180"/>
          </a:xfrm>
        </p:grpSpPr>
        <p:grpSp>
          <p:nvGrpSpPr>
            <p:cNvPr id="182" name="مجموعة 82"/>
            <p:cNvGrpSpPr/>
            <p:nvPr/>
          </p:nvGrpSpPr>
          <p:grpSpPr>
            <a:xfrm flipH="1" flipV="1">
              <a:off x="1446212" y="3078822"/>
              <a:ext cx="1843088" cy="923130"/>
              <a:chOff x="1981200" y="1433286"/>
              <a:chExt cx="1843088" cy="923130"/>
            </a:xfrm>
            <a:solidFill>
              <a:schemeClr val="bg1">
                <a:lumMod val="75000"/>
              </a:schemeClr>
            </a:solidFill>
          </p:grpSpPr>
          <p:sp>
            <p:nvSpPr>
              <p:cNvPr id="186" name="object 87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bject  88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مجموعة 83"/>
            <p:cNvGrpSpPr/>
            <p:nvPr/>
          </p:nvGrpSpPr>
          <p:grpSpPr>
            <a:xfrm flipH="1" flipV="1">
              <a:off x="1427162" y="3059772"/>
              <a:ext cx="1843088" cy="923130"/>
              <a:chOff x="1981200" y="1433286"/>
              <a:chExt cx="1843088" cy="923130"/>
            </a:xfrm>
            <a:solidFill>
              <a:schemeClr val="accent2"/>
            </a:solidFill>
          </p:grpSpPr>
          <p:sp>
            <p:nvSpPr>
              <p:cNvPr id="184" name="object 85"/>
              <p:cNvSpPr/>
              <p:nvPr/>
            </p:nvSpPr>
            <p:spPr>
              <a:xfrm>
                <a:off x="1981200" y="1433286"/>
                <a:ext cx="1843088" cy="77073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bject  86"/>
              <p:cNvSpPr/>
              <p:nvPr/>
            </p:nvSpPr>
            <p:spPr>
              <a:xfrm flipV="1">
                <a:off x="1981200" y="2204016"/>
                <a:ext cx="176784" cy="152400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8" name="Rectangle 187"/>
          <p:cNvSpPr/>
          <p:nvPr/>
        </p:nvSpPr>
        <p:spPr>
          <a:xfrm>
            <a:off x="4332204" y="5651617"/>
            <a:ext cx="34900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</a:rPr>
              <a:t>سعتها تتراوح من </a:t>
            </a:r>
            <a:r>
              <a:rPr lang="ar-DZ" sz="2200" b="1" dirty="0" smtClean="0">
                <a:solidFill>
                  <a:schemeClr val="bg1"/>
                </a:solidFill>
              </a:rPr>
              <a:t>2 </a:t>
            </a:r>
            <a:r>
              <a:rPr lang="fr-FR" sz="2200" b="1" dirty="0" smtClean="0">
                <a:solidFill>
                  <a:schemeClr val="bg1"/>
                </a:solidFill>
              </a:rPr>
              <a:t>Go </a:t>
            </a:r>
            <a:r>
              <a:rPr lang="ar-DZ" sz="2200" b="1" dirty="0" smtClean="0">
                <a:solidFill>
                  <a:schemeClr val="bg1"/>
                </a:solidFill>
              </a:rPr>
              <a:t> فما </a:t>
            </a:r>
            <a:r>
              <a:rPr lang="ar-DZ" sz="2200" b="1" dirty="0">
                <a:solidFill>
                  <a:schemeClr val="bg1"/>
                </a:solidFill>
              </a:rPr>
              <a:t>فوق.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100"/>
                            </p:stCondLst>
                            <p:childTnLst>
                              <p:par>
                                <p:cTn id="5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6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100"/>
                            </p:stCondLst>
                            <p:childTnLst>
                              <p:par>
                                <p:cTn id="6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6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6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1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106" grpId="0"/>
      <p:bldP spid="131" grpId="0"/>
      <p:bldP spid="173" grpId="0"/>
      <p:bldP spid="1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1124744"/>
            <a:ext cx="6876764" cy="1872208"/>
          </a:xfrm>
          <a:prstGeom prst="cloudCallout">
            <a:avLst>
              <a:gd name="adj1" fmla="val -36737"/>
              <a:gd name="adj2" fmla="val 86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11560" y="1340768"/>
            <a:ext cx="572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لإنشاء مجلد داخل مجلد؟</a:t>
            </a:r>
          </a:p>
          <a:p>
            <a:pPr algn="r" rtl="1"/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ماهي الخطوات المتبعة لتغيير إسم (إعادة تسمية) مجلد أو ملف؟  </a:t>
            </a:r>
          </a:p>
        </p:txBody>
      </p:sp>
      <p:grpSp>
        <p:nvGrpSpPr>
          <p:cNvPr id="19" name="Groupe 1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3" name="Image 12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4" name="Image 13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5" name="ZoneTexte 1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2" name="Image 31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33" name="ZoneTexte 32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8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ZoneTexte 34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3" name="Image 12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4" name="Image 13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5" name="ZoneTexte 1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3" name="Image 72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88024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74" name="ZoneTexte 7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3394405" y="1412776"/>
            <a:ext cx="5104116" cy="513412"/>
            <a:chOff x="2872598" y="2348880"/>
            <a:chExt cx="5104116" cy="513412"/>
          </a:xfrm>
        </p:grpSpPr>
        <p:grpSp>
          <p:nvGrpSpPr>
            <p:cNvPr id="72" name="Groupe 58"/>
            <p:cNvGrpSpPr/>
            <p:nvPr/>
          </p:nvGrpSpPr>
          <p:grpSpPr>
            <a:xfrm>
              <a:off x="2872598" y="2348880"/>
              <a:ext cx="5104116" cy="504056"/>
              <a:chOff x="2872598" y="2852936"/>
              <a:chExt cx="5104116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2872598" y="3008511"/>
                <a:ext cx="510411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أ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3075356" y="2431405"/>
              <a:ext cx="43925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>
                  <a:solidFill>
                    <a:srgbClr val="FFFF00"/>
                  </a:solidFill>
                </a:rPr>
                <a:t>النسخ  من القرص الصلب إلى قرص الفلاش: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4" name="Group 104"/>
          <p:cNvGrpSpPr/>
          <p:nvPr/>
        </p:nvGrpSpPr>
        <p:grpSpPr>
          <a:xfrm>
            <a:off x="2411759" y="2348880"/>
            <a:ext cx="6077983" cy="527690"/>
            <a:chOff x="-1472307" y="1173645"/>
            <a:chExt cx="5832137" cy="1114425"/>
          </a:xfrm>
        </p:grpSpPr>
        <p:sp>
          <p:nvSpPr>
            <p:cNvPr id="95" name="Rectangle 9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-1472307" y="1373671"/>
              <a:ext cx="505743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0" name="Group 118"/>
          <p:cNvGrpSpPr/>
          <p:nvPr/>
        </p:nvGrpSpPr>
        <p:grpSpPr>
          <a:xfrm>
            <a:off x="2987823" y="3273977"/>
            <a:ext cx="5510698" cy="515063"/>
            <a:chOff x="-818111" y="2392845"/>
            <a:chExt cx="5177941" cy="1114425"/>
          </a:xfrm>
        </p:grpSpPr>
        <p:sp>
          <p:nvSpPr>
            <p:cNvPr id="103" name="Rectangle 10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-818111" y="2592870"/>
              <a:ext cx="440323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9" name="Group 132"/>
          <p:cNvGrpSpPr/>
          <p:nvPr/>
        </p:nvGrpSpPr>
        <p:grpSpPr>
          <a:xfrm>
            <a:off x="2987822" y="4191418"/>
            <a:ext cx="5510018" cy="533726"/>
            <a:chOff x="-809615" y="3612045"/>
            <a:chExt cx="5169445" cy="1114425"/>
          </a:xfrm>
        </p:grpSpPr>
        <p:sp>
          <p:nvSpPr>
            <p:cNvPr id="110" name="Rectangle 109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 flipH="1">
              <a:off x="-809615" y="3812070"/>
              <a:ext cx="4394748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7762832" y="237373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6" name="Rectangle 135"/>
          <p:cNvSpPr/>
          <p:nvPr/>
        </p:nvSpPr>
        <p:spPr>
          <a:xfrm>
            <a:off x="7776777" y="3273977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7770632" y="421179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71" name="Rectangle 170"/>
          <p:cNvSpPr/>
          <p:nvPr/>
        </p:nvSpPr>
        <p:spPr>
          <a:xfrm>
            <a:off x="2555780" y="2460027"/>
            <a:ext cx="47525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نحدد الملفات أو المجلدات  ونضغط  عليها بالزر الأيمن 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3059832" y="3377677"/>
            <a:ext cx="42040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نختار </a:t>
            </a:r>
            <a:r>
              <a:rPr lang="fr-FR" sz="2000" b="1" dirty="0">
                <a:solidFill>
                  <a:schemeClr val="bg1"/>
                </a:solidFill>
              </a:rPr>
              <a:t>Envoyer </a:t>
            </a:r>
            <a:r>
              <a:rPr lang="fr-FR" sz="2000" b="1" dirty="0" smtClean="0">
                <a:solidFill>
                  <a:schemeClr val="bg1"/>
                </a:solidFill>
              </a:rPr>
              <a:t>vers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347864" y="4306124"/>
            <a:ext cx="39607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نختار اسم قرص الفلاش. 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1" name="Groupe 100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102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4" name="ZoneTexte 83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17" name="ZoneTexte 116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18" name="ZoneTexte 117"/>
          <p:cNvSpPr txBox="1"/>
          <p:nvPr/>
        </p:nvSpPr>
        <p:spPr>
          <a:xfrm>
            <a:off x="4283968" y="735087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عمليات على الأقراص: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86744" y="5230361"/>
            <a:ext cx="715766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ملاحظة: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يمكن استعمال النسخ </a:t>
            </a:r>
            <a:r>
              <a:rPr lang="fr-FR" sz="2200" b="1" dirty="0">
                <a:solidFill>
                  <a:schemeClr val="bg1"/>
                </a:solidFill>
                <a:ea typeface="Times New Roman"/>
                <a:cs typeface="Times New Roman"/>
              </a:rPr>
              <a:t>copier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أو القص </a:t>
            </a:r>
            <a:r>
              <a:rPr lang="fr-FR" sz="2200" b="1" dirty="0">
                <a:solidFill>
                  <a:schemeClr val="bg1"/>
                </a:solidFill>
                <a:ea typeface="Times New Roman"/>
                <a:cs typeface="Times New Roman"/>
              </a:rPr>
              <a:t>couper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ثم اللصق </a:t>
            </a:r>
            <a:r>
              <a:rPr lang="fr-FR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coller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200" dirty="0">
              <a:solidFill>
                <a:srgbClr val="FFFF00"/>
              </a:solidFill>
            </a:endParaRPr>
          </a:p>
        </p:txBody>
      </p:sp>
      <p:grpSp>
        <p:nvGrpSpPr>
          <p:cNvPr id="156" name="Group 53"/>
          <p:cNvGrpSpPr>
            <a:grpSpLocks/>
          </p:cNvGrpSpPr>
          <p:nvPr/>
        </p:nvGrpSpPr>
        <p:grpSpPr bwMode="auto">
          <a:xfrm flipH="1">
            <a:off x="8331304" y="5337792"/>
            <a:ext cx="216024" cy="216024"/>
            <a:chOff x="2078" y="1680"/>
            <a:chExt cx="1615" cy="1615"/>
          </a:xfrm>
        </p:grpSpPr>
        <p:sp>
          <p:nvSpPr>
            <p:cNvPr id="157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8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9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61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62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74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8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300"/>
                            </p:stCondLst>
                            <p:childTnLst>
                              <p:par>
                                <p:cTn id="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35" grpId="0"/>
      <p:bldP spid="136" grpId="0"/>
      <p:bldP spid="137" grpId="0"/>
      <p:bldP spid="171" grpId="0"/>
      <p:bldP spid="172" grpId="0"/>
      <p:bldP spid="173" grpId="0"/>
      <p:bldP spid="89" grpId="0" animBg="1"/>
      <p:bldP spid="90" grpId="0" animBg="1"/>
      <p:bldP spid="117" grpId="0"/>
      <p:bldP spid="118" grpId="0"/>
      <p:bldP spid="1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3" name="Image 12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4" name="Image 13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5" name="ZoneTexte 1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3" name="Image 72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88024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74" name="ZoneTexte 7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2627783" y="836712"/>
            <a:ext cx="5870737" cy="513412"/>
            <a:chOff x="2105976" y="2348880"/>
            <a:chExt cx="5870737" cy="513412"/>
          </a:xfrm>
        </p:grpSpPr>
        <p:grpSp>
          <p:nvGrpSpPr>
            <p:cNvPr id="72" name="Groupe 58"/>
            <p:cNvGrpSpPr/>
            <p:nvPr/>
          </p:nvGrpSpPr>
          <p:grpSpPr>
            <a:xfrm>
              <a:off x="2105976" y="2348880"/>
              <a:ext cx="5870737" cy="504056"/>
              <a:chOff x="2105976" y="2852936"/>
              <a:chExt cx="5870737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2105976" y="3008511"/>
                <a:ext cx="5870737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ب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2466015" y="2431405"/>
              <a:ext cx="500191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النسخ أو النقل من  قرص الفلاش إلى القرص الصلب: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4" name="Group 104"/>
          <p:cNvGrpSpPr/>
          <p:nvPr/>
        </p:nvGrpSpPr>
        <p:grpSpPr>
          <a:xfrm>
            <a:off x="5328219" y="1772816"/>
            <a:ext cx="3161523" cy="527690"/>
            <a:chOff x="1326186" y="1173645"/>
            <a:chExt cx="3033644" cy="1114425"/>
          </a:xfrm>
        </p:grpSpPr>
        <p:sp>
          <p:nvSpPr>
            <p:cNvPr id="95" name="Rectangle 9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1326186" y="1373671"/>
              <a:ext cx="2258942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0" name="Group 118"/>
          <p:cNvGrpSpPr/>
          <p:nvPr/>
        </p:nvGrpSpPr>
        <p:grpSpPr>
          <a:xfrm>
            <a:off x="1814237" y="2697913"/>
            <a:ext cx="6684284" cy="515063"/>
            <a:chOff x="-1920831" y="2392845"/>
            <a:chExt cx="6280661" cy="1114425"/>
          </a:xfrm>
        </p:grpSpPr>
        <p:sp>
          <p:nvSpPr>
            <p:cNvPr id="103" name="Rectangle 10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-1920831" y="2592870"/>
              <a:ext cx="550595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09" name="Group 132"/>
          <p:cNvGrpSpPr/>
          <p:nvPr/>
        </p:nvGrpSpPr>
        <p:grpSpPr>
          <a:xfrm>
            <a:off x="1814237" y="3615354"/>
            <a:ext cx="6683603" cy="533726"/>
            <a:chOff x="-1910661" y="3612045"/>
            <a:chExt cx="6270491" cy="1114425"/>
          </a:xfrm>
        </p:grpSpPr>
        <p:sp>
          <p:nvSpPr>
            <p:cNvPr id="110" name="Rectangle 109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ectangle 127"/>
            <p:cNvSpPr/>
            <p:nvPr/>
          </p:nvSpPr>
          <p:spPr>
            <a:xfrm flipH="1">
              <a:off x="-1910661" y="3812070"/>
              <a:ext cx="5495794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7762832" y="179767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6" name="Rectangle 135"/>
          <p:cNvSpPr/>
          <p:nvPr/>
        </p:nvSpPr>
        <p:spPr>
          <a:xfrm>
            <a:off x="7776777" y="269791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7770632" y="363573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71" name="Rectangle 170"/>
          <p:cNvSpPr/>
          <p:nvPr/>
        </p:nvSpPr>
        <p:spPr>
          <a:xfrm>
            <a:off x="5508104" y="1883963"/>
            <a:ext cx="180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نفتح قرص الفلاش.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1907704" y="2801613"/>
            <a:ext cx="5356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نحدد و ننسخ </a:t>
            </a:r>
            <a:r>
              <a:rPr lang="fr-FR" sz="2000" b="1" dirty="0">
                <a:solidFill>
                  <a:schemeClr val="bg1"/>
                </a:solidFill>
              </a:rPr>
              <a:t>copier </a:t>
            </a:r>
            <a:r>
              <a:rPr lang="ar-SA" sz="2000" b="1" dirty="0">
                <a:solidFill>
                  <a:schemeClr val="bg1"/>
                </a:solidFill>
              </a:rPr>
              <a:t>أو نقص </a:t>
            </a:r>
            <a:r>
              <a:rPr lang="fr-FR" sz="2000" b="1" dirty="0">
                <a:solidFill>
                  <a:schemeClr val="bg1"/>
                </a:solidFill>
              </a:rPr>
              <a:t>couper </a:t>
            </a:r>
            <a:r>
              <a:rPr lang="ar-SA" sz="2000" b="1" dirty="0">
                <a:solidFill>
                  <a:schemeClr val="bg1"/>
                </a:solidFill>
              </a:rPr>
              <a:t>الملفات أو المجلدات 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2051720" y="3730060"/>
            <a:ext cx="52568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نحدد المكان في القرص الصلب ونقوم بعملية اللصق </a:t>
            </a:r>
            <a:r>
              <a:rPr lang="fr-FR" sz="2000" b="1" dirty="0" smtClean="0">
                <a:solidFill>
                  <a:schemeClr val="bg1"/>
                </a:solidFill>
              </a:rPr>
              <a:t>coller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1" name="Groupe 100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102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4" name="ZoneTexte 83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0" y="4653136"/>
            <a:ext cx="82444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200" b="1" dirty="0" smtClean="0">
                <a:solidFill>
                  <a:srgbClr val="FFFF00"/>
                </a:solidFill>
                <a:ea typeface="Times New Roman"/>
                <a:cs typeface="Times New Roman"/>
              </a:rPr>
              <a:t>ملاحظة: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نتبع نفس الخطوات في نسخ المعلومات من القرص المضغوط إلى القرص الصلب.</a:t>
            </a:r>
            <a:endParaRPr lang="fr-FR" sz="2200" dirty="0">
              <a:solidFill>
                <a:srgbClr val="FFFF00"/>
              </a:solidFill>
            </a:endParaRPr>
          </a:p>
        </p:txBody>
      </p:sp>
      <p:grpSp>
        <p:nvGrpSpPr>
          <p:cNvPr id="156" name="Group 53"/>
          <p:cNvGrpSpPr>
            <a:grpSpLocks/>
          </p:cNvGrpSpPr>
          <p:nvPr/>
        </p:nvGrpSpPr>
        <p:grpSpPr bwMode="auto">
          <a:xfrm flipH="1">
            <a:off x="8331304" y="4761728"/>
            <a:ext cx="216024" cy="216024"/>
            <a:chOff x="2078" y="1680"/>
            <a:chExt cx="1615" cy="1615"/>
          </a:xfrm>
        </p:grpSpPr>
        <p:sp>
          <p:nvSpPr>
            <p:cNvPr id="157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8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9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61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62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74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740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35" grpId="0"/>
      <p:bldP spid="136" grpId="0"/>
      <p:bldP spid="137" grpId="0"/>
      <p:bldP spid="171" grpId="0"/>
      <p:bldP spid="172" grpId="0"/>
      <p:bldP spid="173" grpId="0"/>
      <p:bldP spid="1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5" name="Pensées 4"/>
          <p:cNvSpPr/>
          <p:nvPr/>
        </p:nvSpPr>
        <p:spPr>
          <a:xfrm>
            <a:off x="179512" y="1124744"/>
            <a:ext cx="6876764" cy="1872208"/>
          </a:xfrm>
          <a:prstGeom prst="cloudCallout">
            <a:avLst>
              <a:gd name="adj1" fmla="val -36737"/>
              <a:gd name="adj2" fmla="val 86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611560" y="1412776"/>
            <a:ext cx="572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المتبعة لإنشاء نسخة من مجلد أو ملف؟</a:t>
            </a:r>
          </a:p>
          <a:p>
            <a:pPr algn="r" rtl="1"/>
            <a:endParaRPr lang="ar-DZ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r" rtl="1"/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 ماهي الخطوات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المتبعة لقص أو نقل مجلد أو ملف من مكان لآخر؟  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1" name="Groupe 10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3" name="Groupe 1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6" name="Image 15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7" name="Image 16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8" name="ZoneTexte 17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ZoneTexte 18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ZoneTexte 19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4" name="Image 13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12" name="ZoneTexte 11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7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ZoneTexte 31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81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6" name="Groupe 5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1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2" name="Image 11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3" name="Image 12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4" name="ZoneTexte 13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ZoneTexte 14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2987824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المستوى:الثاني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88024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7" name="ZoneTexte 6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132"/>
          <p:cNvGrpSpPr/>
          <p:nvPr/>
        </p:nvGrpSpPr>
        <p:grpSpPr>
          <a:xfrm>
            <a:off x="3851920" y="1671138"/>
            <a:ext cx="4896543" cy="533726"/>
            <a:chOff x="-340685" y="3612045"/>
            <a:chExt cx="4700515" cy="1114425"/>
          </a:xfrm>
        </p:grpSpPr>
        <p:sp>
          <p:nvSpPr>
            <p:cNvPr id="23" name="Rectangle 2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 flipH="1">
              <a:off x="-340685" y="3812070"/>
              <a:ext cx="3925817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802125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29" name="Groupe 28"/>
          <p:cNvGrpSpPr/>
          <p:nvPr/>
        </p:nvGrpSpPr>
        <p:grpSpPr>
          <a:xfrm>
            <a:off x="4663041" y="891226"/>
            <a:ext cx="4050975" cy="576064"/>
            <a:chOff x="3925741" y="2348880"/>
            <a:chExt cx="4050975" cy="576064"/>
          </a:xfrm>
        </p:grpSpPr>
        <p:grpSp>
          <p:nvGrpSpPr>
            <p:cNvPr id="30" name="Groupe 58"/>
            <p:cNvGrpSpPr/>
            <p:nvPr/>
          </p:nvGrpSpPr>
          <p:grpSpPr>
            <a:xfrm>
              <a:off x="3925741" y="2348880"/>
              <a:ext cx="4050975" cy="504056"/>
              <a:chOff x="3925741" y="2852936"/>
              <a:chExt cx="4050975" cy="576064"/>
            </a:xfrm>
          </p:grpSpPr>
          <p:sp>
            <p:nvSpPr>
              <p:cNvPr id="32" name="Notched Right Arrow 54"/>
              <p:cNvSpPr/>
              <p:nvPr/>
            </p:nvSpPr>
            <p:spPr>
              <a:xfrm flipH="1">
                <a:off x="3925741" y="3008511"/>
                <a:ext cx="4050975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34" name="Freeform 56"/>
                <p:cNvSpPr/>
                <p:nvPr/>
              </p:nvSpPr>
              <p:spPr>
                <a:xfrm>
                  <a:off x="1271589" y="1657350"/>
                  <a:ext cx="466716" cy="154780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د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31" name="ZoneTexte 30"/>
            <p:cNvSpPr txBox="1"/>
            <p:nvPr/>
          </p:nvSpPr>
          <p:spPr>
            <a:xfrm>
              <a:off x="4291213" y="2494057"/>
              <a:ext cx="31611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نسخ أو نقل مجلد أو ملف: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6" name="Group 104"/>
          <p:cNvGrpSpPr/>
          <p:nvPr/>
        </p:nvGrpSpPr>
        <p:grpSpPr>
          <a:xfrm>
            <a:off x="1346897" y="3356992"/>
            <a:ext cx="7401567" cy="527690"/>
            <a:chOff x="-2742356" y="1173645"/>
            <a:chExt cx="7102186" cy="1114425"/>
          </a:xfrm>
        </p:grpSpPr>
        <p:sp>
          <p:nvSpPr>
            <p:cNvPr id="37" name="Rectangle 3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/>
            <p:cNvSpPr/>
            <p:nvPr/>
          </p:nvSpPr>
          <p:spPr>
            <a:xfrm flipH="1">
              <a:off x="-2742356" y="1373671"/>
              <a:ext cx="632747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8045969" y="338185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51" name="Group 132"/>
          <p:cNvGrpSpPr/>
          <p:nvPr/>
        </p:nvGrpSpPr>
        <p:grpSpPr>
          <a:xfrm>
            <a:off x="3486511" y="2535234"/>
            <a:ext cx="5252947" cy="533726"/>
            <a:chOff x="-681055" y="3612045"/>
            <a:chExt cx="5040885" cy="1114425"/>
          </a:xfrm>
        </p:grpSpPr>
        <p:sp>
          <p:nvSpPr>
            <p:cNvPr id="52" name="Rectangle 51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 flipH="1">
              <a:off x="-681055" y="3812070"/>
              <a:ext cx="4266187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8012250" y="253523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58" name="Rectangle 57"/>
          <p:cNvSpPr/>
          <p:nvPr/>
        </p:nvSpPr>
        <p:spPr>
          <a:xfrm>
            <a:off x="3851920" y="2639180"/>
            <a:ext cx="37910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-  نختار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copier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للنسخ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أو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couper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للنقل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58328" y="1785844"/>
            <a:ext cx="54008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نضغط  بالزر الأيمن على المجلد أو الملف.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60" name="Groupe 59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61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6" name="Rectangle 65"/>
          <p:cNvSpPr/>
          <p:nvPr/>
        </p:nvSpPr>
        <p:spPr>
          <a:xfrm>
            <a:off x="2448567" y="1067180"/>
            <a:ext cx="20758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نتبع الخطوات التالية.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552189" y="3444947"/>
            <a:ext cx="6068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نفتح المجلد الثاني و  نضغط بالزر الأيمن في مساحة فارغة ثم  </a:t>
            </a:r>
            <a:r>
              <a:rPr lang="fr-FR" sz="2000" b="1" dirty="0" smtClean="0">
                <a:solidFill>
                  <a:schemeClr val="bg1"/>
                </a:solidFill>
              </a:rPr>
              <a:t>coller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3226365" y="44624"/>
            <a:ext cx="221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وسائط التخزين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69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8" grpId="0"/>
      <p:bldP spid="57" grpId="0"/>
      <p:bldP spid="58" grpId="0"/>
      <p:bldP spid="59" grpId="0"/>
      <p:bldP spid="66" grpId="0"/>
      <p:bldP spid="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25" name="Image 24" descr="3d print business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27" name="ZoneTexte 26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" name="ZoneTexte 39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76" name="Image 75" descr="shutterstock_17221542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9" name="Pensées 68"/>
          <p:cNvSpPr/>
          <p:nvPr/>
        </p:nvSpPr>
        <p:spPr>
          <a:xfrm>
            <a:off x="251520" y="1412776"/>
            <a:ext cx="4824536" cy="1487487"/>
          </a:xfrm>
          <a:prstGeom prst="cloudCallout">
            <a:avLst>
              <a:gd name="adj1" fmla="val -25593"/>
              <a:gd name="adj2" fmla="val 10076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0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71" name="ZoneTexte 70"/>
          <p:cNvSpPr txBox="1"/>
          <p:nvPr/>
        </p:nvSpPr>
        <p:spPr>
          <a:xfrm>
            <a:off x="395535" y="1965618"/>
            <a:ext cx="435458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فكيف يتم حذف المجلدات أو الملفات في الحاسوب؟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29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" name="Image 29" descr="11-2-animation-png-hd-thumb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 flipH="1">
            <a:off x="6156176" y="3140968"/>
            <a:ext cx="3096344" cy="3096344"/>
          </a:xfrm>
          <a:prstGeom prst="rect">
            <a:avLst/>
          </a:prstGeom>
        </p:spPr>
      </p:pic>
      <p:grpSp>
        <p:nvGrpSpPr>
          <p:cNvPr id="35" name="Group 77"/>
          <p:cNvGrpSpPr/>
          <p:nvPr/>
        </p:nvGrpSpPr>
        <p:grpSpPr>
          <a:xfrm rot="20503916">
            <a:off x="5087886" y="2290603"/>
            <a:ext cx="2304318" cy="2525521"/>
            <a:chOff x="914400" y="1122362"/>
            <a:chExt cx="2080267" cy="3507909"/>
          </a:xfrm>
        </p:grpSpPr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1259207" y="4208782"/>
              <a:ext cx="1197680" cy="42148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9" name="ZoneTexte 38"/>
          <p:cNvSpPr txBox="1"/>
          <p:nvPr/>
        </p:nvSpPr>
        <p:spPr>
          <a:xfrm rot="20502721">
            <a:off x="5048245" y="2427215"/>
            <a:ext cx="21790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200" b="1" dirty="0" smtClean="0">
                <a:solidFill>
                  <a:schemeClr val="bg1"/>
                </a:solidFill>
              </a:rPr>
              <a:t>قد تحتاج لحذف والتخلص من بعض الملفات والمجلدات التي لم يعد لها أهمية في حاسوبك.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17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17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1" grpId="0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4" name="Groupe 3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8" name="Rectangle 1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6" name="Rectangle 1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" name="Image 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8" name="Image 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9" name="ZoneTexte 8"/>
                  <p:cNvSpPr txBox="1"/>
                  <p:nvPr/>
                </p:nvSpPr>
                <p:spPr>
                  <a:xfrm>
                    <a:off x="5652120" y="6453336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" name="ZoneTexte 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" name="ZoneTexte 10"/>
                  <p:cNvSpPr txBox="1"/>
                  <p:nvPr/>
                </p:nvSpPr>
                <p:spPr>
                  <a:xfrm>
                    <a:off x="2915816" y="6453336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1" name="Image 100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103" name="ZoneTexte 10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ZoneTexte 87"/>
            <p:cNvSpPr txBox="1"/>
            <p:nvPr/>
          </p:nvSpPr>
          <p:spPr>
            <a:xfrm>
              <a:off x="1907705" y="44624"/>
              <a:ext cx="40838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الملفات والمجلدات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e 57"/>
          <p:cNvGrpSpPr/>
          <p:nvPr/>
        </p:nvGrpSpPr>
        <p:grpSpPr>
          <a:xfrm>
            <a:off x="653186" y="44624"/>
            <a:ext cx="1254518" cy="542384"/>
            <a:chOff x="653186" y="44624"/>
            <a:chExt cx="966486" cy="542384"/>
          </a:xfrm>
        </p:grpSpPr>
        <p:pic>
          <p:nvPicPr>
            <p:cNvPr id="59" name="Picture 4" descr="D:\informatique\مذكرات سنة أولى متوسط\cfrd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186" y="44624"/>
              <a:ext cx="966486" cy="5423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 descr="D:\informatique\مذكرات سنة أولى متوسط\ihuyt.jp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513" y="252619"/>
              <a:ext cx="227151" cy="2240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" descr="D:\informatique\مذكرات سنة أولى متوسط\الفبقك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429" y="234847"/>
              <a:ext cx="209352" cy="2093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5" descr="D:\informatique\مذكرات سنة أولى متوسط\فيد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624" y="356493"/>
              <a:ext cx="213268" cy="2132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7" descr="D:\informatique\مذكرات سنة أولى متوسط\Tex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7201" y="348257"/>
              <a:ext cx="200423" cy="2004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oupe 63"/>
          <p:cNvGrpSpPr/>
          <p:nvPr/>
        </p:nvGrpSpPr>
        <p:grpSpPr>
          <a:xfrm>
            <a:off x="5436094" y="891226"/>
            <a:ext cx="3277921" cy="576064"/>
            <a:chOff x="4698794" y="2348880"/>
            <a:chExt cx="3277921" cy="576064"/>
          </a:xfrm>
        </p:grpSpPr>
        <p:grpSp>
          <p:nvGrpSpPr>
            <p:cNvPr id="65" name="Groupe 58"/>
            <p:cNvGrpSpPr/>
            <p:nvPr/>
          </p:nvGrpSpPr>
          <p:grpSpPr>
            <a:xfrm>
              <a:off x="4698794" y="2348880"/>
              <a:ext cx="3277921" cy="504056"/>
              <a:chOff x="4698794" y="2852936"/>
              <a:chExt cx="3277921" cy="576064"/>
            </a:xfrm>
          </p:grpSpPr>
          <p:sp>
            <p:nvSpPr>
              <p:cNvPr id="67" name="Notched Right Arrow 54"/>
              <p:cNvSpPr/>
              <p:nvPr/>
            </p:nvSpPr>
            <p:spPr>
              <a:xfrm flipH="1">
                <a:off x="4698794" y="3008511"/>
                <a:ext cx="3277921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9" name="Freeform 56"/>
                <p:cNvSpPr/>
                <p:nvPr/>
              </p:nvSpPr>
              <p:spPr>
                <a:xfrm>
                  <a:off x="1271589" y="1657350"/>
                  <a:ext cx="466716" cy="154780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r>
                    <a:rPr lang="ar-DZ" sz="2400" b="1" dirty="0" smtClean="0">
                      <a:solidFill>
                        <a:srgbClr val="FFFF00"/>
                      </a:solidFill>
                    </a:rPr>
                    <a:t>د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6" name="ZoneTexte 65"/>
            <p:cNvSpPr txBox="1"/>
            <p:nvPr/>
          </p:nvSpPr>
          <p:spPr>
            <a:xfrm>
              <a:off x="4698795" y="2494057"/>
              <a:ext cx="275352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200" b="1" dirty="0" smtClean="0">
                  <a:solidFill>
                    <a:srgbClr val="FFFF00"/>
                  </a:solidFill>
                </a:rPr>
                <a:t>حذف مجلد أو ملف: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3203848" y="1026659"/>
            <a:ext cx="20758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نتبع الخطوات التالية.</a:t>
            </a:r>
            <a:endParaRPr lang="fr-FR" sz="20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2" name="Group 132"/>
          <p:cNvGrpSpPr/>
          <p:nvPr/>
        </p:nvGrpSpPr>
        <p:grpSpPr>
          <a:xfrm>
            <a:off x="3707904" y="1671138"/>
            <a:ext cx="5040559" cy="533726"/>
            <a:chOff x="-478935" y="3612045"/>
            <a:chExt cx="4838765" cy="1114425"/>
          </a:xfrm>
        </p:grpSpPr>
        <p:sp>
          <p:nvSpPr>
            <p:cNvPr id="73" name="Rectangle 7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flipH="1">
              <a:off x="-478935" y="3812070"/>
              <a:ext cx="4064068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78" name="Rectangle 77"/>
          <p:cNvSpPr/>
          <p:nvPr/>
        </p:nvSpPr>
        <p:spPr>
          <a:xfrm>
            <a:off x="802125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79" name="Rectangle 78"/>
          <p:cNvSpPr/>
          <p:nvPr/>
        </p:nvSpPr>
        <p:spPr>
          <a:xfrm>
            <a:off x="3983704" y="1785844"/>
            <a:ext cx="3575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نضغط بالزر الأيمن على المجلد أو الملف.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80" name="Group 132"/>
          <p:cNvGrpSpPr/>
          <p:nvPr/>
        </p:nvGrpSpPr>
        <p:grpSpPr>
          <a:xfrm>
            <a:off x="2771800" y="2636912"/>
            <a:ext cx="5976664" cy="533726"/>
            <a:chOff x="-1375556" y="3612045"/>
            <a:chExt cx="5735386" cy="1114425"/>
          </a:xfrm>
        </p:grpSpPr>
        <p:sp>
          <p:nvSpPr>
            <p:cNvPr id="81" name="Rectangle 80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 flipH="1">
              <a:off x="-1375556" y="3812070"/>
              <a:ext cx="4960687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6" name="Rectangle 85"/>
          <p:cNvSpPr/>
          <p:nvPr/>
        </p:nvSpPr>
        <p:spPr>
          <a:xfrm>
            <a:off x="8021256" y="263691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2929234" y="2740858"/>
            <a:ext cx="47227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نختار من القائمة التي تظهر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S</a:t>
            </a:r>
            <a:r>
              <a:rPr lang="fr-FR" sz="2000" b="1" dirty="0" err="1" smtClean="0">
                <a:solidFill>
                  <a:schemeClr val="bg1"/>
                </a:solidFill>
                <a:ea typeface="Times New Roman"/>
                <a:cs typeface="Times New Roman"/>
              </a:rPr>
              <a:t>upprimer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، بالزر الأسر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  <a:ea typeface="Times New Roman"/>
            </a:endParaRPr>
          </a:p>
        </p:txBody>
      </p:sp>
      <p:grpSp>
        <p:nvGrpSpPr>
          <p:cNvPr id="98" name="Group 118"/>
          <p:cNvGrpSpPr/>
          <p:nvPr/>
        </p:nvGrpSpPr>
        <p:grpSpPr>
          <a:xfrm>
            <a:off x="1907703" y="3573016"/>
            <a:ext cx="6840761" cy="567326"/>
            <a:chOff x="-2395542" y="2392845"/>
            <a:chExt cx="6755372" cy="1114425"/>
          </a:xfrm>
        </p:grpSpPr>
        <p:sp>
          <p:nvSpPr>
            <p:cNvPr id="99" name="Rectangle 9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 flipH="1">
              <a:off x="-2395542" y="2592871"/>
              <a:ext cx="5980667" cy="9143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7" name="Rectangle 106"/>
          <p:cNvSpPr/>
          <p:nvPr/>
        </p:nvSpPr>
        <p:spPr>
          <a:xfrm>
            <a:off x="8026720" y="358402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8" name="Rectangle 107"/>
          <p:cNvSpPr/>
          <p:nvPr/>
        </p:nvSpPr>
        <p:spPr>
          <a:xfrm>
            <a:off x="1907705" y="3740232"/>
            <a:ext cx="57606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تظهر نافذة فنضغط </a:t>
            </a:r>
            <a:r>
              <a:rPr lang="ar-DZ" sz="2000" b="1" dirty="0" smtClean="0">
                <a:solidFill>
                  <a:schemeClr val="bg1"/>
                </a:solidFill>
              </a:rPr>
              <a:t>على</a:t>
            </a:r>
            <a:r>
              <a:rPr lang="fr-FR" sz="2000" b="1" dirty="0" smtClean="0">
                <a:solidFill>
                  <a:schemeClr val="bg1"/>
                </a:solidFill>
              </a:rPr>
              <a:t>Oui  </a:t>
            </a:r>
            <a:r>
              <a:rPr lang="ar-DZ" sz="2000" b="1" dirty="0" smtClean="0">
                <a:solidFill>
                  <a:schemeClr val="bg1"/>
                </a:solidFill>
              </a:rPr>
              <a:t> للحذف </a:t>
            </a:r>
            <a:r>
              <a:rPr lang="ar-DZ" sz="2000" b="1" dirty="0">
                <a:solidFill>
                  <a:schemeClr val="bg1"/>
                </a:solidFill>
              </a:rPr>
              <a:t>أو </a:t>
            </a:r>
            <a:r>
              <a:rPr lang="fr-FR" sz="2000" b="1" dirty="0">
                <a:solidFill>
                  <a:schemeClr val="bg1"/>
                </a:solidFill>
              </a:rPr>
              <a:t>Non </a:t>
            </a:r>
            <a:r>
              <a:rPr lang="ar-DZ" sz="2000" b="1" dirty="0" smtClean="0">
                <a:solidFill>
                  <a:schemeClr val="bg1"/>
                </a:solidFill>
              </a:rPr>
              <a:t> للتراجع </a:t>
            </a:r>
            <a:r>
              <a:rPr lang="ar-DZ" sz="2000" b="1" dirty="0">
                <a:solidFill>
                  <a:schemeClr val="bg1"/>
                </a:solidFill>
              </a:rPr>
              <a:t>عن الحذف.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8" grpId="0"/>
      <p:bldP spid="79" grpId="0"/>
      <p:bldP spid="86" grpId="0"/>
      <p:bldP spid="87" grpId="0"/>
      <p:bldP spid="107" grpId="0"/>
      <p:bldP spid="108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28797</TotalTime>
  <Words>838</Words>
  <Application>Microsoft Office PowerPoint</Application>
  <PresentationFormat>Affichage à l'écran (4:3)</PresentationFormat>
  <Paragraphs>168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722</cp:revision>
  <dcterms:created xsi:type="dcterms:W3CDTF">2017-08-13T13:54:07Z</dcterms:created>
  <dcterms:modified xsi:type="dcterms:W3CDTF">2018-08-19T08:29:39Z</dcterms:modified>
</cp:coreProperties>
</file>