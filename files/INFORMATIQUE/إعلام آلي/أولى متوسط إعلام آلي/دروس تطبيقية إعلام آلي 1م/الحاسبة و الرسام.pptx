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57" r:id="rId4"/>
    <p:sldId id="258" r:id="rId5"/>
    <p:sldId id="273" r:id="rId6"/>
    <p:sldId id="260" r:id="rId7"/>
    <p:sldId id="274" r:id="rId8"/>
    <p:sldId id="259" r:id="rId9"/>
    <p:sldId id="276" r:id="rId10"/>
    <p:sldId id="262" r:id="rId11"/>
    <p:sldId id="266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5BB4"/>
    <a:srgbClr val="C0504D"/>
    <a:srgbClr val="E34F5A"/>
    <a:srgbClr val="8C9BE8"/>
    <a:srgbClr val="E03C48"/>
    <a:srgbClr val="DF3541"/>
    <a:srgbClr val="E86E77"/>
    <a:srgbClr val="0000FF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>
      <p:cViewPr>
        <p:scale>
          <a:sx n="70" d="100"/>
          <a:sy n="70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7.tmp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mp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m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7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6" name="ZoneTexte 15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" name="ZoneTexte 7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" name="Image 5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6" name="Image 25" descr="11-2-animation-png-hd-thumb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27" name="Group 77"/>
          <p:cNvGrpSpPr/>
          <p:nvPr/>
        </p:nvGrpSpPr>
        <p:grpSpPr>
          <a:xfrm rot="20065487">
            <a:off x="5360260" y="1471941"/>
            <a:ext cx="2577601" cy="2672434"/>
            <a:chOff x="914400" y="1122362"/>
            <a:chExt cx="2080267" cy="3453889"/>
          </a:xfrm>
        </p:grpSpPr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" name="ZoneTexte 30"/>
          <p:cNvSpPr txBox="1"/>
          <p:nvPr/>
        </p:nvSpPr>
        <p:spPr>
          <a:xfrm rot="20130558">
            <a:off x="5236975" y="1588142"/>
            <a:ext cx="2520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DZ" sz="2000" b="1" dirty="0" smtClean="0">
                <a:solidFill>
                  <a:schemeClr val="bg1"/>
                </a:solidFill>
              </a:rPr>
              <a:t>أردت كتابة </a:t>
            </a:r>
            <a:r>
              <a:rPr lang="ar-DZ" sz="2000" b="1" dirty="0">
                <a:solidFill>
                  <a:schemeClr val="bg1"/>
                </a:solidFill>
              </a:rPr>
              <a:t>بحث معين تطلب منك إنجاز رسم وبعض العمليات </a:t>
            </a:r>
            <a:r>
              <a:rPr lang="ar-DZ" sz="2000" b="1" dirty="0" smtClean="0">
                <a:solidFill>
                  <a:schemeClr val="bg1"/>
                </a:solidFill>
              </a:rPr>
              <a:t>الحسابية باستعمال إحدى البرامج الملحقة بنظام التشغيل </a:t>
            </a:r>
            <a:r>
              <a:rPr lang="fr-FR" sz="2000" b="1" dirty="0" smtClean="0">
                <a:solidFill>
                  <a:schemeClr val="bg1"/>
                </a:solidFill>
              </a:rPr>
              <a:t>Windows </a:t>
            </a:r>
            <a:r>
              <a:rPr lang="ar-DZ" sz="2000" b="1" dirty="0" smtClean="0">
                <a:solidFill>
                  <a:schemeClr val="bg1"/>
                </a:solidFill>
              </a:rPr>
              <a:t> في الحاسوب.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32" name="Image 31" descr="Person-question-2-151x300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33" name="Pensées 32"/>
          <p:cNvSpPr/>
          <p:nvPr/>
        </p:nvSpPr>
        <p:spPr>
          <a:xfrm>
            <a:off x="827584" y="980728"/>
            <a:ext cx="3744416" cy="1945474"/>
          </a:xfrm>
          <a:prstGeom prst="cloudCallout">
            <a:avLst>
              <a:gd name="adj1" fmla="val -48310"/>
              <a:gd name="adj2" fmla="val 6493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899592" y="1231592"/>
            <a:ext cx="3528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أين نجد هذه البرامج الملحقة بال</a:t>
            </a:r>
            <a:r>
              <a:rPr lang="fr-FR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Windows</a:t>
            </a:r>
            <a:r>
              <a:rPr lang="ar-DZ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 </a:t>
            </a:r>
            <a:endParaRPr lang="fr-FR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 rtl="1"/>
            <a:r>
              <a:rPr lang="ar-DZ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 ماهي البرامج التي تساعدك </a:t>
            </a:r>
            <a:r>
              <a:rPr lang="ar-D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على إنجاز هذا الرسم  و القيام بالعمليات الحسابية في الحاسوب؟</a:t>
            </a:r>
          </a:p>
        </p:txBody>
      </p:sp>
      <p:pic>
        <p:nvPicPr>
          <p:cNvPr id="35" name="Picture 4" descr="C:\Users\RIDHA\Pictures\Image13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36" name="Groupe 35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37" name="Pensées 3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2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7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25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75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0" y="620689"/>
            <a:ext cx="9144000" cy="5760639"/>
            <a:chOff x="0" y="620689"/>
            <a:chExt cx="9144000" cy="5600015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0689"/>
              <a:ext cx="9144000" cy="5600015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2267744" y="2300693"/>
              <a:ext cx="4392488" cy="1800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D75B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6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9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0" name="Rectangle 19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7" name="ZoneTexte 16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ZoneTexte 8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" name="Image 9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2" name="Image 11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3" name="ZoneTexte 12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39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32240" y="1867327"/>
            <a:ext cx="2182525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ZoneTexte 35"/>
          <p:cNvSpPr txBox="1"/>
          <p:nvPr/>
        </p:nvSpPr>
        <p:spPr>
          <a:xfrm>
            <a:off x="1979712" y="2339589"/>
            <a:ext cx="46805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500" b="1" dirty="0" smtClean="0">
                <a:solidFill>
                  <a:schemeClr val="bg1"/>
                </a:solidFill>
              </a:rPr>
              <a:t>استخدام الحاسوب</a:t>
            </a:r>
            <a:r>
              <a:rPr lang="ar-DZ" sz="2500" b="1" dirty="0" smtClean="0">
                <a:solidFill>
                  <a:srgbClr val="FF0000"/>
                </a:solidFill>
              </a:rPr>
              <a:t> 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1979712" y="2807930"/>
            <a:ext cx="46805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الوحدة المفاهمية:  </a:t>
            </a:r>
            <a:r>
              <a:rPr lang="ar-DZ" sz="2500" b="1" dirty="0" smtClean="0">
                <a:solidFill>
                  <a:schemeClr val="bg1"/>
                </a:solidFill>
              </a:rPr>
              <a:t>نظام التشغيل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2051720" y="3287306"/>
            <a:ext cx="46085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500" b="1" dirty="0" smtClean="0">
                <a:solidFill>
                  <a:schemeClr val="bg1"/>
                </a:solidFill>
              </a:rPr>
              <a:t>استعمال برنامج الحاسبة </a:t>
            </a:r>
            <a:r>
              <a:rPr lang="ar-DZ" sz="2500" b="1" dirty="0" smtClean="0">
                <a:solidFill>
                  <a:schemeClr val="bg1"/>
                </a:solidFill>
              </a:rPr>
              <a:t>والرسام</a:t>
            </a:r>
            <a:endParaRPr lang="fr-FR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7" y="620688"/>
            <a:ext cx="9144000" cy="5645442"/>
          </a:xfrm>
          <a:prstGeom prst="rect">
            <a:avLst/>
          </a:prstGeom>
        </p:spPr>
      </p:pic>
      <p:grpSp>
        <p:nvGrpSpPr>
          <p:cNvPr id="56" name="Groupe 5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4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6" name="Rectangle 15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7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8" name="Rectangle 17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8" name="Image 7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Image 9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1" name="ZoneTexte 10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ZoneTexte 11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2987824" y="6413266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5" name="Image 54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133" name="Shape 856"/>
          <p:cNvSpPr/>
          <p:nvPr/>
        </p:nvSpPr>
        <p:spPr>
          <a:xfrm>
            <a:off x="7698639" y="2512060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35" name="Shape 859"/>
          <p:cNvSpPr/>
          <p:nvPr/>
        </p:nvSpPr>
        <p:spPr>
          <a:xfrm>
            <a:off x="5178359" y="2520663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65" name="Shape 856"/>
          <p:cNvSpPr/>
          <p:nvPr/>
        </p:nvSpPr>
        <p:spPr>
          <a:xfrm>
            <a:off x="7698639" y="3273891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67" name="Shape 859"/>
          <p:cNvSpPr/>
          <p:nvPr/>
        </p:nvSpPr>
        <p:spPr>
          <a:xfrm>
            <a:off x="5178359" y="3282494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3" name="Shape 856"/>
          <p:cNvSpPr/>
          <p:nvPr/>
        </p:nvSpPr>
        <p:spPr>
          <a:xfrm>
            <a:off x="4569443" y="2883112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5" name="Shape 859"/>
          <p:cNvSpPr/>
          <p:nvPr/>
        </p:nvSpPr>
        <p:spPr>
          <a:xfrm>
            <a:off x="2049163" y="2891715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06" name="ZoneTexte 105"/>
          <p:cNvSpPr txBox="1"/>
          <p:nvPr/>
        </p:nvSpPr>
        <p:spPr>
          <a:xfrm>
            <a:off x="7770647" y="2492896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1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76" name="ZoneTexte 175"/>
          <p:cNvSpPr txBox="1"/>
          <p:nvPr/>
        </p:nvSpPr>
        <p:spPr>
          <a:xfrm>
            <a:off x="7770647" y="3235562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chemeClr val="bg1"/>
                </a:solidFill>
              </a:rPr>
              <a:t>2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78" name="ZoneTexte 177"/>
          <p:cNvSpPr txBox="1"/>
          <p:nvPr/>
        </p:nvSpPr>
        <p:spPr>
          <a:xfrm>
            <a:off x="4641451" y="2863947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3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79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484784"/>
            <a:ext cx="2160241" cy="380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" name="ZoneTexte 179"/>
          <p:cNvSpPr txBox="1"/>
          <p:nvPr/>
        </p:nvSpPr>
        <p:spPr>
          <a:xfrm>
            <a:off x="5652120" y="2546989"/>
            <a:ext cx="201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برنامج الحاسبة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81" name="ZoneTexte 180"/>
          <p:cNvSpPr txBox="1"/>
          <p:nvPr/>
        </p:nvSpPr>
        <p:spPr>
          <a:xfrm>
            <a:off x="5652120" y="3284984"/>
            <a:ext cx="201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برنامج الرسام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83" name="ZoneTexte 182"/>
          <p:cNvSpPr txBox="1"/>
          <p:nvPr/>
        </p:nvSpPr>
        <p:spPr>
          <a:xfrm>
            <a:off x="2337195" y="2956280"/>
            <a:ext cx="2232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تشغيل البرامج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2914438" y="44624"/>
            <a:ext cx="3401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3" y="3041"/>
            <a:ext cx="889156" cy="626185"/>
          </a:xfrm>
          <a:prstGeom prst="rect">
            <a:avLst/>
          </a:prstGeom>
        </p:spPr>
      </p:pic>
      <p:pic>
        <p:nvPicPr>
          <p:cNvPr id="47" name="Image 46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3878"/>
            <a:ext cx="720080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5" grpId="0" animBg="1"/>
      <p:bldP spid="165" grpId="0" animBg="1"/>
      <p:bldP spid="167" grpId="0" animBg="1"/>
      <p:bldP spid="173" grpId="0" animBg="1"/>
      <p:bldP spid="175" grpId="0" animBg="1"/>
      <p:bldP spid="106" grpId="0"/>
      <p:bldP spid="176" grpId="0"/>
      <p:bldP spid="178" grpId="0"/>
      <p:bldP spid="180" grpId="0"/>
      <p:bldP spid="181" grpId="0"/>
      <p:bldP spid="1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6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8" name="Rectangle 17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9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2" name="Rectangle 21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20" name="Rectangle 19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10" name="Image 9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2" name="Image 11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3" name="ZoneTexte 12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9" name="Image 28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899592" y="1484784"/>
            <a:ext cx="36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دور برنامج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الحاسبة</a:t>
            </a:r>
            <a:r>
              <a:rPr lang="en-US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n-US" sz="20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Calculatrice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2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47864" y="3677954"/>
            <a:ext cx="1800200" cy="2619584"/>
          </a:xfrm>
          <a:prstGeom prst="rect">
            <a:avLst/>
          </a:prstGeom>
          <a:noFill/>
        </p:spPr>
      </p:pic>
      <p:sp>
        <p:nvSpPr>
          <p:cNvPr id="28" name="ZoneTexte 2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3059832" y="44624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</a:t>
            </a:r>
            <a:r>
              <a:rPr lang="ar-DZ" sz="2800" b="1" dirty="0" smtClean="0">
                <a:solidFill>
                  <a:schemeClr val="bg1"/>
                </a:solidFill>
              </a:rPr>
              <a:t>والرسام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5" y="3041"/>
            <a:ext cx="961164" cy="626185"/>
          </a:xfrm>
          <a:prstGeom prst="rect">
            <a:avLst/>
          </a:prstGeom>
        </p:spPr>
      </p:pic>
      <p:pic>
        <p:nvPicPr>
          <p:cNvPr id="38" name="Image 37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48" y="53878"/>
            <a:ext cx="701976" cy="524510"/>
          </a:xfrm>
          <a:prstGeom prst="rect">
            <a:avLst/>
          </a:prstGeom>
        </p:spPr>
      </p:pic>
      <p:grpSp>
        <p:nvGrpSpPr>
          <p:cNvPr id="2" name="Groupe 1"/>
          <p:cNvGrpSpPr/>
          <p:nvPr/>
        </p:nvGrpSpPr>
        <p:grpSpPr>
          <a:xfrm>
            <a:off x="4555609" y="3020465"/>
            <a:ext cx="2483768" cy="817069"/>
            <a:chOff x="4644008" y="3069365"/>
            <a:chExt cx="2483768" cy="817069"/>
          </a:xfrm>
        </p:grpSpPr>
        <p:sp>
          <p:nvSpPr>
            <p:cNvPr id="34" name="Pensées 33"/>
            <p:cNvSpPr/>
            <p:nvPr/>
          </p:nvSpPr>
          <p:spPr>
            <a:xfrm>
              <a:off x="4644008" y="3069365"/>
              <a:ext cx="2483768" cy="817069"/>
            </a:xfrm>
            <a:prstGeom prst="cloudCallout">
              <a:avLst>
                <a:gd name="adj1" fmla="val -36781"/>
                <a:gd name="adj2" fmla="val 113033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ZoneTexte 35"/>
            <p:cNvSpPr txBox="1"/>
            <p:nvPr/>
          </p:nvSpPr>
          <p:spPr>
            <a:xfrm>
              <a:off x="4951734" y="3277844"/>
              <a:ext cx="18683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296"/>
            <a:ext cx="9144000" cy="563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e 2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5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37" name="Rectangle 36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38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9" name="Rectangle 38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29" name="Image 2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31" name="Image 3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32" name="ZoneTexte 3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ZoneTexte 3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ZoneTexte 3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6" name="Image 25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51" name="Shape 856"/>
          <p:cNvSpPr/>
          <p:nvPr/>
        </p:nvSpPr>
        <p:spPr>
          <a:xfrm>
            <a:off x="8388424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031940" y="764704"/>
            <a:ext cx="4284477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3" name="ZoneTexte 52"/>
          <p:cNvSpPr txBox="1"/>
          <p:nvPr/>
        </p:nvSpPr>
        <p:spPr>
          <a:xfrm>
            <a:off x="8388424" y="756101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4220837" y="764704"/>
            <a:ext cx="3951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برنامج الحاسبة</a:t>
            </a:r>
            <a:r>
              <a:rPr lang="ar-DZ" sz="2800" b="1" dirty="0">
                <a:solidFill>
                  <a:srgbClr val="FFFF00"/>
                </a:solidFill>
              </a:rPr>
              <a:t> </a:t>
            </a:r>
            <a:r>
              <a:rPr lang="fr-FR" sz="2800" b="1" dirty="0" smtClean="0">
                <a:solidFill>
                  <a:srgbClr val="FFFF00"/>
                </a:solidFill>
              </a:rPr>
              <a:t>Calculatrice</a:t>
            </a:r>
            <a:r>
              <a:rPr lang="ar-DZ" sz="2800" b="1" dirty="0" smtClean="0">
                <a:solidFill>
                  <a:srgbClr val="FFFF00"/>
                </a:solidFill>
              </a:rPr>
              <a:t>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66" name="Group 67"/>
          <p:cNvGrpSpPr/>
          <p:nvPr/>
        </p:nvGrpSpPr>
        <p:grpSpPr>
          <a:xfrm rot="10800000" flipH="1">
            <a:off x="179512" y="1052737"/>
            <a:ext cx="7903124" cy="1232738"/>
            <a:chOff x="914400" y="1122362"/>
            <a:chExt cx="2120114" cy="4783975"/>
          </a:xfrm>
        </p:grpSpPr>
        <p:sp>
          <p:nvSpPr>
            <p:cNvPr id="67" name="Freeform 6"/>
            <p:cNvSpPr>
              <a:spLocks/>
            </p:cNvSpPr>
            <p:nvPr/>
          </p:nvSpPr>
          <p:spPr bwMode="auto">
            <a:xfrm rot="156728">
              <a:off x="1242790" y="3916836"/>
              <a:ext cx="685756" cy="1989501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8"/>
            <p:cNvSpPr>
              <a:spLocks/>
            </p:cNvSpPr>
            <p:nvPr/>
          </p:nvSpPr>
          <p:spPr bwMode="auto">
            <a:xfrm>
              <a:off x="914400" y="1122362"/>
              <a:ext cx="2120114" cy="3013076"/>
            </a:xfrm>
            <a:prstGeom prst="round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0" name="Rectangle 69"/>
          <p:cNvSpPr/>
          <p:nvPr/>
        </p:nvSpPr>
        <p:spPr>
          <a:xfrm>
            <a:off x="107504" y="1700809"/>
            <a:ext cx="78488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من برامج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Windows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 يستعمل لإجراء عمليات حسابية بسيطة وعلمية في الحاسوب.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13" name="Image 112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852935"/>
            <a:ext cx="4536503" cy="2940241"/>
          </a:xfrm>
          <a:prstGeom prst="rect">
            <a:avLst/>
          </a:prstGeom>
        </p:spPr>
      </p:pic>
      <p:pic>
        <p:nvPicPr>
          <p:cNvPr id="114" name="Image 113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2865022"/>
            <a:ext cx="3672408" cy="2940241"/>
          </a:xfrm>
          <a:prstGeom prst="rect">
            <a:avLst/>
          </a:prstGeom>
        </p:spPr>
      </p:pic>
      <p:sp>
        <p:nvSpPr>
          <p:cNvPr id="115" name="Rectangle 114"/>
          <p:cNvSpPr/>
          <p:nvPr/>
        </p:nvSpPr>
        <p:spPr>
          <a:xfrm>
            <a:off x="541072" y="3419708"/>
            <a:ext cx="3598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b="1" dirty="0" smtClean="0">
                <a:ea typeface="Times New Roman"/>
                <a:cs typeface="Times New Roman"/>
              </a:rPr>
              <a:t> </a:t>
            </a:r>
            <a:r>
              <a:rPr lang="ar-DZ" b="1" dirty="0" smtClean="0">
                <a:ea typeface="Times New Roman"/>
                <a:cs typeface="Times New Roman"/>
              </a:rPr>
              <a:t>حاسبة علمية </a:t>
            </a:r>
            <a:r>
              <a:rPr lang="fr-FR" b="1" dirty="0" smtClean="0">
                <a:ea typeface="Times New Roman"/>
                <a:cs typeface="Times New Roman"/>
              </a:rPr>
              <a:t>Calculatrice Scientifique</a:t>
            </a:r>
            <a:endParaRPr lang="fr-FR" dirty="0"/>
          </a:p>
        </p:txBody>
      </p:sp>
      <p:sp>
        <p:nvSpPr>
          <p:cNvPr id="116" name="Rectangle 115"/>
          <p:cNvSpPr/>
          <p:nvPr/>
        </p:nvSpPr>
        <p:spPr>
          <a:xfrm>
            <a:off x="5292079" y="3444549"/>
            <a:ext cx="29523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sz="1600" b="1" dirty="0" smtClean="0">
                <a:ea typeface="Times New Roman"/>
                <a:cs typeface="Times New Roman"/>
              </a:rPr>
              <a:t> </a:t>
            </a:r>
            <a:r>
              <a:rPr lang="ar-DZ" sz="1600" b="1" dirty="0" smtClean="0">
                <a:ea typeface="Times New Roman"/>
                <a:cs typeface="Times New Roman"/>
              </a:rPr>
              <a:t>حاسبة عادية </a:t>
            </a:r>
            <a:r>
              <a:rPr lang="fr-FR" sz="1600" b="1" dirty="0" smtClean="0">
                <a:ea typeface="Times New Roman"/>
                <a:cs typeface="Times New Roman"/>
              </a:rPr>
              <a:t>Calculatrice </a:t>
            </a:r>
            <a:r>
              <a:rPr lang="fr-FR" sz="1600" b="1" dirty="0" smtClean="0">
                <a:ea typeface="Times New Roman"/>
                <a:cs typeface="Times New Roman"/>
              </a:rPr>
              <a:t>Standard</a:t>
            </a:r>
            <a:endParaRPr lang="fr-FR" sz="1600" dirty="0"/>
          </a:p>
        </p:txBody>
      </p:sp>
      <p:sp>
        <p:nvSpPr>
          <p:cNvPr id="117" name="ZoneTexte 116"/>
          <p:cNvSpPr txBox="1"/>
          <p:nvPr/>
        </p:nvSpPr>
        <p:spPr>
          <a:xfrm>
            <a:off x="3028266" y="55168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</a:t>
            </a:r>
            <a:r>
              <a:rPr lang="ar-DZ" sz="2800" b="1" dirty="0" smtClean="0">
                <a:solidFill>
                  <a:schemeClr val="bg1"/>
                </a:solidFill>
              </a:rPr>
              <a:t>والرسام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18" name="Image 1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596" y="-6859"/>
            <a:ext cx="961164" cy="626185"/>
          </a:xfrm>
          <a:prstGeom prst="rect">
            <a:avLst/>
          </a:prstGeom>
        </p:spPr>
      </p:pic>
      <p:pic>
        <p:nvPicPr>
          <p:cNvPr id="119" name="Image 118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12" y="53878"/>
            <a:ext cx="752711" cy="52451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12522" y="2369162"/>
            <a:ext cx="5947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 smtClean="0">
                <a:solidFill>
                  <a:srgbClr val="FFFF00"/>
                </a:solidFill>
              </a:rPr>
              <a:t>ملاحظة: </a:t>
            </a:r>
            <a:r>
              <a:rPr lang="ar-DZ" sz="2000" b="1" dirty="0" smtClean="0">
                <a:solidFill>
                  <a:schemeClr val="bg1"/>
                </a:solidFill>
              </a:rPr>
              <a:t>ننقر </a:t>
            </a:r>
            <a:r>
              <a:rPr lang="ar-DZ" sz="2000" b="1" dirty="0">
                <a:solidFill>
                  <a:schemeClr val="bg1"/>
                </a:solidFill>
              </a:rPr>
              <a:t>على  </a:t>
            </a:r>
            <a:r>
              <a:rPr lang="fr-FR" sz="2000" b="1" dirty="0">
                <a:solidFill>
                  <a:schemeClr val="bg1"/>
                </a:solidFill>
              </a:rPr>
              <a:t>Affichage</a:t>
            </a:r>
            <a:r>
              <a:rPr lang="ar-DZ" sz="2000" b="1" dirty="0">
                <a:solidFill>
                  <a:schemeClr val="bg1"/>
                </a:solidFill>
              </a:rPr>
              <a:t>  في الحاسبة، ثم اختر نوع الحاسبة: </a:t>
            </a:r>
            <a:endParaRPr lang="fr-FR" sz="2400" dirty="0">
              <a:solidFill>
                <a:schemeClr val="bg1"/>
              </a:solidFill>
            </a:endParaRPr>
          </a:p>
        </p:txBody>
      </p:sp>
      <p:grpSp>
        <p:nvGrpSpPr>
          <p:cNvPr id="42" name="Group 53"/>
          <p:cNvGrpSpPr>
            <a:grpSpLocks/>
          </p:cNvGrpSpPr>
          <p:nvPr/>
        </p:nvGrpSpPr>
        <p:grpSpPr bwMode="auto">
          <a:xfrm flipH="1">
            <a:off x="8532440" y="2445816"/>
            <a:ext cx="216024" cy="216024"/>
            <a:chOff x="2078" y="1680"/>
            <a:chExt cx="1615" cy="1615"/>
          </a:xfrm>
        </p:grpSpPr>
        <p:sp>
          <p:nvSpPr>
            <p:cNvPr id="43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46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47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48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/>
      <p:bldP spid="54" grpId="0"/>
      <p:bldP spid="70" grpId="0"/>
      <p:bldP spid="115" grpId="0"/>
      <p:bldP spid="1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971600" y="1484784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دور برنامج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الرسام </a:t>
            </a:r>
            <a:r>
              <a:rPr lang="en-US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Paint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91880" y="3722571"/>
            <a:ext cx="1656184" cy="2574967"/>
          </a:xfrm>
          <a:prstGeom prst="rect">
            <a:avLst/>
          </a:prstGeom>
          <a:noFill/>
        </p:spPr>
      </p:pic>
      <p:sp>
        <p:nvSpPr>
          <p:cNvPr id="27" name="ZoneTexte 26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29" name="Groupe 28"/>
          <p:cNvGrpSpPr/>
          <p:nvPr/>
        </p:nvGrpSpPr>
        <p:grpSpPr>
          <a:xfrm>
            <a:off x="4426162" y="3274554"/>
            <a:ext cx="2160240" cy="648072"/>
            <a:chOff x="3563888" y="1268760"/>
            <a:chExt cx="2664296" cy="936104"/>
          </a:xfrm>
        </p:grpSpPr>
        <p:sp>
          <p:nvSpPr>
            <p:cNvPr id="30" name="Pensées 29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sp>
        <p:nvSpPr>
          <p:cNvPr id="32" name="ZoneTexte 31"/>
          <p:cNvSpPr txBox="1"/>
          <p:nvPr/>
        </p:nvSpPr>
        <p:spPr>
          <a:xfrm>
            <a:off x="2900415" y="41370"/>
            <a:ext cx="3199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</a:t>
            </a:r>
            <a:r>
              <a:rPr lang="ar-DZ" sz="2800" b="1" dirty="0" smtClean="0">
                <a:solidFill>
                  <a:schemeClr val="bg1"/>
                </a:solidFill>
              </a:rPr>
              <a:t>والرسام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33" name="Image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5" y="3041"/>
            <a:ext cx="961164" cy="626185"/>
          </a:xfrm>
          <a:prstGeom prst="rect">
            <a:avLst/>
          </a:prstGeom>
        </p:spPr>
      </p:pic>
      <p:pic>
        <p:nvPicPr>
          <p:cNvPr id="34" name="Image 33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53878"/>
            <a:ext cx="790203" cy="5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296"/>
            <a:ext cx="9144000" cy="563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e 2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5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37" name="Rectangle 36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38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9" name="Rectangle 38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29" name="Image 2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31" name="Image 3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32" name="ZoneTexte 3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ZoneTexte 3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ZoneTexte 3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6" name="Image 25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45" name="Shape 856"/>
          <p:cNvSpPr/>
          <p:nvPr/>
        </p:nvSpPr>
        <p:spPr>
          <a:xfrm>
            <a:off x="8388424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5148064" y="764704"/>
            <a:ext cx="31683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8388424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5220072" y="764704"/>
            <a:ext cx="2988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برنامج الرسام </a:t>
            </a:r>
            <a:r>
              <a:rPr lang="en-US" sz="2800" b="1" dirty="0" smtClean="0">
                <a:solidFill>
                  <a:srgbClr val="FFFF00"/>
                </a:solidFill>
              </a:rPr>
              <a:t>P</a:t>
            </a:r>
            <a:r>
              <a:rPr lang="fr-FR" sz="2800" b="1" dirty="0" err="1" smtClean="0">
                <a:solidFill>
                  <a:srgbClr val="FFFF00"/>
                </a:solidFill>
              </a:rPr>
              <a:t>aint</a:t>
            </a:r>
            <a:r>
              <a:rPr lang="ar-DZ" sz="2800" b="1" dirty="0" smtClean="0">
                <a:solidFill>
                  <a:srgbClr val="FFFF00"/>
                </a:solidFill>
              </a:rPr>
              <a:t>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77" name="Group 67"/>
          <p:cNvGrpSpPr/>
          <p:nvPr/>
        </p:nvGrpSpPr>
        <p:grpSpPr>
          <a:xfrm rot="10800000" flipH="1">
            <a:off x="557308" y="1089531"/>
            <a:ext cx="7903124" cy="971316"/>
            <a:chOff x="914400" y="773050"/>
            <a:chExt cx="2120114" cy="5484233"/>
          </a:xfrm>
          <a:solidFill>
            <a:schemeClr val="accent6">
              <a:lumMod val="75000"/>
            </a:schemeClr>
          </a:solidFill>
        </p:grpSpPr>
        <p:sp>
          <p:nvSpPr>
            <p:cNvPr id="78" name="Freeform 6"/>
            <p:cNvSpPr>
              <a:spLocks/>
            </p:cNvSpPr>
            <p:nvPr/>
          </p:nvSpPr>
          <p:spPr bwMode="auto">
            <a:xfrm>
              <a:off x="1295978" y="3619045"/>
              <a:ext cx="830634" cy="2638238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"/>
            <p:cNvSpPr>
              <a:spLocks/>
            </p:cNvSpPr>
            <p:nvPr/>
          </p:nvSpPr>
          <p:spPr bwMode="auto">
            <a:xfrm>
              <a:off x="914400" y="773050"/>
              <a:ext cx="2120114" cy="3362393"/>
            </a:xfrm>
            <a:prstGeom prst="roundRect">
              <a:avLst/>
            </a:prstGeom>
            <a:grpFill/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Rectangle 81"/>
          <p:cNvSpPr/>
          <p:nvPr/>
        </p:nvSpPr>
        <p:spPr>
          <a:xfrm>
            <a:off x="467545" y="1576535"/>
            <a:ext cx="7920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من برامج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Windows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يستعمل لإنجاز رسومات و تخطيطات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بسيطة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86" name="Image 85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204864"/>
            <a:ext cx="8424936" cy="3771800"/>
          </a:xfrm>
          <a:prstGeom prst="rect">
            <a:avLst/>
          </a:prstGeom>
        </p:spPr>
      </p:pic>
      <p:sp>
        <p:nvSpPr>
          <p:cNvPr id="87" name="ZoneTexte 86"/>
          <p:cNvSpPr txBox="1"/>
          <p:nvPr/>
        </p:nvSpPr>
        <p:spPr>
          <a:xfrm>
            <a:off x="2924694" y="54523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</a:t>
            </a:r>
            <a:r>
              <a:rPr lang="ar-DZ" sz="2800" b="1" dirty="0" smtClean="0">
                <a:solidFill>
                  <a:schemeClr val="bg1"/>
                </a:solidFill>
              </a:rPr>
              <a:t>والرسام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88" name="Image 8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7" y="3041"/>
            <a:ext cx="1033172" cy="626185"/>
          </a:xfrm>
          <a:prstGeom prst="rect">
            <a:avLst/>
          </a:prstGeom>
        </p:spPr>
      </p:pic>
      <p:pic>
        <p:nvPicPr>
          <p:cNvPr id="89" name="Image 88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47" y="60429"/>
            <a:ext cx="864096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/>
      <p:bldP spid="48" grpId="0"/>
      <p:bldP spid="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prstClr val="white"/>
                    </a:solidFill>
                  </a:endParaRPr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prstClr val="white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prstClr val="white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prstClr val="white"/>
                    </a:solidFill>
                  </a:rPr>
                  <a:t>- بوراشد</a:t>
                </a:r>
                <a:endParaRPr lang="fr-FR" sz="19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prstClr val="white"/>
                    </a:solidFill>
                  </a:rPr>
                  <a:t>متوسط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960440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1115616" y="1412776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لتشغيل هذه البرامج؟</a:t>
            </a:r>
            <a:endParaRPr lang="fr-FR" sz="2000" b="1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47864" y="3722571"/>
            <a:ext cx="1800200" cy="2574967"/>
          </a:xfrm>
          <a:prstGeom prst="rect">
            <a:avLst/>
          </a:prstGeom>
          <a:noFill/>
        </p:spPr>
      </p:pic>
      <p:sp>
        <p:nvSpPr>
          <p:cNvPr id="24" name="ZoneTexte 23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prstClr val="white"/>
                </a:solidFill>
              </a:rPr>
              <a:t>الحصة </a:t>
            </a:r>
            <a:r>
              <a:rPr lang="ar-DZ" sz="2800" b="1" dirty="0" err="1" smtClean="0">
                <a:solidFill>
                  <a:prstClr val="white"/>
                </a:solidFill>
              </a:rPr>
              <a:t>التعلمية</a:t>
            </a:r>
            <a:endParaRPr lang="fr-FR" sz="2800" b="1" dirty="0">
              <a:solidFill>
                <a:prstClr val="white"/>
              </a:solidFill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4373814" y="3375236"/>
            <a:ext cx="2160240" cy="648072"/>
            <a:chOff x="3563888" y="1268760"/>
            <a:chExt cx="2664296" cy="936104"/>
          </a:xfrm>
        </p:grpSpPr>
        <p:sp>
          <p:nvSpPr>
            <p:cNvPr id="27" name="Pensées 2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prstClr val="black"/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>
                  <a:solidFill>
                    <a:prstClr val="black"/>
                  </a:solidFill>
                </a:rPr>
                <a:t>الإجابة برفع الإصبع</a:t>
              </a:r>
            </a:p>
          </p:txBody>
        </p:sp>
      </p:grpSp>
      <p:sp>
        <p:nvSpPr>
          <p:cNvPr id="29" name="ZoneTexte 28"/>
          <p:cNvSpPr txBox="1"/>
          <p:nvPr/>
        </p:nvSpPr>
        <p:spPr>
          <a:xfrm>
            <a:off x="2771800" y="44624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prstClr val="white"/>
                </a:solidFill>
              </a:rPr>
              <a:t>استعمال الحاسبة </a:t>
            </a:r>
            <a:r>
              <a:rPr lang="ar-DZ" sz="2800" b="1" dirty="0" smtClean="0">
                <a:solidFill>
                  <a:prstClr val="white"/>
                </a:solidFill>
              </a:rPr>
              <a:t>والرسام</a:t>
            </a:r>
            <a:endParaRPr lang="fr-FR" sz="2800" b="1" dirty="0">
              <a:solidFill>
                <a:prstClr val="white"/>
              </a:solidFill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755" y="-6859"/>
            <a:ext cx="937989" cy="626185"/>
          </a:xfrm>
          <a:prstGeom prst="rect">
            <a:avLst/>
          </a:prstGeom>
        </p:spPr>
      </p:pic>
      <p:pic>
        <p:nvPicPr>
          <p:cNvPr id="31" name="Image 30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69" y="53878"/>
            <a:ext cx="720080" cy="5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7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296"/>
            <a:ext cx="9144000" cy="563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7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7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9" name="Rectangle 18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20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22" name="Rectangle 21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21" name="Rectangle 20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11" name="Image 10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3" name="Image 12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4" name="ZoneTexte 13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ZoneTexte 15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8" name="Image 7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67" name="ZoneTexte 66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9" name="Rectangle 52"/>
          <p:cNvSpPr>
            <a:spLocks noChangeArrowheads="1"/>
          </p:cNvSpPr>
          <p:nvPr/>
        </p:nvSpPr>
        <p:spPr bwMode="auto">
          <a:xfrm>
            <a:off x="7404443" y="1628800"/>
            <a:ext cx="613569" cy="418508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0" name="Group 64"/>
          <p:cNvGrpSpPr/>
          <p:nvPr/>
        </p:nvGrpSpPr>
        <p:grpSpPr>
          <a:xfrm>
            <a:off x="5001370" y="1682042"/>
            <a:ext cx="3024336" cy="556319"/>
            <a:chOff x="568727" y="1693797"/>
            <a:chExt cx="3024336" cy="1026832"/>
          </a:xfrm>
        </p:grpSpPr>
        <p:sp>
          <p:nvSpPr>
            <p:cNvPr id="71" name="Freeform 9"/>
            <p:cNvSpPr>
              <a:spLocks/>
            </p:cNvSpPr>
            <p:nvPr/>
          </p:nvSpPr>
          <p:spPr bwMode="auto">
            <a:xfrm flipH="1">
              <a:off x="568727" y="1943390"/>
              <a:ext cx="2400702" cy="77723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4" name="TextBox 68"/>
          <p:cNvSpPr txBox="1"/>
          <p:nvPr/>
        </p:nvSpPr>
        <p:spPr>
          <a:xfrm>
            <a:off x="5343437" y="1860155"/>
            <a:ext cx="1440160" cy="3073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fr-FR" sz="2000" b="1" dirty="0" smtClean="0">
                <a:solidFill>
                  <a:schemeClr val="bg1"/>
                </a:solidFill>
              </a:rPr>
              <a:t>Démarrer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5" name="TextBox 82"/>
          <p:cNvSpPr txBox="1"/>
          <p:nvPr/>
        </p:nvSpPr>
        <p:spPr>
          <a:xfrm>
            <a:off x="7431386" y="1641972"/>
            <a:ext cx="378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>
                <a:solidFill>
                  <a:schemeClr val="bg1"/>
                </a:solidFill>
              </a:rPr>
              <a:t>أ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76" name="Group 64"/>
          <p:cNvGrpSpPr/>
          <p:nvPr/>
        </p:nvGrpSpPr>
        <p:grpSpPr>
          <a:xfrm>
            <a:off x="4283968" y="2485342"/>
            <a:ext cx="3741738" cy="549944"/>
            <a:chOff x="-148675" y="1693797"/>
            <a:chExt cx="3741738" cy="1026832"/>
          </a:xfrm>
        </p:grpSpPr>
        <p:sp>
          <p:nvSpPr>
            <p:cNvPr id="77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TextBox 68"/>
          <p:cNvSpPr txBox="1"/>
          <p:nvPr/>
        </p:nvSpPr>
        <p:spPr>
          <a:xfrm>
            <a:off x="4603263" y="267040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</a:rPr>
              <a:t>Tous les programmes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31386" y="2434060"/>
            <a:ext cx="486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 smtClean="0">
                <a:solidFill>
                  <a:schemeClr val="bg1"/>
                </a:solidFill>
              </a:rPr>
              <a:t>ب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84" name="Group 64"/>
          <p:cNvGrpSpPr/>
          <p:nvPr/>
        </p:nvGrpSpPr>
        <p:grpSpPr>
          <a:xfrm>
            <a:off x="5001370" y="3287524"/>
            <a:ext cx="3021658" cy="554758"/>
            <a:chOff x="571405" y="1693797"/>
            <a:chExt cx="3021658" cy="1026832"/>
          </a:xfrm>
        </p:grpSpPr>
        <p:sp>
          <p:nvSpPr>
            <p:cNvPr id="85" name="Freeform 9"/>
            <p:cNvSpPr>
              <a:spLocks/>
            </p:cNvSpPr>
            <p:nvPr/>
          </p:nvSpPr>
          <p:spPr bwMode="auto">
            <a:xfrm flipH="1">
              <a:off x="571405" y="1943391"/>
              <a:ext cx="2398024" cy="7772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8" name="TextBox 68"/>
          <p:cNvSpPr txBox="1"/>
          <p:nvPr/>
        </p:nvSpPr>
        <p:spPr>
          <a:xfrm>
            <a:off x="5181390" y="3462497"/>
            <a:ext cx="1764196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</a:rPr>
              <a:t>Accessoires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9" name="TextBox 82"/>
          <p:cNvSpPr txBox="1"/>
          <p:nvPr/>
        </p:nvSpPr>
        <p:spPr>
          <a:xfrm>
            <a:off x="7428708" y="3226148"/>
            <a:ext cx="488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 smtClean="0">
                <a:solidFill>
                  <a:schemeClr val="bg1"/>
                </a:solidFill>
              </a:rPr>
              <a:t>ج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90" name="Group 64"/>
          <p:cNvGrpSpPr/>
          <p:nvPr/>
        </p:nvGrpSpPr>
        <p:grpSpPr>
          <a:xfrm>
            <a:off x="1979712" y="4110569"/>
            <a:ext cx="6045994" cy="902811"/>
            <a:chOff x="-2452931" y="1693797"/>
            <a:chExt cx="6045994" cy="1026832"/>
          </a:xfrm>
        </p:grpSpPr>
        <p:sp>
          <p:nvSpPr>
            <p:cNvPr id="91" name="Freeform 9"/>
            <p:cNvSpPr>
              <a:spLocks/>
            </p:cNvSpPr>
            <p:nvPr/>
          </p:nvSpPr>
          <p:spPr bwMode="auto">
            <a:xfrm flipH="1">
              <a:off x="-2452931" y="1943391"/>
              <a:ext cx="5422360" cy="7772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4" name="TextBox 68"/>
          <p:cNvSpPr txBox="1"/>
          <p:nvPr/>
        </p:nvSpPr>
        <p:spPr>
          <a:xfrm>
            <a:off x="3601445" y="4705603"/>
            <a:ext cx="3389332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err="1" smtClean="0">
                <a:solidFill>
                  <a:schemeClr val="bg1"/>
                </a:solidFill>
                <a:latin typeface="Times New Roman"/>
                <a:ea typeface="Times New Roman"/>
              </a:rPr>
              <a:t>Paint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-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 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لتشغيل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الرسام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95" name="TextBox 82"/>
          <p:cNvSpPr txBox="1"/>
          <p:nvPr/>
        </p:nvSpPr>
        <p:spPr>
          <a:xfrm>
            <a:off x="7431386" y="4165049"/>
            <a:ext cx="378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sz="2000" b="1" dirty="0">
                <a:solidFill>
                  <a:schemeClr val="bg1"/>
                </a:solidFill>
              </a:rPr>
              <a:t>د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6" name="Shape 856"/>
          <p:cNvSpPr/>
          <p:nvPr/>
        </p:nvSpPr>
        <p:spPr>
          <a:xfrm>
            <a:off x="8316416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7" name="Shape 859"/>
          <p:cNvSpPr/>
          <p:nvPr/>
        </p:nvSpPr>
        <p:spPr>
          <a:xfrm>
            <a:off x="3419872" y="764704"/>
            <a:ext cx="4824536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ZoneTexte 97"/>
          <p:cNvSpPr txBox="1"/>
          <p:nvPr/>
        </p:nvSpPr>
        <p:spPr>
          <a:xfrm>
            <a:off x="8316416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3635896" y="764704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تشغيل </a:t>
            </a:r>
            <a:r>
              <a:rPr lang="ar-DZ" sz="2800" b="1" dirty="0" smtClean="0">
                <a:solidFill>
                  <a:srgbClr val="FFFF00"/>
                </a:solidFill>
              </a:rPr>
              <a:t>برنامج الحاسبة والرسام: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24" name="TextBox 68"/>
          <p:cNvSpPr txBox="1"/>
          <p:nvPr/>
        </p:nvSpPr>
        <p:spPr>
          <a:xfrm>
            <a:off x="3399638" y="4365104"/>
            <a:ext cx="3587094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Calculatrice -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 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لتشغيل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الحاسبة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. 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6" name="ZoneTexte 125"/>
          <p:cNvSpPr txBox="1"/>
          <p:nvPr/>
        </p:nvSpPr>
        <p:spPr>
          <a:xfrm>
            <a:off x="2823157" y="446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</a:t>
            </a:r>
            <a:r>
              <a:rPr lang="ar-DZ" sz="2800" b="1" dirty="0" smtClean="0">
                <a:solidFill>
                  <a:schemeClr val="bg1"/>
                </a:solidFill>
              </a:rPr>
              <a:t>والرسام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27" name="Image 1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014" y="3041"/>
            <a:ext cx="961164" cy="626185"/>
          </a:xfrm>
          <a:prstGeom prst="rect">
            <a:avLst/>
          </a:prstGeom>
        </p:spPr>
      </p:pic>
      <p:pic>
        <p:nvPicPr>
          <p:cNvPr id="128" name="Image 127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3878"/>
            <a:ext cx="862025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4" grpId="0"/>
      <p:bldP spid="75" grpId="0"/>
      <p:bldP spid="82" grpId="0"/>
      <p:bldP spid="83" grpId="0"/>
      <p:bldP spid="88" grpId="0"/>
      <p:bldP spid="89" grpId="0"/>
      <p:bldP spid="94" grpId="0"/>
      <p:bldP spid="95" grpId="0"/>
      <p:bldP spid="96" grpId="0" animBg="1"/>
      <p:bldP spid="97" grpId="0" animBg="1"/>
      <p:bldP spid="98" grpId="0"/>
      <p:bldP spid="99" grpId="0"/>
      <p:bldP spid="1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7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6" name="ZoneTexte 15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" name="ZoneTexte 7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" name="Image 5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33046</TotalTime>
  <Words>343</Words>
  <Application>Microsoft Office PowerPoint</Application>
  <PresentationFormat>Affichage à l'écran (4:3)</PresentationFormat>
  <Paragraphs>89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</dc:creator>
  <cp:lastModifiedBy>RIDHA MAHI</cp:lastModifiedBy>
  <cp:revision>281</cp:revision>
  <dcterms:created xsi:type="dcterms:W3CDTF">2017-08-21T12:09:26Z</dcterms:created>
  <dcterms:modified xsi:type="dcterms:W3CDTF">2018-08-14T21:26:14Z</dcterms:modified>
</cp:coreProperties>
</file>