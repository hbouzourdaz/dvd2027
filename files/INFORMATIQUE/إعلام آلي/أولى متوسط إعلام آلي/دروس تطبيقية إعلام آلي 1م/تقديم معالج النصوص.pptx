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6" r:id="rId2"/>
    <p:sldId id="257" r:id="rId3"/>
    <p:sldId id="275" r:id="rId4"/>
    <p:sldId id="260" r:id="rId5"/>
    <p:sldId id="274" r:id="rId6"/>
    <p:sldId id="261" r:id="rId7"/>
    <p:sldId id="264" r:id="rId8"/>
    <p:sldId id="265" r:id="rId9"/>
    <p:sldId id="277" r:id="rId10"/>
    <p:sldId id="267" r:id="rId11"/>
    <p:sldId id="269" r:id="rId12"/>
    <p:sldId id="270" r:id="rId13"/>
    <p:sldId id="271" r:id="rId14"/>
    <p:sldId id="272" r:id="rId15"/>
    <p:sldId id="273" r:id="rId16"/>
    <p:sldId id="262" r:id="rId17"/>
    <p:sldId id="263" r:id="rId18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FF3300"/>
    <a:srgbClr val="FF6600"/>
    <a:srgbClr val="57ABC9"/>
    <a:srgbClr val="D75BB4"/>
    <a:srgbClr val="EEC208"/>
    <a:srgbClr val="E86E77"/>
    <a:srgbClr val="F79646"/>
    <a:srgbClr val="F48E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39" autoAdjust="0"/>
    <p:restoredTop sz="93728" autoAdjust="0"/>
  </p:normalViewPr>
  <p:slideViewPr>
    <p:cSldViewPr>
      <p:cViewPr>
        <p:scale>
          <a:sx n="70" d="100"/>
          <a:sy n="70" d="100"/>
        </p:scale>
        <p:origin x="-1392" y="-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13/08/2018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13/08/2018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13/08/2018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13/08/2018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13/08/2018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13/08/2018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13/08/2018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13/08/2018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13/08/2018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13/08/2018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13/08/2018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8C6B9-1AE0-4F9B-92BA-7BAE68551FBC}" type="datetimeFigureOut">
              <a:rPr lang="fr-FR" smtClean="0"/>
              <a:pPr/>
              <a:t>13/08/2018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12" Type="http://schemas.openxmlformats.org/officeDocument/2006/relationships/image" Target="../media/image16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5.jpeg"/><Relationship Id="rId5" Type="http://schemas.openxmlformats.org/officeDocument/2006/relationships/image" Target="../media/image7.png"/><Relationship Id="rId10" Type="http://schemas.openxmlformats.org/officeDocument/2006/relationships/image" Target="../media/image14.jpeg"/><Relationship Id="rId4" Type="http://schemas.openxmlformats.org/officeDocument/2006/relationships/image" Target="../media/image6.png"/><Relationship Id="rId9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1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1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9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besmallah.bmp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age 68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pic>
        <p:nvPicPr>
          <p:cNvPr id="70" name="Image 69" descr="11-2-animation-png-hd-thumb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flipH="1">
            <a:off x="6516216" y="2193557"/>
            <a:ext cx="3672408" cy="3384376"/>
          </a:xfrm>
          <a:prstGeom prst="rect">
            <a:avLst/>
          </a:prstGeom>
        </p:spPr>
      </p:pic>
      <p:grpSp>
        <p:nvGrpSpPr>
          <p:cNvPr id="71" name="Group 77"/>
          <p:cNvGrpSpPr/>
          <p:nvPr/>
        </p:nvGrpSpPr>
        <p:grpSpPr>
          <a:xfrm rot="20065487">
            <a:off x="5275599" y="1098927"/>
            <a:ext cx="2577601" cy="3064663"/>
            <a:chOff x="914400" y="1122362"/>
            <a:chExt cx="2080267" cy="3453889"/>
          </a:xfrm>
        </p:grpSpPr>
        <p:sp>
          <p:nvSpPr>
            <p:cNvPr id="72" name="Freeform 6"/>
            <p:cNvSpPr>
              <a:spLocks/>
            </p:cNvSpPr>
            <p:nvPr/>
          </p:nvSpPr>
          <p:spPr bwMode="auto">
            <a:xfrm>
              <a:off x="1259206" y="4208781"/>
              <a:ext cx="1138806" cy="367470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433" y="0"/>
                </a:cxn>
                <a:cxn ang="0">
                  <a:pos x="657" y="193"/>
                </a:cxn>
                <a:cxn ang="0">
                  <a:pos x="0" y="35"/>
                </a:cxn>
              </a:cxnLst>
              <a:rect l="0" t="0" r="r" b="b"/>
              <a:pathLst>
                <a:path w="657" h="193">
                  <a:moveTo>
                    <a:pt x="0" y="35"/>
                  </a:moveTo>
                  <a:lnTo>
                    <a:pt x="433" y="0"/>
                  </a:lnTo>
                  <a:lnTo>
                    <a:pt x="657" y="193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7"/>
            <p:cNvSpPr>
              <a:spLocks/>
            </p:cNvSpPr>
            <p:nvPr/>
          </p:nvSpPr>
          <p:spPr bwMode="auto">
            <a:xfrm>
              <a:off x="1265879" y="3815606"/>
              <a:ext cx="1728788" cy="485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9" y="176"/>
                </a:cxn>
                <a:cxn ang="0">
                  <a:pos x="9" y="265"/>
                </a:cxn>
                <a:cxn ang="0">
                  <a:pos x="0" y="0"/>
                </a:cxn>
              </a:cxnLst>
              <a:rect l="0" t="0" r="r" b="b"/>
              <a:pathLst>
                <a:path w="1089" h="265">
                  <a:moveTo>
                    <a:pt x="0" y="0"/>
                  </a:moveTo>
                  <a:lnTo>
                    <a:pt x="1089" y="176"/>
                  </a:lnTo>
                  <a:lnTo>
                    <a:pt x="9" y="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8"/>
            <p:cNvSpPr>
              <a:spLocks/>
            </p:cNvSpPr>
            <p:nvPr/>
          </p:nvSpPr>
          <p:spPr bwMode="auto">
            <a:xfrm>
              <a:off x="914400" y="1122362"/>
              <a:ext cx="2062163" cy="3013075"/>
            </a:xfrm>
            <a:custGeom>
              <a:avLst/>
              <a:gdLst/>
              <a:ahLst/>
              <a:cxnLst>
                <a:cxn ang="0">
                  <a:pos x="1299" y="1898"/>
                </a:cxn>
                <a:cxn ang="0">
                  <a:pos x="0" y="1689"/>
                </a:cxn>
                <a:cxn ang="0">
                  <a:pos x="0" y="0"/>
                </a:cxn>
                <a:cxn ang="0">
                  <a:pos x="1299" y="0"/>
                </a:cxn>
                <a:cxn ang="0">
                  <a:pos x="1299" y="1898"/>
                </a:cxn>
              </a:cxnLst>
              <a:rect l="0" t="0" r="r" b="b"/>
              <a:pathLst>
                <a:path w="1299" h="1898">
                  <a:moveTo>
                    <a:pt x="1299" y="1898"/>
                  </a:moveTo>
                  <a:lnTo>
                    <a:pt x="0" y="1689"/>
                  </a:lnTo>
                  <a:lnTo>
                    <a:pt x="0" y="0"/>
                  </a:lnTo>
                  <a:lnTo>
                    <a:pt x="1299" y="0"/>
                  </a:lnTo>
                  <a:lnTo>
                    <a:pt x="1299" y="189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5" name="ZoneTexte 74"/>
          <p:cNvSpPr txBox="1"/>
          <p:nvPr/>
        </p:nvSpPr>
        <p:spPr>
          <a:xfrm rot="20130558">
            <a:off x="5148538" y="1595498"/>
            <a:ext cx="25206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400" b="1" dirty="0">
                <a:solidFill>
                  <a:schemeClr val="bg1"/>
                </a:solidFill>
              </a:rPr>
              <a:t>أردت كتابة بحث كامل في الحاسوب </a:t>
            </a:r>
            <a:r>
              <a:rPr lang="ar-DZ" sz="2400" b="1" dirty="0" smtClean="0">
                <a:solidFill>
                  <a:schemeClr val="bg1"/>
                </a:solidFill>
              </a:rPr>
              <a:t>و يحتوي </a:t>
            </a:r>
            <a:r>
              <a:rPr lang="ar-DZ" sz="2400" b="1" dirty="0">
                <a:solidFill>
                  <a:schemeClr val="bg1"/>
                </a:solidFill>
              </a:rPr>
              <a:t>على </a:t>
            </a:r>
            <a:r>
              <a:rPr lang="ar-DZ" sz="2400" b="1" dirty="0" smtClean="0">
                <a:solidFill>
                  <a:schemeClr val="bg1"/>
                </a:solidFill>
              </a:rPr>
              <a:t>الجداول </a:t>
            </a:r>
            <a:r>
              <a:rPr lang="ar-DZ" sz="2400" b="1" dirty="0">
                <a:solidFill>
                  <a:schemeClr val="bg1"/>
                </a:solidFill>
              </a:rPr>
              <a:t>والأشكال </a:t>
            </a:r>
            <a:r>
              <a:rPr lang="ar-DZ" sz="2400" b="1" dirty="0" smtClean="0">
                <a:solidFill>
                  <a:schemeClr val="bg1"/>
                </a:solidFill>
              </a:rPr>
              <a:t>والصور. </a:t>
            </a:r>
            <a:endParaRPr lang="fr-FR" sz="2400" dirty="0">
              <a:solidFill>
                <a:schemeClr val="bg1"/>
              </a:solidFill>
            </a:endParaRPr>
          </a:p>
        </p:txBody>
      </p:sp>
      <p:pic>
        <p:nvPicPr>
          <p:cNvPr id="76" name="Image 75" descr="Person-question-2-151x300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108520" y="2204864"/>
            <a:ext cx="1438275" cy="3289548"/>
          </a:xfrm>
          <a:prstGeom prst="rect">
            <a:avLst/>
          </a:prstGeom>
        </p:spPr>
      </p:pic>
      <p:sp>
        <p:nvSpPr>
          <p:cNvPr id="77" name="Pensées 76"/>
          <p:cNvSpPr/>
          <p:nvPr/>
        </p:nvSpPr>
        <p:spPr>
          <a:xfrm>
            <a:off x="827584" y="980728"/>
            <a:ext cx="3672408" cy="1800200"/>
          </a:xfrm>
          <a:prstGeom prst="cloudCallout">
            <a:avLst>
              <a:gd name="adj1" fmla="val -49179"/>
              <a:gd name="adj2" fmla="val 74222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ZoneTexte 77"/>
          <p:cNvSpPr txBox="1"/>
          <p:nvPr/>
        </p:nvSpPr>
        <p:spPr>
          <a:xfrm>
            <a:off x="971600" y="1568986"/>
            <a:ext cx="3528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accent6">
                    <a:lumMod val="75000"/>
                  </a:schemeClr>
                </a:solidFill>
              </a:rPr>
              <a:t>ماهو البرنامج الذي يساعدك  لكتابة بحثك؟</a:t>
            </a:r>
            <a:endParaRPr lang="fr-FR" sz="2000" b="1" dirty="0">
              <a:ln w="1905"/>
              <a:solidFill>
                <a:schemeClr val="accent6">
                  <a:lumMod val="75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84" name="Picture 4" descr="C:\Users\RIDHA\Pictures\Image13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23728" y="4149080"/>
            <a:ext cx="1224136" cy="2220466"/>
          </a:xfrm>
          <a:prstGeom prst="rect">
            <a:avLst/>
          </a:prstGeom>
          <a:noFill/>
        </p:spPr>
      </p:pic>
      <p:grpSp>
        <p:nvGrpSpPr>
          <p:cNvPr id="85" name="Groupe 84"/>
          <p:cNvGrpSpPr/>
          <p:nvPr/>
        </p:nvGrpSpPr>
        <p:grpSpPr>
          <a:xfrm>
            <a:off x="2627784" y="3717032"/>
            <a:ext cx="2160240" cy="648072"/>
            <a:chOff x="3563888" y="1268760"/>
            <a:chExt cx="2664296" cy="936104"/>
          </a:xfrm>
        </p:grpSpPr>
        <p:sp>
          <p:nvSpPr>
            <p:cNvPr id="86" name="Pensées 85"/>
            <p:cNvSpPr/>
            <p:nvPr/>
          </p:nvSpPr>
          <p:spPr>
            <a:xfrm>
              <a:off x="3563888" y="1268760"/>
              <a:ext cx="2664296" cy="936104"/>
            </a:xfrm>
            <a:prstGeom prst="cloudCallout">
              <a:avLst>
                <a:gd name="adj1" fmla="val -25273"/>
                <a:gd name="adj2" fmla="val 9506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87" name="ZoneTexte 86"/>
            <p:cNvSpPr txBox="1"/>
            <p:nvPr/>
          </p:nvSpPr>
          <p:spPr>
            <a:xfrm>
              <a:off x="3779913" y="1484784"/>
              <a:ext cx="2304256" cy="577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000" b="1" dirty="0" smtClean="0"/>
                <a:t>الإجابة برفع الإصبع</a:t>
              </a:r>
            </a:p>
          </p:txBody>
        </p:sp>
      </p:grp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90" name="Groupe 89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82" name="Groupe 8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52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54" name="Rectangle 53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55" name="Groupe 15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57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58" name="Rectangle 57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56" name="Rectangle 55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49" name="Image 48" descr="3-2-blogging-transparent-thumb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50" name="Image 49" descr="12-2-education-png-image-thumb.png"/>
                <p:cNvPicPr>
                  <a:picLocks noChangeAspect="1"/>
                </p:cNvPicPr>
                <p:nvPr/>
              </p:nvPicPr>
              <p:blipFill>
                <a:blip r:embed="rId7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79" name="ZoneTexte 78"/>
                <p:cNvSpPr txBox="1"/>
                <p:nvPr/>
              </p:nvSpPr>
              <p:spPr>
                <a:xfrm>
                  <a:off x="5796136" y="6428655"/>
                  <a:ext cx="2664296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0" name="ZoneTexte 79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1" name="ZoneTexte 80"/>
                <p:cNvSpPr txBox="1"/>
                <p:nvPr/>
              </p:nvSpPr>
              <p:spPr>
                <a:xfrm>
                  <a:off x="2915816" y="6428655"/>
                  <a:ext cx="208823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المستوى:أولى متوسط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83" name="Image 82" descr="3d print business.pn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716016" y="6309320"/>
                <a:ext cx="1440160" cy="620688"/>
              </a:xfrm>
              <a:prstGeom prst="rect">
                <a:avLst/>
              </a:prstGeom>
            </p:spPr>
          </p:pic>
          <p:pic>
            <p:nvPicPr>
              <p:cNvPr id="88" name="Image 87" descr="Microsoft_Word_2013_logo.svg.pn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34" name="ZoneTexte 33"/>
            <p:cNvSpPr txBox="1"/>
            <p:nvPr/>
          </p:nvSpPr>
          <p:spPr>
            <a:xfrm>
              <a:off x="6948264" y="44624"/>
              <a:ext cx="212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المستوى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35" name="ZoneTexte 34"/>
            <p:cNvSpPr txBox="1"/>
            <p:nvPr/>
          </p:nvSpPr>
          <p:spPr>
            <a:xfrm>
              <a:off x="2915816" y="44624"/>
              <a:ext cx="20882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الأول المتوسط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5" dur="2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7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8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600"/>
                            </p:stCondLst>
                            <p:childTnLst>
                              <p:par>
                                <p:cTn id="2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1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600"/>
                            </p:stCondLst>
                            <p:childTnLst>
                              <p:par>
                                <p:cTn id="2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600"/>
                            </p:stCondLst>
                            <p:childTnLst>
                              <p:par>
                                <p:cTn id="3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1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77" grpId="0" animBg="1"/>
      <p:bldP spid="7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RIDHA\Downloads\صور المعلوماتية\1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40769"/>
            <a:ext cx="9144000" cy="5616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2072138" y="1988840"/>
            <a:ext cx="4948133" cy="32403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6" name="Picture 6" descr="G:\Bibliotaque video\desigin\3D man\Vector.Character.Plarinum.Bundle.eps-ai-psd-png_2\Vector.Character.Plarinum.Bundle.eps-ai-psd-png\malepack2\Young_Businessman_Vector_Characte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45" y="2348880"/>
            <a:ext cx="2461483" cy="4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ZoneTexte 26"/>
          <p:cNvSpPr txBox="1"/>
          <p:nvPr/>
        </p:nvSpPr>
        <p:spPr>
          <a:xfrm>
            <a:off x="2195736" y="2348880"/>
            <a:ext cx="47191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800" b="1" dirty="0" smtClean="0">
                <a:solidFill>
                  <a:srgbClr val="FFFF00"/>
                </a:solidFill>
              </a:rPr>
              <a:t>المجال المفاهيمي:</a:t>
            </a:r>
            <a:r>
              <a:rPr lang="ar-DZ" sz="2800" b="1" dirty="0">
                <a:solidFill>
                  <a:srgbClr val="FFFF00"/>
                </a:solidFill>
              </a:rPr>
              <a:t> </a:t>
            </a:r>
            <a:r>
              <a:rPr lang="ar-DZ" sz="2800" b="1" dirty="0" smtClean="0">
                <a:solidFill>
                  <a:schemeClr val="bg1"/>
                </a:solidFill>
              </a:rPr>
              <a:t>معالج النصوص</a:t>
            </a:r>
            <a:endParaRPr lang="fr-FR" sz="2800" b="1" dirty="0">
              <a:solidFill>
                <a:srgbClr val="FF0000"/>
              </a:solidFill>
            </a:endParaRPr>
          </a:p>
        </p:txBody>
      </p:sp>
      <p:sp>
        <p:nvSpPr>
          <p:cNvPr id="28" name="ZoneTexte 27"/>
          <p:cNvSpPr txBox="1"/>
          <p:nvPr/>
        </p:nvSpPr>
        <p:spPr>
          <a:xfrm>
            <a:off x="2195736" y="3122965"/>
            <a:ext cx="47525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800" b="1" dirty="0" smtClean="0">
                <a:solidFill>
                  <a:srgbClr val="FFFF00"/>
                </a:solidFill>
              </a:rPr>
              <a:t>الوحدة المفاهمية: </a:t>
            </a:r>
            <a:r>
              <a:rPr lang="ar-DZ" sz="2800" b="1" dirty="0">
                <a:solidFill>
                  <a:schemeClr val="bg1"/>
                </a:solidFill>
              </a:rPr>
              <a:t>تقديم معالج النصوص </a:t>
            </a:r>
            <a:r>
              <a:rPr lang="fr-FR" sz="2800" b="1" dirty="0">
                <a:solidFill>
                  <a:schemeClr val="bg1"/>
                </a:solidFill>
              </a:rPr>
              <a:t>Ms-Word </a:t>
            </a:r>
            <a:endParaRPr lang="fr-FR" sz="2800" b="1" dirty="0">
              <a:solidFill>
                <a:srgbClr val="FF0000"/>
              </a:solidFill>
            </a:endParaRPr>
          </a:p>
        </p:txBody>
      </p:sp>
      <p:sp>
        <p:nvSpPr>
          <p:cNvPr id="29" name="ZoneTexte 28"/>
          <p:cNvSpPr txBox="1"/>
          <p:nvPr/>
        </p:nvSpPr>
        <p:spPr>
          <a:xfrm>
            <a:off x="2196645" y="4203085"/>
            <a:ext cx="47160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800" b="1" dirty="0" smtClean="0">
                <a:solidFill>
                  <a:srgbClr val="FFFF00"/>
                </a:solidFill>
              </a:rPr>
              <a:t>الحصة التعلمية: </a:t>
            </a:r>
            <a:r>
              <a:rPr lang="ar-DZ" sz="2800" b="1" dirty="0">
                <a:solidFill>
                  <a:schemeClr val="bg1"/>
                </a:solidFill>
              </a:rPr>
              <a:t>تقديم معالج النصوص </a:t>
            </a:r>
            <a:r>
              <a:rPr lang="fr-FR" sz="2800" b="1" dirty="0">
                <a:solidFill>
                  <a:schemeClr val="bg1"/>
                </a:solidFill>
              </a:rPr>
              <a:t>Ms-Word </a:t>
            </a:r>
            <a:endParaRPr lang="fr-FR" sz="2800" b="1" dirty="0">
              <a:solidFill>
                <a:srgbClr val="FF0000"/>
              </a:solidFill>
            </a:endParaRPr>
          </a:p>
        </p:txBody>
      </p: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4" name="Groupe 3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5" name="Groupe 8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5" name="Groupe 14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17" name="Rectangle 16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18" name="Groupe 17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20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21" name="Rectangle 20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19" name="Rectangle 18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10" name="Image 9" descr="3-2-blogging-transparent-thumb.png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11" name="Image 10" descr="12-2-education-png-image-thumb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12" name="ZoneTexte 11"/>
                <p:cNvSpPr txBox="1"/>
                <p:nvPr/>
              </p:nvSpPr>
              <p:spPr>
                <a:xfrm>
                  <a:off x="5796136" y="6428655"/>
                  <a:ext cx="2664296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ZoneTexte 12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" name="ZoneTexte 13"/>
                <p:cNvSpPr txBox="1"/>
                <p:nvPr/>
              </p:nvSpPr>
              <p:spPr>
                <a:xfrm>
                  <a:off x="2915816" y="6428655"/>
                  <a:ext cx="208823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المستوى:أولى متوسط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6" name="Image 5" descr="3d print business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716016" y="6264696"/>
                <a:ext cx="1440160" cy="620688"/>
              </a:xfrm>
              <a:prstGeom prst="rect">
                <a:avLst/>
              </a:prstGeom>
            </p:spPr>
          </p:pic>
          <p:pic>
            <p:nvPicPr>
              <p:cNvPr id="7" name="Image 6" descr="Microsoft_Word_2013_logo.svg.pn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30" name="ZoneTexte 29"/>
            <p:cNvSpPr txBox="1"/>
            <p:nvPr/>
          </p:nvSpPr>
          <p:spPr>
            <a:xfrm>
              <a:off x="6948264" y="44624"/>
              <a:ext cx="212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المستوى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31" name="ZoneTexte 30"/>
            <p:cNvSpPr txBox="1"/>
            <p:nvPr/>
          </p:nvSpPr>
          <p:spPr>
            <a:xfrm>
              <a:off x="2915816" y="44624"/>
              <a:ext cx="20882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الأول المتوسط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2" name="Rectangle 31"/>
          <p:cNvSpPr/>
          <p:nvPr/>
        </p:nvSpPr>
        <p:spPr>
          <a:xfrm>
            <a:off x="-16066" y="625050"/>
            <a:ext cx="9176132" cy="10283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33" name="Ellipse 32"/>
          <p:cNvSpPr/>
          <p:nvPr/>
        </p:nvSpPr>
        <p:spPr>
          <a:xfrm>
            <a:off x="1817586" y="606437"/>
            <a:ext cx="1098230" cy="1028388"/>
          </a:xfrm>
          <a:prstGeom prst="ellipse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9000" r="-39000"/>
            </a:stretch>
          </a:blipFill>
          <a:ln>
            <a:solidFill>
              <a:srgbClr val="FF0000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4" name="Ellipse 33"/>
          <p:cNvSpPr/>
          <p:nvPr/>
        </p:nvSpPr>
        <p:spPr>
          <a:xfrm>
            <a:off x="3651962" y="620688"/>
            <a:ext cx="1136062" cy="1028393"/>
          </a:xfrm>
          <a:prstGeom prst="ellipse">
            <a:avLst/>
          </a:prstGeom>
          <a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8000" r="-28000"/>
            </a:stretch>
          </a:blipFill>
          <a:ln>
            <a:solidFill>
              <a:srgbClr val="FF0000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5" name="Ellipse 34"/>
          <p:cNvSpPr/>
          <p:nvPr/>
        </p:nvSpPr>
        <p:spPr>
          <a:xfrm>
            <a:off x="5580111" y="625047"/>
            <a:ext cx="1152127" cy="1028390"/>
          </a:xfrm>
          <a:prstGeom prst="ellipse">
            <a:avLst/>
          </a:prstGeom>
          <a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FF0000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6" name="Ellipse 35"/>
          <p:cNvSpPr/>
          <p:nvPr/>
        </p:nvSpPr>
        <p:spPr>
          <a:xfrm>
            <a:off x="7380312" y="625047"/>
            <a:ext cx="1080120" cy="1028390"/>
          </a:xfrm>
          <a:prstGeom prst="ellipse">
            <a:avLst/>
          </a:prstGeom>
          <a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53000" b="-53000"/>
            </a:stretch>
          </a:blipFill>
          <a:ln>
            <a:solidFill>
              <a:srgbClr val="FF0000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37" name="ZoneTexte 36"/>
          <p:cNvSpPr txBox="1"/>
          <p:nvPr/>
        </p:nvSpPr>
        <p:spPr>
          <a:xfrm>
            <a:off x="8460431" y="816077"/>
            <a:ext cx="79208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b="1" dirty="0" smtClean="0">
                <a:solidFill>
                  <a:schemeClr val="bg1"/>
                </a:solidFill>
              </a:rPr>
              <a:t>أوفيس</a:t>
            </a:r>
          </a:p>
          <a:p>
            <a:r>
              <a:rPr lang="ar-SA" b="1" dirty="0" smtClean="0">
                <a:solidFill>
                  <a:schemeClr val="bg1"/>
                </a:solidFill>
              </a:rPr>
              <a:t>2003</a:t>
            </a:r>
            <a:endParaRPr lang="ar-SA" b="1" dirty="0">
              <a:solidFill>
                <a:schemeClr val="bg1"/>
              </a:solidFill>
            </a:endParaRPr>
          </a:p>
        </p:txBody>
      </p:sp>
      <p:sp>
        <p:nvSpPr>
          <p:cNvPr id="38" name="ZoneTexte 37"/>
          <p:cNvSpPr txBox="1"/>
          <p:nvPr/>
        </p:nvSpPr>
        <p:spPr>
          <a:xfrm>
            <a:off x="6732239" y="797466"/>
            <a:ext cx="79208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b="1" dirty="0" smtClean="0">
                <a:solidFill>
                  <a:schemeClr val="bg1"/>
                </a:solidFill>
              </a:rPr>
              <a:t>أوفيس</a:t>
            </a:r>
          </a:p>
          <a:p>
            <a:r>
              <a:rPr lang="ar-SA" b="1" dirty="0" smtClean="0">
                <a:solidFill>
                  <a:schemeClr val="bg1"/>
                </a:solidFill>
              </a:rPr>
              <a:t>2007</a:t>
            </a:r>
            <a:endParaRPr lang="ar-SA" b="1" dirty="0">
              <a:solidFill>
                <a:schemeClr val="bg1"/>
              </a:solidFill>
            </a:endParaRPr>
          </a:p>
        </p:txBody>
      </p:sp>
      <p:sp>
        <p:nvSpPr>
          <p:cNvPr id="39" name="ZoneTexte 38"/>
          <p:cNvSpPr txBox="1"/>
          <p:nvPr/>
        </p:nvSpPr>
        <p:spPr>
          <a:xfrm>
            <a:off x="4788024" y="816076"/>
            <a:ext cx="79208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b="1" dirty="0" smtClean="0">
                <a:solidFill>
                  <a:schemeClr val="bg1"/>
                </a:solidFill>
              </a:rPr>
              <a:t>أوفيس</a:t>
            </a:r>
          </a:p>
          <a:p>
            <a:r>
              <a:rPr lang="ar-SA" b="1" dirty="0" smtClean="0">
                <a:solidFill>
                  <a:schemeClr val="bg1"/>
                </a:solidFill>
              </a:rPr>
              <a:t>2010</a:t>
            </a:r>
            <a:endParaRPr lang="ar-SA" b="1" dirty="0">
              <a:solidFill>
                <a:schemeClr val="bg1"/>
              </a:solidFill>
            </a:endParaRPr>
          </a:p>
        </p:txBody>
      </p:sp>
      <p:sp>
        <p:nvSpPr>
          <p:cNvPr id="40" name="ZoneTexte 39"/>
          <p:cNvSpPr txBox="1"/>
          <p:nvPr/>
        </p:nvSpPr>
        <p:spPr>
          <a:xfrm>
            <a:off x="2915815" y="836911"/>
            <a:ext cx="79208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b="1" dirty="0" smtClean="0">
                <a:solidFill>
                  <a:schemeClr val="bg1"/>
                </a:solidFill>
              </a:rPr>
              <a:t>أوفيس</a:t>
            </a:r>
          </a:p>
          <a:p>
            <a:r>
              <a:rPr lang="ar-SA" b="1" dirty="0" smtClean="0">
                <a:solidFill>
                  <a:schemeClr val="bg1"/>
                </a:solidFill>
              </a:rPr>
              <a:t>2013</a:t>
            </a:r>
            <a:endParaRPr lang="ar-SA" b="1" dirty="0">
              <a:solidFill>
                <a:schemeClr val="bg1"/>
              </a:solidFill>
            </a:endParaRPr>
          </a:p>
        </p:txBody>
      </p:sp>
      <p:sp>
        <p:nvSpPr>
          <p:cNvPr id="41" name="ZoneTexte 40"/>
          <p:cNvSpPr txBox="1"/>
          <p:nvPr/>
        </p:nvSpPr>
        <p:spPr>
          <a:xfrm>
            <a:off x="1031286" y="836911"/>
            <a:ext cx="79208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b="1" dirty="0" smtClean="0">
                <a:solidFill>
                  <a:schemeClr val="bg1"/>
                </a:solidFill>
              </a:rPr>
              <a:t>أوفيس</a:t>
            </a:r>
          </a:p>
          <a:p>
            <a:r>
              <a:rPr lang="ar-SA" b="1" dirty="0" smtClean="0">
                <a:solidFill>
                  <a:schemeClr val="bg1"/>
                </a:solidFill>
              </a:rPr>
              <a:t>2016</a:t>
            </a:r>
            <a:endParaRPr lang="ar-SA" b="1" dirty="0">
              <a:solidFill>
                <a:schemeClr val="bg1"/>
              </a:solidFill>
            </a:endParaRPr>
          </a:p>
        </p:txBody>
      </p:sp>
      <p:sp>
        <p:nvSpPr>
          <p:cNvPr id="42" name="Ellipse 41"/>
          <p:cNvSpPr/>
          <p:nvPr/>
        </p:nvSpPr>
        <p:spPr>
          <a:xfrm>
            <a:off x="16381" y="645881"/>
            <a:ext cx="1027227" cy="988944"/>
          </a:xfrm>
          <a:prstGeom prst="ellipse">
            <a:avLst/>
          </a:prstGeom>
          <a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44000" r="-44000"/>
            </a:stretch>
          </a:blipFill>
          <a:ln>
            <a:solidFill>
              <a:srgbClr val="FF0000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 tmFilter="0,0; .5, 1; 1, 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40"/>
                            </p:stCondLst>
                            <p:childTnLst>
                              <p:par>
                                <p:cTn id="1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 tmFilter="0,0; .5, 1; 1, 1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860"/>
                            </p:stCondLst>
                            <p:childTnLst>
                              <p:par>
                                <p:cTn id="2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 tmFilter="0,0; .5, 1; 1, 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RIDHA\Downloads\صور المعلوماتية\1 (28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0689"/>
            <a:ext cx="9144000" cy="5616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6" descr="G:\Bibliotaque video\desigin\3D man\Vector.Character.Plarinum.Bundle.eps-ai-psd-png_2\Vector.Character.Plarinum.Bundle.eps-ai-psd-png\malepack2\Young_Businessman_Vector_Characte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015313" y="2053165"/>
            <a:ext cx="2073309" cy="4081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Shape 856"/>
          <p:cNvSpPr/>
          <p:nvPr/>
        </p:nvSpPr>
        <p:spPr>
          <a:xfrm>
            <a:off x="7032279" y="1943880"/>
            <a:ext cx="492050" cy="4961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2" name="Shape 859"/>
          <p:cNvSpPr/>
          <p:nvPr/>
        </p:nvSpPr>
        <p:spPr>
          <a:xfrm>
            <a:off x="4499992" y="1964926"/>
            <a:ext cx="2520280" cy="4320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solidFill>
            <a:schemeClr val="accent2"/>
          </a:solidFill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5" name="ZoneTexte 54"/>
          <p:cNvSpPr txBox="1"/>
          <p:nvPr/>
        </p:nvSpPr>
        <p:spPr>
          <a:xfrm>
            <a:off x="7020273" y="1988840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1-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57" name="ZoneTexte 56"/>
          <p:cNvSpPr txBox="1"/>
          <p:nvPr/>
        </p:nvSpPr>
        <p:spPr>
          <a:xfrm>
            <a:off x="4716016" y="1988840"/>
            <a:ext cx="2211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 مفهوم معالج النصوص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71" name="Shape 856"/>
          <p:cNvSpPr/>
          <p:nvPr/>
        </p:nvSpPr>
        <p:spPr>
          <a:xfrm>
            <a:off x="5736134" y="2705913"/>
            <a:ext cx="492050" cy="4961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72" name="Shape 859"/>
          <p:cNvSpPr/>
          <p:nvPr/>
        </p:nvSpPr>
        <p:spPr>
          <a:xfrm>
            <a:off x="3260935" y="2726959"/>
            <a:ext cx="2463193" cy="4320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73" name="ZoneTexte 72"/>
          <p:cNvSpPr txBox="1"/>
          <p:nvPr/>
        </p:nvSpPr>
        <p:spPr>
          <a:xfrm>
            <a:off x="5702466" y="2726959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2-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74" name="ZoneTexte 73"/>
          <p:cNvSpPr txBox="1"/>
          <p:nvPr/>
        </p:nvSpPr>
        <p:spPr>
          <a:xfrm>
            <a:off x="3563888" y="2770036"/>
            <a:ext cx="2088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تسغيل معالج النصوص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90" name="Shape 856"/>
          <p:cNvSpPr/>
          <p:nvPr/>
        </p:nvSpPr>
        <p:spPr>
          <a:xfrm>
            <a:off x="4454912" y="3356992"/>
            <a:ext cx="492050" cy="4961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1" name="Shape 859"/>
          <p:cNvSpPr/>
          <p:nvPr/>
        </p:nvSpPr>
        <p:spPr>
          <a:xfrm>
            <a:off x="1475656" y="3378038"/>
            <a:ext cx="2957007" cy="4320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2" name="ZoneTexte 91"/>
          <p:cNvSpPr txBox="1"/>
          <p:nvPr/>
        </p:nvSpPr>
        <p:spPr>
          <a:xfrm>
            <a:off x="4454326" y="3381046"/>
            <a:ext cx="4504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3-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93" name="ZoneTexte 92"/>
          <p:cNvSpPr txBox="1"/>
          <p:nvPr/>
        </p:nvSpPr>
        <p:spPr>
          <a:xfrm>
            <a:off x="1490578" y="3394006"/>
            <a:ext cx="28192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>
                <a:solidFill>
                  <a:schemeClr val="bg1"/>
                </a:solidFill>
              </a:rPr>
              <a:t>واجهة  معالج النصوص</a:t>
            </a:r>
            <a:endParaRPr lang="fr-FR" sz="2000" b="1" dirty="0">
              <a:solidFill>
                <a:schemeClr val="bg1"/>
              </a:solidFill>
            </a:endParaRPr>
          </a:p>
        </p:txBody>
      </p:sp>
      <p:grpSp>
        <p:nvGrpSpPr>
          <p:cNvPr id="12" name="Groupe 1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80" name="Groupe 79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75" name="Image 74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76" name="Image 75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77" name="ZoneTexte 76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78" name="ZoneTexte 77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79" name="ZoneTexte 78"/>
                  <p:cNvSpPr txBox="1"/>
                  <p:nvPr/>
                </p:nvSpPr>
                <p:spPr>
                  <a:xfrm>
                    <a:off x="2915816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المستوى:أولى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59" name="Image 58" descr="3d print business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4716016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60" name="ZoneTexte 59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1" name="ZoneTexte 60"/>
              <p:cNvSpPr txBox="1"/>
              <p:nvPr/>
            </p:nvSpPr>
            <p:spPr>
              <a:xfrm>
                <a:off x="2267744" y="44624"/>
                <a:ext cx="273630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تقديم معالج النصوص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62" name="Image 61" descr="Microsoft_Word_2013_logo.svg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7584" y="33236"/>
              <a:ext cx="792087" cy="587452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00"/>
                            </p:stCondLst>
                            <p:childTnLst>
                              <p:par>
                                <p:cTn id="2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600"/>
                            </p:stCondLst>
                            <p:childTnLst>
                              <p:par>
                                <p:cTn id="3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9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400"/>
                            </p:stCondLst>
                            <p:childTnLst>
                              <p:par>
                                <p:cTn id="4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7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200"/>
                            </p:stCondLst>
                            <p:childTnLst>
                              <p:par>
                                <p:cTn id="5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0"/>
                            </p:stCondLst>
                            <p:childTnLst>
                              <p:par>
                                <p:cTn id="6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3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 animBg="1"/>
      <p:bldP spid="55" grpId="0"/>
      <p:bldP spid="57" grpId="0"/>
      <p:bldP spid="71" grpId="0" animBg="1"/>
      <p:bldP spid="72" grpId="0" animBg="1"/>
      <p:bldP spid="73" grpId="0"/>
      <p:bldP spid="74" grpId="0"/>
      <p:bldP spid="90" grpId="0" animBg="1"/>
      <p:bldP spid="91" grpId="0" animBg="1"/>
      <p:bldP spid="92" grpId="0"/>
      <p:bldP spid="9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pic>
        <p:nvPicPr>
          <p:cNvPr id="5" name="Image 4" descr="Person-question-2-151x300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08520" y="2204864"/>
            <a:ext cx="1438275" cy="3289548"/>
          </a:xfrm>
          <a:prstGeom prst="rect">
            <a:avLst/>
          </a:prstGeom>
        </p:spPr>
      </p:pic>
      <p:sp>
        <p:nvSpPr>
          <p:cNvPr id="6" name="Pensées 5"/>
          <p:cNvSpPr/>
          <p:nvPr/>
        </p:nvSpPr>
        <p:spPr>
          <a:xfrm>
            <a:off x="827584" y="980728"/>
            <a:ext cx="5112568" cy="1800200"/>
          </a:xfrm>
          <a:prstGeom prst="cloudCallout">
            <a:avLst>
              <a:gd name="adj1" fmla="val -49179"/>
              <a:gd name="adj2" fmla="val 74222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ZoneTexte 25"/>
          <p:cNvSpPr txBox="1"/>
          <p:nvPr/>
        </p:nvSpPr>
        <p:spPr>
          <a:xfrm>
            <a:off x="969716" y="1496978"/>
            <a:ext cx="46824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chemeClr val="accent6">
                    <a:lumMod val="75000"/>
                  </a:schemeClr>
                </a:solidFill>
              </a:rPr>
              <a:t>ماذا نعني ببرنامج معالج النصوص </a:t>
            </a:r>
            <a:r>
              <a:rPr lang="fr-FR" sz="2800" b="1" dirty="0" smtClean="0">
                <a:solidFill>
                  <a:schemeClr val="accent6">
                    <a:lumMod val="75000"/>
                  </a:schemeClr>
                </a:solidFill>
              </a:rPr>
              <a:t>Ms-Word</a:t>
            </a:r>
            <a:r>
              <a:rPr lang="ar-DZ" sz="2800" b="1" dirty="0" smtClean="0">
                <a:solidFill>
                  <a:schemeClr val="accent6">
                    <a:lumMod val="75000"/>
                  </a:schemeClr>
                </a:solidFill>
              </a:rPr>
              <a:t>؟</a:t>
            </a:r>
            <a:endParaRPr lang="fr-FR" sz="2800" b="1" dirty="0">
              <a:ln w="1905"/>
              <a:solidFill>
                <a:schemeClr val="accent6">
                  <a:lumMod val="75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27" name="Picture 4" descr="C:\Users\RIDHA\Pictures\Image13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67944" y="3655643"/>
            <a:ext cx="1584176" cy="2713903"/>
          </a:xfrm>
          <a:prstGeom prst="rect">
            <a:avLst/>
          </a:prstGeom>
          <a:noFill/>
        </p:spPr>
      </p:pic>
      <p:grpSp>
        <p:nvGrpSpPr>
          <p:cNvPr id="28" name="Groupe 27"/>
          <p:cNvGrpSpPr/>
          <p:nvPr/>
        </p:nvGrpSpPr>
        <p:grpSpPr>
          <a:xfrm>
            <a:off x="5004048" y="2996952"/>
            <a:ext cx="2160240" cy="792088"/>
            <a:chOff x="3563888" y="1268760"/>
            <a:chExt cx="2664296" cy="936104"/>
          </a:xfrm>
        </p:grpSpPr>
        <p:sp>
          <p:nvSpPr>
            <p:cNvPr id="29" name="Pensées 28"/>
            <p:cNvSpPr/>
            <p:nvPr/>
          </p:nvSpPr>
          <p:spPr>
            <a:xfrm>
              <a:off x="3563888" y="1268760"/>
              <a:ext cx="2664296" cy="936104"/>
            </a:xfrm>
            <a:prstGeom prst="cloudCallout">
              <a:avLst>
                <a:gd name="adj1" fmla="val -31591"/>
                <a:gd name="adj2" fmla="val 110567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30" name="ZoneTexte 29"/>
            <p:cNvSpPr txBox="1"/>
            <p:nvPr/>
          </p:nvSpPr>
          <p:spPr>
            <a:xfrm>
              <a:off x="3779913" y="1484784"/>
              <a:ext cx="2304256" cy="577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000" b="1" dirty="0" smtClean="0"/>
                <a:t>الإجابة برفع الإصبع</a:t>
              </a:r>
            </a:p>
          </p:txBody>
        </p:sp>
      </p:grpSp>
      <p:grpSp>
        <p:nvGrpSpPr>
          <p:cNvPr id="13" name="Groupe 12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" name="Groupe 1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8" name="Groupe 7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9" name="Groupe 81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9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21" name="Rectangle 20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22" name="Groupe 21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24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25" name="Rectangle 24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23" name="Rectangle 22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4" name="Image 13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5" name="Image 14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6" name="ZoneTexte 15"/>
                  <p:cNvSpPr txBox="1"/>
                  <p:nvPr/>
                </p:nvSpPr>
                <p:spPr>
                  <a:xfrm>
                    <a:off x="5796136" y="6428655"/>
                    <a:ext cx="2664296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ZoneTexte 16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8" name="ZoneTexte 17"/>
                  <p:cNvSpPr txBox="1"/>
                  <p:nvPr/>
                </p:nvSpPr>
                <p:spPr>
                  <a:xfrm>
                    <a:off x="2915816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المستوى:أولى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10" name="Image 9" descr="3d print business.png"/>
                <p:cNvPicPr>
                  <a:picLocks noChangeAspect="1"/>
                </p:cNvPicPr>
                <p:nvPr/>
              </p:nvPicPr>
              <p:blipFill>
                <a:blip r:embed="rId7" cstate="print"/>
                <a:stretch>
                  <a:fillRect/>
                </a:stretch>
              </p:blipFill>
              <p:spPr>
                <a:xfrm>
                  <a:off x="4716016" y="6237312"/>
                  <a:ext cx="1440160" cy="620688"/>
                </a:xfrm>
                <a:prstGeom prst="rect">
                  <a:avLst/>
                </a:prstGeom>
              </p:spPr>
            </p:pic>
            <p:pic>
              <p:nvPicPr>
                <p:cNvPr id="11" name="Image 10" descr="Microsoft_Word_2013_logo.svg.png"/>
                <p:cNvPicPr>
                  <a:picLocks noChangeAspect="1"/>
                </p:cNvPicPr>
                <p:nvPr/>
              </p:nvPicPr>
              <p:blipFill>
                <a:blip r:embed="rId8" cstate="print"/>
                <a:stretch>
                  <a:fillRect/>
                </a:stretch>
              </p:blipFill>
              <p:spPr>
                <a:xfrm>
                  <a:off x="827584" y="33236"/>
                  <a:ext cx="792087" cy="587452"/>
                </a:xfrm>
                <a:prstGeom prst="rect">
                  <a:avLst/>
                </a:prstGeom>
              </p:spPr>
            </p:pic>
          </p:grpSp>
          <p:sp>
            <p:nvSpPr>
              <p:cNvPr id="31" name="ZoneTexte 30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3" name="ZoneTexte 32"/>
            <p:cNvSpPr txBox="1"/>
            <p:nvPr/>
          </p:nvSpPr>
          <p:spPr>
            <a:xfrm>
              <a:off x="2267744" y="44624"/>
              <a:ext cx="27363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تقديم معالج النصوص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" descr="C:\Users\RIDHA\Downloads\صور المعلوماتية\711039_colorful-square-frames-on-blue-hd-video-backgrounds-loop-youtube_1920x1080_h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2012"/>
            <a:ext cx="9144000" cy="569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Shape 856"/>
          <p:cNvSpPr/>
          <p:nvPr/>
        </p:nvSpPr>
        <p:spPr>
          <a:xfrm>
            <a:off x="8316416" y="725794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8" name="Shape 859"/>
          <p:cNvSpPr/>
          <p:nvPr/>
        </p:nvSpPr>
        <p:spPr>
          <a:xfrm>
            <a:off x="3491880" y="753426"/>
            <a:ext cx="4773097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9" name="ZoneTexte 58"/>
          <p:cNvSpPr txBox="1"/>
          <p:nvPr/>
        </p:nvSpPr>
        <p:spPr>
          <a:xfrm>
            <a:off x="8316416" y="725794"/>
            <a:ext cx="537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1</a:t>
            </a:r>
            <a:r>
              <a:rPr lang="fr-FR" sz="2800" b="1" dirty="0" smtClean="0">
                <a:solidFill>
                  <a:srgbClr val="FFFF00"/>
                </a:solidFill>
              </a:rPr>
              <a:t>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60" name="ZoneTexte 59"/>
          <p:cNvSpPr txBox="1"/>
          <p:nvPr/>
        </p:nvSpPr>
        <p:spPr>
          <a:xfrm>
            <a:off x="4031940" y="764704"/>
            <a:ext cx="39964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rtl="1"/>
            <a:r>
              <a:rPr lang="ar-DZ" sz="2400" b="1" dirty="0" smtClean="0">
                <a:solidFill>
                  <a:srgbClr val="FFFF00"/>
                </a:solidFill>
              </a:rPr>
              <a:t> مفهوم معالج النصوص</a:t>
            </a:r>
            <a:r>
              <a:rPr lang="ar-DZ" sz="2400" b="1" dirty="0">
                <a:solidFill>
                  <a:srgbClr val="FFFF00"/>
                </a:solidFill>
              </a:rPr>
              <a:t> </a:t>
            </a:r>
            <a:r>
              <a:rPr lang="fr-FR" sz="2400" b="1" dirty="0" smtClean="0">
                <a:solidFill>
                  <a:srgbClr val="FFFF00"/>
                </a:solidFill>
              </a:rPr>
              <a:t>Ms-Word</a:t>
            </a:r>
            <a:r>
              <a:rPr lang="ar-DZ" sz="2400" b="1" dirty="0" smtClean="0">
                <a:solidFill>
                  <a:srgbClr val="FFFF00"/>
                </a:solidFill>
              </a:rPr>
              <a:t>:  </a:t>
            </a:r>
            <a:endParaRPr lang="en-US" sz="2400" b="1" dirty="0" smtClean="0">
              <a:solidFill>
                <a:srgbClr val="FFFF00"/>
              </a:solidFill>
            </a:endParaRPr>
          </a:p>
        </p:txBody>
      </p:sp>
      <p:sp>
        <p:nvSpPr>
          <p:cNvPr id="4" name="Rectangle à coins arrondis 3"/>
          <p:cNvSpPr/>
          <p:nvPr/>
        </p:nvSpPr>
        <p:spPr>
          <a:xfrm flipH="1" flipV="1">
            <a:off x="395536" y="1628800"/>
            <a:ext cx="7950606" cy="1008112"/>
          </a:xfrm>
          <a:prstGeom prst="wedgeRoundRectCallout">
            <a:avLst>
              <a:gd name="adj1" fmla="val -19782"/>
              <a:gd name="adj2" fmla="val 86869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/>
          <p:nvPr/>
        </p:nvSpPr>
        <p:spPr>
          <a:xfrm>
            <a:off x="539552" y="1700808"/>
            <a:ext cx="77768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rtl="1"/>
            <a:r>
              <a:rPr lang="ar-DZ" sz="2400" b="1" dirty="0">
                <a:solidFill>
                  <a:schemeClr val="bg1"/>
                </a:solidFill>
              </a:rPr>
              <a:t>هو برنامج يستعمل لكتابة النصوص بمختلف اللغات وإدراج الجداول والأشكال والصور، وتنسيقها من حيث الحجم واللون ونوع الخط...الخ.</a:t>
            </a:r>
            <a:endParaRPr lang="fr-FR" sz="24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3" name="Nuage 12"/>
          <p:cNvSpPr/>
          <p:nvPr/>
        </p:nvSpPr>
        <p:spPr>
          <a:xfrm rot="152138">
            <a:off x="100061" y="2781676"/>
            <a:ext cx="9013227" cy="3615407"/>
          </a:xfrm>
          <a:prstGeom prst="cloud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4" name="Groupe 1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12" name="Groupe 11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2" name="Groupe 1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96" name="Groupe 195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5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7" name="Rectangle 6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8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10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11" name="Rectangle 10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9" name="Rectangle 8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32" name="Image 31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3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3" name="Image 32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4" name="ZoneTexte 33"/>
                    <p:cNvSpPr txBox="1"/>
                    <p:nvPr/>
                  </p:nvSpPr>
                  <p:spPr>
                    <a:xfrm>
                      <a:off x="5652120" y="6428655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5" name="ZoneTexte 34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6" name="ZoneTexte 35"/>
                    <p:cNvSpPr txBox="1"/>
                    <p:nvPr/>
                  </p:nvSpPr>
                  <p:spPr>
                    <a:xfrm>
                      <a:off x="2915816" y="6428655"/>
                      <a:ext cx="208823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المستوى:أولى متوسط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52" name="Image 51" descr="3d print business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4716016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54" name="ZoneTexte 53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57" name="Image 56" descr="Microsoft_Word_2013_logo.svg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37" name="ZoneTexte 36"/>
            <p:cNvSpPr txBox="1"/>
            <p:nvPr/>
          </p:nvSpPr>
          <p:spPr>
            <a:xfrm>
              <a:off x="2267744" y="44624"/>
              <a:ext cx="27363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تقديم معالج النصوص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38" name="Image 37" descr="Microsoft_Word_2013_logo.svg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55576" y="3783346"/>
            <a:ext cx="1440160" cy="1373846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359826" y="5055567"/>
            <a:ext cx="306004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fr-FR" sz="2200" b="1" dirty="0" smtClean="0">
                <a:solidFill>
                  <a:schemeClr val="tx2"/>
                </a:solidFill>
              </a:rPr>
              <a:t>Microsoft Office Word</a:t>
            </a:r>
            <a:endParaRPr lang="fr-FR" sz="2200" dirty="0">
              <a:solidFill>
                <a:schemeClr val="tx2"/>
              </a:solidFill>
              <a:latin typeface="Times New Roman"/>
              <a:ea typeface="Times New Roman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3050656"/>
            <a:ext cx="4536504" cy="2839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8" grpId="0" animBg="1"/>
      <p:bldP spid="59" grpId="0"/>
      <p:bldP spid="60" grpId="0"/>
      <p:bldP spid="15" grpId="0"/>
      <p:bldP spid="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3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pic>
        <p:nvPicPr>
          <p:cNvPr id="4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18541" y="2276872"/>
            <a:ext cx="1407586" cy="3997796"/>
          </a:xfrm>
          <a:prstGeom prst="rect">
            <a:avLst/>
          </a:prstGeom>
          <a:noFill/>
        </p:spPr>
      </p:pic>
      <p:sp>
        <p:nvSpPr>
          <p:cNvPr id="42" name="Pensées 41"/>
          <p:cNvSpPr/>
          <p:nvPr/>
        </p:nvSpPr>
        <p:spPr>
          <a:xfrm>
            <a:off x="2555776" y="695984"/>
            <a:ext cx="4032448" cy="1152128"/>
          </a:xfrm>
          <a:prstGeom prst="cloudCallout">
            <a:avLst>
              <a:gd name="adj1" fmla="val 3960"/>
              <a:gd name="adj2" fmla="val 173487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43" name="ZoneTexte 42"/>
          <p:cNvSpPr txBox="1"/>
          <p:nvPr/>
        </p:nvSpPr>
        <p:spPr>
          <a:xfrm>
            <a:off x="2987824" y="918105"/>
            <a:ext cx="3240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كيف يمكن تشغيل  معالج النصوص </a:t>
            </a:r>
            <a:r>
              <a:rPr lang="fr-FR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Ms-Word</a:t>
            </a:r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؟</a:t>
            </a:r>
            <a:endParaRPr lang="fr-FR" sz="2000" b="1" dirty="0" smtClean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5" name="Groupe 4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4" name="Groupe 3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3" name="Groupe 2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9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21" name="Rectangle 20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22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24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25" name="Rectangle 24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23" name="Rectangle 22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27" name="Image 26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28" name="Image 27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29" name="ZoneTexte 28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0" name="ZoneTexte 29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1" name="ZoneTexte 30"/>
                  <p:cNvSpPr txBox="1"/>
                  <p:nvPr/>
                </p:nvSpPr>
                <p:spPr>
                  <a:xfrm>
                    <a:off x="2915816" y="6428655"/>
                    <a:ext cx="208823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المستوى:أولى متوسط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33" name="Image 32" descr="3d print business.png"/>
                  <p:cNvPicPr>
                    <a:picLocks noChangeAspect="1"/>
                  </p:cNvPicPr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4716016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34" name="ZoneTexte 33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36" name="Image 35" descr="Microsoft_Word_2013_logo.svg.pn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37" name="ZoneTexte 36"/>
            <p:cNvSpPr txBox="1"/>
            <p:nvPr/>
          </p:nvSpPr>
          <p:spPr>
            <a:xfrm>
              <a:off x="2267744" y="44624"/>
              <a:ext cx="27363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تقديم معالج النصوص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Picture 3" descr="C:\Users\RIDHA\Downloads\صور المعلوماتية\711039_colorful-square-frames-on-blue-hd-video-backgrounds-loop-youtube_1920x1080_h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2012"/>
            <a:ext cx="9144000" cy="569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9" name="Group 104"/>
          <p:cNvGrpSpPr/>
          <p:nvPr/>
        </p:nvGrpSpPr>
        <p:grpSpPr>
          <a:xfrm>
            <a:off x="5508104" y="3178639"/>
            <a:ext cx="2943551" cy="601828"/>
            <a:chOff x="1535342" y="1173645"/>
            <a:chExt cx="2824488" cy="1114425"/>
          </a:xfrm>
        </p:grpSpPr>
        <p:sp>
          <p:nvSpPr>
            <p:cNvPr id="76" name="Rectangle 75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Rectangle 77"/>
            <p:cNvSpPr/>
            <p:nvPr/>
          </p:nvSpPr>
          <p:spPr>
            <a:xfrm flipH="1">
              <a:off x="1535342" y="1373669"/>
              <a:ext cx="2049782" cy="9144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Rectangle 79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81" name="Group 118"/>
          <p:cNvGrpSpPr/>
          <p:nvPr/>
        </p:nvGrpSpPr>
        <p:grpSpPr>
          <a:xfrm>
            <a:off x="4283966" y="3933056"/>
            <a:ext cx="4176466" cy="584304"/>
            <a:chOff x="435556" y="2392845"/>
            <a:chExt cx="3924274" cy="1114425"/>
          </a:xfrm>
        </p:grpSpPr>
        <p:sp>
          <p:nvSpPr>
            <p:cNvPr id="83" name="Rectangle 82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5" name="Rectangle 84"/>
            <p:cNvSpPr/>
            <p:nvPr/>
          </p:nvSpPr>
          <p:spPr>
            <a:xfrm flipH="1">
              <a:off x="435556" y="2592870"/>
              <a:ext cx="3149571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Rectangle 93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96" name="Group 132"/>
          <p:cNvGrpSpPr/>
          <p:nvPr/>
        </p:nvGrpSpPr>
        <p:grpSpPr>
          <a:xfrm>
            <a:off x="5076055" y="4653136"/>
            <a:ext cx="3389544" cy="597868"/>
            <a:chOff x="1163168" y="3612045"/>
            <a:chExt cx="3196662" cy="1114425"/>
          </a:xfrm>
        </p:grpSpPr>
        <p:sp>
          <p:nvSpPr>
            <p:cNvPr id="97" name="Rectangle 96"/>
            <p:cNvSpPr/>
            <p:nvPr/>
          </p:nvSpPr>
          <p:spPr>
            <a:xfrm flipH="1">
              <a:off x="3947080" y="3812070"/>
              <a:ext cx="412750" cy="914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Freeform 134"/>
            <p:cNvSpPr/>
            <p:nvPr/>
          </p:nvSpPr>
          <p:spPr>
            <a:xfrm rot="5400000" flipH="1">
              <a:off x="3527344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Rectangle 98"/>
            <p:cNvSpPr/>
            <p:nvPr/>
          </p:nvSpPr>
          <p:spPr>
            <a:xfrm flipH="1">
              <a:off x="1163168" y="3812071"/>
              <a:ext cx="2421963" cy="9143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Freeform 136"/>
            <p:cNvSpPr/>
            <p:nvPr/>
          </p:nvSpPr>
          <p:spPr>
            <a:xfrm rot="16200000" flipH="1" flipV="1">
              <a:off x="2887581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Rectangle 100"/>
            <p:cNvSpPr/>
            <p:nvPr/>
          </p:nvSpPr>
          <p:spPr>
            <a:xfrm flipH="1">
              <a:off x="3306524" y="3612045"/>
              <a:ext cx="914400" cy="9144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03" name="Rectangle 102"/>
          <p:cNvSpPr/>
          <p:nvPr/>
        </p:nvSpPr>
        <p:spPr>
          <a:xfrm>
            <a:off x="7724743" y="3242923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7719478" y="3995772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05" name="Rectangle 104"/>
          <p:cNvSpPr/>
          <p:nvPr/>
        </p:nvSpPr>
        <p:spPr>
          <a:xfrm>
            <a:off x="7713916" y="4713749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06" name="Rectangle 105"/>
          <p:cNvSpPr/>
          <p:nvPr/>
        </p:nvSpPr>
        <p:spPr>
          <a:xfrm>
            <a:off x="4376410" y="4047455"/>
            <a:ext cx="29317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r-FR" sz="2400" b="1" dirty="0">
                <a:solidFill>
                  <a:schemeClr val="bg1"/>
                </a:solidFill>
              </a:rPr>
              <a:t>.</a:t>
            </a:r>
            <a:r>
              <a:rPr lang="fr-FR" sz="2400" b="1" dirty="0" smtClean="0">
                <a:solidFill>
                  <a:schemeClr val="bg1"/>
                </a:solidFill>
              </a:rPr>
              <a:t>Tous </a:t>
            </a:r>
            <a:r>
              <a:rPr lang="fr-FR" sz="2400" b="1" dirty="0">
                <a:solidFill>
                  <a:schemeClr val="bg1"/>
                </a:solidFill>
              </a:rPr>
              <a:t>les </a:t>
            </a:r>
            <a:r>
              <a:rPr lang="fr-FR" sz="2400" b="1" dirty="0" smtClean="0">
                <a:solidFill>
                  <a:schemeClr val="bg1"/>
                </a:solidFill>
              </a:rPr>
              <a:t>programmes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89" name="Shape 856"/>
          <p:cNvSpPr/>
          <p:nvPr/>
        </p:nvSpPr>
        <p:spPr>
          <a:xfrm>
            <a:off x="8274185" y="692696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0" name="Shape 859"/>
          <p:cNvSpPr/>
          <p:nvPr/>
        </p:nvSpPr>
        <p:spPr>
          <a:xfrm>
            <a:off x="3529727" y="720328"/>
            <a:ext cx="4693020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1" name="ZoneTexte 90"/>
          <p:cNvSpPr txBox="1"/>
          <p:nvPr/>
        </p:nvSpPr>
        <p:spPr>
          <a:xfrm>
            <a:off x="8274185" y="692696"/>
            <a:ext cx="546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2-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92" name="ZoneTexte 91"/>
          <p:cNvSpPr txBox="1"/>
          <p:nvPr/>
        </p:nvSpPr>
        <p:spPr>
          <a:xfrm>
            <a:off x="3749410" y="692696"/>
            <a:ext cx="420696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600" b="1" dirty="0" smtClean="0">
                <a:solidFill>
                  <a:srgbClr val="FFFF00"/>
                </a:solidFill>
              </a:rPr>
              <a:t>تشغيل معالج النصوص </a:t>
            </a:r>
            <a:r>
              <a:rPr lang="fr-FR" sz="2600" b="1" dirty="0" smtClean="0">
                <a:solidFill>
                  <a:srgbClr val="FFFF00"/>
                </a:solidFill>
              </a:rPr>
              <a:t>Ms-Word</a:t>
            </a:r>
            <a:endParaRPr lang="fr-FR" sz="2600" b="1" dirty="0">
              <a:solidFill>
                <a:srgbClr val="FFFF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95536" y="737192"/>
            <a:ext cx="31341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400" b="1" dirty="0">
                <a:ea typeface="Times New Roman"/>
                <a:cs typeface="Times New Roman"/>
              </a:rPr>
              <a:t>لتشغيله نتبع احدى الطريقتين:</a:t>
            </a:r>
            <a:endParaRPr lang="fr-FR" sz="2400" dirty="0"/>
          </a:p>
        </p:txBody>
      </p:sp>
      <p:sp>
        <p:nvSpPr>
          <p:cNvPr id="112" name="TextBox 68"/>
          <p:cNvSpPr txBox="1"/>
          <p:nvPr/>
        </p:nvSpPr>
        <p:spPr>
          <a:xfrm>
            <a:off x="5652119" y="3284984"/>
            <a:ext cx="1564693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algn="r" rtl="1">
              <a:spcBef>
                <a:spcPct val="20000"/>
              </a:spcBef>
              <a:defRPr/>
            </a:pPr>
            <a:r>
              <a:rPr lang="fr-FR" sz="2400" b="1" dirty="0" smtClean="0">
                <a:solidFill>
                  <a:schemeClr val="bg1"/>
                </a:solidFill>
              </a:rPr>
              <a:t>.Démarrer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196280" y="4787453"/>
            <a:ext cx="20976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fr-FR" sz="2000" b="1" dirty="0" smtClean="0">
                <a:solidFill>
                  <a:schemeClr val="bg1"/>
                </a:solidFill>
              </a:rPr>
              <a:t>,Microsoft Office</a:t>
            </a:r>
            <a:endParaRPr lang="fr-FR" sz="2000" dirty="0">
              <a:solidFill>
                <a:schemeClr val="bg1"/>
              </a:solidFill>
            </a:endParaRPr>
          </a:p>
        </p:txBody>
      </p:sp>
      <p:grpSp>
        <p:nvGrpSpPr>
          <p:cNvPr id="6" name="Groupe 5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5" name="Groupe 24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4" name="Groupe 23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3" name="Groupe 2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8" name="Groupe 17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5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7" name="Rectangle 6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8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10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11" name="Rectangle 10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9" name="Rectangle 8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13" name="Image 12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3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4" name="Image 13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5" name="ZoneTexte 14"/>
                    <p:cNvSpPr txBox="1"/>
                    <p:nvPr/>
                  </p:nvSpPr>
                  <p:spPr>
                    <a:xfrm>
                      <a:off x="5652120" y="6428655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6" name="ZoneTexte 15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7" name="ZoneTexte 16"/>
                    <p:cNvSpPr txBox="1"/>
                    <p:nvPr/>
                  </p:nvSpPr>
                  <p:spPr>
                    <a:xfrm>
                      <a:off x="2915816" y="6428655"/>
                      <a:ext cx="208823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المستوى:أولى متوسط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49" name="Image 48" descr="3d print business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4716016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50" name="ZoneTexte 49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53" name="Image 52" descr="Microsoft_Word_2013_logo.svg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52" name="ZoneTexte 51"/>
            <p:cNvSpPr txBox="1"/>
            <p:nvPr/>
          </p:nvSpPr>
          <p:spPr>
            <a:xfrm>
              <a:off x="2267744" y="44624"/>
              <a:ext cx="27363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تقديم معالج النصوص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4" name="Groupe 53"/>
          <p:cNvGrpSpPr/>
          <p:nvPr/>
        </p:nvGrpSpPr>
        <p:grpSpPr>
          <a:xfrm>
            <a:off x="6804248" y="1441263"/>
            <a:ext cx="1915058" cy="576064"/>
            <a:chOff x="6061658" y="2348880"/>
            <a:chExt cx="1915058" cy="576064"/>
          </a:xfrm>
        </p:grpSpPr>
        <p:grpSp>
          <p:nvGrpSpPr>
            <p:cNvPr id="55" name="Groupe 58"/>
            <p:cNvGrpSpPr/>
            <p:nvPr/>
          </p:nvGrpSpPr>
          <p:grpSpPr>
            <a:xfrm>
              <a:off x="6061658" y="2348880"/>
              <a:ext cx="1915058" cy="504056"/>
              <a:chOff x="6061658" y="2852936"/>
              <a:chExt cx="1915058" cy="576064"/>
            </a:xfrm>
          </p:grpSpPr>
          <p:sp>
            <p:nvSpPr>
              <p:cNvPr id="57" name="Notched Right Arrow 54"/>
              <p:cNvSpPr/>
              <p:nvPr/>
            </p:nvSpPr>
            <p:spPr>
              <a:xfrm flipH="1">
                <a:off x="6061658" y="3008511"/>
                <a:ext cx="1915058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9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60" name="Freeform 56"/>
                <p:cNvSpPr/>
                <p:nvPr/>
              </p:nvSpPr>
              <p:spPr>
                <a:xfrm>
                  <a:off x="1271589" y="1657350"/>
                  <a:ext cx="466716" cy="154781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" name="Rectangle 60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56" name="ZoneTexte 55"/>
            <p:cNvSpPr txBox="1"/>
            <p:nvPr/>
          </p:nvSpPr>
          <p:spPr>
            <a:xfrm>
              <a:off x="6313686" y="2494057"/>
              <a:ext cx="99461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200" b="1" dirty="0" smtClean="0">
                  <a:solidFill>
                    <a:srgbClr val="FFFF00"/>
                  </a:solidFill>
                </a:rPr>
                <a:t>طريقة</a:t>
              </a:r>
              <a:r>
                <a:rPr lang="ar-DZ" b="1" dirty="0" smtClean="0">
                  <a:solidFill>
                    <a:srgbClr val="FFFF00"/>
                  </a:solidFill>
                </a:rPr>
                <a:t>1</a:t>
              </a:r>
              <a:r>
                <a:rPr lang="ar-DZ" sz="2200" b="1" dirty="0" smtClean="0">
                  <a:solidFill>
                    <a:srgbClr val="FFFF00"/>
                  </a:solidFill>
                </a:rPr>
                <a:t>:</a:t>
              </a:r>
              <a:endParaRPr lang="fr-FR" sz="22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12" name="Pentagone 11"/>
          <p:cNvSpPr/>
          <p:nvPr/>
        </p:nvSpPr>
        <p:spPr>
          <a:xfrm>
            <a:off x="35496" y="1484784"/>
            <a:ext cx="6696744" cy="610164"/>
          </a:xfrm>
          <a:prstGeom prst="homePlat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Rectangle 61"/>
          <p:cNvSpPr/>
          <p:nvPr/>
        </p:nvSpPr>
        <p:spPr>
          <a:xfrm>
            <a:off x="107503" y="1588730"/>
            <a:ext cx="64547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>
                <a:ea typeface="Times New Roman"/>
                <a:cs typeface="Times New Roman"/>
              </a:rPr>
              <a:t>إذا كانت له أيقونة اختصار على سطح المكتب،ننقر عليها مرتين  بالزر </a:t>
            </a:r>
            <a:r>
              <a:rPr lang="ar-DZ" sz="2000" b="1" dirty="0" smtClean="0">
                <a:ea typeface="Times New Roman"/>
                <a:cs typeface="Times New Roman"/>
              </a:rPr>
              <a:t>الأيسر.</a:t>
            </a:r>
            <a:endParaRPr lang="fr-FR" sz="2000" dirty="0"/>
          </a:p>
        </p:txBody>
      </p:sp>
      <p:grpSp>
        <p:nvGrpSpPr>
          <p:cNvPr id="63" name="Groupe 62"/>
          <p:cNvGrpSpPr/>
          <p:nvPr/>
        </p:nvGrpSpPr>
        <p:grpSpPr>
          <a:xfrm>
            <a:off x="6804248" y="2276872"/>
            <a:ext cx="1915058" cy="576064"/>
            <a:chOff x="6061658" y="2348880"/>
            <a:chExt cx="1915058" cy="576064"/>
          </a:xfrm>
        </p:grpSpPr>
        <p:grpSp>
          <p:nvGrpSpPr>
            <p:cNvPr id="64" name="Groupe 58"/>
            <p:cNvGrpSpPr/>
            <p:nvPr/>
          </p:nvGrpSpPr>
          <p:grpSpPr>
            <a:xfrm>
              <a:off x="6061658" y="2348880"/>
              <a:ext cx="1915058" cy="504056"/>
              <a:chOff x="6061658" y="2852936"/>
              <a:chExt cx="1915058" cy="576064"/>
            </a:xfrm>
          </p:grpSpPr>
          <p:sp>
            <p:nvSpPr>
              <p:cNvPr id="66" name="Notched Right Arrow 54"/>
              <p:cNvSpPr/>
              <p:nvPr/>
            </p:nvSpPr>
            <p:spPr>
              <a:xfrm flipH="1">
                <a:off x="6061658" y="3008511"/>
                <a:ext cx="1915058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7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68" name="Freeform 56"/>
                <p:cNvSpPr/>
                <p:nvPr/>
              </p:nvSpPr>
              <p:spPr>
                <a:xfrm>
                  <a:off x="1271589" y="1657350"/>
                  <a:ext cx="466716" cy="154781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" name="Rectangle 69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65" name="ZoneTexte 64"/>
            <p:cNvSpPr txBox="1"/>
            <p:nvPr/>
          </p:nvSpPr>
          <p:spPr>
            <a:xfrm>
              <a:off x="6313686" y="2494057"/>
              <a:ext cx="99461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200" b="1" dirty="0" smtClean="0">
                  <a:solidFill>
                    <a:srgbClr val="FFFF00"/>
                  </a:solidFill>
                </a:rPr>
                <a:t>طريقة</a:t>
              </a:r>
              <a:r>
                <a:rPr lang="ar-DZ" b="1" dirty="0" smtClean="0">
                  <a:solidFill>
                    <a:srgbClr val="FFFF00"/>
                  </a:solidFill>
                </a:rPr>
                <a:t>2</a:t>
              </a:r>
              <a:r>
                <a:rPr lang="ar-DZ" sz="2200" b="1" dirty="0" smtClean="0">
                  <a:solidFill>
                    <a:srgbClr val="FFFF00"/>
                  </a:solidFill>
                </a:rPr>
                <a:t>:</a:t>
              </a:r>
              <a:endParaRPr lang="fr-FR" sz="22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71" name="Rectangle 70"/>
          <p:cNvSpPr/>
          <p:nvPr/>
        </p:nvSpPr>
        <p:spPr>
          <a:xfrm>
            <a:off x="3749410" y="2366131"/>
            <a:ext cx="28937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400" b="1" dirty="0">
                <a:ea typeface="Times New Roman"/>
                <a:cs typeface="Times New Roman"/>
              </a:rPr>
              <a:t>ننقر على التوالي بالترتيب: </a:t>
            </a:r>
            <a:endParaRPr lang="fr-FR" sz="2400" dirty="0"/>
          </a:p>
        </p:txBody>
      </p:sp>
      <p:grpSp>
        <p:nvGrpSpPr>
          <p:cNvPr id="72" name="Group 132"/>
          <p:cNvGrpSpPr/>
          <p:nvPr/>
        </p:nvGrpSpPr>
        <p:grpSpPr>
          <a:xfrm>
            <a:off x="4376409" y="5423420"/>
            <a:ext cx="4089190" cy="597868"/>
            <a:chOff x="503335" y="3612045"/>
            <a:chExt cx="3856495" cy="1114425"/>
          </a:xfrm>
        </p:grpSpPr>
        <p:sp>
          <p:nvSpPr>
            <p:cNvPr id="73" name="Rectangle 72"/>
            <p:cNvSpPr/>
            <p:nvPr/>
          </p:nvSpPr>
          <p:spPr>
            <a:xfrm flipH="1">
              <a:off x="3947080" y="3812070"/>
              <a:ext cx="412750" cy="91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 134"/>
            <p:cNvSpPr/>
            <p:nvPr/>
          </p:nvSpPr>
          <p:spPr>
            <a:xfrm rot="5400000" flipH="1">
              <a:off x="3527344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Rectangle 74"/>
            <p:cNvSpPr/>
            <p:nvPr/>
          </p:nvSpPr>
          <p:spPr>
            <a:xfrm flipH="1">
              <a:off x="503335" y="3812071"/>
              <a:ext cx="3081795" cy="91439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Freeform 136"/>
            <p:cNvSpPr/>
            <p:nvPr/>
          </p:nvSpPr>
          <p:spPr>
            <a:xfrm rot="16200000" flipH="1" flipV="1">
              <a:off x="2887581" y="40320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" name="Rectangle 86"/>
            <p:cNvSpPr/>
            <p:nvPr/>
          </p:nvSpPr>
          <p:spPr>
            <a:xfrm flipH="1">
              <a:off x="3306524" y="3612045"/>
              <a:ext cx="914400" cy="9144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88" name="Rectangle 87"/>
          <p:cNvSpPr/>
          <p:nvPr/>
        </p:nvSpPr>
        <p:spPr>
          <a:xfrm>
            <a:off x="7713917" y="5484033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93" name="Rectangle 92"/>
          <p:cNvSpPr/>
          <p:nvPr/>
        </p:nvSpPr>
        <p:spPr>
          <a:xfrm>
            <a:off x="4572000" y="5557737"/>
            <a:ext cx="272189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fr-FR" sz="2000" b="1" dirty="0">
                <a:solidFill>
                  <a:schemeClr val="bg1"/>
                </a:solidFill>
              </a:rPr>
              <a:t>.</a:t>
            </a:r>
            <a:r>
              <a:rPr lang="fr-FR" sz="2000" b="1" dirty="0" smtClean="0">
                <a:solidFill>
                  <a:schemeClr val="bg1"/>
                </a:solidFill>
              </a:rPr>
              <a:t>Microsoft </a:t>
            </a:r>
            <a:r>
              <a:rPr lang="fr-FR" sz="2000" b="1" dirty="0">
                <a:solidFill>
                  <a:schemeClr val="bg1"/>
                </a:solidFill>
              </a:rPr>
              <a:t>Office Word</a:t>
            </a:r>
            <a:endParaRPr lang="fr-FR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6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1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6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1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600"/>
                            </p:stCondLst>
                            <p:childTnLst>
                              <p:par>
                                <p:cTn id="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100"/>
                            </p:stCondLst>
                            <p:childTnLst>
                              <p:par>
                                <p:cTn id="5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600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100"/>
                            </p:stCondLst>
                            <p:childTnLst>
                              <p:par>
                                <p:cTn id="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600"/>
                            </p:stCondLst>
                            <p:childTnLst>
                              <p:par>
                                <p:cTn id="7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600"/>
                            </p:stCondLst>
                            <p:childTnLst>
                              <p:par>
                                <p:cTn id="7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100"/>
                            </p:stCondLst>
                            <p:childTnLst>
                              <p:par>
                                <p:cTn id="8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9100"/>
                            </p:stCondLst>
                            <p:childTnLst>
                              <p:par>
                                <p:cTn id="8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9600"/>
                            </p:stCondLst>
                            <p:childTnLst>
                              <p:par>
                                <p:cTn id="9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100"/>
                            </p:stCondLst>
                            <p:childTnLst>
                              <p:par>
                                <p:cTn id="9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600"/>
                            </p:stCondLst>
                            <p:childTnLst>
                              <p:par>
                                <p:cTn id="10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/>
      <p:bldP spid="104" grpId="0"/>
      <p:bldP spid="105" grpId="0"/>
      <p:bldP spid="106" grpId="0"/>
      <p:bldP spid="89" grpId="0" animBg="1"/>
      <p:bldP spid="90" grpId="0" animBg="1"/>
      <p:bldP spid="91" grpId="0"/>
      <p:bldP spid="92" grpId="0"/>
      <p:bldP spid="2" grpId="0"/>
      <p:bldP spid="112" grpId="0"/>
      <p:bldP spid="4" grpId="0"/>
      <p:bldP spid="62" grpId="0"/>
      <p:bldP spid="71" grpId="0"/>
      <p:bldP spid="88" grpId="0"/>
      <p:bldP spid="9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4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30" name="Pensées 29"/>
          <p:cNvSpPr/>
          <p:nvPr/>
        </p:nvSpPr>
        <p:spPr>
          <a:xfrm>
            <a:off x="179512" y="692696"/>
            <a:ext cx="7722604" cy="2304256"/>
          </a:xfrm>
          <a:prstGeom prst="cloudCallout">
            <a:avLst>
              <a:gd name="adj1" fmla="val -38920"/>
              <a:gd name="adj2" fmla="val 78746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6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756592" y="3284984"/>
            <a:ext cx="2941886" cy="2952328"/>
          </a:xfrm>
          <a:prstGeom prst="rect">
            <a:avLst/>
          </a:prstGeom>
          <a:noFill/>
        </p:spPr>
      </p:pic>
      <p:sp>
        <p:nvSpPr>
          <p:cNvPr id="31" name="ZoneTexte 30"/>
          <p:cNvSpPr txBox="1"/>
          <p:nvPr/>
        </p:nvSpPr>
        <p:spPr>
          <a:xfrm>
            <a:off x="635825" y="1306215"/>
            <a:ext cx="680997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من ماذا تتكون واجهة معالج النصوص </a:t>
            </a:r>
            <a:r>
              <a:rPr lang="fr-FR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Ms-Word</a:t>
            </a:r>
            <a:r>
              <a:rPr lang="ar-DZ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؟ </a:t>
            </a:r>
          </a:p>
        </p:txBody>
      </p: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0" name="Groupe 19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19" name="Groupe 18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3" name="Groupe 2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8" name="Groupe 17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5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7" name="Rectangle 6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8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10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11" name="Rectangle 10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9" name="Rectangle 8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13" name="Image 12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4" name="Image 13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5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5" name="ZoneTexte 14"/>
                    <p:cNvSpPr txBox="1"/>
                    <p:nvPr/>
                  </p:nvSpPr>
                  <p:spPr>
                    <a:xfrm>
                      <a:off x="5652120" y="6428655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6" name="ZoneTexte 15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7" name="ZoneTexte 16"/>
                    <p:cNvSpPr txBox="1"/>
                    <p:nvPr/>
                  </p:nvSpPr>
                  <p:spPr>
                    <a:xfrm>
                      <a:off x="2915816" y="6428655"/>
                      <a:ext cx="208823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المستوى:أولى متوسط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32" name="Image 31" descr="3d print business.png"/>
                  <p:cNvPicPr>
                    <a:picLocks noChangeAspect="1"/>
                  </p:cNvPicPr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4716016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33" name="ZoneTexte 32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37" name="Image 36" descr="Microsoft_Word_2013_logo.svg.pn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41" name="ZoneTexte 40"/>
            <p:cNvSpPr txBox="1"/>
            <p:nvPr/>
          </p:nvSpPr>
          <p:spPr>
            <a:xfrm>
              <a:off x="2267744" y="44624"/>
              <a:ext cx="27363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تقديم معالج النصوص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6783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3" descr="C:\Users\RIDHA\Downloads\صور المعلوماتية\711039_colorful-square-frames-on-blue-hd-video-backgrounds-loop-youtube_1920x1080_h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2012"/>
            <a:ext cx="9144000" cy="569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2" name="Rectangle 121"/>
          <p:cNvSpPr/>
          <p:nvPr/>
        </p:nvSpPr>
        <p:spPr>
          <a:xfrm>
            <a:off x="6012160" y="1495301"/>
            <a:ext cx="15833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grpSp>
        <p:nvGrpSpPr>
          <p:cNvPr id="71" name="Groupe 70"/>
          <p:cNvGrpSpPr/>
          <p:nvPr/>
        </p:nvGrpSpPr>
        <p:grpSpPr>
          <a:xfrm>
            <a:off x="2454610" y="1524845"/>
            <a:ext cx="6264696" cy="576064"/>
            <a:chOff x="1712020" y="2348880"/>
            <a:chExt cx="6264696" cy="576064"/>
          </a:xfrm>
        </p:grpSpPr>
        <p:grpSp>
          <p:nvGrpSpPr>
            <p:cNvPr id="72" name="Groupe 58"/>
            <p:cNvGrpSpPr/>
            <p:nvPr/>
          </p:nvGrpSpPr>
          <p:grpSpPr>
            <a:xfrm>
              <a:off x="1712020" y="2348880"/>
              <a:ext cx="6264696" cy="504056"/>
              <a:chOff x="1712020" y="2852936"/>
              <a:chExt cx="6264696" cy="576064"/>
            </a:xfrm>
          </p:grpSpPr>
          <p:sp>
            <p:nvSpPr>
              <p:cNvPr id="78" name="Notched Right Arrow 54"/>
              <p:cNvSpPr/>
              <p:nvPr/>
            </p:nvSpPr>
            <p:spPr>
              <a:xfrm flipH="1">
                <a:off x="1712020" y="3008511"/>
                <a:ext cx="6264696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1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92" name="Freeform 56"/>
                <p:cNvSpPr/>
                <p:nvPr/>
              </p:nvSpPr>
              <p:spPr>
                <a:xfrm>
                  <a:off x="1271589" y="1657350"/>
                  <a:ext cx="466716" cy="154781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Rectangle 92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-1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77" name="ZoneTexte 76"/>
            <p:cNvSpPr txBox="1"/>
            <p:nvPr/>
          </p:nvSpPr>
          <p:spPr>
            <a:xfrm>
              <a:off x="1928044" y="2494057"/>
              <a:ext cx="538026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200" b="1" dirty="0">
                  <a:solidFill>
                    <a:srgbClr val="FFFF00"/>
                  </a:solidFill>
                </a:rPr>
                <a:t>شريط العنوان  </a:t>
              </a:r>
              <a:r>
                <a:rPr lang="fr-FR" sz="2200" b="1" dirty="0">
                  <a:solidFill>
                    <a:srgbClr val="FFFF00"/>
                  </a:solidFill>
                </a:rPr>
                <a:t>la barre de titre:</a:t>
              </a:r>
            </a:p>
          </p:txBody>
        </p:sp>
      </p:grpSp>
      <p:sp>
        <p:nvSpPr>
          <p:cNvPr id="104" name="Rectangle à coins arrondis 103"/>
          <p:cNvSpPr/>
          <p:nvPr/>
        </p:nvSpPr>
        <p:spPr>
          <a:xfrm flipH="1" flipV="1">
            <a:off x="395536" y="2492896"/>
            <a:ext cx="7950606" cy="864096"/>
          </a:xfrm>
          <a:prstGeom prst="wedgeRoundRectCallout">
            <a:avLst>
              <a:gd name="adj1" fmla="val -19782"/>
              <a:gd name="adj2" fmla="val 86869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2" name="Rectangle 111"/>
          <p:cNvSpPr/>
          <p:nvPr/>
        </p:nvSpPr>
        <p:spPr>
          <a:xfrm>
            <a:off x="539552" y="2525995"/>
            <a:ext cx="77768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rtl="1"/>
            <a:r>
              <a:rPr lang="ar-DZ" sz="2400" b="1" dirty="0">
                <a:solidFill>
                  <a:schemeClr val="bg1"/>
                </a:solidFill>
              </a:rPr>
              <a:t>يظهر عليه اسم البرنامج واسم الملف أو الوثيقة وفيه أيضا أزرار التصغير والتكبير و الإغلاق.</a:t>
            </a:r>
            <a:endParaRPr lang="fr-FR" sz="24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grpSp>
        <p:nvGrpSpPr>
          <p:cNvPr id="4" name="Groupe 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0" name="Groupe 19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2" name="Groupe 1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18" name="Groupe 17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5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7" name="Rectangle 6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8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10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11" name="Rectangle 10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9" name="Rectangle 8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13" name="Image 12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3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4" name="Image 13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5" name="ZoneTexte 14"/>
                    <p:cNvSpPr txBox="1"/>
                    <p:nvPr/>
                  </p:nvSpPr>
                  <p:spPr>
                    <a:xfrm>
                      <a:off x="5652120" y="6428655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6" name="ZoneTexte 15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7" name="ZoneTexte 16"/>
                    <p:cNvSpPr txBox="1"/>
                    <p:nvPr/>
                  </p:nvSpPr>
                  <p:spPr>
                    <a:xfrm>
                      <a:off x="2987824" y="6428655"/>
                      <a:ext cx="208823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المستوى:أولى متوسط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73" name="Image 72" descr="3d print business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4788024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74" name="ZoneTexte 73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76" name="Image 75" descr="Microsoft_Word_2013_logo.svg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38" name="ZoneTexte 37"/>
            <p:cNvSpPr txBox="1"/>
            <p:nvPr/>
          </p:nvSpPr>
          <p:spPr>
            <a:xfrm>
              <a:off x="2267744" y="44624"/>
              <a:ext cx="27363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تقديم معالج النصوص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0" name="Shape 856"/>
          <p:cNvSpPr/>
          <p:nvPr/>
        </p:nvSpPr>
        <p:spPr>
          <a:xfrm>
            <a:off x="8316416" y="692696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1" name="Shape 859"/>
          <p:cNvSpPr/>
          <p:nvPr/>
        </p:nvSpPr>
        <p:spPr>
          <a:xfrm>
            <a:off x="3707904" y="720328"/>
            <a:ext cx="4557074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2" name="ZoneTexte 41"/>
          <p:cNvSpPr txBox="1"/>
          <p:nvPr/>
        </p:nvSpPr>
        <p:spPr>
          <a:xfrm>
            <a:off x="8316416" y="692696"/>
            <a:ext cx="539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r-FR" sz="2800" b="1" dirty="0" smtClean="0">
                <a:solidFill>
                  <a:srgbClr val="FFFF00"/>
                </a:solidFill>
              </a:rPr>
              <a:t>3</a:t>
            </a:r>
            <a:r>
              <a:rPr lang="ar-DZ" sz="2800" b="1" dirty="0" smtClean="0">
                <a:solidFill>
                  <a:srgbClr val="FFFF00"/>
                </a:solidFill>
              </a:rPr>
              <a:t>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43" name="ZoneTexte 42"/>
          <p:cNvSpPr txBox="1"/>
          <p:nvPr/>
        </p:nvSpPr>
        <p:spPr>
          <a:xfrm>
            <a:off x="3995936" y="735087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rgbClr val="FFFF00"/>
                </a:solidFill>
              </a:rPr>
              <a:t>واجهة معالج النصوص </a:t>
            </a:r>
            <a:r>
              <a:rPr lang="fr-FR" sz="2400" b="1" dirty="0">
                <a:solidFill>
                  <a:srgbClr val="FFFF00"/>
                </a:solidFill>
              </a:rPr>
              <a:t>: </a:t>
            </a:r>
            <a:r>
              <a:rPr lang="fr-FR" sz="2400" b="1" dirty="0" smtClean="0">
                <a:solidFill>
                  <a:srgbClr val="FFFF00"/>
                </a:solidFill>
              </a:rPr>
              <a:t>Ms-Word</a:t>
            </a:r>
            <a:endParaRPr lang="fr-FR" sz="2400" b="1" dirty="0">
              <a:solidFill>
                <a:srgbClr val="FFFF00"/>
              </a:solidFill>
            </a:endParaRPr>
          </a:p>
        </p:txBody>
      </p:sp>
      <p:grpSp>
        <p:nvGrpSpPr>
          <p:cNvPr id="44" name="Groupe 43"/>
          <p:cNvGrpSpPr/>
          <p:nvPr/>
        </p:nvGrpSpPr>
        <p:grpSpPr>
          <a:xfrm>
            <a:off x="1547663" y="3462099"/>
            <a:ext cx="7171642" cy="576064"/>
            <a:chOff x="805073" y="2348880"/>
            <a:chExt cx="7171642" cy="576064"/>
          </a:xfrm>
        </p:grpSpPr>
        <p:grpSp>
          <p:nvGrpSpPr>
            <p:cNvPr id="45" name="Groupe 58"/>
            <p:cNvGrpSpPr/>
            <p:nvPr/>
          </p:nvGrpSpPr>
          <p:grpSpPr>
            <a:xfrm>
              <a:off x="805073" y="2348880"/>
              <a:ext cx="7171642" cy="504056"/>
              <a:chOff x="805073" y="2852936"/>
              <a:chExt cx="7171642" cy="576064"/>
            </a:xfrm>
          </p:grpSpPr>
          <p:sp>
            <p:nvSpPr>
              <p:cNvPr id="47" name="Notched Right Arrow 54"/>
              <p:cNvSpPr/>
              <p:nvPr/>
            </p:nvSpPr>
            <p:spPr>
              <a:xfrm flipH="1">
                <a:off x="805073" y="3008511"/>
                <a:ext cx="7171642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8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49" name="Freeform 56"/>
                <p:cNvSpPr/>
                <p:nvPr/>
              </p:nvSpPr>
              <p:spPr>
                <a:xfrm>
                  <a:off x="1271589" y="1657350"/>
                  <a:ext cx="466716" cy="154781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Rectangle 49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-2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46" name="ZoneTexte 45"/>
            <p:cNvSpPr txBox="1"/>
            <p:nvPr/>
          </p:nvSpPr>
          <p:spPr>
            <a:xfrm>
              <a:off x="1021098" y="2494057"/>
              <a:ext cx="628720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200" b="1" dirty="0">
                  <a:solidFill>
                    <a:srgbClr val="FFFF00"/>
                  </a:solidFill>
                </a:rPr>
                <a:t>شريط أدوات الوصول السريع </a:t>
              </a:r>
              <a:r>
                <a:rPr lang="fr-FR" sz="2200" b="1" dirty="0">
                  <a:solidFill>
                    <a:srgbClr val="FFFF00"/>
                  </a:solidFill>
                </a:rPr>
                <a:t>la barre d’outils accès rapide: </a:t>
              </a:r>
            </a:p>
          </p:txBody>
        </p:sp>
      </p:grpSp>
      <p:sp>
        <p:nvSpPr>
          <p:cNvPr id="51" name="Rectangle à coins arrondis 50"/>
          <p:cNvSpPr/>
          <p:nvPr/>
        </p:nvSpPr>
        <p:spPr>
          <a:xfrm flipH="1" flipV="1">
            <a:off x="395536" y="4430150"/>
            <a:ext cx="7950606" cy="864096"/>
          </a:xfrm>
          <a:prstGeom prst="wedgeRoundRectCallout">
            <a:avLst>
              <a:gd name="adj1" fmla="val -19782"/>
              <a:gd name="adj2" fmla="val 86869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Rectangle 51"/>
          <p:cNvSpPr/>
          <p:nvPr/>
        </p:nvSpPr>
        <p:spPr>
          <a:xfrm>
            <a:off x="539552" y="4665134"/>
            <a:ext cx="77768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rtl="1"/>
            <a:r>
              <a:rPr lang="ar-DZ" sz="2400" b="1" dirty="0">
                <a:solidFill>
                  <a:schemeClr val="bg1"/>
                </a:solidFill>
              </a:rPr>
              <a:t>يحتوي على أداة  الحفظ </a:t>
            </a:r>
            <a:r>
              <a:rPr lang="fr-FR" sz="2400" b="1" dirty="0">
                <a:solidFill>
                  <a:schemeClr val="bg1"/>
                </a:solidFill>
              </a:rPr>
              <a:t>Enregistrer، </a:t>
            </a:r>
            <a:r>
              <a:rPr lang="ar-DZ" sz="2400" b="1" dirty="0">
                <a:solidFill>
                  <a:schemeClr val="bg1"/>
                </a:solidFill>
              </a:rPr>
              <a:t>وأسهم التراجع والتقدم في العمل.</a:t>
            </a:r>
            <a:endParaRPr lang="fr-FR" sz="24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-32095" y="737192"/>
            <a:ext cx="3667991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300" b="1" dirty="0">
                <a:solidFill>
                  <a:schemeClr val="bg1"/>
                </a:solidFill>
                <a:ea typeface="Times New Roman"/>
                <a:cs typeface="Times New Roman"/>
              </a:rPr>
              <a:t>واجهته عبارة عن نافذة تحتوي على:</a:t>
            </a:r>
            <a:endParaRPr lang="fr-FR" sz="2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1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8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9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4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/>
      <p:bldP spid="112" grpId="0"/>
      <p:bldP spid="41" grpId="0" animBg="1" advAuto="0"/>
      <p:bldP spid="52" grpId="0"/>
      <p:bldP spid="5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3" descr="C:\Users\RIDHA\Downloads\صور المعلوماتية\711039_colorful-square-frames-on-blue-hd-video-backgrounds-loop-youtube_1920x1080_h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2012"/>
            <a:ext cx="9144000" cy="569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9" name="Groupe 28"/>
          <p:cNvGrpSpPr/>
          <p:nvPr/>
        </p:nvGrpSpPr>
        <p:grpSpPr>
          <a:xfrm>
            <a:off x="3635896" y="653787"/>
            <a:ext cx="5083410" cy="576064"/>
            <a:chOff x="2893306" y="2348880"/>
            <a:chExt cx="5083410" cy="576064"/>
          </a:xfrm>
        </p:grpSpPr>
        <p:grpSp>
          <p:nvGrpSpPr>
            <p:cNvPr id="31" name="Groupe 58"/>
            <p:cNvGrpSpPr/>
            <p:nvPr/>
          </p:nvGrpSpPr>
          <p:grpSpPr>
            <a:xfrm>
              <a:off x="2893306" y="2348880"/>
              <a:ext cx="5083410" cy="504056"/>
              <a:chOff x="2893306" y="2852936"/>
              <a:chExt cx="5083410" cy="576064"/>
            </a:xfrm>
          </p:grpSpPr>
          <p:sp>
            <p:nvSpPr>
              <p:cNvPr id="34" name="Notched Right Arrow 54"/>
              <p:cNvSpPr/>
              <p:nvPr/>
            </p:nvSpPr>
            <p:spPr>
              <a:xfrm flipH="1">
                <a:off x="2893306" y="3008511"/>
                <a:ext cx="5083410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5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36" name="Freeform 56"/>
                <p:cNvSpPr/>
                <p:nvPr/>
              </p:nvSpPr>
              <p:spPr>
                <a:xfrm>
                  <a:off x="1271589" y="1657350"/>
                  <a:ext cx="466716" cy="154781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Rectangle 36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-3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33" name="ZoneTexte 32"/>
            <p:cNvSpPr txBox="1"/>
            <p:nvPr/>
          </p:nvSpPr>
          <p:spPr>
            <a:xfrm>
              <a:off x="3109330" y="2494057"/>
              <a:ext cx="419897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200" b="1" dirty="0">
                  <a:solidFill>
                    <a:srgbClr val="FFFF00"/>
                  </a:solidFill>
                </a:rPr>
                <a:t>شريط التبويبات </a:t>
              </a:r>
              <a:r>
                <a:rPr lang="fr-FR" sz="2200" b="1" dirty="0">
                  <a:solidFill>
                    <a:srgbClr val="FFFF00"/>
                  </a:solidFill>
                </a:rPr>
                <a:t>la barre des menus: </a:t>
              </a:r>
            </a:p>
          </p:txBody>
        </p:sp>
      </p:grpSp>
      <p:sp>
        <p:nvSpPr>
          <p:cNvPr id="39" name="Rectangle à coins arrondis 38"/>
          <p:cNvSpPr/>
          <p:nvPr/>
        </p:nvSpPr>
        <p:spPr>
          <a:xfrm flipH="1" flipV="1">
            <a:off x="395536" y="1484784"/>
            <a:ext cx="7950606" cy="864096"/>
          </a:xfrm>
          <a:prstGeom prst="wedgeRoundRectCallout">
            <a:avLst>
              <a:gd name="adj1" fmla="val -19782"/>
              <a:gd name="adj2" fmla="val 86869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Rectangle 39"/>
          <p:cNvSpPr/>
          <p:nvPr/>
        </p:nvSpPr>
        <p:spPr>
          <a:xfrm>
            <a:off x="539552" y="1524845"/>
            <a:ext cx="77768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rtl="1"/>
            <a:r>
              <a:rPr lang="ar-DZ" sz="2400" b="1" dirty="0">
                <a:solidFill>
                  <a:schemeClr val="bg1"/>
                </a:solidFill>
              </a:rPr>
              <a:t>به العديد من التبويبات، عند الضغط على أي  تبويب يظهر شريط أدواته  به مجموعة من الأدوات  لكل منها دور معينة  في العمل على الوثيقة.</a:t>
            </a:r>
            <a:endParaRPr lang="fr-FR" sz="24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grpSp>
        <p:nvGrpSpPr>
          <p:cNvPr id="5" name="Groupe 4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19" name="Groupe 18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2" name="Groupe 1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4" name="Groupe 3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12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14" name="Rectangle 13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15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17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18" name="Rectangle 17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16" name="Rectangle 15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7" name="Image 6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3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8" name="Image 7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9" name="ZoneTexte 8"/>
                    <p:cNvSpPr txBox="1"/>
                    <p:nvPr/>
                  </p:nvSpPr>
                  <p:spPr>
                    <a:xfrm>
                      <a:off x="5652120" y="6428655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0" name="ZoneTexte 9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1" name="ZoneTexte 10"/>
                    <p:cNvSpPr txBox="1"/>
                    <p:nvPr/>
                  </p:nvSpPr>
                  <p:spPr>
                    <a:xfrm>
                      <a:off x="2915816" y="6428655"/>
                      <a:ext cx="208823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المستوى:أولى متوسط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25" name="Image 24" descr="3d print business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4716016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7" name="ZoneTexte 26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30" name="Image 29" descr="Microsoft_Word_2013_logo.svg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44" name="ZoneTexte 43"/>
            <p:cNvSpPr txBox="1"/>
            <p:nvPr/>
          </p:nvSpPr>
          <p:spPr>
            <a:xfrm>
              <a:off x="2267744" y="44624"/>
              <a:ext cx="27363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تقديم معالج النصوص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5" name="Groupe 44"/>
          <p:cNvGrpSpPr/>
          <p:nvPr/>
        </p:nvGrpSpPr>
        <p:grpSpPr>
          <a:xfrm>
            <a:off x="2843808" y="2564904"/>
            <a:ext cx="5875498" cy="576064"/>
            <a:chOff x="2101218" y="2348880"/>
            <a:chExt cx="5875498" cy="576064"/>
          </a:xfrm>
        </p:grpSpPr>
        <p:grpSp>
          <p:nvGrpSpPr>
            <p:cNvPr id="46" name="Groupe 58"/>
            <p:cNvGrpSpPr/>
            <p:nvPr/>
          </p:nvGrpSpPr>
          <p:grpSpPr>
            <a:xfrm>
              <a:off x="2101218" y="2348880"/>
              <a:ext cx="5875498" cy="504056"/>
              <a:chOff x="2101218" y="2852936"/>
              <a:chExt cx="5875498" cy="576064"/>
            </a:xfrm>
          </p:grpSpPr>
          <p:sp>
            <p:nvSpPr>
              <p:cNvPr id="48" name="Notched Right Arrow 54"/>
              <p:cNvSpPr/>
              <p:nvPr/>
            </p:nvSpPr>
            <p:spPr>
              <a:xfrm flipH="1">
                <a:off x="2101218" y="3008511"/>
                <a:ext cx="5875498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9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50" name="Freeform 56"/>
                <p:cNvSpPr/>
                <p:nvPr/>
              </p:nvSpPr>
              <p:spPr>
                <a:xfrm>
                  <a:off x="1271589" y="1657350"/>
                  <a:ext cx="466716" cy="154781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" name="Rectangle 50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-4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47" name="ZoneTexte 46"/>
            <p:cNvSpPr txBox="1"/>
            <p:nvPr/>
          </p:nvSpPr>
          <p:spPr>
            <a:xfrm>
              <a:off x="2533266" y="2494057"/>
              <a:ext cx="477503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200" b="1" dirty="0">
                  <a:solidFill>
                    <a:srgbClr val="FFFF00"/>
                  </a:solidFill>
                </a:rPr>
                <a:t>شريطا التمرير </a:t>
              </a:r>
              <a:r>
                <a:rPr lang="fr-FR" sz="2200" b="1" dirty="0">
                  <a:solidFill>
                    <a:srgbClr val="FFFF00"/>
                  </a:solidFill>
                </a:rPr>
                <a:t>les barres de défilement: </a:t>
              </a:r>
            </a:p>
          </p:txBody>
        </p:sp>
      </p:grpSp>
      <p:sp>
        <p:nvSpPr>
          <p:cNvPr id="52" name="Rectangle à coins arrondis 51"/>
          <p:cNvSpPr/>
          <p:nvPr/>
        </p:nvSpPr>
        <p:spPr>
          <a:xfrm flipH="1" flipV="1">
            <a:off x="395536" y="3429000"/>
            <a:ext cx="7950606" cy="792088"/>
          </a:xfrm>
          <a:prstGeom prst="wedgeRoundRectCallout">
            <a:avLst>
              <a:gd name="adj1" fmla="val -19782"/>
              <a:gd name="adj2" fmla="val 86869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Rectangle 52"/>
          <p:cNvSpPr/>
          <p:nvPr/>
        </p:nvSpPr>
        <p:spPr>
          <a:xfrm>
            <a:off x="2627784" y="3615407"/>
            <a:ext cx="56886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rtl="1"/>
            <a:r>
              <a:rPr lang="ar-DZ" sz="2400" b="1" dirty="0">
                <a:solidFill>
                  <a:schemeClr val="bg1"/>
                </a:solidFill>
              </a:rPr>
              <a:t>نستعملهما للإنتقال لأعلى أو لأسفل أو لجانبي </a:t>
            </a:r>
            <a:r>
              <a:rPr lang="ar-DZ" sz="2400" b="1" dirty="0" smtClean="0">
                <a:solidFill>
                  <a:schemeClr val="bg1"/>
                </a:solidFill>
              </a:rPr>
              <a:t>الوثيقة</a:t>
            </a:r>
            <a:r>
              <a:rPr lang="fr-FR" sz="2400" b="1" dirty="0">
                <a:solidFill>
                  <a:schemeClr val="bg1"/>
                </a:solidFill>
              </a:rPr>
              <a:t>.</a:t>
            </a:r>
            <a:endParaRPr lang="fr-FR" sz="24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grpSp>
        <p:nvGrpSpPr>
          <p:cNvPr id="54" name="Groupe 53"/>
          <p:cNvGrpSpPr/>
          <p:nvPr/>
        </p:nvGrpSpPr>
        <p:grpSpPr>
          <a:xfrm>
            <a:off x="2627784" y="4365104"/>
            <a:ext cx="6091522" cy="576064"/>
            <a:chOff x="1885194" y="2348880"/>
            <a:chExt cx="6091522" cy="576064"/>
          </a:xfrm>
        </p:grpSpPr>
        <p:grpSp>
          <p:nvGrpSpPr>
            <p:cNvPr id="55" name="Groupe 58"/>
            <p:cNvGrpSpPr/>
            <p:nvPr/>
          </p:nvGrpSpPr>
          <p:grpSpPr>
            <a:xfrm>
              <a:off x="1885194" y="2348880"/>
              <a:ext cx="6091522" cy="504056"/>
              <a:chOff x="1885194" y="2852936"/>
              <a:chExt cx="6091522" cy="576064"/>
            </a:xfrm>
          </p:grpSpPr>
          <p:sp>
            <p:nvSpPr>
              <p:cNvPr id="57" name="Notched Right Arrow 54"/>
              <p:cNvSpPr/>
              <p:nvPr/>
            </p:nvSpPr>
            <p:spPr>
              <a:xfrm flipH="1">
                <a:off x="1885194" y="3008511"/>
                <a:ext cx="6091522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8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59" name="Freeform 56"/>
                <p:cNvSpPr/>
                <p:nvPr/>
              </p:nvSpPr>
              <p:spPr>
                <a:xfrm>
                  <a:off x="1271589" y="1657350"/>
                  <a:ext cx="466716" cy="154781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Rectangle 59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-5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56" name="ZoneTexte 55"/>
            <p:cNvSpPr txBox="1"/>
            <p:nvPr/>
          </p:nvSpPr>
          <p:spPr>
            <a:xfrm>
              <a:off x="2533266" y="2494057"/>
              <a:ext cx="477503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200" b="1" dirty="0">
                  <a:solidFill>
                    <a:srgbClr val="FFFF00"/>
                  </a:solidFill>
                </a:rPr>
                <a:t>- ورقة </a:t>
              </a:r>
              <a:r>
                <a:rPr lang="ar-DZ" sz="2200" b="1" dirty="0" smtClean="0">
                  <a:solidFill>
                    <a:srgbClr val="FFFF00"/>
                  </a:solidFill>
                </a:rPr>
                <a:t>العمل( الوثيقة) </a:t>
              </a:r>
              <a:r>
                <a:rPr lang="fr-FR" sz="2200" b="1" dirty="0" smtClean="0">
                  <a:solidFill>
                    <a:srgbClr val="FFFF00"/>
                  </a:solidFill>
                </a:rPr>
                <a:t>: Feuille </a:t>
              </a:r>
              <a:r>
                <a:rPr lang="fr-FR" sz="2200" b="1" dirty="0">
                  <a:solidFill>
                    <a:srgbClr val="FFFF00"/>
                  </a:solidFill>
                </a:rPr>
                <a:t>de </a:t>
              </a:r>
              <a:r>
                <a:rPr lang="fr-FR" sz="2200" b="1" dirty="0" smtClean="0">
                  <a:solidFill>
                    <a:srgbClr val="FFFF00"/>
                  </a:solidFill>
                </a:rPr>
                <a:t>travail</a:t>
              </a:r>
              <a:endParaRPr lang="fr-FR" sz="22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61" name="Rectangle à coins arrondis 60"/>
          <p:cNvSpPr/>
          <p:nvPr/>
        </p:nvSpPr>
        <p:spPr>
          <a:xfrm flipH="1" flipV="1">
            <a:off x="395536" y="5229200"/>
            <a:ext cx="7950606" cy="747464"/>
          </a:xfrm>
          <a:prstGeom prst="wedgeRoundRectCallout">
            <a:avLst>
              <a:gd name="adj1" fmla="val -19782"/>
              <a:gd name="adj2" fmla="val 86869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Rectangle 61"/>
          <p:cNvSpPr/>
          <p:nvPr/>
        </p:nvSpPr>
        <p:spPr>
          <a:xfrm>
            <a:off x="2195736" y="5343599"/>
            <a:ext cx="61926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rtl="1"/>
            <a:r>
              <a:rPr lang="ar-DZ" sz="2400" b="1" dirty="0">
                <a:solidFill>
                  <a:schemeClr val="bg1"/>
                </a:solidFill>
              </a:rPr>
              <a:t>وهي المكان المخصص  لكتابة النص وغيرها من الأعمال...</a:t>
            </a:r>
            <a:endParaRPr lang="fr-FR" sz="24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53" grpId="0"/>
      <p:bldP spid="6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3" descr="C:\Users\RIDHA\Downloads\صور المعلوماتية\711039_colorful-square-frames-on-blue-hd-video-backgrounds-loop-youtube_1920x1080_h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2012"/>
            <a:ext cx="9144000" cy="569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8" name="Groupe 57"/>
          <p:cNvGrpSpPr/>
          <p:nvPr/>
        </p:nvGrpSpPr>
        <p:grpSpPr>
          <a:xfrm>
            <a:off x="3479336" y="836712"/>
            <a:ext cx="5239970" cy="576064"/>
            <a:chOff x="2736746" y="2348880"/>
            <a:chExt cx="5239970" cy="576064"/>
          </a:xfrm>
        </p:grpSpPr>
        <p:grpSp>
          <p:nvGrpSpPr>
            <p:cNvPr id="59" name="Groupe 58"/>
            <p:cNvGrpSpPr/>
            <p:nvPr/>
          </p:nvGrpSpPr>
          <p:grpSpPr>
            <a:xfrm>
              <a:off x="2736746" y="2348880"/>
              <a:ext cx="5239970" cy="504056"/>
              <a:chOff x="2736746" y="2852936"/>
              <a:chExt cx="5239970" cy="576064"/>
            </a:xfrm>
          </p:grpSpPr>
          <p:sp>
            <p:nvSpPr>
              <p:cNvPr id="61" name="Notched Right Arrow 54"/>
              <p:cNvSpPr/>
              <p:nvPr/>
            </p:nvSpPr>
            <p:spPr>
              <a:xfrm flipH="1">
                <a:off x="2736746" y="3008511"/>
                <a:ext cx="5239970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2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63" name="Freeform 56"/>
                <p:cNvSpPr/>
                <p:nvPr/>
              </p:nvSpPr>
              <p:spPr>
                <a:xfrm>
                  <a:off x="1271589" y="1657350"/>
                  <a:ext cx="466716" cy="154781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" name="Rectangle 63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-6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60" name="ZoneTexte 59"/>
            <p:cNvSpPr txBox="1"/>
            <p:nvPr/>
          </p:nvSpPr>
          <p:spPr>
            <a:xfrm>
              <a:off x="2988066" y="2494057"/>
              <a:ext cx="432023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200" b="1" dirty="0">
                  <a:solidFill>
                    <a:srgbClr val="FFFF00"/>
                  </a:solidFill>
                </a:rPr>
                <a:t>علامة الإدراج       </a:t>
              </a:r>
              <a:r>
                <a:rPr lang="fr-FR" sz="2200" b="1" dirty="0">
                  <a:solidFill>
                    <a:srgbClr val="FFFF00"/>
                  </a:solidFill>
                </a:rPr>
                <a:t>:</a:t>
              </a:r>
              <a:r>
                <a:rPr lang="fr-FR" sz="2200" b="1" dirty="0" smtClean="0">
                  <a:solidFill>
                    <a:srgbClr val="FFFF00"/>
                  </a:solidFill>
                </a:rPr>
                <a:t>d’insertion Marque</a:t>
              </a:r>
              <a:endParaRPr lang="fr-FR" sz="22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66" name="Rectangle à coins arrondis 65"/>
          <p:cNvSpPr/>
          <p:nvPr/>
        </p:nvSpPr>
        <p:spPr>
          <a:xfrm flipH="1" flipV="1">
            <a:off x="395536" y="1628800"/>
            <a:ext cx="7950606" cy="648072"/>
          </a:xfrm>
          <a:prstGeom prst="wedgeRoundRectCallout">
            <a:avLst>
              <a:gd name="adj1" fmla="val -19782"/>
              <a:gd name="adj2" fmla="val 86869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/>
          <p:cNvSpPr/>
          <p:nvPr/>
        </p:nvSpPr>
        <p:spPr>
          <a:xfrm>
            <a:off x="3416079" y="1684885"/>
            <a:ext cx="48370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rtl="1"/>
            <a:r>
              <a:rPr lang="ar-DZ" sz="2400" b="1" dirty="0" smtClean="0">
                <a:solidFill>
                  <a:schemeClr val="bg1"/>
                </a:solidFill>
              </a:rPr>
              <a:t>تسمى </a:t>
            </a:r>
            <a:r>
              <a:rPr lang="ar-DZ" sz="2400" b="1" dirty="0">
                <a:solidFill>
                  <a:schemeClr val="bg1"/>
                </a:solidFill>
              </a:rPr>
              <a:t>المشيرة حيث تبين لنا موضع الكتابة.</a:t>
            </a:r>
            <a:endParaRPr lang="fr-FR" sz="24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3" name="Groupe 2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0" name="Groupe 19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3" name="Groupe 2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4" name="Groupe 3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12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14" name="Rectangle 13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15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17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18" name="Rectangle 17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16" name="Rectangle 15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7" name="Image 6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3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8" name="Image 7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9" name="ZoneTexte 8"/>
                    <p:cNvSpPr txBox="1"/>
                    <p:nvPr/>
                  </p:nvSpPr>
                  <p:spPr>
                    <a:xfrm>
                      <a:off x="5652120" y="6428655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0" name="ZoneTexte 9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1" name="ZoneTexte 10"/>
                    <p:cNvSpPr txBox="1"/>
                    <p:nvPr/>
                  </p:nvSpPr>
                  <p:spPr>
                    <a:xfrm>
                      <a:off x="2915816" y="6428655"/>
                      <a:ext cx="208823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المستوى:أولى متوسط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101" name="Image 100" descr="3d print business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4716016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03" name="ZoneTexte 102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106" name="Image 105" descr="Microsoft_Word_2013_logo.svg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42" name="ZoneTexte 41"/>
            <p:cNvSpPr txBox="1"/>
            <p:nvPr/>
          </p:nvSpPr>
          <p:spPr>
            <a:xfrm>
              <a:off x="2267744" y="44624"/>
              <a:ext cx="27363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تقديم معالج النصوص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4" name="Groupe 43"/>
          <p:cNvGrpSpPr/>
          <p:nvPr/>
        </p:nvGrpSpPr>
        <p:grpSpPr>
          <a:xfrm>
            <a:off x="3275856" y="2488604"/>
            <a:ext cx="5446096" cy="576064"/>
            <a:chOff x="2530620" y="2348880"/>
            <a:chExt cx="5446096" cy="576064"/>
          </a:xfrm>
        </p:grpSpPr>
        <p:grpSp>
          <p:nvGrpSpPr>
            <p:cNvPr id="45" name="Groupe 44"/>
            <p:cNvGrpSpPr/>
            <p:nvPr/>
          </p:nvGrpSpPr>
          <p:grpSpPr>
            <a:xfrm>
              <a:off x="2530620" y="2348880"/>
              <a:ext cx="5446096" cy="504056"/>
              <a:chOff x="2530620" y="2852936"/>
              <a:chExt cx="5446096" cy="576064"/>
            </a:xfrm>
          </p:grpSpPr>
          <p:sp>
            <p:nvSpPr>
              <p:cNvPr id="47" name="Notched Right Arrow 54"/>
              <p:cNvSpPr/>
              <p:nvPr/>
            </p:nvSpPr>
            <p:spPr>
              <a:xfrm flipH="1">
                <a:off x="2530620" y="3008511"/>
                <a:ext cx="5446096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dk1"/>
              </a:fillRef>
              <a:effectRef idx="1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8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49" name="Freeform 56"/>
                <p:cNvSpPr/>
                <p:nvPr/>
              </p:nvSpPr>
              <p:spPr>
                <a:xfrm>
                  <a:off x="1271589" y="1657350"/>
                  <a:ext cx="466716" cy="154781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Rectangle 49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-7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46" name="ZoneTexte 45"/>
            <p:cNvSpPr txBox="1"/>
            <p:nvPr/>
          </p:nvSpPr>
          <p:spPr>
            <a:xfrm>
              <a:off x="2746644" y="2494057"/>
              <a:ext cx="456165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200" b="1" dirty="0" smtClean="0">
                  <a:solidFill>
                    <a:srgbClr val="FFFF00"/>
                  </a:solidFill>
                </a:rPr>
                <a:t>شريط </a:t>
              </a:r>
              <a:r>
                <a:rPr lang="ar-DZ" sz="2200" b="1" dirty="0">
                  <a:solidFill>
                    <a:srgbClr val="FFFF00"/>
                  </a:solidFill>
                </a:rPr>
                <a:t>المعلومات أو الحالة </a:t>
              </a:r>
              <a:r>
                <a:rPr lang="fr-FR" sz="2200" b="1" dirty="0">
                  <a:solidFill>
                    <a:srgbClr val="FFFF00"/>
                  </a:solidFill>
                </a:rPr>
                <a:t>la barre d’état : </a:t>
              </a:r>
            </a:p>
          </p:txBody>
        </p:sp>
      </p:grpSp>
      <p:sp>
        <p:nvSpPr>
          <p:cNvPr id="51" name="Rectangle à coins arrondis 50"/>
          <p:cNvSpPr/>
          <p:nvPr/>
        </p:nvSpPr>
        <p:spPr>
          <a:xfrm flipH="1" flipV="1">
            <a:off x="398182" y="3280692"/>
            <a:ext cx="7950606" cy="796380"/>
          </a:xfrm>
          <a:prstGeom prst="wedgeRoundRectCallout">
            <a:avLst>
              <a:gd name="adj1" fmla="val -19782"/>
              <a:gd name="adj2" fmla="val 86869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Rectangle 51"/>
          <p:cNvSpPr/>
          <p:nvPr/>
        </p:nvSpPr>
        <p:spPr>
          <a:xfrm>
            <a:off x="611560" y="3284984"/>
            <a:ext cx="764424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rtl="1"/>
            <a:r>
              <a:rPr lang="ar-DZ" sz="2400" b="1" dirty="0">
                <a:solidFill>
                  <a:schemeClr val="bg1"/>
                </a:solidFill>
              </a:rPr>
              <a:t>يظهر عليه عدد الصفحات، عدد الكلمات، اللغة المستعملة في الكتابة وتكبير و تصغير </a:t>
            </a:r>
            <a:r>
              <a:rPr lang="fr-FR" sz="2400" b="1" dirty="0">
                <a:solidFill>
                  <a:schemeClr val="bg1"/>
                </a:solidFill>
              </a:rPr>
              <a:t>zoom </a:t>
            </a:r>
            <a:r>
              <a:rPr lang="ar-DZ" sz="2400" b="1" dirty="0">
                <a:solidFill>
                  <a:schemeClr val="bg1"/>
                </a:solidFill>
              </a:rPr>
              <a:t>وطرق عرض المستند.</a:t>
            </a:r>
            <a:endParaRPr lang="fr-FR" sz="24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grpSp>
        <p:nvGrpSpPr>
          <p:cNvPr id="53" name="Groupe 52"/>
          <p:cNvGrpSpPr/>
          <p:nvPr/>
        </p:nvGrpSpPr>
        <p:grpSpPr>
          <a:xfrm>
            <a:off x="4572000" y="4321903"/>
            <a:ext cx="4147306" cy="576064"/>
            <a:chOff x="3829410" y="2348880"/>
            <a:chExt cx="4147306" cy="576064"/>
          </a:xfrm>
        </p:grpSpPr>
        <p:grpSp>
          <p:nvGrpSpPr>
            <p:cNvPr id="54" name="Groupe 53"/>
            <p:cNvGrpSpPr/>
            <p:nvPr/>
          </p:nvGrpSpPr>
          <p:grpSpPr>
            <a:xfrm>
              <a:off x="3829410" y="2348880"/>
              <a:ext cx="4147306" cy="504056"/>
              <a:chOff x="3829410" y="2852936"/>
              <a:chExt cx="4147306" cy="576064"/>
            </a:xfrm>
          </p:grpSpPr>
          <p:sp>
            <p:nvSpPr>
              <p:cNvPr id="56" name="Notched Right Arrow 54"/>
              <p:cNvSpPr/>
              <p:nvPr/>
            </p:nvSpPr>
            <p:spPr>
              <a:xfrm flipH="1">
                <a:off x="3829410" y="3008511"/>
                <a:ext cx="4147306" cy="420489"/>
              </a:xfrm>
              <a:prstGeom prst="notchedRightArrow">
                <a:avLst>
                  <a:gd name="adj1" fmla="val 100000"/>
                  <a:gd name="adj2" fmla="val 28125"/>
                </a:avLst>
              </a:prstGeom>
              <a:ln/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7" name="Group 13"/>
              <p:cNvGrpSpPr/>
              <p:nvPr/>
            </p:nvGrpSpPr>
            <p:grpSpPr>
              <a:xfrm flipH="1">
                <a:off x="7372840" y="2852936"/>
                <a:ext cx="466716" cy="411474"/>
                <a:chOff x="1271589" y="1657350"/>
                <a:chExt cx="466716" cy="411474"/>
              </a:xfrm>
            </p:grpSpPr>
            <p:sp>
              <p:nvSpPr>
                <p:cNvPr id="69" name="Freeform 56"/>
                <p:cNvSpPr/>
                <p:nvPr/>
              </p:nvSpPr>
              <p:spPr>
                <a:xfrm>
                  <a:off x="1271589" y="1657350"/>
                  <a:ext cx="466716" cy="154781"/>
                </a:xfrm>
                <a:custGeom>
                  <a:avLst/>
                  <a:gdLst>
                    <a:gd name="connsiteX0" fmla="*/ 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76200 w 457200"/>
                    <a:gd name="connsiteY0" fmla="*/ 0 h 152400"/>
                    <a:gd name="connsiteX1" fmla="*/ 457200 w 457200"/>
                    <a:gd name="connsiteY1" fmla="*/ 0 h 152400"/>
                    <a:gd name="connsiteX2" fmla="*/ 457200 w 457200"/>
                    <a:gd name="connsiteY2" fmla="*/ 152400 h 152400"/>
                    <a:gd name="connsiteX3" fmla="*/ 0 w 457200"/>
                    <a:gd name="connsiteY3" fmla="*/ 152400 h 152400"/>
                    <a:gd name="connsiteX4" fmla="*/ 76200 w 457200"/>
                    <a:gd name="connsiteY4" fmla="*/ 0 h 152400"/>
                    <a:gd name="connsiteX0" fmla="*/ 104775 w 485775"/>
                    <a:gd name="connsiteY0" fmla="*/ 0 h 154781"/>
                    <a:gd name="connsiteX1" fmla="*/ 485775 w 485775"/>
                    <a:gd name="connsiteY1" fmla="*/ 0 h 154781"/>
                    <a:gd name="connsiteX2" fmla="*/ 485775 w 485775"/>
                    <a:gd name="connsiteY2" fmla="*/ 152400 h 154781"/>
                    <a:gd name="connsiteX3" fmla="*/ 0 w 485775"/>
                    <a:gd name="connsiteY3" fmla="*/ 154781 h 154781"/>
                    <a:gd name="connsiteX4" fmla="*/ 104775 w 485775"/>
                    <a:gd name="connsiteY4" fmla="*/ 0 h 1547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775" h="154781">
                      <a:moveTo>
                        <a:pt x="104775" y="0"/>
                      </a:moveTo>
                      <a:lnTo>
                        <a:pt x="485775" y="0"/>
                      </a:lnTo>
                      <a:lnTo>
                        <a:pt x="485775" y="152400"/>
                      </a:lnTo>
                      <a:lnTo>
                        <a:pt x="0" y="154781"/>
                      </a:lnTo>
                      <a:lnTo>
                        <a:pt x="104775" y="0"/>
                      </a:lnTo>
                      <a:close/>
                    </a:path>
                  </a:pathLst>
                </a:cu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" name="Rectangle 77"/>
                <p:cNvSpPr/>
                <p:nvPr/>
              </p:nvSpPr>
              <p:spPr>
                <a:xfrm>
                  <a:off x="1371600" y="1687824"/>
                  <a:ext cx="365760" cy="381000"/>
                </a:xfrm>
                <a:prstGeom prst="rect">
                  <a:avLst/>
                </a:prstGeom>
                <a:ln/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wrap="none" rtlCol="0" anchor="ctr"/>
                <a:lstStyle/>
                <a:p>
                  <a:pPr algn="ctr"/>
                  <a:r>
                    <a:rPr lang="fr-FR" sz="2400" b="1" dirty="0" smtClean="0">
                      <a:solidFill>
                        <a:srgbClr val="FFFF00"/>
                      </a:solidFill>
                    </a:rPr>
                    <a:t>-8</a:t>
                  </a:r>
                  <a:endParaRPr lang="en-US" sz="2400" b="1" dirty="0">
                    <a:solidFill>
                      <a:srgbClr val="FFFF00"/>
                    </a:solidFill>
                  </a:endParaRPr>
                </a:p>
              </p:txBody>
            </p:sp>
          </p:grpSp>
        </p:grpSp>
        <p:sp>
          <p:nvSpPr>
            <p:cNvPr id="55" name="ZoneTexte 54"/>
            <p:cNvSpPr txBox="1"/>
            <p:nvPr/>
          </p:nvSpPr>
          <p:spPr>
            <a:xfrm>
              <a:off x="4922108" y="2494057"/>
              <a:ext cx="238619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200" b="1" dirty="0">
                  <a:solidFill>
                    <a:srgbClr val="FFFF00"/>
                  </a:solidFill>
                </a:rPr>
                <a:t>المسطرة </a:t>
              </a:r>
              <a:r>
                <a:rPr lang="fr-FR" sz="2200" b="1" dirty="0">
                  <a:solidFill>
                    <a:srgbClr val="FFFF00"/>
                  </a:solidFill>
                </a:rPr>
                <a:t>la règle : </a:t>
              </a:r>
            </a:p>
          </p:txBody>
        </p:sp>
      </p:grpSp>
      <p:sp>
        <p:nvSpPr>
          <p:cNvPr id="79" name="Rectangle à coins arrondis 78"/>
          <p:cNvSpPr/>
          <p:nvPr/>
        </p:nvSpPr>
        <p:spPr>
          <a:xfrm flipH="1" flipV="1">
            <a:off x="395536" y="5113991"/>
            <a:ext cx="7950606" cy="691273"/>
          </a:xfrm>
          <a:prstGeom prst="wedgeRoundRectCallout">
            <a:avLst>
              <a:gd name="adj1" fmla="val -19782"/>
              <a:gd name="adj2" fmla="val 86869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0" name="Rectangle 79"/>
          <p:cNvSpPr/>
          <p:nvPr/>
        </p:nvSpPr>
        <p:spPr>
          <a:xfrm>
            <a:off x="3059832" y="5199583"/>
            <a:ext cx="51933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rtl="1"/>
            <a:r>
              <a:rPr lang="ar-DZ" sz="2400" b="1" dirty="0">
                <a:solidFill>
                  <a:schemeClr val="bg1"/>
                </a:solidFill>
              </a:rPr>
              <a:t>الأفقية والعمودية تستعمل في تحديد أبعاد الصفحة.</a:t>
            </a:r>
            <a:endParaRPr lang="fr-FR" sz="24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52" grpId="0"/>
      <p:bldP spid="8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Image 5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9508" y="620688"/>
            <a:ext cx="9144000" cy="5616624"/>
          </a:xfrm>
          <a:prstGeom prst="rect">
            <a:avLst/>
          </a:prstGeom>
        </p:spPr>
      </p:pic>
      <p:sp>
        <p:nvSpPr>
          <p:cNvPr id="61" name="Pensées 60"/>
          <p:cNvSpPr/>
          <p:nvPr/>
        </p:nvSpPr>
        <p:spPr>
          <a:xfrm>
            <a:off x="179512" y="637297"/>
            <a:ext cx="7722604" cy="2575679"/>
          </a:xfrm>
          <a:prstGeom prst="cloudCallout">
            <a:avLst>
              <a:gd name="adj1" fmla="val -33088"/>
              <a:gd name="adj2" fmla="val 68155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4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14102" y="3284984"/>
            <a:ext cx="2941886" cy="2952328"/>
          </a:xfrm>
          <a:prstGeom prst="rect">
            <a:avLst/>
          </a:prstGeom>
          <a:noFill/>
        </p:spPr>
      </p:pic>
      <p:sp>
        <p:nvSpPr>
          <p:cNvPr id="65" name="ZoneTexte 64"/>
          <p:cNvSpPr txBox="1"/>
          <p:nvPr/>
        </p:nvSpPr>
        <p:spPr>
          <a:xfrm>
            <a:off x="1152128" y="980728"/>
            <a:ext cx="5940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ماهي الخطوات المتبعة لتغيير تنسيق حدود وتظليل </a:t>
            </a:r>
            <a:r>
              <a:rPr lang="ar-DZ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الخلايا </a:t>
            </a:r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في الجدول؟ </a:t>
            </a:r>
          </a:p>
        </p:txBody>
      </p:sp>
      <p:sp>
        <p:nvSpPr>
          <p:cNvPr id="68" name="ZoneTexte 67"/>
          <p:cNvSpPr txBox="1"/>
          <p:nvPr/>
        </p:nvSpPr>
        <p:spPr>
          <a:xfrm>
            <a:off x="4283968" y="1372706"/>
            <a:ext cx="1944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/>
              <a:t>تنسيق حدود الخلايا</a:t>
            </a:r>
            <a:endParaRPr lang="fr-FR" sz="2000" b="1" dirty="0"/>
          </a:p>
        </p:txBody>
      </p:sp>
      <p:sp>
        <p:nvSpPr>
          <p:cNvPr id="69" name="ZoneTexte 68"/>
          <p:cNvSpPr txBox="1"/>
          <p:nvPr/>
        </p:nvSpPr>
        <p:spPr>
          <a:xfrm>
            <a:off x="1691680" y="1372706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/>
              <a:t>تظليل الخلايا</a:t>
            </a:r>
            <a:endParaRPr lang="fr-FR" sz="2000" b="1" dirty="0"/>
          </a:p>
        </p:txBody>
      </p:sp>
      <p:pic>
        <p:nvPicPr>
          <p:cNvPr id="7170" name="Picture 2" descr="C:\Users\RIDHA\Desktop\5658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390" y="1708112"/>
            <a:ext cx="2724150" cy="1000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1" name="Picture 3" descr="C:\Users\RIDHA\Desktop\565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4657" y="1708111"/>
            <a:ext cx="2695575" cy="1000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e 4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4" name="Groupe 3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2" name="Groupe 1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43" name="Groupe 42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51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53" name="Rectangle 52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54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56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57" name="Rectangle 56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55" name="Rectangle 54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46" name="Image 45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6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47" name="Image 46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7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48" name="ZoneTexte 47"/>
                    <p:cNvSpPr txBox="1"/>
                    <p:nvPr/>
                  </p:nvSpPr>
                  <p:spPr>
                    <a:xfrm>
                      <a:off x="5652120" y="6351711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49" name="ZoneTexte 48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50" name="ZoneTexte 49"/>
                    <p:cNvSpPr txBox="1"/>
                    <p:nvPr/>
                  </p:nvSpPr>
                  <p:spPr>
                    <a:xfrm>
                      <a:off x="2987824" y="6381328"/>
                      <a:ext cx="208823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المستوى:الأول متوسط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25" name="Image 24" descr="3d print business.png"/>
                  <p:cNvPicPr>
                    <a:picLocks noChangeAspect="1"/>
                  </p:cNvPicPr>
                  <p:nvPr/>
                </p:nvPicPr>
                <p:blipFill>
                  <a:blip r:embed="rId8" cstate="print"/>
                  <a:stretch>
                    <a:fillRect/>
                  </a:stretch>
                </p:blipFill>
                <p:spPr>
                  <a:xfrm>
                    <a:off x="4788024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7" name="ZoneTexte 26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30" name="Image 29" descr="Microsoft_Word_2013_logo.svg.pn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29" name="ZoneTexte 28"/>
            <p:cNvSpPr txBox="1"/>
            <p:nvPr/>
          </p:nvSpPr>
          <p:spPr>
            <a:xfrm>
              <a:off x="2267744" y="44624"/>
              <a:ext cx="27363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تقديم معالج النصوص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5" grpId="0"/>
      <p:bldP spid="68" grpId="0"/>
      <p:bldP spid="6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3" descr="C:\Users\RIDHA\Downloads\صور المعلوماتية\711039_colorful-square-frames-on-blue-hd-video-backgrounds-loop-youtube_1920x1080_h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2012"/>
            <a:ext cx="9144000" cy="569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Shape 856"/>
          <p:cNvSpPr/>
          <p:nvPr/>
        </p:nvSpPr>
        <p:spPr>
          <a:xfrm>
            <a:off x="8316416" y="692696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9" name="Shape 859"/>
          <p:cNvSpPr/>
          <p:nvPr/>
        </p:nvSpPr>
        <p:spPr>
          <a:xfrm>
            <a:off x="3707904" y="720328"/>
            <a:ext cx="4557074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60" name="ZoneTexte 59"/>
          <p:cNvSpPr txBox="1"/>
          <p:nvPr/>
        </p:nvSpPr>
        <p:spPr>
          <a:xfrm>
            <a:off x="8316416" y="692696"/>
            <a:ext cx="5116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6</a:t>
            </a:r>
            <a:r>
              <a:rPr lang="fr-FR" sz="2800" b="1" dirty="0" smtClean="0">
                <a:solidFill>
                  <a:srgbClr val="FFFF00"/>
                </a:solidFill>
              </a:rPr>
              <a:t>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61" name="ZoneTexte 60"/>
          <p:cNvSpPr txBox="1"/>
          <p:nvPr/>
        </p:nvSpPr>
        <p:spPr>
          <a:xfrm>
            <a:off x="3894151" y="745540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rgbClr val="FFFF00"/>
                </a:solidFill>
              </a:rPr>
              <a:t>الحدود والتظليل</a:t>
            </a:r>
            <a:r>
              <a:rPr lang="ar-DZ" sz="2400" b="1" dirty="0">
                <a:solidFill>
                  <a:srgbClr val="FFFF00"/>
                </a:solidFill>
              </a:rPr>
              <a:t>:</a:t>
            </a:r>
            <a:endParaRPr lang="fr-FR" sz="2400" b="1" dirty="0">
              <a:solidFill>
                <a:srgbClr val="FFFF00"/>
              </a:solidFill>
            </a:endParaRPr>
          </a:p>
        </p:txBody>
      </p:sp>
      <p:grpSp>
        <p:nvGrpSpPr>
          <p:cNvPr id="62" name="Group 60"/>
          <p:cNvGrpSpPr>
            <a:grpSpLocks/>
          </p:cNvGrpSpPr>
          <p:nvPr/>
        </p:nvGrpSpPr>
        <p:grpSpPr bwMode="auto">
          <a:xfrm flipH="1">
            <a:off x="8298021" y="1404283"/>
            <a:ext cx="192383" cy="190618"/>
            <a:chOff x="2078" y="1680"/>
            <a:chExt cx="1615" cy="1615"/>
          </a:xfrm>
        </p:grpSpPr>
        <p:sp>
          <p:nvSpPr>
            <p:cNvPr id="63" name="Oval 6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4" name="Oval 6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5" name="Oval 63"/>
            <p:cNvSpPr>
              <a:spLocks noChangeArrowheads="1"/>
            </p:cNvSpPr>
            <p:nvPr/>
          </p:nvSpPr>
          <p:spPr bwMode="gray">
            <a:xfrm>
              <a:off x="2251" y="1855"/>
              <a:ext cx="1266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66" name="Oval 64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67" name="Oval 65"/>
            <p:cNvSpPr>
              <a:spLocks noChangeArrowheads="1"/>
            </p:cNvSpPr>
            <p:nvPr/>
          </p:nvSpPr>
          <p:spPr bwMode="gray">
            <a:xfrm>
              <a:off x="2331" y="1936"/>
              <a:ext cx="1099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68" name="Oval 66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</p:grpSp>
      <p:sp>
        <p:nvSpPr>
          <p:cNvPr id="69" name="Rectangle 68"/>
          <p:cNvSpPr/>
          <p:nvPr/>
        </p:nvSpPr>
        <p:spPr>
          <a:xfrm>
            <a:off x="485800" y="1330315"/>
            <a:ext cx="68225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لتنسيق بعض حدود الجدول أو كلها، نحدد الخلايا المعينة،ثم ننقر على التوالي:</a:t>
            </a:r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70" name="ZoneTexte 69"/>
          <p:cNvSpPr txBox="1"/>
          <p:nvPr/>
        </p:nvSpPr>
        <p:spPr>
          <a:xfrm>
            <a:off x="7164288" y="1268760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400" b="1" dirty="0" smtClean="0">
                <a:solidFill>
                  <a:srgbClr val="FFFF00"/>
                </a:solidFill>
              </a:rPr>
              <a:t>الحدود:</a:t>
            </a:r>
            <a:endParaRPr lang="fr-FR" sz="2400" b="1" dirty="0">
              <a:solidFill>
                <a:srgbClr val="FFFF00"/>
              </a:solidFill>
            </a:endParaRPr>
          </a:p>
        </p:txBody>
      </p:sp>
      <p:grpSp>
        <p:nvGrpSpPr>
          <p:cNvPr id="71" name="Group 60"/>
          <p:cNvGrpSpPr>
            <a:grpSpLocks/>
          </p:cNvGrpSpPr>
          <p:nvPr/>
        </p:nvGrpSpPr>
        <p:grpSpPr bwMode="auto">
          <a:xfrm flipH="1">
            <a:off x="8261509" y="4254986"/>
            <a:ext cx="192383" cy="190618"/>
            <a:chOff x="2078" y="1680"/>
            <a:chExt cx="1615" cy="1615"/>
          </a:xfrm>
        </p:grpSpPr>
        <p:sp>
          <p:nvSpPr>
            <p:cNvPr id="72" name="Oval 6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3" name="Oval 6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4" name="Oval 63"/>
            <p:cNvSpPr>
              <a:spLocks noChangeArrowheads="1"/>
            </p:cNvSpPr>
            <p:nvPr/>
          </p:nvSpPr>
          <p:spPr bwMode="gray">
            <a:xfrm>
              <a:off x="2251" y="1855"/>
              <a:ext cx="1266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75" name="Oval 64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106" name="Oval 65"/>
            <p:cNvSpPr>
              <a:spLocks noChangeArrowheads="1"/>
            </p:cNvSpPr>
            <p:nvPr/>
          </p:nvSpPr>
          <p:spPr bwMode="gray">
            <a:xfrm>
              <a:off x="2331" y="1936"/>
              <a:ext cx="1099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107" name="Oval 66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</p:grpSp>
      <p:sp>
        <p:nvSpPr>
          <p:cNvPr id="108" name="Rectangle 107"/>
          <p:cNvSpPr/>
          <p:nvPr/>
        </p:nvSpPr>
        <p:spPr>
          <a:xfrm>
            <a:off x="1637928" y="4181018"/>
            <a:ext cx="56703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DZ" sz="2000" b="1" dirty="0">
                <a:solidFill>
                  <a:schemeClr val="bg1"/>
                </a:solidFill>
              </a:rPr>
              <a:t>لتظليل الجدول أو بعض الخلايا، نحددها ثم ننقر على التوالي:</a:t>
            </a:r>
            <a:endParaRPr lang="fr-FR" sz="1900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09" name="ZoneTexte 108"/>
          <p:cNvSpPr txBox="1"/>
          <p:nvPr/>
        </p:nvSpPr>
        <p:spPr>
          <a:xfrm>
            <a:off x="7164288" y="4119463"/>
            <a:ext cx="9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400" b="1" dirty="0" smtClean="0">
                <a:solidFill>
                  <a:srgbClr val="FFFF00"/>
                </a:solidFill>
              </a:rPr>
              <a:t>التظليل:</a:t>
            </a:r>
            <a:endParaRPr lang="fr-FR" sz="2400" b="1" dirty="0">
              <a:solidFill>
                <a:srgbClr val="FFFF00"/>
              </a:solidFill>
            </a:endParaRPr>
          </a:p>
        </p:txBody>
      </p:sp>
      <p:grpSp>
        <p:nvGrpSpPr>
          <p:cNvPr id="110" name="Group 104"/>
          <p:cNvGrpSpPr/>
          <p:nvPr/>
        </p:nvGrpSpPr>
        <p:grpSpPr>
          <a:xfrm>
            <a:off x="5006725" y="4581128"/>
            <a:ext cx="3727793" cy="527690"/>
            <a:chOff x="782821" y="1173645"/>
            <a:chExt cx="3577009" cy="1114425"/>
          </a:xfrm>
        </p:grpSpPr>
        <p:sp>
          <p:nvSpPr>
            <p:cNvPr id="111" name="Rectangle 110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2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" name="Rectangle 112"/>
            <p:cNvSpPr/>
            <p:nvPr/>
          </p:nvSpPr>
          <p:spPr>
            <a:xfrm flipH="1">
              <a:off x="782821" y="1373671"/>
              <a:ext cx="2802308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4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5" name="Rectangle 114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116" name="Group 118"/>
          <p:cNvGrpSpPr/>
          <p:nvPr/>
        </p:nvGrpSpPr>
        <p:grpSpPr>
          <a:xfrm>
            <a:off x="5006726" y="5354247"/>
            <a:ext cx="3727794" cy="523025"/>
            <a:chOff x="782821" y="2392845"/>
            <a:chExt cx="3577009" cy="1114425"/>
          </a:xfrm>
        </p:grpSpPr>
        <p:sp>
          <p:nvSpPr>
            <p:cNvPr id="117" name="Rectangle 116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8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9" name="Rectangle 118"/>
            <p:cNvSpPr/>
            <p:nvPr/>
          </p:nvSpPr>
          <p:spPr>
            <a:xfrm flipH="1">
              <a:off x="782821" y="2592869"/>
              <a:ext cx="2802310" cy="9144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1" name="Rectangle 120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28" name="Rectangle 127"/>
          <p:cNvSpPr/>
          <p:nvPr/>
        </p:nvSpPr>
        <p:spPr>
          <a:xfrm>
            <a:off x="5220071" y="4685074"/>
            <a:ext cx="24422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rtl="1">
              <a:spcBef>
                <a:spcPct val="20000"/>
              </a:spcBef>
              <a:defRPr/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smtClean="0">
                <a:solidFill>
                  <a:schemeClr val="bg1"/>
                </a:solidFill>
              </a:rPr>
              <a:t>ا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لتبويب  </a:t>
            </a:r>
            <a:r>
              <a:rPr lang="en-US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 </a:t>
            </a:r>
            <a:r>
              <a:rPr lang="fr-FR" sz="2000" b="1" dirty="0">
                <a:solidFill>
                  <a:schemeClr val="bg1"/>
                </a:solidFill>
                <a:ea typeface="Times New Roman"/>
                <a:cs typeface="Times New Roman"/>
              </a:rPr>
              <a:t>.</a:t>
            </a:r>
            <a:r>
              <a:rPr lang="fr-FR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Création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8007608" y="4587818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8021553" y="5354248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32" name="Rectangle 131"/>
          <p:cNvSpPr/>
          <p:nvPr/>
        </p:nvSpPr>
        <p:spPr>
          <a:xfrm>
            <a:off x="5196127" y="5460172"/>
            <a:ext cx="24002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الأداة  </a:t>
            </a:r>
            <a:r>
              <a:rPr lang="fr-FR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.</a:t>
            </a:r>
            <a:r>
              <a:rPr lang="fr-FR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Trame </a:t>
            </a:r>
            <a:r>
              <a:rPr lang="fr-FR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de fond</a:t>
            </a:r>
            <a:endParaRPr lang="fr-FR" sz="2000" dirty="0">
              <a:solidFill>
                <a:schemeClr val="bg1"/>
              </a:solidFill>
            </a:endParaRPr>
          </a:p>
        </p:txBody>
      </p:sp>
      <p:grpSp>
        <p:nvGrpSpPr>
          <p:cNvPr id="134" name="Group 104"/>
          <p:cNvGrpSpPr/>
          <p:nvPr/>
        </p:nvGrpSpPr>
        <p:grpSpPr>
          <a:xfrm>
            <a:off x="5004048" y="1681839"/>
            <a:ext cx="3727793" cy="527690"/>
            <a:chOff x="782821" y="1173645"/>
            <a:chExt cx="3577009" cy="1114425"/>
          </a:xfrm>
        </p:grpSpPr>
        <p:sp>
          <p:nvSpPr>
            <p:cNvPr id="135" name="Rectangle 134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6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7" name="Rectangle 136"/>
            <p:cNvSpPr/>
            <p:nvPr/>
          </p:nvSpPr>
          <p:spPr>
            <a:xfrm flipH="1">
              <a:off x="782821" y="1373671"/>
              <a:ext cx="2802308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9" name="Rectangle 138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46" name="Rectangle 145"/>
          <p:cNvSpPr/>
          <p:nvPr/>
        </p:nvSpPr>
        <p:spPr>
          <a:xfrm>
            <a:off x="7956376" y="1691516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48" name="TextBox 68"/>
          <p:cNvSpPr txBox="1"/>
          <p:nvPr/>
        </p:nvSpPr>
        <p:spPr>
          <a:xfrm>
            <a:off x="5109997" y="1825079"/>
            <a:ext cx="2414331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algn="r" rtl="1">
              <a:spcBef>
                <a:spcPct val="20000"/>
              </a:spcBef>
              <a:defRPr/>
            </a:pPr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التبويب  </a:t>
            </a:r>
            <a:r>
              <a:rPr lang="en-US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 </a:t>
            </a:r>
            <a:r>
              <a:rPr lang="fr-FR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.</a:t>
            </a:r>
            <a:r>
              <a:rPr lang="fr-FR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Création</a:t>
            </a:r>
            <a:endParaRPr lang="en-US" sz="2000" dirty="0">
              <a:solidFill>
                <a:schemeClr val="bg1"/>
              </a:solidFill>
            </a:endParaRPr>
          </a:p>
        </p:txBody>
      </p:sp>
      <p:grpSp>
        <p:nvGrpSpPr>
          <p:cNvPr id="150" name="Group 104"/>
          <p:cNvGrpSpPr/>
          <p:nvPr/>
        </p:nvGrpSpPr>
        <p:grpSpPr>
          <a:xfrm>
            <a:off x="5004049" y="2325246"/>
            <a:ext cx="3727792" cy="527690"/>
            <a:chOff x="782822" y="1173645"/>
            <a:chExt cx="3577008" cy="1114425"/>
          </a:xfrm>
        </p:grpSpPr>
        <p:sp>
          <p:nvSpPr>
            <p:cNvPr id="151" name="Rectangle 150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3" name="Rectangle 152"/>
            <p:cNvSpPr/>
            <p:nvPr/>
          </p:nvSpPr>
          <p:spPr>
            <a:xfrm flipH="1">
              <a:off x="782822" y="1373671"/>
              <a:ext cx="2802309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4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5" name="Rectangle 154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156" name="Group 118"/>
          <p:cNvGrpSpPr/>
          <p:nvPr/>
        </p:nvGrpSpPr>
        <p:grpSpPr>
          <a:xfrm>
            <a:off x="4571999" y="2924944"/>
            <a:ext cx="4159844" cy="523025"/>
            <a:chOff x="368247" y="2392845"/>
            <a:chExt cx="3991583" cy="1114425"/>
          </a:xfrm>
        </p:grpSpPr>
        <p:sp>
          <p:nvSpPr>
            <p:cNvPr id="157" name="Rectangle 156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8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9" name="Rectangle 158"/>
            <p:cNvSpPr/>
            <p:nvPr/>
          </p:nvSpPr>
          <p:spPr>
            <a:xfrm flipH="1">
              <a:off x="368247" y="2592869"/>
              <a:ext cx="3216881" cy="9144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0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1" name="Rectangle 160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62" name="Rectangle 161"/>
          <p:cNvSpPr/>
          <p:nvPr/>
        </p:nvSpPr>
        <p:spPr>
          <a:xfrm>
            <a:off x="5217394" y="2429192"/>
            <a:ext cx="24422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الأداة  </a:t>
            </a:r>
            <a:r>
              <a:rPr lang="fr-FR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.</a:t>
            </a:r>
            <a:r>
              <a:rPr lang="fr-FR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Bordures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63" name="Rectangle 162"/>
          <p:cNvSpPr/>
          <p:nvPr/>
        </p:nvSpPr>
        <p:spPr>
          <a:xfrm>
            <a:off x="8004931" y="2331936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64" name="Rectangle 163"/>
          <p:cNvSpPr/>
          <p:nvPr/>
        </p:nvSpPr>
        <p:spPr>
          <a:xfrm>
            <a:off x="8018876" y="2924945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65" name="Rectangle 164"/>
          <p:cNvSpPr/>
          <p:nvPr/>
        </p:nvSpPr>
        <p:spPr>
          <a:xfrm>
            <a:off x="4653239" y="3030869"/>
            <a:ext cx="29404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التعليمة </a:t>
            </a:r>
            <a:r>
              <a:rPr lang="fr-FR" sz="2000" b="1" dirty="0" smtClean="0">
                <a:solidFill>
                  <a:schemeClr val="bg1"/>
                </a:solidFill>
                <a:ea typeface="Times New Roman"/>
                <a:cs typeface="Times New Roman"/>
              </a:rPr>
              <a:t>.</a:t>
            </a:r>
            <a:r>
              <a:rPr lang="fr-FR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Bordures </a:t>
            </a:r>
            <a:r>
              <a:rPr lang="fr-FR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et trame</a:t>
            </a:r>
            <a:endParaRPr lang="fr-FR" sz="2000" dirty="0">
              <a:solidFill>
                <a:schemeClr val="bg1"/>
              </a:solidFill>
            </a:endParaRPr>
          </a:p>
        </p:txBody>
      </p:sp>
      <p:grpSp>
        <p:nvGrpSpPr>
          <p:cNvPr id="166" name="Group 104"/>
          <p:cNvGrpSpPr/>
          <p:nvPr/>
        </p:nvGrpSpPr>
        <p:grpSpPr>
          <a:xfrm>
            <a:off x="539552" y="4941168"/>
            <a:ext cx="3727793" cy="527690"/>
            <a:chOff x="782821" y="1173645"/>
            <a:chExt cx="3577009" cy="1114425"/>
          </a:xfrm>
        </p:grpSpPr>
        <p:sp>
          <p:nvSpPr>
            <p:cNvPr id="167" name="Rectangle 166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8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9" name="Rectangle 168"/>
            <p:cNvSpPr/>
            <p:nvPr/>
          </p:nvSpPr>
          <p:spPr>
            <a:xfrm flipH="1">
              <a:off x="782821" y="1373671"/>
              <a:ext cx="2802308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0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1" name="Rectangle 170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78" name="Rectangle 177"/>
          <p:cNvSpPr/>
          <p:nvPr/>
        </p:nvSpPr>
        <p:spPr>
          <a:xfrm>
            <a:off x="752898" y="5045114"/>
            <a:ext cx="24422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نختار لون التظليل.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79" name="Rectangle 178"/>
          <p:cNvSpPr/>
          <p:nvPr/>
        </p:nvSpPr>
        <p:spPr>
          <a:xfrm>
            <a:off x="3540435" y="4947858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grpSp>
        <p:nvGrpSpPr>
          <p:cNvPr id="182" name="Group 104"/>
          <p:cNvGrpSpPr/>
          <p:nvPr/>
        </p:nvGrpSpPr>
        <p:grpSpPr>
          <a:xfrm>
            <a:off x="3195145" y="3573016"/>
            <a:ext cx="5539373" cy="527690"/>
            <a:chOff x="-955483" y="1173645"/>
            <a:chExt cx="5315313" cy="1114425"/>
          </a:xfrm>
        </p:grpSpPr>
        <p:sp>
          <p:nvSpPr>
            <p:cNvPr id="183" name="Rectangle 182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4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5" name="Rectangle 184"/>
            <p:cNvSpPr/>
            <p:nvPr/>
          </p:nvSpPr>
          <p:spPr>
            <a:xfrm flipH="1">
              <a:off x="-955483" y="1373671"/>
              <a:ext cx="4540613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6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7" name="Rectangle 186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94" name="Rectangle 193"/>
          <p:cNvSpPr/>
          <p:nvPr/>
        </p:nvSpPr>
        <p:spPr>
          <a:xfrm>
            <a:off x="3319762" y="3676962"/>
            <a:ext cx="434858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ننسق في النافذة التي تظهر نمط ولون وسمك الحد.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95" name="Rectangle 194"/>
          <p:cNvSpPr/>
          <p:nvPr/>
        </p:nvSpPr>
        <p:spPr>
          <a:xfrm>
            <a:off x="8007608" y="3579706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grpSp>
        <p:nvGrpSpPr>
          <p:cNvPr id="6" name="Groupe 5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5" name="Groupe 4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2" name="Groupe 1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43" name="Groupe 42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51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53" name="Rectangle 52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54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56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57" name="Rectangle 56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55" name="Rectangle 54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46" name="Image 45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3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47" name="Image 46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48" name="ZoneTexte 47"/>
                    <p:cNvSpPr txBox="1"/>
                    <p:nvPr/>
                  </p:nvSpPr>
                  <p:spPr>
                    <a:xfrm>
                      <a:off x="5652120" y="6351711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49" name="ZoneTexte 48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50" name="ZoneTexte 49"/>
                    <p:cNvSpPr txBox="1"/>
                    <p:nvPr/>
                  </p:nvSpPr>
                  <p:spPr>
                    <a:xfrm>
                      <a:off x="2987824" y="6381328"/>
                      <a:ext cx="208823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المستوى:الأول متوسط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96" name="Image 95" descr="3d print business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4788024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98" name="ZoneTexte 97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101" name="Image 100" descr="Microsoft_Word_2013_logo.svg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100" name="ZoneTexte 99"/>
            <p:cNvSpPr txBox="1"/>
            <p:nvPr/>
          </p:nvSpPr>
          <p:spPr>
            <a:xfrm>
              <a:off x="2267744" y="44624"/>
              <a:ext cx="27363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تقديم معالج النصوص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5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5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50"/>
                            </p:stCondLst>
                            <p:childTnLst>
                              <p:par>
                                <p:cTn id="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250"/>
                            </p:stCondLst>
                            <p:childTnLst>
                              <p:par>
                                <p:cTn id="3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75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250"/>
                            </p:stCondLst>
                            <p:childTnLst>
                              <p:par>
                                <p:cTn id="4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750"/>
                            </p:stCondLst>
                            <p:childTnLst>
                              <p:par>
                                <p:cTn id="4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25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750"/>
                            </p:stCondLst>
                            <p:childTnLst>
                              <p:par>
                                <p:cTn id="5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250"/>
                            </p:stCondLst>
                            <p:childTnLst>
                              <p:par>
                                <p:cTn id="6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750"/>
                            </p:stCondLst>
                            <p:childTnLst>
                              <p:par>
                                <p:cTn id="6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250"/>
                            </p:stCondLst>
                            <p:childTnLst>
                              <p:par>
                                <p:cTn id="7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750"/>
                            </p:stCondLst>
                            <p:childTnLst>
                              <p:par>
                                <p:cTn id="7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250"/>
                            </p:stCondLst>
                            <p:childTnLst>
                              <p:par>
                                <p:cTn id="8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8750"/>
                            </p:stCondLst>
                            <p:childTnLst>
                              <p:par>
                                <p:cTn id="8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5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3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9" grpId="0" animBg="1"/>
      <p:bldP spid="60" grpId="0"/>
      <p:bldP spid="61" grpId="0"/>
      <p:bldP spid="69" grpId="0"/>
      <p:bldP spid="70" grpId="0"/>
      <p:bldP spid="108" grpId="0"/>
      <p:bldP spid="109" grpId="0"/>
      <p:bldP spid="128" grpId="0"/>
      <p:bldP spid="129" grpId="0"/>
      <p:bldP spid="130" grpId="0"/>
      <p:bldP spid="132" grpId="0"/>
      <p:bldP spid="146" grpId="0"/>
      <p:bldP spid="148" grpId="0"/>
      <p:bldP spid="162" grpId="0"/>
      <p:bldP spid="163" grpId="0"/>
      <p:bldP spid="164" grpId="0"/>
      <p:bldP spid="165" grpId="0"/>
      <p:bldP spid="178" grpId="0"/>
      <p:bldP spid="179" grpId="0"/>
      <p:bldP spid="194" grpId="0"/>
      <p:bldP spid="19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3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47" name="Pensées 46"/>
          <p:cNvSpPr/>
          <p:nvPr/>
        </p:nvSpPr>
        <p:spPr>
          <a:xfrm>
            <a:off x="179512" y="637297"/>
            <a:ext cx="7722604" cy="2575679"/>
          </a:xfrm>
          <a:prstGeom prst="cloudCallout">
            <a:avLst>
              <a:gd name="adj1" fmla="val -33088"/>
              <a:gd name="adj2" fmla="val 68155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48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14102" y="3284984"/>
            <a:ext cx="2941886" cy="2952328"/>
          </a:xfrm>
          <a:prstGeom prst="rect">
            <a:avLst/>
          </a:prstGeom>
          <a:noFill/>
        </p:spPr>
      </p:pic>
      <p:sp>
        <p:nvSpPr>
          <p:cNvPr id="49" name="ZoneTexte 48"/>
          <p:cNvSpPr txBox="1"/>
          <p:nvPr/>
        </p:nvSpPr>
        <p:spPr>
          <a:xfrm>
            <a:off x="1152128" y="980728"/>
            <a:ext cx="59401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ماهي الخطوات المتبعة لدمج وتقسيم </a:t>
            </a:r>
            <a:r>
              <a:rPr lang="ar-DZ" sz="2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الخلايا </a:t>
            </a:r>
            <a:r>
              <a:rPr lang="ar-DZ" sz="2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في الجدول؟ </a:t>
            </a:r>
          </a:p>
        </p:txBody>
      </p:sp>
      <p:sp>
        <p:nvSpPr>
          <p:cNvPr id="50" name="ZoneTexte 49"/>
          <p:cNvSpPr txBox="1"/>
          <p:nvPr/>
        </p:nvSpPr>
        <p:spPr>
          <a:xfrm>
            <a:off x="4716016" y="1444714"/>
            <a:ext cx="1152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/>
              <a:t>دمج الخلايا</a:t>
            </a:r>
            <a:endParaRPr lang="fr-FR" sz="2000" b="1" dirty="0"/>
          </a:p>
        </p:txBody>
      </p:sp>
      <p:sp>
        <p:nvSpPr>
          <p:cNvPr id="51" name="ZoneTexte 50"/>
          <p:cNvSpPr txBox="1"/>
          <p:nvPr/>
        </p:nvSpPr>
        <p:spPr>
          <a:xfrm>
            <a:off x="1475656" y="1444714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/>
              <a:t>تقسيم الخلايا</a:t>
            </a:r>
            <a:endParaRPr lang="fr-FR" sz="2000" b="1" dirty="0"/>
          </a:p>
        </p:txBody>
      </p:sp>
      <p:pic>
        <p:nvPicPr>
          <p:cNvPr id="8194" name="Picture 2" descr="C:\Users\RIDHA\Desktop\56588888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833014"/>
            <a:ext cx="269557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5" name="Picture 3" descr="C:\Users\RIDHA\Desktop\565888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2085" y="1833014"/>
            <a:ext cx="270510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e 5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4" name="Groupe 3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2" name="Groupe 1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4"/>
                  <p:cNvGrpSpPr/>
                  <p:nvPr/>
                </p:nvGrpSpPr>
                <p:grpSpPr>
                  <a:xfrm>
                    <a:off x="-180528" y="0"/>
                    <a:ext cx="9324528" cy="6957392"/>
                    <a:chOff x="-180528" y="0"/>
                    <a:chExt cx="9324528" cy="6957392"/>
                  </a:xfrm>
                </p:grpSpPr>
                <p:grpSp>
                  <p:nvGrpSpPr>
                    <p:cNvPr id="13" name="Groupe 18"/>
                    <p:cNvGrpSpPr/>
                    <p:nvPr/>
                  </p:nvGrpSpPr>
                  <p:grpSpPr>
                    <a:xfrm>
                      <a:off x="0" y="0"/>
                      <a:ext cx="9144000" cy="6885384"/>
                      <a:chOff x="0" y="0"/>
                      <a:chExt cx="9144000" cy="6885384"/>
                    </a:xfrm>
                  </p:grpSpPr>
                  <p:sp>
                    <p:nvSpPr>
                      <p:cNvPr id="15" name="Rectangle 14"/>
                      <p:cNvSpPr/>
                      <p:nvPr/>
                    </p:nvSpPr>
                    <p:spPr>
                      <a:xfrm rot="10800000" flipV="1">
                        <a:off x="0" y="0"/>
                        <a:ext cx="6983760" cy="62068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grpSp>
                    <p:nvGrpSpPr>
                      <p:cNvPr id="16" name="Groupe 15"/>
                      <p:cNvGrpSpPr/>
                      <p:nvPr/>
                    </p:nvGrpSpPr>
                    <p:grpSpPr>
                      <a:xfrm>
                        <a:off x="0" y="6237312"/>
                        <a:ext cx="9144000" cy="648072"/>
                        <a:chOff x="0" y="6237312"/>
                        <a:chExt cx="9144000" cy="648072"/>
                      </a:xfrm>
                    </p:grpSpPr>
                    <p:sp>
                      <p:nvSpPr>
                        <p:cNvPr id="18" name="Rectangle 5"/>
                        <p:cNvSpPr/>
                        <p:nvPr/>
                      </p:nvSpPr>
                      <p:spPr>
                        <a:xfrm>
                          <a:off x="0" y="6309320"/>
                          <a:ext cx="9144000" cy="576064"/>
                        </a:xfrm>
                        <a:prstGeom prst="rect">
                          <a:avLst/>
                        </a:prstGeom>
                        <a:solidFill>
                          <a:srgbClr val="CC00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1"/>
                        </a:lnRef>
                        <a:fillRef idx="3">
                          <a:schemeClr val="accent1"/>
                        </a:fillRef>
                        <a:effectRef idx="2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  <p:sp>
                      <p:nvSpPr>
                        <p:cNvPr id="19" name="Rectangle 18"/>
                        <p:cNvSpPr/>
                        <p:nvPr/>
                      </p:nvSpPr>
                      <p:spPr>
                        <a:xfrm flipV="1">
                          <a:off x="0" y="6237312"/>
                          <a:ext cx="9144000" cy="72008"/>
                        </a:xfrm>
                        <a:prstGeom prst="rect">
                          <a:avLst/>
                        </a:prstGeom>
                        <a:solidFill>
                          <a:srgbClr val="FF6600"/>
                        </a:solidFill>
                        <a:ln>
                          <a:noFill/>
                        </a:ln>
                      </p:spPr>
                      <p:style>
                        <a:lnRef idx="1">
                          <a:schemeClr val="accent6"/>
                        </a:lnRef>
                        <a:fillRef idx="3">
                          <a:schemeClr val="accent6"/>
                        </a:fillRef>
                        <a:effectRef idx="2">
                          <a:schemeClr val="accent6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fr-FR"/>
                        </a:p>
                      </p:txBody>
                    </p:sp>
                  </p:grpSp>
                  <p:sp>
                    <p:nvSpPr>
                      <p:cNvPr id="17" name="Rectangle 16"/>
                      <p:cNvSpPr/>
                      <p:nvPr/>
                    </p:nvSpPr>
                    <p:spPr>
                      <a:xfrm rot="10800000" flipV="1">
                        <a:off x="7020272" y="0"/>
                        <a:ext cx="2123728" cy="620688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 dirty="0"/>
                      </a:p>
                    </p:txBody>
                  </p:sp>
                </p:grpSp>
                <p:pic>
                  <p:nvPicPr>
                    <p:cNvPr id="8" name="Image 7" descr="3-2-blogging-transparent-thumb.png"/>
                    <p:cNvPicPr>
                      <a:picLocks noChangeAspect="1"/>
                    </p:cNvPicPr>
                    <p:nvPr/>
                  </p:nvPicPr>
                  <p:blipFill>
                    <a:blip r:embed="rId6" cstate="print"/>
                    <a:stretch>
                      <a:fillRect/>
                    </a:stretch>
                  </p:blipFill>
                  <p:spPr>
                    <a:xfrm>
                      <a:off x="2195736" y="6165304"/>
                      <a:ext cx="864096" cy="741369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9" name="Image 8" descr="12-2-education-png-image-thumb.png"/>
                    <p:cNvPicPr>
                      <a:picLocks noChangeAspect="1"/>
                    </p:cNvPicPr>
                    <p:nvPr/>
                  </p:nvPicPr>
                  <p:blipFill>
                    <a:blip r:embed="rId7" cstate="print"/>
                    <a:stretch>
                      <a:fillRect/>
                    </a:stretch>
                  </p:blipFill>
                  <p:spPr>
                    <a:xfrm>
                      <a:off x="8388424" y="5976664"/>
                      <a:ext cx="720080" cy="98072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0" name="ZoneTexte 9"/>
                    <p:cNvSpPr txBox="1"/>
                    <p:nvPr/>
                  </p:nvSpPr>
                  <p:spPr>
                    <a:xfrm>
                      <a:off x="5652120" y="6351711"/>
                      <a:ext cx="2808312" cy="38472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متوسطة قلواز </a:t>
                      </a:r>
                      <a:r>
                        <a:rPr lang="ar-DZ" sz="1900" b="1" dirty="0" err="1" smtClean="0">
                          <a:solidFill>
                            <a:schemeClr val="bg1"/>
                          </a:solidFill>
                        </a:rPr>
                        <a:t>موسى </a:t>
                      </a:r>
                      <a:r>
                        <a:rPr lang="ar-DZ" sz="1900" b="1" dirty="0" smtClean="0">
                          <a:solidFill>
                            <a:schemeClr val="bg1"/>
                          </a:solidFill>
                        </a:rPr>
                        <a:t>- بوراشد</a:t>
                      </a:r>
                      <a:endParaRPr lang="fr-FR" sz="19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1" name="ZoneTexte 10"/>
                    <p:cNvSpPr txBox="1"/>
                    <p:nvPr/>
                  </p:nvSpPr>
                  <p:spPr>
                    <a:xfrm>
                      <a:off x="-180528" y="6396335"/>
                      <a:ext cx="244827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تصميم الأستاذ ماحي رضا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2" name="ZoneTexte 11"/>
                    <p:cNvSpPr txBox="1"/>
                    <p:nvPr/>
                  </p:nvSpPr>
                  <p:spPr>
                    <a:xfrm>
                      <a:off x="2987824" y="6381328"/>
                      <a:ext cx="2088232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r" rtl="1"/>
                      <a:r>
                        <a:rPr lang="ar-DZ" sz="2000" b="1" dirty="0" smtClean="0">
                          <a:solidFill>
                            <a:schemeClr val="bg1"/>
                          </a:solidFill>
                        </a:rPr>
                        <a:t>المستوى:الأول متوسط</a:t>
                      </a:r>
                      <a:endParaRPr lang="fr-FR" sz="2000" b="1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pic>
                <p:nvPicPr>
                  <p:cNvPr id="25" name="Image 24" descr="3d print business.png"/>
                  <p:cNvPicPr>
                    <a:picLocks noChangeAspect="1"/>
                  </p:cNvPicPr>
                  <p:nvPr/>
                </p:nvPicPr>
                <p:blipFill>
                  <a:blip r:embed="rId8" cstate="print"/>
                  <a:stretch>
                    <a:fillRect/>
                  </a:stretch>
                </p:blipFill>
                <p:spPr>
                  <a:xfrm>
                    <a:off x="4788024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7" name="ZoneTexte 26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30" name="Image 29" descr="Microsoft_Word_2013_logo.svg.pn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29" name="ZoneTexte 28"/>
            <p:cNvSpPr txBox="1"/>
            <p:nvPr/>
          </p:nvSpPr>
          <p:spPr>
            <a:xfrm>
              <a:off x="2267744" y="44624"/>
              <a:ext cx="27363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تقديم معالج النصوص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Image 72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grpSp>
        <p:nvGrpSpPr>
          <p:cNvPr id="74" name="Group 60"/>
          <p:cNvGrpSpPr>
            <a:grpSpLocks/>
          </p:cNvGrpSpPr>
          <p:nvPr/>
        </p:nvGrpSpPr>
        <p:grpSpPr bwMode="auto">
          <a:xfrm flipH="1">
            <a:off x="8298021" y="1404283"/>
            <a:ext cx="192383" cy="190618"/>
            <a:chOff x="2078" y="1680"/>
            <a:chExt cx="1615" cy="1615"/>
          </a:xfrm>
        </p:grpSpPr>
        <p:sp>
          <p:nvSpPr>
            <p:cNvPr id="75" name="Oval 6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6" name="Oval 6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7" name="Oval 63"/>
            <p:cNvSpPr>
              <a:spLocks noChangeArrowheads="1"/>
            </p:cNvSpPr>
            <p:nvPr/>
          </p:nvSpPr>
          <p:spPr bwMode="gray">
            <a:xfrm>
              <a:off x="2251" y="1855"/>
              <a:ext cx="1266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78" name="Oval 64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79" name="Oval 65"/>
            <p:cNvSpPr>
              <a:spLocks noChangeArrowheads="1"/>
            </p:cNvSpPr>
            <p:nvPr/>
          </p:nvSpPr>
          <p:spPr bwMode="gray">
            <a:xfrm>
              <a:off x="2331" y="1936"/>
              <a:ext cx="1099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80" name="Oval 66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</p:grpSp>
      <p:sp>
        <p:nvSpPr>
          <p:cNvPr id="81" name="Rectangle 80"/>
          <p:cNvSpPr/>
          <p:nvPr/>
        </p:nvSpPr>
        <p:spPr>
          <a:xfrm>
            <a:off x="-108520" y="1330315"/>
            <a:ext cx="69847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يمكن دمج خليتين أو أكثر لتصبح خلية واحدة، نحدد الخلايا  المراد دمجها ،وننقر على التوالي:</a:t>
            </a:r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82" name="ZoneTexte 81"/>
          <p:cNvSpPr txBox="1"/>
          <p:nvPr/>
        </p:nvSpPr>
        <p:spPr>
          <a:xfrm>
            <a:off x="6713984" y="1268760"/>
            <a:ext cx="1458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400" b="1" dirty="0" smtClean="0">
                <a:solidFill>
                  <a:srgbClr val="FFFF00"/>
                </a:solidFill>
              </a:rPr>
              <a:t>دمج الخلايا:</a:t>
            </a:r>
            <a:endParaRPr lang="fr-FR" sz="2400" b="1" dirty="0">
              <a:solidFill>
                <a:srgbClr val="FFFF00"/>
              </a:solidFill>
            </a:endParaRPr>
          </a:p>
        </p:txBody>
      </p:sp>
      <p:grpSp>
        <p:nvGrpSpPr>
          <p:cNvPr id="83" name="Group 60"/>
          <p:cNvGrpSpPr>
            <a:grpSpLocks/>
          </p:cNvGrpSpPr>
          <p:nvPr/>
        </p:nvGrpSpPr>
        <p:grpSpPr bwMode="auto">
          <a:xfrm flipH="1">
            <a:off x="8261509" y="3348499"/>
            <a:ext cx="192383" cy="190618"/>
            <a:chOff x="2078" y="1680"/>
            <a:chExt cx="1615" cy="1615"/>
          </a:xfrm>
        </p:grpSpPr>
        <p:sp>
          <p:nvSpPr>
            <p:cNvPr id="84" name="Oval 6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5" name="Oval 6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6" name="Oval 63"/>
            <p:cNvSpPr>
              <a:spLocks noChangeArrowheads="1"/>
            </p:cNvSpPr>
            <p:nvPr/>
          </p:nvSpPr>
          <p:spPr bwMode="gray">
            <a:xfrm>
              <a:off x="2251" y="1855"/>
              <a:ext cx="1266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87" name="Oval 64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88" name="Oval 65"/>
            <p:cNvSpPr>
              <a:spLocks noChangeArrowheads="1"/>
            </p:cNvSpPr>
            <p:nvPr/>
          </p:nvSpPr>
          <p:spPr bwMode="gray">
            <a:xfrm>
              <a:off x="2331" y="1936"/>
              <a:ext cx="1099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89" name="Oval 66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</p:grpSp>
      <p:sp>
        <p:nvSpPr>
          <p:cNvPr id="90" name="Rectangle 89"/>
          <p:cNvSpPr/>
          <p:nvPr/>
        </p:nvSpPr>
        <p:spPr>
          <a:xfrm>
            <a:off x="0" y="3274531"/>
            <a:ext cx="671398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DZ" sz="2000" b="1" dirty="0">
                <a:solidFill>
                  <a:schemeClr val="bg1"/>
                </a:solidFill>
              </a:rPr>
              <a:t>يمكن تقسيم خلية واحدة إلى عدة خلايا،نحدد الخلية المراد تقسيمها،وننقر على التوالي:</a:t>
            </a:r>
            <a:endParaRPr lang="fr-FR" sz="1900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91" name="ZoneTexte 90"/>
          <p:cNvSpPr txBox="1"/>
          <p:nvPr/>
        </p:nvSpPr>
        <p:spPr>
          <a:xfrm>
            <a:off x="6588224" y="3212976"/>
            <a:ext cx="1547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400" b="1" dirty="0" smtClean="0">
                <a:solidFill>
                  <a:srgbClr val="FFFF00"/>
                </a:solidFill>
              </a:rPr>
              <a:t>تقسيم الخلايا:</a:t>
            </a:r>
            <a:endParaRPr lang="fr-FR" sz="2400" b="1" dirty="0">
              <a:solidFill>
                <a:srgbClr val="FFFF00"/>
              </a:solidFill>
            </a:endParaRPr>
          </a:p>
        </p:txBody>
      </p:sp>
      <p:grpSp>
        <p:nvGrpSpPr>
          <p:cNvPr id="92" name="Group 104"/>
          <p:cNvGrpSpPr/>
          <p:nvPr/>
        </p:nvGrpSpPr>
        <p:grpSpPr>
          <a:xfrm>
            <a:off x="5006725" y="3861048"/>
            <a:ext cx="3727793" cy="527690"/>
            <a:chOff x="782821" y="1173645"/>
            <a:chExt cx="3577009" cy="1114425"/>
          </a:xfrm>
        </p:grpSpPr>
        <p:sp>
          <p:nvSpPr>
            <p:cNvPr id="93" name="Rectangle 92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Rectangle 94"/>
            <p:cNvSpPr/>
            <p:nvPr/>
          </p:nvSpPr>
          <p:spPr>
            <a:xfrm flipH="1">
              <a:off x="782821" y="1373671"/>
              <a:ext cx="2802308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Rectangle 96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grpSp>
        <p:nvGrpSpPr>
          <p:cNvPr id="98" name="Group 118"/>
          <p:cNvGrpSpPr/>
          <p:nvPr/>
        </p:nvGrpSpPr>
        <p:grpSpPr>
          <a:xfrm>
            <a:off x="4351345" y="4490151"/>
            <a:ext cx="4383175" cy="523025"/>
            <a:chOff x="153949" y="2392845"/>
            <a:chExt cx="4205881" cy="1114425"/>
          </a:xfrm>
        </p:grpSpPr>
        <p:sp>
          <p:nvSpPr>
            <p:cNvPr id="99" name="Rectangle 98"/>
            <p:cNvSpPr/>
            <p:nvPr/>
          </p:nvSpPr>
          <p:spPr>
            <a:xfrm flipH="1">
              <a:off x="3947080" y="2592870"/>
              <a:ext cx="412750" cy="914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Freeform 120"/>
            <p:cNvSpPr/>
            <p:nvPr/>
          </p:nvSpPr>
          <p:spPr>
            <a:xfrm rot="5400000" flipH="1">
              <a:off x="3527344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Rectangle 100"/>
            <p:cNvSpPr/>
            <p:nvPr/>
          </p:nvSpPr>
          <p:spPr>
            <a:xfrm flipH="1">
              <a:off x="153949" y="2592869"/>
              <a:ext cx="3431181" cy="9144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Freeform 122"/>
            <p:cNvSpPr/>
            <p:nvPr/>
          </p:nvSpPr>
          <p:spPr>
            <a:xfrm rot="16200000" flipH="1" flipV="1">
              <a:off x="2887581" y="28128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Rectangle 102"/>
            <p:cNvSpPr/>
            <p:nvPr/>
          </p:nvSpPr>
          <p:spPr>
            <a:xfrm flipH="1">
              <a:off x="3306524" y="2392845"/>
              <a:ext cx="914400" cy="9144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05" name="Rectangle 104"/>
          <p:cNvSpPr/>
          <p:nvPr/>
        </p:nvSpPr>
        <p:spPr>
          <a:xfrm>
            <a:off x="8007608" y="3867738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06" name="Rectangle 105"/>
          <p:cNvSpPr/>
          <p:nvPr/>
        </p:nvSpPr>
        <p:spPr>
          <a:xfrm>
            <a:off x="8021553" y="4490152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07" name="Rectangle 106"/>
          <p:cNvSpPr/>
          <p:nvPr/>
        </p:nvSpPr>
        <p:spPr>
          <a:xfrm>
            <a:off x="4351345" y="4596076"/>
            <a:ext cx="32449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الأداة </a:t>
            </a:r>
            <a:r>
              <a:rPr lang="fr-FR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Fractionner les cellules</a:t>
            </a:r>
            <a:r>
              <a:rPr lang="ar-DZ" sz="2000" b="1" dirty="0">
                <a:solidFill>
                  <a:schemeClr val="bg1"/>
                </a:solidFill>
                <a:latin typeface="Times New Roman"/>
                <a:ea typeface="Times New Roman"/>
              </a:rPr>
              <a:t>.</a:t>
            </a:r>
            <a:endParaRPr lang="fr-FR" sz="2000" dirty="0">
              <a:solidFill>
                <a:schemeClr val="bg1"/>
              </a:solidFill>
            </a:endParaRPr>
          </a:p>
        </p:txBody>
      </p:sp>
      <p:grpSp>
        <p:nvGrpSpPr>
          <p:cNvPr id="108" name="Group 104"/>
          <p:cNvGrpSpPr/>
          <p:nvPr/>
        </p:nvGrpSpPr>
        <p:grpSpPr>
          <a:xfrm>
            <a:off x="5004048" y="1969871"/>
            <a:ext cx="3727793" cy="527690"/>
            <a:chOff x="782821" y="1173645"/>
            <a:chExt cx="3577009" cy="1114425"/>
          </a:xfrm>
        </p:grpSpPr>
        <p:sp>
          <p:nvSpPr>
            <p:cNvPr id="109" name="Rectangle 108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Rectangle 110"/>
            <p:cNvSpPr/>
            <p:nvPr/>
          </p:nvSpPr>
          <p:spPr>
            <a:xfrm flipH="1">
              <a:off x="782821" y="1373671"/>
              <a:ext cx="2802308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2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" name="Rectangle 112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14" name="Rectangle 113"/>
          <p:cNvSpPr/>
          <p:nvPr/>
        </p:nvSpPr>
        <p:spPr>
          <a:xfrm>
            <a:off x="7956376" y="1979548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grpSp>
        <p:nvGrpSpPr>
          <p:cNvPr id="116" name="Group 104"/>
          <p:cNvGrpSpPr/>
          <p:nvPr/>
        </p:nvGrpSpPr>
        <p:grpSpPr>
          <a:xfrm>
            <a:off x="4473115" y="2613278"/>
            <a:ext cx="4258725" cy="527690"/>
            <a:chOff x="273364" y="1173645"/>
            <a:chExt cx="4086466" cy="1114425"/>
          </a:xfrm>
        </p:grpSpPr>
        <p:sp>
          <p:nvSpPr>
            <p:cNvPr id="117" name="Rectangle 116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8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9" name="Rectangle 118"/>
            <p:cNvSpPr/>
            <p:nvPr/>
          </p:nvSpPr>
          <p:spPr>
            <a:xfrm flipH="1">
              <a:off x="273364" y="1373671"/>
              <a:ext cx="3311765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1" name="Rectangle 120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28" name="Rectangle 127"/>
          <p:cNvSpPr/>
          <p:nvPr/>
        </p:nvSpPr>
        <p:spPr>
          <a:xfrm>
            <a:off x="4572000" y="2717224"/>
            <a:ext cx="30876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>
                <a:solidFill>
                  <a:schemeClr val="bg1"/>
                </a:solidFill>
                <a:ea typeface="Times New Roman"/>
                <a:cs typeface="Times New Roman"/>
              </a:rPr>
              <a:t>الأداة </a:t>
            </a:r>
            <a:r>
              <a:rPr lang="fr-FR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Fusionner les cellules</a:t>
            </a:r>
            <a:r>
              <a:rPr lang="ar-DZ" sz="2000" b="1" dirty="0" smtClean="0">
                <a:solidFill>
                  <a:schemeClr val="bg1"/>
                </a:solidFill>
                <a:latin typeface="Times New Roman"/>
                <a:ea typeface="Times New Roman"/>
              </a:rPr>
              <a:t>.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8004931" y="2619968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grpSp>
        <p:nvGrpSpPr>
          <p:cNvPr id="132" name="Group 104"/>
          <p:cNvGrpSpPr/>
          <p:nvPr/>
        </p:nvGrpSpPr>
        <p:grpSpPr>
          <a:xfrm>
            <a:off x="1403647" y="5085184"/>
            <a:ext cx="7344817" cy="891480"/>
            <a:chOff x="-2687900" y="1173645"/>
            <a:chExt cx="7047730" cy="1114425"/>
          </a:xfrm>
        </p:grpSpPr>
        <p:sp>
          <p:nvSpPr>
            <p:cNvPr id="133" name="Rectangle 132"/>
            <p:cNvSpPr/>
            <p:nvPr/>
          </p:nvSpPr>
          <p:spPr>
            <a:xfrm flipH="1">
              <a:off x="3947080" y="1373670"/>
              <a:ext cx="41275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4" name="Freeform 106"/>
            <p:cNvSpPr/>
            <p:nvPr/>
          </p:nvSpPr>
          <p:spPr>
            <a:xfrm rot="5400000" flipH="1">
              <a:off x="3527344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5" name="Rectangle 134"/>
            <p:cNvSpPr/>
            <p:nvPr/>
          </p:nvSpPr>
          <p:spPr>
            <a:xfrm flipH="1">
              <a:off x="-2687900" y="1373671"/>
              <a:ext cx="6273028" cy="9143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6" name="Freeform 108"/>
            <p:cNvSpPr/>
            <p:nvPr/>
          </p:nvSpPr>
          <p:spPr>
            <a:xfrm rot="16200000" flipH="1" flipV="1">
              <a:off x="2887581" y="1593696"/>
              <a:ext cx="1114425" cy="274323"/>
            </a:xfrm>
            <a:custGeom>
              <a:avLst/>
              <a:gdLst>
                <a:gd name="connsiteX0" fmla="*/ 0 w 633676"/>
                <a:gd name="connsiteY0" fmla="*/ 274320 h 274320"/>
                <a:gd name="connsiteX1" fmla="*/ 68580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633676"/>
                <a:gd name="connsiteY0" fmla="*/ 274320 h 274320"/>
                <a:gd name="connsiteX1" fmla="*/ 115214 w 633676"/>
                <a:gd name="connsiteY1" fmla="*/ 0 h 274320"/>
                <a:gd name="connsiteX2" fmla="*/ 633676 w 633676"/>
                <a:gd name="connsiteY2" fmla="*/ 0 h 274320"/>
                <a:gd name="connsiteX3" fmla="*/ 565096 w 633676"/>
                <a:gd name="connsiteY3" fmla="*/ 274320 h 274320"/>
                <a:gd name="connsiteX4" fmla="*/ 0 w 633676"/>
                <a:gd name="connsiteY4" fmla="*/ 274320 h 274320"/>
                <a:gd name="connsiteX0" fmla="*/ 0 w 576069"/>
                <a:gd name="connsiteY0" fmla="*/ 274320 h 274320"/>
                <a:gd name="connsiteX1" fmla="*/ 57607 w 576069"/>
                <a:gd name="connsiteY1" fmla="*/ 0 h 274320"/>
                <a:gd name="connsiteX2" fmla="*/ 576069 w 576069"/>
                <a:gd name="connsiteY2" fmla="*/ 0 h 274320"/>
                <a:gd name="connsiteX3" fmla="*/ 507489 w 576069"/>
                <a:gd name="connsiteY3" fmla="*/ 274320 h 274320"/>
                <a:gd name="connsiteX4" fmla="*/ 0 w 576069"/>
                <a:gd name="connsiteY4" fmla="*/ 274320 h 274320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576069"/>
                <a:gd name="connsiteY0" fmla="*/ 274323 h 274323"/>
                <a:gd name="connsiteX1" fmla="*/ 57607 w 576069"/>
                <a:gd name="connsiteY1" fmla="*/ 0 h 274323"/>
                <a:gd name="connsiteX2" fmla="*/ 576069 w 576069"/>
                <a:gd name="connsiteY2" fmla="*/ 0 h 274323"/>
                <a:gd name="connsiteX3" fmla="*/ 507489 w 576069"/>
                <a:gd name="connsiteY3" fmla="*/ 274320 h 274323"/>
                <a:gd name="connsiteX4" fmla="*/ 0 w 576069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65097 w 633677"/>
                <a:gd name="connsiteY3" fmla="*/ 274320 h 274323"/>
                <a:gd name="connsiteX4" fmla="*/ 0 w 633677"/>
                <a:gd name="connsiteY4" fmla="*/ 274323 h 274323"/>
                <a:gd name="connsiteX0" fmla="*/ 0 w 633677"/>
                <a:gd name="connsiteY0" fmla="*/ 274323 h 274323"/>
                <a:gd name="connsiteX1" fmla="*/ 115215 w 633677"/>
                <a:gd name="connsiteY1" fmla="*/ 0 h 274323"/>
                <a:gd name="connsiteX2" fmla="*/ 633677 w 633677"/>
                <a:gd name="connsiteY2" fmla="*/ 0 h 274323"/>
                <a:gd name="connsiteX3" fmla="*/ 518463 w 633677"/>
                <a:gd name="connsiteY3" fmla="*/ 274323 h 274323"/>
                <a:gd name="connsiteX4" fmla="*/ 0 w 633677"/>
                <a:gd name="connsiteY4" fmla="*/ 274323 h 27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3677" h="274323">
                  <a:moveTo>
                    <a:pt x="0" y="274323"/>
                  </a:moveTo>
                  <a:lnTo>
                    <a:pt x="115215" y="0"/>
                  </a:lnTo>
                  <a:lnTo>
                    <a:pt x="633677" y="0"/>
                  </a:lnTo>
                  <a:lnTo>
                    <a:pt x="518463" y="274323"/>
                  </a:lnTo>
                  <a:lnTo>
                    <a:pt x="0" y="274323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7" name="Rectangle 136"/>
            <p:cNvSpPr/>
            <p:nvPr/>
          </p:nvSpPr>
          <p:spPr>
            <a:xfrm flipH="1">
              <a:off x="3306524" y="1173645"/>
              <a:ext cx="914400" cy="9144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400" b="1" dirty="0"/>
            </a:p>
          </p:txBody>
        </p:sp>
      </p:grpSp>
      <p:sp>
        <p:nvSpPr>
          <p:cNvPr id="138" name="Rectangle 137"/>
          <p:cNvSpPr/>
          <p:nvPr/>
        </p:nvSpPr>
        <p:spPr>
          <a:xfrm>
            <a:off x="1403648" y="5272172"/>
            <a:ext cx="6272617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DZ" sz="1900" b="1" dirty="0">
                <a:solidFill>
                  <a:schemeClr val="bg1"/>
                </a:solidFill>
                <a:ea typeface="Times New Roman"/>
                <a:cs typeface="Times New Roman"/>
              </a:rPr>
              <a:t>تظهر نافذة نحدد عليها عدد الأعمدة(</a:t>
            </a:r>
            <a:r>
              <a:rPr lang="fr-FR" sz="1900" b="1" dirty="0">
                <a:solidFill>
                  <a:schemeClr val="bg1"/>
                </a:solidFill>
                <a:latin typeface="Times New Roman"/>
                <a:ea typeface="Times New Roman"/>
                <a:cs typeface="Simplified Arabic"/>
              </a:rPr>
              <a:t>nombre de colonnes</a:t>
            </a:r>
            <a:r>
              <a:rPr lang="ar-DZ" sz="1900" b="1" dirty="0">
                <a:solidFill>
                  <a:schemeClr val="bg1"/>
                </a:solidFill>
                <a:ea typeface="Times New Roman"/>
                <a:cs typeface="Times New Roman"/>
              </a:rPr>
              <a:t>) وعدد الأسطر </a:t>
            </a:r>
            <a:r>
              <a:rPr lang="fr-FR" sz="1900" b="1" dirty="0">
                <a:solidFill>
                  <a:schemeClr val="bg1"/>
                </a:solidFill>
                <a:ea typeface="Times New Roman"/>
                <a:cs typeface="Times New Roman"/>
              </a:rPr>
              <a:t>(</a:t>
            </a:r>
            <a:r>
              <a:rPr lang="fr-FR" sz="1900" b="1" dirty="0" smtClean="0">
                <a:solidFill>
                  <a:schemeClr val="bg1"/>
                </a:solidFill>
                <a:latin typeface="Times New Roman"/>
                <a:ea typeface="Times New Roman"/>
                <a:cs typeface="Simplified Arabic"/>
              </a:rPr>
              <a:t>nombre </a:t>
            </a:r>
            <a:r>
              <a:rPr lang="fr-FR" sz="1900" b="1" dirty="0">
                <a:solidFill>
                  <a:schemeClr val="bg1"/>
                </a:solidFill>
                <a:latin typeface="Times New Roman"/>
                <a:ea typeface="Times New Roman"/>
                <a:cs typeface="Simplified Arabic"/>
              </a:rPr>
              <a:t>de linges)</a:t>
            </a:r>
            <a:r>
              <a:rPr lang="fr-FR" sz="1900" b="1" dirty="0">
                <a:solidFill>
                  <a:schemeClr val="bg1"/>
                </a:solidFill>
                <a:latin typeface="Simplified Arabic"/>
                <a:ea typeface="Times New Roman"/>
              </a:rPr>
              <a:t> </a:t>
            </a:r>
            <a:r>
              <a:rPr lang="ar-SA" sz="1900" b="1" dirty="0" smtClean="0">
                <a:solidFill>
                  <a:schemeClr val="bg1"/>
                </a:solidFill>
                <a:latin typeface="Times New Roman"/>
                <a:ea typeface="Times New Roman"/>
                <a:cs typeface="Simplified Arabic"/>
              </a:rPr>
              <a:t>المراد </a:t>
            </a:r>
            <a:r>
              <a:rPr lang="ar-SA" sz="1900" b="1" dirty="0">
                <a:solidFill>
                  <a:schemeClr val="bg1"/>
                </a:solidFill>
                <a:latin typeface="Times New Roman"/>
                <a:ea typeface="Times New Roman"/>
                <a:cs typeface="Simplified Arabic"/>
              </a:rPr>
              <a:t>الحصول عليها في الخلية </a:t>
            </a:r>
            <a:r>
              <a:rPr lang="ar-DZ" sz="1900" b="1" dirty="0">
                <a:solidFill>
                  <a:schemeClr val="bg1"/>
                </a:solidFill>
                <a:ea typeface="Times New Roman"/>
                <a:cs typeface="Times New Roman"/>
              </a:rPr>
              <a:t>ثم نضغط </a:t>
            </a:r>
            <a:r>
              <a:rPr lang="fr-FR" sz="1900" b="1" dirty="0">
                <a:solidFill>
                  <a:schemeClr val="bg1"/>
                </a:solidFill>
                <a:latin typeface="Times New Roman"/>
                <a:ea typeface="Times New Roman"/>
              </a:rPr>
              <a:t>ok</a:t>
            </a:r>
            <a:r>
              <a:rPr lang="ar-DZ" sz="1900" b="1" dirty="0">
                <a:solidFill>
                  <a:schemeClr val="bg1"/>
                </a:solidFill>
                <a:latin typeface="Times New Roman"/>
                <a:ea typeface="Times New Roman"/>
              </a:rPr>
              <a:t>.</a:t>
            </a:r>
            <a:endParaRPr lang="fr-FR" sz="1900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139" name="Rectangle 138"/>
          <p:cNvSpPr/>
          <p:nvPr/>
        </p:nvSpPr>
        <p:spPr>
          <a:xfrm>
            <a:off x="8021554" y="5219908"/>
            <a:ext cx="261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b="1" dirty="0">
                <a:solidFill>
                  <a:schemeClr val="bg1"/>
                </a:solidFill>
              </a:rPr>
              <a:t>-</a:t>
            </a:r>
            <a:endParaRPr lang="fr-FR" dirty="0"/>
          </a:p>
        </p:txBody>
      </p:sp>
      <p:sp>
        <p:nvSpPr>
          <p:cNvPr id="148" name="Shape 856"/>
          <p:cNvSpPr/>
          <p:nvPr/>
        </p:nvSpPr>
        <p:spPr>
          <a:xfrm>
            <a:off x="8316416" y="692696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49" name="Shape 859"/>
          <p:cNvSpPr/>
          <p:nvPr/>
        </p:nvSpPr>
        <p:spPr>
          <a:xfrm>
            <a:off x="3707904" y="720328"/>
            <a:ext cx="4557074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150" name="ZoneTexte 149"/>
          <p:cNvSpPr txBox="1"/>
          <p:nvPr/>
        </p:nvSpPr>
        <p:spPr>
          <a:xfrm>
            <a:off x="8316416" y="692696"/>
            <a:ext cx="539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7-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151" name="ZoneTexte 150"/>
          <p:cNvSpPr txBox="1"/>
          <p:nvPr/>
        </p:nvSpPr>
        <p:spPr>
          <a:xfrm>
            <a:off x="3995936" y="735087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rgbClr val="FFFF00"/>
                </a:solidFill>
              </a:rPr>
              <a:t>دمج وتقسيم الخلايا</a:t>
            </a:r>
            <a:r>
              <a:rPr lang="fr-FR" sz="2400" b="1" dirty="0">
                <a:solidFill>
                  <a:srgbClr val="FFFF00"/>
                </a:solidFill>
              </a:rPr>
              <a:t>:</a:t>
            </a:r>
          </a:p>
        </p:txBody>
      </p:sp>
      <p:sp>
        <p:nvSpPr>
          <p:cNvPr id="152" name="TextBox 68"/>
          <p:cNvSpPr txBox="1"/>
          <p:nvPr/>
        </p:nvSpPr>
        <p:spPr>
          <a:xfrm>
            <a:off x="5109997" y="2113111"/>
            <a:ext cx="2414331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algn="r" rtl="1">
              <a:spcBef>
                <a:spcPct val="20000"/>
              </a:spcBef>
              <a:defRPr/>
            </a:pPr>
            <a:r>
              <a:rPr lang="ar-DZ" sz="2000" b="1" dirty="0">
                <a:solidFill>
                  <a:schemeClr val="bg1"/>
                </a:solidFill>
              </a:rPr>
              <a:t>التبويب </a:t>
            </a:r>
            <a:r>
              <a:rPr lang="fr-FR" sz="2000" b="1" dirty="0">
                <a:solidFill>
                  <a:schemeClr val="bg1"/>
                </a:solidFill>
              </a:rPr>
              <a:t>Disposition</a:t>
            </a:r>
            <a:r>
              <a:rPr lang="ar-SA" sz="2000" b="1" dirty="0">
                <a:solidFill>
                  <a:schemeClr val="bg1"/>
                </a:solidFill>
              </a:rPr>
              <a:t>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53" name="TextBox 68"/>
          <p:cNvSpPr txBox="1"/>
          <p:nvPr/>
        </p:nvSpPr>
        <p:spPr>
          <a:xfrm>
            <a:off x="5109997" y="4005064"/>
            <a:ext cx="2414331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algn="r" rtl="1">
              <a:spcBef>
                <a:spcPct val="20000"/>
              </a:spcBef>
              <a:defRPr/>
            </a:pPr>
            <a:r>
              <a:rPr lang="ar-DZ" sz="2000" b="1" dirty="0">
                <a:solidFill>
                  <a:schemeClr val="bg1"/>
                </a:solidFill>
              </a:rPr>
              <a:t>التبويب </a:t>
            </a:r>
            <a:r>
              <a:rPr lang="fr-FR" sz="2000" b="1" dirty="0">
                <a:solidFill>
                  <a:schemeClr val="bg1"/>
                </a:solidFill>
              </a:rPr>
              <a:t>Disposition</a:t>
            </a:r>
            <a:r>
              <a:rPr lang="ar-SA" sz="2000" b="1" dirty="0">
                <a:solidFill>
                  <a:schemeClr val="bg1"/>
                </a:solidFill>
              </a:rPr>
              <a:t>.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9218" name="Picture 2" descr="C:\Users\RIDHA\Desktop\56588888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1" y="3666745"/>
            <a:ext cx="2736304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13" name="Groupe 1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12" name="Groupe 1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3" name="Groupe 2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21" name="Image 20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22" name="Image 21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23" name="ZoneTexte 22"/>
                  <p:cNvSpPr txBox="1"/>
                  <p:nvPr/>
                </p:nvSpPr>
                <p:spPr>
                  <a:xfrm>
                    <a:off x="5652120" y="6351711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24" name="ZoneTexte 23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25" name="ZoneTexte 24"/>
                  <p:cNvSpPr txBox="1"/>
                  <p:nvPr/>
                </p:nvSpPr>
                <p:spPr>
                  <a:xfrm>
                    <a:off x="2987824" y="6381328"/>
                    <a:ext cx="208823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المستوى:الأول متوسط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pic>
                <p:nvPicPr>
                  <p:cNvPr id="104" name="Image 103" descr="3d print business.png"/>
                  <p:cNvPicPr>
                    <a:picLocks noChangeAspect="1"/>
                  </p:cNvPicPr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4788024" y="6274668"/>
                    <a:ext cx="1440160" cy="58333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15" name="ZoneTexte 114"/>
                <p:cNvSpPr txBox="1"/>
                <p:nvPr/>
              </p:nvSpPr>
              <p:spPr>
                <a:xfrm>
                  <a:off x="6948264" y="44624"/>
                  <a:ext cx="21237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800" b="1" dirty="0" smtClean="0">
                      <a:solidFill>
                        <a:schemeClr val="bg1"/>
                      </a:solidFill>
                    </a:rPr>
                    <a:t>الحصة </a:t>
                  </a:r>
                  <a:r>
                    <a:rPr lang="ar-DZ" sz="2800" b="1" dirty="0" err="1" smtClean="0">
                      <a:solidFill>
                        <a:schemeClr val="bg1"/>
                      </a:solidFill>
                    </a:rPr>
                    <a:t>التعلمية</a:t>
                  </a:r>
                  <a:endParaRPr lang="fr-FR" sz="28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123" name="Image 122" descr="Microsoft_Word_2013_logo.svg.pn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827584" y="33236"/>
                <a:ext cx="792087" cy="587452"/>
              </a:xfrm>
              <a:prstGeom prst="rect">
                <a:avLst/>
              </a:prstGeom>
            </p:spPr>
          </p:pic>
        </p:grpSp>
        <p:sp>
          <p:nvSpPr>
            <p:cNvPr id="124" name="ZoneTexte 123"/>
            <p:cNvSpPr txBox="1"/>
            <p:nvPr/>
          </p:nvSpPr>
          <p:spPr>
            <a:xfrm>
              <a:off x="2267744" y="44624"/>
              <a:ext cx="27363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تقديم معالج النصوص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1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8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4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9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" grpId="0" animBg="1" advAuto="0"/>
      <p:bldP spid="152" grpId="0"/>
      <p:bldP spid="15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/>
          <p:cNvGrpSpPr/>
          <p:nvPr/>
        </p:nvGrpSpPr>
        <p:grpSpPr>
          <a:xfrm>
            <a:off x="0" y="0"/>
            <a:ext cx="9144000" cy="6885384"/>
            <a:chOff x="0" y="0"/>
            <a:chExt cx="9144000" cy="6885384"/>
          </a:xfrm>
        </p:grpSpPr>
        <p:grpSp>
          <p:nvGrpSpPr>
            <p:cNvPr id="5" name="Groupe 18"/>
            <p:cNvGrpSpPr/>
            <p:nvPr/>
          </p:nvGrpSpPr>
          <p:grpSpPr>
            <a:xfrm>
              <a:off x="0" y="0"/>
              <a:ext cx="9144000" cy="6885384"/>
              <a:chOff x="0" y="0"/>
              <a:chExt cx="9144000" cy="6885384"/>
            </a:xfrm>
          </p:grpSpPr>
          <p:sp>
            <p:nvSpPr>
              <p:cNvPr id="7" name="Rectangle 6"/>
              <p:cNvSpPr/>
              <p:nvPr/>
            </p:nvSpPr>
            <p:spPr>
              <a:xfrm rot="10800000" flipV="1">
                <a:off x="0" y="0"/>
                <a:ext cx="6983760" cy="620688"/>
              </a:xfrm>
              <a:prstGeom prst="rect">
                <a:avLst/>
              </a:prstGeom>
              <a:solidFill>
                <a:srgbClr val="FF6600"/>
              </a:solidFill>
              <a:ln>
                <a:noFill/>
              </a:ln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grpSp>
            <p:nvGrpSpPr>
              <p:cNvPr id="8" name="Groupe 15"/>
              <p:cNvGrpSpPr/>
              <p:nvPr/>
            </p:nvGrpSpPr>
            <p:grpSpPr>
              <a:xfrm>
                <a:off x="0" y="6237312"/>
                <a:ext cx="9144000" cy="648072"/>
                <a:chOff x="0" y="6237312"/>
                <a:chExt cx="9144000" cy="648072"/>
              </a:xfrm>
            </p:grpSpPr>
            <p:sp>
              <p:nvSpPr>
                <p:cNvPr id="10" name="Rectangle 5"/>
                <p:cNvSpPr/>
                <p:nvPr/>
              </p:nvSpPr>
              <p:spPr>
                <a:xfrm>
                  <a:off x="0" y="6309320"/>
                  <a:ext cx="9144000" cy="57606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 flipV="1">
                  <a:off x="0" y="6237312"/>
                  <a:ext cx="9144000" cy="72008"/>
                </a:xfrm>
                <a:prstGeom prst="rect">
                  <a:avLst/>
                </a:prstGeom>
                <a:solidFill>
                  <a:srgbClr val="FF6600"/>
                </a:solidFill>
                <a:ln>
                  <a:noFill/>
                </a:ln>
              </p:spPr>
              <p:style>
                <a:lnRef idx="1">
                  <a:schemeClr val="accent6"/>
                </a:lnRef>
                <a:fillRef idx="3">
                  <a:schemeClr val="accent6"/>
                </a:fillRef>
                <a:effectRef idx="2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9" name="Rectangle 8"/>
              <p:cNvSpPr/>
              <p:nvPr/>
            </p:nvSpPr>
            <p:spPr>
              <a:xfrm rot="10800000" flipV="1">
                <a:off x="7020272" y="0"/>
                <a:ext cx="2123728" cy="620688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sp>
          <p:nvSpPr>
            <p:cNvPr id="6" name="ZoneTexte 5"/>
            <p:cNvSpPr txBox="1"/>
            <p:nvPr/>
          </p:nvSpPr>
          <p:spPr>
            <a:xfrm>
              <a:off x="7308304" y="116632"/>
              <a:ext cx="14401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000" b="1" dirty="0" smtClean="0">
                  <a:solidFill>
                    <a:schemeClr val="bg1"/>
                  </a:solidFill>
                </a:rPr>
                <a:t>مذكرة رقم 1</a:t>
              </a:r>
              <a:endParaRPr lang="fr-FR" sz="20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42" name="Picture 1" descr="C:\Users\RIDHA\Downloads\صور المعلوماتية\computer_pc_PNG7714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0"/>
            <a:ext cx="1368152" cy="637297"/>
          </a:xfrm>
          <a:prstGeom prst="rect">
            <a:avLst/>
          </a:prstGeom>
          <a:noFill/>
        </p:spPr>
      </p:pic>
      <p:pic>
        <p:nvPicPr>
          <p:cNvPr id="47" name="Image 46" descr="3-2-blogging-transparent-thumb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95736" y="6165304"/>
            <a:ext cx="864096" cy="741369"/>
          </a:xfrm>
          <a:prstGeom prst="rect">
            <a:avLst/>
          </a:prstGeom>
        </p:spPr>
      </p:pic>
      <p:pic>
        <p:nvPicPr>
          <p:cNvPr id="48" name="Image 47" descr="12-2-education-png-image-thumb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388424" y="5976664"/>
            <a:ext cx="720080" cy="980728"/>
          </a:xfrm>
          <a:prstGeom prst="rect">
            <a:avLst/>
          </a:prstGeom>
        </p:spPr>
      </p:pic>
      <p:sp>
        <p:nvSpPr>
          <p:cNvPr id="49" name="ZoneTexte 48"/>
          <p:cNvSpPr txBox="1"/>
          <p:nvPr/>
        </p:nvSpPr>
        <p:spPr>
          <a:xfrm>
            <a:off x="5652120" y="6351711"/>
            <a:ext cx="2808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>
                <a:solidFill>
                  <a:schemeClr val="bg1"/>
                </a:solidFill>
              </a:rPr>
              <a:t>متوسطة قلواز </a:t>
            </a:r>
            <a:r>
              <a:rPr lang="ar-DZ" sz="2000" b="1" dirty="0" err="1" smtClean="0">
                <a:solidFill>
                  <a:schemeClr val="bg1"/>
                </a:solidFill>
              </a:rPr>
              <a:t>موسى </a:t>
            </a:r>
            <a:r>
              <a:rPr lang="ar-DZ" sz="2000" b="1" dirty="0" smtClean="0">
                <a:solidFill>
                  <a:schemeClr val="bg1"/>
                </a:solidFill>
              </a:rPr>
              <a:t>- بوراشد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50" name="ZoneTexte 49"/>
          <p:cNvSpPr txBox="1"/>
          <p:nvPr/>
        </p:nvSpPr>
        <p:spPr>
          <a:xfrm>
            <a:off x="-180528" y="6396335"/>
            <a:ext cx="2448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>
                <a:solidFill>
                  <a:schemeClr val="bg1"/>
                </a:solidFill>
              </a:rPr>
              <a:t>تصميم الأستاذ ماحي رضا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51" name="ZoneTexte 50"/>
          <p:cNvSpPr txBox="1"/>
          <p:nvPr/>
        </p:nvSpPr>
        <p:spPr>
          <a:xfrm>
            <a:off x="2987824" y="6381328"/>
            <a:ext cx="2088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000" b="1" dirty="0" smtClean="0">
                <a:solidFill>
                  <a:schemeClr val="bg1"/>
                </a:solidFill>
              </a:rPr>
              <a:t>المستوى:الأول متوسط</a:t>
            </a:r>
            <a:endParaRPr lang="fr-FR" sz="2000" b="1" dirty="0">
              <a:solidFill>
                <a:schemeClr val="bg1"/>
              </a:solidFill>
            </a:endParaRPr>
          </a:p>
        </p:txBody>
      </p:sp>
      <p:grpSp>
        <p:nvGrpSpPr>
          <p:cNvPr id="52" name="Group 60"/>
          <p:cNvGrpSpPr>
            <a:grpSpLocks/>
          </p:cNvGrpSpPr>
          <p:nvPr/>
        </p:nvGrpSpPr>
        <p:grpSpPr bwMode="auto">
          <a:xfrm flipH="1">
            <a:off x="899592" y="836712"/>
            <a:ext cx="384766" cy="381000"/>
            <a:chOff x="2078" y="1680"/>
            <a:chExt cx="1615" cy="1615"/>
          </a:xfrm>
        </p:grpSpPr>
        <p:sp>
          <p:nvSpPr>
            <p:cNvPr id="53" name="Oval 61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4" name="Oval 62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5" name="Oval 63"/>
            <p:cNvSpPr>
              <a:spLocks noChangeArrowheads="1"/>
            </p:cNvSpPr>
            <p:nvPr/>
          </p:nvSpPr>
          <p:spPr bwMode="gray">
            <a:xfrm>
              <a:off x="2251" y="1855"/>
              <a:ext cx="1266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56" name="Oval 64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48BE67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57" name="Oval 65"/>
            <p:cNvSpPr>
              <a:spLocks noChangeArrowheads="1"/>
            </p:cNvSpPr>
            <p:nvPr/>
          </p:nvSpPr>
          <p:spPr bwMode="gray">
            <a:xfrm>
              <a:off x="2331" y="1936"/>
              <a:ext cx="1099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58" name="Oval 66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1">
              <a:gsLst>
                <a:gs pos="0">
                  <a:srgbClr val="48BE67"/>
                </a:gs>
                <a:gs pos="100000">
                  <a:srgbClr val="235C32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</p:grpSp>
      <p:grpSp>
        <p:nvGrpSpPr>
          <p:cNvPr id="59" name="Group 53"/>
          <p:cNvGrpSpPr>
            <a:grpSpLocks/>
          </p:cNvGrpSpPr>
          <p:nvPr/>
        </p:nvGrpSpPr>
        <p:grpSpPr bwMode="auto">
          <a:xfrm flipH="1">
            <a:off x="648072" y="1412776"/>
            <a:ext cx="387623" cy="381000"/>
            <a:chOff x="2078" y="1680"/>
            <a:chExt cx="1615" cy="1615"/>
          </a:xfrm>
        </p:grpSpPr>
        <p:sp>
          <p:nvSpPr>
            <p:cNvPr id="60" name="Oval 54"/>
            <p:cNvSpPr>
              <a:spLocks noChangeArrowheads="1"/>
            </p:cNvSpPr>
            <p:nvPr/>
          </p:nvSpPr>
          <p:spPr bwMode="gray">
            <a:xfrm>
              <a:off x="2078" y="1680"/>
              <a:ext cx="1615" cy="1615"/>
            </a:xfrm>
            <a:prstGeom prst="ellipse">
              <a:avLst/>
            </a:prstGeom>
            <a:gradFill rotWithShape="1">
              <a:gsLst>
                <a:gs pos="0">
                  <a:srgbClr val="767676"/>
                </a:gs>
                <a:gs pos="5000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5715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" name="Oval 55"/>
            <p:cNvSpPr>
              <a:spLocks noChangeArrowheads="1"/>
            </p:cNvSpPr>
            <p:nvPr/>
          </p:nvSpPr>
          <p:spPr bwMode="gray">
            <a:xfrm>
              <a:off x="2170" y="1771"/>
              <a:ext cx="1430" cy="1430"/>
            </a:xfrm>
            <a:prstGeom prst="ellipse">
              <a:avLst/>
            </a:prstGeom>
            <a:gradFill rotWithShape="1">
              <a:gsLst>
                <a:gs pos="0">
                  <a:srgbClr val="A2A2A2"/>
                </a:gs>
                <a:gs pos="50000">
                  <a:srgbClr val="FFFFFF"/>
                </a:gs>
                <a:gs pos="100000">
                  <a:srgbClr val="A2A2A2"/>
                </a:gs>
              </a:gsLst>
              <a:lin ang="0" scaled="1"/>
            </a:gra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2" name="Oval 56"/>
            <p:cNvSpPr>
              <a:spLocks noChangeArrowheads="1"/>
            </p:cNvSpPr>
            <p:nvPr/>
          </p:nvSpPr>
          <p:spPr bwMode="gray">
            <a:xfrm>
              <a:off x="2250" y="1855"/>
              <a:ext cx="1270" cy="1265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tint val="0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63" name="Oval 57"/>
            <p:cNvSpPr>
              <a:spLocks noChangeArrowheads="1"/>
            </p:cNvSpPr>
            <p:nvPr/>
          </p:nvSpPr>
          <p:spPr bwMode="gray">
            <a:xfrm>
              <a:off x="2254" y="1856"/>
              <a:ext cx="1262" cy="1264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FFCC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fr-FR"/>
            </a:p>
          </p:txBody>
        </p:sp>
        <p:sp>
          <p:nvSpPr>
            <p:cNvPr id="64" name="Oval 58"/>
            <p:cNvSpPr>
              <a:spLocks noChangeArrowheads="1"/>
            </p:cNvSpPr>
            <p:nvPr/>
          </p:nvSpPr>
          <p:spPr bwMode="gray">
            <a:xfrm>
              <a:off x="2336" y="1936"/>
              <a:ext cx="1091" cy="1104"/>
            </a:xfrm>
            <a:prstGeom prst="ellipse">
              <a:avLst/>
            </a:prstGeom>
            <a:gradFill rotWithShape="1">
              <a:gsLst>
                <a:gs pos="0">
                  <a:schemeClr val="hlink">
                    <a:gamma/>
                    <a:shade val="54118"/>
                    <a:invGamma/>
                  </a:schemeClr>
                </a:gs>
                <a:gs pos="50000">
                  <a:schemeClr val="hlink"/>
                </a:gs>
                <a:gs pos="100000">
                  <a:schemeClr val="hlink">
                    <a:gamma/>
                    <a:shade val="54118"/>
                    <a:invGamma/>
                  </a:schemeClr>
                </a:gs>
              </a:gsLst>
              <a:lin ang="18900000" scaled="1"/>
            </a:gradFill>
            <a:ln w="38100" algn="ctr">
              <a:noFill/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>
                <a:defRPr/>
              </a:pPr>
              <a:endParaRPr lang="fr-FR">
                <a:latin typeface="Arial" charset="0"/>
                <a:cs typeface="Arial" charset="0"/>
              </a:endParaRPr>
            </a:p>
          </p:txBody>
        </p:sp>
        <p:sp>
          <p:nvSpPr>
            <p:cNvPr id="65" name="Oval 59"/>
            <p:cNvSpPr>
              <a:spLocks noChangeArrowheads="1"/>
            </p:cNvSpPr>
            <p:nvPr/>
          </p:nvSpPr>
          <p:spPr bwMode="gray">
            <a:xfrm>
              <a:off x="2337" y="1939"/>
              <a:ext cx="1096" cy="1098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7C6300"/>
                </a:gs>
              </a:gsLst>
              <a:lin ang="2700000" scaled="1"/>
            </a:gradFill>
            <a:ln w="38100" algn="ctr">
              <a:noFill/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fr-FR"/>
            </a:p>
          </p:txBody>
        </p:sp>
      </p:grpSp>
      <p:cxnSp>
        <p:nvCxnSpPr>
          <p:cNvPr id="66" name="Straight Connector 25"/>
          <p:cNvCxnSpPr/>
          <p:nvPr/>
        </p:nvCxnSpPr>
        <p:spPr>
          <a:xfrm flipH="1">
            <a:off x="251520" y="1268760"/>
            <a:ext cx="1" cy="614898"/>
          </a:xfrm>
          <a:prstGeom prst="line">
            <a:avLst/>
          </a:prstGeom>
          <a:ln w="19050">
            <a:solidFill>
              <a:schemeClr val="accent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32235</TotalTime>
  <Words>819</Words>
  <Application>Microsoft Office PowerPoint</Application>
  <PresentationFormat>Affichage à l'écran (4:3)</PresentationFormat>
  <Paragraphs>196</Paragraphs>
  <Slides>17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18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CEM KALOUAZ MOUSSA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RIDHA MAHI</dc:creator>
  <cp:lastModifiedBy>RIDHA MAHI</cp:lastModifiedBy>
  <cp:revision>691</cp:revision>
  <dcterms:created xsi:type="dcterms:W3CDTF">2017-08-13T13:54:07Z</dcterms:created>
  <dcterms:modified xsi:type="dcterms:W3CDTF">2018-08-13T18:01:11Z</dcterms:modified>
</cp:coreProperties>
</file>