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4" r:id="rId8"/>
    <p:sldId id="265" r:id="rId9"/>
    <p:sldId id="277" r:id="rId10"/>
    <p:sldId id="267" r:id="rId11"/>
    <p:sldId id="278" r:id="rId12"/>
    <p:sldId id="269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66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9" autoAdjust="0"/>
    <p:restoredTop sz="93728" autoAdjust="0"/>
  </p:normalViewPr>
  <p:slideViewPr>
    <p:cSldViewPr>
      <p:cViewPr varScale="1">
        <p:scale>
          <a:sx n="69" d="100"/>
          <a:sy n="69" d="100"/>
        </p:scale>
        <p:origin x="55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08/04/2018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275599" y="1098927"/>
            <a:ext cx="2577601" cy="306466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148538" y="1564719"/>
            <a:ext cx="25206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000" b="1" dirty="0">
                <a:solidFill>
                  <a:schemeClr val="bg1"/>
                </a:solidFill>
              </a:rPr>
              <a:t>يعد ضبط وتنسيق الخط والفقرة أمرا مهما في تنسيق وتنظيم الوثيقة والبحوث لإعطائها شكل جمالي يسهل قراءتها. 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251520" y="980728"/>
            <a:ext cx="4464496" cy="1800200"/>
          </a:xfrm>
          <a:prstGeom prst="cloudCallout">
            <a:avLst>
              <a:gd name="adj1" fmla="val -33894"/>
              <a:gd name="adj2" fmla="val 71948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467544" y="1438904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accent6">
                    <a:lumMod val="75000"/>
                  </a:schemeClr>
                </a:solidFill>
              </a:rPr>
              <a:t>من حيث ماذا يتم تنسيق الخط والفقرة؟</a:t>
            </a:r>
            <a:endParaRPr lang="fr-FR" sz="24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88" name="Image 87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الأول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6" name="ZoneTexte 35"/>
          <p:cNvSpPr txBox="1"/>
          <p:nvPr/>
        </p:nvSpPr>
        <p:spPr>
          <a:xfrm>
            <a:off x="649613" y="1900569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chemeClr val="accent6">
                    <a:lumMod val="75000"/>
                  </a:schemeClr>
                </a:solidFill>
              </a:rPr>
              <a:t>وماهي الأدوات المستعملة لذلك؟</a:t>
            </a:r>
            <a:endParaRPr lang="fr-FR" sz="24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8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3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8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8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3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8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e 42"/>
          <p:cNvGrpSpPr/>
          <p:nvPr/>
        </p:nvGrpSpPr>
        <p:grpSpPr>
          <a:xfrm>
            <a:off x="0" y="620689"/>
            <a:ext cx="9144000" cy="5760639"/>
            <a:chOff x="0" y="620689"/>
            <a:chExt cx="9144000" cy="5600015"/>
          </a:xfrm>
        </p:grpSpPr>
        <p:pic>
          <p:nvPicPr>
            <p:cNvPr id="44" name="Image 4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620689"/>
              <a:ext cx="9144000" cy="5600015"/>
            </a:xfrm>
            <a:prstGeom prst="rect">
              <a:avLst/>
            </a:prstGeom>
          </p:spPr>
        </p:pic>
        <p:sp>
          <p:nvSpPr>
            <p:cNvPr id="45" name="Rectangle 44"/>
            <p:cNvSpPr/>
            <p:nvPr/>
          </p:nvSpPr>
          <p:spPr>
            <a:xfrm>
              <a:off x="2267744" y="2300693"/>
              <a:ext cx="4392488" cy="18002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D75BB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348880"/>
            <a:ext cx="2461483" cy="4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1835696" y="2348880"/>
            <a:ext cx="47191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500" b="1" dirty="0" smtClean="0">
                <a:solidFill>
                  <a:srgbClr val="FFFF00"/>
                </a:solidFill>
              </a:rPr>
              <a:t>المجال المفاهيمي:</a:t>
            </a:r>
            <a:r>
              <a:rPr lang="ar-DZ" sz="2500" b="1" dirty="0">
                <a:solidFill>
                  <a:srgbClr val="FFFF00"/>
                </a:solidFill>
              </a:rPr>
              <a:t> </a:t>
            </a:r>
            <a:r>
              <a:rPr lang="ar-DZ" sz="2500" b="1" dirty="0" smtClean="0">
                <a:solidFill>
                  <a:schemeClr val="bg1"/>
                </a:solidFill>
              </a:rPr>
              <a:t>معالج النصوص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006660" y="3068960"/>
            <a:ext cx="45815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5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500" b="1" dirty="0" smtClean="0">
                <a:solidFill>
                  <a:schemeClr val="bg1"/>
                </a:solidFill>
              </a:rPr>
              <a:t>تنسيق الخط و الفقرة.</a:t>
            </a:r>
            <a:endParaRPr lang="fr-FR" sz="25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2186225" y="3710642"/>
            <a:ext cx="43568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5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500" b="1" dirty="0">
                <a:solidFill>
                  <a:schemeClr val="bg1"/>
                </a:solidFill>
              </a:rPr>
              <a:t>تنسيق الخط و الفقرة.</a:t>
            </a:r>
            <a:endParaRPr lang="fr-FR" sz="25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64696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7" name="Image 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الأول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4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62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7" y="620688"/>
            <a:ext cx="9144000" cy="5645442"/>
          </a:xfrm>
          <a:prstGeom prst="rect">
            <a:avLst/>
          </a:prstGeom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9" y="1812545"/>
            <a:ext cx="207330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Shape 859"/>
          <p:cNvSpPr/>
          <p:nvPr/>
        </p:nvSpPr>
        <p:spPr>
          <a:xfrm>
            <a:off x="5292080" y="2536141"/>
            <a:ext cx="2466119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7" name="ZoneTexte 56"/>
          <p:cNvSpPr txBox="1"/>
          <p:nvPr/>
        </p:nvSpPr>
        <p:spPr>
          <a:xfrm>
            <a:off x="5741977" y="2560055"/>
            <a:ext cx="1923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تنسيق الخط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7758199" y="3364877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5292080" y="3385923"/>
            <a:ext cx="245411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7724531" y="3385923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5585953" y="3429000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تنسيق الفقرة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ZoneTexte 60"/>
              <p:cNvSpPr txBox="1"/>
              <p:nvPr/>
            </p:nvSpPr>
            <p:spPr>
              <a:xfrm>
                <a:off x="2267744" y="44624"/>
                <a:ext cx="27363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تنسيق الخط والفقرة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2" name="Image 61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48" name="Shape 856"/>
          <p:cNvSpPr/>
          <p:nvPr/>
        </p:nvSpPr>
        <p:spPr>
          <a:xfrm>
            <a:off x="4500430" y="2515095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9" name="Shape 859"/>
          <p:cNvSpPr/>
          <p:nvPr/>
        </p:nvSpPr>
        <p:spPr>
          <a:xfrm>
            <a:off x="1979712" y="2536141"/>
            <a:ext cx="2498469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3" name="ZoneTexte 52"/>
          <p:cNvSpPr txBox="1"/>
          <p:nvPr/>
        </p:nvSpPr>
        <p:spPr>
          <a:xfrm>
            <a:off x="4499844" y="2539149"/>
            <a:ext cx="450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2267744" y="2552109"/>
            <a:ext cx="2138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التعداد النقطي والرقمي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6" name="Shape 856"/>
          <p:cNvSpPr/>
          <p:nvPr/>
        </p:nvSpPr>
        <p:spPr>
          <a:xfrm>
            <a:off x="4511242" y="3350261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1979712" y="3371307"/>
            <a:ext cx="2509281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3" name="ZoneTexte 62"/>
          <p:cNvSpPr txBox="1"/>
          <p:nvPr/>
        </p:nvSpPr>
        <p:spPr>
          <a:xfrm>
            <a:off x="4510656" y="3374315"/>
            <a:ext cx="450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4-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1979712" y="3387239"/>
            <a:ext cx="238544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>
                <a:solidFill>
                  <a:schemeClr val="bg1"/>
                </a:solidFill>
              </a:rPr>
              <a:t>كتابة النص على شكل أعمدة</a:t>
            </a:r>
            <a:endParaRPr lang="fr-FR" sz="1900" b="1" dirty="0">
              <a:solidFill>
                <a:schemeClr val="bg1"/>
              </a:solidFill>
            </a:endParaRPr>
          </a:p>
        </p:txBody>
      </p:sp>
      <p:sp>
        <p:nvSpPr>
          <p:cNvPr id="66" name="Shape 856"/>
          <p:cNvSpPr/>
          <p:nvPr/>
        </p:nvSpPr>
        <p:spPr>
          <a:xfrm>
            <a:off x="7746193" y="2515095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758201" y="2560055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4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2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00"/>
                            </p:stCondLst>
                            <p:childTnLst>
                              <p:par>
                                <p:cTn id="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6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100"/>
                            </p:stCondLst>
                            <p:childTnLst>
                              <p:par>
                                <p:cTn id="7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4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7" grpId="0"/>
      <p:bldP spid="71" grpId="0" animBg="1"/>
      <p:bldP spid="72" grpId="0" animBg="1"/>
      <p:bldP spid="73" grpId="0"/>
      <p:bldP spid="74" grpId="0"/>
      <p:bldP spid="48" grpId="0" animBg="1"/>
      <p:bldP spid="49" grpId="0" animBg="1"/>
      <p:bldP spid="53" grpId="0"/>
      <p:bldP spid="54" grpId="0"/>
      <p:bldP spid="56" grpId="0" animBg="1"/>
      <p:bldP spid="58" grpId="0" animBg="1"/>
      <p:bldP spid="63" grpId="0"/>
      <p:bldP spid="64" grpId="0"/>
      <p:bldP spid="66" grpId="0" animBg="1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511256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969716" y="1403774"/>
            <a:ext cx="4682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>
                <a:solidFill>
                  <a:schemeClr val="accent6">
                    <a:lumMod val="75000"/>
                  </a:schemeClr>
                </a:solidFill>
              </a:rPr>
              <a:t>ماذا نقصد بتنسيق الخط؟ وماهي الأدوات المستعملة في تنسيقه؟</a:t>
            </a:r>
            <a:endParaRPr lang="fr-FR" sz="28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9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21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4" name="Image 13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5" name="Image 14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" name="Image 9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16016" y="6237312"/>
                  <a:ext cx="1440160" cy="620688"/>
                </a:xfrm>
                <a:prstGeom prst="rect">
                  <a:avLst/>
                </a:prstGeom>
              </p:spPr>
            </p:pic>
            <p:pic>
              <p:nvPicPr>
                <p:cNvPr id="11" name="Image 10" descr="Microsoft_Word_2013_logo.svg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827584" y="33236"/>
                  <a:ext cx="792087" cy="587452"/>
                </a:xfrm>
                <a:prstGeom prst="rect">
                  <a:avLst/>
                </a:prstGeom>
              </p:spPr>
            </p:pic>
          </p:grpSp>
          <p:sp>
            <p:nvSpPr>
              <p:cNvPr id="31" name="ZoneTexte 30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ZoneTexte 32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تنسيق الخط والفقرة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70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56" name="Shape 856"/>
          <p:cNvSpPr/>
          <p:nvPr/>
        </p:nvSpPr>
        <p:spPr>
          <a:xfrm>
            <a:off x="8316416" y="938891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4211960" y="966523"/>
            <a:ext cx="405301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938891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716016" y="977801"/>
            <a:ext cx="3312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تنسيق الخط: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2" name="Groupe 1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6" name="Groupe 195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32" name="Image 31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" name="Image 32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ZoneTexte 33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5" name="ZoneTexte 34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6" name="ZoneTexte 35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52" name="Image 51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4" name="ZoneTexte 5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7" name="Image 56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7" name="ZoneTexte 36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تنسيق الخط و الفقرة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7" name="Rectangle 86"/>
          <p:cNvSpPr/>
          <p:nvPr/>
        </p:nvSpPr>
        <p:spPr>
          <a:xfrm>
            <a:off x="650535" y="1557952"/>
            <a:ext cx="766588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يكون التنسيق قبل الكتابة أو بعد الكتابة بإستعمال عدة أدوات في 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التبويب </a:t>
            </a:r>
            <a:r>
              <a:rPr lang="fr-FR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Accueil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:</a:t>
            </a:r>
            <a:endParaRPr lang="fr-FR" sz="2200" dirty="0">
              <a:solidFill>
                <a:schemeClr val="bg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6447654" y="2132856"/>
            <a:ext cx="2089098" cy="31801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- تغيير 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نوع  الخط </a:t>
            </a:r>
            <a:endParaRPr lang="ar-DZ" sz="2200" b="1" dirty="0" smtClean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- لتغيير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حجم الخط </a:t>
            </a:r>
            <a:endParaRPr lang="ar-DZ" sz="2200" b="1" dirty="0" smtClean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- للكتابة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بخط 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خشن</a:t>
            </a: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 </a:t>
            </a:r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- للكتابة 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بخط مائل </a:t>
            </a:r>
            <a:endParaRPr lang="ar-DZ" sz="2200" b="1" dirty="0" smtClean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- للتسطير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أسفل 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الخط</a:t>
            </a:r>
          </a:p>
          <a:p>
            <a:pPr algn="r" rtl="1">
              <a:lnSpc>
                <a:spcPct val="70000"/>
              </a:lnSpc>
            </a:pPr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- لتحديد </a:t>
            </a: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اتجاه 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الخط</a:t>
            </a:r>
          </a:p>
          <a:p>
            <a:pPr algn="r" rtl="1">
              <a:lnSpc>
                <a:spcPct val="70000"/>
              </a:lnSpc>
            </a:pP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>
              <a:lnSpc>
                <a:spcPct val="70000"/>
              </a:lnSpc>
            </a:pPr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- لتلوين 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الخط</a:t>
            </a:r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</p:txBody>
      </p:sp>
      <p:pic>
        <p:nvPicPr>
          <p:cNvPr id="89" name="Image 88" descr="خط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59932" y="2024087"/>
            <a:ext cx="1640855" cy="335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" name="Image 89" descr="نوع خط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780360" y="2485453"/>
            <a:ext cx="820428" cy="310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" name="Image 90" descr="تضخيم"/>
          <p:cNvPicPr/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90574" y="2917143"/>
            <a:ext cx="410215" cy="34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" name="Image 91" descr="التسطير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177955" y="3861048"/>
            <a:ext cx="410213" cy="36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3" name="Image 92" descr="تمييل الخط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188621" y="3422683"/>
            <a:ext cx="399547" cy="335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" name="Image 93" descr="اتجاه الخط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049424" y="4363469"/>
            <a:ext cx="551365" cy="36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" name="Image 94" descr="لون الخط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076056" y="4797152"/>
            <a:ext cx="551365" cy="387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70491" y="5373216"/>
            <a:ext cx="82619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ar-DZ" sz="2000" b="1" dirty="0">
                <a:solidFill>
                  <a:srgbClr val="FFFF00"/>
                </a:solidFill>
              </a:rPr>
              <a:t>ملاحظة: </a:t>
            </a:r>
            <a:r>
              <a:rPr lang="ar-DZ" sz="2000" b="1" dirty="0">
                <a:solidFill>
                  <a:schemeClr val="bg1"/>
                </a:solidFill>
              </a:rPr>
              <a:t>لتنسيق الخط بعد الكتابة يجب تحديد الكتابة وذلك بوضع المشيرة في أول الكتابة والضغط بالزر الأيسر للفأرة باستمرار والسحب إلى آخر الكتابة. </a:t>
            </a:r>
            <a:endParaRPr lang="fr-FR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87" grpId="0"/>
      <p:bldP spid="8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8541" y="2276872"/>
            <a:ext cx="1407586" cy="3997796"/>
          </a:xfrm>
          <a:prstGeom prst="rect">
            <a:avLst/>
          </a:prstGeom>
          <a:noFill/>
        </p:spPr>
      </p:pic>
      <p:sp>
        <p:nvSpPr>
          <p:cNvPr id="42" name="Pensées 41"/>
          <p:cNvSpPr/>
          <p:nvPr/>
        </p:nvSpPr>
        <p:spPr>
          <a:xfrm>
            <a:off x="1835696" y="695984"/>
            <a:ext cx="6174432" cy="1724904"/>
          </a:xfrm>
          <a:prstGeom prst="cloudCallout">
            <a:avLst>
              <a:gd name="adj1" fmla="val -4439"/>
              <a:gd name="adj2" fmla="val 106233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2339751" y="1207290"/>
            <a:ext cx="5544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هناك أدوات أخرى تستعمل في تنسيق الفقرة ماهي؟</a:t>
            </a:r>
            <a:endParaRPr lang="ar-DZ" sz="24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27" name="Image 26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28" name="Image 27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29" name="ZoneTexte 28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ZoneTexte 2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ZoneTexte 30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3" name="Image 32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4" name="ZoneTexte 3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6" name="Image 35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26" name="ZoneTexte 25"/>
          <p:cNvSpPr txBox="1"/>
          <p:nvPr/>
        </p:nvSpPr>
        <p:spPr>
          <a:xfrm>
            <a:off x="2267744" y="44624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تنسيق الخط والفقرة</a:t>
            </a:r>
            <a:endParaRPr lang="fr-FR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5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4283965" y="720328"/>
            <a:ext cx="3938781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4716016" y="692696"/>
            <a:ext cx="32403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 smtClean="0">
                <a:solidFill>
                  <a:srgbClr val="FFFF00"/>
                </a:solidFill>
              </a:rPr>
              <a:t>تنسيق الفقرة</a:t>
            </a:r>
            <a:endParaRPr lang="fr-FR" sz="2600" b="1" dirty="0">
              <a:solidFill>
                <a:srgbClr val="FFFF00"/>
              </a:solidFill>
            </a:endParaRPr>
          </a:p>
        </p:txBody>
      </p:sp>
      <p:grpSp>
        <p:nvGrpSpPr>
          <p:cNvPr id="25" name="Groupe 2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4" name="Groupe 2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49" name="Image 48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0" name="ZoneTexte 4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 52" descr="Microsoft_Word_2013_logo.svg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  <p:sp>
        <p:nvSpPr>
          <p:cNvPr id="71" name="Rectangle 70"/>
          <p:cNvSpPr/>
          <p:nvPr/>
        </p:nvSpPr>
        <p:spPr>
          <a:xfrm>
            <a:off x="31141" y="1340768"/>
            <a:ext cx="864531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بالإضافة إلى أدوات تنسيق الخط يوجد أدوات تستعمل في تنسيق الفقرة  في التبويب </a:t>
            </a:r>
            <a:r>
              <a:rPr lang="fr-FR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Accueil</a:t>
            </a:r>
            <a:r>
              <a:rPr lang="ar-DZ" sz="22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:</a:t>
            </a:r>
            <a:endParaRPr lang="fr-FR" sz="2200" dirty="0">
              <a:solidFill>
                <a:schemeClr val="bg1"/>
              </a:solidFill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2267744" y="44624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تنسيق الخط والفقرة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927705" y="2561042"/>
            <a:ext cx="1734834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- المحاذاة</a:t>
            </a:r>
          </a:p>
          <a:p>
            <a:pPr algn="r" rtl="1"/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/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- المسافة البادئة.</a:t>
            </a:r>
          </a:p>
          <a:p>
            <a:pPr algn="r" rtl="1"/>
            <a:endParaRPr lang="ar-DZ" sz="22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/>
            <a:r>
              <a:rPr lang="ar-DZ" sz="2200" b="1" dirty="0">
                <a:solidFill>
                  <a:schemeClr val="bg1"/>
                </a:solidFill>
                <a:ea typeface="Times New Roman"/>
                <a:cs typeface="Times New Roman"/>
              </a:rPr>
              <a:t>- تباعد الأسطر</a:t>
            </a:r>
          </a:p>
        </p:txBody>
      </p:sp>
      <p:pic>
        <p:nvPicPr>
          <p:cNvPr id="61" name="Image 60" descr="Capture2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8104" y="3861048"/>
            <a:ext cx="649209" cy="432398"/>
          </a:xfrm>
          <a:prstGeom prst="rect">
            <a:avLst/>
          </a:prstGeom>
        </p:spPr>
      </p:pic>
      <p:pic>
        <p:nvPicPr>
          <p:cNvPr id="62" name="Image 61" descr="Capture3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92080" y="3140968"/>
            <a:ext cx="865233" cy="431097"/>
          </a:xfrm>
          <a:prstGeom prst="rect">
            <a:avLst/>
          </a:prstGeom>
        </p:spPr>
      </p:pic>
      <p:pic>
        <p:nvPicPr>
          <p:cNvPr id="63" name="Image 62" descr="Capture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19600" y="2420888"/>
            <a:ext cx="1730467" cy="4541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91" grpId="0"/>
      <p:bldP spid="92" grpId="0"/>
      <p:bldP spid="71" grpId="0"/>
      <p:bldP spid="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692696"/>
            <a:ext cx="7722604" cy="2304256"/>
          </a:xfrm>
          <a:prstGeom prst="cloudCallout">
            <a:avLst>
              <a:gd name="adj1" fmla="val -38920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635825" y="1306215"/>
            <a:ext cx="6809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قد تحتاج لترقيم </a:t>
            </a:r>
            <a:r>
              <a:rPr lang="ar-DZ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أو تنقيط عدة عناصر في </a:t>
            </a:r>
            <a:r>
              <a:rPr lang="ar-DZ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النص.</a:t>
            </a:r>
          </a:p>
          <a:p>
            <a:pPr algn="ctr" rtl="1"/>
            <a:r>
              <a:rPr lang="ar-DZ" sz="32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الأدوات </a:t>
            </a:r>
            <a:r>
              <a:rPr lang="ar-DZ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المستعملة لذلك؟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7" name="Image 3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1" name="ZoneTexte 40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تنسيق الخط والفقرة</a:t>
              </a:r>
              <a:endParaRPr lang="ar-DZ" sz="2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102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76" name="Image 75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8" name="ZoneTexte 37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تنسيق الخط والفقرة</a:t>
              </a:r>
              <a:endParaRPr lang="ar-DZ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6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1" name="Shape 859"/>
          <p:cNvSpPr/>
          <p:nvPr/>
        </p:nvSpPr>
        <p:spPr>
          <a:xfrm>
            <a:off x="4932040" y="720328"/>
            <a:ext cx="333293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6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2" name="ZoneTexte 41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rgbClr val="FFFF00"/>
                </a:solidFill>
              </a:rPr>
              <a:t>3</a:t>
            </a:r>
            <a:r>
              <a:rPr lang="ar-DZ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788024" y="73508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>
                <a:solidFill>
                  <a:srgbClr val="FFFF00"/>
                </a:solidFill>
              </a:rPr>
              <a:t>التعداد النقطي والرقمي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440160" y="2132856"/>
            <a:ext cx="3429208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3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- للتعداد الرقمي</a:t>
            </a:r>
          </a:p>
          <a:p>
            <a:pPr algn="r" rtl="1"/>
            <a:endParaRPr lang="ar-DZ" sz="23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/>
            <a:r>
              <a:rPr lang="ar-DZ" sz="2300" b="1" dirty="0">
                <a:solidFill>
                  <a:schemeClr val="bg1"/>
                </a:solidFill>
                <a:ea typeface="Times New Roman"/>
                <a:cs typeface="Times New Roman"/>
              </a:rPr>
              <a:t>- </a:t>
            </a:r>
            <a:r>
              <a:rPr lang="ar-DZ" sz="23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للتعداد </a:t>
            </a:r>
            <a:r>
              <a:rPr lang="ar-DZ" sz="2300" b="1" dirty="0">
                <a:solidFill>
                  <a:schemeClr val="bg1"/>
                </a:solidFill>
                <a:ea typeface="Times New Roman"/>
                <a:cs typeface="Times New Roman"/>
              </a:rPr>
              <a:t>النقطي  </a:t>
            </a:r>
          </a:p>
          <a:p>
            <a:pPr algn="r" rtl="1"/>
            <a:endParaRPr lang="ar-DZ" sz="2300" b="1" dirty="0">
              <a:solidFill>
                <a:schemeClr val="bg1"/>
              </a:solidFill>
              <a:ea typeface="Times New Roman"/>
              <a:cs typeface="Times New Roman"/>
            </a:endParaRPr>
          </a:p>
          <a:p>
            <a:pPr algn="r" rtl="1"/>
            <a:r>
              <a:rPr lang="ar-DZ" sz="2300" b="1" dirty="0">
                <a:solidFill>
                  <a:schemeClr val="bg1"/>
                </a:solidFill>
                <a:ea typeface="Times New Roman"/>
                <a:cs typeface="Times New Roman"/>
              </a:rPr>
              <a:t>- قائمة متعددة من الأرقام أو النقاط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-28679" y="1464524"/>
            <a:ext cx="899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يمكن ترقيم أو تنقيط عدة عناصر في النص بمختلف الأشكال باستعمال الأدوات التالية  في التبويب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Accueil: 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61" name="Image 60" descr="t1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80670" y="2132856"/>
            <a:ext cx="675506" cy="432048"/>
          </a:xfrm>
          <a:prstGeom prst="rect">
            <a:avLst/>
          </a:prstGeom>
        </p:spPr>
      </p:pic>
      <p:pic>
        <p:nvPicPr>
          <p:cNvPr id="62" name="Image 61" descr="t2.PN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42013" y="3453593"/>
            <a:ext cx="692021" cy="476821"/>
          </a:xfrm>
          <a:prstGeom prst="rect">
            <a:avLst/>
          </a:prstGeom>
        </p:spPr>
      </p:pic>
      <p:pic>
        <p:nvPicPr>
          <p:cNvPr id="63" name="Image 62" descr="t3.PNG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06075" y="2708920"/>
            <a:ext cx="650101" cy="4784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7504" y="4437112"/>
            <a:ext cx="874881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300" b="1" dirty="0">
                <a:solidFill>
                  <a:srgbClr val="FFFF00"/>
                </a:solidFill>
              </a:rPr>
              <a:t>ملاحظة: </a:t>
            </a:r>
            <a:r>
              <a:rPr lang="ar-DZ" sz="2300" b="1" dirty="0">
                <a:solidFill>
                  <a:schemeClr val="bg1"/>
                </a:solidFill>
              </a:rPr>
              <a:t>بعد كتابة كل عنصر ومع الضغط على </a:t>
            </a:r>
            <a:r>
              <a:rPr lang="fr-FR" sz="2300" b="1" dirty="0">
                <a:solidFill>
                  <a:schemeClr val="bg1"/>
                </a:solidFill>
              </a:rPr>
              <a:t>Entrée</a:t>
            </a:r>
            <a:r>
              <a:rPr lang="ar-DZ" sz="2300" b="1" dirty="0">
                <a:solidFill>
                  <a:schemeClr val="bg1"/>
                </a:solidFill>
              </a:rPr>
              <a:t> تظهر أشكال النقاط أو الأرقام بصفة تلقائية.</a:t>
            </a:r>
            <a:endParaRPr lang="fr-FR" sz="2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41" grpId="0" animBg="1" advAuto="0"/>
      <p:bldP spid="86" grpId="0"/>
      <p:bldP spid="1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2195736" y="692696"/>
            <a:ext cx="5706380" cy="2160240"/>
          </a:xfrm>
          <a:prstGeom prst="cloudCallout">
            <a:avLst>
              <a:gd name="adj1" fmla="val -44421"/>
              <a:gd name="adj2" fmla="val 8948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51" y="3289432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2123728" y="1484784"/>
            <a:ext cx="583264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يمكنك كتابة النصوص على شكل أعمدة مثل الصحف؟</a:t>
            </a:r>
            <a:endParaRPr lang="ar-DZ" sz="26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7" name="Image 3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1" name="ZoneTexte 40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تنسيق الخط والفقرة</a:t>
              </a:r>
              <a:endParaRPr lang="ar-DZ" sz="2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42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101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" name="Groupe 3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12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14" name="Rectangle 13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15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7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8" name="Rectangle 17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16" name="Rectangle 15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7" name="Image 6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Image 7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ZoneTexte 8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" name="ZoneTexte 9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" name="ZoneTexte 10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5" name="Image 24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ZoneTexte 26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0" name="Image 29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4" name="ZoneTexte 43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تنسيق الخط والفقرة</a:t>
              </a:r>
              <a:endParaRPr lang="ar-DZ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104"/>
          <p:cNvGrpSpPr/>
          <p:nvPr/>
        </p:nvGrpSpPr>
        <p:grpSpPr>
          <a:xfrm>
            <a:off x="5004048" y="2666317"/>
            <a:ext cx="3727793" cy="527690"/>
            <a:chOff x="782821" y="1173645"/>
            <a:chExt cx="3577009" cy="1114425"/>
          </a:xfrm>
        </p:grpSpPr>
        <p:sp>
          <p:nvSpPr>
            <p:cNvPr id="64" name="Rectangle 63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7956376" y="267599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70" name="TextBox 68"/>
          <p:cNvSpPr txBox="1"/>
          <p:nvPr/>
        </p:nvSpPr>
        <p:spPr>
          <a:xfrm>
            <a:off x="5109997" y="2809557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التبويب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Mise en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page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71" name="Group 104"/>
          <p:cNvGrpSpPr/>
          <p:nvPr/>
        </p:nvGrpSpPr>
        <p:grpSpPr>
          <a:xfrm>
            <a:off x="5004049" y="3309724"/>
            <a:ext cx="3727792" cy="527690"/>
            <a:chOff x="782822" y="1173645"/>
            <a:chExt cx="3577008" cy="1114425"/>
          </a:xfrm>
        </p:grpSpPr>
        <p:sp>
          <p:nvSpPr>
            <p:cNvPr id="72" name="Rectangle 71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/>
            <p:cNvSpPr/>
            <p:nvPr/>
          </p:nvSpPr>
          <p:spPr>
            <a:xfrm flipH="1">
              <a:off x="782822" y="1373671"/>
              <a:ext cx="2802309" cy="9143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78" name="Group 118"/>
          <p:cNvGrpSpPr/>
          <p:nvPr/>
        </p:nvGrpSpPr>
        <p:grpSpPr>
          <a:xfrm>
            <a:off x="179512" y="3909422"/>
            <a:ext cx="8552331" cy="839428"/>
            <a:chOff x="-3846569" y="2392845"/>
            <a:chExt cx="8206399" cy="1114425"/>
          </a:xfrm>
        </p:grpSpPr>
        <p:sp>
          <p:nvSpPr>
            <p:cNvPr id="79" name="Rectangle 78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/>
            <p:cNvSpPr/>
            <p:nvPr/>
          </p:nvSpPr>
          <p:spPr>
            <a:xfrm flipH="1">
              <a:off x="-3846569" y="2592869"/>
              <a:ext cx="7431697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4" name="Rectangle 83"/>
          <p:cNvSpPr/>
          <p:nvPr/>
        </p:nvSpPr>
        <p:spPr>
          <a:xfrm>
            <a:off x="5217394" y="3413670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 smtClean="0">
                <a:solidFill>
                  <a:schemeClr val="bg1"/>
                </a:solidFill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</a:rPr>
              <a:t>Colonnes</a:t>
            </a:r>
            <a:r>
              <a:rPr lang="ar-DZ" sz="2000" b="1" dirty="0" smtClean="0">
                <a:solidFill>
                  <a:schemeClr val="bg1"/>
                </a:solidFill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004931" y="3316414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6" name="Rectangle 85"/>
          <p:cNvSpPr/>
          <p:nvPr/>
        </p:nvSpPr>
        <p:spPr>
          <a:xfrm>
            <a:off x="8018876" y="390942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323528" y="4013368"/>
            <a:ext cx="72701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عدد الأعمدة أو الضغط على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Autres Colonnes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لزيادة عدد الأعمدة وخيارات أخرى كتباعد الأعمدة و الفقرات ... الخ.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96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7" name="Shape 859"/>
          <p:cNvSpPr/>
          <p:nvPr/>
        </p:nvSpPr>
        <p:spPr>
          <a:xfrm>
            <a:off x="4932040" y="720328"/>
            <a:ext cx="333293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rgbClr val="C00000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ZoneTexte 97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4-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9" name="ZoneTexte 98"/>
          <p:cNvSpPr txBox="1"/>
          <p:nvPr/>
        </p:nvSpPr>
        <p:spPr>
          <a:xfrm>
            <a:off x="4932040" y="735087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كتابة النص على شكل أعمدة: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79512" y="1352962"/>
            <a:ext cx="85689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تسمح هذه العملية بتقسيم الوثيقة أو جزء منها إلى عدة أعمدة لتبدو مثل النصوص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الصحفية،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للقيام بذالك  ننقر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على: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4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84" grpId="0"/>
      <p:bldP spid="85" grpId="0"/>
      <p:bldP spid="86" grpId="0"/>
      <p:bldP spid="87" grpId="0"/>
      <p:bldP spid="97" grpId="0" animBg="1" advAuto="0"/>
      <p:bldP spid="100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42702</TotalTime>
  <Words>509</Words>
  <Application>Microsoft Office PowerPoint</Application>
  <PresentationFormat>Affichage à l'écran (4:3)</PresentationFormat>
  <Paragraphs>120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Gill Sans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727</cp:revision>
  <dcterms:created xsi:type="dcterms:W3CDTF">2017-08-13T13:54:07Z</dcterms:created>
  <dcterms:modified xsi:type="dcterms:W3CDTF">2018-04-08T10:57:40Z</dcterms:modified>
</cp:coreProperties>
</file>