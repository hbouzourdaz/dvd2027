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81" r:id="rId8"/>
    <p:sldId id="266" r:id="rId9"/>
    <p:sldId id="280" r:id="rId10"/>
    <p:sldId id="265" r:id="rId11"/>
    <p:sldId id="277" r:id="rId12"/>
    <p:sldId id="267" r:id="rId13"/>
    <p:sldId id="279" r:id="rId14"/>
    <p:sldId id="278" r:id="rId15"/>
    <p:sldId id="269" r:id="rId16"/>
    <p:sldId id="270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FF6600"/>
    <a:srgbClr val="CC0000"/>
    <a:srgbClr val="FF33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8" autoAdjust="0"/>
  </p:normalViewPr>
  <p:slideViewPr>
    <p:cSldViewPr>
      <p:cViewPr>
        <p:scale>
          <a:sx n="70" d="100"/>
          <a:sy n="70" d="100"/>
        </p:scale>
        <p:origin x="-138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17/08/2018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5.png"/><Relationship Id="rId7" Type="http://schemas.openxmlformats.org/officeDocument/2006/relationships/image" Target="../media/image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5.png"/><Relationship Id="rId7" Type="http://schemas.openxmlformats.org/officeDocument/2006/relationships/image" Target="../media/image9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3.png"/><Relationship Id="rId10" Type="http://schemas.openxmlformats.org/officeDocument/2006/relationships/image" Target="../media/image10.jpeg"/><Relationship Id="rId4" Type="http://schemas.openxmlformats.org/officeDocument/2006/relationships/image" Target="../media/image5.pn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21.jpeg"/><Relationship Id="rId18" Type="http://schemas.openxmlformats.org/officeDocument/2006/relationships/image" Target="../media/image26.jpeg"/><Relationship Id="rId3" Type="http://schemas.openxmlformats.org/officeDocument/2006/relationships/image" Target="../media/image6.png"/><Relationship Id="rId21" Type="http://schemas.openxmlformats.org/officeDocument/2006/relationships/image" Target="../media/image29.png"/><Relationship Id="rId7" Type="http://schemas.openxmlformats.org/officeDocument/2006/relationships/image" Target="../media/image10.jpeg"/><Relationship Id="rId12" Type="http://schemas.openxmlformats.org/officeDocument/2006/relationships/image" Target="../media/image20.jpeg"/><Relationship Id="rId17" Type="http://schemas.openxmlformats.org/officeDocument/2006/relationships/image" Target="../media/image25.jpeg"/><Relationship Id="rId2" Type="http://schemas.openxmlformats.org/officeDocument/2006/relationships/image" Target="../media/image18.jpeg"/><Relationship Id="rId16" Type="http://schemas.openxmlformats.org/officeDocument/2006/relationships/image" Target="../media/image24.jpe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9.jpeg"/><Relationship Id="rId5" Type="http://schemas.openxmlformats.org/officeDocument/2006/relationships/image" Target="../media/image17.png"/><Relationship Id="rId15" Type="http://schemas.openxmlformats.org/officeDocument/2006/relationships/image" Target="../media/image23.jpeg"/><Relationship Id="rId10" Type="http://schemas.openxmlformats.org/officeDocument/2006/relationships/image" Target="../media/image13.png"/><Relationship Id="rId19" Type="http://schemas.openxmlformats.org/officeDocument/2006/relationships/image" Target="../media/image27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0.png"/><Relationship Id="rId7" Type="http://schemas.openxmlformats.org/officeDocument/2006/relationships/image" Target="../media/image9.jpeg"/><Relationship Id="rId12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0.png"/><Relationship Id="rId7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0.png"/><Relationship Id="rId7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image" Target="../media/image9.jpeg"/><Relationship Id="rId12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3.png"/><Relationship Id="rId5" Type="http://schemas.openxmlformats.org/officeDocument/2006/relationships/image" Target="../media/image2.jpeg"/><Relationship Id="rId10" Type="http://schemas.openxmlformats.org/officeDocument/2006/relationships/image" Target="../media/image12.jpeg"/><Relationship Id="rId4" Type="http://schemas.openxmlformats.org/officeDocument/2006/relationships/image" Target="../media/image17.png"/><Relationship Id="rId9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447651" y="1059876"/>
            <a:ext cx="2396686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321482" y="1188633"/>
            <a:ext cx="2339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SA" sz="2400" b="1" dirty="0">
                <a:solidFill>
                  <a:schemeClr val="bg1"/>
                </a:solidFill>
              </a:rPr>
              <a:t>لديك عدة معلومات سواء كانت صور، مقاطع فيديو، صوتيات، نصوص، برامج وأردت تخزينها في حاسبك.</a:t>
            </a:r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107503" y="807539"/>
            <a:ext cx="4796061" cy="2040745"/>
          </a:xfrm>
          <a:prstGeom prst="cloudCallout">
            <a:avLst>
              <a:gd name="adj1" fmla="val -33333"/>
              <a:gd name="adj2" fmla="val 71353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395536" y="1196752"/>
            <a:ext cx="4320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DZ" sz="2000" b="1" dirty="0" smtClean="0">
                <a:solidFill>
                  <a:srgbClr val="FF6600"/>
                </a:solidFill>
              </a:rPr>
              <a:t>- </a:t>
            </a:r>
            <a:r>
              <a:rPr lang="ar-SA" sz="2000" b="1" dirty="0" smtClean="0">
                <a:solidFill>
                  <a:srgbClr val="FF6600"/>
                </a:solidFill>
              </a:rPr>
              <a:t>كيف </a:t>
            </a:r>
            <a:r>
              <a:rPr lang="ar-SA" sz="2000" b="1" dirty="0">
                <a:solidFill>
                  <a:srgbClr val="FF6600"/>
                </a:solidFill>
              </a:rPr>
              <a:t>يمكنك تخزين هذه المعلومات الكثيرة في حاسبك بحيث لا تشغل مساحة كبيرة؟ </a:t>
            </a:r>
            <a:endParaRPr lang="fr-FR" sz="2000" b="1" dirty="0">
              <a:solidFill>
                <a:srgbClr val="FF6600"/>
              </a:solidFill>
            </a:endParaRPr>
          </a:p>
          <a:p>
            <a:pPr algn="ctr" rtl="1">
              <a:spcAft>
                <a:spcPts val="0"/>
              </a:spcAft>
            </a:pPr>
            <a:r>
              <a:rPr lang="ar-DZ" sz="2000" b="1" dirty="0" smtClean="0">
                <a:solidFill>
                  <a:srgbClr val="FF6600"/>
                </a:solidFill>
              </a:rPr>
              <a:t>- وكيف </a:t>
            </a:r>
            <a:r>
              <a:rPr lang="ar-DZ" sz="2000" b="1" dirty="0">
                <a:solidFill>
                  <a:srgbClr val="FF6600"/>
                </a:solidFill>
              </a:rPr>
              <a:t>يمكنك تنظيمها ليسهل عليك الوصول إليها والعمل عليها؟</a:t>
            </a:r>
            <a:endParaRPr lang="fr-FR" sz="2000" b="1" dirty="0">
              <a:solidFill>
                <a:srgbClr val="FF6600"/>
              </a:solidFill>
              <a:latin typeface="Times New Roman"/>
              <a:ea typeface="Times New Roman"/>
            </a:endParaRPr>
          </a:p>
          <a:p>
            <a:pPr algn="ctr" rtl="1"/>
            <a:endParaRPr lang="fr-FR" sz="2000" b="1" dirty="0">
              <a:ln w="1905"/>
              <a:solidFill>
                <a:srgbClr val="FF66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83768" y="4149080"/>
            <a:ext cx="1224136" cy="2220466"/>
          </a:xfrm>
          <a:prstGeom prst="rect">
            <a:avLst/>
          </a:prstGeom>
          <a:noFill/>
        </p:spPr>
      </p:pic>
      <p:sp>
        <p:nvSpPr>
          <p:cNvPr id="86" name="Pensées 85"/>
          <p:cNvSpPr/>
          <p:nvPr/>
        </p:nvSpPr>
        <p:spPr>
          <a:xfrm>
            <a:off x="2555776" y="3140968"/>
            <a:ext cx="2880320" cy="1032385"/>
          </a:xfrm>
          <a:prstGeom prst="cloudCallout">
            <a:avLst>
              <a:gd name="adj1" fmla="val -15402"/>
              <a:gd name="adj2" fmla="val 9506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2919067" y="3459720"/>
            <a:ext cx="216024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/>
              <a:t>الإجابة برفع الإصبع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أولى 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38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32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82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32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32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 (1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44000" cy="56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459451" y="1988840"/>
            <a:ext cx="3496925" cy="2304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459450" y="2089207"/>
            <a:ext cx="34969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200" b="1" dirty="0" smtClean="0">
                <a:solidFill>
                  <a:schemeClr val="bg1"/>
                </a:solidFill>
              </a:rPr>
              <a:t>استخدام الحاسوب</a:t>
            </a:r>
            <a:endParaRPr lang="fr-FR" sz="22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459450" y="2677561"/>
            <a:ext cx="34837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200" b="1" dirty="0" smtClean="0">
                <a:solidFill>
                  <a:schemeClr val="bg1"/>
                </a:solidFill>
              </a:rPr>
              <a:t>تنظيم المعلومات في الحاسوب</a:t>
            </a:r>
            <a:endParaRPr lang="fr-FR" sz="22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459450" y="3523561"/>
            <a:ext cx="3496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200" b="1" dirty="0" smtClean="0">
                <a:solidFill>
                  <a:schemeClr val="bg1"/>
                </a:solidFill>
              </a:rPr>
              <a:t>عمليات على الملفات والمجلدات</a:t>
            </a:r>
            <a:endParaRPr lang="fr-FR" sz="22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أولى 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e 31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33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6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98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80512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45" y="1948231"/>
            <a:ext cx="233279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116291" y="2015888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007941" y="2036934"/>
            <a:ext cx="3096344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104285" y="206084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427984" y="2060848"/>
            <a:ext cx="221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مفهوم الملف </a:t>
            </a:r>
            <a:r>
              <a:rPr lang="en-US" sz="2000" b="1" dirty="0" err="1" smtClean="0">
                <a:solidFill>
                  <a:schemeClr val="bg1"/>
                </a:solidFill>
              </a:rPr>
              <a:t>Fichier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7113941" y="2636912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4017596" y="2657958"/>
            <a:ext cx="3084339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7080273" y="265795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4283968" y="2701035"/>
            <a:ext cx="230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مفهوم المجلد</a:t>
            </a:r>
            <a:r>
              <a:rPr lang="ar-DZ" sz="2000" b="1" dirty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Dossier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7076771" y="3300953"/>
            <a:ext cx="497905" cy="496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3995936" y="3321999"/>
            <a:ext cx="307468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7070620" y="3353937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4139952" y="3332891"/>
            <a:ext cx="2838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عمليات على الملفات والمجلدات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0" name="Groupe 7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75" name="Image 74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76" name="Image 75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7" name="ZoneTexte 76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8" name="ZoneTexte 77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ZoneTexte 78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9" name="Image 58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60" name="ZoneTexte 5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ZoneTexte 60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e 38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40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1668870"/>
            <a:ext cx="3528392" cy="1112058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1416316" y="179862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ماذا نعني بالملف؟</a:t>
            </a:r>
            <a:endParaRPr lang="fr-FR" sz="2000" b="1" dirty="0">
              <a:ln w="1905"/>
              <a:solidFill>
                <a:srgbClr val="FF66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3491880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pic>
        <p:nvPicPr>
          <p:cNvPr id="33" name="Image 32" descr="11-2-animation-png-hd-thumb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6948264" y="3102385"/>
            <a:ext cx="3096344" cy="3096344"/>
          </a:xfrm>
          <a:prstGeom prst="rect">
            <a:avLst/>
          </a:prstGeom>
        </p:spPr>
      </p:pic>
      <p:grpSp>
        <p:nvGrpSpPr>
          <p:cNvPr id="34" name="Group 77"/>
          <p:cNvGrpSpPr/>
          <p:nvPr/>
        </p:nvGrpSpPr>
        <p:grpSpPr>
          <a:xfrm rot="20503916">
            <a:off x="5754908" y="1474161"/>
            <a:ext cx="2304318" cy="3323489"/>
            <a:chOff x="914400" y="1122362"/>
            <a:chExt cx="2080267" cy="3507909"/>
          </a:xfrm>
        </p:grpSpPr>
        <p:sp>
          <p:nvSpPr>
            <p:cNvPr id="35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8" name="ZoneTexte 37"/>
          <p:cNvSpPr txBox="1"/>
          <p:nvPr/>
        </p:nvSpPr>
        <p:spPr>
          <a:xfrm rot="20502721">
            <a:off x="5714687" y="2353266"/>
            <a:ext cx="21790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1900" b="1" dirty="0" smtClean="0">
                <a:solidFill>
                  <a:schemeClr val="bg1"/>
                </a:solidFill>
              </a:rPr>
              <a:t>توجد الكثير من الملفات في الحاسوب وتختلف بإختلاف دورها.</a:t>
            </a:r>
            <a:endParaRPr lang="ar-DZ" sz="1900" b="1" dirty="0">
              <a:solidFill>
                <a:schemeClr val="bg1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ZoneTexte 38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4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ZoneTexte 45"/>
          <p:cNvSpPr txBox="1"/>
          <p:nvPr/>
        </p:nvSpPr>
        <p:spPr>
          <a:xfrm>
            <a:off x="1403648" y="209278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و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ماذا نعني بالمجلد؟</a:t>
            </a:r>
            <a:endParaRPr lang="fr-FR" sz="2000" b="1" dirty="0">
              <a:ln w="1905"/>
              <a:solidFill>
                <a:srgbClr val="FF66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96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  <p:bldP spid="38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مفهوم الملف </a:t>
            </a:r>
            <a:r>
              <a:rPr lang="en-US" sz="2400" b="1" dirty="0" err="1" smtClean="0">
                <a:solidFill>
                  <a:srgbClr val="FFFF00"/>
                </a:solidFill>
              </a:rPr>
              <a:t>Fichier</a:t>
            </a:r>
            <a:r>
              <a:rPr lang="ar-DZ" sz="2400" b="1" dirty="0" smtClean="0">
                <a:solidFill>
                  <a:srgbClr val="FFFF00"/>
                </a:solidFill>
              </a:rPr>
              <a:t>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ZoneTexte 4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e 4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5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" name="Group 67"/>
          <p:cNvGrpSpPr/>
          <p:nvPr/>
        </p:nvGrpSpPr>
        <p:grpSpPr>
          <a:xfrm rot="10800000" flipH="1">
            <a:off x="179512" y="1006812"/>
            <a:ext cx="7903124" cy="1350670"/>
            <a:chOff x="914400" y="1122362"/>
            <a:chExt cx="2120114" cy="5241643"/>
          </a:xfrm>
        </p:grpSpPr>
        <p:sp>
          <p:nvSpPr>
            <p:cNvPr id="79" name="Freeform 6"/>
            <p:cNvSpPr>
              <a:spLocks/>
            </p:cNvSpPr>
            <p:nvPr/>
          </p:nvSpPr>
          <p:spPr bwMode="auto">
            <a:xfrm>
              <a:off x="1320058" y="3873073"/>
              <a:ext cx="836678" cy="2490932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"/>
            <p:cNvSpPr>
              <a:spLocks/>
            </p:cNvSpPr>
            <p:nvPr/>
          </p:nvSpPr>
          <p:spPr bwMode="auto">
            <a:xfrm>
              <a:off x="914400" y="1122362"/>
              <a:ext cx="2120114" cy="3013076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9" name="Rectangle 88"/>
          <p:cNvSpPr/>
          <p:nvPr/>
        </p:nvSpPr>
        <p:spPr>
          <a:xfrm>
            <a:off x="179512" y="1769221"/>
            <a:ext cx="79031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هو وحدة من المعلومات المنسقة، ويمكن أن تكون نص أو صورة أو صوت...إلخ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8346193" y="345421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4810554" y="3481844"/>
            <a:ext cx="3484200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8346193" y="3429000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5004048" y="3507056"/>
            <a:ext cx="319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مفهوم المجلد </a:t>
            </a:r>
            <a:r>
              <a:rPr lang="en-US" sz="2400" b="1" dirty="0" smtClean="0">
                <a:solidFill>
                  <a:srgbClr val="FFFF00"/>
                </a:solidFill>
              </a:rPr>
              <a:t>Dossier</a:t>
            </a:r>
            <a:r>
              <a:rPr lang="ar-DZ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4" name="Group 67"/>
          <p:cNvGrpSpPr/>
          <p:nvPr/>
        </p:nvGrpSpPr>
        <p:grpSpPr>
          <a:xfrm rot="10800000" flipH="1">
            <a:off x="125260" y="3734513"/>
            <a:ext cx="7903124" cy="1350670"/>
            <a:chOff x="914400" y="1122362"/>
            <a:chExt cx="2120114" cy="5241643"/>
          </a:xfrm>
        </p:grpSpPr>
        <p:sp>
          <p:nvSpPr>
            <p:cNvPr id="95" name="Freeform 6"/>
            <p:cNvSpPr>
              <a:spLocks/>
            </p:cNvSpPr>
            <p:nvPr/>
          </p:nvSpPr>
          <p:spPr bwMode="auto">
            <a:xfrm>
              <a:off x="1320058" y="3873073"/>
              <a:ext cx="836678" cy="2490932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7"/>
            <p:cNvSpPr>
              <a:spLocks/>
            </p:cNvSpPr>
            <p:nvPr/>
          </p:nvSpPr>
          <p:spPr bwMode="auto">
            <a:xfrm>
              <a:off x="1310489" y="3567512"/>
              <a:ext cx="1477666" cy="698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8"/>
            <p:cNvSpPr>
              <a:spLocks/>
            </p:cNvSpPr>
            <p:nvPr/>
          </p:nvSpPr>
          <p:spPr bwMode="auto">
            <a:xfrm>
              <a:off x="914400" y="1122362"/>
              <a:ext cx="2120114" cy="3013076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8" name="Rectangle 97"/>
          <p:cNvSpPr/>
          <p:nvPr/>
        </p:nvSpPr>
        <p:spPr>
          <a:xfrm>
            <a:off x="854628" y="4482516"/>
            <a:ext cx="70025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>
                <a:solidFill>
                  <a:schemeClr val="bg1"/>
                </a:solidFill>
                <a:ea typeface="Times New Roman"/>
                <a:cs typeface="Times New Roman"/>
              </a:rPr>
              <a:t>هو مكان في القرص الصلب يحتوي على ملفات ومجلدات فرعية.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99" name="Group 60"/>
          <p:cNvGrpSpPr>
            <a:grpSpLocks/>
          </p:cNvGrpSpPr>
          <p:nvPr/>
        </p:nvGrpSpPr>
        <p:grpSpPr bwMode="auto">
          <a:xfrm flipH="1">
            <a:off x="8298021" y="5335048"/>
            <a:ext cx="192383" cy="190618"/>
            <a:chOff x="2078" y="1680"/>
            <a:chExt cx="1615" cy="1615"/>
          </a:xfrm>
        </p:grpSpPr>
        <p:sp>
          <p:nvSpPr>
            <p:cNvPr id="100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1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3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04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5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06" name="Rectangle 105"/>
          <p:cNvSpPr/>
          <p:nvPr/>
        </p:nvSpPr>
        <p:spPr>
          <a:xfrm>
            <a:off x="2051720" y="5199583"/>
            <a:ext cx="6192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ملاحظة: 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يمكن وضع الملفات داخل المجلدات ولا يمكن العكس.</a:t>
            </a:r>
            <a:endParaRPr lang="fr-FR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8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300"/>
                            </p:stCondLst>
                            <p:childTnLst>
                              <p:par>
                                <p:cTn id="5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6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6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1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80" grpId="0"/>
      <p:bldP spid="89" grpId="0"/>
      <p:bldP spid="90" grpId="0" animBg="1"/>
      <p:bldP spid="91" grpId="0" animBg="1"/>
      <p:bldP spid="92" grpId="0"/>
      <p:bldP spid="93" grpId="0"/>
      <p:bldP spid="98" grpId="0"/>
      <p:bldP spid="1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ZoneTexte 79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ZoneTexte 4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e 4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5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7" name="Picture 5" descr="D:\informatique\مذكرات سنة أولى متوسط\kjuhgy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1649">
            <a:off x="-1351975" y="2149356"/>
            <a:ext cx="1495339" cy="149533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4" descr="D:\informatique\مذكرات سنة أولى متوسط\cfr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82616">
            <a:off x="765834" y="2636556"/>
            <a:ext cx="1355774" cy="13557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3" descr="D:\informatique\مذكرات سنة أولى متوسط\الفبقك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29271">
            <a:off x="3307064" y="2290353"/>
            <a:ext cx="1355774" cy="13557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D:\informatique\مذكرات سنة أولى متوسط\nbb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75098">
            <a:off x="5185961" y="2642371"/>
            <a:ext cx="1355774" cy="13557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8" descr="D:\informatique\مذكرات سنة أولى متوسط\lkij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01" y="4216868"/>
            <a:ext cx="1232513" cy="1232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D:\informatique\مذكرات سنة أولى متوسط\ihuyt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212140"/>
            <a:ext cx="1205124" cy="118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5" descr="D:\informatique\مذكرات سنة أولى متوسط\فيد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5" y="1485900"/>
            <a:ext cx="1117478" cy="1117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D:\informatique\مذكرات سنة أولى متوسط\frds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777" y="778709"/>
            <a:ext cx="2858852" cy="10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D:\informatique\مذكرات سنة أولى متوسط\غفقث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07181">
            <a:off x="5654749" y="3984123"/>
            <a:ext cx="1475995" cy="149258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3" descr="D:\informatique\مذكرات سنة أولى متوسط\ygff.jp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237" y="3686413"/>
            <a:ext cx="1598968" cy="16133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Image 69"/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94176" y="4345349"/>
            <a:ext cx="2052955" cy="1209675"/>
          </a:xfrm>
          <a:prstGeom prst="rect">
            <a:avLst/>
          </a:prstGeom>
        </p:spPr>
      </p:pic>
      <p:pic>
        <p:nvPicPr>
          <p:cNvPr id="71" name="Image 70"/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316" y="4116749"/>
            <a:ext cx="777875" cy="88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475656" y="1780628"/>
            <a:ext cx="3528392" cy="1504356"/>
          </a:xfrm>
          <a:prstGeom prst="cloudCallout">
            <a:avLst>
              <a:gd name="adj1" fmla="val -41968"/>
              <a:gd name="adj2" fmla="val 820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520" y="3372961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691680" y="2156637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هذه العمليات الممكن تطبيقها على الملفات والمجلدات؟ </a:t>
            </a:r>
          </a:p>
        </p:txBody>
      </p:sp>
      <p:pic>
        <p:nvPicPr>
          <p:cNvPr id="25" name="Image 24" descr="11-2-animation-png-hd-thumb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flipH="1">
            <a:off x="6372200" y="3140968"/>
            <a:ext cx="3096344" cy="3096344"/>
          </a:xfrm>
          <a:prstGeom prst="rect">
            <a:avLst/>
          </a:prstGeom>
        </p:spPr>
      </p:pic>
      <p:grpSp>
        <p:nvGrpSpPr>
          <p:cNvPr id="26" name="Group 77"/>
          <p:cNvGrpSpPr/>
          <p:nvPr/>
        </p:nvGrpSpPr>
        <p:grpSpPr>
          <a:xfrm rot="20503916">
            <a:off x="5303910" y="2290603"/>
            <a:ext cx="2304318" cy="2525521"/>
            <a:chOff x="914400" y="1122362"/>
            <a:chExt cx="2080267" cy="3507909"/>
          </a:xfrm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ZoneTexte 33"/>
          <p:cNvSpPr txBox="1"/>
          <p:nvPr/>
        </p:nvSpPr>
        <p:spPr>
          <a:xfrm rot="20502721">
            <a:off x="5240975" y="2586970"/>
            <a:ext cx="2179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chemeClr val="bg1"/>
                </a:solidFill>
              </a:rPr>
              <a:t>يمكن تطبيق عدة عمليات على الملفات و المجلدات .</a:t>
            </a:r>
            <a:endParaRPr lang="fr-FR" sz="2200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8" name="ZoneTexte 37"/>
              <p:cNvSpPr txBox="1"/>
              <p:nvPr/>
            </p:nvSpPr>
            <p:spPr>
              <a:xfrm>
                <a:off x="1907705" y="44624"/>
                <a:ext cx="40838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عمليات على الملفات والمجلدات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Groupe 38"/>
            <p:cNvGrpSpPr/>
            <p:nvPr/>
          </p:nvGrpSpPr>
          <p:grpSpPr>
            <a:xfrm>
              <a:off x="653186" y="44624"/>
              <a:ext cx="1254518" cy="542384"/>
              <a:chOff x="653186" y="44624"/>
              <a:chExt cx="966486" cy="542384"/>
            </a:xfrm>
          </p:grpSpPr>
          <p:pic>
            <p:nvPicPr>
              <p:cNvPr id="40" name="Picture 4" descr="D:\informatique\مذكرات سنة أولى متوسط\cfrd.jpg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186" y="44624"/>
                <a:ext cx="966486" cy="54238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2" descr="D:\informatique\مذكرات سنة أولى متوسط\ihuyt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0513" y="252619"/>
                <a:ext cx="227151" cy="2240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3" descr="D:\informatique\مذكرات سنة أولى متوسط\الفبقك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429" y="234847"/>
                <a:ext cx="209352" cy="20935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5" descr="D:\informatique\مذكرات سنة أولى متوسط\فيد.jp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7624" y="356493"/>
                <a:ext cx="213268" cy="21326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7" descr="D:\informatique\مذكرات سنة أولى متوسط\Tex.png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201" y="348257"/>
                <a:ext cx="200423" cy="20042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5" name="Pensées 4"/>
          <p:cNvSpPr/>
          <p:nvPr/>
        </p:nvSpPr>
        <p:spPr>
          <a:xfrm>
            <a:off x="1428515" y="1756847"/>
            <a:ext cx="3528392" cy="1504356"/>
          </a:xfrm>
          <a:prstGeom prst="cloudCallout">
            <a:avLst>
              <a:gd name="adj1" fmla="val -41968"/>
              <a:gd name="adj2" fmla="val 820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520" y="3356992"/>
            <a:ext cx="2941886" cy="2952328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1644539" y="2132856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لكن ماهي الخطوات المتبعة لإنشاء مجلد جديد؟ </a:t>
            </a:r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5" name="Groupe 1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2" name="Groupe 2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4" name="Groupe 2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26" name="Groupe 25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28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34" name="Rectangle 3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3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3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38" name="Rectangle 3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36" name="Rectangle 3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29" name="Image 28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" name="Image 29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1" name="ZoneTexte 30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" name="ZoneTexte 31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3" name="ZoneTexte 32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7" name="Image 26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5" name="ZoneTexte 24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3" name="ZoneTexte 22"/>
              <p:cNvSpPr txBox="1"/>
              <p:nvPr/>
            </p:nvSpPr>
            <p:spPr>
              <a:xfrm>
                <a:off x="1907705" y="44624"/>
                <a:ext cx="40838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عمليات على الملفات والمجلدات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/>
          </p:nvGrpSpPr>
          <p:grpSpPr>
            <a:xfrm>
              <a:off x="653186" y="44624"/>
              <a:ext cx="1254518" cy="542384"/>
              <a:chOff x="653186" y="44624"/>
              <a:chExt cx="966486" cy="542384"/>
            </a:xfrm>
          </p:grpSpPr>
          <p:pic>
            <p:nvPicPr>
              <p:cNvPr id="17" name="Picture 4" descr="D:\informatique\مذكرات سنة أولى متوسط\cfrd.jp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186" y="44624"/>
                <a:ext cx="966486" cy="54238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D:\informatique\مذكرات سنة أولى متوسط\ihuyt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0513" y="252619"/>
                <a:ext cx="227151" cy="2240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3" descr="D:\informatique\مذكرات سنة أولى متوسط\الفبقك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429" y="234847"/>
                <a:ext cx="209352" cy="20935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5" descr="D:\informatique\مذكرات سنة أولى متوسط\فيد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7624" y="356493"/>
                <a:ext cx="213268" cy="21326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7" descr="D:\informatique\مذكرات سنة أولى متوسط\Tex.pn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201" y="348257"/>
                <a:ext cx="200423" cy="20042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9" name="Image 38" descr="11-2-animation-png-hd-thumb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 flipH="1">
            <a:off x="6372200" y="3140968"/>
            <a:ext cx="3096344" cy="3096344"/>
          </a:xfrm>
          <a:prstGeom prst="rect">
            <a:avLst/>
          </a:prstGeom>
        </p:spPr>
      </p:pic>
      <p:grpSp>
        <p:nvGrpSpPr>
          <p:cNvPr id="40" name="Group 77"/>
          <p:cNvGrpSpPr/>
          <p:nvPr/>
        </p:nvGrpSpPr>
        <p:grpSpPr>
          <a:xfrm rot="20503916">
            <a:off x="5303910" y="2290603"/>
            <a:ext cx="2304318" cy="2525521"/>
            <a:chOff x="914400" y="1122362"/>
            <a:chExt cx="2080267" cy="3507909"/>
          </a:xfrm>
        </p:grpSpPr>
        <p:sp>
          <p:nvSpPr>
            <p:cNvPr id="41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ZoneTexte 43"/>
          <p:cNvSpPr txBox="1"/>
          <p:nvPr/>
        </p:nvSpPr>
        <p:spPr>
          <a:xfrm rot="20502721">
            <a:off x="5283159" y="2359401"/>
            <a:ext cx="21790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100" b="1" dirty="0" smtClean="0">
                <a:solidFill>
                  <a:schemeClr val="bg1"/>
                </a:solidFill>
              </a:rPr>
              <a:t>هناك العديد من البرامج في الحاسوب التي تسمح بإنشاء الملفات جديدة بجميع أنواعها والتعديل عليها حسب الحاجة.</a:t>
            </a:r>
            <a:endParaRPr lang="fr-FR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56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735087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عمليات على الملفات والمجلدات: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8" name="ZoneTexte 5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Groupe 5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6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Groupe 65"/>
          <p:cNvGrpSpPr/>
          <p:nvPr/>
        </p:nvGrpSpPr>
        <p:grpSpPr>
          <a:xfrm>
            <a:off x="5292080" y="1484784"/>
            <a:ext cx="2972668" cy="576064"/>
            <a:chOff x="5004048" y="2348880"/>
            <a:chExt cx="2972668" cy="576064"/>
          </a:xfrm>
        </p:grpSpPr>
        <p:grpSp>
          <p:nvGrpSpPr>
            <p:cNvPr id="67" name="Groupe 58"/>
            <p:cNvGrpSpPr/>
            <p:nvPr/>
          </p:nvGrpSpPr>
          <p:grpSpPr>
            <a:xfrm>
              <a:off x="5004048" y="2348880"/>
              <a:ext cx="2972668" cy="504056"/>
              <a:chOff x="5004048" y="2852936"/>
              <a:chExt cx="2972668" cy="576064"/>
            </a:xfrm>
          </p:grpSpPr>
          <p:sp>
            <p:nvSpPr>
              <p:cNvPr id="70" name="Notched Right Arrow 54"/>
              <p:cNvSpPr/>
              <p:nvPr/>
            </p:nvSpPr>
            <p:spPr>
              <a:xfrm flipH="1">
                <a:off x="5004048" y="3008511"/>
                <a:ext cx="297266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7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أ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8" name="ZoneTexte 67"/>
            <p:cNvSpPr txBox="1"/>
            <p:nvPr/>
          </p:nvSpPr>
          <p:spPr>
            <a:xfrm>
              <a:off x="5292080" y="2494057"/>
              <a:ext cx="21602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إنشاء مجلد جديد: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74" name="Group 104"/>
          <p:cNvGrpSpPr/>
          <p:nvPr/>
        </p:nvGrpSpPr>
        <p:grpSpPr>
          <a:xfrm>
            <a:off x="3347863" y="2181230"/>
            <a:ext cx="4959774" cy="527690"/>
            <a:chOff x="-399328" y="1173645"/>
            <a:chExt cx="4759158" cy="1114425"/>
          </a:xfrm>
        </p:grpSpPr>
        <p:sp>
          <p:nvSpPr>
            <p:cNvPr id="75" name="Rectangle 7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-399328" y="1373671"/>
              <a:ext cx="398445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13" name="Group 118"/>
          <p:cNvGrpSpPr/>
          <p:nvPr/>
        </p:nvGrpSpPr>
        <p:grpSpPr>
          <a:xfrm>
            <a:off x="3347862" y="3057953"/>
            <a:ext cx="4968553" cy="515063"/>
            <a:chOff x="-400739" y="2392845"/>
            <a:chExt cx="4760569" cy="1114425"/>
          </a:xfrm>
        </p:grpSpPr>
        <p:sp>
          <p:nvSpPr>
            <p:cNvPr id="114" name="Rectangle 113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Rectangle 115"/>
            <p:cNvSpPr/>
            <p:nvPr/>
          </p:nvSpPr>
          <p:spPr>
            <a:xfrm flipH="1">
              <a:off x="-400739" y="2592870"/>
              <a:ext cx="398586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3491880" y="2287389"/>
            <a:ext cx="35275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نضغط  بالزر الأيمن في مساحة فارغة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580727" y="220608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594672" y="305795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4031938" y="3129961"/>
            <a:ext cx="30243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  </a:t>
            </a:r>
            <a:r>
              <a:rPr lang="fr-FR" sz="2000" b="1" dirty="0" smtClean="0">
                <a:solidFill>
                  <a:schemeClr val="bg1"/>
                </a:solidFill>
              </a:rPr>
              <a:t>nouveau</a:t>
            </a:r>
            <a:r>
              <a:rPr lang="ar-DZ" sz="2000" b="1" dirty="0" smtClean="0">
                <a:solidFill>
                  <a:schemeClr val="bg1"/>
                </a:solidFill>
              </a:rPr>
              <a:t> ثم  </a:t>
            </a:r>
            <a:r>
              <a:rPr lang="fr-FR" sz="2000" b="1" dirty="0" smtClean="0">
                <a:solidFill>
                  <a:schemeClr val="bg1"/>
                </a:solidFill>
              </a:rPr>
              <a:t>Dossier</a:t>
            </a:r>
            <a:r>
              <a:rPr lang="ar-DZ" sz="2000" b="1" dirty="0">
                <a:solidFill>
                  <a:schemeClr val="bg1"/>
                </a:solidFill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8" name="Group 104"/>
          <p:cNvGrpSpPr/>
          <p:nvPr/>
        </p:nvGrpSpPr>
        <p:grpSpPr>
          <a:xfrm>
            <a:off x="179511" y="3920430"/>
            <a:ext cx="8128126" cy="804714"/>
            <a:chOff x="-3439525" y="1173645"/>
            <a:chExt cx="7799355" cy="1114425"/>
          </a:xfrm>
        </p:grpSpPr>
        <p:sp>
          <p:nvSpPr>
            <p:cNvPr id="139" name="Rectangle 13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 flipH="1">
              <a:off x="-3439525" y="1373671"/>
              <a:ext cx="7024652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Rectangle 14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50" name="Rectangle 149"/>
          <p:cNvSpPr/>
          <p:nvPr/>
        </p:nvSpPr>
        <p:spPr>
          <a:xfrm>
            <a:off x="179512" y="4005064"/>
            <a:ext cx="69847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 smtClean="0">
                <a:solidFill>
                  <a:schemeClr val="bg1"/>
                </a:solidFill>
              </a:rPr>
              <a:t>نمسح ماهو مكتوب بالمفتاح                من لوحة المفاتيح ثم نكتب الإسم و نضغط  </a:t>
            </a:r>
            <a:r>
              <a:rPr lang="en-US" sz="2000" b="1" dirty="0" err="1" smtClean="0">
                <a:solidFill>
                  <a:schemeClr val="bg1"/>
                </a:solidFill>
              </a:rPr>
              <a:t>Entr</a:t>
            </a:r>
            <a:r>
              <a:rPr lang="fr-FR" sz="2000" b="1" dirty="0" err="1" smtClean="0">
                <a:solidFill>
                  <a:schemeClr val="bg1"/>
                </a:solidFill>
              </a:rPr>
              <a:t>ée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7580727" y="40160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653186" y="1588730"/>
            <a:ext cx="46388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بعد تحديد المكان (القرص أو المجلد أو سطح المكتب).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155" name="Groupe 154"/>
          <p:cNvGrpSpPr/>
          <p:nvPr/>
        </p:nvGrpSpPr>
        <p:grpSpPr>
          <a:xfrm>
            <a:off x="3828028" y="4095663"/>
            <a:ext cx="887988" cy="289741"/>
            <a:chOff x="0" y="0"/>
            <a:chExt cx="685800" cy="371475"/>
          </a:xfrm>
        </p:grpSpPr>
        <p:sp>
          <p:nvSpPr>
            <p:cNvPr id="156" name="Rectangle 155"/>
            <p:cNvSpPr/>
            <p:nvPr/>
          </p:nvSpPr>
          <p:spPr>
            <a:xfrm>
              <a:off x="0" y="0"/>
              <a:ext cx="685800" cy="3714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57" name="Flèche gauche 156"/>
            <p:cNvSpPr/>
            <p:nvPr/>
          </p:nvSpPr>
          <p:spPr>
            <a:xfrm>
              <a:off x="123825" y="114300"/>
              <a:ext cx="457200" cy="133350"/>
            </a:xfrm>
            <a:prstGeom prst="leftArrow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6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6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1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1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125" grpId="0"/>
      <p:bldP spid="126" grpId="0"/>
      <p:bldP spid="127" grpId="0"/>
      <p:bldP spid="129" grpId="0"/>
      <p:bldP spid="150" grpId="0"/>
      <p:bldP spid="151" grpId="0"/>
      <p:bldP spid="1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1124744"/>
            <a:ext cx="6876764" cy="1872208"/>
          </a:xfrm>
          <a:prstGeom prst="cloudCallout">
            <a:avLst>
              <a:gd name="adj1" fmla="val -36737"/>
              <a:gd name="adj2" fmla="val 86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11560" y="1340768"/>
            <a:ext cx="572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لإنشاء مجلد داخل مجلد؟</a:t>
            </a:r>
          </a:p>
          <a:p>
            <a:pPr algn="r" rtl="1"/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ماهي الخطوات المتبعة لتغيير إسم (إعادة تسمية) مجلد أو ملف؟  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ZoneTexte 24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8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0" name="ZoneTexte 119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26327" y="853261"/>
            <a:ext cx="3168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خطوات إنشاء مجلد 2 داخل مجلد1.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5339661" y="692696"/>
            <a:ext cx="3202949" cy="576064"/>
            <a:chOff x="4773767" y="2348880"/>
            <a:chExt cx="3202949" cy="576064"/>
          </a:xfrm>
        </p:grpSpPr>
        <p:grpSp>
          <p:nvGrpSpPr>
            <p:cNvPr id="72" name="Groupe 58"/>
            <p:cNvGrpSpPr/>
            <p:nvPr/>
          </p:nvGrpSpPr>
          <p:grpSpPr>
            <a:xfrm>
              <a:off x="4773767" y="2348880"/>
              <a:ext cx="3202949" cy="504056"/>
              <a:chOff x="4773767" y="2852936"/>
              <a:chExt cx="3202949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4773767" y="3008511"/>
                <a:ext cx="3202949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5086226" y="2494057"/>
              <a:ext cx="23660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إنشاء مجلد داخل مجلد: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4" name="Group 104"/>
          <p:cNvGrpSpPr/>
          <p:nvPr/>
        </p:nvGrpSpPr>
        <p:grpSpPr>
          <a:xfrm>
            <a:off x="2987824" y="1367721"/>
            <a:ext cx="5501918" cy="527690"/>
            <a:chOff x="-919543" y="1173645"/>
            <a:chExt cx="5279373" cy="1114425"/>
          </a:xfrm>
        </p:grpSpPr>
        <p:sp>
          <p:nvSpPr>
            <p:cNvPr id="95" name="Rectangle 9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-919543" y="1373671"/>
              <a:ext cx="4504672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0" name="Group 118"/>
          <p:cNvGrpSpPr/>
          <p:nvPr/>
        </p:nvGrpSpPr>
        <p:grpSpPr>
          <a:xfrm>
            <a:off x="2987823" y="2143818"/>
            <a:ext cx="5510698" cy="515063"/>
            <a:chOff x="-818111" y="2392845"/>
            <a:chExt cx="5177941" cy="1114425"/>
          </a:xfrm>
        </p:grpSpPr>
        <p:sp>
          <p:nvSpPr>
            <p:cNvPr id="103" name="Rectangle 10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-818111" y="2592870"/>
              <a:ext cx="440323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9" name="Group 132"/>
          <p:cNvGrpSpPr/>
          <p:nvPr/>
        </p:nvGrpSpPr>
        <p:grpSpPr>
          <a:xfrm>
            <a:off x="2987822" y="3698576"/>
            <a:ext cx="5510018" cy="533726"/>
            <a:chOff x="-809615" y="3612045"/>
            <a:chExt cx="5169445" cy="1114425"/>
          </a:xfrm>
        </p:grpSpPr>
        <p:sp>
          <p:nvSpPr>
            <p:cNvPr id="110" name="Rectangle 109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 flipH="1">
              <a:off x="-809615" y="3812070"/>
              <a:ext cx="4394748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7762832" y="139258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6" name="Rectangle 135"/>
          <p:cNvSpPr/>
          <p:nvPr/>
        </p:nvSpPr>
        <p:spPr>
          <a:xfrm>
            <a:off x="7776777" y="21438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7770632" y="371895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40" name="Groupe 139"/>
          <p:cNvGrpSpPr/>
          <p:nvPr/>
        </p:nvGrpSpPr>
        <p:grpSpPr>
          <a:xfrm>
            <a:off x="5234126" y="2945473"/>
            <a:ext cx="3229266" cy="576064"/>
            <a:chOff x="4747450" y="2348880"/>
            <a:chExt cx="3229266" cy="576064"/>
          </a:xfrm>
        </p:grpSpPr>
        <p:grpSp>
          <p:nvGrpSpPr>
            <p:cNvPr id="141" name="Groupe 58"/>
            <p:cNvGrpSpPr/>
            <p:nvPr/>
          </p:nvGrpSpPr>
          <p:grpSpPr>
            <a:xfrm>
              <a:off x="4747450" y="2348880"/>
              <a:ext cx="3229266" cy="504056"/>
              <a:chOff x="4747450" y="2852936"/>
              <a:chExt cx="3229266" cy="576064"/>
            </a:xfrm>
          </p:grpSpPr>
          <p:sp>
            <p:nvSpPr>
              <p:cNvPr id="143" name="Notched Right Arrow 54"/>
              <p:cNvSpPr/>
              <p:nvPr/>
            </p:nvSpPr>
            <p:spPr>
              <a:xfrm flipH="1">
                <a:off x="4747450" y="3008511"/>
                <a:ext cx="322926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45" name="Freeform 56"/>
                <p:cNvSpPr/>
                <p:nvPr/>
              </p:nvSpPr>
              <p:spPr>
                <a:xfrm>
                  <a:off x="1271589" y="1657350"/>
                  <a:ext cx="466716" cy="154780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145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ج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42" name="ZoneTexte 141"/>
            <p:cNvSpPr txBox="1"/>
            <p:nvPr/>
          </p:nvSpPr>
          <p:spPr>
            <a:xfrm>
              <a:off x="4852985" y="2494057"/>
              <a:ext cx="259933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تغيير اسم مجلد أو ملف 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47" name="Group 104"/>
          <p:cNvGrpSpPr/>
          <p:nvPr/>
        </p:nvGrpSpPr>
        <p:grpSpPr>
          <a:xfrm>
            <a:off x="2987821" y="5229200"/>
            <a:ext cx="5510019" cy="527690"/>
            <a:chOff x="-927318" y="1173645"/>
            <a:chExt cx="5287148" cy="1114425"/>
          </a:xfrm>
        </p:grpSpPr>
        <p:sp>
          <p:nvSpPr>
            <p:cNvPr id="148" name="Rectangle 14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 flipH="1">
              <a:off x="-927318" y="1373671"/>
              <a:ext cx="451243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0" name="Rectangle 159"/>
          <p:cNvSpPr/>
          <p:nvPr/>
        </p:nvSpPr>
        <p:spPr>
          <a:xfrm>
            <a:off x="7795345" y="525405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63" name="Group 132"/>
          <p:cNvGrpSpPr/>
          <p:nvPr/>
        </p:nvGrpSpPr>
        <p:grpSpPr>
          <a:xfrm>
            <a:off x="2987824" y="4479450"/>
            <a:ext cx="5501010" cy="533726"/>
            <a:chOff x="-919105" y="3612045"/>
            <a:chExt cx="5278935" cy="1114425"/>
          </a:xfrm>
        </p:grpSpPr>
        <p:sp>
          <p:nvSpPr>
            <p:cNvPr id="164" name="Rectangle 163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 flipH="1">
              <a:off x="-919105" y="3812070"/>
              <a:ext cx="4504235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9" name="Rectangle 168"/>
          <p:cNvSpPr/>
          <p:nvPr/>
        </p:nvSpPr>
        <p:spPr>
          <a:xfrm>
            <a:off x="7761626" y="4479450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4588078" y="4583396"/>
            <a:ext cx="28042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renommer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811048" y="1478868"/>
            <a:ext cx="1382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نفتح المجلد 1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3059832" y="2247518"/>
            <a:ext cx="42040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ننشيء مجلد جديد ونقوم بتسميته ب "مجلد2".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347864" y="3813282"/>
            <a:ext cx="39607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نضغط بالزر الايمن على المجلد أو الملف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1" name="Groupe 100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102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5" name="Rectangle 114"/>
          <p:cNvSpPr/>
          <p:nvPr/>
        </p:nvSpPr>
        <p:spPr>
          <a:xfrm>
            <a:off x="2987824" y="3090650"/>
            <a:ext cx="20758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نتبع الخطوات التالية.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3635895" y="5317155"/>
            <a:ext cx="3674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نمسح الإسم القديم  ونكتب الإسم الجديد.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0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21" grpId="0"/>
      <p:bldP spid="135" grpId="0"/>
      <p:bldP spid="136" grpId="0"/>
      <p:bldP spid="137" grpId="0"/>
      <p:bldP spid="160" grpId="0"/>
      <p:bldP spid="169" grpId="0"/>
      <p:bldP spid="170" grpId="0"/>
      <p:bldP spid="171" grpId="0"/>
      <p:bldP spid="172" grpId="0"/>
      <p:bldP spid="173" grpId="0"/>
      <p:bldP spid="115" grpId="0"/>
      <p:bldP spid="1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5" name="Pensées 4"/>
          <p:cNvSpPr/>
          <p:nvPr/>
        </p:nvSpPr>
        <p:spPr>
          <a:xfrm>
            <a:off x="179512" y="1124744"/>
            <a:ext cx="6876764" cy="1872208"/>
          </a:xfrm>
          <a:prstGeom prst="cloudCallout">
            <a:avLst>
              <a:gd name="adj1" fmla="val -36737"/>
              <a:gd name="adj2" fmla="val 86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611560" y="1412776"/>
            <a:ext cx="572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المتبعة لإنشاء نسخة من مجلد أو ملف؟</a:t>
            </a:r>
          </a:p>
          <a:p>
            <a:pPr algn="r" rtl="1"/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 rtl="1"/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ماهي الخطوات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المتبعة لقص أو نقل مجلد أو ملف من مكان لآخر؟  </a:t>
            </a:r>
          </a:p>
        </p:txBody>
      </p:sp>
      <p:grpSp>
        <p:nvGrpSpPr>
          <p:cNvPr id="8" name="Groupe 7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" name="Groupe 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1" name="Groupe 10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3" name="Groupe 1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6" name="Image 15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7" name="Image 16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9" name="ZoneTexte 18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" name="ZoneTexte 19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4" name="Image 13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2" name="ZoneTexte 11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ZoneTexte 9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7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281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6" name="Groupe 5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1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1" name="Rectangle 2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9" name="Rectangle 1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2" name="Image 1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3" name="Image 1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4" name="ZoneTexte 1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" name="ZoneTexte 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8" name="ZoneTexte 6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132"/>
          <p:cNvGrpSpPr/>
          <p:nvPr/>
        </p:nvGrpSpPr>
        <p:grpSpPr>
          <a:xfrm>
            <a:off x="3851920" y="1671138"/>
            <a:ext cx="4896543" cy="533726"/>
            <a:chOff x="-340685" y="3612045"/>
            <a:chExt cx="4700515" cy="1114425"/>
          </a:xfrm>
        </p:grpSpPr>
        <p:sp>
          <p:nvSpPr>
            <p:cNvPr id="23" name="Rectangle 2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 flipH="1">
              <a:off x="-340685" y="3812070"/>
              <a:ext cx="3925817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802125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29" name="Groupe 28"/>
          <p:cNvGrpSpPr/>
          <p:nvPr/>
        </p:nvGrpSpPr>
        <p:grpSpPr>
          <a:xfrm>
            <a:off x="4663041" y="891226"/>
            <a:ext cx="4050975" cy="576064"/>
            <a:chOff x="3925741" y="2348880"/>
            <a:chExt cx="4050975" cy="576064"/>
          </a:xfrm>
        </p:grpSpPr>
        <p:grpSp>
          <p:nvGrpSpPr>
            <p:cNvPr id="30" name="Groupe 58"/>
            <p:cNvGrpSpPr/>
            <p:nvPr/>
          </p:nvGrpSpPr>
          <p:grpSpPr>
            <a:xfrm>
              <a:off x="3925741" y="2348880"/>
              <a:ext cx="4050975" cy="504056"/>
              <a:chOff x="3925741" y="2852936"/>
              <a:chExt cx="4050975" cy="576064"/>
            </a:xfrm>
          </p:grpSpPr>
          <p:sp>
            <p:nvSpPr>
              <p:cNvPr id="32" name="Notched Right Arrow 54"/>
              <p:cNvSpPr/>
              <p:nvPr/>
            </p:nvSpPr>
            <p:spPr>
              <a:xfrm flipH="1">
                <a:off x="3925741" y="3008511"/>
                <a:ext cx="4050975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34" name="Freeform 56"/>
                <p:cNvSpPr/>
                <p:nvPr/>
              </p:nvSpPr>
              <p:spPr>
                <a:xfrm>
                  <a:off x="1271589" y="1657350"/>
                  <a:ext cx="466716" cy="154780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د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31" name="ZoneTexte 30"/>
            <p:cNvSpPr txBox="1"/>
            <p:nvPr/>
          </p:nvSpPr>
          <p:spPr>
            <a:xfrm>
              <a:off x="4291213" y="2494057"/>
              <a:ext cx="31611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نسخ أو نقل مجلد أو ملف: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6" name="Group 104"/>
          <p:cNvGrpSpPr/>
          <p:nvPr/>
        </p:nvGrpSpPr>
        <p:grpSpPr>
          <a:xfrm>
            <a:off x="1346897" y="3356992"/>
            <a:ext cx="7401567" cy="527690"/>
            <a:chOff x="-2742356" y="1173645"/>
            <a:chExt cx="7102186" cy="1114425"/>
          </a:xfrm>
        </p:grpSpPr>
        <p:sp>
          <p:nvSpPr>
            <p:cNvPr id="37" name="Rectangle 3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 flipH="1">
              <a:off x="-2742356" y="1373671"/>
              <a:ext cx="632747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8045969" y="338185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51" name="Group 132"/>
          <p:cNvGrpSpPr/>
          <p:nvPr/>
        </p:nvGrpSpPr>
        <p:grpSpPr>
          <a:xfrm>
            <a:off x="3486511" y="2535234"/>
            <a:ext cx="5252947" cy="533726"/>
            <a:chOff x="-681055" y="3612045"/>
            <a:chExt cx="5040885" cy="1114425"/>
          </a:xfrm>
        </p:grpSpPr>
        <p:sp>
          <p:nvSpPr>
            <p:cNvPr id="52" name="Rectangle 51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 flipH="1">
              <a:off x="-681055" y="3812070"/>
              <a:ext cx="4266187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8012250" y="253523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58" name="Rectangle 57"/>
          <p:cNvSpPr/>
          <p:nvPr/>
        </p:nvSpPr>
        <p:spPr>
          <a:xfrm>
            <a:off x="3851920" y="2639180"/>
            <a:ext cx="37910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-  نختار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copier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للنسخ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أو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couper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للنقل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58328" y="1785844"/>
            <a:ext cx="54008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نضغط  بالزر الأيمن على المجلد أو الملف.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60" name="Groupe 5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6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6" name="Rectangle 65"/>
          <p:cNvSpPr/>
          <p:nvPr/>
        </p:nvSpPr>
        <p:spPr>
          <a:xfrm>
            <a:off x="2448567" y="1067180"/>
            <a:ext cx="20758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نتبع الخطوات التالية.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552189" y="3444947"/>
            <a:ext cx="6068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نفتح المجلد الثاني و  نضغط بالزر الأيمن في مساحة فارغة ثم  </a:t>
            </a:r>
            <a:r>
              <a:rPr lang="fr-FR" sz="2000" b="1" dirty="0" smtClean="0">
                <a:solidFill>
                  <a:schemeClr val="bg1"/>
                </a:solidFill>
              </a:rPr>
              <a:t>coller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869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8" grpId="0"/>
      <p:bldP spid="57" grpId="0"/>
      <p:bldP spid="58" grpId="0"/>
      <p:bldP spid="59" grpId="0"/>
      <p:bldP spid="66" grpId="0"/>
      <p:bldP spid="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ZoneTexte 39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9" name="Pensées 68"/>
          <p:cNvSpPr/>
          <p:nvPr/>
        </p:nvSpPr>
        <p:spPr>
          <a:xfrm>
            <a:off x="251520" y="1412776"/>
            <a:ext cx="4824536" cy="1487487"/>
          </a:xfrm>
          <a:prstGeom prst="cloudCallout">
            <a:avLst>
              <a:gd name="adj1" fmla="val -25593"/>
              <a:gd name="adj2" fmla="val 100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71" name="ZoneTexte 70"/>
          <p:cNvSpPr txBox="1"/>
          <p:nvPr/>
        </p:nvSpPr>
        <p:spPr>
          <a:xfrm>
            <a:off x="395535" y="1965618"/>
            <a:ext cx="435458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فكيف يتم حذف المجلدات أو الملفات في الحاسوب؟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9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" name="Image 29" descr="11-2-animation-png-hd-thumb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 flipH="1">
            <a:off x="6156176" y="3140968"/>
            <a:ext cx="3096344" cy="3096344"/>
          </a:xfrm>
          <a:prstGeom prst="rect">
            <a:avLst/>
          </a:prstGeom>
        </p:spPr>
      </p:pic>
      <p:grpSp>
        <p:nvGrpSpPr>
          <p:cNvPr id="35" name="Group 77"/>
          <p:cNvGrpSpPr/>
          <p:nvPr/>
        </p:nvGrpSpPr>
        <p:grpSpPr>
          <a:xfrm rot="20503916">
            <a:off x="5087886" y="2290603"/>
            <a:ext cx="2304318" cy="2525521"/>
            <a:chOff x="914400" y="1122362"/>
            <a:chExt cx="2080267" cy="3507909"/>
          </a:xfrm>
        </p:grpSpPr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ZoneTexte 38"/>
          <p:cNvSpPr txBox="1"/>
          <p:nvPr/>
        </p:nvSpPr>
        <p:spPr>
          <a:xfrm rot="20502721">
            <a:off x="5048245" y="2427215"/>
            <a:ext cx="21790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chemeClr val="bg1"/>
                </a:solidFill>
              </a:rPr>
              <a:t>قد تحتاج لحذف والتخلص من بعض الملفات والمجلدات التي لم يعد لها أهمية في حاسوبك.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1" grpId="0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53336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15816" y="6453336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ZoneTexte 8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e 57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59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oupe 63"/>
          <p:cNvGrpSpPr/>
          <p:nvPr/>
        </p:nvGrpSpPr>
        <p:grpSpPr>
          <a:xfrm>
            <a:off x="5436094" y="891226"/>
            <a:ext cx="3277921" cy="576064"/>
            <a:chOff x="4698794" y="2348880"/>
            <a:chExt cx="3277921" cy="576064"/>
          </a:xfrm>
        </p:grpSpPr>
        <p:grpSp>
          <p:nvGrpSpPr>
            <p:cNvPr id="65" name="Groupe 58"/>
            <p:cNvGrpSpPr/>
            <p:nvPr/>
          </p:nvGrpSpPr>
          <p:grpSpPr>
            <a:xfrm>
              <a:off x="4698794" y="2348880"/>
              <a:ext cx="3277921" cy="504056"/>
              <a:chOff x="4698794" y="2852936"/>
              <a:chExt cx="3277921" cy="576064"/>
            </a:xfrm>
          </p:grpSpPr>
          <p:sp>
            <p:nvSpPr>
              <p:cNvPr id="67" name="Notched Right Arrow 54"/>
              <p:cNvSpPr/>
              <p:nvPr/>
            </p:nvSpPr>
            <p:spPr>
              <a:xfrm flipH="1">
                <a:off x="4698794" y="3008511"/>
                <a:ext cx="3277921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9" name="Freeform 56"/>
                <p:cNvSpPr/>
                <p:nvPr/>
              </p:nvSpPr>
              <p:spPr>
                <a:xfrm>
                  <a:off x="1271589" y="1657350"/>
                  <a:ext cx="466716" cy="154780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د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6" name="ZoneTexte 65"/>
            <p:cNvSpPr txBox="1"/>
            <p:nvPr/>
          </p:nvSpPr>
          <p:spPr>
            <a:xfrm>
              <a:off x="4698795" y="2494057"/>
              <a:ext cx="275352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حذف مجلد أو ملف: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3203848" y="1026659"/>
            <a:ext cx="20758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نتبع الخطوات التالية.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2" name="Group 132"/>
          <p:cNvGrpSpPr/>
          <p:nvPr/>
        </p:nvGrpSpPr>
        <p:grpSpPr>
          <a:xfrm>
            <a:off x="3707904" y="1671138"/>
            <a:ext cx="5040559" cy="533726"/>
            <a:chOff x="-478935" y="3612045"/>
            <a:chExt cx="4838765" cy="1114425"/>
          </a:xfrm>
        </p:grpSpPr>
        <p:sp>
          <p:nvSpPr>
            <p:cNvPr id="73" name="Rectangle 7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flipH="1">
              <a:off x="-478935" y="3812070"/>
              <a:ext cx="4064068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78" name="Rectangle 77"/>
          <p:cNvSpPr/>
          <p:nvPr/>
        </p:nvSpPr>
        <p:spPr>
          <a:xfrm>
            <a:off x="802125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79" name="Rectangle 78"/>
          <p:cNvSpPr/>
          <p:nvPr/>
        </p:nvSpPr>
        <p:spPr>
          <a:xfrm>
            <a:off x="3983704" y="1785844"/>
            <a:ext cx="3575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نضغط بالزر الأيمن على المجلد أو الملف.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80" name="Group 132"/>
          <p:cNvGrpSpPr/>
          <p:nvPr/>
        </p:nvGrpSpPr>
        <p:grpSpPr>
          <a:xfrm>
            <a:off x="2771800" y="2636912"/>
            <a:ext cx="5976664" cy="533726"/>
            <a:chOff x="-1375556" y="3612045"/>
            <a:chExt cx="5735386" cy="1114425"/>
          </a:xfrm>
        </p:grpSpPr>
        <p:sp>
          <p:nvSpPr>
            <p:cNvPr id="81" name="Rectangle 80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 flipH="1">
              <a:off x="-1375556" y="3812070"/>
              <a:ext cx="4960687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6" name="Rectangle 85"/>
          <p:cNvSpPr/>
          <p:nvPr/>
        </p:nvSpPr>
        <p:spPr>
          <a:xfrm>
            <a:off x="8021256" y="263691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2929234" y="2740858"/>
            <a:ext cx="47227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التي تظهر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S</a:t>
            </a:r>
            <a:r>
              <a:rPr lang="fr-FR" sz="2000" b="1" dirty="0" err="1" smtClean="0">
                <a:solidFill>
                  <a:schemeClr val="bg1"/>
                </a:solidFill>
                <a:ea typeface="Times New Roman"/>
                <a:cs typeface="Times New Roman"/>
              </a:rPr>
              <a:t>upprimer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، بالزر الأسر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grpSp>
        <p:nvGrpSpPr>
          <p:cNvPr id="98" name="Group 118"/>
          <p:cNvGrpSpPr/>
          <p:nvPr/>
        </p:nvGrpSpPr>
        <p:grpSpPr>
          <a:xfrm>
            <a:off x="1907703" y="3573016"/>
            <a:ext cx="6840761" cy="567326"/>
            <a:chOff x="-2395542" y="2392845"/>
            <a:chExt cx="6755372" cy="1114425"/>
          </a:xfrm>
        </p:grpSpPr>
        <p:sp>
          <p:nvSpPr>
            <p:cNvPr id="99" name="Rectangle 9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 flipH="1">
              <a:off x="-2395542" y="2592871"/>
              <a:ext cx="5980667" cy="9143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7" name="Rectangle 106"/>
          <p:cNvSpPr/>
          <p:nvPr/>
        </p:nvSpPr>
        <p:spPr>
          <a:xfrm>
            <a:off x="8026720" y="358402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8" name="Rectangle 107"/>
          <p:cNvSpPr/>
          <p:nvPr/>
        </p:nvSpPr>
        <p:spPr>
          <a:xfrm>
            <a:off x="1907705" y="3740232"/>
            <a:ext cx="57606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تظهر نافذة فنضغط </a:t>
            </a:r>
            <a:r>
              <a:rPr lang="ar-DZ" sz="2000" b="1" dirty="0" smtClean="0">
                <a:solidFill>
                  <a:schemeClr val="bg1"/>
                </a:solidFill>
              </a:rPr>
              <a:t>على</a:t>
            </a:r>
            <a:r>
              <a:rPr lang="fr-FR" sz="2000" b="1" dirty="0" smtClean="0">
                <a:solidFill>
                  <a:schemeClr val="bg1"/>
                </a:solidFill>
              </a:rPr>
              <a:t>Oui  </a:t>
            </a:r>
            <a:r>
              <a:rPr lang="ar-DZ" sz="2000" b="1" dirty="0" smtClean="0">
                <a:solidFill>
                  <a:schemeClr val="bg1"/>
                </a:solidFill>
              </a:rPr>
              <a:t> للحذف </a:t>
            </a:r>
            <a:r>
              <a:rPr lang="ar-DZ" sz="2000" b="1" dirty="0">
                <a:solidFill>
                  <a:schemeClr val="bg1"/>
                </a:solidFill>
              </a:rPr>
              <a:t>أو </a:t>
            </a:r>
            <a:r>
              <a:rPr lang="fr-FR" sz="2000" b="1" dirty="0">
                <a:solidFill>
                  <a:schemeClr val="bg1"/>
                </a:solidFill>
              </a:rPr>
              <a:t>Non </a:t>
            </a:r>
            <a:r>
              <a:rPr lang="ar-DZ" sz="2000" b="1" dirty="0" smtClean="0">
                <a:solidFill>
                  <a:schemeClr val="bg1"/>
                </a:solidFill>
              </a:rPr>
              <a:t> للتراجع </a:t>
            </a:r>
            <a:r>
              <a:rPr lang="ar-DZ" sz="2000" b="1" dirty="0">
                <a:solidFill>
                  <a:schemeClr val="bg1"/>
                </a:solidFill>
              </a:rPr>
              <a:t>عن الحذف.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8" grpId="0"/>
      <p:bldP spid="79" grpId="0"/>
      <p:bldP spid="86" grpId="0"/>
      <p:bldP spid="87" grpId="0"/>
      <p:bldP spid="107" grpId="0"/>
      <p:bldP spid="108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27403</TotalTime>
  <Words>728</Words>
  <Application>Microsoft Office PowerPoint</Application>
  <PresentationFormat>Affichage à l'écran (4:3)</PresentationFormat>
  <Paragraphs>159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705</cp:revision>
  <dcterms:created xsi:type="dcterms:W3CDTF">2017-08-13T13:54:07Z</dcterms:created>
  <dcterms:modified xsi:type="dcterms:W3CDTF">2018-08-19T08:25:23Z</dcterms:modified>
</cp:coreProperties>
</file>