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75" r:id="rId4"/>
    <p:sldId id="260" r:id="rId5"/>
    <p:sldId id="274" r:id="rId6"/>
    <p:sldId id="261" r:id="rId7"/>
    <p:sldId id="264" r:id="rId8"/>
    <p:sldId id="265" r:id="rId9"/>
    <p:sldId id="277" r:id="rId10"/>
    <p:sldId id="267" r:id="rId11"/>
    <p:sldId id="278" r:id="rId12"/>
    <p:sldId id="269" r:id="rId13"/>
    <p:sldId id="271" r:id="rId14"/>
    <p:sldId id="270" r:id="rId15"/>
    <p:sldId id="279" r:id="rId16"/>
    <p:sldId id="272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00"/>
    <a:srgbClr val="FF6600"/>
    <a:srgbClr val="57ABC9"/>
    <a:srgbClr val="D75BB4"/>
    <a:srgbClr val="EEC208"/>
    <a:srgbClr val="E86E77"/>
    <a:srgbClr val="F79646"/>
    <a:srgbClr val="F48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3728" autoAdjust="0"/>
  </p:normalViewPr>
  <p:slideViewPr>
    <p:cSldViewPr>
      <p:cViewPr varScale="1">
        <p:scale>
          <a:sx n="70" d="100"/>
          <a:sy n="70" d="100"/>
        </p:scale>
        <p:origin x="5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11/02/2018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12" Type="http://schemas.openxmlformats.org/officeDocument/2006/relationships/image" Target="../media/image16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5.jpeg"/><Relationship Id="rId5" Type="http://schemas.openxmlformats.org/officeDocument/2006/relationships/image" Target="../media/image7.png"/><Relationship Id="rId10" Type="http://schemas.openxmlformats.org/officeDocument/2006/relationships/image" Target="../media/image14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516216" y="2193557"/>
            <a:ext cx="3672408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275599" y="1098927"/>
            <a:ext cx="2577601" cy="3064663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30558">
            <a:off x="5148538" y="1256943"/>
            <a:ext cx="25206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000" b="1" dirty="0">
                <a:solidFill>
                  <a:schemeClr val="bg1"/>
                </a:solidFill>
              </a:rPr>
              <a:t>بعد تعرفنا في الحصة الماضية على معالج النصوص وكيفية تشغيله و واجهته، سنتعرف في هذه الحصة على بعض العمليات التي يمكن تطبيقها على الوثيقة في هذا البرنامج، 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971600" y="1568986"/>
            <a:ext cx="3528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>
                <a:solidFill>
                  <a:schemeClr val="accent6">
                    <a:lumMod val="75000"/>
                  </a:schemeClr>
                </a:solidFill>
              </a:rPr>
              <a:t>فماهي العمليات </a:t>
            </a:r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الممكن</a:t>
            </a:r>
            <a:r>
              <a:rPr lang="ar-DZ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تتطبيقها على الوثيقة؟</a:t>
            </a:r>
            <a:endParaRPr lang="fr-FR" sz="20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85" name="Groupe 84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86" name="Pensées 8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ZoneTexte 8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0" name="Groupe 8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2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2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54" name="Rectangle 53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55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57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56" name="Rectangle 55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49" name="Image 48" descr="3-2-blogging-transparent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50" name="Image 49" descr="12-2-education-png-image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9" name="ZoneTexte 78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ZoneTexte 7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ZoneTexte 80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83" name="Image 82" descr="3d print busines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16016" y="6309320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88" name="Image 87" descr="Microsoft_Word_2013_logo.svg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4" name="ZoneTexte 3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الأول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4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9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4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4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9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IDHA\Downloads\صور المعلوماتية\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9"/>
            <a:ext cx="9144000" cy="56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072138" y="1988840"/>
            <a:ext cx="4948133" cy="32403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45" y="2348880"/>
            <a:ext cx="2461483" cy="4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ZoneTexte 26"/>
          <p:cNvSpPr txBox="1"/>
          <p:nvPr/>
        </p:nvSpPr>
        <p:spPr>
          <a:xfrm>
            <a:off x="2195736" y="2348880"/>
            <a:ext cx="4719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800" b="1" dirty="0" smtClean="0">
                <a:solidFill>
                  <a:srgbClr val="FFFF00"/>
                </a:solidFill>
              </a:rPr>
              <a:t>المجال المفاهيمي:</a:t>
            </a:r>
            <a:r>
              <a:rPr lang="ar-DZ" sz="2800" b="1" dirty="0">
                <a:solidFill>
                  <a:srgbClr val="FFFF00"/>
                </a:solidFill>
              </a:rPr>
              <a:t> </a:t>
            </a:r>
            <a:r>
              <a:rPr lang="ar-DZ" sz="2800" b="1" dirty="0" smtClean="0">
                <a:solidFill>
                  <a:schemeClr val="bg1"/>
                </a:solidFill>
              </a:rPr>
              <a:t>معالج النصوص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2366700" y="3122965"/>
            <a:ext cx="4581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8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800" b="1" dirty="0" smtClean="0">
                <a:solidFill>
                  <a:schemeClr val="bg1"/>
                </a:solidFill>
              </a:rPr>
              <a:t>عمليات على الوثيقة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2555776" y="4203085"/>
            <a:ext cx="43568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8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800" b="1" dirty="0" smtClean="0">
                <a:solidFill>
                  <a:schemeClr val="bg1"/>
                </a:solidFill>
              </a:rPr>
              <a:t>عمليات على الوثيقة </a:t>
            </a:r>
            <a:endParaRPr lang="fr-FR" sz="2800" b="1" dirty="0">
              <a:solidFill>
                <a:srgbClr val="FF0000"/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5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5" name="Groupe 14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0" name="Image 9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1" name="Image 10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2" name="ZoneTexte 11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ZoneTexte 12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ZoneTexte 13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6" name="Image 5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16016" y="6264696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7" name="Image 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0" name="ZoneTexte 2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الأول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-16066" y="625050"/>
            <a:ext cx="9176132" cy="1028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33" name="Ellipse 32"/>
          <p:cNvSpPr/>
          <p:nvPr/>
        </p:nvSpPr>
        <p:spPr>
          <a:xfrm>
            <a:off x="1817586" y="606437"/>
            <a:ext cx="1098230" cy="1028388"/>
          </a:xfrm>
          <a:prstGeom prst="ellipse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4" name="Ellipse 33"/>
          <p:cNvSpPr/>
          <p:nvPr/>
        </p:nvSpPr>
        <p:spPr>
          <a:xfrm>
            <a:off x="3651962" y="620688"/>
            <a:ext cx="1136062" cy="1028393"/>
          </a:xfrm>
          <a:prstGeom prst="ellipse">
            <a:avLst/>
          </a:prstGeom>
          <a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000" r="-28000"/>
            </a:stretch>
          </a:blipFill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5" name="Ellipse 34"/>
          <p:cNvSpPr/>
          <p:nvPr/>
        </p:nvSpPr>
        <p:spPr>
          <a:xfrm>
            <a:off x="5580111" y="625047"/>
            <a:ext cx="1152127" cy="1028390"/>
          </a:xfrm>
          <a:prstGeom prst="ellipse">
            <a:avLst/>
          </a:prstGeom>
          <a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6" name="Ellipse 35"/>
          <p:cNvSpPr/>
          <p:nvPr/>
        </p:nvSpPr>
        <p:spPr>
          <a:xfrm>
            <a:off x="7380312" y="625047"/>
            <a:ext cx="1080120" cy="1028390"/>
          </a:xfrm>
          <a:prstGeom prst="ellipse">
            <a:avLst/>
          </a:prstGeom>
          <a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3000" b="-53000"/>
            </a:stretch>
          </a:blipFill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7" name="ZoneTexte 36"/>
          <p:cNvSpPr txBox="1"/>
          <p:nvPr/>
        </p:nvSpPr>
        <p:spPr>
          <a:xfrm>
            <a:off x="8460431" y="816077"/>
            <a:ext cx="7920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أوفيس</a:t>
            </a:r>
          </a:p>
          <a:p>
            <a:r>
              <a:rPr lang="ar-SA" b="1" dirty="0" smtClean="0">
                <a:solidFill>
                  <a:schemeClr val="bg1"/>
                </a:solidFill>
              </a:rPr>
              <a:t>2003</a:t>
            </a:r>
            <a:endParaRPr lang="ar-SA" b="1" dirty="0">
              <a:solidFill>
                <a:schemeClr val="bg1"/>
              </a:solidFill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6732239" y="797466"/>
            <a:ext cx="7920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أوفيس</a:t>
            </a:r>
          </a:p>
          <a:p>
            <a:r>
              <a:rPr lang="ar-SA" b="1" dirty="0" smtClean="0">
                <a:solidFill>
                  <a:schemeClr val="bg1"/>
                </a:solidFill>
              </a:rPr>
              <a:t>2007</a:t>
            </a:r>
            <a:endParaRPr lang="ar-SA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4788024" y="816076"/>
            <a:ext cx="7920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أوفيس</a:t>
            </a:r>
          </a:p>
          <a:p>
            <a:r>
              <a:rPr lang="ar-SA" b="1" dirty="0" smtClean="0">
                <a:solidFill>
                  <a:schemeClr val="bg1"/>
                </a:solidFill>
              </a:rPr>
              <a:t>2010</a:t>
            </a:r>
            <a:endParaRPr lang="ar-SA" b="1" dirty="0">
              <a:solidFill>
                <a:schemeClr val="bg1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2915815" y="836911"/>
            <a:ext cx="7920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أوفيس</a:t>
            </a:r>
          </a:p>
          <a:p>
            <a:r>
              <a:rPr lang="ar-SA" b="1" dirty="0" smtClean="0">
                <a:solidFill>
                  <a:schemeClr val="bg1"/>
                </a:solidFill>
              </a:rPr>
              <a:t>2013</a:t>
            </a:r>
            <a:endParaRPr lang="ar-SA" b="1" dirty="0">
              <a:solidFill>
                <a:schemeClr val="bg1"/>
              </a:solidFill>
            </a:endParaRPr>
          </a:p>
        </p:txBody>
      </p:sp>
      <p:sp>
        <p:nvSpPr>
          <p:cNvPr id="41" name="ZoneTexte 40"/>
          <p:cNvSpPr txBox="1"/>
          <p:nvPr/>
        </p:nvSpPr>
        <p:spPr>
          <a:xfrm>
            <a:off x="1031286" y="836911"/>
            <a:ext cx="7920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أوفيس</a:t>
            </a:r>
          </a:p>
          <a:p>
            <a:r>
              <a:rPr lang="ar-SA" b="1" dirty="0" smtClean="0">
                <a:solidFill>
                  <a:schemeClr val="bg1"/>
                </a:solidFill>
              </a:rPr>
              <a:t>2016</a:t>
            </a:r>
            <a:endParaRPr lang="ar-SA" b="1" dirty="0">
              <a:solidFill>
                <a:schemeClr val="bg1"/>
              </a:solidFill>
            </a:endParaRPr>
          </a:p>
        </p:txBody>
      </p:sp>
      <p:sp>
        <p:nvSpPr>
          <p:cNvPr id="42" name="Ellipse 41"/>
          <p:cNvSpPr/>
          <p:nvPr/>
        </p:nvSpPr>
        <p:spPr>
          <a:xfrm>
            <a:off x="16381" y="645881"/>
            <a:ext cx="1027227" cy="988944"/>
          </a:xfrm>
          <a:prstGeom prst="ellipse">
            <a:avLst/>
          </a:prstGeom>
          <a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4000" r="-44000"/>
            </a:stretch>
          </a:blipFill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4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8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IDHA\Downloads\صور المعلوماتية\1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9144000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9" y="1812545"/>
            <a:ext cx="2073309" cy="40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856"/>
          <p:cNvSpPr/>
          <p:nvPr/>
        </p:nvSpPr>
        <p:spPr>
          <a:xfrm>
            <a:off x="8328422" y="1628800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5940151" y="1649846"/>
            <a:ext cx="2376263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8316416" y="1673760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6300192" y="1673760"/>
            <a:ext cx="1923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 إنشاء وثيقة جديدة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8328422" y="2278346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5940151" y="2299392"/>
            <a:ext cx="2376265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8294754" y="2299392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2-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6156176" y="2342469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حفظ وثيقة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0" name="Shape 856"/>
          <p:cNvSpPr/>
          <p:nvPr/>
        </p:nvSpPr>
        <p:spPr>
          <a:xfrm>
            <a:off x="8317003" y="2919904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Shape 859"/>
          <p:cNvSpPr/>
          <p:nvPr/>
        </p:nvSpPr>
        <p:spPr>
          <a:xfrm>
            <a:off x="5940151" y="2940950"/>
            <a:ext cx="2354603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2" name="ZoneTexte 91"/>
          <p:cNvSpPr txBox="1"/>
          <p:nvPr/>
        </p:nvSpPr>
        <p:spPr>
          <a:xfrm>
            <a:off x="8316417" y="2943958"/>
            <a:ext cx="450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3-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6156176" y="2956918"/>
            <a:ext cx="2015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غلق وثيقة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0" name="Groupe 79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5" name="Image 74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76" name="Image 75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7" name="ZoneTexte 76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8" name="ZoneTexte 77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9" name="Image 58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60" name="ZoneTexte 5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ZoneTexte 60"/>
              <p:cNvSpPr txBox="1"/>
              <p:nvPr/>
            </p:nvSpPr>
            <p:spPr>
              <a:xfrm>
                <a:off x="2267744" y="44624"/>
                <a:ext cx="27363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عمليات على الوثيقة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2" name="Image 61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36" name="Shape 856"/>
          <p:cNvSpPr/>
          <p:nvPr/>
        </p:nvSpPr>
        <p:spPr>
          <a:xfrm>
            <a:off x="8317004" y="3567976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7" name="Shape 859"/>
          <p:cNvSpPr/>
          <p:nvPr/>
        </p:nvSpPr>
        <p:spPr>
          <a:xfrm>
            <a:off x="5940152" y="3589022"/>
            <a:ext cx="2354603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38" name="ZoneTexte 37"/>
          <p:cNvSpPr txBox="1"/>
          <p:nvPr/>
        </p:nvSpPr>
        <p:spPr>
          <a:xfrm>
            <a:off x="8316418" y="3592030"/>
            <a:ext cx="450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4-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6156177" y="3604990"/>
            <a:ext cx="2015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فتح وثيقة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0" name="Shape 856"/>
          <p:cNvSpPr/>
          <p:nvPr/>
        </p:nvSpPr>
        <p:spPr>
          <a:xfrm>
            <a:off x="5026904" y="1844824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1" name="Shape 859"/>
          <p:cNvSpPr/>
          <p:nvPr/>
        </p:nvSpPr>
        <p:spPr>
          <a:xfrm>
            <a:off x="2638633" y="1865870"/>
            <a:ext cx="2376263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2" name="ZoneTexte 41"/>
          <p:cNvSpPr txBox="1"/>
          <p:nvPr/>
        </p:nvSpPr>
        <p:spPr>
          <a:xfrm>
            <a:off x="5014898" y="1889784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5-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2998674" y="1889784"/>
            <a:ext cx="1923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 الكتابة في الوثيقة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4" name="Shape 856"/>
          <p:cNvSpPr/>
          <p:nvPr/>
        </p:nvSpPr>
        <p:spPr>
          <a:xfrm>
            <a:off x="5026904" y="2572789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5" name="Shape 859"/>
          <p:cNvSpPr/>
          <p:nvPr/>
        </p:nvSpPr>
        <p:spPr>
          <a:xfrm>
            <a:off x="2638633" y="2593835"/>
            <a:ext cx="2376265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6" name="ZoneTexte 45"/>
          <p:cNvSpPr txBox="1"/>
          <p:nvPr/>
        </p:nvSpPr>
        <p:spPr>
          <a:xfrm>
            <a:off x="4993236" y="2593835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6-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47" name="ZoneTexte 46"/>
          <p:cNvSpPr txBox="1"/>
          <p:nvPr/>
        </p:nvSpPr>
        <p:spPr>
          <a:xfrm>
            <a:off x="2771800" y="2603253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تصحيح الأخطاء الإملائية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6" name="Shape 856"/>
          <p:cNvSpPr/>
          <p:nvPr/>
        </p:nvSpPr>
        <p:spPr>
          <a:xfrm>
            <a:off x="5015486" y="3284984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0000"/>
          </a:solidFill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2638634" y="3306030"/>
            <a:ext cx="2354603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FF0000"/>
          </a:solidFill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3" name="ZoneTexte 62"/>
          <p:cNvSpPr txBox="1"/>
          <p:nvPr/>
        </p:nvSpPr>
        <p:spPr>
          <a:xfrm>
            <a:off x="5014900" y="3309038"/>
            <a:ext cx="450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7-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2618604" y="3321962"/>
            <a:ext cx="2385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البحث عن كلمة وتعويضها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3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800"/>
                            </p:stCondLst>
                            <p:childTnLst>
                              <p:par>
                                <p:cTn id="7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1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600"/>
                            </p:stCondLst>
                            <p:childTnLst>
                              <p:par>
                                <p:cTn id="8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9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400"/>
                            </p:stCondLst>
                            <p:childTnLst>
                              <p:par>
                                <p:cTn id="9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7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200"/>
                            </p:stCondLst>
                            <p:childTnLst>
                              <p:par>
                                <p:cTn id="10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85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9000"/>
                            </p:stCondLst>
                            <p:childTnLst>
                              <p:par>
                                <p:cTn id="1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300"/>
                            </p:stCondLst>
                            <p:childTnLst>
                              <p:par>
                                <p:cTn id="1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9800"/>
                            </p:stCondLst>
                            <p:childTnLst>
                              <p:par>
                                <p:cTn id="1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100"/>
                            </p:stCondLst>
                            <p:childTnLst>
                              <p:par>
                                <p:cTn id="1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600"/>
                            </p:stCondLst>
                            <p:childTnLst>
                              <p:par>
                                <p:cTn id="1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900"/>
                            </p:stCondLst>
                            <p:childTnLst>
                              <p:par>
                                <p:cTn id="1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1400"/>
                            </p:stCondLst>
                            <p:childTnLst>
                              <p:par>
                                <p:cTn id="1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/>
      <p:bldP spid="57" grpId="0"/>
      <p:bldP spid="71" grpId="0" animBg="1"/>
      <p:bldP spid="72" grpId="0" animBg="1"/>
      <p:bldP spid="73" grpId="0"/>
      <p:bldP spid="74" grpId="0"/>
      <p:bldP spid="90" grpId="0" animBg="1"/>
      <p:bldP spid="91" grpId="0" animBg="1"/>
      <p:bldP spid="92" grpId="0"/>
      <p:bldP spid="93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  <p:bldP spid="47" grpId="0"/>
      <p:bldP spid="56" grpId="0" animBg="1"/>
      <p:bldP spid="58" grpId="0" animBg="1"/>
      <p:bldP spid="63" grpId="0"/>
      <p:bldP spid="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980728"/>
            <a:ext cx="511256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1113732" y="1496978"/>
            <a:ext cx="4682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accent6">
                    <a:lumMod val="75000"/>
                  </a:schemeClr>
                </a:solidFill>
              </a:rPr>
              <a:t>ماهي الخطوات المتبعة لإنشاء وثيقة جديدة؟</a:t>
            </a:r>
            <a:endParaRPr lang="fr-FR" sz="28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5004048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9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22" name="Groupe 21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4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5" name="Rectangle 24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23" name="Rectangle 22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4" name="Image 13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5" name="Image 14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ZoneTexte 17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" name="Image 9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16016" y="6237312"/>
                  <a:ext cx="1440160" cy="620688"/>
                </a:xfrm>
                <a:prstGeom prst="rect">
                  <a:avLst/>
                </a:prstGeom>
              </p:spPr>
            </p:pic>
            <p:pic>
              <p:nvPicPr>
                <p:cNvPr id="11" name="Image 10" descr="Microsoft_Word_2013_logo.svg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827584" y="33236"/>
                  <a:ext cx="792087" cy="587452"/>
                </a:xfrm>
                <a:prstGeom prst="rect">
                  <a:avLst/>
                </a:prstGeom>
              </p:spPr>
            </p:pic>
          </p:grpSp>
          <p:sp>
            <p:nvSpPr>
              <p:cNvPr id="31" name="ZoneTexte 30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" name="ZoneTexte 32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الوثيقة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70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56" name="Shape 856"/>
          <p:cNvSpPr/>
          <p:nvPr/>
        </p:nvSpPr>
        <p:spPr>
          <a:xfrm>
            <a:off x="8316416" y="938891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4211960" y="966523"/>
            <a:ext cx="405301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ZoneTexte 58"/>
          <p:cNvSpPr txBox="1"/>
          <p:nvPr/>
        </p:nvSpPr>
        <p:spPr>
          <a:xfrm>
            <a:off x="8316416" y="938891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4716016" y="977801"/>
            <a:ext cx="3312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إنشاء وثيقة جديدة: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grpSp>
        <p:nvGrpSpPr>
          <p:cNvPr id="14" name="Groupe 1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2" name="Groupe 1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6" name="Groupe 195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32" name="Image 31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" name="Image 32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" name="ZoneTexte 33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5" name="ZoneTexte 34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6" name="ZoneTexte 35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52" name="Image 51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4" name="ZoneTexte 5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57" name="Image 56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7" name="ZoneTexte 36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الوثيقة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104"/>
          <p:cNvGrpSpPr/>
          <p:nvPr/>
        </p:nvGrpSpPr>
        <p:grpSpPr>
          <a:xfrm>
            <a:off x="4372740" y="2996952"/>
            <a:ext cx="4123667" cy="725194"/>
            <a:chOff x="402960" y="1173645"/>
            <a:chExt cx="3956870" cy="1114425"/>
          </a:xfrm>
        </p:grpSpPr>
        <p:sp>
          <p:nvSpPr>
            <p:cNvPr id="41" name="Rectangle 4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/>
            <p:cNvSpPr/>
            <p:nvPr/>
          </p:nvSpPr>
          <p:spPr>
            <a:xfrm flipH="1">
              <a:off x="402960" y="1373670"/>
              <a:ext cx="3182169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46" name="Group 118"/>
          <p:cNvGrpSpPr/>
          <p:nvPr/>
        </p:nvGrpSpPr>
        <p:grpSpPr>
          <a:xfrm>
            <a:off x="4372740" y="3927942"/>
            <a:ext cx="4123668" cy="725194"/>
            <a:chOff x="402960" y="2392845"/>
            <a:chExt cx="3956870" cy="1114425"/>
          </a:xfrm>
        </p:grpSpPr>
        <p:sp>
          <p:nvSpPr>
            <p:cNvPr id="47" name="Rectangle 46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 flipH="1">
              <a:off x="402960" y="2592870"/>
              <a:ext cx="318217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53" name="Group 132"/>
          <p:cNvGrpSpPr/>
          <p:nvPr/>
        </p:nvGrpSpPr>
        <p:grpSpPr>
          <a:xfrm>
            <a:off x="1375535" y="4864046"/>
            <a:ext cx="7134817" cy="725194"/>
            <a:chOff x="-2486955" y="3612045"/>
            <a:chExt cx="6846785" cy="1114425"/>
          </a:xfrm>
        </p:grpSpPr>
        <p:sp>
          <p:nvSpPr>
            <p:cNvPr id="55" name="Rectangle 54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/>
            <p:cNvSpPr/>
            <p:nvPr/>
          </p:nvSpPr>
          <p:spPr>
            <a:xfrm flipH="1">
              <a:off x="-2486955" y="3812070"/>
              <a:ext cx="6072086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5220071" y="3239964"/>
            <a:ext cx="22041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التبويب </a:t>
            </a:r>
            <a:r>
              <a:rPr lang="en-US" sz="2000" b="1" dirty="0" err="1" smtClean="0">
                <a:solidFill>
                  <a:schemeClr val="bg1"/>
                </a:solidFill>
              </a:rPr>
              <a:t>Fichier</a:t>
            </a:r>
            <a:r>
              <a:rPr lang="ar-SA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769496" y="3109801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7783441" y="3999949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7783144" y="4936053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6156176" y="4155565"/>
            <a:ext cx="11424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N</a:t>
            </a:r>
            <a:r>
              <a:rPr lang="fr-FR" sz="2000" b="1" dirty="0" err="1" smtClean="0">
                <a:solidFill>
                  <a:schemeClr val="bg1"/>
                </a:solidFill>
              </a:rPr>
              <a:t>ouveau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375535" y="5082257"/>
            <a:ext cx="59944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2000" b="1" dirty="0" smtClean="0">
                <a:solidFill>
                  <a:schemeClr val="bg1"/>
                </a:solidFill>
              </a:rPr>
              <a:t>نختار</a:t>
            </a:r>
            <a:r>
              <a:rPr lang="ar-DZ" sz="2000" b="1" dirty="0" smtClean="0">
                <a:solidFill>
                  <a:schemeClr val="bg1"/>
                </a:solidFill>
              </a:rPr>
              <a:t> من بين النماذج </a:t>
            </a: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</a:rPr>
              <a:t>Document vierge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375459" y="2386245"/>
            <a:ext cx="3297698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3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في حالة لم يكن مفتوح ننقر على:</a:t>
            </a:r>
            <a:endParaRPr lang="fr-FR" sz="2300" dirty="0">
              <a:solidFill>
                <a:schemeClr val="bg1"/>
              </a:solidFill>
            </a:endParaRPr>
          </a:p>
        </p:txBody>
      </p:sp>
      <p:grpSp>
        <p:nvGrpSpPr>
          <p:cNvPr id="73" name="Groupe 72"/>
          <p:cNvGrpSpPr/>
          <p:nvPr/>
        </p:nvGrpSpPr>
        <p:grpSpPr>
          <a:xfrm>
            <a:off x="6804248" y="1441263"/>
            <a:ext cx="1915058" cy="576064"/>
            <a:chOff x="6061658" y="2348880"/>
            <a:chExt cx="1915058" cy="576064"/>
          </a:xfrm>
        </p:grpSpPr>
        <p:grpSp>
          <p:nvGrpSpPr>
            <p:cNvPr id="74" name="Groupe 58"/>
            <p:cNvGrpSpPr/>
            <p:nvPr/>
          </p:nvGrpSpPr>
          <p:grpSpPr>
            <a:xfrm>
              <a:off x="6061658" y="2348880"/>
              <a:ext cx="1915058" cy="504056"/>
              <a:chOff x="6061658" y="2852936"/>
              <a:chExt cx="1915058" cy="576064"/>
            </a:xfrm>
          </p:grpSpPr>
          <p:sp>
            <p:nvSpPr>
              <p:cNvPr id="76" name="Notched Right Arrow 54"/>
              <p:cNvSpPr/>
              <p:nvPr/>
            </p:nvSpPr>
            <p:spPr>
              <a:xfrm flipH="1">
                <a:off x="6061658" y="3008511"/>
                <a:ext cx="191505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7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78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75" name="ZoneTexte 74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طريقة</a:t>
              </a:r>
              <a:r>
                <a:rPr lang="ar-DZ" b="1" dirty="0" smtClean="0">
                  <a:solidFill>
                    <a:srgbClr val="FFFF00"/>
                  </a:solidFill>
                </a:rPr>
                <a:t>1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80" name="Groupe 79"/>
          <p:cNvGrpSpPr/>
          <p:nvPr/>
        </p:nvGrpSpPr>
        <p:grpSpPr>
          <a:xfrm>
            <a:off x="6804248" y="2276872"/>
            <a:ext cx="1915058" cy="576064"/>
            <a:chOff x="6061658" y="2348880"/>
            <a:chExt cx="1915058" cy="576064"/>
          </a:xfrm>
        </p:grpSpPr>
        <p:grpSp>
          <p:nvGrpSpPr>
            <p:cNvPr id="81" name="Groupe 58"/>
            <p:cNvGrpSpPr/>
            <p:nvPr/>
          </p:nvGrpSpPr>
          <p:grpSpPr>
            <a:xfrm>
              <a:off x="6061658" y="2348880"/>
              <a:ext cx="1915058" cy="504056"/>
              <a:chOff x="6061658" y="2852936"/>
              <a:chExt cx="1915058" cy="576064"/>
            </a:xfrm>
          </p:grpSpPr>
          <p:sp>
            <p:nvSpPr>
              <p:cNvPr id="83" name="Notched Right Arrow 54"/>
              <p:cNvSpPr/>
              <p:nvPr/>
            </p:nvSpPr>
            <p:spPr>
              <a:xfrm flipH="1">
                <a:off x="6061658" y="3008511"/>
                <a:ext cx="191505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4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85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82" name="ZoneTexte 81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طريقة</a:t>
              </a:r>
              <a:r>
                <a:rPr lang="ar-DZ" b="1" dirty="0" smtClean="0">
                  <a:solidFill>
                    <a:srgbClr val="FFFF00"/>
                  </a:solidFill>
                </a:rPr>
                <a:t>2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87" name="Rectangle 86"/>
          <p:cNvSpPr/>
          <p:nvPr/>
        </p:nvSpPr>
        <p:spPr>
          <a:xfrm>
            <a:off x="3365550" y="1557953"/>
            <a:ext cx="343869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نفتح</a:t>
            </a:r>
            <a:r>
              <a:rPr lang="fr-FR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Word </a:t>
            </a: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في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حالة لم يكن مفتوح.</a:t>
            </a:r>
            <a:endParaRPr lang="fr-FR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6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6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1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6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1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6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6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600"/>
                            </p:stCondLst>
                            <p:childTnLst>
                              <p:par>
                                <p:cTn id="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  <p:bldP spid="60" grpId="0"/>
      <p:bldP spid="65" grpId="0"/>
      <p:bldP spid="66" grpId="0"/>
      <p:bldP spid="67" grpId="0"/>
      <p:bldP spid="68" grpId="0"/>
      <p:bldP spid="69" grpId="0"/>
      <p:bldP spid="70" grpId="0"/>
      <p:bldP spid="72" grpId="0"/>
      <p:bldP spid="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4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8541" y="2276872"/>
            <a:ext cx="1407586" cy="3997796"/>
          </a:xfrm>
          <a:prstGeom prst="rect">
            <a:avLst/>
          </a:prstGeom>
          <a:noFill/>
        </p:spPr>
      </p:pic>
      <p:sp>
        <p:nvSpPr>
          <p:cNvPr id="42" name="Pensées 41"/>
          <p:cNvSpPr/>
          <p:nvPr/>
        </p:nvSpPr>
        <p:spPr>
          <a:xfrm>
            <a:off x="1835696" y="695984"/>
            <a:ext cx="6174432" cy="1724904"/>
          </a:xfrm>
          <a:prstGeom prst="cloudCallout">
            <a:avLst>
              <a:gd name="adj1" fmla="val -4439"/>
              <a:gd name="adj2" fmla="val 106233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2339751" y="980728"/>
            <a:ext cx="55446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بعد إتمام العمل على الوثيقة ماذا يجب عليك القيام به حتى يمكنك العمل عليها مجدادا؟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4" name="Groupe 3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22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4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5" name="Rectangle 24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23" name="Rectangle 22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27" name="Image 2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28" name="Image 2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29" name="ZoneTexte 28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0" name="ZoneTexte 2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1" name="ZoneTexte 30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33" name="Image 32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4" name="ZoneTexte 3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6" name="Image 35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7" name="ZoneTexte 36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>
                  <a:solidFill>
                    <a:schemeClr val="bg1"/>
                  </a:solidFill>
                </a:rPr>
                <a:t>عمليات على الوثيقة</a:t>
              </a:r>
            </a:p>
          </p:txBody>
        </p:sp>
      </p:grpSp>
      <p:sp>
        <p:nvSpPr>
          <p:cNvPr id="6" name="Rectangle 5"/>
          <p:cNvSpPr/>
          <p:nvPr/>
        </p:nvSpPr>
        <p:spPr>
          <a:xfrm>
            <a:off x="3037429" y="1743199"/>
            <a:ext cx="3813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ar-DZ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ماهي الخطوات المتبعة لحفظ وثيقة؟</a:t>
            </a:r>
            <a:endParaRPr lang="fr-FR" sz="2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5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69" name="Group 104"/>
          <p:cNvGrpSpPr/>
          <p:nvPr/>
        </p:nvGrpSpPr>
        <p:grpSpPr>
          <a:xfrm>
            <a:off x="1735042" y="1637963"/>
            <a:ext cx="6716613" cy="754416"/>
            <a:chOff x="-2085104" y="1173645"/>
            <a:chExt cx="6444934" cy="1114425"/>
          </a:xfrm>
        </p:grpSpPr>
        <p:sp>
          <p:nvSpPr>
            <p:cNvPr id="76" name="Rectangle 75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/>
            <p:cNvSpPr/>
            <p:nvPr/>
          </p:nvSpPr>
          <p:spPr>
            <a:xfrm flipH="1">
              <a:off x="-2085104" y="1373669"/>
              <a:ext cx="5670227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81" name="Group 118"/>
          <p:cNvGrpSpPr/>
          <p:nvPr/>
        </p:nvGrpSpPr>
        <p:grpSpPr>
          <a:xfrm>
            <a:off x="1735043" y="2844696"/>
            <a:ext cx="6725389" cy="584304"/>
            <a:chOff x="-1959453" y="2392845"/>
            <a:chExt cx="6319283" cy="1114425"/>
          </a:xfrm>
        </p:grpSpPr>
        <p:sp>
          <p:nvSpPr>
            <p:cNvPr id="83" name="Rectangle 82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flipH="1">
              <a:off x="-1959453" y="2592870"/>
              <a:ext cx="5544577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96" name="Group 132"/>
          <p:cNvGrpSpPr/>
          <p:nvPr/>
        </p:nvGrpSpPr>
        <p:grpSpPr>
          <a:xfrm>
            <a:off x="1735042" y="3983260"/>
            <a:ext cx="6730557" cy="597868"/>
            <a:chOff x="-1987725" y="3612045"/>
            <a:chExt cx="6347555" cy="1114425"/>
          </a:xfrm>
        </p:grpSpPr>
        <p:sp>
          <p:nvSpPr>
            <p:cNvPr id="97" name="Rectangle 96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 flipH="1">
              <a:off x="-1987725" y="3812071"/>
              <a:ext cx="5572856" cy="9143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7675049" y="1702247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b="1" dirty="0" smtClean="0">
                <a:solidFill>
                  <a:schemeClr val="bg1"/>
                </a:solidFill>
              </a:rPr>
              <a:t>أ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7719478" y="2907412"/>
            <a:ext cx="412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>
                <a:solidFill>
                  <a:schemeClr val="bg1"/>
                </a:solidFill>
              </a:rPr>
              <a:t>ب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5" name="Rectangle 104"/>
          <p:cNvSpPr/>
          <p:nvPr/>
        </p:nvSpPr>
        <p:spPr>
          <a:xfrm>
            <a:off x="7713916" y="4043873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>
                <a:solidFill>
                  <a:schemeClr val="bg1"/>
                </a:solidFill>
              </a:rPr>
              <a:t>ج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2134966" y="3013502"/>
            <a:ext cx="524534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100" b="1" dirty="0">
                <a:solidFill>
                  <a:schemeClr val="bg1"/>
                </a:solidFill>
              </a:rPr>
              <a:t>نحدد مكان الحفظ  في النافذة التي تظهر ونكتب اسم الملف.</a:t>
            </a:r>
            <a:endParaRPr lang="fr-FR" sz="2100" dirty="0">
              <a:solidFill>
                <a:schemeClr val="bg1"/>
              </a:solidFill>
            </a:endParaRPr>
          </a:p>
        </p:txBody>
      </p:sp>
      <p:sp>
        <p:nvSpPr>
          <p:cNvPr id="89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Shape 859"/>
          <p:cNvSpPr/>
          <p:nvPr/>
        </p:nvSpPr>
        <p:spPr>
          <a:xfrm>
            <a:off x="4283965" y="720328"/>
            <a:ext cx="3938781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ZoneTexte 90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4716016" y="692696"/>
            <a:ext cx="32403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600" b="1" dirty="0" smtClean="0">
                <a:solidFill>
                  <a:srgbClr val="FFFF00"/>
                </a:solidFill>
              </a:rPr>
              <a:t>حفظ الوثيقة</a:t>
            </a:r>
            <a:endParaRPr lang="fr-FR" sz="2600" b="1" dirty="0">
              <a:solidFill>
                <a:srgbClr val="FFFF00"/>
              </a:solidFill>
            </a:endParaRPr>
          </a:p>
        </p:txBody>
      </p:sp>
      <p:sp>
        <p:nvSpPr>
          <p:cNvPr id="112" name="TextBox 68"/>
          <p:cNvSpPr txBox="1"/>
          <p:nvPr/>
        </p:nvSpPr>
        <p:spPr>
          <a:xfrm>
            <a:off x="1835695" y="1754039"/>
            <a:ext cx="5538935" cy="6668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640"/>
              </a:lnSpc>
              <a:defRPr/>
            </a:pPr>
            <a:r>
              <a:rPr lang="fr-FR" sz="2100" b="1" dirty="0">
                <a:solidFill>
                  <a:schemeClr val="bg1"/>
                </a:solidFill>
              </a:rPr>
              <a:t> </a:t>
            </a:r>
            <a:r>
              <a:rPr lang="ar-DZ" sz="2100" b="1" dirty="0" smtClean="0">
                <a:solidFill>
                  <a:schemeClr val="bg1"/>
                </a:solidFill>
              </a:rPr>
              <a:t> </a:t>
            </a:r>
            <a:r>
              <a:rPr lang="fr-FR" sz="2100" b="1" dirty="0" smtClean="0">
                <a:solidFill>
                  <a:schemeClr val="bg1"/>
                </a:solidFill>
              </a:rPr>
              <a:t>-</a:t>
            </a:r>
            <a:r>
              <a:rPr lang="ar-DZ" sz="2100" b="1" dirty="0">
                <a:solidFill>
                  <a:schemeClr val="bg1"/>
                </a:solidFill>
              </a:rPr>
              <a:t> </a:t>
            </a:r>
            <a:r>
              <a:rPr lang="ar-DZ" sz="2100" b="1" dirty="0" smtClean="0">
                <a:solidFill>
                  <a:schemeClr val="bg1"/>
                </a:solidFill>
              </a:rPr>
              <a:t>نستعمل </a:t>
            </a:r>
            <a:r>
              <a:rPr lang="ar-DZ" sz="2100" b="1" dirty="0">
                <a:solidFill>
                  <a:schemeClr val="bg1"/>
                </a:solidFill>
              </a:rPr>
              <a:t>أداة الحفظ        من شريط أدوات الوصول السريع.</a:t>
            </a:r>
          </a:p>
          <a:p>
            <a:pPr lvl="0" algn="r" rtl="1">
              <a:lnSpc>
                <a:spcPts val="2640"/>
              </a:lnSpc>
              <a:defRPr/>
            </a:pPr>
            <a:r>
              <a:rPr lang="ar-DZ" sz="2100" b="1" dirty="0" smtClean="0">
                <a:solidFill>
                  <a:schemeClr val="bg1"/>
                </a:solidFill>
              </a:rPr>
              <a:t> </a:t>
            </a:r>
            <a:r>
              <a:rPr lang="fr-FR" sz="2100" b="1" dirty="0">
                <a:solidFill>
                  <a:schemeClr val="bg1"/>
                </a:solidFill>
              </a:rPr>
              <a:t>- </a:t>
            </a:r>
            <a:r>
              <a:rPr lang="ar-DZ" sz="2100" b="1" dirty="0" smtClean="0">
                <a:solidFill>
                  <a:schemeClr val="bg1"/>
                </a:solidFill>
              </a:rPr>
              <a:t> أو ننقر على  التبويب </a:t>
            </a:r>
            <a:r>
              <a:rPr lang="en-US" sz="2100" b="1" dirty="0" smtClean="0">
                <a:solidFill>
                  <a:schemeClr val="bg1"/>
                </a:solidFill>
              </a:rPr>
              <a:t> </a:t>
            </a:r>
            <a:r>
              <a:rPr lang="fr-FR" sz="2100" b="1" dirty="0" smtClean="0">
                <a:solidFill>
                  <a:schemeClr val="bg1"/>
                </a:solidFill>
              </a:rPr>
              <a:t>Fichier  </a:t>
            </a:r>
            <a:r>
              <a:rPr lang="ar-DZ" sz="2100" b="1" dirty="0" smtClean="0">
                <a:solidFill>
                  <a:schemeClr val="bg1"/>
                </a:solidFill>
              </a:rPr>
              <a:t>ثم</a:t>
            </a:r>
            <a:r>
              <a:rPr lang="fr-FR" sz="2100" b="1" dirty="0" smtClean="0">
                <a:solidFill>
                  <a:schemeClr val="bg1"/>
                </a:solidFill>
              </a:rPr>
              <a:t>Enregistre  </a:t>
            </a:r>
            <a:r>
              <a:rPr lang="ar-DZ" sz="2100" b="1" dirty="0">
                <a:solidFill>
                  <a:schemeClr val="bg1"/>
                </a:solidFill>
              </a:rPr>
              <a:t>.</a:t>
            </a:r>
            <a:endParaRPr lang="fr-FR" sz="2100" b="1" dirty="0" smtClean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5776" y="4117577"/>
            <a:ext cx="47381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</a:rPr>
              <a:t>ننقر </a:t>
            </a:r>
            <a:r>
              <a:rPr lang="ar-DZ" sz="2000" b="1" dirty="0">
                <a:solidFill>
                  <a:schemeClr val="bg1"/>
                </a:solidFill>
              </a:rPr>
              <a:t>على الزر </a:t>
            </a:r>
            <a:r>
              <a:rPr lang="fr-FR" sz="2000" b="1" dirty="0" smtClean="0">
                <a:solidFill>
                  <a:schemeClr val="bg1"/>
                </a:solidFill>
              </a:rPr>
              <a:t>.Enregistrer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5" name="Groupe 2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4" name="Groupe 23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49" name="Image 48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0" name="ZoneTexte 49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53" name="Image 52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52" name="ZoneTexte 51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عمليات على الوثيقة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1" name="Rectangle 70"/>
          <p:cNvSpPr/>
          <p:nvPr/>
        </p:nvSpPr>
        <p:spPr>
          <a:xfrm>
            <a:off x="1735044" y="740155"/>
            <a:ext cx="2361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4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نتبع الخطوات التالية: </a:t>
            </a:r>
            <a:endParaRPr lang="fr-FR" sz="2400" dirty="0">
              <a:solidFill>
                <a:schemeClr val="bg1"/>
              </a:solidFill>
            </a:endParaRPr>
          </a:p>
        </p:txBody>
      </p:sp>
      <p:grpSp>
        <p:nvGrpSpPr>
          <p:cNvPr id="95" name="Groupe 94"/>
          <p:cNvGrpSpPr/>
          <p:nvPr/>
        </p:nvGrpSpPr>
        <p:grpSpPr>
          <a:xfrm>
            <a:off x="6461836" y="5145854"/>
            <a:ext cx="1915058" cy="439935"/>
            <a:chOff x="6061658" y="2485009"/>
            <a:chExt cx="1915058" cy="439935"/>
          </a:xfrm>
        </p:grpSpPr>
        <p:sp>
          <p:nvSpPr>
            <p:cNvPr id="108" name="Notched Right Arrow 54"/>
            <p:cNvSpPr/>
            <p:nvPr/>
          </p:nvSpPr>
          <p:spPr>
            <a:xfrm flipH="1">
              <a:off x="6061658" y="2485009"/>
              <a:ext cx="1915058" cy="367928"/>
            </a:xfrm>
            <a:prstGeom prst="notchedRightArrow">
              <a:avLst>
                <a:gd name="adj1" fmla="val 100000"/>
                <a:gd name="adj2" fmla="val 28125"/>
              </a:avLst>
            </a:prstGeom>
            <a:ln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ZoneTexte 106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ملاحظة: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13" name="Pentagone 112"/>
          <p:cNvSpPr/>
          <p:nvPr/>
        </p:nvSpPr>
        <p:spPr>
          <a:xfrm>
            <a:off x="3275856" y="5053246"/>
            <a:ext cx="3113971" cy="610164"/>
          </a:xfrm>
          <a:prstGeom prst="homePlat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Rectangle 113"/>
          <p:cNvSpPr/>
          <p:nvPr/>
        </p:nvSpPr>
        <p:spPr>
          <a:xfrm>
            <a:off x="3468157" y="5157192"/>
            <a:ext cx="27517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ysClr val="windowText" lastClr="000000"/>
                </a:solidFill>
                <a:ea typeface="Times New Roman"/>
                <a:cs typeface="Times New Roman"/>
              </a:rPr>
              <a:t>الوثيقة بعد حفظها تسمى ملف.</a:t>
            </a:r>
            <a:endParaRPr lang="fr-FR" sz="2000" dirty="0">
              <a:solidFill>
                <a:sysClr val="windowText" lastClr="000000"/>
              </a:solidFill>
            </a:endParaRPr>
          </a:p>
        </p:txBody>
      </p:sp>
      <p:pic>
        <p:nvPicPr>
          <p:cNvPr id="57" name="Image 56" descr="C:\Users\HAC\Desktop\Capture1.PN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04048" y="1805950"/>
            <a:ext cx="360040" cy="265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6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6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1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6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1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6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6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  <p:bldP spid="105" grpId="0"/>
      <p:bldP spid="106" grpId="0"/>
      <p:bldP spid="89" grpId="0" animBg="1"/>
      <p:bldP spid="90" grpId="0" animBg="1"/>
      <p:bldP spid="91" grpId="0"/>
      <p:bldP spid="92" grpId="0"/>
      <p:bldP spid="112" grpId="0"/>
      <p:bldP spid="4" grpId="0"/>
      <p:bldP spid="71" grpId="0"/>
      <p:bldP spid="1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9512" y="692696"/>
            <a:ext cx="7722604" cy="2304256"/>
          </a:xfrm>
          <a:prstGeom prst="cloudCallout">
            <a:avLst>
              <a:gd name="adj1" fmla="val -38920"/>
              <a:gd name="adj2" fmla="val 7874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635825" y="1306215"/>
            <a:ext cx="6809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لغلق وثيقة؟ 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32" name="Image 31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ZoneTexte 3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7" name="Image 3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41" name="ZoneTexte 40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>
                  <a:solidFill>
                    <a:schemeClr val="bg1"/>
                  </a:solidFill>
                </a:rPr>
                <a:t>عمليات على الوثيقة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6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 102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73" name="Image 72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ZoneTexte 7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76" name="Image 75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8" name="ZoneTexte 37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>
                  <a:solidFill>
                    <a:schemeClr val="bg1"/>
                  </a:solidFill>
                </a:rPr>
                <a:t>عمليات على الوثيقة</a:t>
              </a:r>
            </a:p>
          </p:txBody>
        </p:sp>
      </p:grpSp>
      <p:sp>
        <p:nvSpPr>
          <p:cNvPr id="40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1" name="Shape 859"/>
          <p:cNvSpPr/>
          <p:nvPr/>
        </p:nvSpPr>
        <p:spPr>
          <a:xfrm>
            <a:off x="4932040" y="720328"/>
            <a:ext cx="3332938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2" name="ZoneTexte 41"/>
          <p:cNvSpPr txBox="1"/>
          <p:nvPr/>
        </p:nvSpPr>
        <p:spPr>
          <a:xfrm>
            <a:off x="8316416" y="692696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r-FR" sz="2800" b="1" dirty="0" smtClean="0">
                <a:solidFill>
                  <a:srgbClr val="FFFF00"/>
                </a:solidFill>
              </a:rPr>
              <a:t>3</a:t>
            </a:r>
            <a:r>
              <a:rPr lang="ar-DZ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788024" y="735087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غلق وثيقة: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47" name="Group 118"/>
          <p:cNvGrpSpPr/>
          <p:nvPr/>
        </p:nvGrpSpPr>
        <p:grpSpPr>
          <a:xfrm>
            <a:off x="3728173" y="3136848"/>
            <a:ext cx="4885307" cy="584304"/>
            <a:chOff x="-230483" y="2392845"/>
            <a:chExt cx="4590313" cy="1114425"/>
          </a:xfrm>
        </p:grpSpPr>
        <p:sp>
          <p:nvSpPr>
            <p:cNvPr id="48" name="Rectangle 47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/>
            <p:cNvSpPr/>
            <p:nvPr/>
          </p:nvSpPr>
          <p:spPr>
            <a:xfrm flipH="1">
              <a:off x="-230483" y="2592870"/>
              <a:ext cx="3815606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71" name="Group 132"/>
          <p:cNvGrpSpPr/>
          <p:nvPr/>
        </p:nvGrpSpPr>
        <p:grpSpPr>
          <a:xfrm>
            <a:off x="3728174" y="4275412"/>
            <a:ext cx="4890473" cy="597868"/>
            <a:chOff x="-252351" y="3612045"/>
            <a:chExt cx="4612181" cy="1114425"/>
          </a:xfrm>
        </p:grpSpPr>
        <p:sp>
          <p:nvSpPr>
            <p:cNvPr id="72" name="Rectangle 71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/>
            <p:cNvSpPr/>
            <p:nvPr/>
          </p:nvSpPr>
          <p:spPr>
            <a:xfrm flipH="1">
              <a:off x="-252351" y="3812071"/>
              <a:ext cx="3837482" cy="9143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2" name="Rectangle 81"/>
          <p:cNvSpPr/>
          <p:nvPr/>
        </p:nvSpPr>
        <p:spPr>
          <a:xfrm>
            <a:off x="7872526" y="319956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7866964" y="433602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4" name="Rectangle 83"/>
          <p:cNvSpPr/>
          <p:nvPr/>
        </p:nvSpPr>
        <p:spPr>
          <a:xfrm>
            <a:off x="5528375" y="3305654"/>
            <a:ext cx="200498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100" b="1" dirty="0" smtClean="0">
                <a:solidFill>
                  <a:schemeClr val="bg1"/>
                </a:solidFill>
              </a:rPr>
              <a:t>التبويب </a:t>
            </a:r>
            <a:r>
              <a:rPr lang="fr-FR" sz="2100" b="1" dirty="0" smtClean="0">
                <a:solidFill>
                  <a:schemeClr val="bg1"/>
                </a:solidFill>
              </a:rPr>
              <a:t>Fichier</a:t>
            </a:r>
            <a:r>
              <a:rPr lang="ar-DZ" sz="2100" b="1" dirty="0" smtClean="0">
                <a:solidFill>
                  <a:schemeClr val="bg1"/>
                </a:solidFill>
              </a:rPr>
              <a:t> .</a:t>
            </a:r>
            <a:endParaRPr lang="fr-FR" sz="2100" dirty="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024318" y="4409729"/>
            <a:ext cx="24226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r-FR" sz="2000" b="1" dirty="0">
                <a:solidFill>
                  <a:schemeClr val="bg1"/>
                </a:solidFill>
              </a:rPr>
              <a:t>.</a:t>
            </a:r>
            <a:r>
              <a:rPr lang="en-US" sz="2000" b="1" dirty="0" smtClean="0">
                <a:solidFill>
                  <a:schemeClr val="bg1"/>
                </a:solidFill>
              </a:rPr>
              <a:t>Fer</a:t>
            </a:r>
            <a:r>
              <a:rPr lang="fr-FR" sz="2000" b="1" dirty="0" smtClean="0">
                <a:solidFill>
                  <a:schemeClr val="bg1"/>
                </a:solidFill>
              </a:rPr>
              <a:t>mer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401655" y="2386245"/>
            <a:ext cx="1271502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3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بالنقر على:</a:t>
            </a:r>
            <a:endParaRPr lang="fr-FR" sz="2300" dirty="0">
              <a:solidFill>
                <a:schemeClr val="bg1"/>
              </a:solidFill>
            </a:endParaRPr>
          </a:p>
        </p:txBody>
      </p:sp>
      <p:grpSp>
        <p:nvGrpSpPr>
          <p:cNvPr id="87" name="Groupe 86"/>
          <p:cNvGrpSpPr/>
          <p:nvPr/>
        </p:nvGrpSpPr>
        <p:grpSpPr>
          <a:xfrm>
            <a:off x="6804248" y="1441263"/>
            <a:ext cx="1915058" cy="576064"/>
            <a:chOff x="6061658" y="2348880"/>
            <a:chExt cx="1915058" cy="576064"/>
          </a:xfrm>
        </p:grpSpPr>
        <p:grpSp>
          <p:nvGrpSpPr>
            <p:cNvPr id="88" name="Groupe 58"/>
            <p:cNvGrpSpPr/>
            <p:nvPr/>
          </p:nvGrpSpPr>
          <p:grpSpPr>
            <a:xfrm>
              <a:off x="6061658" y="2348880"/>
              <a:ext cx="1915058" cy="504056"/>
              <a:chOff x="6061658" y="2852936"/>
              <a:chExt cx="1915058" cy="576064"/>
            </a:xfrm>
          </p:grpSpPr>
          <p:sp>
            <p:nvSpPr>
              <p:cNvPr id="90" name="Notched Right Arrow 54"/>
              <p:cNvSpPr/>
              <p:nvPr/>
            </p:nvSpPr>
            <p:spPr>
              <a:xfrm flipH="1">
                <a:off x="6061658" y="3008511"/>
                <a:ext cx="191505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9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89" name="ZoneTexte 88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طريقة</a:t>
              </a:r>
              <a:r>
                <a:rPr lang="ar-DZ" b="1" dirty="0" smtClean="0">
                  <a:solidFill>
                    <a:srgbClr val="FFFF00"/>
                  </a:solidFill>
                </a:rPr>
                <a:t>1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94" name="Groupe 93"/>
          <p:cNvGrpSpPr/>
          <p:nvPr/>
        </p:nvGrpSpPr>
        <p:grpSpPr>
          <a:xfrm>
            <a:off x="6804248" y="2276872"/>
            <a:ext cx="1915058" cy="576064"/>
            <a:chOff x="6061658" y="2348880"/>
            <a:chExt cx="1915058" cy="576064"/>
          </a:xfrm>
        </p:grpSpPr>
        <p:grpSp>
          <p:nvGrpSpPr>
            <p:cNvPr id="95" name="Groupe 58"/>
            <p:cNvGrpSpPr/>
            <p:nvPr/>
          </p:nvGrpSpPr>
          <p:grpSpPr>
            <a:xfrm>
              <a:off x="6061658" y="2348880"/>
              <a:ext cx="1915058" cy="504056"/>
              <a:chOff x="6061658" y="2852936"/>
              <a:chExt cx="1915058" cy="576064"/>
            </a:xfrm>
          </p:grpSpPr>
          <p:sp>
            <p:nvSpPr>
              <p:cNvPr id="97" name="Notched Right Arrow 54"/>
              <p:cNvSpPr/>
              <p:nvPr/>
            </p:nvSpPr>
            <p:spPr>
              <a:xfrm flipH="1">
                <a:off x="6061658" y="3008511"/>
                <a:ext cx="191505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8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99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 99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96" name="ZoneTexte 95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طريقة</a:t>
              </a:r>
              <a:r>
                <a:rPr lang="ar-DZ" b="1" dirty="0" smtClean="0">
                  <a:solidFill>
                    <a:srgbClr val="FFFF00"/>
                  </a:solidFill>
                </a:rPr>
                <a:t>2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01" name="Rectangle 100"/>
          <p:cNvSpPr/>
          <p:nvPr/>
        </p:nvSpPr>
        <p:spPr>
          <a:xfrm>
            <a:off x="2568793" y="1557953"/>
            <a:ext cx="423545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النقر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على الأداة      </a:t>
            </a: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 لغلق الوثيقة والبرنامج.</a:t>
            </a:r>
            <a:endParaRPr lang="fr-FR" sz="2200" dirty="0">
              <a:solidFill>
                <a:schemeClr val="bg1"/>
              </a:solidFill>
            </a:endParaRPr>
          </a:p>
        </p:txBody>
      </p:sp>
      <p:pic>
        <p:nvPicPr>
          <p:cNvPr id="102" name="Image 101" descr="اغلاق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 flipV="1">
            <a:off x="4932040" y="1586440"/>
            <a:ext cx="281112" cy="355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4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4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9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9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9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41" grpId="0" animBg="1" advAuto="0"/>
      <p:bldP spid="82" grpId="0"/>
      <p:bldP spid="83" grpId="0"/>
      <p:bldP spid="84" grpId="0"/>
      <p:bldP spid="85" grpId="0"/>
      <p:bldP spid="86" grpId="0"/>
      <p:bldP spid="10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2195736" y="692696"/>
            <a:ext cx="5706380" cy="2160240"/>
          </a:xfrm>
          <a:prstGeom prst="cloudCallout">
            <a:avLst>
              <a:gd name="adj1" fmla="val -44421"/>
              <a:gd name="adj2" fmla="val 8948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51" y="3289432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1650455" y="1511206"/>
            <a:ext cx="6809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لفتح وثيقة؟ 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32" name="Image 31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ZoneTexte 3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7" name="Image 3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41" name="ZoneTexte 40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>
                  <a:solidFill>
                    <a:schemeClr val="bg1"/>
                  </a:solidFill>
                </a:rPr>
                <a:t>عمليات على الوثيقة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042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 101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" name="Groupe 3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12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14" name="Rectangle 13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15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7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8" name="Rectangle 17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16" name="Rectangle 15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7" name="Image 6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" name="Image 7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ZoneTexte 8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" name="ZoneTexte 9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" name="ZoneTexte 10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25" name="Image 24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7" name="ZoneTexte 26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0" name="Image 29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44" name="ZoneTexte 43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>
                  <a:solidFill>
                    <a:schemeClr val="bg1"/>
                  </a:solidFill>
                </a:rPr>
                <a:t>عمليات على الوثيقة</a:t>
              </a:r>
            </a:p>
          </p:txBody>
        </p:sp>
      </p:grpSp>
      <p:grpSp>
        <p:nvGrpSpPr>
          <p:cNvPr id="63" name="Group 104"/>
          <p:cNvGrpSpPr/>
          <p:nvPr/>
        </p:nvGrpSpPr>
        <p:grpSpPr>
          <a:xfrm>
            <a:off x="5004048" y="1681839"/>
            <a:ext cx="3727793" cy="527690"/>
            <a:chOff x="782821" y="1173645"/>
            <a:chExt cx="3577009" cy="1114425"/>
          </a:xfrm>
        </p:grpSpPr>
        <p:sp>
          <p:nvSpPr>
            <p:cNvPr id="64" name="Rectangle 63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69" name="Rectangle 68"/>
          <p:cNvSpPr/>
          <p:nvPr/>
        </p:nvSpPr>
        <p:spPr>
          <a:xfrm>
            <a:off x="7956376" y="169151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70" name="TextBox 68"/>
          <p:cNvSpPr txBox="1"/>
          <p:nvPr/>
        </p:nvSpPr>
        <p:spPr>
          <a:xfrm>
            <a:off x="5109997" y="1825079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التبويب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Fichier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71" name="Group 104"/>
          <p:cNvGrpSpPr/>
          <p:nvPr/>
        </p:nvGrpSpPr>
        <p:grpSpPr>
          <a:xfrm>
            <a:off x="5004049" y="2325246"/>
            <a:ext cx="3727792" cy="527690"/>
            <a:chOff x="782822" y="1173645"/>
            <a:chExt cx="3577008" cy="1114425"/>
          </a:xfrm>
        </p:grpSpPr>
        <p:sp>
          <p:nvSpPr>
            <p:cNvPr id="72" name="Rectangle 71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782822" y="1373671"/>
              <a:ext cx="2802309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78" name="Group 118"/>
          <p:cNvGrpSpPr/>
          <p:nvPr/>
        </p:nvGrpSpPr>
        <p:grpSpPr>
          <a:xfrm>
            <a:off x="2771800" y="2924944"/>
            <a:ext cx="5960043" cy="523025"/>
            <a:chOff x="-1359136" y="2392845"/>
            <a:chExt cx="5718966" cy="1114425"/>
          </a:xfrm>
        </p:grpSpPr>
        <p:sp>
          <p:nvSpPr>
            <p:cNvPr id="79" name="Rectangle 78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/>
            <p:cNvSpPr/>
            <p:nvPr/>
          </p:nvSpPr>
          <p:spPr>
            <a:xfrm flipH="1">
              <a:off x="-1359136" y="2592869"/>
              <a:ext cx="4944264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4" name="Rectangle 83"/>
          <p:cNvSpPr/>
          <p:nvPr/>
        </p:nvSpPr>
        <p:spPr>
          <a:xfrm>
            <a:off x="5217394" y="2429192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fr-FR" sz="2000" b="1" dirty="0" smtClean="0">
                <a:solidFill>
                  <a:schemeClr val="bg1"/>
                </a:solidFill>
              </a:rPr>
              <a:t>Ouvrir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8004931" y="233193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6" name="Rectangle 85"/>
          <p:cNvSpPr/>
          <p:nvPr/>
        </p:nvSpPr>
        <p:spPr>
          <a:xfrm>
            <a:off x="8018876" y="292494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4611753" y="3028890"/>
            <a:ext cx="2981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نحدد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الملف في النافذة التي تظهر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88" name="Group 104"/>
          <p:cNvGrpSpPr/>
          <p:nvPr/>
        </p:nvGrpSpPr>
        <p:grpSpPr>
          <a:xfrm>
            <a:off x="5004049" y="3573016"/>
            <a:ext cx="3730469" cy="527690"/>
            <a:chOff x="780253" y="1173645"/>
            <a:chExt cx="3579577" cy="1114425"/>
          </a:xfrm>
        </p:grpSpPr>
        <p:sp>
          <p:nvSpPr>
            <p:cNvPr id="89" name="Rectangle 88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/>
            <p:cNvSpPr/>
            <p:nvPr/>
          </p:nvSpPr>
          <p:spPr>
            <a:xfrm flipH="1">
              <a:off x="780253" y="1373671"/>
              <a:ext cx="2804876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 92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5561153" y="3676962"/>
            <a:ext cx="21071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ننقر على  </a:t>
            </a:r>
            <a:r>
              <a:rPr lang="fr-FR" sz="2000" b="1" dirty="0">
                <a:solidFill>
                  <a:schemeClr val="bg1"/>
                </a:solidFill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</a:rPr>
              <a:t>Ouvrir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007608" y="357970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96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7" name="Shape 859"/>
          <p:cNvSpPr/>
          <p:nvPr/>
        </p:nvSpPr>
        <p:spPr>
          <a:xfrm>
            <a:off x="4932040" y="720328"/>
            <a:ext cx="3332938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8" name="ZoneTexte 97"/>
          <p:cNvSpPr txBox="1"/>
          <p:nvPr/>
        </p:nvSpPr>
        <p:spPr>
          <a:xfrm>
            <a:off x="8316416" y="692696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4-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9" name="ZoneTexte 98"/>
          <p:cNvSpPr txBox="1"/>
          <p:nvPr/>
        </p:nvSpPr>
        <p:spPr>
          <a:xfrm>
            <a:off x="4788024" y="735087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فتح وثيقة: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3491880" y="766208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ننقر على: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pic>
        <p:nvPicPr>
          <p:cNvPr id="101" name="Image 100" descr="فتح ملف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17162" y="2451899"/>
            <a:ext cx="415078" cy="329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9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84" grpId="0"/>
      <p:bldP spid="85" grpId="0"/>
      <p:bldP spid="86" grpId="0"/>
      <p:bldP spid="87" grpId="0"/>
      <p:bldP spid="94" grpId="0"/>
      <p:bldP spid="95" grpId="0"/>
      <p:bldP spid="97" grpId="0" animBg="1" advAuto="0"/>
      <p:bldP spid="10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61" name="Pensées 60"/>
          <p:cNvSpPr/>
          <p:nvPr/>
        </p:nvSpPr>
        <p:spPr>
          <a:xfrm>
            <a:off x="179512" y="1196752"/>
            <a:ext cx="7056784" cy="1944216"/>
          </a:xfrm>
          <a:prstGeom prst="cloudCallout">
            <a:avLst>
              <a:gd name="adj1" fmla="val -32387"/>
              <a:gd name="adj2" fmla="val 78267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4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65" name="ZoneTexte 64"/>
          <p:cNvSpPr txBox="1"/>
          <p:nvPr/>
        </p:nvSpPr>
        <p:spPr>
          <a:xfrm>
            <a:off x="255623" y="1484784"/>
            <a:ext cx="6472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للكتابة في معالج النصوص بمختلف اللغات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؟</a:t>
            </a:r>
          </a:p>
        </p:txBody>
      </p:sp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3" name="Groupe 42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1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53" name="Rectangle 52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54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56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57" name="Rectangle 56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55" name="Rectangle 54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46" name="Image 45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7" name="Image 46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8" name="ZoneTexte 47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9" name="ZoneTexte 48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50" name="ZoneTexte 49"/>
                    <p:cNvSpPr txBox="1"/>
                    <p:nvPr/>
                  </p:nvSpPr>
                  <p:spPr>
                    <a:xfrm>
                      <a:off x="2987824" y="6381328"/>
                      <a:ext cx="20882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المستوى:الأول متوسط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25" name="Image 24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7" name="ZoneTexte 26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0" name="Image 29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29" name="ZoneTexte 28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>
                  <a:solidFill>
                    <a:schemeClr val="bg1"/>
                  </a:solidFill>
                </a:rPr>
                <a:t>عمليات على الوثيقة</a:t>
              </a:r>
            </a:p>
          </p:txBody>
        </p:sp>
      </p:grpSp>
      <p:sp>
        <p:nvSpPr>
          <p:cNvPr id="26" name="ZoneTexte 25"/>
          <p:cNvSpPr txBox="1"/>
          <p:nvPr/>
        </p:nvSpPr>
        <p:spPr>
          <a:xfrm>
            <a:off x="323528" y="1857018"/>
            <a:ext cx="6472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قد تسرع في الكتابة وتخطئ في كتابة بعض الكلمات، كيف يمكنك تصحيح هذه الأخطاء بدون إعادة كتابتها من جديد؟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66" name="Rectangle à coins arrondis 65"/>
          <p:cNvSpPr/>
          <p:nvPr/>
        </p:nvSpPr>
        <p:spPr>
          <a:xfrm flipH="1" flipV="1">
            <a:off x="395536" y="1628800"/>
            <a:ext cx="7950606" cy="864096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611560" y="1661899"/>
            <a:ext cx="76415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للكتابة في معالج النصوص نختار اللغة من شريط المهام أو باستعمال </a:t>
            </a:r>
            <a:r>
              <a:rPr lang="ar-DZ" sz="2400" b="1" dirty="0" smtClean="0">
                <a:solidFill>
                  <a:schemeClr val="bg1"/>
                </a:solidFill>
              </a:rPr>
              <a:t>المفتاحين         +          وننسق </a:t>
            </a:r>
            <a:r>
              <a:rPr lang="ar-DZ" sz="2400" b="1" dirty="0">
                <a:solidFill>
                  <a:schemeClr val="bg1"/>
                </a:solidFill>
              </a:rPr>
              <a:t>اتجاهها في البرنامج ثم نبدأ في الكتابة</a:t>
            </a:r>
            <a:r>
              <a:rPr lang="ar-DZ" sz="2400" b="1" dirty="0" smtClean="0">
                <a:solidFill>
                  <a:schemeClr val="bg1"/>
                </a:solidFill>
              </a:rPr>
              <a:t>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3" name="Groupe 2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0" name="Groupe 19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" name="Groupe 3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12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14" name="Rectangle 13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15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7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8" name="Rectangle 17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16" name="Rectangle 15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7" name="Image 6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" name="Image 7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ZoneTexte 8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" name="ZoneTexte 9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" name="ZoneTexte 10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101" name="Image 100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3" name="ZoneTexte 10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06" name="Image 105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42" name="ZoneTexte 41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>
                  <a:solidFill>
                    <a:schemeClr val="bg1"/>
                  </a:solidFill>
                </a:rPr>
                <a:t>عمليات على الوثيقة</a:t>
              </a:r>
            </a:p>
          </p:txBody>
        </p:sp>
      </p:grpSp>
      <p:sp>
        <p:nvSpPr>
          <p:cNvPr id="65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8" name="Shape 859"/>
          <p:cNvSpPr/>
          <p:nvPr/>
        </p:nvSpPr>
        <p:spPr>
          <a:xfrm>
            <a:off x="4932040" y="720328"/>
            <a:ext cx="3332938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0" name="ZoneTexte 69"/>
          <p:cNvSpPr txBox="1"/>
          <p:nvPr/>
        </p:nvSpPr>
        <p:spPr>
          <a:xfrm>
            <a:off x="8316416" y="692696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5-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71" name="ZoneTexte 70"/>
          <p:cNvSpPr txBox="1"/>
          <p:nvPr/>
        </p:nvSpPr>
        <p:spPr>
          <a:xfrm>
            <a:off x="5436096" y="735087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الكتابة في الوثيقة: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588224" y="2019908"/>
            <a:ext cx="576064" cy="4009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Arial" pitchFamily="34" charset="0"/>
                <a:cs typeface="Arial" pitchFamily="34" charset="0"/>
              </a:rPr>
              <a:t>A</a:t>
            </a: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LT</a:t>
            </a:r>
            <a:endParaRPr kumimoji="0" lang="fr-F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5689893" y="2057466"/>
            <a:ext cx="481484" cy="362918"/>
            <a:chOff x="5917" y="11010"/>
            <a:chExt cx="510" cy="375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auto">
            <a:xfrm>
              <a:off x="5917" y="11010"/>
              <a:ext cx="510" cy="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AutoShape 4"/>
            <p:cNvSpPr>
              <a:spLocks noChangeArrowheads="1"/>
            </p:cNvSpPr>
            <p:nvPr/>
          </p:nvSpPr>
          <p:spPr bwMode="auto">
            <a:xfrm flipV="1">
              <a:off x="6082" y="11040"/>
              <a:ext cx="143" cy="300"/>
            </a:xfrm>
            <a:prstGeom prst="downArrow">
              <a:avLst>
                <a:gd name="adj1" fmla="val 50000"/>
                <a:gd name="adj2" fmla="val 52448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72" name="Rectangle à coins arrondis 71"/>
          <p:cNvSpPr/>
          <p:nvPr/>
        </p:nvSpPr>
        <p:spPr>
          <a:xfrm flipH="1" flipV="1">
            <a:off x="395536" y="4418529"/>
            <a:ext cx="7950606" cy="1602759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Rectangle 72"/>
          <p:cNvSpPr/>
          <p:nvPr/>
        </p:nvSpPr>
        <p:spPr>
          <a:xfrm>
            <a:off x="473031" y="4451628"/>
            <a:ext cx="76415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 تظهر الأخطاء الإملائية مسطرة باللون الأحمر ولتصحيحها نستعمل المدقق الإملائي.</a:t>
            </a:r>
          </a:p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-  نضغط بالزر الأيمن على الكلمة الخاطئة  ثم نختار من القائمة التي تظهر الكلمة الصحيحة بالزر الأيسر.</a:t>
            </a:r>
          </a:p>
        </p:txBody>
      </p:sp>
      <p:sp>
        <p:nvSpPr>
          <p:cNvPr id="74" name="Shape 856"/>
          <p:cNvSpPr/>
          <p:nvPr/>
        </p:nvSpPr>
        <p:spPr>
          <a:xfrm>
            <a:off x="8316416" y="3187750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5" name="Shape 859"/>
          <p:cNvSpPr/>
          <p:nvPr/>
        </p:nvSpPr>
        <p:spPr>
          <a:xfrm>
            <a:off x="4932040" y="3215382"/>
            <a:ext cx="3332938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6" name="ZoneTexte 75"/>
          <p:cNvSpPr txBox="1"/>
          <p:nvPr/>
        </p:nvSpPr>
        <p:spPr>
          <a:xfrm>
            <a:off x="8316416" y="3187750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6-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77" name="ZoneTexte 76"/>
          <p:cNvSpPr txBox="1"/>
          <p:nvPr/>
        </p:nvSpPr>
        <p:spPr>
          <a:xfrm>
            <a:off x="5148064" y="3230141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تصحيح الأخطاء الإملائية:</a:t>
            </a:r>
            <a:endParaRPr lang="fr-FR" sz="24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8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 animBg="1" advAuto="0"/>
      <p:bldP spid="73" grpId="0"/>
      <p:bldP spid="75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9508" y="620688"/>
            <a:ext cx="9144000" cy="5616624"/>
          </a:xfrm>
          <a:prstGeom prst="rect">
            <a:avLst/>
          </a:prstGeom>
        </p:spPr>
      </p:pic>
      <p:sp>
        <p:nvSpPr>
          <p:cNvPr id="61" name="Pensées 60"/>
          <p:cNvSpPr/>
          <p:nvPr/>
        </p:nvSpPr>
        <p:spPr>
          <a:xfrm>
            <a:off x="179512" y="1196752"/>
            <a:ext cx="5832648" cy="1656184"/>
          </a:xfrm>
          <a:prstGeom prst="cloudCallout">
            <a:avLst>
              <a:gd name="adj1" fmla="val -29050"/>
              <a:gd name="adj2" fmla="val 8316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4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65" name="ZoneTexte 64"/>
          <p:cNvSpPr txBox="1"/>
          <p:nvPr/>
        </p:nvSpPr>
        <p:spPr>
          <a:xfrm>
            <a:off x="269776" y="1780948"/>
            <a:ext cx="558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</a:t>
            </a:r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للبحث عن الكلمة وتعويضها بكلمة أخرى؟ </a:t>
            </a:r>
          </a:p>
        </p:txBody>
      </p:sp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3" name="Groupe 42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1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53" name="Rectangle 52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54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56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57" name="Rectangle 56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55" name="Rectangle 54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46" name="Image 45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7" name="Image 46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8" name="ZoneTexte 47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9" name="ZoneTexte 48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50" name="ZoneTexte 49"/>
                    <p:cNvSpPr txBox="1"/>
                    <p:nvPr/>
                  </p:nvSpPr>
                  <p:spPr>
                    <a:xfrm>
                      <a:off x="2987824" y="6381328"/>
                      <a:ext cx="20882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المستوى:الأول متوسط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25" name="Image 24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7" name="ZoneTexte 26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0" name="Image 29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29" name="ZoneTexte 28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>
                  <a:solidFill>
                    <a:schemeClr val="bg1"/>
                  </a:solidFill>
                </a:rPr>
                <a:t>عمليات على الوثيقة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347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58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0000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Shape 859"/>
          <p:cNvSpPr/>
          <p:nvPr/>
        </p:nvSpPr>
        <p:spPr>
          <a:xfrm>
            <a:off x="3707904" y="72032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FF0000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0" name="ZoneTexte 59"/>
          <p:cNvSpPr txBox="1"/>
          <p:nvPr/>
        </p:nvSpPr>
        <p:spPr>
          <a:xfrm>
            <a:off x="8316416" y="692696"/>
            <a:ext cx="511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7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3894151" y="74554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>
                <a:solidFill>
                  <a:srgbClr val="FFFF00"/>
                </a:solidFill>
              </a:rPr>
              <a:t>البحث عن كلمة وتعويضها: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82823" y="758485"/>
            <a:ext cx="27363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ننقر على التوالي بالترتيب :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10" name="Group 104"/>
          <p:cNvGrpSpPr/>
          <p:nvPr/>
        </p:nvGrpSpPr>
        <p:grpSpPr>
          <a:xfrm>
            <a:off x="5006725" y="4581128"/>
            <a:ext cx="3727793" cy="527690"/>
            <a:chOff x="782821" y="1173645"/>
            <a:chExt cx="3577009" cy="1114425"/>
          </a:xfrm>
        </p:grpSpPr>
        <p:sp>
          <p:nvSpPr>
            <p:cNvPr id="111" name="Rectangle 11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 11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5220071" y="4685074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</a:rPr>
              <a:t>نضغط  </a:t>
            </a:r>
            <a:r>
              <a:rPr lang="en-US" sz="2000" b="1" dirty="0" smtClean="0">
                <a:solidFill>
                  <a:schemeClr val="bg1"/>
                </a:solidFill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</a:rPr>
              <a:t>Remplacer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8007608" y="458781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34" name="Group 104"/>
          <p:cNvGrpSpPr/>
          <p:nvPr/>
        </p:nvGrpSpPr>
        <p:grpSpPr>
          <a:xfrm>
            <a:off x="5004048" y="1749182"/>
            <a:ext cx="3727793" cy="527690"/>
            <a:chOff x="782821" y="1173645"/>
            <a:chExt cx="3577009" cy="1114425"/>
          </a:xfrm>
        </p:grpSpPr>
        <p:sp>
          <p:nvSpPr>
            <p:cNvPr id="135" name="Rectangle 13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Rectangle 138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46" name="Rectangle 145"/>
          <p:cNvSpPr/>
          <p:nvPr/>
        </p:nvSpPr>
        <p:spPr>
          <a:xfrm>
            <a:off x="7956376" y="1758859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48" name="TextBox 68"/>
          <p:cNvSpPr txBox="1"/>
          <p:nvPr/>
        </p:nvSpPr>
        <p:spPr>
          <a:xfrm>
            <a:off x="5109997" y="1892422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التبويب </a:t>
            </a:r>
            <a:r>
              <a:rPr lang="en-US" sz="2000" b="1" dirty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Accueil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50" name="Group 104"/>
          <p:cNvGrpSpPr/>
          <p:nvPr/>
        </p:nvGrpSpPr>
        <p:grpSpPr>
          <a:xfrm>
            <a:off x="5004049" y="2492896"/>
            <a:ext cx="3727792" cy="527690"/>
            <a:chOff x="782822" y="1173645"/>
            <a:chExt cx="3577008" cy="1114425"/>
          </a:xfrm>
        </p:grpSpPr>
        <p:sp>
          <p:nvSpPr>
            <p:cNvPr id="151" name="Rectangle 15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 152"/>
            <p:cNvSpPr/>
            <p:nvPr/>
          </p:nvSpPr>
          <p:spPr>
            <a:xfrm flipH="1">
              <a:off x="782822" y="1373671"/>
              <a:ext cx="2802309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15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56" name="Group 118"/>
          <p:cNvGrpSpPr/>
          <p:nvPr/>
        </p:nvGrpSpPr>
        <p:grpSpPr>
          <a:xfrm>
            <a:off x="1763688" y="3194007"/>
            <a:ext cx="6157488" cy="523025"/>
            <a:chOff x="-1548595" y="2392845"/>
            <a:chExt cx="5908425" cy="1114425"/>
          </a:xfrm>
        </p:grpSpPr>
        <p:sp>
          <p:nvSpPr>
            <p:cNvPr id="157" name="Rectangle 156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58"/>
            <p:cNvSpPr/>
            <p:nvPr/>
          </p:nvSpPr>
          <p:spPr>
            <a:xfrm flipH="1">
              <a:off x="-1548595" y="2592869"/>
              <a:ext cx="5133722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Rectangle 160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62" name="Rectangle 161"/>
          <p:cNvSpPr/>
          <p:nvPr/>
        </p:nvSpPr>
        <p:spPr>
          <a:xfrm>
            <a:off x="5217394" y="2596842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الأداة  </a:t>
            </a:r>
            <a:r>
              <a:rPr lang="en-US" sz="2000" b="1" dirty="0">
                <a:solidFill>
                  <a:schemeClr val="bg1"/>
                </a:solidFill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</a:rPr>
              <a:t>Remplacer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8004931" y="249958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4" name="Rectangle 163"/>
          <p:cNvSpPr/>
          <p:nvPr/>
        </p:nvSpPr>
        <p:spPr>
          <a:xfrm>
            <a:off x="7208209" y="3194008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*</a:t>
            </a:r>
            <a:endParaRPr lang="fr-FR" dirty="0"/>
          </a:p>
        </p:txBody>
      </p:sp>
      <p:sp>
        <p:nvSpPr>
          <p:cNvPr id="165" name="Rectangle 164"/>
          <p:cNvSpPr/>
          <p:nvPr/>
        </p:nvSpPr>
        <p:spPr>
          <a:xfrm>
            <a:off x="2067791" y="3284984"/>
            <a:ext cx="47152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نكتب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الكلمة المطلوبة في مربع البحث 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Rechercher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82" name="Group 104"/>
          <p:cNvGrpSpPr/>
          <p:nvPr/>
        </p:nvGrpSpPr>
        <p:grpSpPr>
          <a:xfrm>
            <a:off x="1223626" y="3877017"/>
            <a:ext cx="6697550" cy="527690"/>
            <a:chOff x="-2066813" y="1173645"/>
            <a:chExt cx="6426643" cy="1114425"/>
          </a:xfrm>
        </p:grpSpPr>
        <p:sp>
          <p:nvSpPr>
            <p:cNvPr id="183" name="Rectangle 182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/>
            <p:cNvSpPr/>
            <p:nvPr/>
          </p:nvSpPr>
          <p:spPr>
            <a:xfrm flipH="1">
              <a:off x="-2066813" y="1373671"/>
              <a:ext cx="5651943" cy="9143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7" name="Rectangle 18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94" name="Rectangle 193"/>
          <p:cNvSpPr/>
          <p:nvPr/>
        </p:nvSpPr>
        <p:spPr>
          <a:xfrm>
            <a:off x="1619670" y="3980963"/>
            <a:ext cx="52353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نكتب الكلمة البديلة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في مربع الاستبدال 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Remplacer par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7194266" y="388370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*</a:t>
            </a:r>
            <a:endParaRPr lang="fr-FR" dirty="0"/>
          </a:p>
        </p:txBody>
      </p:sp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3" name="Groupe 42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1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53" name="Rectangle 52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54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56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57" name="Rectangle 56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55" name="Rectangle 54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46" name="Image 45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7" name="Image 46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8" name="ZoneTexte 47"/>
                    <p:cNvSpPr txBox="1"/>
                    <p:nvPr/>
                  </p:nvSpPr>
                  <p:spPr>
                    <a:xfrm>
                      <a:off x="5652120" y="6381328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9" name="ZoneTexte 48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50" name="ZoneTexte 49"/>
                    <p:cNvSpPr txBox="1"/>
                    <p:nvPr/>
                  </p:nvSpPr>
                  <p:spPr>
                    <a:xfrm>
                      <a:off x="2987824" y="6381328"/>
                      <a:ext cx="20882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المستوى:الأول متوسط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96" name="Image 95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98" name="ZoneTexte 97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01" name="Image 100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100" name="ZoneTexte 99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>
                  <a:solidFill>
                    <a:schemeClr val="bg1"/>
                  </a:solidFill>
                </a:rPr>
                <a:t>عمليات على الوثيقة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5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5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75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25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5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25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75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25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75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/>
      <p:bldP spid="61" grpId="0"/>
      <p:bldP spid="69" grpId="0"/>
      <p:bldP spid="128" grpId="0"/>
      <p:bldP spid="129" grpId="0"/>
      <p:bldP spid="146" grpId="0"/>
      <p:bldP spid="148" grpId="0"/>
      <p:bldP spid="162" grpId="0"/>
      <p:bldP spid="163" grpId="0"/>
      <p:bldP spid="164" grpId="0"/>
      <p:bldP spid="165" grpId="0"/>
      <p:bldP spid="194" grpId="0"/>
      <p:bldP spid="195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32868</TotalTime>
  <Words>683</Words>
  <Application>Microsoft Office PowerPoint</Application>
  <PresentationFormat>Affichage à l'écran (4:3)</PresentationFormat>
  <Paragraphs>185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Gill Sans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722</cp:revision>
  <dcterms:created xsi:type="dcterms:W3CDTF">2017-08-13T13:54:07Z</dcterms:created>
  <dcterms:modified xsi:type="dcterms:W3CDTF">2018-02-11T10:41:59Z</dcterms:modified>
</cp:coreProperties>
</file>