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62" r:id="rId5"/>
    <p:sldId id="264" r:id="rId6"/>
    <p:sldId id="263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22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7" d="100"/>
          <a:sy n="67" d="100"/>
        </p:scale>
        <p:origin x="73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0411224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7185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15055949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289502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682317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64807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76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896483145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6726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581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10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CF4D3AF-5FB5-4A13-AB6F-B3F7A0FA4FD0}" type="datetimeFigureOut">
              <a:rPr lang="en-US" smtClean="0"/>
              <a:t>2020-12-11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FE074CD-18D7-4850-8E50-224CC5253D76}" type="slidenum">
              <a:rPr lang="en-US" smtClean="0"/>
              <a:t>‹N°›</a:t>
            </a:fld>
            <a:endParaRPr lang="en-US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446189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078523" y="1071557"/>
            <a:ext cx="10318418" cy="3535983"/>
          </a:xfrm>
        </p:spPr>
        <p:txBody>
          <a:bodyPr/>
          <a:lstStyle/>
          <a:p>
            <a:r>
              <a:rPr lang="ar-DZ" sz="8000" spc="0" dirty="0" smtClean="0">
                <a:solidFill>
                  <a:schemeClr val="tx1"/>
                </a:solidFill>
                <a:latin typeface="Ara Alharbi Alhanoof" panose="02000500000000000000" pitchFamily="50" charset="-78"/>
                <a:cs typeface="Ara Alharbi Alhanoof" panose="02000500000000000000" pitchFamily="50" charset="-78"/>
              </a:rPr>
              <a:t>سكراتش</a:t>
            </a:r>
            <a:endParaRPr lang="en-US" sz="8000" spc="0" dirty="0">
              <a:solidFill>
                <a:schemeClr val="tx1"/>
              </a:solidFill>
              <a:latin typeface="Ara Alharbi Alhanoof" panose="02000500000000000000" pitchFamily="50" charset="-78"/>
              <a:cs typeface="Ara Alharbi Alhanoof" panose="02000500000000000000" pitchFamily="50" charset="-78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215045" y="4111139"/>
            <a:ext cx="8045373" cy="992801"/>
          </a:xfrm>
        </p:spPr>
        <p:txBody>
          <a:bodyPr>
            <a:normAutofit/>
          </a:bodyPr>
          <a:lstStyle/>
          <a:p>
            <a:pPr rtl="1"/>
            <a:r>
              <a:rPr lang="ar-DZ" sz="4400" spc="0" dirty="0" smtClean="0">
                <a:solidFill>
                  <a:srgbClr val="00B050"/>
                </a:solidFill>
                <a:latin typeface="Ara Alharbi Alhanoof" panose="02000500000000000000" pitchFamily="50" charset="-78"/>
                <a:cs typeface="Ara Alharbi Alhanoof" panose="02000500000000000000" pitchFamily="50" charset="-78"/>
              </a:rPr>
              <a:t>القلم</a:t>
            </a:r>
            <a:endParaRPr lang="en-US" sz="4000" spc="0" dirty="0">
              <a:solidFill>
                <a:srgbClr val="00B050"/>
              </a:solidFill>
              <a:latin typeface="Ara Alharbi Alhanoof" panose="02000500000000000000" pitchFamily="50" charset="-78"/>
              <a:cs typeface="Ara Alharbi Alhanoof" panose="02000500000000000000" pitchFamily="50" charset="-78"/>
            </a:endParaRPr>
          </a:p>
        </p:txBody>
      </p:sp>
      <p:sp>
        <p:nvSpPr>
          <p:cNvPr id="4" name="ZoneTexte 3"/>
          <p:cNvSpPr txBox="1"/>
          <p:nvPr/>
        </p:nvSpPr>
        <p:spPr>
          <a:xfrm>
            <a:off x="357188" y="6043612"/>
            <a:ext cx="478528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rtl="1"/>
            <a:r>
              <a:rPr lang="ar-DZ" sz="3200" b="1" u="sng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من إعداد الأستاذ:</a:t>
            </a:r>
            <a:r>
              <a:rPr lang="ar-DZ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بن </a:t>
            </a:r>
            <a:r>
              <a:rPr lang="ar-DZ" sz="32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اعمارة</a:t>
            </a:r>
            <a:r>
              <a:rPr lang="ar-DZ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محمد</a:t>
            </a:r>
            <a:endParaRPr 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874506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60640"/>
          </a:xfrm>
        </p:spPr>
        <p:txBody>
          <a:bodyPr/>
          <a:lstStyle/>
          <a:p>
            <a:pPr algn="ctr" rtl="1"/>
            <a:r>
              <a:rPr lang="ar-DZ" b="1" dirty="0" smtClean="0">
                <a:solidFill>
                  <a:srgbClr val="00B050"/>
                </a:solidFill>
              </a:rPr>
              <a:t>القلم</a:t>
            </a:r>
            <a:endParaRPr lang="en-US" b="1" dirty="0">
              <a:solidFill>
                <a:srgbClr val="00B05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1400177"/>
            <a:ext cx="10178322" cy="5086348"/>
          </a:xfrm>
        </p:spPr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DZ" sz="3200" dirty="0" smtClean="0">
                <a:solidFill>
                  <a:schemeClr val="tx1"/>
                </a:solidFill>
              </a:rPr>
              <a:t>ترسم خطا للكائن أثناء حركته، تساعد مجموعة لبنات القلم على:</a:t>
            </a:r>
          </a:p>
          <a:p>
            <a:pPr marL="514350" indent="-514350" algn="r" rtl="1">
              <a:lnSpc>
                <a:spcPct val="150000"/>
              </a:lnSpc>
              <a:buFont typeface="+mj-lt"/>
              <a:buAutoNum type="arabicPeriod"/>
            </a:pPr>
            <a:r>
              <a:rPr lang="ar-DZ" sz="3200" dirty="0" smtClean="0">
                <a:solidFill>
                  <a:schemeClr val="tx1"/>
                </a:solidFill>
              </a:rPr>
              <a:t>رسم مسار حركة الكائن</a:t>
            </a:r>
          </a:p>
          <a:p>
            <a:pPr marL="514350" indent="-514350" algn="r" rtl="1">
              <a:lnSpc>
                <a:spcPct val="150000"/>
              </a:lnSpc>
              <a:buFont typeface="+mj-lt"/>
              <a:buAutoNum type="arabicPeriod"/>
            </a:pPr>
            <a:r>
              <a:rPr lang="ar-DZ" sz="3200" dirty="0" smtClean="0">
                <a:solidFill>
                  <a:schemeClr val="tx1"/>
                </a:solidFill>
              </a:rPr>
              <a:t>رسم أشكال مختلفة</a:t>
            </a:r>
          </a:p>
          <a:p>
            <a:pPr marL="514350" indent="-514350" algn="r" rtl="1">
              <a:lnSpc>
                <a:spcPct val="150000"/>
              </a:lnSpc>
              <a:buFont typeface="+mj-lt"/>
              <a:buAutoNum type="arabicPeriod"/>
            </a:pPr>
            <a:r>
              <a:rPr lang="ar-DZ" sz="3200" dirty="0" smtClean="0">
                <a:solidFill>
                  <a:schemeClr val="tx1"/>
                </a:solidFill>
              </a:rPr>
              <a:t>التلوين</a:t>
            </a:r>
          </a:p>
          <a:p>
            <a:pPr marL="514350" indent="-514350" algn="r" rtl="1">
              <a:lnSpc>
                <a:spcPct val="150000"/>
              </a:lnSpc>
              <a:buFont typeface="+mj-lt"/>
              <a:buAutoNum type="arabicPeriod"/>
            </a:pPr>
            <a:r>
              <a:rPr lang="ar-DZ" sz="3200" dirty="0" smtClean="0">
                <a:solidFill>
                  <a:schemeClr val="tx1"/>
                </a:solidFill>
              </a:rPr>
              <a:t>المسح</a:t>
            </a:r>
            <a:endParaRPr lang="fr-FR" sz="3200" dirty="0" smtClean="0">
              <a:solidFill>
                <a:schemeClr val="tx1"/>
              </a:solidFill>
            </a:endParaRPr>
          </a:p>
          <a:p>
            <a:pPr algn="r" rtl="1">
              <a:lnSpc>
                <a:spcPct val="150000"/>
              </a:lnSpc>
            </a:pPr>
            <a:r>
              <a:rPr lang="ar-DZ" sz="3200" dirty="0" smtClean="0">
                <a:solidFill>
                  <a:schemeClr val="tx1"/>
                </a:solidFill>
              </a:rPr>
              <a:t>لاستعمال لبنات القلم نضغط على زر التبديل </a:t>
            </a:r>
            <a:r>
              <a:rPr lang="ar-DZ" sz="3200" b="1" dirty="0" smtClean="0">
                <a:solidFill>
                  <a:srgbClr val="00B050"/>
                </a:solidFill>
              </a:rPr>
              <a:t>القلم </a:t>
            </a:r>
            <a:r>
              <a:rPr lang="ar-DZ" sz="3200" dirty="0" smtClean="0">
                <a:solidFill>
                  <a:schemeClr val="tx1"/>
                </a:solidFill>
              </a:rPr>
              <a:t>في منطقة ألواح اللبنات</a:t>
            </a:r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11506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960640"/>
          </a:xfrm>
        </p:spPr>
        <p:txBody>
          <a:bodyPr/>
          <a:lstStyle/>
          <a:p>
            <a:pPr algn="ctr" rtl="1"/>
            <a:r>
              <a:rPr lang="ar-DZ" b="1" smtClean="0">
                <a:solidFill>
                  <a:srgbClr val="FFC000"/>
                </a:solidFill>
              </a:rPr>
              <a:t>أهم </a:t>
            </a:r>
            <a:r>
              <a:rPr lang="ar-DZ" b="1" dirty="0" smtClean="0">
                <a:solidFill>
                  <a:srgbClr val="FFC000"/>
                </a:solidFill>
              </a:rPr>
              <a:t>لبنات </a:t>
            </a:r>
            <a:r>
              <a:rPr lang="ar-DZ" b="1" dirty="0" smtClean="0">
                <a:solidFill>
                  <a:srgbClr val="00B05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القلم</a:t>
            </a:r>
            <a:endParaRPr lang="en-US" b="1" dirty="0">
              <a:solidFill>
                <a:srgbClr val="00B05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1557339"/>
            <a:ext cx="6320697" cy="5114924"/>
          </a:xfrm>
        </p:spPr>
        <p:txBody>
          <a:bodyPr>
            <a:normAutofit lnSpcReduction="10000"/>
          </a:bodyPr>
          <a:lstStyle/>
          <a:p>
            <a:pPr marL="0" indent="0" algn="r" rtl="1">
              <a:lnSpc>
                <a:spcPct val="200000"/>
              </a:lnSpc>
              <a:buNone/>
            </a:pPr>
            <a:r>
              <a:rPr lang="ar-DZ" sz="3200" b="1" dirty="0" smtClean="0">
                <a:solidFill>
                  <a:schemeClr val="tx1"/>
                </a:solidFill>
              </a:rPr>
              <a:t>بدأ الرسم</a:t>
            </a: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3200" b="1" dirty="0" smtClean="0">
                <a:solidFill>
                  <a:schemeClr val="tx1"/>
                </a:solidFill>
              </a:rPr>
              <a:t>يوقف عملية الرسم</a:t>
            </a: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3200" b="1" dirty="0" smtClean="0">
                <a:solidFill>
                  <a:schemeClr val="tx1"/>
                </a:solidFill>
              </a:rPr>
              <a:t>يختار حجم (سمك) القلم</a:t>
            </a: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3200" b="1" dirty="0" smtClean="0">
                <a:solidFill>
                  <a:schemeClr val="tx1"/>
                </a:solidFill>
              </a:rPr>
              <a:t>يختار لون القلم</a:t>
            </a:r>
          </a:p>
          <a:p>
            <a:pPr marL="0" indent="0" algn="r" rtl="1">
              <a:lnSpc>
                <a:spcPct val="200000"/>
              </a:lnSpc>
              <a:buNone/>
            </a:pPr>
            <a:r>
              <a:rPr lang="ar-DZ" sz="3200" b="1" dirty="0" smtClean="0">
                <a:solidFill>
                  <a:schemeClr val="tx1"/>
                </a:solidFill>
              </a:rPr>
              <a:t>مسح ما تم رسمه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29725" y="1714518"/>
            <a:ext cx="2200275" cy="928688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29724" y="2643206"/>
            <a:ext cx="2200275" cy="971550"/>
          </a:xfrm>
          <a:prstGeom prst="rect">
            <a:avLst/>
          </a:prstGeom>
        </p:spPr>
      </p:pic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3614756"/>
            <a:ext cx="3657599" cy="1057259"/>
          </a:xfrm>
          <a:prstGeom prst="rect">
            <a:avLst/>
          </a:prstGeom>
        </p:spPr>
      </p:pic>
      <p:pic>
        <p:nvPicPr>
          <p:cNvPr id="13" name="Imag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0" y="4672015"/>
            <a:ext cx="3657599" cy="971550"/>
          </a:xfrm>
          <a:prstGeom prst="rect">
            <a:avLst/>
          </a:prstGeom>
        </p:spPr>
      </p:pic>
      <p:pic>
        <p:nvPicPr>
          <p:cNvPr id="14" name="Image 1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29749" y="5643565"/>
            <a:ext cx="2000250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780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000"/>
                            </p:stCondLst>
                            <p:childTnLst>
                              <p:par>
                                <p:cTn id="2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000"/>
                            </p:stCondLst>
                            <p:childTnLst>
                              <p:par>
                                <p:cTn id="40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800100"/>
            <a:ext cx="10178322" cy="88582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rtl="1"/>
            <a:r>
              <a:rPr lang="ar-DZ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تطبيق 1:</a:t>
            </a:r>
            <a:r>
              <a:rPr lang="ar-D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رسم أشكال هندسية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2357439"/>
            <a:ext cx="10178322" cy="41290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/>
            <a:r>
              <a:rPr lang="ar-DZ" sz="4000" dirty="0" smtClean="0"/>
              <a:t>أدرج كائن القلم</a:t>
            </a:r>
          </a:p>
          <a:p>
            <a:pPr algn="r" rtl="1"/>
            <a:r>
              <a:rPr lang="ar-DZ" sz="4000" dirty="0" smtClean="0"/>
              <a:t>اجعله يرسم شكلا هندسيا (مربع) متبعا ما يلي:</a:t>
            </a:r>
          </a:p>
          <a:p>
            <a:pPr lvl="1" algn="r" rtl="1"/>
            <a:r>
              <a:rPr lang="ar-DZ" sz="3600" dirty="0" smtClean="0"/>
              <a:t>حجم الخط 2</a:t>
            </a:r>
          </a:p>
          <a:p>
            <a:pPr lvl="1" algn="r" rtl="1"/>
            <a:r>
              <a:rPr lang="ar-DZ" sz="3600" dirty="0" smtClean="0"/>
              <a:t>لون الخط أحمر</a:t>
            </a:r>
          </a:p>
          <a:p>
            <a:pPr lvl="1" algn="r" rtl="1"/>
            <a:r>
              <a:rPr lang="ar-DZ" sz="3600" dirty="0" smtClean="0"/>
              <a:t>طول الضلع 150 وحدة</a:t>
            </a:r>
          </a:p>
        </p:txBody>
      </p:sp>
    </p:spTree>
    <p:extLst>
      <p:ext uri="{BB962C8B-B14F-4D97-AF65-F5344CB8AC3E}">
        <p14:creationId xmlns:p14="http://schemas.microsoft.com/office/powerpoint/2010/main" val="2979351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800100"/>
            <a:ext cx="10178322" cy="88582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rtl="1"/>
            <a:r>
              <a:rPr lang="ar-DZ" b="1" u="sng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تطبيق 2:</a:t>
            </a:r>
            <a:r>
              <a:rPr lang="ar-D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رسم زخارف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2357439"/>
            <a:ext cx="10178322" cy="41290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DZ" sz="4000" dirty="0" smtClean="0"/>
              <a:t>ارسم شكلا هندسيا</a:t>
            </a:r>
          </a:p>
          <a:p>
            <a:pPr algn="r" rtl="1">
              <a:lnSpc>
                <a:spcPct val="150000"/>
              </a:lnSpc>
            </a:pPr>
            <a:r>
              <a:rPr lang="ar-DZ" sz="4000" dirty="0" smtClean="0"/>
              <a:t>أدر الكائن بزاوية معينة (أ)</a:t>
            </a:r>
          </a:p>
          <a:p>
            <a:pPr algn="r" rtl="1">
              <a:lnSpc>
                <a:spcPct val="150000"/>
              </a:lnSpc>
            </a:pPr>
            <a:r>
              <a:rPr lang="ar-DZ" sz="4000" dirty="0" smtClean="0"/>
              <a:t>أعد رسم الرسم السابق عدة مرات </a:t>
            </a:r>
            <a:r>
              <a:rPr lang="ar-DZ" sz="4000" dirty="0"/>
              <a:t>(360/أ</a:t>
            </a:r>
            <a:r>
              <a:rPr lang="ar-DZ" sz="4000" dirty="0" smtClean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824956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51678" y="800100"/>
            <a:ext cx="10178322" cy="885825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/>
          <a:lstStyle/>
          <a:p>
            <a:pPr algn="ctr" rtl="1"/>
            <a:r>
              <a:rPr lang="ar-DZ" b="1" u="sng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تطبيق 3:</a:t>
            </a:r>
            <a:r>
              <a:rPr lang="ar-DZ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رحلة كولومبوس</a:t>
            </a:r>
            <a:endParaRPr lang="en-US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51678" y="2357439"/>
            <a:ext cx="10178322" cy="4129086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r" rtl="1">
              <a:lnSpc>
                <a:spcPct val="150000"/>
              </a:lnSpc>
            </a:pPr>
            <a:r>
              <a:rPr lang="ar-DZ" sz="4000" dirty="0" smtClean="0"/>
              <a:t>أدرج كائن السفينة وغير الخلفية للخريطة</a:t>
            </a:r>
          </a:p>
          <a:p>
            <a:pPr algn="r" rtl="1">
              <a:lnSpc>
                <a:spcPct val="150000"/>
              </a:lnSpc>
            </a:pPr>
            <a:r>
              <a:rPr lang="ar-DZ" sz="4000" dirty="0" smtClean="0"/>
              <a:t>ضع 4 نقاط كمحطات لمسار الرحلة</a:t>
            </a:r>
          </a:p>
          <a:p>
            <a:pPr algn="r" rtl="1">
              <a:lnSpc>
                <a:spcPct val="150000"/>
              </a:lnSpc>
            </a:pPr>
            <a:r>
              <a:rPr lang="ar-DZ" sz="3600" dirty="0" smtClean="0"/>
              <a:t>اجعل السفينة تتحرك باتجاه تلك النقاط بالتتابع</a:t>
            </a:r>
          </a:p>
          <a:p>
            <a:pPr algn="r" rtl="1">
              <a:lnSpc>
                <a:spcPct val="150000"/>
              </a:lnSpc>
            </a:pPr>
            <a:r>
              <a:rPr lang="ar-DZ" sz="3600" dirty="0" smtClean="0"/>
              <a:t>ارسم مسار الرحلة</a:t>
            </a:r>
          </a:p>
        </p:txBody>
      </p:sp>
    </p:spTree>
    <p:extLst>
      <p:ext uri="{BB962C8B-B14F-4D97-AF65-F5344CB8AC3E}">
        <p14:creationId xmlns:p14="http://schemas.microsoft.com/office/powerpoint/2010/main" val="3097434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 animBg="1"/>
    </p:bldLst>
  </p:timing>
</p:sld>
</file>

<file path=ppt/theme/theme1.xml><?xml version="1.0" encoding="utf-8"?>
<a:theme xmlns:a="http://schemas.openxmlformats.org/drawingml/2006/main" name="Badge">
  <a:themeElements>
    <a:clrScheme name="القلم">
      <a:dk1>
        <a:sysClr val="windowText" lastClr="000000"/>
      </a:dk1>
      <a:lt1>
        <a:sysClr val="window" lastClr="FFFFFF"/>
      </a:lt1>
      <a:dk2>
        <a:srgbClr val="00B050"/>
      </a:dk2>
      <a:lt2>
        <a:srgbClr val="F3F3F2"/>
      </a:lt2>
      <a:accent1>
        <a:srgbClr val="FFC000"/>
      </a:accent1>
      <a:accent2>
        <a:srgbClr val="656A59"/>
      </a:accent2>
      <a:accent3>
        <a:srgbClr val="46B2B5"/>
      </a:accent3>
      <a:accent4>
        <a:srgbClr val="8CAA7E"/>
      </a:accent4>
      <a:accent5>
        <a:srgbClr val="D36F68"/>
      </a:accent5>
      <a:accent6>
        <a:srgbClr val="826276"/>
      </a:accent6>
      <a:hlink>
        <a:srgbClr val="46B2B5"/>
      </a:hlink>
      <a:folHlink>
        <a:srgbClr val="A46694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771EA782-DFA6-45B1-AEA3-661F1715B310}"/>
    </a:ext>
  </a:extLst>
</a:theme>
</file>

<file path=ppt/theme/themeOverride1.xml><?xml version="1.0" encoding="utf-8"?>
<a:themeOverride xmlns:a="http://schemas.openxmlformats.org/drawingml/2006/main">
  <a:clrScheme name="Personnalisé 1">
    <a:dk1>
      <a:sysClr val="windowText" lastClr="000000"/>
    </a:dk1>
    <a:lt1>
      <a:sysClr val="window" lastClr="FFFFFF"/>
    </a:lt1>
    <a:dk2>
      <a:srgbClr val="FFC000"/>
    </a:dk2>
    <a:lt2>
      <a:srgbClr val="F3F3F2"/>
    </a:lt2>
    <a:accent1>
      <a:srgbClr val="FFC000"/>
    </a:accent1>
    <a:accent2>
      <a:srgbClr val="656A59"/>
    </a:accent2>
    <a:accent3>
      <a:srgbClr val="46B2B5"/>
    </a:accent3>
    <a:accent4>
      <a:srgbClr val="8CAA7E"/>
    </a:accent4>
    <a:accent5>
      <a:srgbClr val="D36F68"/>
    </a:accent5>
    <a:accent6>
      <a:srgbClr val="826276"/>
    </a:accent6>
    <a:hlink>
      <a:srgbClr val="46B2B5"/>
    </a:hlink>
    <a:folHlink>
      <a:srgbClr val="A4669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3970</TotalTime>
  <Words>145</Words>
  <Application>Microsoft Office PowerPoint</Application>
  <PresentationFormat>Grand écran</PresentationFormat>
  <Paragraphs>31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Ara Alharbi Alhanoof</vt:lpstr>
      <vt:lpstr>Arial</vt:lpstr>
      <vt:lpstr>Gill Sans MT</vt:lpstr>
      <vt:lpstr>Impact</vt:lpstr>
      <vt:lpstr>Majalla UI</vt:lpstr>
      <vt:lpstr>Badge</vt:lpstr>
      <vt:lpstr>سكراتش</vt:lpstr>
      <vt:lpstr>القلم</vt:lpstr>
      <vt:lpstr>أهم لبنات القلم</vt:lpstr>
      <vt:lpstr>تطبيق 1: رسم أشكال هندسية</vt:lpstr>
      <vt:lpstr>تطبيق 2: رسم زخارف</vt:lpstr>
      <vt:lpstr>تطبيق 3: رحلة كولومبوس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E.B.S</dc:creator>
  <cp:lastModifiedBy>E.B.S</cp:lastModifiedBy>
  <cp:revision>38</cp:revision>
  <dcterms:created xsi:type="dcterms:W3CDTF">2020-12-04T20:51:12Z</dcterms:created>
  <dcterms:modified xsi:type="dcterms:W3CDTF">2020-12-11T16:29:03Z</dcterms:modified>
</cp:coreProperties>
</file>