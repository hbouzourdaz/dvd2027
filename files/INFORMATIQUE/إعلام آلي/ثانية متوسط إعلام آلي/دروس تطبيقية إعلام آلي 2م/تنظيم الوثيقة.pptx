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57" r:id="rId3"/>
    <p:sldId id="275" r:id="rId4"/>
    <p:sldId id="260" r:id="rId5"/>
    <p:sldId id="274" r:id="rId6"/>
    <p:sldId id="261" r:id="rId7"/>
    <p:sldId id="266" r:id="rId8"/>
    <p:sldId id="265" r:id="rId9"/>
    <p:sldId id="277" r:id="rId10"/>
    <p:sldId id="267" r:id="rId11"/>
    <p:sldId id="269" r:id="rId12"/>
    <p:sldId id="270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CC0000"/>
    <a:srgbClr val="FF3300"/>
    <a:srgbClr val="57ABC9"/>
    <a:srgbClr val="D75BB4"/>
    <a:srgbClr val="EEC208"/>
    <a:srgbClr val="E86E77"/>
    <a:srgbClr val="F79646"/>
    <a:srgbClr val="F48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28" autoAdjust="0"/>
  </p:normalViewPr>
  <p:slideViewPr>
    <p:cSldViewPr>
      <p:cViewPr>
        <p:scale>
          <a:sx n="70" d="100"/>
          <a:sy n="70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12/11/2017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12/11/2017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12/11/2017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12/11/2017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8C6B9-1AE0-4F9B-92BA-7BAE68551FBC}" type="datetimeFigureOut">
              <a:rPr lang="fr-FR" smtClean="0"/>
              <a:pPr/>
              <a:t>12/11/2017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5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besmallah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68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70" name="Image 69" descr="11-2-animation-png-hd-thum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6516216" y="2193557"/>
            <a:ext cx="3672408" cy="3384376"/>
          </a:xfrm>
          <a:prstGeom prst="rect">
            <a:avLst/>
          </a:prstGeom>
        </p:spPr>
      </p:pic>
      <p:grpSp>
        <p:nvGrpSpPr>
          <p:cNvPr id="71" name="Group 77"/>
          <p:cNvGrpSpPr/>
          <p:nvPr/>
        </p:nvGrpSpPr>
        <p:grpSpPr>
          <a:xfrm rot="20065487">
            <a:off x="5275599" y="1098927"/>
            <a:ext cx="2577601" cy="3064663"/>
            <a:chOff x="914400" y="1122362"/>
            <a:chExt cx="2080267" cy="3453889"/>
          </a:xfrm>
        </p:grpSpPr>
        <p:sp>
          <p:nvSpPr>
            <p:cNvPr id="72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5" name="ZoneTexte 74"/>
          <p:cNvSpPr txBox="1"/>
          <p:nvPr/>
        </p:nvSpPr>
        <p:spPr>
          <a:xfrm rot="20130558">
            <a:off x="5148538" y="1256945"/>
            <a:ext cx="25206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000" b="1" dirty="0" smtClean="0">
                <a:solidFill>
                  <a:schemeClr val="bg1"/>
                </a:solidFill>
              </a:rPr>
              <a:t>لو لاحظت جميع الكتب والبحوث تحتوي على فهرس يساعدك في قراءتها وتصفحها وتوافق الفهرس مع المحاور في أعلى (رأس) الصفحات وكذلك الترقيم فيها.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76" name="Image 75" descr="Person-question-2-151x30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77" name="Pensées 76"/>
          <p:cNvSpPr/>
          <p:nvPr/>
        </p:nvSpPr>
        <p:spPr>
          <a:xfrm>
            <a:off x="107504" y="980728"/>
            <a:ext cx="4608512" cy="1800200"/>
          </a:xfrm>
          <a:prstGeom prst="cloudCallout">
            <a:avLst>
              <a:gd name="adj1" fmla="val -33333"/>
              <a:gd name="adj2" fmla="val 75738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/>
          <p:cNvSpPr txBox="1"/>
          <p:nvPr/>
        </p:nvSpPr>
        <p:spPr>
          <a:xfrm>
            <a:off x="323528" y="1268760"/>
            <a:ext cx="42124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000" b="1" dirty="0" smtClean="0">
                <a:solidFill>
                  <a:srgbClr val="FF6600"/>
                </a:solidFill>
              </a:rPr>
              <a:t> </a:t>
            </a:r>
            <a:r>
              <a:rPr lang="ar-SA" sz="2000" b="1" dirty="0">
                <a:solidFill>
                  <a:srgbClr val="FF6600"/>
                </a:solidFill>
              </a:rPr>
              <a:t>كيف يمكنك تنظيم الوثيقة بحيث تظهر </a:t>
            </a:r>
            <a:r>
              <a:rPr lang="ar-DZ" sz="2000" b="1" dirty="0" smtClean="0">
                <a:solidFill>
                  <a:srgbClr val="FF6600"/>
                </a:solidFill>
              </a:rPr>
              <a:t>ال</a:t>
            </a:r>
            <a:r>
              <a:rPr lang="ar-SA" sz="2000" b="1" dirty="0" smtClean="0">
                <a:solidFill>
                  <a:srgbClr val="FF6600"/>
                </a:solidFill>
              </a:rPr>
              <a:t>محاور </a:t>
            </a:r>
            <a:r>
              <a:rPr lang="ar-SA" sz="2000" b="1" dirty="0">
                <a:solidFill>
                  <a:srgbClr val="FF6600"/>
                </a:solidFill>
              </a:rPr>
              <a:t>في </a:t>
            </a:r>
            <a:r>
              <a:rPr lang="ar-DZ" sz="2000" b="1" dirty="0" smtClean="0">
                <a:solidFill>
                  <a:srgbClr val="FF6600"/>
                </a:solidFill>
              </a:rPr>
              <a:t>أعلى (رأس)</a:t>
            </a:r>
            <a:r>
              <a:rPr lang="ar-SA" sz="2000" b="1" dirty="0" smtClean="0">
                <a:solidFill>
                  <a:srgbClr val="FF6600"/>
                </a:solidFill>
              </a:rPr>
              <a:t> كل </a:t>
            </a:r>
            <a:r>
              <a:rPr lang="ar-SA" sz="2000" b="1" dirty="0">
                <a:solidFill>
                  <a:srgbClr val="FF6600"/>
                </a:solidFill>
              </a:rPr>
              <a:t>صفحة ويظهر الترقيم </a:t>
            </a:r>
            <a:r>
              <a:rPr lang="ar-SA" sz="2000" b="1" dirty="0" smtClean="0">
                <a:solidFill>
                  <a:srgbClr val="FF6600"/>
                </a:solidFill>
              </a:rPr>
              <a:t>ف</a:t>
            </a:r>
            <a:r>
              <a:rPr lang="ar-DZ" sz="2000" b="1" dirty="0" smtClean="0">
                <a:solidFill>
                  <a:srgbClr val="FF6600"/>
                </a:solidFill>
              </a:rPr>
              <a:t>يها </a:t>
            </a:r>
            <a:r>
              <a:rPr lang="ar-SA" sz="2000" b="1" dirty="0" smtClean="0">
                <a:solidFill>
                  <a:srgbClr val="FF6600"/>
                </a:solidFill>
              </a:rPr>
              <a:t>وإعطاء </a:t>
            </a:r>
            <a:r>
              <a:rPr lang="ar-SA" sz="2000" b="1" dirty="0">
                <a:solidFill>
                  <a:srgbClr val="FF6600"/>
                </a:solidFill>
              </a:rPr>
              <a:t>شكل نهائي </a:t>
            </a:r>
            <a:r>
              <a:rPr lang="ar-SA" sz="2000" b="1" dirty="0" smtClean="0">
                <a:solidFill>
                  <a:srgbClr val="FF6600"/>
                </a:solidFill>
              </a:rPr>
              <a:t>قابل</a:t>
            </a:r>
            <a:r>
              <a:rPr lang="ar-DZ" sz="2000" b="1" dirty="0" smtClean="0">
                <a:solidFill>
                  <a:srgbClr val="FF6600"/>
                </a:solidFill>
              </a:rPr>
              <a:t> </a:t>
            </a:r>
            <a:r>
              <a:rPr lang="ar-SA" sz="2000" b="1" dirty="0" smtClean="0">
                <a:solidFill>
                  <a:srgbClr val="FF6600"/>
                </a:solidFill>
              </a:rPr>
              <a:t>للطباعة</a:t>
            </a:r>
            <a:r>
              <a:rPr lang="ar-DZ" sz="2000" b="1" dirty="0" smtClean="0">
                <a:solidFill>
                  <a:srgbClr val="FF6600"/>
                </a:solidFill>
              </a:rPr>
              <a:t> ......</a:t>
            </a:r>
            <a:r>
              <a:rPr lang="ar-SA" sz="2000" b="1" dirty="0" smtClean="0">
                <a:solidFill>
                  <a:srgbClr val="FF6600"/>
                </a:solidFill>
              </a:rPr>
              <a:t>؟  </a:t>
            </a:r>
            <a:endParaRPr lang="fr-FR" sz="2000" b="1" dirty="0">
              <a:solidFill>
                <a:srgbClr val="FF6600"/>
              </a:solidFill>
            </a:endParaRPr>
          </a:p>
          <a:p>
            <a:pPr algn="ctr" rtl="1"/>
            <a:endParaRPr lang="fr-FR" sz="20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84" name="Picture 4" descr="C:\Users\RIDHA\Pictures\Image1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23728" y="4149080"/>
            <a:ext cx="1224136" cy="2220466"/>
          </a:xfrm>
          <a:prstGeom prst="rect">
            <a:avLst/>
          </a:prstGeom>
          <a:noFill/>
        </p:spPr>
      </p:pic>
      <p:sp>
        <p:nvSpPr>
          <p:cNvPr id="86" name="Pensées 85"/>
          <p:cNvSpPr/>
          <p:nvPr/>
        </p:nvSpPr>
        <p:spPr>
          <a:xfrm>
            <a:off x="1979712" y="3140968"/>
            <a:ext cx="3456384" cy="1032385"/>
          </a:xfrm>
          <a:prstGeom prst="cloudCallout">
            <a:avLst>
              <a:gd name="adj1" fmla="val -15402"/>
              <a:gd name="adj2" fmla="val 9506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87" name="ZoneTexte 86"/>
          <p:cNvSpPr txBox="1"/>
          <p:nvPr/>
        </p:nvSpPr>
        <p:spPr>
          <a:xfrm>
            <a:off x="1979712" y="3327956"/>
            <a:ext cx="34563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1900" b="1" dirty="0" smtClean="0"/>
              <a:t>وبعض البحوث تحتوي على الرموز والعبارات الرياضية</a:t>
            </a:r>
            <a:endParaRPr lang="ar-DZ" sz="1900" b="1" dirty="0" smtClean="0"/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90" name="Groupe 8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2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2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54" name="Rectangle 53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55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57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58" name="Rectangle 57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56" name="Rectangle 55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49" name="Image 48" descr="3-2-blogging-transparent-thumb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50" name="Image 49" descr="12-2-education-png-image-thumb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79" name="ZoneTexte 78"/>
                <p:cNvSpPr txBox="1"/>
                <p:nvPr/>
              </p:nvSpPr>
              <p:spPr>
                <a:xfrm>
                  <a:off x="5796136" y="6351711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0" name="ZoneTexte 79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1" name="ZoneTexte 80"/>
                <p:cNvSpPr txBox="1"/>
                <p:nvPr/>
              </p:nvSpPr>
              <p:spPr>
                <a:xfrm>
                  <a:off x="2915816" y="6381328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المستوى:الثاني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83" name="Image 82" descr="3d print business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16016" y="6309320"/>
                <a:ext cx="1440160" cy="620688"/>
              </a:xfrm>
              <a:prstGeom prst="rect">
                <a:avLst/>
              </a:prstGeom>
            </p:spPr>
          </p:pic>
          <p:pic>
            <p:nvPicPr>
              <p:cNvPr id="88" name="Image 87" descr="Microsoft_Word_2013_logo.svg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4" name="ZoneTexte 33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الثاني المتوسط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2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88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38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88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88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7" grpId="0" animBg="1"/>
      <p:bldP spid="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IDHA\Downloads\صور المعلوماتية\1 (1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311" y="620688"/>
            <a:ext cx="9173311" cy="565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4459451" y="1988840"/>
            <a:ext cx="3496925" cy="23042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00808"/>
            <a:ext cx="2461483" cy="42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ZoneTexte 26"/>
          <p:cNvSpPr txBox="1"/>
          <p:nvPr/>
        </p:nvSpPr>
        <p:spPr>
          <a:xfrm>
            <a:off x="4459450" y="2089207"/>
            <a:ext cx="34969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400" b="1" dirty="0" smtClean="0">
                <a:solidFill>
                  <a:srgbClr val="FFFF00"/>
                </a:solidFill>
              </a:rPr>
              <a:t>المجال المفاهيمي: </a:t>
            </a:r>
            <a:r>
              <a:rPr lang="ar-DZ" sz="2400" b="1" dirty="0" smtClean="0">
                <a:solidFill>
                  <a:schemeClr val="bg1"/>
                </a:solidFill>
              </a:rPr>
              <a:t>معالج النصوص    </a:t>
            </a:r>
            <a:r>
              <a:rPr lang="fr-FR" sz="2400" b="1" dirty="0" smtClean="0">
                <a:solidFill>
                  <a:schemeClr val="bg1"/>
                </a:solidFill>
              </a:rPr>
              <a:t>MS-Word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4459450" y="2947497"/>
            <a:ext cx="3483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400" b="1" dirty="0" smtClean="0">
                <a:solidFill>
                  <a:srgbClr val="FFFF00"/>
                </a:solidFill>
              </a:rPr>
              <a:t>الوحدة المفاهمية: </a:t>
            </a:r>
            <a:r>
              <a:rPr lang="ar-DZ" sz="2400" b="1" dirty="0" smtClean="0">
                <a:solidFill>
                  <a:schemeClr val="bg1"/>
                </a:solidFill>
              </a:rPr>
              <a:t>تنظيم الوثيقة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4459450" y="3523561"/>
            <a:ext cx="349692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500" b="1" dirty="0" smtClean="0">
                <a:solidFill>
                  <a:srgbClr val="FFFF00"/>
                </a:solidFill>
              </a:rPr>
              <a:t>الحصة التعلمية: </a:t>
            </a:r>
            <a:r>
              <a:rPr lang="ar-DZ" sz="2500" b="1" dirty="0" smtClean="0">
                <a:solidFill>
                  <a:schemeClr val="bg1"/>
                </a:solidFill>
              </a:rPr>
              <a:t>تنظيم الوثيقة</a:t>
            </a:r>
            <a:endParaRPr lang="fr-FR" sz="2500" b="1" dirty="0">
              <a:solidFill>
                <a:srgbClr val="FF0000"/>
              </a:solidFill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5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5" name="Groupe 14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0" name="Image 9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1" name="Image 10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2" name="ZoneTexte 11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ZoneTexte 12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ZoneTexte 13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المستوى:الثاني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6" name="Image 5" descr="3d print business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788024" y="6264696"/>
                <a:ext cx="1440160" cy="620688"/>
              </a:xfrm>
              <a:prstGeom prst="rect">
                <a:avLst/>
              </a:prstGeom>
            </p:spPr>
          </p:pic>
          <p:pic>
            <p:nvPicPr>
              <p:cNvPr id="7" name="Image 6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0" name="ZoneTexte 29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الثاني المتوسط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2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RIDHA\Downloads\صور المعلوماتية\1 (28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6024" y="620689"/>
            <a:ext cx="9612560" cy="561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015313" y="2053165"/>
            <a:ext cx="2073309" cy="408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Shape 856"/>
          <p:cNvSpPr/>
          <p:nvPr/>
        </p:nvSpPr>
        <p:spPr>
          <a:xfrm>
            <a:off x="7320310" y="1943880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2" name="Shape 859"/>
          <p:cNvSpPr/>
          <p:nvPr/>
        </p:nvSpPr>
        <p:spPr>
          <a:xfrm>
            <a:off x="4788023" y="1964926"/>
            <a:ext cx="2520280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5" name="ZoneTexte 54"/>
          <p:cNvSpPr txBox="1"/>
          <p:nvPr/>
        </p:nvSpPr>
        <p:spPr>
          <a:xfrm>
            <a:off x="7308304" y="1988840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1-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5004047" y="1988840"/>
            <a:ext cx="2211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 إدراج فواصل الصفحات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1" name="Shape 856"/>
          <p:cNvSpPr/>
          <p:nvPr/>
        </p:nvSpPr>
        <p:spPr>
          <a:xfrm>
            <a:off x="4223966" y="2284757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2" name="Shape 859"/>
          <p:cNvSpPr/>
          <p:nvPr/>
        </p:nvSpPr>
        <p:spPr>
          <a:xfrm>
            <a:off x="1748767" y="2305803"/>
            <a:ext cx="2463193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3" name="ZoneTexte 72"/>
          <p:cNvSpPr txBox="1"/>
          <p:nvPr/>
        </p:nvSpPr>
        <p:spPr>
          <a:xfrm>
            <a:off x="4190298" y="2305803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2-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2051720" y="2348880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إدراج أرقام الصفحات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45" name="Shape 856"/>
          <p:cNvSpPr/>
          <p:nvPr/>
        </p:nvSpPr>
        <p:spPr>
          <a:xfrm>
            <a:off x="7314455" y="2780928"/>
            <a:ext cx="497905" cy="4961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6" name="Shape 859"/>
          <p:cNvSpPr/>
          <p:nvPr/>
        </p:nvSpPr>
        <p:spPr>
          <a:xfrm>
            <a:off x="4665669" y="2801974"/>
            <a:ext cx="2642635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7" name="ZoneTexte 46"/>
          <p:cNvSpPr txBox="1"/>
          <p:nvPr/>
        </p:nvSpPr>
        <p:spPr>
          <a:xfrm>
            <a:off x="7308304" y="2833912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3-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4767455" y="2812866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إدراج رأس وتذييل الصفحة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90" name="Shape 856"/>
          <p:cNvSpPr/>
          <p:nvPr/>
        </p:nvSpPr>
        <p:spPr>
          <a:xfrm>
            <a:off x="4310896" y="3356992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Shape 859"/>
          <p:cNvSpPr/>
          <p:nvPr/>
        </p:nvSpPr>
        <p:spPr>
          <a:xfrm>
            <a:off x="1331640" y="3378038"/>
            <a:ext cx="2957007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2" name="ZoneTexte 91"/>
          <p:cNvSpPr txBox="1"/>
          <p:nvPr/>
        </p:nvSpPr>
        <p:spPr>
          <a:xfrm>
            <a:off x="4310310" y="3381046"/>
            <a:ext cx="450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4-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93" name="ZoneTexte 92"/>
          <p:cNvSpPr txBox="1"/>
          <p:nvPr/>
        </p:nvSpPr>
        <p:spPr>
          <a:xfrm>
            <a:off x="1346562" y="3394006"/>
            <a:ext cx="281922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1900" b="1" dirty="0" smtClean="0">
                <a:solidFill>
                  <a:schemeClr val="bg1"/>
                </a:solidFill>
              </a:rPr>
              <a:t>إدراج الرموز والعبارات الرياضية</a:t>
            </a:r>
            <a:endParaRPr lang="fr-FR" sz="1900" b="1" dirty="0">
              <a:solidFill>
                <a:schemeClr val="bg1"/>
              </a:solidFill>
            </a:endParaRPr>
          </a:p>
        </p:txBody>
      </p:sp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80" name="Groupe 79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5" name="Image 74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76" name="Image 75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77" name="ZoneTexte 76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8" name="ZoneTexte 77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9" name="ZoneTexte 78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9" name="Image 58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60" name="ZoneTexte 5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ZoneTexte 60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تنظيم الوثيقة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62" name="Image 61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9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4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3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800"/>
                            </p:stCondLst>
                            <p:childTnLst>
                              <p:par>
                                <p:cTn id="7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1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600"/>
                            </p:stCondLst>
                            <p:childTnLst>
                              <p:par>
                                <p:cTn id="8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5" grpId="0"/>
      <p:bldP spid="57" grpId="0"/>
      <p:bldP spid="71" grpId="0" animBg="1"/>
      <p:bldP spid="72" grpId="0" animBg="1"/>
      <p:bldP spid="73" grpId="0"/>
      <p:bldP spid="74" grpId="0"/>
      <p:bldP spid="45" grpId="0" animBg="1"/>
      <p:bldP spid="46" grpId="0" animBg="1"/>
      <p:bldP spid="47" grpId="0"/>
      <p:bldP spid="48" grpId="0"/>
      <p:bldP spid="90" grpId="0" animBg="1"/>
      <p:bldP spid="91" grpId="0" animBg="1"/>
      <p:bldP spid="92" grpId="0"/>
      <p:bldP spid="9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5" name="Image 4" descr="Person-question-2-151x30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6" name="Pensées 5"/>
          <p:cNvSpPr/>
          <p:nvPr/>
        </p:nvSpPr>
        <p:spPr>
          <a:xfrm>
            <a:off x="827584" y="1668870"/>
            <a:ext cx="3528392" cy="1112058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1403648" y="1857018"/>
            <a:ext cx="2736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كيف يمكن تخطي الصفحة دون الوصول إلى نهايتها؟</a:t>
            </a:r>
            <a:endParaRPr lang="fr-FR" sz="2000" b="1" dirty="0">
              <a:ln w="1905"/>
              <a:solidFill>
                <a:srgbClr val="FF66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7" name="Picture 4" descr="C:\Users\RIDHA\Pictures\Image1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55776" y="3655643"/>
            <a:ext cx="1584176" cy="2713903"/>
          </a:xfrm>
          <a:prstGeom prst="rect">
            <a:avLst/>
          </a:prstGeom>
          <a:noFill/>
        </p:spPr>
      </p:pic>
      <p:grpSp>
        <p:nvGrpSpPr>
          <p:cNvPr id="28" name="Groupe 27"/>
          <p:cNvGrpSpPr/>
          <p:nvPr/>
        </p:nvGrpSpPr>
        <p:grpSpPr>
          <a:xfrm>
            <a:off x="3491880" y="2996952"/>
            <a:ext cx="2160240" cy="792088"/>
            <a:chOff x="3563888" y="1268760"/>
            <a:chExt cx="2664296" cy="936104"/>
          </a:xfrm>
        </p:grpSpPr>
        <p:sp>
          <p:nvSpPr>
            <p:cNvPr id="29" name="Pensées 28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31591"/>
                <a:gd name="adj2" fmla="val 1105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8" name="Groupe 7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9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21" name="Rectangle 20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22" name="Groupe 21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4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23" name="Rectangle 22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4" name="Image 13" descr="3-2-blogging-transparent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5" name="Image 14" descr="12-2-education-png-image-thumb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6" name="ZoneTexte 15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ZoneTexte 16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" name="ZoneTexte 17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المستوى:الثاني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10" name="Image 9" descr="3d print business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716016" y="6237312"/>
                <a:ext cx="1440160" cy="620688"/>
              </a:xfrm>
              <a:prstGeom prst="rect">
                <a:avLst/>
              </a:prstGeom>
            </p:spPr>
          </p:pic>
          <p:pic>
            <p:nvPicPr>
              <p:cNvPr id="11" name="Image 10" descr="Microsoft_Word_2013_logo.svg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1" name="ZoneTexte 30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الحصة </a:t>
              </a:r>
              <a:r>
                <a:rPr lang="ar-DZ" sz="2800" b="1" dirty="0" err="1" smtClean="0">
                  <a:solidFill>
                    <a:schemeClr val="bg1"/>
                  </a:solidFill>
                </a:rPr>
                <a:t>التعلمية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ZoneTexte 31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تنظيم الوثيقة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3" name="Image 32" descr="11-2-animation-png-hd-thumb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 flipH="1">
            <a:off x="6948264" y="3102385"/>
            <a:ext cx="3096344" cy="3096344"/>
          </a:xfrm>
          <a:prstGeom prst="rect">
            <a:avLst/>
          </a:prstGeom>
        </p:spPr>
      </p:pic>
      <p:grpSp>
        <p:nvGrpSpPr>
          <p:cNvPr id="34" name="Group 77"/>
          <p:cNvGrpSpPr/>
          <p:nvPr/>
        </p:nvGrpSpPr>
        <p:grpSpPr>
          <a:xfrm rot="20503916">
            <a:off x="5754908" y="1474161"/>
            <a:ext cx="2304318" cy="3323489"/>
            <a:chOff x="914400" y="1122362"/>
            <a:chExt cx="2080267" cy="3507909"/>
          </a:xfrm>
        </p:grpSpPr>
        <p:sp>
          <p:nvSpPr>
            <p:cNvPr id="35" name="Freeform 6"/>
            <p:cNvSpPr>
              <a:spLocks/>
            </p:cNvSpPr>
            <p:nvPr/>
          </p:nvSpPr>
          <p:spPr bwMode="auto">
            <a:xfrm>
              <a:off x="1259207" y="4208782"/>
              <a:ext cx="1197680" cy="421489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8" name="ZoneTexte 37"/>
          <p:cNvSpPr txBox="1"/>
          <p:nvPr/>
        </p:nvSpPr>
        <p:spPr>
          <a:xfrm rot="20502721">
            <a:off x="5714687" y="1476102"/>
            <a:ext cx="2179028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1900" b="1" dirty="0">
                <a:solidFill>
                  <a:schemeClr val="bg1"/>
                </a:solidFill>
              </a:rPr>
              <a:t>أثناء الكتابة </a:t>
            </a:r>
            <a:r>
              <a:rPr lang="ar-DZ" sz="1900" b="1" dirty="0" smtClean="0">
                <a:solidFill>
                  <a:schemeClr val="bg1"/>
                </a:solidFill>
              </a:rPr>
              <a:t>في معالج النصوص </a:t>
            </a:r>
            <a:r>
              <a:rPr lang="fr-FR" sz="1900" b="1" dirty="0" smtClean="0">
                <a:solidFill>
                  <a:schemeClr val="bg1"/>
                </a:solidFill>
              </a:rPr>
              <a:t>MS Word </a:t>
            </a:r>
            <a:r>
              <a:rPr lang="ar-DZ" sz="1900" b="1" dirty="0" smtClean="0">
                <a:solidFill>
                  <a:schemeClr val="bg1"/>
                </a:solidFill>
              </a:rPr>
              <a:t>يتم إضافة </a:t>
            </a:r>
            <a:r>
              <a:rPr lang="ar-DZ" sz="1900" b="1" dirty="0">
                <a:solidFill>
                  <a:schemeClr val="bg1"/>
                </a:solidFill>
              </a:rPr>
              <a:t>صفحة </a:t>
            </a:r>
            <a:r>
              <a:rPr lang="ar-DZ" sz="1900" b="1" dirty="0" smtClean="0">
                <a:solidFill>
                  <a:schemeClr val="bg1"/>
                </a:solidFill>
              </a:rPr>
              <a:t>جديدة تلقائيا </a:t>
            </a:r>
            <a:r>
              <a:rPr lang="ar-DZ" sz="1900" b="1" dirty="0">
                <a:solidFill>
                  <a:schemeClr val="bg1"/>
                </a:solidFill>
              </a:rPr>
              <a:t>عندما تصل إلى نهاية كل </a:t>
            </a:r>
            <a:r>
              <a:rPr lang="ar-DZ" sz="1900" b="1" dirty="0" smtClean="0">
                <a:solidFill>
                  <a:schemeClr val="bg1"/>
                </a:solidFill>
              </a:rPr>
              <a:t>صفحة. لكن يمكنك تخطي الصفحة في أي مكان يناسبك دون الوصول إلى نهايتها والإنتقال لصفحة جديدة.</a:t>
            </a:r>
            <a:endParaRPr lang="ar-DZ" sz="19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7" dur="17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8" dur="17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36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6" name="Groupe 195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32" name="Image 31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33" name="Image 32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34" name="ZoneTexte 33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5" name="ZoneTexte 34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6" name="ZoneTexte 35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2" name="Image 51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4" name="ZoneTexte 5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ZoneTexte 54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تنظيم الوثيقة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7" name="Image 56" descr="Microsoft_Word_2013_logo.svg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sp>
        <p:nvSpPr>
          <p:cNvPr id="56" name="Shape 856"/>
          <p:cNvSpPr/>
          <p:nvPr/>
        </p:nvSpPr>
        <p:spPr>
          <a:xfrm>
            <a:off x="8316416" y="72579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8" name="Shape 859"/>
          <p:cNvSpPr/>
          <p:nvPr/>
        </p:nvSpPr>
        <p:spPr>
          <a:xfrm>
            <a:off x="4828802" y="753426"/>
            <a:ext cx="3436175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ZoneTexte 58"/>
          <p:cNvSpPr txBox="1"/>
          <p:nvPr/>
        </p:nvSpPr>
        <p:spPr>
          <a:xfrm>
            <a:off x="8316416" y="725794"/>
            <a:ext cx="53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1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0" name="ZoneTexte 59"/>
          <p:cNvSpPr txBox="1"/>
          <p:nvPr/>
        </p:nvSpPr>
        <p:spPr>
          <a:xfrm>
            <a:off x="4934718" y="764704"/>
            <a:ext cx="309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/>
            <a:r>
              <a:rPr lang="ar-DZ" sz="2400" b="1" dirty="0" smtClean="0">
                <a:solidFill>
                  <a:srgbClr val="FFFF00"/>
                </a:solidFill>
              </a:rPr>
              <a:t> إدراج فواصل الصفحات :  </a:t>
            </a:r>
            <a:endParaRPr lang="en-US" sz="2400" b="1" dirty="0" smtClean="0">
              <a:solidFill>
                <a:srgbClr val="FFFF00"/>
              </a:solidFill>
            </a:endParaRPr>
          </a:p>
        </p:txBody>
      </p:sp>
      <p:sp>
        <p:nvSpPr>
          <p:cNvPr id="61" name="Rectangle 52"/>
          <p:cNvSpPr>
            <a:spLocks noChangeArrowheads="1"/>
          </p:cNvSpPr>
          <p:nvPr/>
        </p:nvSpPr>
        <p:spPr bwMode="auto">
          <a:xfrm>
            <a:off x="8055193" y="2852936"/>
            <a:ext cx="613569" cy="201622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2" name="Group 64"/>
          <p:cNvGrpSpPr/>
          <p:nvPr/>
        </p:nvGrpSpPr>
        <p:grpSpPr>
          <a:xfrm>
            <a:off x="4934718" y="3068960"/>
            <a:ext cx="3741738" cy="738843"/>
            <a:chOff x="-148675" y="1693797"/>
            <a:chExt cx="3741738" cy="1026832"/>
          </a:xfrm>
        </p:grpSpPr>
        <p:sp>
          <p:nvSpPr>
            <p:cNvPr id="63" name="Freeform 9"/>
            <p:cNvSpPr>
              <a:spLocks/>
            </p:cNvSpPr>
            <p:nvPr/>
          </p:nvSpPr>
          <p:spPr bwMode="auto">
            <a:xfrm flipH="1">
              <a:off x="-148675" y="1943390"/>
              <a:ext cx="3118104" cy="77723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6" name="TextBox 68"/>
          <p:cNvSpPr txBox="1"/>
          <p:nvPr/>
        </p:nvSpPr>
        <p:spPr>
          <a:xfrm>
            <a:off x="5254013" y="3347700"/>
            <a:ext cx="2414331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400" b="1" dirty="0">
                <a:solidFill>
                  <a:schemeClr val="bg1"/>
                </a:solidFill>
              </a:rPr>
              <a:t>التبويب </a:t>
            </a:r>
            <a:r>
              <a:rPr lang="fr-FR" sz="2400" b="1" dirty="0" smtClean="0">
                <a:solidFill>
                  <a:schemeClr val="bg1"/>
                </a:solidFill>
              </a:rPr>
              <a:t>Insertion</a:t>
            </a:r>
            <a:r>
              <a:rPr lang="ar-DZ" sz="2400" b="1" dirty="0" smtClean="0">
                <a:solidFill>
                  <a:schemeClr val="bg1"/>
                </a:solidFill>
              </a:rPr>
              <a:t>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7" name="TextBox 82"/>
          <p:cNvSpPr txBox="1"/>
          <p:nvPr/>
        </p:nvSpPr>
        <p:spPr>
          <a:xfrm>
            <a:off x="8082137" y="2996952"/>
            <a:ext cx="279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-</a:t>
            </a:r>
            <a:endParaRPr lang="en-US" sz="2800" b="1" dirty="0">
              <a:solidFill>
                <a:schemeClr val="bg1"/>
              </a:solidFill>
            </a:endParaRPr>
          </a:p>
        </p:txBody>
      </p:sp>
      <p:grpSp>
        <p:nvGrpSpPr>
          <p:cNvPr id="68" name="Group 64"/>
          <p:cNvGrpSpPr/>
          <p:nvPr/>
        </p:nvGrpSpPr>
        <p:grpSpPr>
          <a:xfrm>
            <a:off x="4934718" y="3912329"/>
            <a:ext cx="3741738" cy="668799"/>
            <a:chOff x="-148675" y="1693797"/>
            <a:chExt cx="3741738" cy="1026832"/>
          </a:xfrm>
        </p:grpSpPr>
        <p:sp>
          <p:nvSpPr>
            <p:cNvPr id="69" name="Freeform 9"/>
            <p:cNvSpPr>
              <a:spLocks/>
            </p:cNvSpPr>
            <p:nvPr/>
          </p:nvSpPr>
          <p:spPr bwMode="auto">
            <a:xfrm flipH="1">
              <a:off x="-148675" y="1943390"/>
              <a:ext cx="3118104" cy="777239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2" name="TextBox 68"/>
          <p:cNvSpPr txBox="1"/>
          <p:nvPr/>
        </p:nvSpPr>
        <p:spPr>
          <a:xfrm>
            <a:off x="5254013" y="4139788"/>
            <a:ext cx="2414331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400" b="1" dirty="0">
                <a:solidFill>
                  <a:schemeClr val="bg1"/>
                </a:solidFill>
              </a:rPr>
              <a:t>الأداة </a:t>
            </a:r>
            <a:r>
              <a:rPr lang="fr-FR" sz="2400" b="1" dirty="0" smtClean="0">
                <a:solidFill>
                  <a:schemeClr val="bg1"/>
                </a:solidFill>
              </a:rPr>
              <a:t>Saut de page</a:t>
            </a:r>
            <a:r>
              <a:rPr lang="ar-DZ" sz="2400" b="1" dirty="0" smtClean="0">
                <a:solidFill>
                  <a:schemeClr val="bg1"/>
                </a:solidFill>
              </a:rPr>
              <a:t>.</a:t>
            </a:r>
            <a:endParaRPr lang="fr-FR" sz="24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73" name="TextBox 82"/>
          <p:cNvSpPr txBox="1"/>
          <p:nvPr/>
        </p:nvSpPr>
        <p:spPr>
          <a:xfrm>
            <a:off x="8082137" y="3819996"/>
            <a:ext cx="279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-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80" name="ZoneTexte 79"/>
          <p:cNvSpPr txBox="1"/>
          <p:nvPr/>
        </p:nvSpPr>
        <p:spPr>
          <a:xfrm>
            <a:off x="180343" y="796642"/>
            <a:ext cx="467968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rtl="1"/>
            <a:r>
              <a:rPr lang="ar-DZ" sz="2100" b="1" dirty="0" smtClean="0">
                <a:solidFill>
                  <a:schemeClr val="bg1"/>
                </a:solidFill>
              </a:rPr>
              <a:t> </a:t>
            </a:r>
            <a:endParaRPr lang="en-US" sz="2100" b="1" dirty="0" smtClean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4622" y="1496978"/>
            <a:ext cx="79017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أثناء الكتابة في </a:t>
            </a:r>
            <a:r>
              <a:rPr lang="fr-FR" sz="2400" b="1" dirty="0">
                <a:solidFill>
                  <a:schemeClr val="bg1"/>
                </a:solidFill>
                <a:latin typeface="Times New Roman"/>
                <a:ea typeface="Times New Roman"/>
              </a:rPr>
              <a:t> Word</a:t>
            </a:r>
            <a:r>
              <a:rPr lang="ar-DZ" sz="24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يتم إدراج فواصل الصفحات تلقائيا عندما تصل إلى نهاية كل صفحة ويمكنك فصل الصفحات يدويا في أي مكان يناسبك للحصول على صفحة جديدة وذلك</a:t>
            </a:r>
            <a:r>
              <a:rPr lang="ar-DZ" sz="2400" b="1" dirty="0">
                <a:solidFill>
                  <a:schemeClr val="bg1"/>
                </a:solidFill>
                <a:latin typeface="Times New Roman"/>
                <a:ea typeface="Times New Roman"/>
              </a:rPr>
              <a:t> بالنقر على: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53" name="Group 60"/>
          <p:cNvGrpSpPr>
            <a:grpSpLocks/>
          </p:cNvGrpSpPr>
          <p:nvPr/>
        </p:nvGrpSpPr>
        <p:grpSpPr bwMode="auto">
          <a:xfrm flipH="1">
            <a:off x="8298021" y="1582198"/>
            <a:ext cx="192383" cy="190618"/>
            <a:chOff x="2078" y="1680"/>
            <a:chExt cx="1615" cy="1615"/>
          </a:xfrm>
        </p:grpSpPr>
        <p:sp>
          <p:nvSpPr>
            <p:cNvPr id="82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3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4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85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86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87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 animBg="1"/>
      <p:bldP spid="59" grpId="0"/>
      <p:bldP spid="60" grpId="0"/>
      <p:bldP spid="61" grpId="0" animBg="1"/>
      <p:bldP spid="66" grpId="0"/>
      <p:bldP spid="67" grpId="0"/>
      <p:bldP spid="72" grpId="0"/>
      <p:bldP spid="73" grpId="0"/>
      <p:bldP spid="80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899592" y="1756847"/>
            <a:ext cx="3528392" cy="1504356"/>
          </a:xfrm>
          <a:prstGeom prst="cloudCallout">
            <a:avLst>
              <a:gd name="adj1" fmla="val -41968"/>
              <a:gd name="adj2" fmla="val 82041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612576" y="3429000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1115616" y="2308970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كيف يتم 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إدراج ترقيم للصفحات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؟ </a:t>
            </a:r>
            <a:endParaRPr lang="ar-DZ" sz="20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grpSp>
        <p:nvGrpSpPr>
          <p:cNvPr id="20" name="Groupe 19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32" name="Image 31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3" name="ZoneTexte 3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ZoneTexte 34"/>
              <p:cNvSpPr txBox="1"/>
              <p:nvPr/>
            </p:nvSpPr>
            <p:spPr>
              <a:xfrm>
                <a:off x="2699792" y="44624"/>
                <a:ext cx="23042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 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7" name="Image 36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pic>
        <p:nvPicPr>
          <p:cNvPr id="25" name="Image 24" descr="11-2-animation-png-hd-thumb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flipH="1">
            <a:off x="6156176" y="3140968"/>
            <a:ext cx="3096344" cy="3096344"/>
          </a:xfrm>
          <a:prstGeom prst="rect">
            <a:avLst/>
          </a:prstGeom>
        </p:spPr>
      </p:pic>
      <p:grpSp>
        <p:nvGrpSpPr>
          <p:cNvPr id="26" name="Group 77"/>
          <p:cNvGrpSpPr/>
          <p:nvPr/>
        </p:nvGrpSpPr>
        <p:grpSpPr>
          <a:xfrm rot="20503916">
            <a:off x="5087886" y="2290603"/>
            <a:ext cx="2304318" cy="2525521"/>
            <a:chOff x="914400" y="1122362"/>
            <a:chExt cx="2080267" cy="3507909"/>
          </a:xfrm>
        </p:grpSpPr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1259207" y="4208782"/>
              <a:ext cx="1197680" cy="421489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4" name="ZoneTexte 33"/>
          <p:cNvSpPr txBox="1"/>
          <p:nvPr/>
        </p:nvSpPr>
        <p:spPr>
          <a:xfrm rot="20502721">
            <a:off x="5024951" y="2586970"/>
            <a:ext cx="21790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200" b="1" dirty="0" smtClean="0">
                <a:solidFill>
                  <a:schemeClr val="bg1"/>
                </a:solidFill>
              </a:rPr>
              <a:t>يعتبر ترقيم الصفحات أمر مهم في تنظيم الوثيقة.</a:t>
            </a:r>
            <a:endParaRPr lang="fr-FR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7" dur="17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8" dur="17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25" name="Groupe 2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4" name="Groupe 2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49" name="Image 48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0" name="ZoneTexte 4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ZoneTexte 50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تنظيم الوثيقة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 52" descr="Microsoft_Word_2013_logo.svg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grpSp>
        <p:nvGrpSpPr>
          <p:cNvPr id="69" name="Group 104"/>
          <p:cNvGrpSpPr/>
          <p:nvPr/>
        </p:nvGrpSpPr>
        <p:grpSpPr>
          <a:xfrm>
            <a:off x="4788024" y="2212588"/>
            <a:ext cx="3663630" cy="712356"/>
            <a:chOff x="844389" y="1173645"/>
            <a:chExt cx="3515441" cy="1114425"/>
          </a:xfrm>
        </p:grpSpPr>
        <p:sp>
          <p:nvSpPr>
            <p:cNvPr id="76" name="Rectangle 75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/>
            <p:cNvSpPr/>
            <p:nvPr/>
          </p:nvSpPr>
          <p:spPr>
            <a:xfrm flipH="1">
              <a:off x="844389" y="1373670"/>
              <a:ext cx="2740739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ectangle 79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81" name="Group 118"/>
          <p:cNvGrpSpPr/>
          <p:nvPr/>
        </p:nvGrpSpPr>
        <p:grpSpPr>
          <a:xfrm>
            <a:off x="3491880" y="3165738"/>
            <a:ext cx="4968552" cy="695310"/>
            <a:chOff x="-308701" y="2392845"/>
            <a:chExt cx="4668531" cy="1114425"/>
          </a:xfrm>
        </p:grpSpPr>
        <p:sp>
          <p:nvSpPr>
            <p:cNvPr id="83" name="Rectangle 82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 flipH="1">
              <a:off x="-308701" y="2592870"/>
              <a:ext cx="3893831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96" name="Group 132"/>
          <p:cNvGrpSpPr/>
          <p:nvPr/>
        </p:nvGrpSpPr>
        <p:grpSpPr>
          <a:xfrm>
            <a:off x="107504" y="4077072"/>
            <a:ext cx="8358095" cy="936528"/>
            <a:chOff x="-3522647" y="3612045"/>
            <a:chExt cx="7882477" cy="1114425"/>
          </a:xfrm>
        </p:grpSpPr>
        <p:sp>
          <p:nvSpPr>
            <p:cNvPr id="97" name="Rectangle 96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 flipH="1">
              <a:off x="-3522647" y="3812070"/>
              <a:ext cx="7107779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7724743" y="227687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7738688" y="326468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5" name="Rectangle 104"/>
          <p:cNvSpPr/>
          <p:nvPr/>
        </p:nvSpPr>
        <p:spPr>
          <a:xfrm>
            <a:off x="7738391" y="422151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6" name="Rectangle 105"/>
          <p:cNvSpPr/>
          <p:nvPr/>
        </p:nvSpPr>
        <p:spPr>
          <a:xfrm>
            <a:off x="4374451" y="3345984"/>
            <a:ext cx="29507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400" b="1" dirty="0" smtClean="0">
                <a:solidFill>
                  <a:schemeClr val="bg1"/>
                </a:solidFill>
              </a:rPr>
              <a:t>الأداة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fr-FR" sz="2400" b="1" dirty="0" smtClean="0">
                <a:solidFill>
                  <a:schemeClr val="bg1"/>
                </a:solidFill>
              </a:rPr>
              <a:t>Numéro de page 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89" name="Shape 856"/>
          <p:cNvSpPr/>
          <p:nvPr/>
        </p:nvSpPr>
        <p:spPr>
          <a:xfrm>
            <a:off x="8274185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0" name="Shape 859"/>
          <p:cNvSpPr/>
          <p:nvPr/>
        </p:nvSpPr>
        <p:spPr>
          <a:xfrm>
            <a:off x="4031939" y="720328"/>
            <a:ext cx="4190807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ZoneTexte 90"/>
          <p:cNvSpPr txBox="1"/>
          <p:nvPr/>
        </p:nvSpPr>
        <p:spPr>
          <a:xfrm>
            <a:off x="8274185" y="692696"/>
            <a:ext cx="54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2-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2" name="ZoneTexte 91"/>
          <p:cNvSpPr txBox="1"/>
          <p:nvPr/>
        </p:nvSpPr>
        <p:spPr>
          <a:xfrm>
            <a:off x="4283968" y="735087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إدراج أرقام الصفحات: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93" name="Group 60"/>
          <p:cNvGrpSpPr>
            <a:grpSpLocks/>
          </p:cNvGrpSpPr>
          <p:nvPr/>
        </p:nvGrpSpPr>
        <p:grpSpPr bwMode="auto">
          <a:xfrm flipH="1">
            <a:off x="8298021" y="1582198"/>
            <a:ext cx="192383" cy="190618"/>
            <a:chOff x="2078" y="1680"/>
            <a:chExt cx="1615" cy="1615"/>
          </a:xfrm>
        </p:grpSpPr>
        <p:sp>
          <p:nvSpPr>
            <p:cNvPr id="95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7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8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09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10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11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2" name="Rectangle 1"/>
          <p:cNvSpPr/>
          <p:nvPr/>
        </p:nvSpPr>
        <p:spPr>
          <a:xfrm>
            <a:off x="2148829" y="1446733"/>
            <a:ext cx="60955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400" b="1" dirty="0">
                <a:solidFill>
                  <a:schemeClr val="bg1"/>
                </a:solidFill>
                <a:ea typeface="Times New Roman"/>
                <a:cs typeface="Times New Roman"/>
              </a:rPr>
              <a:t>يتيح برنامج </a:t>
            </a:r>
            <a:r>
              <a:rPr lang="fr-FR" sz="2400" b="1" dirty="0">
                <a:solidFill>
                  <a:schemeClr val="bg1"/>
                </a:solidFill>
                <a:latin typeface="Times New Roman"/>
                <a:ea typeface="Times New Roman"/>
              </a:rPr>
              <a:t>Word </a:t>
            </a:r>
            <a:r>
              <a:rPr lang="ar-DZ" sz="2400" b="1" dirty="0">
                <a:solidFill>
                  <a:schemeClr val="bg1"/>
                </a:solidFill>
                <a:latin typeface="Times New Roman"/>
                <a:ea typeface="Times New Roman"/>
              </a:rPr>
              <a:t> ترقيم الصفحات آليا وذلك </a:t>
            </a:r>
            <a:r>
              <a:rPr lang="ar-DZ" sz="2400" b="1" dirty="0">
                <a:solidFill>
                  <a:schemeClr val="bg1"/>
                </a:solidFill>
                <a:ea typeface="Times New Roman"/>
                <a:cs typeface="Times New Roman"/>
              </a:rPr>
              <a:t>بالنقر على: 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12" name="TextBox 68"/>
          <p:cNvSpPr txBox="1"/>
          <p:nvPr/>
        </p:nvSpPr>
        <p:spPr>
          <a:xfrm>
            <a:off x="4850697" y="2445084"/>
            <a:ext cx="2414331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400" b="1" dirty="0">
                <a:solidFill>
                  <a:schemeClr val="bg1"/>
                </a:solidFill>
              </a:rPr>
              <a:t>التبويب </a:t>
            </a:r>
            <a:r>
              <a:rPr lang="fr-FR" sz="2400" b="1" dirty="0" smtClean="0">
                <a:solidFill>
                  <a:schemeClr val="bg1"/>
                </a:solidFill>
              </a:rPr>
              <a:t>Insertion</a:t>
            </a:r>
            <a:r>
              <a:rPr lang="ar-DZ" sz="2400" b="1" dirty="0" smtClean="0">
                <a:solidFill>
                  <a:schemeClr val="bg1"/>
                </a:solidFill>
              </a:rPr>
              <a:t>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1520" y="4233706"/>
            <a:ext cx="701624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نختار  مكان الترقيم  في الأعلى أو في الأسفل أو في الهوامش أو نقوم بحذف الترقيم </a:t>
            </a:r>
            <a:r>
              <a:rPr lang="fr-FR" sz="2000" b="1" dirty="0">
                <a:solidFill>
                  <a:schemeClr val="bg1"/>
                </a:solidFill>
              </a:rPr>
              <a:t>(supprimer les numéros de page)</a:t>
            </a:r>
            <a:r>
              <a:rPr lang="ar-DZ" sz="2000" b="1" dirty="0">
                <a:solidFill>
                  <a:schemeClr val="bg1"/>
                </a:solidFill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6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1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6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1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6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1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6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4" grpId="0"/>
      <p:bldP spid="105" grpId="0"/>
      <p:bldP spid="106" grpId="0"/>
      <p:bldP spid="89" grpId="0" animBg="1"/>
      <p:bldP spid="90" grpId="0" animBg="1"/>
      <p:bldP spid="91" grpId="0"/>
      <p:bldP spid="92" grpId="0"/>
      <p:bldP spid="2" grpId="0"/>
      <p:bldP spid="112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179512" y="1124744"/>
            <a:ext cx="6876764" cy="1872208"/>
          </a:xfrm>
          <a:prstGeom prst="cloudCallout">
            <a:avLst>
              <a:gd name="adj1" fmla="val -36737"/>
              <a:gd name="adj2" fmla="val 86765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56592" y="3284984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611560" y="1688614"/>
            <a:ext cx="5724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كيف يمكن إدراج رأس الصفحة لكتابة عنوان الوثيقة في أعلاها؟</a:t>
            </a:r>
          </a:p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وكيف يمكنك إدراج تذييل الصفحة لكتابة إسم المؤسسة في أسفلها؟ 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ar-DZ" sz="20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grpSp>
        <p:nvGrpSpPr>
          <p:cNvPr id="20" name="Groupe 19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32" name="Image 31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3" name="ZoneTexte 3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ZoneTexte 34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7" name="Image 36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678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20" name="Groupe 19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73" name="Image 72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74" name="ZoneTexte 7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ZoneTexte 74"/>
              <p:cNvSpPr txBox="1"/>
              <p:nvPr/>
            </p:nvSpPr>
            <p:spPr>
              <a:xfrm>
                <a:off x="2771800" y="44624"/>
                <a:ext cx="22322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تنظيم الوثيقة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76" name="Image 75" descr="Microsoft_Word_2013_logo.svg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58" name="Shape 856"/>
          <p:cNvSpPr/>
          <p:nvPr/>
        </p:nvSpPr>
        <p:spPr>
          <a:xfrm>
            <a:off x="8244408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Shape 859"/>
          <p:cNvSpPr/>
          <p:nvPr/>
        </p:nvSpPr>
        <p:spPr>
          <a:xfrm>
            <a:off x="3887924" y="720328"/>
            <a:ext cx="4305045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0" name="ZoneTexte 59"/>
          <p:cNvSpPr txBox="1"/>
          <p:nvPr/>
        </p:nvSpPr>
        <p:spPr>
          <a:xfrm>
            <a:off x="8285910" y="720328"/>
            <a:ext cx="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3-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1" name="ZoneTexte 60"/>
          <p:cNvSpPr txBox="1"/>
          <p:nvPr/>
        </p:nvSpPr>
        <p:spPr>
          <a:xfrm>
            <a:off x="4031940" y="745540"/>
            <a:ext cx="4068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إدراج </a:t>
            </a:r>
            <a:r>
              <a:rPr lang="ar-DZ" sz="2400" b="1" dirty="0" smtClean="0">
                <a:solidFill>
                  <a:srgbClr val="FFFF00"/>
                </a:solidFill>
              </a:rPr>
              <a:t> </a:t>
            </a:r>
            <a:r>
              <a:rPr lang="ar-DZ" sz="2400" b="1" dirty="0" smtClean="0">
                <a:solidFill>
                  <a:srgbClr val="FFFF00"/>
                </a:solidFill>
              </a:rPr>
              <a:t>رأس وتذييل الصفحة: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62" name="Group 60"/>
          <p:cNvGrpSpPr>
            <a:grpSpLocks/>
          </p:cNvGrpSpPr>
          <p:nvPr/>
        </p:nvGrpSpPr>
        <p:grpSpPr bwMode="auto">
          <a:xfrm flipH="1">
            <a:off x="8298021" y="1582198"/>
            <a:ext cx="192383" cy="190618"/>
            <a:chOff x="2078" y="1680"/>
            <a:chExt cx="1615" cy="1615"/>
          </a:xfrm>
        </p:grpSpPr>
        <p:sp>
          <p:nvSpPr>
            <p:cNvPr id="63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4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5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66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67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68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323529" y="1412776"/>
            <a:ext cx="79928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رأس وتذييل الصفحة يستخدم لكتابة نص ما في أعلى او أسفل الصفحة ثم يقوم برنامج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Word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بعرضه في جميع الصفحات.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71" name="Groupe 70"/>
          <p:cNvGrpSpPr/>
          <p:nvPr/>
        </p:nvGrpSpPr>
        <p:grpSpPr>
          <a:xfrm>
            <a:off x="5487764" y="2120662"/>
            <a:ext cx="2972668" cy="576064"/>
            <a:chOff x="5004048" y="2348880"/>
            <a:chExt cx="2972668" cy="576064"/>
          </a:xfrm>
        </p:grpSpPr>
        <p:grpSp>
          <p:nvGrpSpPr>
            <p:cNvPr id="72" name="Groupe 58"/>
            <p:cNvGrpSpPr/>
            <p:nvPr/>
          </p:nvGrpSpPr>
          <p:grpSpPr>
            <a:xfrm>
              <a:off x="5004048" y="2348880"/>
              <a:ext cx="2972668" cy="504056"/>
              <a:chOff x="5004048" y="2852936"/>
              <a:chExt cx="2972668" cy="576064"/>
            </a:xfrm>
          </p:grpSpPr>
          <p:sp>
            <p:nvSpPr>
              <p:cNvPr id="78" name="Notched Right Arrow 54"/>
              <p:cNvSpPr/>
              <p:nvPr/>
            </p:nvSpPr>
            <p:spPr>
              <a:xfrm flipH="1">
                <a:off x="5004048" y="3008511"/>
                <a:ext cx="297266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1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92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أ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77" name="ZoneTexte 76"/>
            <p:cNvSpPr txBox="1"/>
            <p:nvPr/>
          </p:nvSpPr>
          <p:spPr>
            <a:xfrm>
              <a:off x="5292080" y="2494057"/>
              <a:ext cx="21602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200" b="1" dirty="0" smtClean="0">
                  <a:solidFill>
                    <a:srgbClr val="FFFF00"/>
                  </a:solidFill>
                </a:rPr>
                <a:t>رأس الصفحة: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94" name="Group 104"/>
          <p:cNvGrpSpPr/>
          <p:nvPr/>
        </p:nvGrpSpPr>
        <p:grpSpPr>
          <a:xfrm>
            <a:off x="5137878" y="2805359"/>
            <a:ext cx="3380616" cy="527690"/>
            <a:chOff x="1115955" y="1173645"/>
            <a:chExt cx="3243875" cy="1114425"/>
          </a:xfrm>
        </p:grpSpPr>
        <p:sp>
          <p:nvSpPr>
            <p:cNvPr id="95" name="Rectangle 94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 flipH="1">
              <a:off x="1115955" y="1373671"/>
              <a:ext cx="2469173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00" name="Group 118"/>
          <p:cNvGrpSpPr/>
          <p:nvPr/>
        </p:nvGrpSpPr>
        <p:grpSpPr>
          <a:xfrm>
            <a:off x="5137877" y="3405057"/>
            <a:ext cx="3389396" cy="515063"/>
            <a:chOff x="1175099" y="2392845"/>
            <a:chExt cx="3184731" cy="1114425"/>
          </a:xfrm>
        </p:grpSpPr>
        <p:sp>
          <p:nvSpPr>
            <p:cNvPr id="103" name="Rectangle 102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 flipH="1">
              <a:off x="1175099" y="2592870"/>
              <a:ext cx="241003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09" name="Group 132"/>
          <p:cNvGrpSpPr/>
          <p:nvPr/>
        </p:nvGrpSpPr>
        <p:grpSpPr>
          <a:xfrm>
            <a:off x="234192" y="3111298"/>
            <a:ext cx="4086911" cy="533726"/>
            <a:chOff x="437908" y="3612045"/>
            <a:chExt cx="3921922" cy="1114425"/>
          </a:xfrm>
        </p:grpSpPr>
        <p:sp>
          <p:nvSpPr>
            <p:cNvPr id="110" name="Rectangle 109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Rectangle 127"/>
            <p:cNvSpPr/>
            <p:nvPr/>
          </p:nvSpPr>
          <p:spPr>
            <a:xfrm flipH="1">
              <a:off x="437908" y="3812070"/>
              <a:ext cx="3147224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Rectangle 129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35" name="Rectangle 134"/>
          <p:cNvSpPr/>
          <p:nvPr/>
        </p:nvSpPr>
        <p:spPr>
          <a:xfrm>
            <a:off x="7791584" y="283021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6" name="Rectangle 135"/>
          <p:cNvSpPr/>
          <p:nvPr/>
        </p:nvSpPr>
        <p:spPr>
          <a:xfrm>
            <a:off x="7805529" y="3405057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7" name="Rectangle 136"/>
          <p:cNvSpPr/>
          <p:nvPr/>
        </p:nvSpPr>
        <p:spPr>
          <a:xfrm>
            <a:off x="3593895" y="313167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140" name="Groupe 139"/>
          <p:cNvGrpSpPr/>
          <p:nvPr/>
        </p:nvGrpSpPr>
        <p:grpSpPr>
          <a:xfrm>
            <a:off x="5490724" y="4055282"/>
            <a:ext cx="2972668" cy="576064"/>
            <a:chOff x="5004048" y="2348880"/>
            <a:chExt cx="2972668" cy="576064"/>
          </a:xfrm>
        </p:grpSpPr>
        <p:grpSp>
          <p:nvGrpSpPr>
            <p:cNvPr id="141" name="Groupe 58"/>
            <p:cNvGrpSpPr/>
            <p:nvPr/>
          </p:nvGrpSpPr>
          <p:grpSpPr>
            <a:xfrm>
              <a:off x="5004048" y="2348880"/>
              <a:ext cx="2972668" cy="504056"/>
              <a:chOff x="5004048" y="2852936"/>
              <a:chExt cx="2972668" cy="576064"/>
            </a:xfrm>
          </p:grpSpPr>
          <p:sp>
            <p:nvSpPr>
              <p:cNvPr id="143" name="Notched Right Arrow 54"/>
              <p:cNvSpPr/>
              <p:nvPr/>
            </p:nvSpPr>
            <p:spPr>
              <a:xfrm flipH="1">
                <a:off x="5004048" y="3008511"/>
                <a:ext cx="297266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4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145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" name="Rectangle 145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ب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142" name="ZoneTexte 141"/>
            <p:cNvSpPr txBox="1"/>
            <p:nvPr/>
          </p:nvSpPr>
          <p:spPr>
            <a:xfrm>
              <a:off x="5292080" y="2494057"/>
              <a:ext cx="21602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200" b="1" dirty="0" smtClean="0">
                  <a:solidFill>
                    <a:srgbClr val="FFFF00"/>
                  </a:solidFill>
                </a:rPr>
                <a:t>تذييل الصفحة: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47" name="Group 104"/>
          <p:cNvGrpSpPr/>
          <p:nvPr/>
        </p:nvGrpSpPr>
        <p:grpSpPr>
          <a:xfrm>
            <a:off x="5148064" y="5493598"/>
            <a:ext cx="3359961" cy="527690"/>
            <a:chOff x="1135774" y="1173645"/>
            <a:chExt cx="3224056" cy="1114425"/>
          </a:xfrm>
        </p:grpSpPr>
        <p:sp>
          <p:nvSpPr>
            <p:cNvPr id="148" name="Rectangle 147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Rectangle 149"/>
            <p:cNvSpPr/>
            <p:nvPr/>
          </p:nvSpPr>
          <p:spPr>
            <a:xfrm flipH="1">
              <a:off x="1135774" y="1373671"/>
              <a:ext cx="244934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Rectangle 151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53" name="Group 118"/>
          <p:cNvGrpSpPr/>
          <p:nvPr/>
        </p:nvGrpSpPr>
        <p:grpSpPr>
          <a:xfrm>
            <a:off x="234192" y="5229200"/>
            <a:ext cx="4087620" cy="515063"/>
            <a:chOff x="519037" y="2392845"/>
            <a:chExt cx="3840793" cy="1114425"/>
          </a:xfrm>
        </p:grpSpPr>
        <p:sp>
          <p:nvSpPr>
            <p:cNvPr id="154" name="Rectangle 153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Rectangle 155"/>
            <p:cNvSpPr/>
            <p:nvPr/>
          </p:nvSpPr>
          <p:spPr>
            <a:xfrm flipH="1">
              <a:off x="519037" y="2592870"/>
              <a:ext cx="3066092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Rectangle 157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59" name="Rectangle 158"/>
          <p:cNvSpPr/>
          <p:nvPr/>
        </p:nvSpPr>
        <p:spPr>
          <a:xfrm>
            <a:off x="5172480" y="5599757"/>
            <a:ext cx="2216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cs typeface="Times New Roman"/>
              </a:rPr>
              <a:t>الأداة </a:t>
            </a:r>
            <a:r>
              <a:rPr lang="en-US" sz="2000" b="1" dirty="0" smtClean="0">
                <a:solidFill>
                  <a:schemeClr val="bg1"/>
                </a:solidFill>
                <a:cs typeface="Times New Roman"/>
              </a:rPr>
              <a:t>Pied de </a:t>
            </a:r>
            <a:r>
              <a:rPr lang="en-US" sz="2000" b="1" dirty="0" err="1" smtClean="0">
                <a:solidFill>
                  <a:schemeClr val="bg1"/>
                </a:solidFill>
                <a:cs typeface="Times New Roman"/>
              </a:rPr>
              <a:t>pqge</a:t>
            </a:r>
            <a:r>
              <a:rPr lang="ar-DZ" sz="2000" b="1" dirty="0">
                <a:solidFill>
                  <a:schemeClr val="bg1"/>
                </a:solidFill>
                <a:cs typeface="Times New Roman"/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7805530" y="5518457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61" name="Rectangle 160"/>
          <p:cNvSpPr/>
          <p:nvPr/>
        </p:nvSpPr>
        <p:spPr>
          <a:xfrm>
            <a:off x="3600068" y="5229200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62" name="Rectangle 161"/>
          <p:cNvSpPr/>
          <p:nvPr/>
        </p:nvSpPr>
        <p:spPr>
          <a:xfrm>
            <a:off x="366538" y="5344153"/>
            <a:ext cx="27351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نختار </a:t>
            </a:r>
            <a:r>
              <a:rPr lang="ar-DZ" sz="2000" b="1" dirty="0" smtClean="0">
                <a:solidFill>
                  <a:schemeClr val="bg1"/>
                </a:solidFill>
              </a:rPr>
              <a:t>تذييل الصفحة الذي نريد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63" name="Group 132"/>
          <p:cNvGrpSpPr/>
          <p:nvPr/>
        </p:nvGrpSpPr>
        <p:grpSpPr>
          <a:xfrm>
            <a:off x="5137879" y="4767482"/>
            <a:ext cx="3361140" cy="533726"/>
            <a:chOff x="1134379" y="3612045"/>
            <a:chExt cx="3225451" cy="1114425"/>
          </a:xfrm>
        </p:grpSpPr>
        <p:sp>
          <p:nvSpPr>
            <p:cNvPr id="164" name="Rectangle 163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Rectangle 165"/>
            <p:cNvSpPr/>
            <p:nvPr/>
          </p:nvSpPr>
          <p:spPr>
            <a:xfrm flipH="1">
              <a:off x="1134379" y="3812070"/>
              <a:ext cx="2450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Rectangle 167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69" name="Rectangle 168"/>
          <p:cNvSpPr/>
          <p:nvPr/>
        </p:nvSpPr>
        <p:spPr>
          <a:xfrm>
            <a:off x="7771811" y="476748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70" name="Rectangle 169"/>
          <p:cNvSpPr/>
          <p:nvPr/>
        </p:nvSpPr>
        <p:spPr>
          <a:xfrm>
            <a:off x="5520310" y="4871428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التبويب </a:t>
            </a:r>
            <a:r>
              <a:rPr lang="en-US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I</a:t>
            </a:r>
            <a:r>
              <a:rPr lang="fr-FR" sz="2000" b="1" dirty="0" err="1" smtClean="0">
                <a:solidFill>
                  <a:schemeClr val="bg1"/>
                </a:solidFill>
                <a:ea typeface="Times New Roman"/>
                <a:cs typeface="Times New Roman"/>
              </a:rPr>
              <a:t>nsertion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  <a:ea typeface="Times New Roman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5339661" y="2916506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التبويب </a:t>
            </a:r>
            <a:r>
              <a:rPr lang="en-US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I</a:t>
            </a:r>
            <a:r>
              <a:rPr lang="fr-FR" sz="2000" b="1" dirty="0" err="1" smtClean="0">
                <a:solidFill>
                  <a:schemeClr val="bg1"/>
                </a:solidFill>
                <a:ea typeface="Times New Roman"/>
                <a:cs typeface="Times New Roman"/>
              </a:rPr>
              <a:t>nsertion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  <a:ea typeface="Times New Roman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5076056" y="3508757"/>
            <a:ext cx="2216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cs typeface="Times New Roman"/>
              </a:rPr>
              <a:t>الأداة </a:t>
            </a:r>
            <a:r>
              <a:rPr lang="fr-FR" sz="2000" b="1" dirty="0" smtClean="0">
                <a:solidFill>
                  <a:schemeClr val="bg1"/>
                </a:solidFill>
              </a:rPr>
              <a:t>En-tête</a:t>
            </a:r>
            <a:r>
              <a:rPr lang="ar-DZ" sz="2000" b="1" dirty="0" smtClean="0">
                <a:solidFill>
                  <a:schemeClr val="bg1"/>
                </a:solidFill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396667" y="3226004"/>
            <a:ext cx="27351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نختار </a:t>
            </a:r>
            <a:r>
              <a:rPr lang="ar-DZ" sz="2000" b="1" dirty="0" smtClean="0">
                <a:solidFill>
                  <a:schemeClr val="bg1"/>
                </a:solidFill>
              </a:rPr>
              <a:t>رأس الصفحة الذي نريد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1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6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1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6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1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6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10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60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10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600"/>
                            </p:stCondLst>
                            <p:childTnLst>
                              <p:par>
                                <p:cTn id="8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600"/>
                            </p:stCondLst>
                            <p:childTnLst>
                              <p:par>
                                <p:cTn id="9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1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600"/>
                            </p:stCondLst>
                            <p:childTnLst>
                              <p:par>
                                <p:cTn id="10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1100"/>
                            </p:stCondLst>
                            <p:childTnLst>
                              <p:par>
                                <p:cTn id="10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16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2100"/>
                            </p:stCondLst>
                            <p:childTnLst>
                              <p:par>
                                <p:cTn id="1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2600"/>
                            </p:stCondLst>
                            <p:childTnLst>
                              <p:par>
                                <p:cTn id="1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3100"/>
                            </p:stCondLst>
                            <p:childTnLst>
                              <p:par>
                                <p:cTn id="1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600"/>
                            </p:stCondLst>
                            <p:childTnLst>
                              <p:par>
                                <p:cTn id="1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58" grpId="0" animBg="1"/>
      <p:bldP spid="59" grpId="0" animBg="1"/>
      <p:bldP spid="60" grpId="0"/>
      <p:bldP spid="61" grpId="0"/>
      <p:bldP spid="21" grpId="0"/>
      <p:bldP spid="135" grpId="0"/>
      <p:bldP spid="136" grpId="0"/>
      <p:bldP spid="137" grpId="0"/>
      <p:bldP spid="159" grpId="0"/>
      <p:bldP spid="160" grpId="0"/>
      <p:bldP spid="161" grpId="0"/>
      <p:bldP spid="162" grpId="0"/>
      <p:bldP spid="169" grpId="0"/>
      <p:bldP spid="170" grpId="0"/>
      <p:bldP spid="171" grpId="0"/>
      <p:bldP spid="172" grpId="0"/>
      <p:bldP spid="1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 75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69" name="Pensées 68"/>
          <p:cNvSpPr/>
          <p:nvPr/>
        </p:nvSpPr>
        <p:spPr>
          <a:xfrm>
            <a:off x="179512" y="1797496"/>
            <a:ext cx="6336704" cy="1487487"/>
          </a:xfrm>
          <a:prstGeom prst="cloudCallout">
            <a:avLst>
              <a:gd name="adj1" fmla="val -28704"/>
              <a:gd name="adj2" fmla="val 77828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0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14102" y="3284984"/>
            <a:ext cx="2941886" cy="2952328"/>
          </a:xfrm>
          <a:prstGeom prst="rect">
            <a:avLst/>
          </a:prstGeom>
          <a:noFill/>
        </p:spPr>
      </p:pic>
      <p:grpSp>
        <p:nvGrpSpPr>
          <p:cNvPr id="19" name="Groupe 18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" name="Groupe 3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4" name="Rectangle 1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8" name="Rectangle 1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6" name="Rectangle 1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" name="Image 6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8" name="Image 7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9" name="ZoneTexte 8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0" name="ZoneTexte 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" name="ZoneTexte 10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25" name="Image 24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27" name="ZoneTexte 26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ZoneTexte 27"/>
              <p:cNvSpPr txBox="1"/>
              <p:nvPr/>
            </p:nvSpPr>
            <p:spPr>
              <a:xfrm>
                <a:off x="2843808" y="44624"/>
                <a:ext cx="2160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تنظيم الوثيقة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0" name="Image 29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sp>
        <p:nvSpPr>
          <p:cNvPr id="71" name="ZoneTexte 70"/>
          <p:cNvSpPr txBox="1"/>
          <p:nvPr/>
        </p:nvSpPr>
        <p:spPr>
          <a:xfrm>
            <a:off x="467544" y="2348878"/>
            <a:ext cx="559862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9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كيف </a:t>
            </a:r>
            <a:r>
              <a:rPr lang="ar-DZ" sz="19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يمكنك إدراج الرموز و العبارات الرياضية في معالج النصوص </a:t>
            </a:r>
            <a:r>
              <a:rPr lang="ar-DZ" sz="19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35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23" name="Groupe 2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0" name="Groupe 1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" name="Groupe 3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4" name="Rectangle 1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8" name="Rectangle 1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6" name="Rectangle 1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" name="Image 6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8" name="Image 7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9" name="ZoneTexte 8"/>
                  <p:cNvSpPr txBox="1"/>
                  <p:nvPr/>
                </p:nvSpPr>
                <p:spPr>
                  <a:xfrm>
                    <a:off x="5652120" y="6453336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0" name="ZoneTexte 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" name="ZoneTexte 10"/>
                  <p:cNvSpPr txBox="1"/>
                  <p:nvPr/>
                </p:nvSpPr>
                <p:spPr>
                  <a:xfrm>
                    <a:off x="2915816" y="6453336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01" name="Image 100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103" name="ZoneTexte 10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ZoneTexte 103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تنظيم الوثيقة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6" name="Image 105" descr="Microsoft_Word_2013_logo.svg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sp>
        <p:nvSpPr>
          <p:cNvPr id="88" name="Shape 856"/>
          <p:cNvSpPr/>
          <p:nvPr/>
        </p:nvSpPr>
        <p:spPr>
          <a:xfrm>
            <a:off x="8316416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89" name="Shape 859"/>
          <p:cNvSpPr/>
          <p:nvPr/>
        </p:nvSpPr>
        <p:spPr>
          <a:xfrm>
            <a:off x="3959932" y="720328"/>
            <a:ext cx="4305045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0" name="ZoneTexte 89"/>
          <p:cNvSpPr txBox="1"/>
          <p:nvPr/>
        </p:nvSpPr>
        <p:spPr>
          <a:xfrm>
            <a:off x="8316416" y="692696"/>
            <a:ext cx="539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4-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1" name="ZoneTexte 90"/>
          <p:cNvSpPr txBox="1"/>
          <p:nvPr/>
        </p:nvSpPr>
        <p:spPr>
          <a:xfrm>
            <a:off x="4211960" y="735087"/>
            <a:ext cx="3744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إدراج الرموز والعبارات الرياضية</a:t>
            </a:r>
            <a:r>
              <a:rPr lang="fr-FR" sz="2400" b="1" dirty="0" smtClean="0">
                <a:solidFill>
                  <a:srgbClr val="FFFF00"/>
                </a:solidFill>
              </a:rPr>
              <a:t>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92" name="Group 104"/>
          <p:cNvGrpSpPr/>
          <p:nvPr/>
        </p:nvGrpSpPr>
        <p:grpSpPr>
          <a:xfrm>
            <a:off x="4788024" y="1665661"/>
            <a:ext cx="3663630" cy="712356"/>
            <a:chOff x="844389" y="1173645"/>
            <a:chExt cx="3515441" cy="1114425"/>
          </a:xfrm>
        </p:grpSpPr>
        <p:sp>
          <p:nvSpPr>
            <p:cNvPr id="93" name="Rectangle 92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94"/>
            <p:cNvSpPr/>
            <p:nvPr/>
          </p:nvSpPr>
          <p:spPr>
            <a:xfrm flipH="1">
              <a:off x="844389" y="1373670"/>
              <a:ext cx="2740739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37" name="Rectangle 136"/>
          <p:cNvSpPr/>
          <p:nvPr/>
        </p:nvSpPr>
        <p:spPr>
          <a:xfrm>
            <a:off x="7724743" y="1729945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141" name="Group 60"/>
          <p:cNvGrpSpPr>
            <a:grpSpLocks/>
          </p:cNvGrpSpPr>
          <p:nvPr/>
        </p:nvGrpSpPr>
        <p:grpSpPr bwMode="auto">
          <a:xfrm flipH="1">
            <a:off x="8268049" y="2776737"/>
            <a:ext cx="192383" cy="190618"/>
            <a:chOff x="2078" y="1680"/>
            <a:chExt cx="1615" cy="1615"/>
          </a:xfrm>
        </p:grpSpPr>
        <p:sp>
          <p:nvSpPr>
            <p:cNvPr id="142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45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46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47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148" name="Rectangle 147"/>
          <p:cNvSpPr/>
          <p:nvPr/>
        </p:nvSpPr>
        <p:spPr>
          <a:xfrm>
            <a:off x="4872541" y="2601811"/>
            <a:ext cx="3331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400" b="1" dirty="0">
                <a:solidFill>
                  <a:schemeClr val="bg1"/>
                </a:solidFill>
              </a:rPr>
              <a:t>من شريط أدوات التبويب نختار: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49" name="TextBox 68"/>
          <p:cNvSpPr txBox="1"/>
          <p:nvPr/>
        </p:nvSpPr>
        <p:spPr>
          <a:xfrm>
            <a:off x="4850697" y="1898157"/>
            <a:ext cx="2414331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400" b="1" dirty="0">
                <a:solidFill>
                  <a:schemeClr val="bg1"/>
                </a:solidFill>
              </a:rPr>
              <a:t>التبويب </a:t>
            </a:r>
            <a:r>
              <a:rPr lang="fr-FR" sz="2400" b="1" dirty="0" smtClean="0">
                <a:solidFill>
                  <a:schemeClr val="bg1"/>
                </a:solidFill>
              </a:rPr>
              <a:t>Insertion</a:t>
            </a:r>
            <a:r>
              <a:rPr lang="ar-DZ" sz="2400" b="1" dirty="0" smtClean="0">
                <a:solidFill>
                  <a:schemeClr val="bg1"/>
                </a:solidFill>
              </a:rPr>
              <a:t>.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151" name="Group 118"/>
          <p:cNvGrpSpPr/>
          <p:nvPr/>
        </p:nvGrpSpPr>
        <p:grpSpPr>
          <a:xfrm>
            <a:off x="3491880" y="3284984"/>
            <a:ext cx="4968552" cy="695310"/>
            <a:chOff x="-308701" y="2392845"/>
            <a:chExt cx="4668531" cy="1114425"/>
          </a:xfrm>
        </p:grpSpPr>
        <p:sp>
          <p:nvSpPr>
            <p:cNvPr id="152" name="Rectangle 151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Rectangle 153"/>
            <p:cNvSpPr/>
            <p:nvPr/>
          </p:nvSpPr>
          <p:spPr>
            <a:xfrm flipH="1">
              <a:off x="-308701" y="2592870"/>
              <a:ext cx="3893831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Rectangle 155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57" name="Group 132"/>
          <p:cNvGrpSpPr/>
          <p:nvPr/>
        </p:nvGrpSpPr>
        <p:grpSpPr>
          <a:xfrm>
            <a:off x="3491879" y="4196318"/>
            <a:ext cx="4973720" cy="630509"/>
            <a:chOff x="-330860" y="3612045"/>
            <a:chExt cx="4690690" cy="1114425"/>
          </a:xfrm>
        </p:grpSpPr>
        <p:sp>
          <p:nvSpPr>
            <p:cNvPr id="158" name="Rectangle 157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Rectangle 159"/>
            <p:cNvSpPr/>
            <p:nvPr/>
          </p:nvSpPr>
          <p:spPr>
            <a:xfrm flipH="1">
              <a:off x="-330860" y="3812070"/>
              <a:ext cx="3915992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Rectangle 161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63" name="Rectangle 162"/>
          <p:cNvSpPr/>
          <p:nvPr/>
        </p:nvSpPr>
        <p:spPr>
          <a:xfrm>
            <a:off x="7738688" y="3383930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64" name="Rectangle 163"/>
          <p:cNvSpPr/>
          <p:nvPr/>
        </p:nvSpPr>
        <p:spPr>
          <a:xfrm>
            <a:off x="7738391" y="434075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65" name="Rectangle 164"/>
          <p:cNvSpPr/>
          <p:nvPr/>
        </p:nvSpPr>
        <p:spPr>
          <a:xfrm>
            <a:off x="3812694" y="3465230"/>
            <a:ext cx="35125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rtl="1"/>
            <a:r>
              <a:rPr lang="ar-DZ" sz="2000" b="1" dirty="0">
                <a:solidFill>
                  <a:prstClr val="white"/>
                </a:solidFill>
                <a:latin typeface="Times New Roman"/>
                <a:ea typeface="Times New Roman"/>
              </a:rPr>
              <a:t>الأداة </a:t>
            </a:r>
            <a:r>
              <a:rPr lang="fr-FR" sz="2000" b="1" dirty="0">
                <a:solidFill>
                  <a:prstClr val="white"/>
                </a:solidFill>
                <a:latin typeface="Times New Roman"/>
                <a:ea typeface="Times New Roman"/>
              </a:rPr>
              <a:t>équation</a:t>
            </a:r>
            <a:r>
              <a:rPr lang="ar-DZ" sz="2000" b="1" dirty="0">
                <a:solidFill>
                  <a:prstClr val="white"/>
                </a:solidFill>
                <a:latin typeface="Times New Roman"/>
                <a:ea typeface="Times New Roman"/>
              </a:rPr>
              <a:t> لإدراج عبارة رياضية.</a:t>
            </a:r>
            <a:endParaRPr lang="fr-FR" dirty="0">
              <a:solidFill>
                <a:prstClr val="white"/>
              </a:solidFill>
              <a:latin typeface="Times New Roman"/>
              <a:ea typeface="Times New Roman"/>
            </a:endParaRPr>
          </a:p>
        </p:txBody>
      </p:sp>
      <p:sp>
        <p:nvSpPr>
          <p:cNvPr id="166" name="Rectangle 165"/>
          <p:cNvSpPr/>
          <p:nvPr/>
        </p:nvSpPr>
        <p:spPr>
          <a:xfrm>
            <a:off x="3871771" y="4352952"/>
            <a:ext cx="33959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prstClr val="white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الأداة </a:t>
            </a:r>
            <a:r>
              <a:rPr lang="fr-FR" sz="2000" b="1" dirty="0">
                <a:solidFill>
                  <a:prstClr val="white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symbole</a:t>
            </a:r>
            <a:r>
              <a:rPr lang="ar-DZ" sz="2000" b="1" dirty="0">
                <a:solidFill>
                  <a:prstClr val="white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لإدراج الرموز</a:t>
            </a:r>
            <a:r>
              <a:rPr lang="fr-FR" sz="2000" b="1" dirty="0">
                <a:solidFill>
                  <a:prstClr val="white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8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3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8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3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8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3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8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3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8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3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 advAuto="0"/>
      <p:bldP spid="90" grpId="0"/>
      <p:bldP spid="91" grpId="0"/>
      <p:bldP spid="137" grpId="0"/>
      <p:bldP spid="148" grpId="0"/>
      <p:bldP spid="149" grpId="0"/>
      <p:bldP spid="163" grpId="0"/>
      <p:bldP spid="164" grpId="0"/>
      <p:bldP spid="165" grpId="0"/>
      <p:bldP spid="166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22306</TotalTime>
  <Words>554</Words>
  <Application>Microsoft Office PowerPoint</Application>
  <PresentationFormat>Affichage à l'écran (4:3)</PresentationFormat>
  <Paragraphs>123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CEM KALOUAZ MOUSSA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RIDHA MAHI</dc:creator>
  <cp:lastModifiedBy>RIDHA MAHI</cp:lastModifiedBy>
  <cp:revision>662</cp:revision>
  <dcterms:created xsi:type="dcterms:W3CDTF">2017-08-13T13:54:07Z</dcterms:created>
  <dcterms:modified xsi:type="dcterms:W3CDTF">2017-11-12T20:37:34Z</dcterms:modified>
</cp:coreProperties>
</file>