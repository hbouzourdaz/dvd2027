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6" r:id="rId2"/>
    <p:sldId id="257" r:id="rId3"/>
    <p:sldId id="275" r:id="rId4"/>
    <p:sldId id="260" r:id="rId5"/>
    <p:sldId id="274" r:id="rId6"/>
    <p:sldId id="261" r:id="rId7"/>
    <p:sldId id="279" r:id="rId8"/>
    <p:sldId id="265" r:id="rId9"/>
    <p:sldId id="277" r:id="rId10"/>
    <p:sldId id="267" r:id="rId11"/>
    <p:sldId id="266" r:id="rId12"/>
    <p:sldId id="283" r:id="rId13"/>
    <p:sldId id="280" r:id="rId14"/>
    <p:sldId id="284" r:id="rId15"/>
    <p:sldId id="285" r:id="rId16"/>
    <p:sldId id="286" r:id="rId17"/>
    <p:sldId id="287" r:id="rId18"/>
    <p:sldId id="282" r:id="rId19"/>
    <p:sldId id="281" r:id="rId2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F3300"/>
    <a:srgbClr val="FF6600"/>
    <a:srgbClr val="57ABC9"/>
    <a:srgbClr val="D75BB4"/>
    <a:srgbClr val="EEC208"/>
    <a:srgbClr val="E86E77"/>
    <a:srgbClr val="F79646"/>
    <a:srgbClr val="F48E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9" autoAdjust="0"/>
    <p:restoredTop sz="93728" autoAdjust="0"/>
  </p:normalViewPr>
  <p:slideViewPr>
    <p:cSldViewPr>
      <p:cViewPr varScale="1">
        <p:scale>
          <a:sx n="70" d="100"/>
          <a:sy n="70" d="100"/>
        </p:scale>
        <p:origin x="52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12/02/2018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12/02/2018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12/02/2018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12/02/2018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12/02/2018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12/02/2018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12/02/2018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12/02/2018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12/02/2018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12/02/2018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12/02/2018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8C6B9-1AE0-4F9B-92BA-7BAE68551FBC}" type="datetimeFigureOut">
              <a:rPr lang="fr-FR" smtClean="0"/>
              <a:pPr/>
              <a:t>12/02/2018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9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2.png"/><Relationship Id="rId5" Type="http://schemas.openxmlformats.org/officeDocument/2006/relationships/image" Target="../media/image7.png"/><Relationship Id="rId10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6.png"/><Relationship Id="rId4" Type="http://schemas.openxmlformats.org/officeDocument/2006/relationships/image" Target="../media/image7.pn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6.png"/><Relationship Id="rId7" Type="http://schemas.openxmlformats.org/officeDocument/2006/relationships/image" Target="../media/image26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2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6.png"/><Relationship Id="rId4" Type="http://schemas.openxmlformats.org/officeDocument/2006/relationships/image" Target="../media/image7.png"/><Relationship Id="rId9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9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9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9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besmallah.bmp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 68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pic>
        <p:nvPicPr>
          <p:cNvPr id="70" name="Image 69" descr="11-2-animation-png-hd-thumb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flipH="1">
            <a:off x="6660232" y="2348880"/>
            <a:ext cx="3456384" cy="3384376"/>
          </a:xfrm>
          <a:prstGeom prst="rect">
            <a:avLst/>
          </a:prstGeom>
        </p:spPr>
      </p:pic>
      <p:grpSp>
        <p:nvGrpSpPr>
          <p:cNvPr id="71" name="Group 77"/>
          <p:cNvGrpSpPr/>
          <p:nvPr/>
        </p:nvGrpSpPr>
        <p:grpSpPr>
          <a:xfrm rot="20065487">
            <a:off x="5276502" y="940969"/>
            <a:ext cx="2577601" cy="3394083"/>
            <a:chOff x="914400" y="1122362"/>
            <a:chExt cx="2080267" cy="3453889"/>
          </a:xfrm>
        </p:grpSpPr>
        <p:sp>
          <p:nvSpPr>
            <p:cNvPr id="72" name="Freeform 6"/>
            <p:cNvSpPr>
              <a:spLocks/>
            </p:cNvSpPr>
            <p:nvPr/>
          </p:nvSpPr>
          <p:spPr bwMode="auto">
            <a:xfrm>
              <a:off x="1259206" y="4208781"/>
              <a:ext cx="1138806" cy="367470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7"/>
            <p:cNvSpPr>
              <a:spLocks/>
            </p:cNvSpPr>
            <p:nvPr/>
          </p:nvSpPr>
          <p:spPr bwMode="auto">
            <a:xfrm>
              <a:off x="1265879" y="3815606"/>
              <a:ext cx="1728788" cy="485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8"/>
            <p:cNvSpPr>
              <a:spLocks/>
            </p:cNvSpPr>
            <p:nvPr/>
          </p:nvSpPr>
          <p:spPr bwMode="auto">
            <a:xfrm>
              <a:off x="914400" y="1122362"/>
              <a:ext cx="2062163" cy="3013075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5" name="ZoneTexte 74"/>
          <p:cNvSpPr txBox="1"/>
          <p:nvPr/>
        </p:nvSpPr>
        <p:spPr>
          <a:xfrm rot="20130558">
            <a:off x="5200530" y="1136043"/>
            <a:ext cx="252069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600" b="1" dirty="0">
                <a:solidFill>
                  <a:schemeClr val="bg1"/>
                </a:solidFill>
              </a:rPr>
              <a:t>يتصفح معظم الطلبة والتلاميذ والباحثين  شبكة الإنترنت للبحث والوصول للمعلومات لإنجاز بحوثهم </a:t>
            </a:r>
            <a:r>
              <a:rPr lang="ar-DZ" sz="2600" b="1" dirty="0" smtClean="0">
                <a:solidFill>
                  <a:schemeClr val="bg1"/>
                </a:solidFill>
              </a:rPr>
              <a:t>ومشاريعهم.  </a:t>
            </a:r>
            <a:endParaRPr lang="ar-DZ" sz="2600" b="1" dirty="0">
              <a:solidFill>
                <a:schemeClr val="bg1"/>
              </a:solidFill>
            </a:endParaRPr>
          </a:p>
        </p:txBody>
      </p:sp>
      <p:pic>
        <p:nvPicPr>
          <p:cNvPr id="76" name="Image 75" descr="Person-question-2-151x300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77" name="Pensées 76"/>
          <p:cNvSpPr/>
          <p:nvPr/>
        </p:nvSpPr>
        <p:spPr>
          <a:xfrm>
            <a:off x="610617" y="980728"/>
            <a:ext cx="3889375" cy="1800200"/>
          </a:xfrm>
          <a:prstGeom prst="cloudCallout">
            <a:avLst>
              <a:gd name="adj1" fmla="val -42161"/>
              <a:gd name="adj2" fmla="val 71189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ZoneTexte 77"/>
          <p:cNvSpPr txBox="1"/>
          <p:nvPr/>
        </p:nvSpPr>
        <p:spPr>
          <a:xfrm>
            <a:off x="827584" y="1612831"/>
            <a:ext cx="3528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>
                <a:solidFill>
                  <a:schemeClr val="accent6">
                    <a:lumMod val="75000"/>
                  </a:schemeClr>
                </a:solidFill>
              </a:rPr>
              <a:t>فكيف يمكنك </a:t>
            </a:r>
            <a:r>
              <a:rPr lang="ar-DZ" sz="2000" b="1" dirty="0" smtClean="0">
                <a:solidFill>
                  <a:schemeClr val="accent6">
                    <a:lumMod val="75000"/>
                  </a:schemeClr>
                </a:solidFill>
              </a:rPr>
              <a:t>تصفح </a:t>
            </a:r>
            <a:r>
              <a:rPr lang="ar-DZ" sz="2000" b="1" dirty="0">
                <a:solidFill>
                  <a:schemeClr val="accent6">
                    <a:lumMod val="75000"/>
                  </a:schemeClr>
                </a:solidFill>
              </a:rPr>
              <a:t>شبكة الانترنت </a:t>
            </a:r>
            <a:r>
              <a:rPr lang="ar-DZ" sz="2000" b="1" dirty="0" smtClean="0">
                <a:solidFill>
                  <a:schemeClr val="accent6">
                    <a:lumMod val="75000"/>
                  </a:schemeClr>
                </a:solidFill>
              </a:rPr>
              <a:t>و الوصول </a:t>
            </a:r>
            <a:r>
              <a:rPr lang="ar-DZ" sz="2000" b="1" dirty="0">
                <a:solidFill>
                  <a:schemeClr val="accent6">
                    <a:lumMod val="75000"/>
                  </a:schemeClr>
                </a:solidFill>
              </a:rPr>
              <a:t>لهذه المعلومات؟ </a:t>
            </a:r>
          </a:p>
        </p:txBody>
      </p:sp>
      <p:pic>
        <p:nvPicPr>
          <p:cNvPr id="84" name="Picture 4" descr="C:\Users\RIDHA\Pictures\Image13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23728" y="4149080"/>
            <a:ext cx="1224136" cy="2220466"/>
          </a:xfrm>
          <a:prstGeom prst="rect">
            <a:avLst/>
          </a:prstGeom>
          <a:noFill/>
        </p:spPr>
      </p:pic>
      <p:grpSp>
        <p:nvGrpSpPr>
          <p:cNvPr id="85" name="Groupe 84"/>
          <p:cNvGrpSpPr/>
          <p:nvPr/>
        </p:nvGrpSpPr>
        <p:grpSpPr>
          <a:xfrm>
            <a:off x="2627784" y="3717032"/>
            <a:ext cx="2160240" cy="648072"/>
            <a:chOff x="3563888" y="1268760"/>
            <a:chExt cx="2664296" cy="936104"/>
          </a:xfrm>
        </p:grpSpPr>
        <p:sp>
          <p:nvSpPr>
            <p:cNvPr id="86" name="Pensées 85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25273"/>
                <a:gd name="adj2" fmla="val 9506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87" name="ZoneTexte 86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/>
                <a:t>الإجابة برفع الإصبع</a:t>
              </a:r>
            </a:p>
          </p:txBody>
        </p:sp>
      </p:grpSp>
      <p:grpSp>
        <p:nvGrpSpPr>
          <p:cNvPr id="4" name="Groupe 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" name="Groupe 1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90" name="Groupe 89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82" name="Groupe 8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2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54" name="Rectangle 53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55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57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58" name="Rectangle 57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56" name="Rectangle 55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49" name="Image 48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50" name="Image 49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7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79" name="ZoneTexte 78"/>
                  <p:cNvSpPr txBox="1"/>
                  <p:nvPr/>
                </p:nvSpPr>
                <p:spPr>
                  <a:xfrm>
                    <a:off x="5796136" y="6428655"/>
                    <a:ext cx="2664296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80" name="ZoneTexte 79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81" name="ZoneTexte 80"/>
                  <p:cNvSpPr txBox="1"/>
                  <p:nvPr/>
                </p:nvSpPr>
                <p:spPr>
                  <a:xfrm>
                    <a:off x="2915816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83" name="Image 82" descr="3d print business.png"/>
                <p:cNvPicPr>
                  <a:picLocks noChangeAspect="1"/>
                </p:cNvPicPr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>
                  <a:off x="4716016" y="6309320"/>
                  <a:ext cx="1440160" cy="620688"/>
                </a:xfrm>
                <a:prstGeom prst="rect">
                  <a:avLst/>
                </a:prstGeom>
              </p:spPr>
            </p:pic>
          </p:grpSp>
          <p:sp>
            <p:nvSpPr>
              <p:cNvPr id="34" name="ZoneTexte 33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المستوى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ZoneTexte 34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الثاني المتوسط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38" name="Picture 2" descr="K:\منتدى اساتذة المعلوماتية\mobile_found_internet.png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5536" y="44624"/>
              <a:ext cx="1800200" cy="571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5" dur="2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7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8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88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38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880"/>
                            </p:stCondLst>
                            <p:childTnLst>
                              <p:par>
                                <p:cTn id="2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880"/>
                            </p:stCondLst>
                            <p:childTnLst>
                              <p:par>
                                <p:cTn id="3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38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7" grpId="0" animBg="1"/>
      <p:bldP spid="7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e 7"/>
          <p:cNvGrpSpPr/>
          <p:nvPr/>
        </p:nvGrpSpPr>
        <p:grpSpPr>
          <a:xfrm>
            <a:off x="0" y="620689"/>
            <a:ext cx="9144000" cy="5616623"/>
            <a:chOff x="0" y="620689"/>
            <a:chExt cx="9144000" cy="5616623"/>
          </a:xfrm>
        </p:grpSpPr>
        <p:pic>
          <p:nvPicPr>
            <p:cNvPr id="1026" name="Picture 2" descr="C:\Users\RIDHA\Downloads\صور المعلوماتية\1 (26)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20689"/>
              <a:ext cx="9144000" cy="56166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2411760" y="1700808"/>
              <a:ext cx="4219376" cy="190067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7" name="ZoneTexte 26"/>
          <p:cNvSpPr txBox="1"/>
          <p:nvPr/>
        </p:nvSpPr>
        <p:spPr>
          <a:xfrm>
            <a:off x="2296841" y="1844824"/>
            <a:ext cx="421937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300" b="1" dirty="0" smtClean="0">
                <a:solidFill>
                  <a:srgbClr val="FFFF00"/>
                </a:solidFill>
              </a:rPr>
              <a:t>المجال المفاهيمي:</a:t>
            </a:r>
            <a:r>
              <a:rPr lang="ar-DZ" sz="2300" b="1" dirty="0">
                <a:solidFill>
                  <a:srgbClr val="FFFF00"/>
                </a:solidFill>
              </a:rPr>
              <a:t> </a:t>
            </a:r>
            <a:r>
              <a:rPr lang="ar-DZ" sz="2300" b="1" dirty="0" smtClean="0">
                <a:solidFill>
                  <a:schemeClr val="bg1"/>
                </a:solidFill>
              </a:rPr>
              <a:t>الشبكات </a:t>
            </a:r>
            <a:r>
              <a:rPr lang="en-US" sz="2300" b="1" dirty="0" smtClean="0">
                <a:solidFill>
                  <a:schemeClr val="bg1"/>
                </a:solidFill>
              </a:rPr>
              <a:t>R</a:t>
            </a:r>
            <a:r>
              <a:rPr lang="fr-FR" sz="2300" b="1" dirty="0" err="1" smtClean="0">
                <a:solidFill>
                  <a:schemeClr val="bg1"/>
                </a:solidFill>
              </a:rPr>
              <a:t>éseaux</a:t>
            </a:r>
            <a:endParaRPr lang="fr-FR" sz="2300" b="1" dirty="0">
              <a:solidFill>
                <a:srgbClr val="FF0000"/>
              </a:solidFill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2661420" y="2492896"/>
            <a:ext cx="388868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300" b="1" dirty="0" smtClean="0">
                <a:solidFill>
                  <a:srgbClr val="FFFF00"/>
                </a:solidFill>
              </a:rPr>
              <a:t>الوحدة المفاهمية: </a:t>
            </a:r>
            <a:r>
              <a:rPr lang="ar-DZ" sz="2300" b="1" dirty="0" smtClean="0">
                <a:solidFill>
                  <a:schemeClr val="bg1"/>
                </a:solidFill>
              </a:rPr>
              <a:t>التصفح في الإنترنت</a:t>
            </a:r>
            <a:endParaRPr lang="fr-FR" sz="2300" b="1" dirty="0">
              <a:solidFill>
                <a:srgbClr val="FF0000"/>
              </a:solidFill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2599884" y="3068960"/>
            <a:ext cx="3944232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300" b="1" dirty="0" smtClean="0">
                <a:solidFill>
                  <a:srgbClr val="FFFF00"/>
                </a:solidFill>
              </a:rPr>
              <a:t>الحصة التعلمية: </a:t>
            </a:r>
            <a:r>
              <a:rPr lang="ar-DZ" sz="2300" b="1" dirty="0">
                <a:solidFill>
                  <a:schemeClr val="bg1"/>
                </a:solidFill>
              </a:rPr>
              <a:t>التصفح في الإنترنت</a:t>
            </a:r>
            <a:endParaRPr lang="fr-FR" sz="2300" b="1" dirty="0">
              <a:solidFill>
                <a:srgbClr val="FF0000"/>
              </a:solidFill>
            </a:endParaRPr>
          </a:p>
        </p:txBody>
      </p:sp>
      <p:grpSp>
        <p:nvGrpSpPr>
          <p:cNvPr id="7" name="Groupe 6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" name="Groupe 1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4" name="Groupe 3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5" name="Groupe 8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5" name="Groupe 14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17" name="Rectangle 1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18" name="Groupe 17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2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21" name="Rectangle 2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19" name="Rectangle 1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0" name="Image 9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1" name="Image 10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2" name="ZoneTexte 11"/>
                  <p:cNvSpPr txBox="1"/>
                  <p:nvPr/>
                </p:nvSpPr>
                <p:spPr>
                  <a:xfrm>
                    <a:off x="5796136" y="6428655"/>
                    <a:ext cx="2664296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3" name="ZoneTexte 12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4" name="ZoneTexte 13"/>
                  <p:cNvSpPr txBox="1"/>
                  <p:nvPr/>
                </p:nvSpPr>
                <p:spPr>
                  <a:xfrm>
                    <a:off x="2915816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6" name="Image 5" descr="3d print business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788024" y="6264696"/>
                  <a:ext cx="1440160" cy="620688"/>
                </a:xfrm>
                <a:prstGeom prst="rect">
                  <a:avLst/>
                </a:prstGeom>
              </p:spPr>
            </p:pic>
          </p:grpSp>
          <p:sp>
            <p:nvSpPr>
              <p:cNvPr id="30" name="ZoneTexte 29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المستوى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ZoneTexte 30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الثاني المتوسط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32" name="Picture 2" descr="K:\منتدى اساتذة المعلوماتية\mobile_found_internet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5536" y="44624"/>
              <a:ext cx="1800200" cy="571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074" name="Picture 2" descr="K:\منتدى اساتذة المعلوماتية\bg-education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9625">
            <a:off x="7020272" y="1606389"/>
            <a:ext cx="2051720" cy="1644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4" name="Groupe 33"/>
          <p:cNvGrpSpPr/>
          <p:nvPr/>
        </p:nvGrpSpPr>
        <p:grpSpPr>
          <a:xfrm>
            <a:off x="0" y="1613210"/>
            <a:ext cx="2051720" cy="1599766"/>
            <a:chOff x="0" y="0"/>
            <a:chExt cx="6867939" cy="4750904"/>
          </a:xfrm>
        </p:grpSpPr>
        <p:pic>
          <p:nvPicPr>
            <p:cNvPr id="35" name="Image 34" descr="K:\منتدى اساتذة المعلوماتية\Marketing-PNG-Transparent-Image.png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6867939" cy="47509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Image 35" descr="K:\منتدى اساتذة المعلوماتية\Capture45.PNG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6547" y="2425148"/>
              <a:ext cx="2365513" cy="129208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" name="Picture 6" descr="G:\Bibliotaque video\desigin\3D man\Vector.Character.Plarinum.Bundle.eps-ai-psd-png_2\Vector.Character.Plarinum.Bundle.eps-ai-psd-png\malepack2\Young_Businessman_Vector_Character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099" y="2003920"/>
            <a:ext cx="2461483" cy="42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60"/>
                            </p:stCondLst>
                            <p:childTnLst>
                              <p:par>
                                <p:cTn id="1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 tmFilter="0,0; .5, 1; 1, 1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00"/>
                            </p:stCondLst>
                            <p:childTnLst>
                              <p:par>
                                <p:cTn id="2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RIDHA\Downloads\صور المعلوماتية\1 (24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0689"/>
            <a:ext cx="9144000" cy="5652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Shape 856"/>
          <p:cNvSpPr/>
          <p:nvPr/>
        </p:nvSpPr>
        <p:spPr>
          <a:xfrm>
            <a:off x="7652538" y="2132856"/>
            <a:ext cx="492050" cy="4961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2" name="Shape 859"/>
          <p:cNvSpPr/>
          <p:nvPr/>
        </p:nvSpPr>
        <p:spPr>
          <a:xfrm>
            <a:off x="4776758" y="2153902"/>
            <a:ext cx="2863773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solidFill>
            <a:schemeClr val="accent2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5" name="ZoneTexte 54"/>
          <p:cNvSpPr txBox="1"/>
          <p:nvPr/>
        </p:nvSpPr>
        <p:spPr>
          <a:xfrm>
            <a:off x="7640532" y="2177816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1-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57" name="ZoneTexte 56"/>
          <p:cNvSpPr txBox="1"/>
          <p:nvPr/>
        </p:nvSpPr>
        <p:spPr>
          <a:xfrm>
            <a:off x="5048243" y="2177816"/>
            <a:ext cx="24997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>
                <a:solidFill>
                  <a:schemeClr val="bg1"/>
                </a:solidFill>
              </a:rPr>
              <a:t>المتصفح </a:t>
            </a:r>
            <a:r>
              <a:rPr lang="fr-FR" sz="2000" b="1" dirty="0">
                <a:solidFill>
                  <a:schemeClr val="bg1"/>
                </a:solidFill>
              </a:rPr>
              <a:t>le navigateur</a:t>
            </a:r>
          </a:p>
        </p:txBody>
      </p:sp>
      <p:sp>
        <p:nvSpPr>
          <p:cNvPr id="71" name="Shape 856"/>
          <p:cNvSpPr/>
          <p:nvPr/>
        </p:nvSpPr>
        <p:spPr>
          <a:xfrm>
            <a:off x="7654161" y="3071720"/>
            <a:ext cx="492050" cy="4961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2" name="Shape 859"/>
          <p:cNvSpPr/>
          <p:nvPr/>
        </p:nvSpPr>
        <p:spPr>
          <a:xfrm>
            <a:off x="4776758" y="3092766"/>
            <a:ext cx="2865398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3" name="ZoneTexte 72"/>
          <p:cNvSpPr txBox="1"/>
          <p:nvPr/>
        </p:nvSpPr>
        <p:spPr>
          <a:xfrm>
            <a:off x="7668344" y="3145263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2-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74" name="ZoneTexte 73"/>
          <p:cNvSpPr txBox="1"/>
          <p:nvPr/>
        </p:nvSpPr>
        <p:spPr>
          <a:xfrm>
            <a:off x="4977859" y="3135843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>
                <a:solidFill>
                  <a:schemeClr val="bg1"/>
                </a:solidFill>
              </a:rPr>
              <a:t>تشغيل المتصفح 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31" name="Shape 856"/>
          <p:cNvSpPr/>
          <p:nvPr/>
        </p:nvSpPr>
        <p:spPr>
          <a:xfrm>
            <a:off x="4079950" y="2206149"/>
            <a:ext cx="492050" cy="4961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32" name="Shape 859"/>
          <p:cNvSpPr/>
          <p:nvPr/>
        </p:nvSpPr>
        <p:spPr>
          <a:xfrm>
            <a:off x="1202547" y="2227195"/>
            <a:ext cx="2865398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33" name="ZoneTexte 32"/>
          <p:cNvSpPr txBox="1"/>
          <p:nvPr/>
        </p:nvSpPr>
        <p:spPr>
          <a:xfrm>
            <a:off x="4067944" y="2276872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3-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34" name="ZoneTexte 33"/>
          <p:cNvSpPr txBox="1"/>
          <p:nvPr/>
        </p:nvSpPr>
        <p:spPr>
          <a:xfrm>
            <a:off x="1403648" y="2270272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>
                <a:solidFill>
                  <a:schemeClr val="bg1"/>
                </a:solidFill>
              </a:rPr>
              <a:t>الويب أو </a:t>
            </a:r>
            <a:r>
              <a:rPr lang="fr-FR" sz="2000" b="1" dirty="0">
                <a:solidFill>
                  <a:schemeClr val="bg1"/>
                </a:solidFill>
              </a:rPr>
              <a:t>www</a:t>
            </a:r>
          </a:p>
        </p:txBody>
      </p:sp>
      <p:sp>
        <p:nvSpPr>
          <p:cNvPr id="35" name="Shape 856"/>
          <p:cNvSpPr/>
          <p:nvPr/>
        </p:nvSpPr>
        <p:spPr>
          <a:xfrm>
            <a:off x="4079950" y="3076845"/>
            <a:ext cx="492050" cy="4961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36" name="Shape 859"/>
          <p:cNvSpPr/>
          <p:nvPr/>
        </p:nvSpPr>
        <p:spPr>
          <a:xfrm>
            <a:off x="1202547" y="3097891"/>
            <a:ext cx="2865398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37" name="ZoneTexte 36"/>
          <p:cNvSpPr txBox="1"/>
          <p:nvPr/>
        </p:nvSpPr>
        <p:spPr>
          <a:xfrm>
            <a:off x="4067944" y="3140968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4-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38" name="ZoneTexte 37"/>
          <p:cNvSpPr txBox="1"/>
          <p:nvPr/>
        </p:nvSpPr>
        <p:spPr>
          <a:xfrm>
            <a:off x="1403648" y="3140968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>
                <a:solidFill>
                  <a:schemeClr val="bg1"/>
                </a:solidFill>
              </a:rPr>
              <a:t>التصفح في الإنترنت</a:t>
            </a:r>
            <a:endParaRPr lang="fr-FR" sz="2000" b="1" dirty="0">
              <a:solidFill>
                <a:schemeClr val="bg1"/>
              </a:solidFill>
            </a:endParaRPr>
          </a:p>
        </p:txBody>
      </p:sp>
      <p:pic>
        <p:nvPicPr>
          <p:cNvPr id="50" name="Picture 6" descr="G:\Bibliotaque video\desigin\3D man\Vector.Character.Plarinum.Bundle.eps-ai-psd-png_2\Vector.Character.Plarinum.Bundle.eps-ai-psd-png\malepack2\Young_Businessman_Vector_Charact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8372" y="2204864"/>
            <a:ext cx="2073309" cy="4081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Shape 856"/>
          <p:cNvSpPr/>
          <p:nvPr/>
        </p:nvSpPr>
        <p:spPr>
          <a:xfrm>
            <a:off x="5803580" y="3861048"/>
            <a:ext cx="492050" cy="4961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2" name="Shape 859"/>
          <p:cNvSpPr/>
          <p:nvPr/>
        </p:nvSpPr>
        <p:spPr>
          <a:xfrm>
            <a:off x="2267744" y="3882094"/>
            <a:ext cx="3523831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3" name="ZoneTexte 42"/>
          <p:cNvSpPr txBox="1"/>
          <p:nvPr/>
        </p:nvSpPr>
        <p:spPr>
          <a:xfrm>
            <a:off x="5791574" y="3925171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5-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44" name="ZoneTexte 43"/>
          <p:cNvSpPr txBox="1"/>
          <p:nvPr/>
        </p:nvSpPr>
        <p:spPr>
          <a:xfrm>
            <a:off x="2411760" y="3892986"/>
            <a:ext cx="3307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الإرتباط </a:t>
            </a:r>
            <a:r>
              <a:rPr lang="ar-DZ" sz="2000" b="1" dirty="0">
                <a:solidFill>
                  <a:schemeClr val="bg1"/>
                </a:solidFill>
              </a:rPr>
              <a:t>التشعبي </a:t>
            </a:r>
            <a:r>
              <a:rPr lang="fr-FR" sz="2000" b="1" dirty="0">
                <a:solidFill>
                  <a:schemeClr val="bg1"/>
                </a:solidFill>
              </a:rPr>
              <a:t>Lien hypertexte</a:t>
            </a:r>
          </a:p>
        </p:txBody>
      </p:sp>
      <p:grpSp>
        <p:nvGrpSpPr>
          <p:cNvPr id="6" name="Groupe 5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4" name="Groupe 3"/>
            <p:cNvGrpSpPr/>
            <p:nvPr/>
          </p:nvGrpSpPr>
          <p:grpSpPr>
            <a:xfrm>
              <a:off x="-180528" y="0"/>
              <a:ext cx="9324528" cy="6957392"/>
              <a:chOff x="-180528" y="-27384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-27384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2" name="Groupe 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80" name="Groupe 79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5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7" name="Rectangle 6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8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10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11" name="Rectangle 10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9" name="Rectangle 8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75" name="Image 74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76" name="Image 75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5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77" name="ZoneTexte 76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78" name="ZoneTexte 77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79" name="ZoneTexte 78"/>
                    <p:cNvSpPr txBox="1"/>
                    <p:nvPr/>
                  </p:nvSpPr>
                  <p:spPr>
                    <a:xfrm>
                      <a:off x="2915816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المستوى:الثاني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59" name="Image 58" descr="3d print business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4716016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60" name="ZoneTexte 59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39" name="ZoneTexte 38"/>
              <p:cNvSpPr txBox="1"/>
              <p:nvPr/>
            </p:nvSpPr>
            <p:spPr>
              <a:xfrm>
                <a:off x="2915816" y="25460"/>
                <a:ext cx="29523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>
                    <a:solidFill>
                      <a:schemeClr val="bg1"/>
                    </a:solidFill>
                  </a:rPr>
                  <a:t>التصفح في الإنترنت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45" name="Picture 2" descr="K:\منتدى اساتذة المعلوماتية\mobile_found_internet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5536" y="44624"/>
              <a:ext cx="1800200" cy="571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0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600"/>
                            </p:stCondLst>
                            <p:childTnLst>
                              <p:par>
                                <p:cTn id="3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9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400"/>
                            </p:stCondLst>
                            <p:childTnLst>
                              <p:par>
                                <p:cTn id="4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200"/>
                            </p:stCondLst>
                            <p:childTnLst>
                              <p:par>
                                <p:cTn id="5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300"/>
                            </p:stCondLst>
                            <p:childTnLst>
                              <p:par>
                                <p:cTn id="6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800"/>
                            </p:stCondLst>
                            <p:childTnLst>
                              <p:par>
                                <p:cTn id="7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6100"/>
                            </p:stCondLst>
                            <p:childTnLst>
                              <p:par>
                                <p:cTn id="7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600"/>
                            </p:stCondLst>
                            <p:childTnLst>
                              <p:par>
                                <p:cTn id="8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900"/>
                            </p:stCondLst>
                            <p:childTnLst>
                              <p:par>
                                <p:cTn id="8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400"/>
                            </p:stCondLst>
                            <p:childTnLst>
                              <p:par>
                                <p:cTn id="9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7700"/>
                            </p:stCondLst>
                            <p:childTnLst>
                              <p:par>
                                <p:cTn id="9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8200"/>
                            </p:stCondLst>
                            <p:childTnLst>
                              <p:par>
                                <p:cTn id="10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  <p:bldP spid="55" grpId="0"/>
      <p:bldP spid="57" grpId="0"/>
      <p:bldP spid="71" grpId="0" animBg="1"/>
      <p:bldP spid="72" grpId="0" animBg="1"/>
      <p:bldP spid="73" grpId="0"/>
      <p:bldP spid="74" grpId="0"/>
      <p:bldP spid="31" grpId="0" animBg="1"/>
      <p:bldP spid="32" grpId="0" animBg="1"/>
      <p:bldP spid="33" grpId="0"/>
      <p:bldP spid="34" grpId="0"/>
      <p:bldP spid="35" grpId="0" animBg="1"/>
      <p:bldP spid="36" grpId="0" animBg="1"/>
      <p:bldP spid="37" grpId="0"/>
      <p:bldP spid="38" grpId="0"/>
      <p:bldP spid="41" grpId="0" animBg="1"/>
      <p:bldP spid="42" grpId="0" animBg="1"/>
      <p:bldP spid="43" grpId="0"/>
      <p:bldP spid="4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pic>
        <p:nvPicPr>
          <p:cNvPr id="5" name="Image 4" descr="Person-question-2-151x300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6" name="Pensées 5"/>
          <p:cNvSpPr/>
          <p:nvPr/>
        </p:nvSpPr>
        <p:spPr>
          <a:xfrm>
            <a:off x="827584" y="980728"/>
            <a:ext cx="5112568" cy="1800200"/>
          </a:xfrm>
          <a:prstGeom prst="cloudCallout">
            <a:avLst>
              <a:gd name="adj1" fmla="val -49179"/>
              <a:gd name="adj2" fmla="val 74222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ZoneTexte 25"/>
          <p:cNvSpPr txBox="1"/>
          <p:nvPr/>
        </p:nvSpPr>
        <p:spPr>
          <a:xfrm>
            <a:off x="827584" y="1680773"/>
            <a:ext cx="4824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chemeClr val="accent6">
                    <a:lumMod val="75000"/>
                  </a:schemeClr>
                </a:solidFill>
              </a:rPr>
              <a:t>ماذا نقصد بمتصفح الإنترنت؟</a:t>
            </a:r>
            <a:endParaRPr lang="fr-FR" sz="2800" b="1" dirty="0">
              <a:ln w="1905"/>
              <a:solidFill>
                <a:schemeClr val="accent6">
                  <a:lumMod val="7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27" name="Picture 4" descr="C:\Users\RIDHA\Pictures\Image13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67944" y="3655643"/>
            <a:ext cx="1584176" cy="2713903"/>
          </a:xfrm>
          <a:prstGeom prst="rect">
            <a:avLst/>
          </a:prstGeom>
          <a:noFill/>
        </p:spPr>
      </p:pic>
      <p:grpSp>
        <p:nvGrpSpPr>
          <p:cNvPr id="28" name="Groupe 27"/>
          <p:cNvGrpSpPr/>
          <p:nvPr/>
        </p:nvGrpSpPr>
        <p:grpSpPr>
          <a:xfrm>
            <a:off x="5004048" y="2996952"/>
            <a:ext cx="2160240" cy="792088"/>
            <a:chOff x="3563888" y="1268760"/>
            <a:chExt cx="2664296" cy="936104"/>
          </a:xfrm>
        </p:grpSpPr>
        <p:sp>
          <p:nvSpPr>
            <p:cNvPr id="29" name="Pensées 28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31591"/>
                <a:gd name="adj2" fmla="val 110567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ZoneTexte 29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/>
                <a:t>الإجابة برفع الإصبع</a:t>
              </a:r>
            </a:p>
          </p:txBody>
        </p:sp>
      </p:grpSp>
      <p:grpSp>
        <p:nvGrpSpPr>
          <p:cNvPr id="3" name="Groupe 2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13" name="Groupe 1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8" name="Groupe 7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9" name="Groupe 81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19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21" name="Rectangle 20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22" name="Groupe 21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24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25" name="Rectangle 24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23" name="Rectangle 22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14" name="Image 13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5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5" name="Image 14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6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6" name="ZoneTexte 15"/>
                    <p:cNvSpPr txBox="1"/>
                    <p:nvPr/>
                  </p:nvSpPr>
                  <p:spPr>
                    <a:xfrm>
                      <a:off x="5796136" y="6428655"/>
                      <a:ext cx="2664296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7" name="ZoneTexte 16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8" name="ZoneTexte 17"/>
                    <p:cNvSpPr txBox="1"/>
                    <p:nvPr/>
                  </p:nvSpPr>
                  <p:spPr>
                    <a:xfrm>
                      <a:off x="2915816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المستوى:الثاني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10" name="Image 9" descr="3d print business.png"/>
                  <p:cNvPicPr>
                    <a:picLocks noChangeAspect="1"/>
                  </p:cNvPicPr>
                  <p:nvPr/>
                </p:nvPicPr>
                <p:blipFill>
                  <a:blip r:embed="rId7" cstate="print"/>
                  <a:stretch>
                    <a:fillRect/>
                  </a:stretch>
                </p:blipFill>
                <p:spPr>
                  <a:xfrm>
                    <a:off x="4716016" y="6237312"/>
                    <a:ext cx="1440160" cy="620688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31" name="ZoneTexte 30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33" name="ZoneTexte 32"/>
              <p:cNvSpPr txBox="1"/>
              <p:nvPr/>
            </p:nvSpPr>
            <p:spPr>
              <a:xfrm>
                <a:off x="2915816" y="75837"/>
                <a:ext cx="29523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>
                    <a:solidFill>
                      <a:schemeClr val="bg1"/>
                    </a:solidFill>
                  </a:rPr>
                  <a:t>التصفح في الإنترنت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32" name="Picture 2" descr="K:\منتدى اساتذة المعلوماتية\mobile_found_internet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5536" y="44624"/>
              <a:ext cx="1800200" cy="571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43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4642" y="620688"/>
            <a:ext cx="9144000" cy="5665812"/>
          </a:xfrm>
          <a:prstGeom prst="rect">
            <a:avLst/>
          </a:prstGeom>
        </p:spPr>
      </p:pic>
      <p:sp>
        <p:nvSpPr>
          <p:cNvPr id="56" name="Shape 856"/>
          <p:cNvSpPr/>
          <p:nvPr/>
        </p:nvSpPr>
        <p:spPr>
          <a:xfrm>
            <a:off x="8316416" y="725794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8" name="Shape 859"/>
          <p:cNvSpPr/>
          <p:nvPr/>
        </p:nvSpPr>
        <p:spPr>
          <a:xfrm>
            <a:off x="4828802" y="753426"/>
            <a:ext cx="3436175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9" name="ZoneTexte 58"/>
          <p:cNvSpPr txBox="1"/>
          <p:nvPr/>
        </p:nvSpPr>
        <p:spPr>
          <a:xfrm>
            <a:off x="8316416" y="725794"/>
            <a:ext cx="537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1</a:t>
            </a:r>
            <a:r>
              <a:rPr lang="fr-FR" sz="2800" b="1" dirty="0" smtClean="0">
                <a:solidFill>
                  <a:srgbClr val="FFFF00"/>
                </a:solidFill>
              </a:rPr>
              <a:t>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60" name="ZoneTexte 59"/>
          <p:cNvSpPr txBox="1"/>
          <p:nvPr/>
        </p:nvSpPr>
        <p:spPr>
          <a:xfrm>
            <a:off x="5006726" y="764704"/>
            <a:ext cx="3093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rtl="1"/>
            <a:r>
              <a:rPr lang="ar-DZ" sz="2400" b="1" dirty="0" smtClean="0">
                <a:solidFill>
                  <a:srgbClr val="FFFF00"/>
                </a:solidFill>
              </a:rPr>
              <a:t> </a:t>
            </a:r>
            <a:r>
              <a:rPr lang="ar-DZ" sz="2400" b="1" dirty="0">
                <a:solidFill>
                  <a:srgbClr val="FFFF00"/>
                </a:solidFill>
              </a:rPr>
              <a:t>المتصفح </a:t>
            </a:r>
            <a:r>
              <a:rPr lang="fr-FR" sz="2400" b="1" dirty="0">
                <a:solidFill>
                  <a:srgbClr val="FFFF00"/>
                </a:solidFill>
              </a:rPr>
              <a:t>le navigateur</a:t>
            </a:r>
            <a:r>
              <a:rPr lang="ar-DZ" sz="2400" b="1" dirty="0" smtClean="0">
                <a:solidFill>
                  <a:srgbClr val="FFFF00"/>
                </a:solidFill>
              </a:rPr>
              <a:t>:  </a:t>
            </a:r>
            <a:endParaRPr lang="en-US" sz="2400" b="1" dirty="0" smtClean="0">
              <a:solidFill>
                <a:srgbClr val="FFFF00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 flipH="1" flipV="1">
            <a:off x="251520" y="1772816"/>
            <a:ext cx="8568952" cy="1368152"/>
          </a:xfrm>
          <a:prstGeom prst="wedgeRoundRectCallout">
            <a:avLst>
              <a:gd name="adj1" fmla="val -19782"/>
              <a:gd name="adj2" fmla="val 86869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395536" y="1888956"/>
            <a:ext cx="842493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rtl="1"/>
            <a:r>
              <a:rPr lang="ar-DZ" sz="2200" b="1" dirty="0">
                <a:solidFill>
                  <a:schemeClr val="bg1"/>
                </a:solidFill>
              </a:rPr>
              <a:t>هو برنامج يستعمل لعرض وتصفح المواقع الإلكترونية والبحث عن المعلومات الموجودة في شبكة الإنترنت.</a:t>
            </a:r>
          </a:p>
          <a:p>
            <a:pPr lvl="0" algn="r" rtl="1"/>
            <a:r>
              <a:rPr lang="ar-DZ" sz="2200" b="1" dirty="0">
                <a:solidFill>
                  <a:schemeClr val="bg1"/>
                </a:solidFill>
              </a:rPr>
              <a:t>ومن أشهر برامج </a:t>
            </a:r>
            <a:r>
              <a:rPr lang="ar-DZ" sz="2200" b="1" dirty="0" smtClean="0">
                <a:solidFill>
                  <a:schemeClr val="bg1"/>
                </a:solidFill>
              </a:rPr>
              <a:t>الملاحة:</a:t>
            </a:r>
            <a:r>
              <a:rPr lang="fr-FR" sz="2100" b="1" dirty="0" smtClean="0">
                <a:solidFill>
                  <a:schemeClr val="bg1"/>
                </a:solidFill>
              </a:rPr>
              <a:t>Internet Explorer </a:t>
            </a:r>
            <a:r>
              <a:rPr lang="ar-DZ" sz="2100" b="1" dirty="0" smtClean="0">
                <a:solidFill>
                  <a:schemeClr val="bg1"/>
                </a:solidFill>
              </a:rPr>
              <a:t> </a:t>
            </a:r>
            <a:r>
              <a:rPr lang="ar-DZ" sz="2200" b="1" dirty="0" smtClean="0">
                <a:solidFill>
                  <a:schemeClr val="bg1"/>
                </a:solidFill>
              </a:rPr>
              <a:t>و </a:t>
            </a:r>
            <a:r>
              <a:rPr lang="fr-FR" sz="2100" b="1" dirty="0">
                <a:solidFill>
                  <a:schemeClr val="bg1"/>
                </a:solidFill>
              </a:rPr>
              <a:t>Mozilla </a:t>
            </a:r>
            <a:r>
              <a:rPr lang="fr-FR" sz="2100" b="1" dirty="0" smtClean="0">
                <a:solidFill>
                  <a:schemeClr val="bg1"/>
                </a:solidFill>
              </a:rPr>
              <a:t>Firefox</a:t>
            </a:r>
            <a:r>
              <a:rPr lang="ar-DZ" sz="2100" b="1" dirty="0" smtClean="0">
                <a:solidFill>
                  <a:schemeClr val="bg1"/>
                </a:solidFill>
              </a:rPr>
              <a:t> </a:t>
            </a:r>
            <a:r>
              <a:rPr lang="ar-DZ" sz="2200" b="1" dirty="0" smtClean="0">
                <a:solidFill>
                  <a:schemeClr val="bg1"/>
                </a:solidFill>
              </a:rPr>
              <a:t>و </a:t>
            </a:r>
            <a:r>
              <a:rPr lang="fr-FR" sz="2100" b="1" dirty="0" smtClean="0">
                <a:solidFill>
                  <a:schemeClr val="bg1"/>
                </a:solidFill>
              </a:rPr>
              <a:t>Google</a:t>
            </a:r>
            <a:r>
              <a:rPr lang="ar-DZ" sz="2200" b="1" dirty="0" smtClean="0">
                <a:solidFill>
                  <a:schemeClr val="bg1"/>
                </a:solidFill>
              </a:rPr>
              <a:t> </a:t>
            </a:r>
            <a:r>
              <a:rPr lang="fr-FR" sz="2100" b="1" dirty="0" smtClean="0">
                <a:solidFill>
                  <a:schemeClr val="bg1"/>
                </a:solidFill>
              </a:rPr>
              <a:t>Chrome</a:t>
            </a:r>
            <a:endParaRPr lang="fr-FR" sz="2200" b="1" dirty="0">
              <a:solidFill>
                <a:schemeClr val="bg1"/>
              </a:solidFill>
            </a:endParaRPr>
          </a:p>
        </p:txBody>
      </p:sp>
      <p:sp>
        <p:nvSpPr>
          <p:cNvPr id="13" name="Nuage 12"/>
          <p:cNvSpPr/>
          <p:nvPr/>
        </p:nvSpPr>
        <p:spPr>
          <a:xfrm>
            <a:off x="179512" y="3212976"/>
            <a:ext cx="8820471" cy="3312368"/>
          </a:xfrm>
          <a:prstGeom prst="cloud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2" name="Groupe 11"/>
          <p:cNvGrpSpPr/>
          <p:nvPr/>
        </p:nvGrpSpPr>
        <p:grpSpPr>
          <a:xfrm>
            <a:off x="1123181" y="3241964"/>
            <a:ext cx="3952875" cy="2819400"/>
            <a:chOff x="2595562" y="2019300"/>
            <a:chExt cx="3952875" cy="2819400"/>
          </a:xfrm>
        </p:grpSpPr>
        <p:pic>
          <p:nvPicPr>
            <p:cNvPr id="2050" name="Picture 2" descr="K:\منتدى اساتذة المعلوماتية\mobile_found_internet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595562" y="2019300"/>
              <a:ext cx="3952875" cy="2819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Rectangle 41"/>
            <p:cNvSpPr/>
            <p:nvPr/>
          </p:nvSpPr>
          <p:spPr>
            <a:xfrm>
              <a:off x="3017734" y="2711154"/>
              <a:ext cx="2144781" cy="415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 rtl="1"/>
              <a:r>
                <a:rPr lang="ar-DZ" sz="2100" b="1" dirty="0" smtClean="0"/>
                <a:t>التصفح في </a:t>
              </a:r>
              <a:r>
                <a:rPr lang="fr-FR" sz="2100" b="1" dirty="0" smtClean="0"/>
                <a:t>Internet</a:t>
              </a:r>
              <a:endParaRPr lang="fr-FR" sz="2200" b="1" dirty="0"/>
            </a:p>
          </p:txBody>
        </p:sp>
      </p:grpSp>
      <p:grpSp>
        <p:nvGrpSpPr>
          <p:cNvPr id="6" name="Groupe 5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96" name="Groupe 195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32" name="Image 31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33" name="Image 32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34" name="ZoneTexte 33"/>
                  <p:cNvSpPr txBox="1"/>
                  <p:nvPr/>
                </p:nvSpPr>
                <p:spPr>
                  <a:xfrm>
                    <a:off x="5652120" y="6351711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5" name="ZoneTexte 34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6" name="ZoneTexte 35"/>
                  <p:cNvSpPr txBox="1"/>
                  <p:nvPr/>
                </p:nvSpPr>
                <p:spPr>
                  <a:xfrm>
                    <a:off x="2987824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52" name="Image 51" descr="3d print business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54" name="ZoneTexte 53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ZoneTexte 54"/>
              <p:cNvSpPr txBox="1"/>
              <p:nvPr/>
            </p:nvSpPr>
            <p:spPr>
              <a:xfrm>
                <a:off x="2915816" y="44624"/>
                <a:ext cx="29523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>
                    <a:solidFill>
                      <a:schemeClr val="bg1"/>
                    </a:solidFill>
                  </a:rPr>
                  <a:t>التصفح في الإنترنت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43" name="Picture 2" descr="K:\منتدى اساتذة المعلوماتية\mobile_found_internet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5536" y="44624"/>
              <a:ext cx="1800200" cy="571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e 15"/>
          <p:cNvGrpSpPr/>
          <p:nvPr/>
        </p:nvGrpSpPr>
        <p:grpSpPr>
          <a:xfrm>
            <a:off x="4839975" y="3263643"/>
            <a:ext cx="4030439" cy="2810155"/>
            <a:chOff x="4839975" y="3263643"/>
            <a:chExt cx="4030439" cy="2810155"/>
          </a:xfrm>
        </p:grpSpPr>
        <p:pic>
          <p:nvPicPr>
            <p:cNvPr id="46" name="Picture 6" descr="C:\Users\PRF MEZOUGH AEK\Downloads\chrome.pn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62335" y="3263643"/>
              <a:ext cx="987882" cy="792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7" descr="C:\Users\PRF MEZOUGH AEK\Downloads\firefox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4082" y="4767883"/>
              <a:ext cx="1056075" cy="9435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Picture 1" descr="C:\Users\PRF MEZOUGH AEK\Downloads\edge.pn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7830" y="3318093"/>
              <a:ext cx="1044090" cy="7803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" name="Picture 2" descr="C:\Users\PRF MEZOUGH AEK\Downloads\opera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05464" y="4346438"/>
              <a:ext cx="989856" cy="7409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3" descr="C:\Users\PRF MEZOUGH AEK\Downloads\safari.png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4103" y="4767883"/>
              <a:ext cx="1106114" cy="9606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ZoneTexte 50"/>
            <p:cNvSpPr txBox="1"/>
            <p:nvPr/>
          </p:nvSpPr>
          <p:spPr>
            <a:xfrm>
              <a:off x="7762418" y="5087424"/>
              <a:ext cx="110799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b="1" dirty="0" err="1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Opera</a:t>
              </a:r>
              <a:r>
                <a:rPr lang="fr-FR" sz="12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	</a:t>
              </a:r>
              <a:endParaRPr lang="fr-F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3" name="ZoneTexte 52"/>
            <p:cNvSpPr txBox="1"/>
            <p:nvPr/>
          </p:nvSpPr>
          <p:spPr>
            <a:xfrm>
              <a:off x="4839975" y="4125173"/>
              <a:ext cx="153657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b="1" dirty="0" smtClean="0"/>
                <a:t>Internet</a:t>
              </a:r>
              <a:r>
                <a:rPr lang="fr-FR" sz="1400" b="1" dirty="0" smtClean="0"/>
                <a:t> explorer</a:t>
              </a:r>
              <a:endParaRPr lang="fr-FR" sz="1400" b="1" dirty="0"/>
            </a:p>
          </p:txBody>
        </p:sp>
        <p:sp>
          <p:nvSpPr>
            <p:cNvPr id="57" name="ZoneTexte 56"/>
            <p:cNvSpPr txBox="1"/>
            <p:nvPr/>
          </p:nvSpPr>
          <p:spPr>
            <a:xfrm>
              <a:off x="6639146" y="5735244"/>
              <a:ext cx="6691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Safari</a:t>
              </a:r>
              <a:endParaRPr lang="fr-F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" name="ZoneTexte 60"/>
            <p:cNvSpPr txBox="1"/>
            <p:nvPr/>
          </p:nvSpPr>
          <p:spPr>
            <a:xfrm>
              <a:off x="6303954" y="4098442"/>
              <a:ext cx="13350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Google </a:t>
              </a:r>
              <a:r>
                <a:rPr lang="fr-FR" sz="14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Chrome</a:t>
              </a:r>
              <a:endParaRPr lang="fr-F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" name="ZoneTexte 61"/>
            <p:cNvSpPr txBox="1"/>
            <p:nvPr/>
          </p:nvSpPr>
          <p:spPr>
            <a:xfrm>
              <a:off x="4902158" y="5668887"/>
              <a:ext cx="12760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Mozilla Firefox</a:t>
              </a:r>
              <a:endParaRPr lang="fr-F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8" grpId="0" animBg="1"/>
      <p:bldP spid="59" grpId="0"/>
      <p:bldP spid="60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4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30" name="Pensées 29"/>
          <p:cNvSpPr/>
          <p:nvPr/>
        </p:nvSpPr>
        <p:spPr>
          <a:xfrm>
            <a:off x="2123728" y="1282393"/>
            <a:ext cx="5544616" cy="2064451"/>
          </a:xfrm>
          <a:prstGeom prst="cloudCallout">
            <a:avLst>
              <a:gd name="adj1" fmla="val -38100"/>
              <a:gd name="adj2" fmla="val 77244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6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3429000"/>
            <a:ext cx="2941886" cy="2952328"/>
          </a:xfrm>
          <a:prstGeom prst="rect">
            <a:avLst/>
          </a:prstGeom>
          <a:noFill/>
        </p:spPr>
      </p:pic>
      <p:sp>
        <p:nvSpPr>
          <p:cNvPr id="34" name="ZoneTexte 33"/>
          <p:cNvSpPr txBox="1"/>
          <p:nvPr/>
        </p:nvSpPr>
        <p:spPr>
          <a:xfrm>
            <a:off x="2375756" y="2083785"/>
            <a:ext cx="4680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ماهي الخطوات المتبعة لتشغيل المتصفحات؟ </a:t>
            </a:r>
          </a:p>
        </p:txBody>
      </p:sp>
      <p:grpSp>
        <p:nvGrpSpPr>
          <p:cNvPr id="4" name="Groupe 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" name="Groupe 1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19" name="Groupe 18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3" name="Groupe 2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8" name="Groupe 17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5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7" name="Rectangle 6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8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10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11" name="Rectangle 10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9" name="Rectangle 8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13" name="Image 12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4" name="Image 13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5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5" name="ZoneTexte 14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6" name="ZoneTexte 15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7" name="ZoneTexte 16"/>
                    <p:cNvSpPr txBox="1"/>
                    <p:nvPr/>
                  </p:nvSpPr>
                  <p:spPr>
                    <a:xfrm>
                      <a:off x="2915816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المستوى:الثاني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32" name="Image 31" descr="3d print business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4716016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33" name="ZoneTexte 32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8" name="ZoneTexte 27"/>
              <p:cNvSpPr txBox="1"/>
              <p:nvPr/>
            </p:nvSpPr>
            <p:spPr>
              <a:xfrm>
                <a:off x="2915816" y="75837"/>
                <a:ext cx="29523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>
                    <a:solidFill>
                      <a:schemeClr val="bg1"/>
                    </a:solidFill>
                  </a:rPr>
                  <a:t>التصفح في الإنترنت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25" name="Picture 2" descr="K:\منتدى اساتذة المعلوماتية\mobile_found_internet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5536" y="44624"/>
              <a:ext cx="1800200" cy="571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838750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Image 114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6896" y="607504"/>
            <a:ext cx="9144000" cy="5665812"/>
          </a:xfrm>
          <a:prstGeom prst="rect">
            <a:avLst/>
          </a:prstGeom>
        </p:spPr>
      </p:pic>
      <p:sp>
        <p:nvSpPr>
          <p:cNvPr id="89" name="Shape 856"/>
          <p:cNvSpPr/>
          <p:nvPr/>
        </p:nvSpPr>
        <p:spPr>
          <a:xfrm>
            <a:off x="8274185" y="692696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0" name="Shape 859"/>
          <p:cNvSpPr/>
          <p:nvPr/>
        </p:nvSpPr>
        <p:spPr>
          <a:xfrm>
            <a:off x="4031939" y="720328"/>
            <a:ext cx="4190807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1" name="ZoneTexte 90"/>
          <p:cNvSpPr txBox="1"/>
          <p:nvPr/>
        </p:nvSpPr>
        <p:spPr>
          <a:xfrm>
            <a:off x="8274185" y="692696"/>
            <a:ext cx="546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2-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92" name="ZoneTexte 91"/>
          <p:cNvSpPr txBox="1"/>
          <p:nvPr/>
        </p:nvSpPr>
        <p:spPr>
          <a:xfrm>
            <a:off x="4283968" y="692696"/>
            <a:ext cx="367240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600" b="1" dirty="0">
                <a:solidFill>
                  <a:srgbClr val="FFFF00"/>
                </a:solidFill>
              </a:rPr>
              <a:t>تشغيل المتصفح :</a:t>
            </a:r>
            <a:endParaRPr lang="fr-FR" sz="2600" b="1" dirty="0">
              <a:solidFill>
                <a:srgbClr val="FFFF00"/>
              </a:solidFill>
            </a:endParaRPr>
          </a:p>
        </p:txBody>
      </p:sp>
      <p:grpSp>
        <p:nvGrpSpPr>
          <p:cNvPr id="121" name="Group 118"/>
          <p:cNvGrpSpPr/>
          <p:nvPr/>
        </p:nvGrpSpPr>
        <p:grpSpPr>
          <a:xfrm>
            <a:off x="4947372" y="4130111"/>
            <a:ext cx="3801092" cy="523025"/>
            <a:chOff x="283203" y="2392845"/>
            <a:chExt cx="4076627" cy="1114425"/>
          </a:xfrm>
        </p:grpSpPr>
        <p:sp>
          <p:nvSpPr>
            <p:cNvPr id="122" name="Rectangle 121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3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4" name="Rectangle 123"/>
            <p:cNvSpPr/>
            <p:nvPr/>
          </p:nvSpPr>
          <p:spPr>
            <a:xfrm flipH="1">
              <a:off x="283203" y="2592869"/>
              <a:ext cx="3301923" cy="9144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Rectangle 125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29" name="Rectangle 128"/>
          <p:cNvSpPr/>
          <p:nvPr/>
        </p:nvSpPr>
        <p:spPr>
          <a:xfrm>
            <a:off x="8035497" y="4130112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DZ" b="1" dirty="0" smtClean="0">
                <a:solidFill>
                  <a:schemeClr val="bg1"/>
                </a:solidFill>
              </a:rPr>
              <a:t>3</a:t>
            </a:r>
            <a:r>
              <a:rPr lang="ar-SA" b="1" dirty="0" smtClean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5077444" y="4236036"/>
            <a:ext cx="26629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نختار </a:t>
            </a: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متصفح من المتصفحات.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139" name="Group 104"/>
          <p:cNvGrpSpPr/>
          <p:nvPr/>
        </p:nvGrpSpPr>
        <p:grpSpPr>
          <a:xfrm>
            <a:off x="5217392" y="2757294"/>
            <a:ext cx="3514448" cy="527690"/>
            <a:chOff x="987536" y="1173645"/>
            <a:chExt cx="3372294" cy="1114425"/>
          </a:xfrm>
        </p:grpSpPr>
        <p:sp>
          <p:nvSpPr>
            <p:cNvPr id="140" name="Rectangle 139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2" name="Rectangle 141"/>
            <p:cNvSpPr/>
            <p:nvPr/>
          </p:nvSpPr>
          <p:spPr>
            <a:xfrm flipH="1">
              <a:off x="987536" y="1373671"/>
              <a:ext cx="2597593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3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4" name="Rectangle 143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45" name="Rectangle 144"/>
          <p:cNvSpPr/>
          <p:nvPr/>
        </p:nvSpPr>
        <p:spPr>
          <a:xfrm>
            <a:off x="7956376" y="2766971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DZ" b="1" dirty="0" smtClean="0">
                <a:solidFill>
                  <a:schemeClr val="bg1"/>
                </a:solidFill>
              </a:rPr>
              <a:t>1</a:t>
            </a:r>
            <a:r>
              <a:rPr lang="ar-SA" b="1" dirty="0" smtClean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46" name="TextBox 68"/>
          <p:cNvSpPr txBox="1"/>
          <p:nvPr/>
        </p:nvSpPr>
        <p:spPr>
          <a:xfrm>
            <a:off x="5868144" y="2905199"/>
            <a:ext cx="1404157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r" rtl="1">
              <a:spcBef>
                <a:spcPct val="20000"/>
              </a:spcBef>
              <a:defRPr/>
            </a:pPr>
            <a:r>
              <a:rPr lang="fr-FR" sz="2000" b="1" dirty="0">
                <a:solidFill>
                  <a:schemeClr val="bg1"/>
                </a:solidFill>
                <a:ea typeface="Times New Roman"/>
                <a:cs typeface="Times New Roman"/>
              </a:rPr>
              <a:t>Démarrer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</p:txBody>
      </p:sp>
      <p:grpSp>
        <p:nvGrpSpPr>
          <p:cNvPr id="147" name="Group 104"/>
          <p:cNvGrpSpPr/>
          <p:nvPr/>
        </p:nvGrpSpPr>
        <p:grpSpPr>
          <a:xfrm>
            <a:off x="3347863" y="3429000"/>
            <a:ext cx="5383978" cy="527690"/>
            <a:chOff x="-806374" y="1173645"/>
            <a:chExt cx="5166204" cy="1114425"/>
          </a:xfrm>
        </p:grpSpPr>
        <p:sp>
          <p:nvSpPr>
            <p:cNvPr id="148" name="Rectangle 147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9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0" name="Rectangle 149"/>
            <p:cNvSpPr/>
            <p:nvPr/>
          </p:nvSpPr>
          <p:spPr>
            <a:xfrm flipH="1">
              <a:off x="-806374" y="1373671"/>
              <a:ext cx="4391502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Rectangle 151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53" name="Rectangle 152"/>
          <p:cNvSpPr/>
          <p:nvPr/>
        </p:nvSpPr>
        <p:spPr>
          <a:xfrm>
            <a:off x="3607732" y="3532946"/>
            <a:ext cx="405190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fr-FR" sz="2000" b="1" dirty="0">
                <a:solidFill>
                  <a:schemeClr val="bg1"/>
                </a:solidFill>
              </a:rPr>
              <a:t>Tous les programmes ou programme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8004931" y="3435690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DZ" b="1" dirty="0" smtClean="0">
                <a:solidFill>
                  <a:schemeClr val="bg1"/>
                </a:solidFill>
              </a:rPr>
              <a:t>2</a:t>
            </a:r>
            <a:r>
              <a:rPr lang="ar-SA" b="1" dirty="0" smtClean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94" name="Rectangle 93"/>
          <p:cNvSpPr/>
          <p:nvPr/>
        </p:nvSpPr>
        <p:spPr>
          <a:xfrm>
            <a:off x="5465775" y="2170221"/>
            <a:ext cx="1207382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3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 ننقر على:</a:t>
            </a:r>
            <a:endParaRPr lang="fr-FR" sz="2300" dirty="0">
              <a:solidFill>
                <a:schemeClr val="bg1"/>
              </a:solidFill>
            </a:endParaRPr>
          </a:p>
        </p:txBody>
      </p:sp>
      <p:grpSp>
        <p:nvGrpSpPr>
          <p:cNvPr id="96" name="Groupe 95"/>
          <p:cNvGrpSpPr/>
          <p:nvPr/>
        </p:nvGrpSpPr>
        <p:grpSpPr>
          <a:xfrm>
            <a:off x="6804248" y="1369255"/>
            <a:ext cx="1915058" cy="576064"/>
            <a:chOff x="6061658" y="2348880"/>
            <a:chExt cx="1915058" cy="576064"/>
          </a:xfrm>
        </p:grpSpPr>
        <p:grpSp>
          <p:nvGrpSpPr>
            <p:cNvPr id="97" name="Groupe 58"/>
            <p:cNvGrpSpPr/>
            <p:nvPr/>
          </p:nvGrpSpPr>
          <p:grpSpPr>
            <a:xfrm>
              <a:off x="6061658" y="2348880"/>
              <a:ext cx="1915058" cy="504056"/>
              <a:chOff x="6061658" y="2852936"/>
              <a:chExt cx="1915058" cy="576064"/>
            </a:xfrm>
          </p:grpSpPr>
          <p:sp>
            <p:nvSpPr>
              <p:cNvPr id="99" name="Notched Right Arrow 54"/>
              <p:cNvSpPr/>
              <p:nvPr/>
            </p:nvSpPr>
            <p:spPr>
              <a:xfrm flipH="1">
                <a:off x="6061658" y="3008511"/>
                <a:ext cx="1915058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0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101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Rectangle 101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98" name="ZoneTexte 97"/>
            <p:cNvSpPr txBox="1"/>
            <p:nvPr/>
          </p:nvSpPr>
          <p:spPr>
            <a:xfrm>
              <a:off x="6313686" y="2494057"/>
              <a:ext cx="99461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200" b="1" dirty="0" smtClean="0">
                  <a:solidFill>
                    <a:srgbClr val="FFFF00"/>
                  </a:solidFill>
                </a:rPr>
                <a:t>طريقة</a:t>
              </a:r>
              <a:r>
                <a:rPr lang="ar-DZ" b="1" dirty="0" smtClean="0">
                  <a:solidFill>
                    <a:srgbClr val="FFFF00"/>
                  </a:solidFill>
                </a:rPr>
                <a:t>1</a:t>
              </a:r>
              <a:r>
                <a:rPr lang="ar-DZ" sz="2200" b="1" dirty="0" smtClean="0">
                  <a:solidFill>
                    <a:srgbClr val="FFFF00"/>
                  </a:solidFill>
                </a:rPr>
                <a:t>: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103" name="Groupe 102"/>
          <p:cNvGrpSpPr/>
          <p:nvPr/>
        </p:nvGrpSpPr>
        <p:grpSpPr>
          <a:xfrm>
            <a:off x="6804248" y="2060848"/>
            <a:ext cx="1915058" cy="576064"/>
            <a:chOff x="6061658" y="2348880"/>
            <a:chExt cx="1915058" cy="576064"/>
          </a:xfrm>
        </p:grpSpPr>
        <p:grpSp>
          <p:nvGrpSpPr>
            <p:cNvPr id="104" name="Groupe 58"/>
            <p:cNvGrpSpPr/>
            <p:nvPr/>
          </p:nvGrpSpPr>
          <p:grpSpPr>
            <a:xfrm>
              <a:off x="6061658" y="2348880"/>
              <a:ext cx="1915058" cy="504056"/>
              <a:chOff x="6061658" y="2852936"/>
              <a:chExt cx="1915058" cy="576064"/>
            </a:xfrm>
          </p:grpSpPr>
          <p:sp>
            <p:nvSpPr>
              <p:cNvPr id="106" name="Notched Right Arrow 54"/>
              <p:cNvSpPr/>
              <p:nvPr/>
            </p:nvSpPr>
            <p:spPr>
              <a:xfrm flipH="1">
                <a:off x="6061658" y="3008511"/>
                <a:ext cx="1915058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7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108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105" name="ZoneTexte 104"/>
            <p:cNvSpPr txBox="1"/>
            <p:nvPr/>
          </p:nvSpPr>
          <p:spPr>
            <a:xfrm>
              <a:off x="6313686" y="2494057"/>
              <a:ext cx="99461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200" b="1" dirty="0" smtClean="0">
                  <a:solidFill>
                    <a:srgbClr val="FFFF00"/>
                  </a:solidFill>
                </a:rPr>
                <a:t>طريقة</a:t>
              </a:r>
              <a:r>
                <a:rPr lang="ar-DZ" b="1" dirty="0" smtClean="0">
                  <a:solidFill>
                    <a:srgbClr val="FFFF00"/>
                  </a:solidFill>
                </a:rPr>
                <a:t>2</a:t>
              </a:r>
              <a:r>
                <a:rPr lang="ar-DZ" sz="2200" b="1" dirty="0" smtClean="0">
                  <a:solidFill>
                    <a:srgbClr val="FFFF00"/>
                  </a:solidFill>
                </a:rPr>
                <a:t>: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110" name="Rectangle 109"/>
          <p:cNvSpPr/>
          <p:nvPr/>
        </p:nvSpPr>
        <p:spPr>
          <a:xfrm>
            <a:off x="475384" y="1359709"/>
            <a:ext cx="626469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100" b="1" dirty="0">
                <a:solidFill>
                  <a:schemeClr val="bg1"/>
                </a:solidFill>
                <a:ea typeface="Times New Roman"/>
                <a:cs typeface="Times New Roman"/>
              </a:rPr>
              <a:t>النقر مرتين على أيقونة البرنامج من سطح المكتب أو من شريط المهام إن وجد بالزر الأيسر</a:t>
            </a:r>
            <a:r>
              <a:rPr lang="ar-DZ" sz="21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endParaRPr lang="ar-DZ" sz="2100" b="1" dirty="0">
              <a:solidFill>
                <a:schemeClr val="bg1"/>
              </a:solidFill>
              <a:ea typeface="Times New Roman"/>
              <a:cs typeface="Times New Roman"/>
            </a:endParaRPr>
          </a:p>
        </p:txBody>
      </p: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6" name="Groupe 5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4" name="Groupe 23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3" name="Groupe 2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8" name="Groupe 17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5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7" name="Rectangle 6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8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10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11" name="Rectangle 10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9" name="Rectangle 8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13" name="Image 12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3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4" name="Image 13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5" name="ZoneTexte 14"/>
                    <p:cNvSpPr txBox="1"/>
                    <p:nvPr/>
                  </p:nvSpPr>
                  <p:spPr>
                    <a:xfrm>
                      <a:off x="5652120" y="6453336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6" name="ZoneTexte 15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7" name="ZoneTexte 16"/>
                    <p:cNvSpPr txBox="1"/>
                    <p:nvPr/>
                  </p:nvSpPr>
                  <p:spPr>
                    <a:xfrm>
                      <a:off x="2915816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المستوى:الثاني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49" name="Image 48" descr="3d print business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4716016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50" name="ZoneTexte 49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52" name="ZoneTexte 51"/>
              <p:cNvSpPr txBox="1"/>
              <p:nvPr/>
            </p:nvSpPr>
            <p:spPr>
              <a:xfrm>
                <a:off x="2915816" y="44624"/>
                <a:ext cx="29523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>
                    <a:solidFill>
                      <a:schemeClr val="bg1"/>
                    </a:solidFill>
                  </a:rPr>
                  <a:t>التصفح في الإنترنت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11" name="Picture 2" descr="K:\منتدى اساتذة المعلوماتية\mobile_found_internet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5536" y="44624"/>
              <a:ext cx="1800200" cy="571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600"/>
                            </p:stCondLst>
                            <p:childTnLst>
                              <p:par>
                                <p:cTn id="3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1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6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1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60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10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600"/>
                            </p:stCondLst>
                            <p:childTnLst>
                              <p:par>
                                <p:cTn id="6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100"/>
                            </p:stCondLst>
                            <p:childTnLst>
                              <p:par>
                                <p:cTn id="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600"/>
                            </p:stCondLst>
                            <p:childTnLst>
                              <p:par>
                                <p:cTn id="7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600"/>
                            </p:stCondLst>
                            <p:childTnLst>
                              <p:par>
                                <p:cTn id="7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8600"/>
                            </p:stCondLst>
                            <p:childTnLst>
                              <p:par>
                                <p:cTn id="8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90" grpId="0" animBg="1"/>
      <p:bldP spid="91" grpId="0"/>
      <p:bldP spid="92" grpId="0"/>
      <p:bldP spid="129" grpId="0"/>
      <p:bldP spid="130" grpId="0"/>
      <p:bldP spid="145" grpId="0"/>
      <p:bldP spid="146" grpId="0"/>
      <p:bldP spid="153" grpId="0"/>
      <p:bldP spid="154" grpId="0"/>
      <p:bldP spid="94" grpId="0"/>
      <p:bldP spid="1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4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30" name="Pensées 29"/>
          <p:cNvSpPr/>
          <p:nvPr/>
        </p:nvSpPr>
        <p:spPr>
          <a:xfrm>
            <a:off x="1763688" y="1268760"/>
            <a:ext cx="4896544" cy="1728192"/>
          </a:xfrm>
          <a:prstGeom prst="cloudCallout">
            <a:avLst>
              <a:gd name="adj1" fmla="val -30751"/>
              <a:gd name="adj2" fmla="val 8842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6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3284984"/>
            <a:ext cx="2941886" cy="2952328"/>
          </a:xfrm>
          <a:prstGeom prst="rect">
            <a:avLst/>
          </a:prstGeom>
          <a:noFill/>
        </p:spPr>
      </p:pic>
      <p:sp>
        <p:nvSpPr>
          <p:cNvPr id="31" name="ZoneTexte 30"/>
          <p:cNvSpPr txBox="1"/>
          <p:nvPr/>
        </p:nvSpPr>
        <p:spPr>
          <a:xfrm>
            <a:off x="1931707" y="1850381"/>
            <a:ext cx="4296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ماذا نقصد بالويب </a:t>
            </a:r>
            <a:r>
              <a:rPr lang="fr-FR" sz="2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WEB</a:t>
            </a:r>
            <a:r>
              <a:rPr lang="ar-DZ" sz="2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أو </a:t>
            </a:r>
            <a:r>
              <a:rPr lang="en-US" sz="2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WWW</a:t>
            </a:r>
            <a:r>
              <a:rPr lang="ar-DZ" sz="2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؟</a:t>
            </a:r>
          </a:p>
        </p:txBody>
      </p: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19" name="Groupe 18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8" name="Groupe 17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3" name="Image 12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4" name="Image 13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5" name="ZoneTexte 14"/>
                  <p:cNvSpPr txBox="1"/>
                  <p:nvPr/>
                </p:nvSpPr>
                <p:spPr>
                  <a:xfrm>
                    <a:off x="5652120" y="6351711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2987824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32" name="Image 31" descr="3d print business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33" name="ZoneTexte 32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ZoneTexte 34"/>
              <p:cNvSpPr txBox="1"/>
              <p:nvPr/>
            </p:nvSpPr>
            <p:spPr>
              <a:xfrm>
                <a:off x="2483768" y="44624"/>
                <a:ext cx="252028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>
                    <a:solidFill>
                      <a:schemeClr val="bg1"/>
                    </a:solidFill>
                  </a:rPr>
                  <a:t>التصفح في الإنترنت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25" name="Picture 2" descr="K:\منتدى اساتذة المعلوماتية\mobile_found_internet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5536" y="44624"/>
              <a:ext cx="1800200" cy="571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0678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sp>
        <p:nvSpPr>
          <p:cNvPr id="122" name="Rectangle 121"/>
          <p:cNvSpPr/>
          <p:nvPr/>
        </p:nvSpPr>
        <p:spPr>
          <a:xfrm>
            <a:off x="6012160" y="1495301"/>
            <a:ext cx="15833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01" name="Nuage 100"/>
          <p:cNvSpPr/>
          <p:nvPr/>
        </p:nvSpPr>
        <p:spPr>
          <a:xfrm rot="151158">
            <a:off x="-193275" y="3481351"/>
            <a:ext cx="9576088" cy="2906942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Shape 856"/>
          <p:cNvSpPr/>
          <p:nvPr/>
        </p:nvSpPr>
        <p:spPr>
          <a:xfrm>
            <a:off x="8316416" y="725794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63" name="Shape 859"/>
          <p:cNvSpPr/>
          <p:nvPr/>
        </p:nvSpPr>
        <p:spPr>
          <a:xfrm>
            <a:off x="4788024" y="753426"/>
            <a:ext cx="3476953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64" name="ZoneTexte 63"/>
          <p:cNvSpPr txBox="1"/>
          <p:nvPr/>
        </p:nvSpPr>
        <p:spPr>
          <a:xfrm>
            <a:off x="8316416" y="725794"/>
            <a:ext cx="537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3</a:t>
            </a:r>
            <a:r>
              <a:rPr lang="fr-FR" sz="2800" b="1" dirty="0" smtClean="0">
                <a:solidFill>
                  <a:srgbClr val="FFFF00"/>
                </a:solidFill>
              </a:rPr>
              <a:t>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65" name="ZoneTexte 64"/>
          <p:cNvSpPr txBox="1"/>
          <p:nvPr/>
        </p:nvSpPr>
        <p:spPr>
          <a:xfrm>
            <a:off x="5292080" y="764704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rtl="1"/>
            <a:r>
              <a:rPr lang="ar-DZ" sz="2400" b="1" dirty="0" smtClean="0">
                <a:solidFill>
                  <a:srgbClr val="FFFF00"/>
                </a:solidFill>
              </a:rPr>
              <a:t> </a:t>
            </a:r>
            <a:r>
              <a:rPr lang="ar-DZ" sz="2400" b="1" dirty="0">
                <a:solidFill>
                  <a:srgbClr val="FFFF00"/>
                </a:solidFill>
              </a:rPr>
              <a:t>الويب </a:t>
            </a:r>
            <a:r>
              <a:rPr lang="fr-FR" sz="2400" b="1" dirty="0" smtClean="0">
                <a:solidFill>
                  <a:srgbClr val="FFFF00"/>
                </a:solidFill>
              </a:rPr>
              <a:t>web</a:t>
            </a:r>
            <a:r>
              <a:rPr lang="ar-DZ" sz="2400" b="1" dirty="0" smtClean="0">
                <a:solidFill>
                  <a:srgbClr val="FFFF00"/>
                </a:solidFill>
              </a:rPr>
              <a:t> أو </a:t>
            </a:r>
            <a:r>
              <a:rPr lang="fr-FR" sz="2400" b="1" dirty="0">
                <a:solidFill>
                  <a:srgbClr val="FFFF00"/>
                </a:solidFill>
              </a:rPr>
              <a:t>www</a:t>
            </a:r>
            <a:endParaRPr lang="en-US" sz="2400" b="1" dirty="0" smtClean="0">
              <a:solidFill>
                <a:srgbClr val="FFFF00"/>
              </a:solidFill>
            </a:endParaRPr>
          </a:p>
        </p:txBody>
      </p:sp>
      <p:sp>
        <p:nvSpPr>
          <p:cNvPr id="66" name="Rectangle à coins arrondis 65"/>
          <p:cNvSpPr/>
          <p:nvPr/>
        </p:nvSpPr>
        <p:spPr>
          <a:xfrm flipH="1" flipV="1">
            <a:off x="251520" y="1700808"/>
            <a:ext cx="8568952" cy="1368152"/>
          </a:xfrm>
          <a:prstGeom prst="wedgeRoundRectCallout">
            <a:avLst>
              <a:gd name="adj1" fmla="val -19782"/>
              <a:gd name="adj2" fmla="val 86869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/>
          <p:cNvSpPr/>
          <p:nvPr/>
        </p:nvSpPr>
        <p:spPr>
          <a:xfrm>
            <a:off x="359532" y="2000163"/>
            <a:ext cx="842493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rtl="1"/>
            <a:r>
              <a:rPr lang="ar-DZ" sz="2200" b="1" dirty="0">
                <a:solidFill>
                  <a:schemeClr val="bg1"/>
                </a:solidFill>
              </a:rPr>
              <a:t>اختصار لعبارة </a:t>
            </a:r>
            <a:r>
              <a:rPr lang="fr-FR" sz="2200" b="1" dirty="0">
                <a:solidFill>
                  <a:schemeClr val="bg1"/>
                </a:solidFill>
              </a:rPr>
              <a:t>World Wide Web </a:t>
            </a:r>
            <a:r>
              <a:rPr lang="ar-DZ" sz="2200" b="1" dirty="0">
                <a:solidFill>
                  <a:schemeClr val="bg1"/>
                </a:solidFill>
              </a:rPr>
              <a:t>وهي عبارة عن نظام يسهل الوصول إلى المعلومات في الإنترنت.</a:t>
            </a:r>
            <a:endParaRPr lang="fr-FR" sz="2200" b="1" dirty="0">
              <a:solidFill>
                <a:schemeClr val="bg1"/>
              </a:solidFill>
            </a:endParaRPr>
          </a:p>
        </p:txBody>
      </p:sp>
      <p:grpSp>
        <p:nvGrpSpPr>
          <p:cNvPr id="12" name="Groupe 1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4" name="Groupe 3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2" name="Groupe 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8" name="Groupe 17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5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7" name="Rectangle 6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8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10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11" name="Rectangle 10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9" name="Rectangle 8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13" name="Image 12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3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4" name="Image 13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5" name="ZoneTexte 14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6" name="ZoneTexte 15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7" name="ZoneTexte 16"/>
                    <p:cNvSpPr txBox="1"/>
                    <p:nvPr/>
                  </p:nvSpPr>
                  <p:spPr>
                    <a:xfrm>
                      <a:off x="2987824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المستوى:الثاني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73" name="Image 72" descr="3d print business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4788024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74" name="ZoneTexte 73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38" name="ZoneTexte 37"/>
              <p:cNvSpPr txBox="1"/>
              <p:nvPr/>
            </p:nvSpPr>
            <p:spPr>
              <a:xfrm>
                <a:off x="2915816" y="75837"/>
                <a:ext cx="29523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>
                    <a:solidFill>
                      <a:schemeClr val="bg1"/>
                    </a:solidFill>
                  </a:rPr>
                  <a:t>التصفح في الإنترنت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71" name="Picture 2" descr="K:\منتدى اساتذة المعلوماتية\mobile_found_internet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5536" y="44624"/>
              <a:ext cx="1800200" cy="571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7" name="Groupe 76"/>
          <p:cNvGrpSpPr/>
          <p:nvPr/>
        </p:nvGrpSpPr>
        <p:grpSpPr>
          <a:xfrm>
            <a:off x="2195736" y="3068960"/>
            <a:ext cx="5904656" cy="3096344"/>
            <a:chOff x="0" y="0"/>
            <a:chExt cx="6867939" cy="4750904"/>
          </a:xfrm>
        </p:grpSpPr>
        <p:pic>
          <p:nvPicPr>
            <p:cNvPr id="78" name="Image 77" descr="K:\منتدى اساتذة المعلوماتية\Marketing-PNG-Transparent-Image.png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6867939" cy="47509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Image 89" descr="K:\منتدى اساتذة المعلوماتية\Capture45.PNG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6547" y="2425148"/>
              <a:ext cx="2365513" cy="129208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098" name="Picture 2" descr="C:\Users\RIDHA\Downloads\صور المعلوماتية\9-2-domain-png-image-thumb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833" y="4221088"/>
            <a:ext cx="2240446" cy="1684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00"/>
                            </p:stCondLst>
                            <p:childTnLst>
                              <p:par>
                                <p:cTn id="2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300"/>
                            </p:stCondLst>
                            <p:childTnLst>
                              <p:par>
                                <p:cTn id="2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600"/>
                            </p:stCondLst>
                            <p:childTnLst>
                              <p:par>
                                <p:cTn id="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/>
      <p:bldP spid="62" grpId="0" animBg="1"/>
      <p:bldP spid="63" grpId="0" animBg="1"/>
      <p:bldP spid="64" grpId="0"/>
      <p:bldP spid="65" grpId="0"/>
      <p:bldP spid="6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4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30" name="Pensées 29"/>
          <p:cNvSpPr/>
          <p:nvPr/>
        </p:nvSpPr>
        <p:spPr>
          <a:xfrm>
            <a:off x="2123728" y="1282393"/>
            <a:ext cx="5544616" cy="2064451"/>
          </a:xfrm>
          <a:prstGeom prst="cloudCallout">
            <a:avLst>
              <a:gd name="adj1" fmla="val -38100"/>
              <a:gd name="adj2" fmla="val 77244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6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3429000"/>
            <a:ext cx="2941886" cy="2952328"/>
          </a:xfrm>
          <a:prstGeom prst="rect">
            <a:avLst/>
          </a:prstGeom>
          <a:noFill/>
        </p:spPr>
      </p:pic>
      <p:sp>
        <p:nvSpPr>
          <p:cNvPr id="31" name="ZoneTexte 30"/>
          <p:cNvSpPr txBox="1"/>
          <p:nvPr/>
        </p:nvSpPr>
        <p:spPr>
          <a:xfrm>
            <a:off x="2483768" y="1772816"/>
            <a:ext cx="48965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كيف يمكنك تصفح الإنترنت بالمتصفح والوصول للمعلومات فيها ؟ </a:t>
            </a:r>
          </a:p>
        </p:txBody>
      </p:sp>
      <p:grpSp>
        <p:nvGrpSpPr>
          <p:cNvPr id="4" name="Groupe 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" name="Groupe 1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19" name="Groupe 18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3" name="Groupe 2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8" name="Groupe 17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5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7" name="Rectangle 6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8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10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11" name="Rectangle 10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9" name="Rectangle 8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13" name="Image 12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4" name="Image 13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5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5" name="ZoneTexte 14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6" name="ZoneTexte 15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7" name="ZoneTexte 16"/>
                    <p:cNvSpPr txBox="1"/>
                    <p:nvPr/>
                  </p:nvSpPr>
                  <p:spPr>
                    <a:xfrm>
                      <a:off x="2915816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المستوى:الثاني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32" name="Image 31" descr="3d print business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4716016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33" name="ZoneTexte 32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8" name="ZoneTexte 27"/>
              <p:cNvSpPr txBox="1"/>
              <p:nvPr/>
            </p:nvSpPr>
            <p:spPr>
              <a:xfrm>
                <a:off x="2915816" y="75837"/>
                <a:ext cx="29523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>
                    <a:solidFill>
                      <a:schemeClr val="bg1"/>
                    </a:solidFill>
                  </a:rPr>
                  <a:t>التصفح في الإنترنت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26" name="Picture 2" descr="K:\منتدى اساتذة المعلوماتية\mobile_found_internet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5536" y="44624"/>
              <a:ext cx="1800200" cy="571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4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pic>
        <p:nvPicPr>
          <p:cNvPr id="25" name="Image 24" descr="11-2-animation-png-hd-thumb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flipH="1">
            <a:off x="5436096" y="2938355"/>
            <a:ext cx="3456384" cy="3384376"/>
          </a:xfrm>
          <a:prstGeom prst="rect">
            <a:avLst/>
          </a:prstGeom>
        </p:spPr>
      </p:pic>
      <p:grpSp>
        <p:nvGrpSpPr>
          <p:cNvPr id="26" name="Group 77"/>
          <p:cNvGrpSpPr/>
          <p:nvPr/>
        </p:nvGrpSpPr>
        <p:grpSpPr>
          <a:xfrm rot="20065487">
            <a:off x="3694814" y="1044223"/>
            <a:ext cx="2852546" cy="3922840"/>
            <a:chOff x="914400" y="1122362"/>
            <a:chExt cx="2080267" cy="3453889"/>
          </a:xfrm>
        </p:grpSpPr>
        <p:sp>
          <p:nvSpPr>
            <p:cNvPr id="27" name="Freeform 6"/>
            <p:cNvSpPr>
              <a:spLocks/>
            </p:cNvSpPr>
            <p:nvPr/>
          </p:nvSpPr>
          <p:spPr bwMode="auto">
            <a:xfrm>
              <a:off x="1259206" y="4208781"/>
              <a:ext cx="1138806" cy="367470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7"/>
            <p:cNvSpPr>
              <a:spLocks/>
            </p:cNvSpPr>
            <p:nvPr/>
          </p:nvSpPr>
          <p:spPr bwMode="auto">
            <a:xfrm>
              <a:off x="1265879" y="3815606"/>
              <a:ext cx="1728788" cy="485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8"/>
            <p:cNvSpPr>
              <a:spLocks/>
            </p:cNvSpPr>
            <p:nvPr/>
          </p:nvSpPr>
          <p:spPr bwMode="auto">
            <a:xfrm>
              <a:off x="914400" y="1122362"/>
              <a:ext cx="2062163" cy="3013075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7" name="ZoneTexte 36"/>
          <p:cNvSpPr txBox="1"/>
          <p:nvPr/>
        </p:nvSpPr>
        <p:spPr>
          <a:xfrm rot="20130558">
            <a:off x="3562540" y="1277526"/>
            <a:ext cx="2858512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1900" b="1" dirty="0">
                <a:solidFill>
                  <a:schemeClr val="bg1"/>
                </a:solidFill>
              </a:rPr>
              <a:t>المعلومات المتوفرة في شبكة الانترنت تكون في صفحات في مواقع الويب </a:t>
            </a:r>
            <a:r>
              <a:rPr lang="fr-FR" sz="1900" b="1" dirty="0">
                <a:solidFill>
                  <a:schemeClr val="bg1"/>
                </a:solidFill>
              </a:rPr>
              <a:t>Sites web </a:t>
            </a:r>
            <a:r>
              <a:rPr lang="ar-DZ" sz="1900" b="1" dirty="0">
                <a:solidFill>
                  <a:schemeClr val="bg1"/>
                </a:solidFill>
              </a:rPr>
              <a:t>المخزنة في أحد الحواسيب المرتبطة بهذه الشبكة ويعرف هذا الحاسوب باسم خادم المواقع «</a:t>
            </a:r>
            <a:r>
              <a:rPr lang="fr-FR" sz="1900" b="1" dirty="0">
                <a:solidFill>
                  <a:schemeClr val="bg1"/>
                </a:solidFill>
              </a:rPr>
              <a:t>serveur de sites» </a:t>
            </a:r>
            <a:r>
              <a:rPr lang="ar-DZ" sz="1900" b="1" dirty="0">
                <a:solidFill>
                  <a:schemeClr val="bg1"/>
                </a:solidFill>
              </a:rPr>
              <a:t>هذه المواقع تحتوي على نصوص، رسومات، أفلام، موسيقى وكذلك روابط الى صفحات </a:t>
            </a:r>
            <a:r>
              <a:rPr lang="fr-FR" sz="1900" b="1" dirty="0">
                <a:solidFill>
                  <a:schemeClr val="bg1"/>
                </a:solidFill>
              </a:rPr>
              <a:t>web  </a:t>
            </a:r>
            <a:r>
              <a:rPr lang="ar-DZ" sz="1900" b="1" dirty="0">
                <a:solidFill>
                  <a:schemeClr val="bg1"/>
                </a:solidFill>
              </a:rPr>
              <a:t>أخرى.</a:t>
            </a:r>
          </a:p>
        </p:txBody>
      </p:sp>
      <p:grpSp>
        <p:nvGrpSpPr>
          <p:cNvPr id="4" name="Groupe 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" name="Groupe 1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19" name="Groupe 18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3" name="Groupe 2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8" name="Groupe 17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5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7" name="Rectangle 6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8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10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11" name="Rectangle 10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9" name="Rectangle 8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13" name="Image 12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4" name="Image 13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5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5" name="ZoneTexte 14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6" name="ZoneTexte 15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7" name="ZoneTexte 16"/>
                    <p:cNvSpPr txBox="1"/>
                    <p:nvPr/>
                  </p:nvSpPr>
                  <p:spPr>
                    <a:xfrm>
                      <a:off x="2915816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المستوى:الثاني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32" name="Image 31" descr="3d print business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4716016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33" name="ZoneTexte 32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8" name="ZoneTexte 27"/>
              <p:cNvSpPr txBox="1"/>
              <p:nvPr/>
            </p:nvSpPr>
            <p:spPr>
              <a:xfrm>
                <a:off x="2915816" y="75837"/>
                <a:ext cx="29523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>
                    <a:solidFill>
                      <a:schemeClr val="bg1"/>
                    </a:solidFill>
                  </a:rPr>
                  <a:t>التصفح في الإنترنت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38" name="Picture 2" descr="K:\منتدى اساتذة المعلوماتية\mobile_found_internet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5536" y="44624"/>
              <a:ext cx="1800200" cy="571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8858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5" dur="2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7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8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sp>
        <p:nvSpPr>
          <p:cNvPr id="122" name="Rectangle 121"/>
          <p:cNvSpPr/>
          <p:nvPr/>
        </p:nvSpPr>
        <p:spPr>
          <a:xfrm>
            <a:off x="6012160" y="1495301"/>
            <a:ext cx="15833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01" name="Nuage 100"/>
          <p:cNvSpPr/>
          <p:nvPr/>
        </p:nvSpPr>
        <p:spPr>
          <a:xfrm>
            <a:off x="255423" y="2912521"/>
            <a:ext cx="8821768" cy="2906942"/>
          </a:xfrm>
          <a:prstGeom prst="cloud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3" name="Groupe 62"/>
          <p:cNvGrpSpPr/>
          <p:nvPr/>
        </p:nvGrpSpPr>
        <p:grpSpPr>
          <a:xfrm>
            <a:off x="6804248" y="1369255"/>
            <a:ext cx="1915058" cy="576064"/>
            <a:chOff x="6061658" y="2348880"/>
            <a:chExt cx="1915058" cy="576064"/>
          </a:xfrm>
        </p:grpSpPr>
        <p:grpSp>
          <p:nvGrpSpPr>
            <p:cNvPr id="64" name="Groupe 58"/>
            <p:cNvGrpSpPr/>
            <p:nvPr/>
          </p:nvGrpSpPr>
          <p:grpSpPr>
            <a:xfrm>
              <a:off x="6061658" y="2348880"/>
              <a:ext cx="1915058" cy="504056"/>
              <a:chOff x="6061658" y="2852936"/>
              <a:chExt cx="1915058" cy="576064"/>
            </a:xfrm>
          </p:grpSpPr>
          <p:sp>
            <p:nvSpPr>
              <p:cNvPr id="66" name="Notched Right Arrow 54"/>
              <p:cNvSpPr/>
              <p:nvPr/>
            </p:nvSpPr>
            <p:spPr>
              <a:xfrm flipH="1">
                <a:off x="6061658" y="3008511"/>
                <a:ext cx="1915058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7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71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" name="Rectangle 71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65" name="ZoneTexte 64"/>
            <p:cNvSpPr txBox="1"/>
            <p:nvPr/>
          </p:nvSpPr>
          <p:spPr>
            <a:xfrm>
              <a:off x="6313686" y="2494057"/>
              <a:ext cx="99461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200" b="1" dirty="0" smtClean="0">
                  <a:solidFill>
                    <a:srgbClr val="FFFF00"/>
                  </a:solidFill>
                </a:rPr>
                <a:t>طريقة</a:t>
              </a:r>
              <a:r>
                <a:rPr lang="ar-DZ" b="1" dirty="0" smtClean="0">
                  <a:solidFill>
                    <a:srgbClr val="FFFF00"/>
                  </a:solidFill>
                </a:rPr>
                <a:t>1</a:t>
              </a:r>
              <a:r>
                <a:rPr lang="ar-DZ" sz="2200" b="1" dirty="0" smtClean="0">
                  <a:solidFill>
                    <a:srgbClr val="FFFF00"/>
                  </a:solidFill>
                </a:rPr>
                <a:t>: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95" name="Rectangle 94"/>
          <p:cNvSpPr/>
          <p:nvPr/>
        </p:nvSpPr>
        <p:spPr>
          <a:xfrm>
            <a:off x="475384" y="1359709"/>
            <a:ext cx="62646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الوصول المباشر من خلال عناوين المواقع (إدخال عنوان الموقع في المكان المخصص في المتصفح).</a:t>
            </a:r>
          </a:p>
        </p:txBody>
      </p:sp>
      <p:sp>
        <p:nvSpPr>
          <p:cNvPr id="96" name="Shape 856"/>
          <p:cNvSpPr/>
          <p:nvPr/>
        </p:nvSpPr>
        <p:spPr>
          <a:xfrm>
            <a:off x="8316416" y="725794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7" name="Shape 859"/>
          <p:cNvSpPr/>
          <p:nvPr/>
        </p:nvSpPr>
        <p:spPr>
          <a:xfrm>
            <a:off x="4828802" y="753426"/>
            <a:ext cx="3436175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8" name="ZoneTexte 97"/>
          <p:cNvSpPr txBox="1"/>
          <p:nvPr/>
        </p:nvSpPr>
        <p:spPr>
          <a:xfrm>
            <a:off x="8316416" y="725794"/>
            <a:ext cx="537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4-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99" name="ZoneTexte 98"/>
          <p:cNvSpPr txBox="1"/>
          <p:nvPr/>
        </p:nvSpPr>
        <p:spPr>
          <a:xfrm>
            <a:off x="5006726" y="764704"/>
            <a:ext cx="3093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rtl="1"/>
            <a:r>
              <a:rPr lang="ar-DZ" sz="2400" b="1" dirty="0">
                <a:solidFill>
                  <a:srgbClr val="FFFF00"/>
                </a:solidFill>
              </a:rPr>
              <a:t>التصفح في الإنترنت</a:t>
            </a:r>
            <a:endParaRPr lang="en-US" sz="2400" b="1" dirty="0" smtClean="0">
              <a:solidFill>
                <a:srgbClr val="FFFF00"/>
              </a:solidFill>
            </a:endParaRPr>
          </a:p>
        </p:txBody>
      </p:sp>
      <p:grpSp>
        <p:nvGrpSpPr>
          <p:cNvPr id="12" name="Groupe 1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4" name="Groupe 3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2" name="Groupe 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8" name="Groupe 17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5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7" name="Rectangle 6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8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10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11" name="Rectangle 10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9" name="Rectangle 8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13" name="Image 12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3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4" name="Image 13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5" name="ZoneTexte 14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6" name="ZoneTexte 15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7" name="ZoneTexte 16"/>
                    <p:cNvSpPr txBox="1"/>
                    <p:nvPr/>
                  </p:nvSpPr>
                  <p:spPr>
                    <a:xfrm>
                      <a:off x="2987824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المستوى:الثاني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73" name="Image 72" descr="3d print business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4788024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74" name="ZoneTexte 73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38" name="ZoneTexte 37"/>
              <p:cNvSpPr txBox="1"/>
              <p:nvPr/>
            </p:nvSpPr>
            <p:spPr>
              <a:xfrm>
                <a:off x="2915816" y="75837"/>
                <a:ext cx="29523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>
                    <a:solidFill>
                      <a:schemeClr val="bg1"/>
                    </a:solidFill>
                  </a:rPr>
                  <a:t>التصفح في الإنترنت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2" name="Picture 2" descr="K:\منتدى اساتذة المعلوماتية\mobile_found_internet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5536" y="44624"/>
              <a:ext cx="1800200" cy="571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Groupe 19"/>
          <p:cNvGrpSpPr/>
          <p:nvPr/>
        </p:nvGrpSpPr>
        <p:grpSpPr>
          <a:xfrm>
            <a:off x="179512" y="2821776"/>
            <a:ext cx="4986516" cy="3343528"/>
            <a:chOff x="1997244" y="2633136"/>
            <a:chExt cx="4986516" cy="3343528"/>
          </a:xfrm>
        </p:grpSpPr>
        <p:pic>
          <p:nvPicPr>
            <p:cNvPr id="5123" name="Picture 3" descr="C:\Users\RIDHA\Downloads\صور المعلوماتية\11-2-domain-transparent-thumb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7244" y="2633136"/>
              <a:ext cx="4986516" cy="33435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6" name="Rectangle 115"/>
            <p:cNvSpPr/>
            <p:nvPr/>
          </p:nvSpPr>
          <p:spPr>
            <a:xfrm>
              <a:off x="2978932" y="3253539"/>
              <a:ext cx="36004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sz="2000" b="1" dirty="0">
                  <a:ea typeface="Times New Roman"/>
                  <a:cs typeface="Times New Roman"/>
                </a:rPr>
                <a:t>http://</a:t>
              </a:r>
              <a:r>
                <a:rPr lang="fr-FR" sz="2000" b="1" dirty="0" smtClean="0">
                  <a:ea typeface="Times New Roman"/>
                  <a:cs typeface="Times New Roman"/>
                </a:rPr>
                <a:t>www</a:t>
              </a:r>
              <a:r>
                <a:rPr lang="ar-DZ" sz="2000" b="1" dirty="0" smtClean="0">
                  <a:ea typeface="Times New Roman"/>
                  <a:cs typeface="Times New Roman"/>
                </a:rPr>
                <a:t>اسم الموقع.</a:t>
              </a:r>
              <a:r>
                <a:rPr lang="fr-FR" sz="2000" b="1" dirty="0">
                  <a:ea typeface="Times New Roman"/>
                  <a:cs typeface="Times New Roman"/>
                </a:rPr>
                <a:t>.</a:t>
              </a:r>
              <a:r>
                <a:rPr lang="fr-FR" sz="2000" b="1" dirty="0" err="1" smtClean="0">
                  <a:ea typeface="Times New Roman"/>
                  <a:cs typeface="Times New Roman"/>
                </a:rPr>
                <a:t>com</a:t>
              </a:r>
              <a:endParaRPr lang="ar-DZ" sz="2000" b="1" dirty="0">
                <a:ea typeface="Times New Roman"/>
                <a:cs typeface="Times New Roman"/>
              </a:endParaRPr>
            </a:p>
          </p:txBody>
        </p:sp>
      </p:grp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8723" y="2910242"/>
            <a:ext cx="3923097" cy="2751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1284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00"/>
                            </p:stCondLst>
                            <p:childTnLst>
                              <p:par>
                                <p:cTn id="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300"/>
                            </p:stCondLst>
                            <p:childTnLst>
                              <p:par>
                                <p:cTn id="3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/>
      <p:bldP spid="95" grpId="0"/>
      <p:bldP spid="96" grpId="0" animBg="1"/>
      <p:bldP spid="97" grpId="0" animBg="1"/>
      <p:bldP spid="98" grpId="0"/>
      <p:bldP spid="9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sp>
        <p:nvSpPr>
          <p:cNvPr id="122" name="Rectangle 121"/>
          <p:cNvSpPr/>
          <p:nvPr/>
        </p:nvSpPr>
        <p:spPr>
          <a:xfrm>
            <a:off x="6012160" y="1495301"/>
            <a:ext cx="15833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95595" y="685145"/>
            <a:ext cx="678066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 استعمال محركات البحث وهي 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أكثر </a:t>
            </a: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استعمالا للوصول للمعلومة من خلال إدخال كلمة البحث في المكان المخصص في موقع محرك البحث ثم الضغط على بحث 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  </a:t>
            </a:r>
            <a:r>
              <a:rPr lang="en-US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 </a:t>
            </a:r>
            <a:r>
              <a:rPr lang="fr-FR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     Rechercher  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بعدها </a:t>
            </a: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يتم إظهار النتائج. 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77" name="Groupe 76"/>
          <p:cNvGrpSpPr/>
          <p:nvPr/>
        </p:nvGrpSpPr>
        <p:grpSpPr>
          <a:xfrm>
            <a:off x="6869410" y="660211"/>
            <a:ext cx="1915058" cy="576064"/>
            <a:chOff x="6061658" y="2348880"/>
            <a:chExt cx="1915058" cy="576064"/>
          </a:xfrm>
        </p:grpSpPr>
        <p:grpSp>
          <p:nvGrpSpPr>
            <p:cNvPr id="78" name="Groupe 58"/>
            <p:cNvGrpSpPr/>
            <p:nvPr/>
          </p:nvGrpSpPr>
          <p:grpSpPr>
            <a:xfrm>
              <a:off x="6061658" y="2348880"/>
              <a:ext cx="1915058" cy="504056"/>
              <a:chOff x="6061658" y="2852936"/>
              <a:chExt cx="1915058" cy="576064"/>
            </a:xfrm>
          </p:grpSpPr>
          <p:sp>
            <p:nvSpPr>
              <p:cNvPr id="91" name="Notched Right Arrow 54"/>
              <p:cNvSpPr/>
              <p:nvPr/>
            </p:nvSpPr>
            <p:spPr>
              <a:xfrm flipH="1">
                <a:off x="6061658" y="3008511"/>
                <a:ext cx="1915058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2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93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Rectangle 93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90" name="ZoneTexte 89"/>
            <p:cNvSpPr txBox="1"/>
            <p:nvPr/>
          </p:nvSpPr>
          <p:spPr>
            <a:xfrm>
              <a:off x="6313686" y="2494057"/>
              <a:ext cx="99461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200" b="1" dirty="0" smtClean="0">
                  <a:solidFill>
                    <a:srgbClr val="FFFF00"/>
                  </a:solidFill>
                </a:rPr>
                <a:t>طريقة</a:t>
              </a:r>
              <a:r>
                <a:rPr lang="ar-DZ" b="1" dirty="0" smtClean="0">
                  <a:solidFill>
                    <a:srgbClr val="FFFF00"/>
                  </a:solidFill>
                </a:rPr>
                <a:t>2</a:t>
              </a:r>
              <a:r>
                <a:rPr lang="ar-DZ" sz="2200" b="1" dirty="0" smtClean="0">
                  <a:solidFill>
                    <a:srgbClr val="FFFF00"/>
                  </a:solidFill>
                </a:rPr>
                <a:t>: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100" name="Rectangle 99"/>
          <p:cNvSpPr/>
          <p:nvPr/>
        </p:nvSpPr>
        <p:spPr>
          <a:xfrm>
            <a:off x="5292080" y="1621249"/>
            <a:ext cx="36004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من أشهر محركات البحث:</a:t>
            </a:r>
          </a:p>
          <a:p>
            <a:pPr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محرك 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قوقل : </a:t>
            </a:r>
            <a:r>
              <a:rPr lang="fr-FR" sz="2000" b="1" dirty="0">
                <a:solidFill>
                  <a:schemeClr val="bg1"/>
                </a:solidFill>
                <a:ea typeface="Times New Roman"/>
                <a:cs typeface="Times New Roman"/>
              </a:rPr>
              <a:t>www.google.com.</a:t>
            </a:r>
          </a:p>
          <a:p>
            <a:pPr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محرك 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ياهو: </a:t>
            </a:r>
            <a:r>
              <a:rPr lang="fr-FR" sz="2000" b="1" dirty="0">
                <a:solidFill>
                  <a:schemeClr val="bg1"/>
                </a:solidFill>
                <a:ea typeface="Times New Roman"/>
                <a:cs typeface="Times New Roman"/>
              </a:rPr>
              <a:t>www.yahoo.com.</a:t>
            </a:r>
          </a:p>
        </p:txBody>
      </p:sp>
      <p:grpSp>
        <p:nvGrpSpPr>
          <p:cNvPr id="12" name="Groupe 1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4" name="Groupe 3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2" name="Groupe 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8" name="Groupe 17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5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7" name="Rectangle 6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8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10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11" name="Rectangle 10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9" name="Rectangle 8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13" name="Image 12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3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4" name="Image 13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5" name="ZoneTexte 14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6" name="ZoneTexte 15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7" name="ZoneTexte 16"/>
                    <p:cNvSpPr txBox="1"/>
                    <p:nvPr/>
                  </p:nvSpPr>
                  <p:spPr>
                    <a:xfrm>
                      <a:off x="2987824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المستوى:الثاني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73" name="Image 72" descr="3d print business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4788024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74" name="ZoneTexte 73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38" name="ZoneTexte 37"/>
              <p:cNvSpPr txBox="1"/>
              <p:nvPr/>
            </p:nvSpPr>
            <p:spPr>
              <a:xfrm>
                <a:off x="2915816" y="75837"/>
                <a:ext cx="29523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>
                    <a:solidFill>
                      <a:schemeClr val="bg1"/>
                    </a:solidFill>
                  </a:rPr>
                  <a:t>التصفح في الإنترنت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2" name="Picture 2" descr="K:\منتدى اساتذة المعلوماتية\mobile_found_internet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5536" y="44624"/>
              <a:ext cx="1800200" cy="571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95" y="1526047"/>
            <a:ext cx="2498674" cy="1141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8" name="Groupe 47"/>
          <p:cNvGrpSpPr/>
          <p:nvPr/>
        </p:nvGrpSpPr>
        <p:grpSpPr>
          <a:xfrm>
            <a:off x="588692" y="2492896"/>
            <a:ext cx="7395814" cy="3744416"/>
            <a:chOff x="0" y="0"/>
            <a:chExt cx="6867939" cy="4750904"/>
          </a:xfrm>
        </p:grpSpPr>
        <p:pic>
          <p:nvPicPr>
            <p:cNvPr id="49" name="Image 48" descr="K:\منتدى اساتذة المعلوماتية\Marketing-PNG-Transparent-Image.png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6867939" cy="47509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Image 49" descr="K:\منتدى اساتذة المعلوماتية\Capture45.PNG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6547" y="2425148"/>
              <a:ext cx="2365513" cy="1292087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982495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/>
      <p:bldP spid="62" grpId="0"/>
      <p:bldP spid="10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pic>
        <p:nvPicPr>
          <p:cNvPr id="6147" name="Picture 3" descr="K:\منتدى اساتذة المعلوماتية\Capture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7" y="1383086"/>
            <a:ext cx="8820471" cy="4782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" name="Rectangle 121"/>
          <p:cNvSpPr/>
          <p:nvPr/>
        </p:nvSpPr>
        <p:spPr>
          <a:xfrm>
            <a:off x="6012160" y="1495301"/>
            <a:ext cx="15833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77" name="Groupe 76"/>
          <p:cNvGrpSpPr/>
          <p:nvPr/>
        </p:nvGrpSpPr>
        <p:grpSpPr>
          <a:xfrm>
            <a:off x="6771418" y="764704"/>
            <a:ext cx="2013054" cy="430887"/>
            <a:chOff x="6468623" y="2453373"/>
            <a:chExt cx="1508093" cy="430887"/>
          </a:xfrm>
        </p:grpSpPr>
        <p:sp>
          <p:nvSpPr>
            <p:cNvPr id="91" name="Notched Right Arrow 54"/>
            <p:cNvSpPr/>
            <p:nvPr/>
          </p:nvSpPr>
          <p:spPr>
            <a:xfrm flipH="1">
              <a:off x="6492898" y="2485009"/>
              <a:ext cx="1483818" cy="367928"/>
            </a:xfrm>
            <a:prstGeom prst="notchedRightArrow">
              <a:avLst>
                <a:gd name="adj1" fmla="val 100000"/>
                <a:gd name="adj2" fmla="val 28125"/>
              </a:avLst>
            </a:prstGeom>
            <a:ln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ZoneTexte 89"/>
            <p:cNvSpPr txBox="1"/>
            <p:nvPr/>
          </p:nvSpPr>
          <p:spPr>
            <a:xfrm>
              <a:off x="6468623" y="2453373"/>
              <a:ext cx="142027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200" b="1" dirty="0" smtClean="0">
                  <a:solidFill>
                    <a:srgbClr val="FFFF00"/>
                  </a:solidFill>
                </a:rPr>
                <a:t>مثال توضيحي: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12" name="Groupe 1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4" name="Groupe 3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2" name="Groupe 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8" name="Groupe 17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5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7" name="Rectangle 6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8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10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11" name="Rectangle 10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9" name="Rectangle 8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13" name="Image 12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4" name="Image 13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5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5" name="ZoneTexte 14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6" name="ZoneTexte 15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7" name="ZoneTexte 16"/>
                    <p:cNvSpPr txBox="1"/>
                    <p:nvPr/>
                  </p:nvSpPr>
                  <p:spPr>
                    <a:xfrm>
                      <a:off x="2987824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المستوى:الثاني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73" name="Image 72" descr="3d print business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4788024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74" name="ZoneTexte 73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38" name="ZoneTexte 37"/>
              <p:cNvSpPr txBox="1"/>
              <p:nvPr/>
            </p:nvSpPr>
            <p:spPr>
              <a:xfrm>
                <a:off x="2915816" y="75837"/>
                <a:ext cx="29523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>
                    <a:solidFill>
                      <a:schemeClr val="bg1"/>
                    </a:solidFill>
                  </a:rPr>
                  <a:t>التصفح في الإنترنت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2" name="Picture 2" descr="K:\منتدى اساتذة المعلوماتية\mobile_found_internet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5536" y="44624"/>
              <a:ext cx="1800200" cy="571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61759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pic>
        <p:nvPicPr>
          <p:cNvPr id="6148" name="Picture 4" descr="K:\منتدى اساتذة المعلوماتية\Capture4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340768"/>
            <a:ext cx="8712967" cy="4824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" name="Rectangle 121"/>
          <p:cNvSpPr/>
          <p:nvPr/>
        </p:nvSpPr>
        <p:spPr>
          <a:xfrm>
            <a:off x="6012160" y="1495301"/>
            <a:ext cx="15833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77" name="Groupe 76"/>
          <p:cNvGrpSpPr/>
          <p:nvPr/>
        </p:nvGrpSpPr>
        <p:grpSpPr>
          <a:xfrm>
            <a:off x="6771418" y="764704"/>
            <a:ext cx="2013054" cy="430887"/>
            <a:chOff x="6468623" y="2453373"/>
            <a:chExt cx="1508093" cy="430887"/>
          </a:xfrm>
        </p:grpSpPr>
        <p:sp>
          <p:nvSpPr>
            <p:cNvPr id="91" name="Notched Right Arrow 54"/>
            <p:cNvSpPr/>
            <p:nvPr/>
          </p:nvSpPr>
          <p:spPr>
            <a:xfrm flipH="1">
              <a:off x="6492898" y="2485009"/>
              <a:ext cx="1483818" cy="367928"/>
            </a:xfrm>
            <a:prstGeom prst="notchedRightArrow">
              <a:avLst>
                <a:gd name="adj1" fmla="val 100000"/>
                <a:gd name="adj2" fmla="val 28125"/>
              </a:avLst>
            </a:prstGeom>
            <a:ln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ZoneTexte 89"/>
            <p:cNvSpPr txBox="1"/>
            <p:nvPr/>
          </p:nvSpPr>
          <p:spPr>
            <a:xfrm>
              <a:off x="6468623" y="2453373"/>
              <a:ext cx="142027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200" b="1" dirty="0" smtClean="0">
                  <a:solidFill>
                    <a:srgbClr val="FFFF00"/>
                  </a:solidFill>
                </a:rPr>
                <a:t>مثال توضيحي: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12" name="Groupe 1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4" name="Groupe 3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2" name="Groupe 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8" name="Groupe 17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5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7" name="Rectangle 6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8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10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11" name="Rectangle 10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9" name="Rectangle 8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13" name="Image 12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4" name="Image 13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5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5" name="ZoneTexte 14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6" name="ZoneTexte 15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7" name="ZoneTexte 16"/>
                    <p:cNvSpPr txBox="1"/>
                    <p:nvPr/>
                  </p:nvSpPr>
                  <p:spPr>
                    <a:xfrm>
                      <a:off x="2987824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المستوى:الثاني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73" name="Image 72" descr="3d print business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4788024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74" name="ZoneTexte 73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38" name="ZoneTexte 37"/>
              <p:cNvSpPr txBox="1"/>
              <p:nvPr/>
            </p:nvSpPr>
            <p:spPr>
              <a:xfrm>
                <a:off x="2915816" y="75837"/>
                <a:ext cx="29523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>
                    <a:solidFill>
                      <a:schemeClr val="bg1"/>
                    </a:solidFill>
                  </a:rPr>
                  <a:t>التصفح في الإنترنت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2" name="Picture 2" descr="K:\منتدى اساتذة المعلوماتية\mobile_found_internet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5536" y="44624"/>
              <a:ext cx="1800200" cy="571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24361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pic>
        <p:nvPicPr>
          <p:cNvPr id="6146" name="Picture 2" descr="K:\منتدى اساتذة المعلوماتية\Capture74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268760"/>
            <a:ext cx="8640960" cy="489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" name="Rectangle 121"/>
          <p:cNvSpPr/>
          <p:nvPr/>
        </p:nvSpPr>
        <p:spPr>
          <a:xfrm>
            <a:off x="6012160" y="1495301"/>
            <a:ext cx="15833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77" name="Groupe 76"/>
          <p:cNvGrpSpPr/>
          <p:nvPr/>
        </p:nvGrpSpPr>
        <p:grpSpPr>
          <a:xfrm>
            <a:off x="6771418" y="764704"/>
            <a:ext cx="2013054" cy="430887"/>
            <a:chOff x="6468623" y="2453373"/>
            <a:chExt cx="1508093" cy="430887"/>
          </a:xfrm>
        </p:grpSpPr>
        <p:sp>
          <p:nvSpPr>
            <p:cNvPr id="91" name="Notched Right Arrow 54"/>
            <p:cNvSpPr/>
            <p:nvPr/>
          </p:nvSpPr>
          <p:spPr>
            <a:xfrm flipH="1">
              <a:off x="6492898" y="2485009"/>
              <a:ext cx="1483818" cy="367928"/>
            </a:xfrm>
            <a:prstGeom prst="notchedRightArrow">
              <a:avLst>
                <a:gd name="adj1" fmla="val 100000"/>
                <a:gd name="adj2" fmla="val 28125"/>
              </a:avLst>
            </a:prstGeom>
            <a:ln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ZoneTexte 89"/>
            <p:cNvSpPr txBox="1"/>
            <p:nvPr/>
          </p:nvSpPr>
          <p:spPr>
            <a:xfrm>
              <a:off x="6468623" y="2453373"/>
              <a:ext cx="142027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200" b="1" dirty="0" smtClean="0">
                  <a:solidFill>
                    <a:srgbClr val="FFFF00"/>
                  </a:solidFill>
                </a:rPr>
                <a:t>مثال توضيحي: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12" name="Groupe 1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4" name="Groupe 3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2" name="Groupe 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8" name="Groupe 17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5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7" name="Rectangle 6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8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10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11" name="Rectangle 10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9" name="Rectangle 8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13" name="Image 12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4" name="Image 13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5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5" name="ZoneTexte 14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6" name="ZoneTexte 15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7" name="ZoneTexte 16"/>
                    <p:cNvSpPr txBox="1"/>
                    <p:nvPr/>
                  </p:nvSpPr>
                  <p:spPr>
                    <a:xfrm>
                      <a:off x="2987824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المستوى:الثاني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73" name="Image 72" descr="3d print business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4788024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74" name="ZoneTexte 73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38" name="ZoneTexte 37"/>
              <p:cNvSpPr txBox="1"/>
              <p:nvPr/>
            </p:nvSpPr>
            <p:spPr>
              <a:xfrm>
                <a:off x="2915816" y="75837"/>
                <a:ext cx="29523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>
                    <a:solidFill>
                      <a:schemeClr val="bg1"/>
                    </a:solidFill>
                  </a:rPr>
                  <a:t>التصفح في الإنترنت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2" name="Picture 2" descr="K:\منتدى اساتذة المعلوماتية\mobile_found_internet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5536" y="44624"/>
              <a:ext cx="1800200" cy="571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28380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4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30" name="Pensées 29"/>
          <p:cNvSpPr/>
          <p:nvPr/>
        </p:nvSpPr>
        <p:spPr>
          <a:xfrm>
            <a:off x="1619672" y="1282393"/>
            <a:ext cx="6048672" cy="2064451"/>
          </a:xfrm>
          <a:prstGeom prst="cloudCallout">
            <a:avLst>
              <a:gd name="adj1" fmla="val -38100"/>
              <a:gd name="adj2" fmla="val 77244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6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3429000"/>
            <a:ext cx="2941886" cy="2952328"/>
          </a:xfrm>
          <a:prstGeom prst="rect">
            <a:avLst/>
          </a:prstGeom>
          <a:noFill/>
        </p:spPr>
      </p:pic>
      <p:sp>
        <p:nvSpPr>
          <p:cNvPr id="31" name="ZoneTexte 30"/>
          <p:cNvSpPr txBox="1"/>
          <p:nvPr/>
        </p:nvSpPr>
        <p:spPr>
          <a:xfrm>
            <a:off x="1763688" y="1675834"/>
            <a:ext cx="5400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قد تضغط على </a:t>
            </a:r>
            <a:r>
              <a:rPr lang="ar-DZ" sz="2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كتابة معينة أو غيرها أثناء </a:t>
            </a:r>
            <a:r>
              <a:rPr lang="ar-DZ" sz="2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بحثك فتنقلك إلى صفحة أخرى.</a:t>
            </a:r>
          </a:p>
          <a:p>
            <a:pPr algn="ctr" rtl="1"/>
            <a:r>
              <a:rPr lang="ar-DZ" sz="2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كيف تسمى هذه الكتابة؟ </a:t>
            </a:r>
          </a:p>
        </p:txBody>
      </p:sp>
      <p:grpSp>
        <p:nvGrpSpPr>
          <p:cNvPr id="4" name="Groupe 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" name="Groupe 1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19" name="Groupe 18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3" name="Groupe 2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8" name="Groupe 17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5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7" name="Rectangle 6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8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10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11" name="Rectangle 10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9" name="Rectangle 8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13" name="Image 12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4" name="Image 13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5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5" name="ZoneTexte 14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6" name="ZoneTexte 15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7" name="ZoneTexte 16"/>
                    <p:cNvSpPr txBox="1"/>
                    <p:nvPr/>
                  </p:nvSpPr>
                  <p:spPr>
                    <a:xfrm>
                      <a:off x="2915816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المستوى:الثاني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32" name="Image 31" descr="3d print business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4716016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33" name="ZoneTexte 32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8" name="ZoneTexte 27"/>
              <p:cNvSpPr txBox="1"/>
              <p:nvPr/>
            </p:nvSpPr>
            <p:spPr>
              <a:xfrm>
                <a:off x="2915816" y="75837"/>
                <a:ext cx="29523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>
                    <a:solidFill>
                      <a:schemeClr val="bg1"/>
                    </a:solidFill>
                  </a:rPr>
                  <a:t>التصفح في الإنترنت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26" name="Picture 2" descr="K:\منتدى اساتذة المعلوماتية\mobile_found_internet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5536" y="44624"/>
              <a:ext cx="1800200" cy="571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27814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sp>
        <p:nvSpPr>
          <p:cNvPr id="122" name="Rectangle 121"/>
          <p:cNvSpPr/>
          <p:nvPr/>
        </p:nvSpPr>
        <p:spPr>
          <a:xfrm>
            <a:off x="6012160" y="1495301"/>
            <a:ext cx="15833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96" name="Shape 856"/>
          <p:cNvSpPr/>
          <p:nvPr/>
        </p:nvSpPr>
        <p:spPr>
          <a:xfrm>
            <a:off x="8316416" y="725794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7" name="Shape 859"/>
          <p:cNvSpPr/>
          <p:nvPr/>
        </p:nvSpPr>
        <p:spPr>
          <a:xfrm>
            <a:off x="3851920" y="753426"/>
            <a:ext cx="4413058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8" name="ZoneTexte 97"/>
          <p:cNvSpPr txBox="1"/>
          <p:nvPr/>
        </p:nvSpPr>
        <p:spPr>
          <a:xfrm>
            <a:off x="8316416" y="725794"/>
            <a:ext cx="537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5</a:t>
            </a:r>
            <a:r>
              <a:rPr lang="fr-FR" sz="2800" b="1" dirty="0" smtClean="0">
                <a:solidFill>
                  <a:srgbClr val="FFFF00"/>
                </a:solidFill>
              </a:rPr>
              <a:t>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99" name="ZoneTexte 98"/>
          <p:cNvSpPr txBox="1"/>
          <p:nvPr/>
        </p:nvSpPr>
        <p:spPr>
          <a:xfrm>
            <a:off x="4211960" y="764704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rtl="1"/>
            <a:r>
              <a:rPr lang="ar-DZ" sz="2400" b="1" dirty="0" smtClean="0">
                <a:solidFill>
                  <a:srgbClr val="FFFF00"/>
                </a:solidFill>
              </a:rPr>
              <a:t>الإرتباط </a:t>
            </a:r>
            <a:r>
              <a:rPr lang="ar-DZ" sz="2400" b="1" dirty="0">
                <a:solidFill>
                  <a:srgbClr val="FFFF00"/>
                </a:solidFill>
              </a:rPr>
              <a:t>التشعبي </a:t>
            </a:r>
            <a:r>
              <a:rPr lang="fr-FR" sz="2400" b="1" dirty="0">
                <a:solidFill>
                  <a:srgbClr val="FFFF00"/>
                </a:solidFill>
              </a:rPr>
              <a:t>Lien hypertexte</a:t>
            </a:r>
            <a:endParaRPr lang="en-US" sz="2400" b="1" dirty="0" smtClean="0">
              <a:solidFill>
                <a:srgbClr val="FFFF00"/>
              </a:solidFill>
            </a:endParaRPr>
          </a:p>
        </p:txBody>
      </p:sp>
      <p:sp>
        <p:nvSpPr>
          <p:cNvPr id="50" name="Rectangle à coins arrondis 49"/>
          <p:cNvSpPr/>
          <p:nvPr/>
        </p:nvSpPr>
        <p:spPr>
          <a:xfrm flipH="1" flipV="1">
            <a:off x="251520" y="1772816"/>
            <a:ext cx="8568952" cy="1368152"/>
          </a:xfrm>
          <a:prstGeom prst="wedgeRoundRectCallout">
            <a:avLst>
              <a:gd name="adj1" fmla="val -19782"/>
              <a:gd name="adj2" fmla="val 86869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0"/>
          <p:cNvSpPr/>
          <p:nvPr/>
        </p:nvSpPr>
        <p:spPr>
          <a:xfrm>
            <a:off x="381325" y="1916832"/>
            <a:ext cx="8424936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rtl="1"/>
            <a:r>
              <a:rPr lang="ar-DZ" sz="2300" b="1" dirty="0">
                <a:solidFill>
                  <a:schemeClr val="bg1"/>
                </a:solidFill>
              </a:rPr>
              <a:t>هو نص أو صورة يؤدي النقر عليه بالفأرة إلى الانتقال إلى صفحة ويب أخرى والتي يمكن بدورها أن تحتوي على روابط تؤدي إلى صفحات أخرى. </a:t>
            </a:r>
            <a:endParaRPr lang="fr-FR" sz="2300" b="1" dirty="0">
              <a:solidFill>
                <a:schemeClr val="bg1"/>
              </a:solidFill>
            </a:endParaRPr>
          </a:p>
        </p:txBody>
      </p:sp>
      <p:grpSp>
        <p:nvGrpSpPr>
          <p:cNvPr id="12" name="Groupe 1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4" name="Groupe 3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2" name="Groupe 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8" name="Groupe 17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5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7" name="Rectangle 6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8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10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11" name="Rectangle 10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9" name="Rectangle 8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13" name="Image 12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3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4" name="Image 13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5" name="ZoneTexte 14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6" name="ZoneTexte 15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7" name="ZoneTexte 16"/>
                    <p:cNvSpPr txBox="1"/>
                    <p:nvPr/>
                  </p:nvSpPr>
                  <p:spPr>
                    <a:xfrm>
                      <a:off x="2987824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المستوى:الثاني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73" name="Image 72" descr="3d print business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4788024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74" name="ZoneTexte 73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38" name="ZoneTexte 37"/>
              <p:cNvSpPr txBox="1"/>
              <p:nvPr/>
            </p:nvSpPr>
            <p:spPr>
              <a:xfrm>
                <a:off x="2915816" y="75837"/>
                <a:ext cx="29523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>
                    <a:solidFill>
                      <a:schemeClr val="bg1"/>
                    </a:solidFill>
                  </a:rPr>
                  <a:t>التصفح في الإنترنت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52" name="Picture 2" descr="K:\منتدى اساتذة المعلوماتية\mobile_found_internet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5536" y="44624"/>
              <a:ext cx="1800200" cy="571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1085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00"/>
                            </p:stCondLst>
                            <p:childTnLst>
                              <p:par>
                                <p:cTn id="2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300"/>
                            </p:stCondLst>
                            <p:childTnLst>
                              <p:par>
                                <p:cTn id="2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600"/>
                            </p:stCondLst>
                            <p:childTnLst>
                              <p:par>
                                <p:cTn id="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/>
      <p:bldP spid="96" grpId="0" animBg="1"/>
      <p:bldP spid="97" grpId="0" animBg="1"/>
      <p:bldP spid="98" grpId="0"/>
      <p:bldP spid="99" grpId="0"/>
      <p:bldP spid="51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35724</TotalTime>
  <Words>693</Words>
  <Application>Microsoft Office PowerPoint</Application>
  <PresentationFormat>Affichage à l'écran (4:3)</PresentationFormat>
  <Paragraphs>166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Arial</vt:lpstr>
      <vt:lpstr>Calibri</vt:lpstr>
      <vt:lpstr>Gill Sans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CEM KALOUAZ MOUSSA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RIDHA MAHI</dc:creator>
  <cp:lastModifiedBy>ridha mahi</cp:lastModifiedBy>
  <cp:revision>732</cp:revision>
  <dcterms:created xsi:type="dcterms:W3CDTF">2017-08-13T13:54:07Z</dcterms:created>
  <dcterms:modified xsi:type="dcterms:W3CDTF">2018-02-12T10:56:16Z</dcterms:modified>
</cp:coreProperties>
</file>