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6" r:id="rId2"/>
    <p:sldId id="256" r:id="rId3"/>
    <p:sldId id="257" r:id="rId4"/>
    <p:sldId id="275" r:id="rId5"/>
    <p:sldId id="260" r:id="rId6"/>
    <p:sldId id="274" r:id="rId7"/>
    <p:sldId id="261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62" r:id="rId18"/>
    <p:sldId id="263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  <a:srgbClr val="57ABC9"/>
    <a:srgbClr val="D75BB4"/>
    <a:srgbClr val="EEC208"/>
    <a:srgbClr val="E86E77"/>
    <a:srgbClr val="F79646"/>
    <a:srgbClr val="F48E5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8" autoAdjust="0"/>
  </p:normalViewPr>
  <p:slideViewPr>
    <p:cSldViewPr>
      <p:cViewPr>
        <p:scale>
          <a:sx n="70" d="100"/>
          <a:sy n="70" d="100"/>
        </p:scale>
        <p:origin x="-1386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BAAD6-FE7D-4B28-BE7E-DBFED0A1D440}" type="datetimeFigureOut">
              <a:rPr lang="fr-FR" smtClean="0"/>
              <a:t>13/10/2017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6CDA2-C14D-4762-8B56-5220E4445F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97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6CDA2-C14D-4762-8B56-5220E4445FD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691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13/10/2017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mp"/><Relationship Id="rId5" Type="http://schemas.openxmlformats.org/officeDocument/2006/relationships/image" Target="../media/image17.tmp"/><Relationship Id="rId10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tmp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0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7.png"/><Relationship Id="rId5" Type="http://schemas.openxmlformats.org/officeDocument/2006/relationships/image" Target="../media/image22.png"/><Relationship Id="rId10" Type="http://schemas.openxmlformats.org/officeDocument/2006/relationships/image" Target="../media/image6.png"/><Relationship Id="rId4" Type="http://schemas.openxmlformats.org/officeDocument/2006/relationships/image" Target="../media/image21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7.png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87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pic>
        <p:nvPicPr>
          <p:cNvPr id="51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2376264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/>
          <p:cNvGrpSpPr/>
          <p:nvPr/>
        </p:nvGrpSpPr>
        <p:grpSpPr>
          <a:xfrm>
            <a:off x="4138009" y="1052736"/>
            <a:ext cx="4898487" cy="862584"/>
            <a:chOff x="4138009" y="1052736"/>
            <a:chExt cx="4898487" cy="862584"/>
          </a:xfrm>
        </p:grpSpPr>
        <p:sp>
          <p:nvSpPr>
            <p:cNvPr id="53" name="Shape 1816"/>
            <p:cNvSpPr/>
            <p:nvPr/>
          </p:nvSpPr>
          <p:spPr>
            <a:xfrm>
              <a:off x="4138009" y="1052736"/>
              <a:ext cx="4671433" cy="7354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54" name="Freeform 11"/>
            <p:cNvSpPr>
              <a:spLocks/>
            </p:cNvSpPr>
            <p:nvPr/>
          </p:nvSpPr>
          <p:spPr bwMode="auto">
            <a:xfrm>
              <a:off x="6804247" y="1150077"/>
              <a:ext cx="2160238" cy="693242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401111" y="1234187"/>
              <a:ext cx="163538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الوحدة </a:t>
              </a:r>
              <a:r>
                <a:rPr lang="ar-DZ" sz="2000" b="1" dirty="0" err="1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المفاهيمية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028383" y="1499822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01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427985" y="1196752"/>
              <a:ext cx="25922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ar-DZ" sz="2400" b="1" dirty="0" smtClean="0">
                  <a:latin typeface="Raleway"/>
                  <a:cs typeface="Raleway"/>
                </a:rPr>
                <a:t>الجداول</a:t>
              </a:r>
              <a:endParaRPr lang="en-US" sz="2400" b="1" dirty="0">
                <a:latin typeface="Calibri Light" panose="020F0302020204030204" pitchFamily="34" charset="0"/>
                <a:cs typeface="Raleway"/>
              </a:endParaRPr>
            </a:p>
          </p:txBody>
        </p:sp>
        <p:sp>
          <p:nvSpPr>
            <p:cNvPr id="59" name="Freeform 9"/>
            <p:cNvSpPr/>
            <p:nvPr/>
          </p:nvSpPr>
          <p:spPr>
            <a:xfrm flipH="1">
              <a:off x="7071582" y="1366314"/>
              <a:ext cx="92706" cy="108271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4139952" y="2096501"/>
            <a:ext cx="4896544" cy="861504"/>
            <a:chOff x="4139952" y="2096501"/>
            <a:chExt cx="4896544" cy="861504"/>
          </a:xfrm>
        </p:grpSpPr>
        <p:sp>
          <p:nvSpPr>
            <p:cNvPr id="60" name="Shape 1816"/>
            <p:cNvSpPr/>
            <p:nvPr/>
          </p:nvSpPr>
          <p:spPr>
            <a:xfrm>
              <a:off x="4139952" y="2096501"/>
              <a:ext cx="4640267" cy="730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auto">
            <a:xfrm>
              <a:off x="6818662" y="2193192"/>
              <a:ext cx="2145824" cy="688616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435105" y="2276872"/>
              <a:ext cx="257499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ar-DZ" sz="2400" b="1" dirty="0" smtClean="0">
                  <a:latin typeface="Raleway"/>
                  <a:cs typeface="Raleway"/>
                </a:rPr>
                <a:t>الأشكال والصور</a:t>
              </a:r>
              <a:endParaRPr lang="en-US" sz="2400" b="1" dirty="0">
                <a:latin typeface="Calibri Light" panose="020F0302020204030204" pitchFamily="34" charset="0"/>
                <a:cs typeface="Raleway"/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 flipH="1">
              <a:off x="7063080" y="2401775"/>
              <a:ext cx="92086" cy="107550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7401112" y="2276872"/>
              <a:ext cx="16353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الوحدة </a:t>
              </a:r>
              <a:r>
                <a:rPr lang="ar-DZ" sz="2000" b="1" dirty="0" err="1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المفاهيمية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7884368" y="2542507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02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</p:grpSp>
      <p:grpSp>
        <p:nvGrpSpPr>
          <p:cNvPr id="4" name="Groupe 3"/>
          <p:cNvGrpSpPr/>
          <p:nvPr/>
        </p:nvGrpSpPr>
        <p:grpSpPr>
          <a:xfrm>
            <a:off x="4138630" y="3140265"/>
            <a:ext cx="4897866" cy="897860"/>
            <a:chOff x="4138630" y="3140265"/>
            <a:chExt cx="4897866" cy="897860"/>
          </a:xfrm>
        </p:grpSpPr>
        <p:sp>
          <p:nvSpPr>
            <p:cNvPr id="67" name="Shape 1816"/>
            <p:cNvSpPr/>
            <p:nvPr/>
          </p:nvSpPr>
          <p:spPr>
            <a:xfrm>
              <a:off x="4138630" y="3140265"/>
              <a:ext cx="4641538" cy="730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68" name="Freeform 11"/>
            <p:cNvSpPr>
              <a:spLocks/>
            </p:cNvSpPr>
            <p:nvPr/>
          </p:nvSpPr>
          <p:spPr bwMode="auto">
            <a:xfrm>
              <a:off x="6818078" y="3244252"/>
              <a:ext cx="2146411" cy="688804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139952" y="3358023"/>
              <a:ext cx="2870560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ar-DZ" sz="2200" b="1" dirty="0" smtClean="0">
                  <a:latin typeface="Raleway"/>
                  <a:cs typeface="Raleway"/>
                </a:rPr>
                <a:t>تنظيم الوثيقة</a:t>
              </a:r>
              <a:endParaRPr lang="en-US" sz="2200" b="1" dirty="0" smtClean="0">
                <a:latin typeface="Calibri Light" panose="020F0302020204030204" pitchFamily="34" charset="0"/>
                <a:cs typeface="Raleway"/>
              </a:endParaRPr>
            </a:p>
            <a:p>
              <a:endParaRPr lang="en-US" sz="800" b="1" dirty="0">
                <a:latin typeface="Calibri Light" panose="020F0302020204030204" pitchFamily="34" charset="0"/>
                <a:cs typeface="Raleway"/>
              </a:endParaRPr>
            </a:p>
          </p:txBody>
        </p:sp>
        <p:sp>
          <p:nvSpPr>
            <p:cNvPr id="73" name="Freeform 66"/>
            <p:cNvSpPr/>
            <p:nvPr/>
          </p:nvSpPr>
          <p:spPr>
            <a:xfrm flipH="1">
              <a:off x="7063873" y="3447423"/>
              <a:ext cx="92112" cy="107579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401112" y="3356992"/>
              <a:ext cx="16353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الوحدة </a:t>
              </a:r>
              <a:r>
                <a:rPr lang="ar-DZ" sz="2000" b="1" dirty="0" err="1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المفاهيمية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884368" y="3622627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03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4139952" y="4187324"/>
            <a:ext cx="4897866" cy="897860"/>
            <a:chOff x="4139952" y="4187324"/>
            <a:chExt cx="4897866" cy="897860"/>
          </a:xfrm>
        </p:grpSpPr>
        <p:sp>
          <p:nvSpPr>
            <p:cNvPr id="39" name="Shape 1816"/>
            <p:cNvSpPr/>
            <p:nvPr/>
          </p:nvSpPr>
          <p:spPr>
            <a:xfrm>
              <a:off x="4139952" y="4187324"/>
              <a:ext cx="4641538" cy="730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40" name="Freeform 11"/>
            <p:cNvSpPr>
              <a:spLocks/>
            </p:cNvSpPr>
            <p:nvPr/>
          </p:nvSpPr>
          <p:spPr bwMode="auto">
            <a:xfrm>
              <a:off x="6819400" y="4291311"/>
              <a:ext cx="2146411" cy="688804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141274" y="4405082"/>
              <a:ext cx="2870560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ar-DZ" sz="2200" b="1" dirty="0" smtClean="0">
                  <a:latin typeface="Raleway"/>
                  <a:cs typeface="Raleway"/>
                </a:rPr>
                <a:t>مشروع إعداد وثيقة</a:t>
              </a:r>
              <a:endParaRPr lang="en-US" sz="2200" b="1" dirty="0" smtClean="0">
                <a:latin typeface="Calibri Light" panose="020F0302020204030204" pitchFamily="34" charset="0"/>
                <a:cs typeface="Raleway"/>
              </a:endParaRPr>
            </a:p>
            <a:p>
              <a:endParaRPr lang="en-US" sz="800" b="1" dirty="0">
                <a:latin typeface="Calibri Light" panose="020F0302020204030204" pitchFamily="34" charset="0"/>
                <a:cs typeface="Raleway"/>
              </a:endParaRPr>
            </a:p>
          </p:txBody>
        </p:sp>
        <p:sp>
          <p:nvSpPr>
            <p:cNvPr id="42" name="Freeform 66"/>
            <p:cNvSpPr/>
            <p:nvPr/>
          </p:nvSpPr>
          <p:spPr>
            <a:xfrm flipH="1">
              <a:off x="7065195" y="4494482"/>
              <a:ext cx="92112" cy="107579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02434" y="4404051"/>
              <a:ext cx="16353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الوحدة </a:t>
              </a:r>
              <a:r>
                <a:rPr lang="ar-DZ" sz="2000" b="1" dirty="0" err="1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المفاهيمية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885690" y="4669686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04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8" name="Groupe 97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81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4" name="Rectangle 1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6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6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8" name="Rectangle 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05" name="ZoneTexte 104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83" name="ZoneTexte 182"/>
              <p:cNvSpPr txBox="1"/>
              <p:nvPr/>
            </p:nvSpPr>
            <p:spPr>
              <a:xfrm>
                <a:off x="2339752" y="87015"/>
                <a:ext cx="25922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Low" rtl="1"/>
                <a:r>
                  <a:rPr lang="ar-DZ" sz="2400" b="1" dirty="0" smtClean="0">
                    <a:solidFill>
                      <a:schemeClr val="bg1"/>
                    </a:solidFill>
                  </a:rPr>
                  <a:t>معالج النصوص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8" name="Image 37" descr="3-2-blogging-transparent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94" name="Image 93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95" name="ZoneTexte 94"/>
              <p:cNvSpPr txBox="1"/>
              <p:nvPr/>
            </p:nvSpPr>
            <p:spPr>
              <a:xfrm>
                <a:off x="5652120" y="6351711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ZoneTexte 95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ZoneTexte 96"/>
              <p:cNvSpPr txBox="1"/>
              <p:nvPr/>
            </p:nvSpPr>
            <p:spPr>
              <a:xfrm>
                <a:off x="2987824" y="6381328"/>
                <a:ext cx="2016224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45" name="Image 44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6016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46" name="Image 45" descr="Microsoft_Word_2013_logo.svg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27584" y="33236"/>
            <a:ext cx="792087" cy="5874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275599" y="1098927"/>
            <a:ext cx="2577601" cy="306466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148538" y="1410832"/>
            <a:ext cx="2520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 smtClean="0">
                <a:solidFill>
                  <a:schemeClr val="bg1"/>
                </a:solidFill>
              </a:rPr>
              <a:t>كنت بصدد إنجاز وكتابة بحث في التاريخ والجغرافيا على معالج النصوص، فصادفتك عملية إحصاء حول حجم الصادرات والواردات خلال سنوات معينة.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971600" y="1412776"/>
            <a:ext cx="3528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ماذا تدرج في معالج النصوص لإحصاء حجم الصادرات والواردات خلال هذه السنوات المعينة؟</a:t>
            </a:r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351711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381328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88" name="Image 87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76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26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76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76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26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0" y="620688"/>
            <a:ext cx="9144000" cy="5616623"/>
            <a:chOff x="0" y="620688"/>
            <a:chExt cx="9144000" cy="5616623"/>
          </a:xfrm>
        </p:grpSpPr>
        <p:pic>
          <p:nvPicPr>
            <p:cNvPr id="2051" name="Picture 3" descr="C:\Users\RIDHA\Downloads\صور المعلوماتية\1 (14)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620688"/>
              <a:ext cx="9144000" cy="5616623"/>
            </a:xfrm>
            <a:prstGeom prst="rect">
              <a:avLst/>
            </a:prstGeom>
            <a:noFill/>
          </p:spPr>
        </p:pic>
        <p:sp>
          <p:nvSpPr>
            <p:cNvPr id="24" name="Rectangle 23"/>
            <p:cNvSpPr/>
            <p:nvPr/>
          </p:nvSpPr>
          <p:spPr>
            <a:xfrm>
              <a:off x="4788024" y="1412776"/>
              <a:ext cx="3888432" cy="28083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0808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4788024" y="1805915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400" b="1" dirty="0" smtClean="0">
                <a:solidFill>
                  <a:schemeClr val="bg1"/>
                </a:solidFill>
              </a:rPr>
              <a:t>معالج النصوص     </a:t>
            </a:r>
            <a:r>
              <a:rPr lang="fr-FR" sz="2400" b="1" dirty="0" smtClean="0">
                <a:solidFill>
                  <a:schemeClr val="bg1"/>
                </a:solidFill>
              </a:rPr>
              <a:t>MS-Word                            </a:t>
            </a:r>
            <a:r>
              <a:rPr lang="ar-DZ" sz="2400" b="1" dirty="0" smtClean="0">
                <a:solidFill>
                  <a:schemeClr val="bg1"/>
                </a:solidFill>
              </a:rPr>
              <a:t>  </a:t>
            </a:r>
            <a:r>
              <a:rPr lang="ar-DZ" sz="2400" b="1" dirty="0" smtClean="0">
                <a:solidFill>
                  <a:srgbClr val="FF0000"/>
                </a:solidFill>
              </a:rPr>
              <a:t>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644008" y="2636912"/>
            <a:ext cx="41044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الوحدة </a:t>
            </a:r>
            <a:r>
              <a:rPr lang="ar-DZ" sz="2400" b="1" dirty="0" err="1" smtClean="0">
                <a:solidFill>
                  <a:srgbClr val="FFFF00"/>
                </a:solidFill>
              </a:rPr>
              <a:t>المفاهمية</a:t>
            </a:r>
            <a:r>
              <a:rPr lang="ar-DZ" sz="2400" b="1" dirty="0" smtClean="0">
                <a:solidFill>
                  <a:srgbClr val="FFFF00"/>
                </a:solidFill>
              </a:rPr>
              <a:t>: </a:t>
            </a:r>
            <a:r>
              <a:rPr lang="ar-DZ" sz="2400" b="1" dirty="0" smtClean="0">
                <a:solidFill>
                  <a:schemeClr val="bg1"/>
                </a:solidFill>
              </a:rPr>
              <a:t>الجداول </a:t>
            </a:r>
            <a:r>
              <a:rPr lang="fr-FR" sz="2400" b="1" dirty="0" smtClean="0">
                <a:solidFill>
                  <a:schemeClr val="bg1"/>
                </a:solidFill>
              </a:rPr>
              <a:t> Tableaux</a:t>
            </a:r>
            <a:r>
              <a:rPr lang="ar-DZ" sz="2400" b="1" dirty="0" smtClean="0">
                <a:solidFill>
                  <a:schemeClr val="bg1"/>
                </a:solidFill>
              </a:rPr>
              <a:t> 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139952" y="3239978"/>
            <a:ext cx="46085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500" b="1" dirty="0" smtClean="0">
                <a:solidFill>
                  <a:srgbClr val="FFFF00"/>
                </a:solidFill>
              </a:rPr>
              <a:t>الحصة </a:t>
            </a:r>
            <a:r>
              <a:rPr lang="ar-DZ" sz="2500" b="1" dirty="0" err="1" smtClean="0">
                <a:solidFill>
                  <a:srgbClr val="FFFF00"/>
                </a:solidFill>
              </a:rPr>
              <a:t>التعلمية</a:t>
            </a:r>
            <a:r>
              <a:rPr lang="ar-DZ" sz="2500" b="1" dirty="0" smtClean="0">
                <a:solidFill>
                  <a:srgbClr val="FFFF00"/>
                </a:solidFill>
              </a:rPr>
              <a:t>:</a:t>
            </a:r>
            <a:r>
              <a:rPr lang="ar-DZ" sz="2400" b="1" dirty="0" smtClean="0">
                <a:solidFill>
                  <a:schemeClr val="bg1"/>
                </a:solidFill>
              </a:rPr>
              <a:t> الجداول </a:t>
            </a:r>
            <a:r>
              <a:rPr lang="fr-FR" sz="2400" b="1" dirty="0" smtClean="0">
                <a:solidFill>
                  <a:schemeClr val="bg1"/>
                </a:solidFill>
              </a:rPr>
              <a:t>Tableaux</a:t>
            </a:r>
            <a:endParaRPr lang="fr-FR" sz="24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351711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381328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88024" y="6264696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7" name="Image 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2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2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836712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8316416" y="112474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3707904" y="1152376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3" name="Shape 856"/>
          <p:cNvSpPr/>
          <p:nvPr/>
        </p:nvSpPr>
        <p:spPr>
          <a:xfrm>
            <a:off x="8316416" y="177281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4" name="Shape 859"/>
          <p:cNvSpPr/>
          <p:nvPr/>
        </p:nvSpPr>
        <p:spPr>
          <a:xfrm>
            <a:off x="3707904" y="180044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8303963" y="1124744"/>
            <a:ext cx="588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1-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8316416" y="177281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2-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3923928" y="119675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خطوات إدراج جدول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3894151" y="182566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تغيير عرض عمود وارتفاع سطر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8316416" y="2377810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3707904" y="2405442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8316416" y="2377810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3-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3894151" y="2430654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التحديد في الجدول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5" name="Shape 856"/>
          <p:cNvSpPr/>
          <p:nvPr/>
        </p:nvSpPr>
        <p:spPr>
          <a:xfrm>
            <a:off x="8346193" y="2996952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3737681" y="3024584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8316416" y="2996952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4-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3923928" y="3049796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التنسيق في الجدول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9" name="Shape 856"/>
          <p:cNvSpPr/>
          <p:nvPr/>
        </p:nvSpPr>
        <p:spPr>
          <a:xfrm>
            <a:off x="8346193" y="360194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3" name="Shape 859"/>
          <p:cNvSpPr/>
          <p:nvPr/>
        </p:nvSpPr>
        <p:spPr>
          <a:xfrm>
            <a:off x="3737681" y="362957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4" name="ZoneTexte 83"/>
          <p:cNvSpPr txBox="1"/>
          <p:nvPr/>
        </p:nvSpPr>
        <p:spPr>
          <a:xfrm>
            <a:off x="8316416" y="3601946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5-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5" name="ZoneTexte 84"/>
          <p:cNvSpPr txBox="1"/>
          <p:nvPr/>
        </p:nvSpPr>
        <p:spPr>
          <a:xfrm>
            <a:off x="3923928" y="365479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إضافة وحذف سطر أو عمود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6" name="Shape 856"/>
          <p:cNvSpPr/>
          <p:nvPr/>
        </p:nvSpPr>
        <p:spPr>
          <a:xfrm>
            <a:off x="8346193" y="4178010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7" name="Shape 859"/>
          <p:cNvSpPr/>
          <p:nvPr/>
        </p:nvSpPr>
        <p:spPr>
          <a:xfrm>
            <a:off x="3737681" y="4205642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8" name="ZoneTexte 87"/>
          <p:cNvSpPr txBox="1"/>
          <p:nvPr/>
        </p:nvSpPr>
        <p:spPr>
          <a:xfrm>
            <a:off x="8316416" y="4178010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6-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3923928" y="4230854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الحدود والتظليل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90" name="Shape 856"/>
          <p:cNvSpPr/>
          <p:nvPr/>
        </p:nvSpPr>
        <p:spPr>
          <a:xfrm>
            <a:off x="8316416" y="4797152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Shape 859"/>
          <p:cNvSpPr/>
          <p:nvPr/>
        </p:nvSpPr>
        <p:spPr>
          <a:xfrm>
            <a:off x="3707904" y="4824784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2" name="ZoneTexte 91"/>
          <p:cNvSpPr txBox="1"/>
          <p:nvPr/>
        </p:nvSpPr>
        <p:spPr>
          <a:xfrm>
            <a:off x="8316416" y="4797152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7-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3894151" y="4849996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دمج وتقسيم الخلايا</a:t>
            </a:r>
            <a:endParaRPr lang="fr-FR" sz="24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ZoneTexte 6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2" name="Image 61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80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1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6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9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400"/>
                            </p:stCondLst>
                            <p:childTnLst>
                              <p:par>
                                <p:cTn id="9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200"/>
                            </p:stCondLst>
                            <p:childTnLst>
                              <p:par>
                                <p:cTn id="1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8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000"/>
                            </p:stCondLst>
                            <p:childTnLst>
                              <p:par>
                                <p:cTn id="1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300"/>
                            </p:stCondLst>
                            <p:childTnLst>
                              <p:par>
                                <p:cTn id="1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800"/>
                            </p:stCondLst>
                            <p:childTnLst>
                              <p:par>
                                <p:cTn id="1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100"/>
                            </p:stCondLst>
                            <p:childTnLst>
                              <p:par>
                                <p:cTn id="1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600"/>
                            </p:stCondLst>
                            <p:childTnLst>
                              <p:par>
                                <p:cTn id="1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900"/>
                            </p:stCondLst>
                            <p:childTnLst>
                              <p:par>
                                <p:cTn id="1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1400"/>
                            </p:stCondLst>
                            <p:childTnLst>
                              <p:par>
                                <p:cTn id="1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71" grpId="0" animBg="1"/>
      <p:bldP spid="72" grpId="0" animBg="1"/>
      <p:bldP spid="73" grpId="0"/>
      <p:bldP spid="74" grpId="0"/>
      <p:bldP spid="45" grpId="0" animBg="1"/>
      <p:bldP spid="46" grpId="0" animBg="1"/>
      <p:bldP spid="47" grpId="0"/>
      <p:bldP spid="48" grpId="0"/>
      <p:bldP spid="49" grpId="0" animBg="1"/>
      <p:bldP spid="83" grpId="0" animBg="1"/>
      <p:bldP spid="84" grpId="0"/>
      <p:bldP spid="85" grpId="0"/>
      <p:bldP spid="86" grpId="0" animBg="1"/>
      <p:bldP spid="87" grpId="0" animBg="1"/>
      <p:bldP spid="88" grpId="0"/>
      <p:bldP spid="89" grpId="0"/>
      <p:bldP spid="90" grpId="0" animBg="1"/>
      <p:bldP spid="91" grpId="0" animBg="1"/>
      <p:bldP spid="92" grpId="0"/>
      <p:bldP spid="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899592" y="1558533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كيف يمكنك إنشاء أو إدراج هذا الجدول وتنسيقه بما يناسب بحثك؟</a:t>
            </a:r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8" name="Groupe 7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21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4" name="Image 13" descr="3-2-blogging-transparent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5" name="Image 14" descr="12-2-education-png-image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6" name="ZoneTexte 15"/>
                <p:cNvSpPr txBox="1"/>
                <p:nvPr/>
              </p:nvSpPr>
              <p:spPr>
                <a:xfrm>
                  <a:off x="5796136" y="6351711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ZoneTexte 17"/>
                <p:cNvSpPr txBox="1"/>
                <p:nvPr/>
              </p:nvSpPr>
              <p:spPr>
                <a:xfrm>
                  <a:off x="2915816" y="6381328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" name="Image 9" descr="3d print business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716016" y="6237312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11" name="Image 10" descr="Microsoft_Word_2013_logo.svg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1" name="ZoneTexte 30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الجداول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97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9" name="ZoneTexte 9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00" name="ZoneTexte 99"/>
          <p:cNvSpPr txBox="1"/>
          <p:nvPr/>
        </p:nvSpPr>
        <p:spPr>
          <a:xfrm>
            <a:off x="4934718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خطوات إدراج جدول: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101" name="Rectangle 52"/>
          <p:cNvSpPr>
            <a:spLocks noChangeArrowheads="1"/>
          </p:cNvSpPr>
          <p:nvPr/>
        </p:nvSpPr>
        <p:spPr bwMode="auto">
          <a:xfrm>
            <a:off x="8055193" y="1359533"/>
            <a:ext cx="613569" cy="242950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2" name="Group 64"/>
          <p:cNvGrpSpPr/>
          <p:nvPr/>
        </p:nvGrpSpPr>
        <p:grpSpPr>
          <a:xfrm>
            <a:off x="4934718" y="1412776"/>
            <a:ext cx="3741738" cy="451793"/>
            <a:chOff x="-148675" y="1693797"/>
            <a:chExt cx="3741738" cy="1026832"/>
          </a:xfrm>
        </p:grpSpPr>
        <p:sp>
          <p:nvSpPr>
            <p:cNvPr id="103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6" name="TextBox 68"/>
          <p:cNvSpPr txBox="1"/>
          <p:nvPr/>
        </p:nvSpPr>
        <p:spPr>
          <a:xfrm>
            <a:off x="5254013" y="1537047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</a:rPr>
              <a:t>التبويب </a:t>
            </a:r>
            <a:r>
              <a:rPr lang="fr-FR" sz="2000" b="1" dirty="0" smtClean="0">
                <a:solidFill>
                  <a:schemeClr val="bg1"/>
                </a:solidFill>
              </a:rPr>
              <a:t>Insertion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7" name="TextBox 82"/>
          <p:cNvSpPr txBox="1"/>
          <p:nvPr/>
        </p:nvSpPr>
        <p:spPr>
          <a:xfrm>
            <a:off x="8082137" y="1340768"/>
            <a:ext cx="27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156" name="Group 64"/>
          <p:cNvGrpSpPr/>
          <p:nvPr/>
        </p:nvGrpSpPr>
        <p:grpSpPr>
          <a:xfrm>
            <a:off x="4934718" y="1969095"/>
            <a:ext cx="3741738" cy="451793"/>
            <a:chOff x="-148675" y="1693797"/>
            <a:chExt cx="3741738" cy="1026832"/>
          </a:xfrm>
        </p:grpSpPr>
        <p:sp>
          <p:nvSpPr>
            <p:cNvPr id="157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7" name="TextBox 68"/>
          <p:cNvSpPr txBox="1"/>
          <p:nvPr/>
        </p:nvSpPr>
        <p:spPr>
          <a:xfrm>
            <a:off x="5254013" y="2093366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الأداة </a:t>
            </a:r>
            <a:r>
              <a:rPr lang="fr-FR" sz="2000" b="1" dirty="0">
                <a:solidFill>
                  <a:schemeClr val="bg1"/>
                </a:solidFill>
              </a:rPr>
              <a:t>tableau</a:t>
            </a:r>
            <a:r>
              <a:rPr lang="ar-DZ" sz="2000" b="1" dirty="0">
                <a:solidFill>
                  <a:schemeClr val="bg1"/>
                </a:solidFill>
              </a:rPr>
              <a:t>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98" name="TextBox 82"/>
          <p:cNvSpPr txBox="1"/>
          <p:nvPr/>
        </p:nvSpPr>
        <p:spPr>
          <a:xfrm>
            <a:off x="8082137" y="1876762"/>
            <a:ext cx="27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199" name="Group 64"/>
          <p:cNvGrpSpPr/>
          <p:nvPr/>
        </p:nvGrpSpPr>
        <p:grpSpPr>
          <a:xfrm>
            <a:off x="323528" y="2474132"/>
            <a:ext cx="8350250" cy="451793"/>
            <a:chOff x="-4757187" y="1693797"/>
            <a:chExt cx="8350250" cy="1026832"/>
          </a:xfrm>
        </p:grpSpPr>
        <p:sp>
          <p:nvSpPr>
            <p:cNvPr id="200" name="Freeform 9"/>
            <p:cNvSpPr>
              <a:spLocks/>
            </p:cNvSpPr>
            <p:nvPr/>
          </p:nvSpPr>
          <p:spPr bwMode="auto">
            <a:xfrm flipH="1">
              <a:off x="-4757187" y="1943391"/>
              <a:ext cx="7726616" cy="7772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3" name="TextBox 68"/>
          <p:cNvSpPr txBox="1"/>
          <p:nvPr/>
        </p:nvSpPr>
        <p:spPr>
          <a:xfrm>
            <a:off x="899592" y="2598403"/>
            <a:ext cx="6802079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باستعمال المربعات الظاهرة نحدد عدد الأعمدة وعدد الأسطر و نضغط بالزر الأيسر.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204" name="TextBox 82"/>
          <p:cNvSpPr txBox="1"/>
          <p:nvPr/>
        </p:nvSpPr>
        <p:spPr>
          <a:xfrm>
            <a:off x="8079459" y="2380818"/>
            <a:ext cx="27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205" name="Group 64"/>
          <p:cNvGrpSpPr/>
          <p:nvPr/>
        </p:nvGrpSpPr>
        <p:grpSpPr>
          <a:xfrm>
            <a:off x="323528" y="2978187"/>
            <a:ext cx="8350250" cy="810853"/>
            <a:chOff x="-4757187" y="1693797"/>
            <a:chExt cx="8350250" cy="1026833"/>
          </a:xfrm>
        </p:grpSpPr>
        <p:sp>
          <p:nvSpPr>
            <p:cNvPr id="206" name="Freeform 9"/>
            <p:cNvSpPr>
              <a:spLocks/>
            </p:cNvSpPr>
            <p:nvPr/>
          </p:nvSpPr>
          <p:spPr bwMode="auto">
            <a:xfrm flipH="1">
              <a:off x="-4757187" y="1943391"/>
              <a:ext cx="7726616" cy="777239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9" name="TextBox 68"/>
          <p:cNvSpPr txBox="1"/>
          <p:nvPr/>
        </p:nvSpPr>
        <p:spPr>
          <a:xfrm>
            <a:off x="683568" y="3204265"/>
            <a:ext cx="6982099" cy="584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1900" b="1" dirty="0">
                <a:solidFill>
                  <a:schemeClr val="bg1"/>
                </a:solidFill>
              </a:rPr>
              <a:t>أو النقر على </a:t>
            </a:r>
            <a:r>
              <a:rPr lang="fr-FR" sz="1900" b="1" dirty="0">
                <a:solidFill>
                  <a:schemeClr val="bg1"/>
                </a:solidFill>
              </a:rPr>
              <a:t>Insérer un tableau</a:t>
            </a:r>
            <a:r>
              <a:rPr lang="ar-DZ" sz="1900" b="1" dirty="0">
                <a:solidFill>
                  <a:schemeClr val="bg1"/>
                </a:solidFill>
              </a:rPr>
              <a:t> فتظهر نافذة نحدد عليها عدد الأعمدة(</a:t>
            </a:r>
            <a:r>
              <a:rPr lang="fr-FR" sz="1900" b="1" dirty="0">
                <a:solidFill>
                  <a:schemeClr val="bg1"/>
                </a:solidFill>
              </a:rPr>
              <a:t>nombre de colonnes</a:t>
            </a:r>
            <a:r>
              <a:rPr lang="ar-DZ" sz="1900" b="1" dirty="0">
                <a:solidFill>
                  <a:schemeClr val="bg1"/>
                </a:solidFill>
              </a:rPr>
              <a:t>) وعدد الأسطر </a:t>
            </a:r>
            <a:r>
              <a:rPr lang="ar-DZ" sz="1900" b="1" dirty="0" smtClean="0">
                <a:solidFill>
                  <a:schemeClr val="bg1"/>
                </a:solidFill>
              </a:rPr>
              <a:t>(</a:t>
            </a:r>
            <a:r>
              <a:rPr lang="fr-FR" sz="1900" b="1" dirty="0">
                <a:solidFill>
                  <a:schemeClr val="bg1"/>
                </a:solidFill>
              </a:rPr>
              <a:t>nombre de linges</a:t>
            </a:r>
            <a:r>
              <a:rPr lang="ar-DZ" sz="1900" b="1" dirty="0" smtClean="0">
                <a:solidFill>
                  <a:schemeClr val="bg1"/>
                </a:solidFill>
              </a:rPr>
              <a:t>)</a:t>
            </a:r>
            <a:r>
              <a:rPr lang="fr-FR" sz="1900" b="1" dirty="0" smtClean="0">
                <a:solidFill>
                  <a:schemeClr val="bg1"/>
                </a:solidFill>
              </a:rPr>
              <a:t> </a:t>
            </a:r>
            <a:r>
              <a:rPr lang="ar-DZ" sz="1900" b="1" dirty="0" smtClean="0">
                <a:solidFill>
                  <a:schemeClr val="bg1"/>
                </a:solidFill>
              </a:rPr>
              <a:t>ثم </a:t>
            </a:r>
            <a:r>
              <a:rPr lang="fr-FR" sz="1900" b="1" dirty="0">
                <a:solidFill>
                  <a:schemeClr val="bg1"/>
                </a:solidFill>
              </a:rPr>
              <a:t>ok</a:t>
            </a:r>
            <a:r>
              <a:rPr lang="ar-DZ" sz="1900" b="1" dirty="0">
                <a:solidFill>
                  <a:schemeClr val="bg1"/>
                </a:solidFill>
              </a:rPr>
              <a:t>. 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10" name="TextBox 82"/>
          <p:cNvSpPr txBox="1"/>
          <p:nvPr/>
        </p:nvSpPr>
        <p:spPr>
          <a:xfrm>
            <a:off x="8079459" y="2996952"/>
            <a:ext cx="27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12" name="ZoneTexte 211"/>
          <p:cNvSpPr txBox="1"/>
          <p:nvPr/>
        </p:nvSpPr>
        <p:spPr>
          <a:xfrm>
            <a:off x="180343" y="796642"/>
            <a:ext cx="46796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2100" b="1" dirty="0" smtClean="0">
                <a:solidFill>
                  <a:schemeClr val="bg1"/>
                </a:solidFill>
              </a:rPr>
              <a:t> بعد تحديد مكان الإدراج ننقر على التوالي بالترتيب:</a:t>
            </a:r>
            <a:endParaRPr lang="en-US" sz="2100" b="1" dirty="0" smtClean="0">
              <a:solidFill>
                <a:schemeClr val="bg1"/>
              </a:solidFill>
            </a:endParaRPr>
          </a:p>
        </p:txBody>
      </p:sp>
      <p:grpSp>
        <p:nvGrpSpPr>
          <p:cNvPr id="23" name="Groupe 22"/>
          <p:cNvGrpSpPr/>
          <p:nvPr/>
        </p:nvGrpSpPr>
        <p:grpSpPr>
          <a:xfrm>
            <a:off x="395536" y="3861049"/>
            <a:ext cx="4627716" cy="2304256"/>
            <a:chOff x="201087" y="3861049"/>
            <a:chExt cx="4627716" cy="2304256"/>
          </a:xfrm>
        </p:grpSpPr>
        <p:pic>
          <p:nvPicPr>
            <p:cNvPr id="1025" name="Picture 1" descr="C:\Users\RIDHA\Desktop\Sans titre4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087" y="3861049"/>
              <a:ext cx="4627716" cy="2304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Connecteur en arc 12"/>
            <p:cNvCxnSpPr/>
            <p:nvPr/>
          </p:nvCxnSpPr>
          <p:spPr>
            <a:xfrm>
              <a:off x="1331640" y="4941168"/>
              <a:ext cx="648072" cy="504056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33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C:\Users\RIDHA\Desktop\Sans titre4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750" y="3861049"/>
            <a:ext cx="2924175" cy="230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ZoneTexte 5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7" name="Image 56" descr="Microsoft_Word_2013_logo.svg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99" grpId="0"/>
      <p:bldP spid="100" grpId="0"/>
      <p:bldP spid="101" grpId="0" animBg="1"/>
      <p:bldP spid="106" grpId="0"/>
      <p:bldP spid="127" grpId="0"/>
      <p:bldP spid="197" grpId="0"/>
      <p:bldP spid="198" grpId="0"/>
      <p:bldP spid="203" grpId="0"/>
      <p:bldP spid="204" grpId="0"/>
      <p:bldP spid="209" grpId="0"/>
      <p:bldP spid="210" grpId="0"/>
      <p:bldP spid="2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12" name="Pensées 11"/>
          <p:cNvSpPr/>
          <p:nvPr/>
        </p:nvSpPr>
        <p:spPr>
          <a:xfrm>
            <a:off x="827583" y="709305"/>
            <a:ext cx="5959150" cy="2575679"/>
          </a:xfrm>
          <a:prstGeom prst="cloudCallout">
            <a:avLst>
              <a:gd name="adj1" fmla="val -44785"/>
              <a:gd name="adj2" fmla="val 59707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403647" y="930786"/>
            <a:ext cx="4680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 تغيير عرض العمود وارتفاع السطر؟ </a:t>
            </a:r>
          </a:p>
        </p:txBody>
      </p:sp>
      <p:pic>
        <p:nvPicPr>
          <p:cNvPr id="14" name="Picture 4" descr="C:\Users\RIDHA\Pictures\Image1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7740352" y="2996952"/>
            <a:ext cx="1584176" cy="2796530"/>
          </a:xfrm>
          <a:prstGeom prst="rect">
            <a:avLst/>
          </a:prstGeom>
          <a:noFill/>
        </p:spPr>
      </p:pic>
      <p:grpSp>
        <p:nvGrpSpPr>
          <p:cNvPr id="15" name="Groupe 14"/>
          <p:cNvGrpSpPr/>
          <p:nvPr/>
        </p:nvGrpSpPr>
        <p:grpSpPr>
          <a:xfrm>
            <a:off x="6660232" y="1916832"/>
            <a:ext cx="2448272" cy="1008112"/>
            <a:chOff x="3563888" y="1268760"/>
            <a:chExt cx="2664296" cy="936104"/>
          </a:xfrm>
        </p:grpSpPr>
        <p:sp>
          <p:nvSpPr>
            <p:cNvPr id="16" name="Pensées 1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3890"/>
                <a:gd name="adj2" fmla="val 120361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pic>
        <p:nvPicPr>
          <p:cNvPr id="32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612576" y="3212976"/>
            <a:ext cx="2941886" cy="2952328"/>
          </a:xfrm>
          <a:prstGeom prst="rect">
            <a:avLst/>
          </a:prstGeom>
          <a:noFill/>
        </p:spPr>
      </p:pic>
      <p:pic>
        <p:nvPicPr>
          <p:cNvPr id="37" name="Image 3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515" y="1340768"/>
            <a:ext cx="2283629" cy="1440972"/>
          </a:xfrm>
          <a:prstGeom prst="rect">
            <a:avLst/>
          </a:prstGeom>
        </p:spPr>
      </p:pic>
      <p:pic>
        <p:nvPicPr>
          <p:cNvPr id="38" name="Image 3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3" y="1636867"/>
            <a:ext cx="2304255" cy="1144061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27" name="Image 26" descr="3-2-blogging-transparent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28" name="Image 27" descr="12-2-education-png-image-thumb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29" name="ZoneTexte 28"/>
                <p:cNvSpPr txBox="1"/>
                <p:nvPr/>
              </p:nvSpPr>
              <p:spPr>
                <a:xfrm>
                  <a:off x="5652120" y="6351711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ZoneTexte 2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ZoneTexte 30"/>
                <p:cNvSpPr txBox="1"/>
                <p:nvPr/>
              </p:nvSpPr>
              <p:spPr>
                <a:xfrm>
                  <a:off x="2987824" y="6381328"/>
                  <a:ext cx="20882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3" name="Image 32" descr="3d print business.png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4" name="ZoneTexte 3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6" name="Image 35" descr="Microsoft_Word_2013_logo.svg.pn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20" name="Shape 856"/>
          <p:cNvSpPr/>
          <p:nvPr/>
        </p:nvSpPr>
        <p:spPr>
          <a:xfrm>
            <a:off x="8316416" y="649618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1" name="Shape 859"/>
          <p:cNvSpPr/>
          <p:nvPr/>
        </p:nvSpPr>
        <p:spPr>
          <a:xfrm>
            <a:off x="3707904" y="677250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2" name="ZoneTexte 21"/>
          <p:cNvSpPr txBox="1"/>
          <p:nvPr/>
        </p:nvSpPr>
        <p:spPr>
          <a:xfrm>
            <a:off x="8316416" y="64961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3894151" y="70246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تغيير عرض العمود وإرتفاع السطر: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57" name="Group 63"/>
          <p:cNvGrpSpPr/>
          <p:nvPr/>
        </p:nvGrpSpPr>
        <p:grpSpPr>
          <a:xfrm flipH="1">
            <a:off x="849590" y="3717032"/>
            <a:ext cx="8007554" cy="1208153"/>
            <a:chOff x="1120775" y="1730534"/>
            <a:chExt cx="8007554" cy="1280160"/>
          </a:xfrm>
        </p:grpSpPr>
        <p:cxnSp>
          <p:nvCxnSpPr>
            <p:cNvPr id="58" name="Straight Connector 64"/>
            <p:cNvCxnSpPr/>
            <p:nvPr/>
          </p:nvCxnSpPr>
          <p:spPr>
            <a:xfrm rot="5400000">
              <a:off x="701040" y="2369820"/>
              <a:ext cx="1280160" cy="158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18"/>
            <p:cNvGrpSpPr/>
            <p:nvPr/>
          </p:nvGrpSpPr>
          <p:grpSpPr>
            <a:xfrm>
              <a:off x="1120775" y="1838325"/>
              <a:ext cx="8007554" cy="1077920"/>
              <a:chOff x="3810000" y="1948650"/>
              <a:chExt cx="8007554" cy="1077920"/>
            </a:xfrm>
          </p:grpSpPr>
          <p:sp>
            <p:nvSpPr>
              <p:cNvPr id="66" name="Trapezoid 66"/>
              <p:cNvSpPr/>
              <p:nvPr/>
            </p:nvSpPr>
            <p:spPr>
              <a:xfrm rot="5400000" flipH="1">
                <a:off x="3665141" y="2318934"/>
                <a:ext cx="892968" cy="152400"/>
              </a:xfrm>
              <a:prstGeom prst="trapezoid">
                <a:avLst>
                  <a:gd name="adj" fmla="val 6250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Parallelogram 67"/>
              <p:cNvSpPr/>
              <p:nvPr/>
            </p:nvSpPr>
            <p:spPr>
              <a:xfrm rot="16200000" flipV="1">
                <a:off x="3508373" y="2343942"/>
                <a:ext cx="984254" cy="381000"/>
              </a:xfrm>
              <a:prstGeom prst="parallelogram">
                <a:avLst>
                  <a:gd name="adj" fmla="val 63243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8"/>
              <p:cNvSpPr/>
              <p:nvPr/>
            </p:nvSpPr>
            <p:spPr>
              <a:xfrm flipV="1">
                <a:off x="3810000" y="2286000"/>
                <a:ext cx="8007554" cy="74057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93" name="Groupe 92"/>
          <p:cNvGrpSpPr/>
          <p:nvPr/>
        </p:nvGrpSpPr>
        <p:grpSpPr>
          <a:xfrm>
            <a:off x="849590" y="1268760"/>
            <a:ext cx="8007554" cy="1280160"/>
            <a:chOff x="849590" y="1340768"/>
            <a:chExt cx="8007554" cy="1280160"/>
          </a:xfrm>
        </p:grpSpPr>
        <p:cxnSp>
          <p:nvCxnSpPr>
            <p:cNvPr id="70" name="Straight Connector 70"/>
            <p:cNvCxnSpPr/>
            <p:nvPr/>
          </p:nvCxnSpPr>
          <p:spPr>
            <a:xfrm rot="16200000" flipH="1">
              <a:off x="7984535" y="1980010"/>
              <a:ext cx="1280160" cy="167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24"/>
            <p:cNvGrpSpPr/>
            <p:nvPr/>
          </p:nvGrpSpPr>
          <p:grpSpPr>
            <a:xfrm flipH="1">
              <a:off x="849590" y="1448560"/>
              <a:ext cx="8007554" cy="1044336"/>
              <a:chOff x="3810000" y="1948650"/>
              <a:chExt cx="7587978" cy="1077920"/>
            </a:xfrm>
          </p:grpSpPr>
          <p:sp>
            <p:nvSpPr>
              <p:cNvPr id="72" name="Trapezoid 72"/>
              <p:cNvSpPr/>
              <p:nvPr/>
            </p:nvSpPr>
            <p:spPr>
              <a:xfrm rot="5400000" flipH="1">
                <a:off x="3665141" y="2318934"/>
                <a:ext cx="892968" cy="152400"/>
              </a:xfrm>
              <a:prstGeom prst="trapezoid">
                <a:avLst>
                  <a:gd name="adj" fmla="val 6250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Parallelogram 73"/>
              <p:cNvSpPr/>
              <p:nvPr/>
            </p:nvSpPr>
            <p:spPr>
              <a:xfrm rot="16200000" flipV="1">
                <a:off x="3508373" y="2343942"/>
                <a:ext cx="984254" cy="381000"/>
              </a:xfrm>
              <a:prstGeom prst="parallelogram">
                <a:avLst>
                  <a:gd name="adj" fmla="val 63243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74"/>
              <p:cNvSpPr/>
              <p:nvPr/>
            </p:nvSpPr>
            <p:spPr>
              <a:xfrm flipV="1">
                <a:off x="3810000" y="2286000"/>
                <a:ext cx="7587978" cy="74057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ZoneTexte 1"/>
          <p:cNvSpPr txBox="1"/>
          <p:nvPr/>
        </p:nvSpPr>
        <p:spPr>
          <a:xfrm>
            <a:off x="611560" y="1713002"/>
            <a:ext cx="808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- </a:t>
            </a:r>
            <a:r>
              <a:rPr lang="ar-SA" sz="2000" b="1" dirty="0">
                <a:solidFill>
                  <a:schemeClr val="bg1"/>
                </a:solidFill>
              </a:rPr>
              <a:t>لتغيير عرض عمود نضع المشيرة على الحد العمودي له فتتحول المشيرة </a:t>
            </a:r>
            <a:r>
              <a:rPr lang="ar-SA" sz="2000" b="1" dirty="0" smtClean="0">
                <a:solidFill>
                  <a:schemeClr val="bg1"/>
                </a:solidFill>
              </a:rPr>
              <a:t>إلى        </a:t>
            </a:r>
            <a:r>
              <a:rPr lang="ar-DZ" sz="2000" b="1" dirty="0" smtClean="0">
                <a:solidFill>
                  <a:schemeClr val="bg1"/>
                </a:solidFill>
              </a:rPr>
              <a:t>  </a:t>
            </a:r>
            <a:r>
              <a:rPr lang="ar-SA" sz="2000" b="1" dirty="0" smtClean="0">
                <a:solidFill>
                  <a:schemeClr val="bg1"/>
                </a:solidFill>
              </a:rPr>
              <a:t>نضغط </a:t>
            </a:r>
            <a:r>
              <a:rPr lang="ar-SA" sz="2000" b="1" dirty="0">
                <a:solidFill>
                  <a:schemeClr val="bg1"/>
                </a:solidFill>
              </a:rPr>
              <a:t>ونسحب الفأرة يمينا أو يسارا مع ترك الزر مضغوط.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48" name="Group 1"/>
          <p:cNvGrpSpPr>
            <a:grpSpLocks/>
          </p:cNvGrpSpPr>
          <p:nvPr/>
        </p:nvGrpSpPr>
        <p:grpSpPr bwMode="auto">
          <a:xfrm>
            <a:off x="1691680" y="1740400"/>
            <a:ext cx="349886" cy="248440"/>
            <a:chOff x="3311" y="9542"/>
            <a:chExt cx="390" cy="193"/>
          </a:xfrm>
        </p:grpSpPr>
        <p:sp>
          <p:nvSpPr>
            <p:cNvPr id="52" name="Line 5"/>
            <p:cNvSpPr>
              <a:spLocks noChangeShapeType="1"/>
            </p:cNvSpPr>
            <p:nvPr/>
          </p:nvSpPr>
          <p:spPr bwMode="auto">
            <a:xfrm flipH="1">
              <a:off x="3311" y="9652"/>
              <a:ext cx="3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54" name="Group 2"/>
            <p:cNvGrpSpPr>
              <a:grpSpLocks/>
            </p:cNvGrpSpPr>
            <p:nvPr/>
          </p:nvGrpSpPr>
          <p:grpSpPr bwMode="auto">
            <a:xfrm flipH="1">
              <a:off x="3494" y="9542"/>
              <a:ext cx="57" cy="193"/>
              <a:chOff x="9415" y="9963"/>
              <a:chExt cx="97" cy="371"/>
            </a:xfrm>
          </p:grpSpPr>
          <p:sp>
            <p:nvSpPr>
              <p:cNvPr id="56" name="Line 4"/>
              <p:cNvSpPr>
                <a:spLocks noChangeShapeType="1"/>
              </p:cNvSpPr>
              <p:nvPr/>
            </p:nvSpPr>
            <p:spPr bwMode="auto">
              <a:xfrm>
                <a:off x="9512" y="9974"/>
                <a:ext cx="0" cy="3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" name="Line 3"/>
              <p:cNvSpPr>
                <a:spLocks noChangeShapeType="1"/>
              </p:cNvSpPr>
              <p:nvPr/>
            </p:nvSpPr>
            <p:spPr bwMode="auto">
              <a:xfrm>
                <a:off x="9415" y="9963"/>
                <a:ext cx="0" cy="3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  <p:sp>
        <p:nvSpPr>
          <p:cNvPr id="82" name="ZoneTexte 81"/>
          <p:cNvSpPr txBox="1"/>
          <p:nvPr/>
        </p:nvSpPr>
        <p:spPr>
          <a:xfrm>
            <a:off x="849590" y="4145745"/>
            <a:ext cx="7898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 smtClean="0">
                <a:solidFill>
                  <a:schemeClr val="bg1"/>
                </a:solidFill>
              </a:rPr>
              <a:t>- </a:t>
            </a:r>
            <a:r>
              <a:rPr lang="ar-SA" sz="2000" b="1" dirty="0" smtClean="0">
                <a:solidFill>
                  <a:schemeClr val="bg1"/>
                </a:solidFill>
              </a:rPr>
              <a:t>لتغيير </a:t>
            </a:r>
            <a:r>
              <a:rPr lang="ar-SA" sz="2000" b="1" dirty="0">
                <a:solidFill>
                  <a:schemeClr val="bg1"/>
                </a:solidFill>
              </a:rPr>
              <a:t>ارتفاع السطر نضع المشيرة على الحد الأفقي له فتتحول المشيرة إلى  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 smtClean="0">
                <a:solidFill>
                  <a:schemeClr val="bg1"/>
                </a:solidFill>
              </a:rPr>
              <a:t>  </a:t>
            </a:r>
            <a:r>
              <a:rPr lang="ar-DZ" sz="2000" b="1" dirty="0" smtClean="0">
                <a:solidFill>
                  <a:schemeClr val="bg1"/>
                </a:solidFill>
              </a:rPr>
              <a:t>  </a:t>
            </a:r>
            <a:r>
              <a:rPr lang="ar-SA" sz="2000" b="1" dirty="0" smtClean="0">
                <a:solidFill>
                  <a:schemeClr val="bg1"/>
                </a:solidFill>
              </a:rPr>
              <a:t>نضغط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و </a:t>
            </a:r>
            <a:r>
              <a:rPr lang="ar-SA" sz="2000" b="1" dirty="0">
                <a:solidFill>
                  <a:schemeClr val="bg1"/>
                </a:solidFill>
              </a:rPr>
              <a:t>نسحب  الفأرة إلى الأعلى أو الأسفل مع ترك الزر مضغوط.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87" name="Group 11"/>
          <p:cNvGrpSpPr>
            <a:grpSpLocks/>
          </p:cNvGrpSpPr>
          <p:nvPr/>
        </p:nvGrpSpPr>
        <p:grpSpPr bwMode="auto">
          <a:xfrm>
            <a:off x="2023005" y="4179081"/>
            <a:ext cx="216024" cy="385042"/>
            <a:chOff x="2820" y="10510"/>
            <a:chExt cx="120" cy="420"/>
          </a:xfrm>
        </p:grpSpPr>
        <p:grpSp>
          <p:nvGrpSpPr>
            <p:cNvPr id="88" name="Group 12"/>
            <p:cNvGrpSpPr>
              <a:grpSpLocks/>
            </p:cNvGrpSpPr>
            <p:nvPr/>
          </p:nvGrpSpPr>
          <p:grpSpPr bwMode="auto">
            <a:xfrm>
              <a:off x="2820" y="10510"/>
              <a:ext cx="120" cy="420"/>
              <a:chOff x="2820" y="10510"/>
              <a:chExt cx="120" cy="420"/>
            </a:xfrm>
          </p:grpSpPr>
          <p:sp>
            <p:nvSpPr>
              <p:cNvPr id="90" name="Line 13"/>
              <p:cNvSpPr>
                <a:spLocks noChangeShapeType="1"/>
              </p:cNvSpPr>
              <p:nvPr/>
            </p:nvSpPr>
            <p:spPr bwMode="auto">
              <a:xfrm flipV="1">
                <a:off x="2880" y="10510"/>
                <a:ext cx="0" cy="4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" name="Line 14"/>
              <p:cNvSpPr>
                <a:spLocks noChangeShapeType="1"/>
              </p:cNvSpPr>
              <p:nvPr/>
            </p:nvSpPr>
            <p:spPr bwMode="auto">
              <a:xfrm flipH="1">
                <a:off x="2820" y="10700"/>
                <a:ext cx="12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89" name="Line 15"/>
            <p:cNvSpPr>
              <a:spLocks noChangeShapeType="1"/>
            </p:cNvSpPr>
            <p:nvPr/>
          </p:nvSpPr>
          <p:spPr bwMode="auto">
            <a:xfrm flipH="1">
              <a:off x="2820" y="10750"/>
              <a:ext cx="1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92" name="Image 9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8" y="2492896"/>
            <a:ext cx="3400404" cy="1528153"/>
          </a:xfrm>
          <a:prstGeom prst="rect">
            <a:avLst/>
          </a:prstGeom>
        </p:spPr>
      </p:pic>
      <p:pic>
        <p:nvPicPr>
          <p:cNvPr id="95" name="Image 9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7" y="4853631"/>
            <a:ext cx="3400403" cy="1353305"/>
          </a:xfrm>
          <a:prstGeom prst="rect">
            <a:avLst/>
          </a:prstGeom>
        </p:spPr>
      </p:pic>
      <p:grpSp>
        <p:nvGrpSpPr>
          <p:cNvPr id="25" name="Groupe 2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2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9" name="Image 48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0" name="ZoneTexte 4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ZoneTexte 5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 52" descr="Microsoft_Word_2013_logo.svg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3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8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3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3" grpId="0"/>
      <p:bldP spid="2" grpId="0"/>
      <p:bldP spid="8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692696"/>
            <a:ext cx="7722604" cy="2304256"/>
          </a:xfrm>
          <a:prstGeom prst="cloudCallout">
            <a:avLst>
              <a:gd name="adj1" fmla="val -38920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Pensées 33"/>
          <p:cNvSpPr/>
          <p:nvPr/>
        </p:nvSpPr>
        <p:spPr>
          <a:xfrm rot="20675170">
            <a:off x="5200155" y="2592807"/>
            <a:ext cx="3888026" cy="1008112"/>
          </a:xfrm>
          <a:prstGeom prst="cloudCallout">
            <a:avLst>
              <a:gd name="adj1" fmla="val 23250"/>
              <a:gd name="adj2" fmla="val 106838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913917" y="1012666"/>
            <a:ext cx="632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يمكنك تحديد خلية أو سطر أو عمود في الجدول أو تحديد الجدول كله؟ </a:t>
            </a:r>
          </a:p>
        </p:txBody>
      </p:sp>
      <p:pic>
        <p:nvPicPr>
          <p:cNvPr id="3076" name="Picture 4" descr="C:\Users\RIDHA\Desktop\Sans titre4478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70" y="1740421"/>
            <a:ext cx="1856606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RIDHA\Desktop\Sans titre44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700808"/>
            <a:ext cx="1878639" cy="73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RIDHA\Desktop\Sans titre44789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639" y="1721371"/>
            <a:ext cx="1861369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5508104" y="1412776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سطر</a:t>
            </a:r>
            <a:endParaRPr lang="fr-FR" sz="2000" b="1" dirty="0"/>
          </a:p>
        </p:txBody>
      </p:sp>
      <p:sp>
        <p:nvSpPr>
          <p:cNvPr id="46" name="ZoneTexte 45"/>
          <p:cNvSpPr txBox="1"/>
          <p:nvPr/>
        </p:nvSpPr>
        <p:spPr>
          <a:xfrm>
            <a:off x="3311860" y="1412776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عمود</a:t>
            </a:r>
            <a:endParaRPr lang="fr-FR" sz="2000" b="1" dirty="0"/>
          </a:p>
        </p:txBody>
      </p:sp>
      <p:sp>
        <p:nvSpPr>
          <p:cNvPr id="47" name="ZoneTexte 46"/>
          <p:cNvSpPr txBox="1"/>
          <p:nvPr/>
        </p:nvSpPr>
        <p:spPr>
          <a:xfrm>
            <a:off x="1043608" y="1444714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الجدول</a:t>
            </a:r>
            <a:endParaRPr lang="fr-FR" sz="2000" b="1" dirty="0"/>
          </a:p>
        </p:txBody>
      </p:sp>
      <p:pic>
        <p:nvPicPr>
          <p:cNvPr id="48" name="Image 47" descr="Person-question-2-151x300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028384" y="2996952"/>
            <a:ext cx="1241884" cy="3073524"/>
          </a:xfrm>
          <a:prstGeom prst="rect">
            <a:avLst/>
          </a:prstGeom>
        </p:spPr>
      </p:pic>
      <p:sp>
        <p:nvSpPr>
          <p:cNvPr id="49" name="ZoneTexte 48"/>
          <p:cNvSpPr txBox="1"/>
          <p:nvPr/>
        </p:nvSpPr>
        <p:spPr>
          <a:xfrm rot="20420500">
            <a:off x="5397461" y="2845124"/>
            <a:ext cx="3349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 كيف يتم تنسيق الكتابة في الجدول؟ </a:t>
            </a: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 animBg="1"/>
      <p:bldP spid="31" grpId="0"/>
      <p:bldP spid="2" grpId="0"/>
      <p:bldP spid="46" grpId="0"/>
      <p:bldP spid="47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50" name="Group 104"/>
          <p:cNvGrpSpPr/>
          <p:nvPr/>
        </p:nvGrpSpPr>
        <p:grpSpPr>
          <a:xfrm>
            <a:off x="821560" y="1700808"/>
            <a:ext cx="7120871" cy="725194"/>
            <a:chOff x="-2473011" y="1173645"/>
            <a:chExt cx="6832841" cy="1114425"/>
          </a:xfrm>
        </p:grpSpPr>
        <p:sp>
          <p:nvSpPr>
            <p:cNvPr id="51" name="Rectangle 5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/>
            <p:cNvSpPr/>
            <p:nvPr/>
          </p:nvSpPr>
          <p:spPr>
            <a:xfrm flipH="1">
              <a:off x="-2473011" y="1373670"/>
              <a:ext cx="6058141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56" name="Group 118"/>
          <p:cNvGrpSpPr/>
          <p:nvPr/>
        </p:nvGrpSpPr>
        <p:grpSpPr>
          <a:xfrm>
            <a:off x="821560" y="2564904"/>
            <a:ext cx="7120872" cy="725194"/>
            <a:chOff x="-2473011" y="2392845"/>
            <a:chExt cx="6832841" cy="1114425"/>
          </a:xfrm>
        </p:grpSpPr>
        <p:sp>
          <p:nvSpPr>
            <p:cNvPr id="57" name="Rectangle 5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 flipH="1">
              <a:off x="-2473011" y="2592870"/>
              <a:ext cx="6058142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62" name="Group 132"/>
          <p:cNvGrpSpPr/>
          <p:nvPr/>
        </p:nvGrpSpPr>
        <p:grpSpPr>
          <a:xfrm>
            <a:off x="821559" y="3429001"/>
            <a:ext cx="7134817" cy="725194"/>
            <a:chOff x="-2486955" y="3612045"/>
            <a:chExt cx="6846785" cy="1114425"/>
          </a:xfrm>
        </p:grpSpPr>
        <p:sp>
          <p:nvSpPr>
            <p:cNvPr id="63" name="Rectangle 62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 flipH="1">
              <a:off x="-2486955" y="3812070"/>
              <a:ext cx="6072086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68" name="Shape 856"/>
          <p:cNvSpPr/>
          <p:nvPr/>
        </p:nvSpPr>
        <p:spPr>
          <a:xfrm>
            <a:off x="8281172" y="678548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9" name="Shape 859"/>
          <p:cNvSpPr/>
          <p:nvPr/>
        </p:nvSpPr>
        <p:spPr>
          <a:xfrm>
            <a:off x="3672660" y="706180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0" name="ZoneTexte 69"/>
          <p:cNvSpPr txBox="1"/>
          <p:nvPr/>
        </p:nvSpPr>
        <p:spPr>
          <a:xfrm>
            <a:off x="8244408" y="678548"/>
            <a:ext cx="588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3858907" y="73139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التحديد في الجدول: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72" name="Shape 856"/>
          <p:cNvSpPr/>
          <p:nvPr/>
        </p:nvSpPr>
        <p:spPr>
          <a:xfrm>
            <a:off x="8310949" y="42930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Shape 859"/>
          <p:cNvSpPr/>
          <p:nvPr/>
        </p:nvSpPr>
        <p:spPr>
          <a:xfrm>
            <a:off x="3702437" y="43207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2" name="ZoneTexte 91"/>
          <p:cNvSpPr txBox="1"/>
          <p:nvPr/>
        </p:nvSpPr>
        <p:spPr>
          <a:xfrm>
            <a:off x="8244408" y="4293096"/>
            <a:ext cx="588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4-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3888684" y="43459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التنسيق في الجدول: 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94" name="Group 53"/>
          <p:cNvGrpSpPr>
            <a:grpSpLocks/>
          </p:cNvGrpSpPr>
          <p:nvPr/>
        </p:nvGrpSpPr>
        <p:grpSpPr bwMode="auto">
          <a:xfrm flipH="1">
            <a:off x="8172400" y="1412776"/>
            <a:ext cx="186729" cy="190146"/>
            <a:chOff x="2078" y="1680"/>
            <a:chExt cx="1615" cy="1615"/>
          </a:xfrm>
        </p:grpSpPr>
        <p:sp>
          <p:nvSpPr>
            <p:cNvPr id="95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6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7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98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99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0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03" name="ZoneTexte 102"/>
          <p:cNvSpPr txBox="1"/>
          <p:nvPr/>
        </p:nvSpPr>
        <p:spPr>
          <a:xfrm>
            <a:off x="1547664" y="1295583"/>
            <a:ext cx="643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الهدف من التحديد في الجدول هو التغيير أو الحذف أو الإضافة، من أجل ذلك</a:t>
            </a:r>
            <a:r>
              <a:rPr lang="fr-FR" sz="2000" b="1" dirty="0">
                <a:solidFill>
                  <a:schemeClr val="bg1"/>
                </a:solidFill>
              </a:rPr>
              <a:t>: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99811" y="1943820"/>
            <a:ext cx="49704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>
                <a:solidFill>
                  <a:schemeClr val="bg1"/>
                </a:solidFill>
              </a:rPr>
              <a:t>نضغط على الأداة         بالزر الأيسر لتحديد الجدول كله.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15520" y="1813657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31" name="Rectangle 30"/>
          <p:cNvSpPr/>
          <p:nvPr/>
        </p:nvSpPr>
        <p:spPr>
          <a:xfrm>
            <a:off x="7229465" y="263691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21504" name="Rectangle 21503"/>
          <p:cNvSpPr/>
          <p:nvPr/>
        </p:nvSpPr>
        <p:spPr>
          <a:xfrm>
            <a:off x="7229168" y="350100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21509" name="Groupe 21508"/>
          <p:cNvGrpSpPr/>
          <p:nvPr/>
        </p:nvGrpSpPr>
        <p:grpSpPr>
          <a:xfrm>
            <a:off x="4849636" y="1916832"/>
            <a:ext cx="442444" cy="411669"/>
            <a:chOff x="8356462" y="2107942"/>
            <a:chExt cx="442444" cy="411669"/>
          </a:xfrm>
        </p:grpSpPr>
        <p:cxnSp>
          <p:nvCxnSpPr>
            <p:cNvPr id="21508" name="Connecteur droit avec flèche 21507"/>
            <p:cNvCxnSpPr/>
            <p:nvPr/>
          </p:nvCxnSpPr>
          <p:spPr>
            <a:xfrm flipH="1">
              <a:off x="8582880" y="2107942"/>
              <a:ext cx="2" cy="411669"/>
            </a:xfrm>
            <a:prstGeom prst="straightConnector1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avec flèche 104"/>
            <p:cNvCxnSpPr/>
            <p:nvPr/>
          </p:nvCxnSpPr>
          <p:spPr>
            <a:xfrm>
              <a:off x="8356462" y="2305838"/>
              <a:ext cx="442444" cy="13758"/>
            </a:xfrm>
            <a:prstGeom prst="straightConnector1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10" name="Rectangle 21509"/>
          <p:cNvSpPr/>
          <p:nvPr/>
        </p:nvSpPr>
        <p:spPr>
          <a:xfrm>
            <a:off x="3267963" y="2742835"/>
            <a:ext cx="36022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chemeClr val="bg1"/>
                </a:solidFill>
              </a:rPr>
              <a:t>نضغط داخل الخلية بالزر الأيسر لتحديدها.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21511" name="Rectangle 21510"/>
          <p:cNvSpPr/>
          <p:nvPr/>
        </p:nvSpPr>
        <p:spPr>
          <a:xfrm>
            <a:off x="821559" y="3506123"/>
            <a:ext cx="5994412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1900" b="1" dirty="0">
                <a:solidFill>
                  <a:schemeClr val="bg1"/>
                </a:solidFill>
              </a:rPr>
              <a:t>نضغط بالزر الأيسر باستمرار ونسحب الفأرة من بداية إلى نهاية السطر أو العمود لتحديدهما.</a:t>
            </a:r>
            <a:endParaRPr lang="fr-FR" sz="1900" dirty="0">
              <a:solidFill>
                <a:schemeClr val="bg1"/>
              </a:solidFill>
            </a:endParaRPr>
          </a:p>
        </p:txBody>
      </p:sp>
      <p:grpSp>
        <p:nvGrpSpPr>
          <p:cNvPr id="106" name="Group 69"/>
          <p:cNvGrpSpPr/>
          <p:nvPr/>
        </p:nvGrpSpPr>
        <p:grpSpPr>
          <a:xfrm flipH="1">
            <a:off x="755577" y="4863121"/>
            <a:ext cx="7212440" cy="1280160"/>
            <a:chOff x="1120775" y="1730534"/>
            <a:chExt cx="7212440" cy="1280160"/>
          </a:xfrm>
        </p:grpSpPr>
        <p:cxnSp>
          <p:nvCxnSpPr>
            <p:cNvPr id="107" name="Straight Connector 70"/>
            <p:cNvCxnSpPr/>
            <p:nvPr/>
          </p:nvCxnSpPr>
          <p:spPr>
            <a:xfrm rot="5400000">
              <a:off x="701040" y="2369820"/>
              <a:ext cx="1280160" cy="158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24"/>
            <p:cNvGrpSpPr/>
            <p:nvPr/>
          </p:nvGrpSpPr>
          <p:grpSpPr>
            <a:xfrm>
              <a:off x="1120775" y="1838325"/>
              <a:ext cx="7212440" cy="1077920"/>
              <a:chOff x="3810000" y="1948650"/>
              <a:chExt cx="7212440" cy="1077920"/>
            </a:xfrm>
          </p:grpSpPr>
          <p:sp>
            <p:nvSpPr>
              <p:cNvPr id="109" name="Trapezoid 72"/>
              <p:cNvSpPr/>
              <p:nvPr/>
            </p:nvSpPr>
            <p:spPr>
              <a:xfrm rot="5400000" flipH="1">
                <a:off x="3665141" y="2318934"/>
                <a:ext cx="892968" cy="152400"/>
              </a:xfrm>
              <a:prstGeom prst="trapezoid">
                <a:avLst>
                  <a:gd name="adj" fmla="val 62501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Parallelogram 73"/>
              <p:cNvSpPr/>
              <p:nvPr/>
            </p:nvSpPr>
            <p:spPr>
              <a:xfrm rot="16200000" flipV="1">
                <a:off x="3508373" y="2343942"/>
                <a:ext cx="984254" cy="381000"/>
              </a:xfrm>
              <a:prstGeom prst="parallelogram">
                <a:avLst>
                  <a:gd name="adj" fmla="val 63243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74"/>
              <p:cNvSpPr/>
              <p:nvPr/>
            </p:nvSpPr>
            <p:spPr>
              <a:xfrm flipV="1">
                <a:off x="3810000" y="2286000"/>
                <a:ext cx="7212440" cy="74057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513" name="Rectangle 21512"/>
          <p:cNvSpPr/>
          <p:nvPr/>
        </p:nvSpPr>
        <p:spPr>
          <a:xfrm>
            <a:off x="764243" y="5355381"/>
            <a:ext cx="70481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تنسيق الخط و الفقرة في الجدول هو مماثل لتنسيق خط أو فقرة عادية، لكن كل خلية مستقلة عن الأخرى في </a:t>
            </a:r>
            <a:r>
              <a:rPr lang="ar-SA" sz="2000" b="1" dirty="0" smtClean="0">
                <a:solidFill>
                  <a:schemeClr val="bg1"/>
                </a:solidFill>
              </a:rPr>
              <a:t>التنسيق</a:t>
            </a:r>
            <a:r>
              <a:rPr lang="ar-DZ" sz="2000" b="1" dirty="0" smtClean="0">
                <a:solidFill>
                  <a:schemeClr val="bg1"/>
                </a:solidFill>
              </a:rPr>
              <a:t> ويمكن تنسيق مجموعة خلايا مع بعض</a:t>
            </a:r>
            <a:r>
              <a:rPr lang="ar-SA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ZoneTexte 7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6" name="Image 75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5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5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5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7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2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1" grpId="0"/>
      <p:bldP spid="72" grpId="0" animBg="1"/>
      <p:bldP spid="91" grpId="0" animBg="1"/>
      <p:bldP spid="92" grpId="0"/>
      <p:bldP spid="93" grpId="0"/>
      <p:bldP spid="103" grpId="0"/>
      <p:bldP spid="29" grpId="0"/>
      <p:bldP spid="30" grpId="0"/>
      <p:bldP spid="31" grpId="0"/>
      <p:bldP spid="21504" grpId="0"/>
      <p:bldP spid="21510" grpId="0"/>
      <p:bldP spid="21511" grpId="0"/>
      <p:bldP spid="215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75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69" name="Pensées 68"/>
          <p:cNvSpPr/>
          <p:nvPr/>
        </p:nvSpPr>
        <p:spPr>
          <a:xfrm>
            <a:off x="179512" y="692696"/>
            <a:ext cx="7722604" cy="2304256"/>
          </a:xfrm>
          <a:prstGeom prst="cloudCallout">
            <a:avLst>
              <a:gd name="adj1" fmla="val -33442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0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71" name="ZoneTexte 70"/>
          <p:cNvSpPr txBox="1"/>
          <p:nvPr/>
        </p:nvSpPr>
        <p:spPr>
          <a:xfrm>
            <a:off x="2123728" y="1012666"/>
            <a:ext cx="3853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يمكنك إضافة أو حذف  سطر أو عمود ؟</a:t>
            </a:r>
          </a:p>
        </p:txBody>
      </p:sp>
      <p:pic>
        <p:nvPicPr>
          <p:cNvPr id="72" name="Picture 5" descr="C:\Users\RIDHA\Desktop\Sans titre44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1878639" cy="73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6" descr="C:\Users\RIDHA\Desktop\Sans titre4478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721371"/>
            <a:ext cx="1861369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ZoneTexte 73"/>
          <p:cNvSpPr txBox="1"/>
          <p:nvPr/>
        </p:nvSpPr>
        <p:spPr>
          <a:xfrm>
            <a:off x="5148064" y="1412776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سطر</a:t>
            </a:r>
            <a:endParaRPr lang="fr-FR" sz="2000" b="1" dirty="0"/>
          </a:p>
        </p:txBody>
      </p:sp>
      <p:sp>
        <p:nvSpPr>
          <p:cNvPr id="75" name="ZoneTexte 74"/>
          <p:cNvSpPr txBox="1"/>
          <p:nvPr/>
        </p:nvSpPr>
        <p:spPr>
          <a:xfrm>
            <a:off x="2483768" y="1412776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عمود</a:t>
            </a:r>
            <a:endParaRPr lang="fr-FR" sz="2000" b="1" dirty="0"/>
          </a:p>
        </p:txBody>
      </p:sp>
      <p:grpSp>
        <p:nvGrpSpPr>
          <p:cNvPr id="19" name="Groupe 18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0" name="Image 29" descr="Microsoft_Word_2013_logo.svg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1" grpId="0"/>
      <p:bldP spid="74" grpId="0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63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4" name="Shape 859"/>
          <p:cNvSpPr/>
          <p:nvPr/>
        </p:nvSpPr>
        <p:spPr>
          <a:xfrm>
            <a:off x="3665673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5" name="ZoneTexte 64"/>
          <p:cNvSpPr txBox="1"/>
          <p:nvPr/>
        </p:nvSpPr>
        <p:spPr>
          <a:xfrm>
            <a:off x="8193320" y="692696"/>
            <a:ext cx="61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5-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6" name="ZoneTexte 65"/>
          <p:cNvSpPr txBox="1"/>
          <p:nvPr/>
        </p:nvSpPr>
        <p:spPr>
          <a:xfrm>
            <a:off x="3851920" y="7455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إضافة وحذف سطر أو عمود: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67" name="Group 60"/>
          <p:cNvGrpSpPr>
            <a:grpSpLocks/>
          </p:cNvGrpSpPr>
          <p:nvPr/>
        </p:nvGrpSpPr>
        <p:grpSpPr bwMode="auto">
          <a:xfrm flipH="1">
            <a:off x="8298021" y="1404283"/>
            <a:ext cx="192383" cy="190618"/>
            <a:chOff x="2078" y="1680"/>
            <a:chExt cx="1615" cy="1615"/>
          </a:xfrm>
        </p:grpSpPr>
        <p:sp>
          <p:nvSpPr>
            <p:cNvPr id="68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0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1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72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3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2" name="Rectangle 1"/>
          <p:cNvSpPr/>
          <p:nvPr/>
        </p:nvSpPr>
        <p:spPr>
          <a:xfrm>
            <a:off x="485800" y="1330315"/>
            <a:ext cx="54543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ننقر في المكان الذي نريد الإضافة قبله أو بعده ثم ننقر على: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6" name="ZoneTexte 75"/>
          <p:cNvSpPr txBox="1"/>
          <p:nvPr/>
        </p:nvSpPr>
        <p:spPr>
          <a:xfrm>
            <a:off x="5739212" y="1268760"/>
            <a:ext cx="2433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إضافة سطر أو عمود: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457200" y="3763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134" name="Group 60"/>
          <p:cNvGrpSpPr>
            <a:grpSpLocks/>
          </p:cNvGrpSpPr>
          <p:nvPr/>
        </p:nvGrpSpPr>
        <p:grpSpPr bwMode="auto">
          <a:xfrm flipH="1">
            <a:off x="8279765" y="3420507"/>
            <a:ext cx="192383" cy="190618"/>
            <a:chOff x="2078" y="1680"/>
            <a:chExt cx="1615" cy="1615"/>
          </a:xfrm>
        </p:grpSpPr>
        <p:sp>
          <p:nvSpPr>
            <p:cNvPr id="135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6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7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38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39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40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41" name="Rectangle 140"/>
          <p:cNvSpPr/>
          <p:nvPr/>
        </p:nvSpPr>
        <p:spPr>
          <a:xfrm>
            <a:off x="341784" y="3346539"/>
            <a:ext cx="5670376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1900" b="1" dirty="0">
                <a:solidFill>
                  <a:schemeClr val="bg1"/>
                </a:solidFill>
              </a:rPr>
              <a:t>نضع المشيرة في أي خلية من السطر أو العمود ثم ننقر على التوالي:</a:t>
            </a:r>
            <a:endParaRPr lang="fr-FR" sz="19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42" name="ZoneTexte 141"/>
          <p:cNvSpPr txBox="1"/>
          <p:nvPr/>
        </p:nvSpPr>
        <p:spPr>
          <a:xfrm>
            <a:off x="5720956" y="3284984"/>
            <a:ext cx="2433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حذف سطر أو عمود: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143" name="Group 104"/>
          <p:cNvGrpSpPr/>
          <p:nvPr/>
        </p:nvGrpSpPr>
        <p:grpSpPr>
          <a:xfrm>
            <a:off x="5006725" y="3717032"/>
            <a:ext cx="3727793" cy="527690"/>
            <a:chOff x="782821" y="1173645"/>
            <a:chExt cx="3577009" cy="1114425"/>
          </a:xfrm>
        </p:grpSpPr>
        <p:sp>
          <p:nvSpPr>
            <p:cNvPr id="144" name="Rectangle 143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Rectangle 145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147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49" name="Group 118"/>
          <p:cNvGrpSpPr/>
          <p:nvPr/>
        </p:nvGrpSpPr>
        <p:grpSpPr>
          <a:xfrm>
            <a:off x="5006726" y="4293096"/>
            <a:ext cx="3727794" cy="523025"/>
            <a:chOff x="782821" y="2392845"/>
            <a:chExt cx="3577009" cy="1114425"/>
          </a:xfrm>
        </p:grpSpPr>
        <p:sp>
          <p:nvSpPr>
            <p:cNvPr id="150" name="Rectangle 149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/>
            <p:cNvSpPr/>
            <p:nvPr/>
          </p:nvSpPr>
          <p:spPr>
            <a:xfrm flipH="1">
              <a:off x="782821" y="2592869"/>
              <a:ext cx="2802310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55" name="Group 132"/>
          <p:cNvGrpSpPr/>
          <p:nvPr/>
        </p:nvGrpSpPr>
        <p:grpSpPr>
          <a:xfrm>
            <a:off x="4211959" y="4869160"/>
            <a:ext cx="4536505" cy="792088"/>
            <a:chOff x="6463" y="3612045"/>
            <a:chExt cx="4353367" cy="1114425"/>
          </a:xfrm>
        </p:grpSpPr>
        <p:sp>
          <p:nvSpPr>
            <p:cNvPr id="156" name="Rectangle 155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/>
            <p:cNvSpPr/>
            <p:nvPr/>
          </p:nvSpPr>
          <p:spPr>
            <a:xfrm flipH="1">
              <a:off x="6463" y="3812069"/>
              <a:ext cx="3578665" cy="91440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ectangle 159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1" name="Rectangle 160"/>
          <p:cNvSpPr/>
          <p:nvPr/>
        </p:nvSpPr>
        <p:spPr>
          <a:xfrm>
            <a:off x="5220071" y="3820978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التبويب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Disposition</a:t>
            </a:r>
            <a:r>
              <a:rPr lang="en-US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8007608" y="372372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3" name="Rectangle 162"/>
          <p:cNvSpPr/>
          <p:nvPr/>
        </p:nvSpPr>
        <p:spPr>
          <a:xfrm>
            <a:off x="8021553" y="4293097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8021256" y="500388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5" name="Rectangle 164"/>
          <p:cNvSpPr/>
          <p:nvPr/>
        </p:nvSpPr>
        <p:spPr>
          <a:xfrm>
            <a:off x="5605085" y="4399021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Supprimer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4088003" y="4946282"/>
            <a:ext cx="35200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ثم نختار ما نريد حذفه </a:t>
            </a:r>
            <a:endParaRPr lang="fr-FR" sz="2000" b="1" dirty="0" smtClean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(خلية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أو سطر أو عمود أو الجدول كله).</a:t>
            </a:r>
            <a:endParaRPr lang="fr-FR" sz="1900" dirty="0">
              <a:solidFill>
                <a:schemeClr val="bg1"/>
              </a:solidFill>
            </a:endParaRPr>
          </a:p>
        </p:txBody>
      </p:sp>
      <p:grpSp>
        <p:nvGrpSpPr>
          <p:cNvPr id="167" name="Group 104"/>
          <p:cNvGrpSpPr/>
          <p:nvPr/>
        </p:nvGrpSpPr>
        <p:grpSpPr>
          <a:xfrm>
            <a:off x="5004048" y="1681839"/>
            <a:ext cx="3727793" cy="527690"/>
            <a:chOff x="782821" y="1173645"/>
            <a:chExt cx="3577009" cy="1114425"/>
          </a:xfrm>
        </p:grpSpPr>
        <p:sp>
          <p:nvSpPr>
            <p:cNvPr id="168" name="Rectangle 167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Rectangle 17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73" name="Group 118"/>
          <p:cNvGrpSpPr/>
          <p:nvPr/>
        </p:nvGrpSpPr>
        <p:grpSpPr>
          <a:xfrm>
            <a:off x="251520" y="2257903"/>
            <a:ext cx="8480323" cy="900999"/>
            <a:chOff x="-3777474" y="2392845"/>
            <a:chExt cx="8137304" cy="1114425"/>
          </a:xfrm>
        </p:grpSpPr>
        <p:sp>
          <p:nvSpPr>
            <p:cNvPr id="174" name="Rectangle 173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/>
            <p:cNvSpPr/>
            <p:nvPr/>
          </p:nvSpPr>
          <p:spPr>
            <a:xfrm flipH="1">
              <a:off x="-3777474" y="2592869"/>
              <a:ext cx="7362604" cy="91440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795637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80" name="Rectangle 179"/>
          <p:cNvSpPr/>
          <p:nvPr/>
        </p:nvSpPr>
        <p:spPr>
          <a:xfrm>
            <a:off x="7970321" y="241159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10" name="TextBox 68"/>
          <p:cNvSpPr txBox="1"/>
          <p:nvPr/>
        </p:nvSpPr>
        <p:spPr>
          <a:xfrm>
            <a:off x="5109997" y="182507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</a:rPr>
              <a:t>التبويب </a:t>
            </a:r>
            <a:r>
              <a:rPr lang="fr-FR" sz="2000" b="1" dirty="0">
                <a:solidFill>
                  <a:schemeClr val="bg1"/>
                </a:solidFill>
              </a:rPr>
              <a:t>Disposition</a:t>
            </a:r>
            <a:r>
              <a:rPr lang="ar-SA" sz="2000" b="1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36096" y="2371526"/>
            <a:ext cx="2217274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ثم </a:t>
            </a:r>
            <a:r>
              <a:rPr lang="ar-SA" sz="1900" b="1" dirty="0">
                <a:solidFill>
                  <a:schemeClr val="bg1"/>
                </a:solidFill>
                <a:ea typeface="Times New Roman"/>
                <a:cs typeface="Times New Roman"/>
              </a:rPr>
              <a:t>نستعمل الأدوات </a:t>
            </a:r>
            <a:r>
              <a:rPr lang="ar-SA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التالية</a:t>
            </a:r>
            <a:r>
              <a:rPr lang="ar-DZ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:</a:t>
            </a:r>
            <a:endParaRPr lang="fr-FR" sz="1900" dirty="0">
              <a:solidFill>
                <a:schemeClr val="bg1"/>
              </a:solidFill>
            </a:endParaRPr>
          </a:p>
        </p:txBody>
      </p:sp>
      <p:pic>
        <p:nvPicPr>
          <p:cNvPr id="131" name="Image 130" descr="satr asfal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45731" y="2708920"/>
            <a:ext cx="678597" cy="38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2" name="Image 131" descr="satr a3la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1214" y="2708920"/>
            <a:ext cx="631210" cy="38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" name="Image 132" descr="3amod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7830" y="2708920"/>
            <a:ext cx="686098" cy="38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Rectangle 21"/>
          <p:cNvSpPr/>
          <p:nvPr/>
        </p:nvSpPr>
        <p:spPr>
          <a:xfrm>
            <a:off x="107504" y="2780928"/>
            <a:ext cx="6768752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سطر للأسفل</a:t>
            </a:r>
            <a:r>
              <a:rPr lang="ar-DZ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،</a:t>
            </a:r>
            <a:r>
              <a:rPr lang="fr-FR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ar-DZ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          </a:t>
            </a: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سطر </a:t>
            </a:r>
            <a:r>
              <a:rPr lang="ar-DZ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للأعلى،             عمود </a:t>
            </a: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للأيمن</a:t>
            </a:r>
            <a:r>
              <a:rPr lang="ar-DZ" sz="19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،             </a:t>
            </a: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عمود للأيسر.</a:t>
            </a:r>
            <a:endParaRPr lang="fr-FR" sz="1900" dirty="0">
              <a:solidFill>
                <a:schemeClr val="bg1"/>
              </a:solidFill>
            </a:endParaRPr>
          </a:p>
        </p:txBody>
      </p:sp>
      <p:pic>
        <p:nvPicPr>
          <p:cNvPr id="130" name="Image 129" descr="3amod a3la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03648" y="2708920"/>
            <a:ext cx="648072" cy="377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8" name="Groupe 27"/>
          <p:cNvGrpSpPr/>
          <p:nvPr/>
        </p:nvGrpSpPr>
        <p:grpSpPr>
          <a:xfrm>
            <a:off x="107504" y="3789040"/>
            <a:ext cx="3888432" cy="1875623"/>
            <a:chOff x="107504" y="3789040"/>
            <a:chExt cx="3888432" cy="1875623"/>
          </a:xfrm>
        </p:grpSpPr>
        <p:grpSp>
          <p:nvGrpSpPr>
            <p:cNvPr id="27" name="Groupe 26"/>
            <p:cNvGrpSpPr/>
            <p:nvPr/>
          </p:nvGrpSpPr>
          <p:grpSpPr>
            <a:xfrm>
              <a:off x="107504" y="3789040"/>
              <a:ext cx="3888432" cy="1875623"/>
              <a:chOff x="107504" y="3789040"/>
              <a:chExt cx="3888432" cy="1875623"/>
            </a:xfrm>
          </p:grpSpPr>
          <p:grpSp>
            <p:nvGrpSpPr>
              <p:cNvPr id="25" name="Groupe 24"/>
              <p:cNvGrpSpPr/>
              <p:nvPr/>
            </p:nvGrpSpPr>
            <p:grpSpPr>
              <a:xfrm>
                <a:off x="107504" y="3789040"/>
                <a:ext cx="2757865" cy="1875623"/>
                <a:chOff x="107504" y="4001649"/>
                <a:chExt cx="2757865" cy="1875623"/>
              </a:xfrm>
            </p:grpSpPr>
            <p:pic>
              <p:nvPicPr>
                <p:cNvPr id="181" name="Image 180" descr="C:\Users\RIDHA\Desktop\Sans titre44788878.png"/>
                <p:cNvPicPr/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7504" y="4001649"/>
                  <a:ext cx="2757865" cy="187562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" name="Rectangle 23"/>
                <p:cNvSpPr/>
                <p:nvPr/>
              </p:nvSpPr>
              <p:spPr>
                <a:xfrm>
                  <a:off x="1043608" y="4001649"/>
                  <a:ext cx="1821761" cy="7974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82" name="TextBox 68"/>
              <p:cNvSpPr txBox="1"/>
              <p:nvPr/>
            </p:nvSpPr>
            <p:spPr>
              <a:xfrm>
                <a:off x="1631851" y="4022286"/>
                <a:ext cx="69916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r" rtl="1">
                  <a:spcBef>
                    <a:spcPct val="20000"/>
                  </a:spcBef>
                  <a:defRPr/>
                </a:pPr>
                <a:r>
                  <a:rPr lang="ar-DZ" sz="2000" b="1" dirty="0" smtClean="0"/>
                  <a:t>حذف</a:t>
                </a:r>
                <a:endParaRPr lang="en-US" sz="2000" dirty="0"/>
              </a:p>
            </p:txBody>
          </p:sp>
          <p:sp>
            <p:nvSpPr>
              <p:cNvPr id="183" name="TextBox 68"/>
              <p:cNvSpPr txBox="1"/>
              <p:nvPr/>
            </p:nvSpPr>
            <p:spPr>
              <a:xfrm>
                <a:off x="3055370" y="4561382"/>
                <a:ext cx="94056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r" rtl="1">
                  <a:spcBef>
                    <a:spcPct val="20000"/>
                  </a:spcBef>
                  <a:defRPr/>
                </a:pPr>
                <a:r>
                  <a:rPr lang="ar-DZ" b="1" dirty="0" smtClean="0"/>
                  <a:t>حذف الخلايا</a:t>
                </a:r>
                <a:endParaRPr lang="en-US" dirty="0"/>
              </a:p>
            </p:txBody>
          </p:sp>
          <p:sp>
            <p:nvSpPr>
              <p:cNvPr id="184" name="TextBox 68"/>
              <p:cNvSpPr txBox="1"/>
              <p:nvPr/>
            </p:nvSpPr>
            <p:spPr>
              <a:xfrm>
                <a:off x="2891604" y="4819151"/>
                <a:ext cx="10991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r" rtl="1">
                  <a:spcBef>
                    <a:spcPct val="20000"/>
                  </a:spcBef>
                  <a:defRPr/>
                </a:pPr>
                <a:r>
                  <a:rPr lang="ar-DZ" b="1" dirty="0" smtClean="0"/>
                  <a:t>حذف الأعمدة</a:t>
                </a:r>
                <a:endParaRPr lang="en-US" dirty="0"/>
              </a:p>
            </p:txBody>
          </p:sp>
          <p:sp>
            <p:nvSpPr>
              <p:cNvPr id="185" name="TextBox 68"/>
              <p:cNvSpPr txBox="1"/>
              <p:nvPr/>
            </p:nvSpPr>
            <p:spPr>
              <a:xfrm>
                <a:off x="2994024" y="5096217"/>
                <a:ext cx="977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r" rtl="1">
                  <a:spcBef>
                    <a:spcPct val="20000"/>
                  </a:spcBef>
                  <a:defRPr/>
                </a:pPr>
                <a:r>
                  <a:rPr lang="ar-DZ" b="1" dirty="0" smtClean="0"/>
                  <a:t>حذف الأسطر</a:t>
                </a:r>
                <a:endParaRPr lang="en-US" dirty="0"/>
              </a:p>
            </p:txBody>
          </p:sp>
          <p:sp>
            <p:nvSpPr>
              <p:cNvPr id="186" name="TextBox 68"/>
              <p:cNvSpPr txBox="1"/>
              <p:nvPr/>
            </p:nvSpPr>
            <p:spPr>
              <a:xfrm>
                <a:off x="2963612" y="5370827"/>
                <a:ext cx="10069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r" rtl="1">
                  <a:spcBef>
                    <a:spcPct val="20000"/>
                  </a:spcBef>
                  <a:defRPr/>
                </a:pPr>
                <a:r>
                  <a:rPr lang="ar-DZ" b="1" dirty="0" smtClean="0"/>
                  <a:t>حذف الجدول</a:t>
                </a:r>
                <a:endParaRPr lang="en-US" dirty="0"/>
              </a:p>
            </p:txBody>
          </p:sp>
          <p:sp>
            <p:nvSpPr>
              <p:cNvPr id="26" name="Flèche gauche 25"/>
              <p:cNvSpPr/>
              <p:nvPr/>
            </p:nvSpPr>
            <p:spPr>
              <a:xfrm>
                <a:off x="2483768" y="4724872"/>
                <a:ext cx="451798" cy="72280"/>
              </a:xfrm>
              <a:prstGeom prst="lef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7" name="Flèche gauche 186"/>
              <p:cNvSpPr/>
              <p:nvPr/>
            </p:nvSpPr>
            <p:spPr>
              <a:xfrm>
                <a:off x="2492712" y="4967744"/>
                <a:ext cx="451798" cy="72280"/>
              </a:xfrm>
              <a:prstGeom prst="lef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8" name="Flèche gauche 187"/>
              <p:cNvSpPr/>
              <p:nvPr/>
            </p:nvSpPr>
            <p:spPr>
              <a:xfrm>
                <a:off x="2483768" y="5228928"/>
                <a:ext cx="451798" cy="72280"/>
              </a:xfrm>
              <a:prstGeom prst="lef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9" name="Flèche gauche 188"/>
              <p:cNvSpPr/>
              <p:nvPr/>
            </p:nvSpPr>
            <p:spPr>
              <a:xfrm>
                <a:off x="2483768" y="5444952"/>
                <a:ext cx="451798" cy="72280"/>
              </a:xfrm>
              <a:prstGeom prst="lef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0" name="Flèche gauche 189"/>
            <p:cNvSpPr/>
            <p:nvPr/>
          </p:nvSpPr>
          <p:spPr>
            <a:xfrm>
              <a:off x="1321765" y="4179154"/>
              <a:ext cx="451798" cy="72280"/>
            </a:xfrm>
            <a:prstGeom prst="lef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1" name="Image 100" descr="3d print business.png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03" name="ZoneTexte 10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ZoneTexte 103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6" name="Image 105" descr="Microsoft_Word_2013_logo.svg.png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5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5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5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75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25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75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25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/>
      <p:bldP spid="66" grpId="0"/>
      <p:bldP spid="2" grpId="0"/>
      <p:bldP spid="76" grpId="0"/>
      <p:bldP spid="141" grpId="0"/>
      <p:bldP spid="142" grpId="0"/>
      <p:bldP spid="161" grpId="0"/>
      <p:bldP spid="162" grpId="0"/>
      <p:bldP spid="163" grpId="0"/>
      <p:bldP spid="164" grpId="0"/>
      <p:bldP spid="165" grpId="0"/>
      <p:bldP spid="166" grpId="0"/>
      <p:bldP spid="179" grpId="0"/>
      <p:bldP spid="180" grpId="0"/>
      <p:bldP spid="11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9508" y="620688"/>
            <a:ext cx="9144000" cy="5616624"/>
          </a:xfrm>
          <a:prstGeom prst="rect">
            <a:avLst/>
          </a:prstGeom>
        </p:spPr>
      </p:pic>
      <p:sp>
        <p:nvSpPr>
          <p:cNvPr id="61" name="Pensées 60"/>
          <p:cNvSpPr/>
          <p:nvPr/>
        </p:nvSpPr>
        <p:spPr>
          <a:xfrm>
            <a:off x="179512" y="637297"/>
            <a:ext cx="7722604" cy="2575679"/>
          </a:xfrm>
          <a:prstGeom prst="cloudCallout">
            <a:avLst>
              <a:gd name="adj1" fmla="val -33088"/>
              <a:gd name="adj2" fmla="val 6815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4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65" name="ZoneTexte 64"/>
          <p:cNvSpPr txBox="1"/>
          <p:nvPr/>
        </p:nvSpPr>
        <p:spPr>
          <a:xfrm>
            <a:off x="1152128" y="980728"/>
            <a:ext cx="594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لتغيير تنسيق حدود وتظليل </a:t>
            </a:r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الخلايا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الجدول؟ </a:t>
            </a:r>
          </a:p>
        </p:txBody>
      </p:sp>
      <p:sp>
        <p:nvSpPr>
          <p:cNvPr id="68" name="ZoneTexte 67"/>
          <p:cNvSpPr txBox="1"/>
          <p:nvPr/>
        </p:nvSpPr>
        <p:spPr>
          <a:xfrm>
            <a:off x="4283968" y="1372706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تنسيق حدود الخلايا</a:t>
            </a:r>
            <a:endParaRPr lang="fr-FR" sz="2000" b="1" dirty="0"/>
          </a:p>
        </p:txBody>
      </p:sp>
      <p:sp>
        <p:nvSpPr>
          <p:cNvPr id="69" name="ZoneTexte 68"/>
          <p:cNvSpPr txBox="1"/>
          <p:nvPr/>
        </p:nvSpPr>
        <p:spPr>
          <a:xfrm>
            <a:off x="1691680" y="1372706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تظليل الخلايا</a:t>
            </a:r>
            <a:endParaRPr lang="fr-FR" sz="2000" b="1" dirty="0"/>
          </a:p>
        </p:txBody>
      </p:sp>
      <p:pic>
        <p:nvPicPr>
          <p:cNvPr id="7170" name="Picture 2" descr="C:\Users\RIDHA\Desktop\565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90" y="1708112"/>
            <a:ext cx="2724150" cy="100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RIDHA\Desktop\56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657" y="1708111"/>
            <a:ext cx="2695575" cy="100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1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53" name="Rectangle 52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54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56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57" name="Rectangle 56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55" name="Rectangle 54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6" name="Image 45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47" name="Image 46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48" name="ZoneTexte 47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9" name="ZoneTexte 48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0" name="ZoneTexte 49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0" name="Image 29" descr="Microsoft_Word_2013_logo.svg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5" grpId="0"/>
      <p:bldP spid="68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58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Shape 859"/>
          <p:cNvSpPr/>
          <p:nvPr/>
        </p:nvSpPr>
        <p:spPr>
          <a:xfrm>
            <a:off x="3707904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0" name="ZoneTexte 59"/>
          <p:cNvSpPr txBox="1"/>
          <p:nvPr/>
        </p:nvSpPr>
        <p:spPr>
          <a:xfrm>
            <a:off x="8316416" y="692696"/>
            <a:ext cx="511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6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3894151" y="7455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الحدود والتظليل</a:t>
            </a:r>
            <a:r>
              <a:rPr lang="ar-DZ" sz="2400" b="1" dirty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62" name="Group 60"/>
          <p:cNvGrpSpPr>
            <a:grpSpLocks/>
          </p:cNvGrpSpPr>
          <p:nvPr/>
        </p:nvGrpSpPr>
        <p:grpSpPr bwMode="auto">
          <a:xfrm flipH="1">
            <a:off x="8298021" y="1404283"/>
            <a:ext cx="192383" cy="190618"/>
            <a:chOff x="2078" y="1680"/>
            <a:chExt cx="1615" cy="1615"/>
          </a:xfrm>
        </p:grpSpPr>
        <p:sp>
          <p:nvSpPr>
            <p:cNvPr id="63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485800" y="1330315"/>
            <a:ext cx="68225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لتنسيق بعض حدود الجدول أو كلها، نحدد الخلايا المعينة،ثم ننقر على التوالي: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>
            <a:off x="7164288" y="126876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الحدود: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71" name="Group 60"/>
          <p:cNvGrpSpPr>
            <a:grpSpLocks/>
          </p:cNvGrpSpPr>
          <p:nvPr/>
        </p:nvGrpSpPr>
        <p:grpSpPr bwMode="auto">
          <a:xfrm flipH="1">
            <a:off x="8261509" y="4254986"/>
            <a:ext cx="192383" cy="190618"/>
            <a:chOff x="2078" y="1680"/>
            <a:chExt cx="1615" cy="1615"/>
          </a:xfrm>
        </p:grpSpPr>
        <p:sp>
          <p:nvSpPr>
            <p:cNvPr id="72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3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4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5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06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7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08" name="Rectangle 107"/>
          <p:cNvSpPr/>
          <p:nvPr/>
        </p:nvSpPr>
        <p:spPr>
          <a:xfrm>
            <a:off x="1637928" y="4181018"/>
            <a:ext cx="5670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لتظليل الجدول أو بعض الخلايا، نحددها ثم ننقر على التوالي:</a:t>
            </a:r>
            <a:endParaRPr lang="fr-FR" sz="19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09" name="ZoneTexte 108"/>
          <p:cNvSpPr txBox="1"/>
          <p:nvPr/>
        </p:nvSpPr>
        <p:spPr>
          <a:xfrm>
            <a:off x="7164288" y="4119463"/>
            <a:ext cx="9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التظليل: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110" name="Group 104"/>
          <p:cNvGrpSpPr/>
          <p:nvPr/>
        </p:nvGrpSpPr>
        <p:grpSpPr>
          <a:xfrm>
            <a:off x="5006725" y="4581128"/>
            <a:ext cx="3727793" cy="527690"/>
            <a:chOff x="782821" y="1173645"/>
            <a:chExt cx="3577009" cy="1114425"/>
          </a:xfrm>
        </p:grpSpPr>
        <p:sp>
          <p:nvSpPr>
            <p:cNvPr id="111" name="Rectangle 11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16" name="Group 118"/>
          <p:cNvGrpSpPr/>
          <p:nvPr/>
        </p:nvGrpSpPr>
        <p:grpSpPr>
          <a:xfrm>
            <a:off x="5006726" y="5354247"/>
            <a:ext cx="3727794" cy="523025"/>
            <a:chOff x="782821" y="2392845"/>
            <a:chExt cx="3577009" cy="1114425"/>
          </a:xfrm>
        </p:grpSpPr>
        <p:sp>
          <p:nvSpPr>
            <p:cNvPr id="117" name="Rectangle 11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782821" y="2592869"/>
              <a:ext cx="2802310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5220071" y="4685074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ا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لتبويب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Création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8007608" y="458781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8021553" y="535424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5196127" y="5460172"/>
            <a:ext cx="2400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Trame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de fond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34" name="Group 104"/>
          <p:cNvGrpSpPr/>
          <p:nvPr/>
        </p:nvGrpSpPr>
        <p:grpSpPr>
          <a:xfrm>
            <a:off x="5004048" y="1681839"/>
            <a:ext cx="3727793" cy="527690"/>
            <a:chOff x="782821" y="1173645"/>
            <a:chExt cx="3577009" cy="1114425"/>
          </a:xfrm>
        </p:grpSpPr>
        <p:sp>
          <p:nvSpPr>
            <p:cNvPr id="135" name="Rectangle 13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46" name="Rectangle 145"/>
          <p:cNvSpPr/>
          <p:nvPr/>
        </p:nvSpPr>
        <p:spPr>
          <a:xfrm>
            <a:off x="795637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8" name="TextBox 68"/>
          <p:cNvSpPr txBox="1"/>
          <p:nvPr/>
        </p:nvSpPr>
        <p:spPr>
          <a:xfrm>
            <a:off x="5109997" y="182507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التبويب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Création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50" name="Group 104"/>
          <p:cNvGrpSpPr/>
          <p:nvPr/>
        </p:nvGrpSpPr>
        <p:grpSpPr>
          <a:xfrm>
            <a:off x="5004049" y="2325246"/>
            <a:ext cx="3727792" cy="527690"/>
            <a:chOff x="782822" y="1173645"/>
            <a:chExt cx="3577008" cy="1114425"/>
          </a:xfrm>
        </p:grpSpPr>
        <p:sp>
          <p:nvSpPr>
            <p:cNvPr id="151" name="Rectangle 15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/>
            <p:cNvSpPr/>
            <p:nvPr/>
          </p:nvSpPr>
          <p:spPr>
            <a:xfrm flipH="1">
              <a:off x="782822" y="1373671"/>
              <a:ext cx="280230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56" name="Group 118"/>
          <p:cNvGrpSpPr/>
          <p:nvPr/>
        </p:nvGrpSpPr>
        <p:grpSpPr>
          <a:xfrm>
            <a:off x="4571999" y="2924944"/>
            <a:ext cx="4159844" cy="523025"/>
            <a:chOff x="368247" y="2392845"/>
            <a:chExt cx="3991583" cy="1114425"/>
          </a:xfrm>
        </p:grpSpPr>
        <p:sp>
          <p:nvSpPr>
            <p:cNvPr id="157" name="Rectangle 15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/>
            <p:cNvSpPr/>
            <p:nvPr/>
          </p:nvSpPr>
          <p:spPr>
            <a:xfrm flipH="1">
              <a:off x="368247" y="2592869"/>
              <a:ext cx="3216881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ectangle 16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2" name="Rectangle 161"/>
          <p:cNvSpPr/>
          <p:nvPr/>
        </p:nvSpPr>
        <p:spPr>
          <a:xfrm>
            <a:off x="5217394" y="2429192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Bordures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8004931" y="233193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8018876" y="292494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5" name="Rectangle 164"/>
          <p:cNvSpPr/>
          <p:nvPr/>
        </p:nvSpPr>
        <p:spPr>
          <a:xfrm>
            <a:off x="4653239" y="3030869"/>
            <a:ext cx="2940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التعليمة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Bordures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et trame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66" name="Group 104"/>
          <p:cNvGrpSpPr/>
          <p:nvPr/>
        </p:nvGrpSpPr>
        <p:grpSpPr>
          <a:xfrm>
            <a:off x="539552" y="4941168"/>
            <a:ext cx="3727793" cy="527690"/>
            <a:chOff x="782821" y="1173645"/>
            <a:chExt cx="3577009" cy="1114425"/>
          </a:xfrm>
        </p:grpSpPr>
        <p:sp>
          <p:nvSpPr>
            <p:cNvPr id="167" name="Rectangle 16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78" name="Rectangle 177"/>
          <p:cNvSpPr/>
          <p:nvPr/>
        </p:nvSpPr>
        <p:spPr>
          <a:xfrm>
            <a:off x="752898" y="5045114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لون التظليل.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3540435" y="494785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82" name="Group 104"/>
          <p:cNvGrpSpPr/>
          <p:nvPr/>
        </p:nvGrpSpPr>
        <p:grpSpPr>
          <a:xfrm>
            <a:off x="3195145" y="3573016"/>
            <a:ext cx="5539373" cy="527690"/>
            <a:chOff x="-955483" y="1173645"/>
            <a:chExt cx="5315313" cy="1114425"/>
          </a:xfrm>
        </p:grpSpPr>
        <p:sp>
          <p:nvSpPr>
            <p:cNvPr id="183" name="Rectangle 18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 flipH="1">
              <a:off x="-955483" y="1373671"/>
              <a:ext cx="4540613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Rectangle 18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94" name="Rectangle 193"/>
          <p:cNvSpPr/>
          <p:nvPr/>
        </p:nvSpPr>
        <p:spPr>
          <a:xfrm>
            <a:off x="3319762" y="3676962"/>
            <a:ext cx="43485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ننسق في النافذة التي تظهر نمط ولون وسمك الحد.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8007608" y="357970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1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53" name="Rectangle 52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54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56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57" name="Rectangle 56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55" name="Rectangle 54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6" name="Image 45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47" name="Image 46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48" name="ZoneTexte 47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9" name="ZoneTexte 48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0" name="ZoneTexte 49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96" name="Image 95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98" name="ZoneTexte 97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ZoneTexte 98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1" name="Image 100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5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5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5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7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2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75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25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75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/>
      <p:bldP spid="61" grpId="0"/>
      <p:bldP spid="69" grpId="0"/>
      <p:bldP spid="70" grpId="0"/>
      <p:bldP spid="108" grpId="0"/>
      <p:bldP spid="109" grpId="0"/>
      <p:bldP spid="128" grpId="0"/>
      <p:bldP spid="129" grpId="0"/>
      <p:bldP spid="130" grpId="0"/>
      <p:bldP spid="132" grpId="0"/>
      <p:bldP spid="146" grpId="0"/>
      <p:bldP spid="148" grpId="0"/>
      <p:bldP spid="162" grpId="0"/>
      <p:bldP spid="163" grpId="0"/>
      <p:bldP spid="164" grpId="0"/>
      <p:bldP spid="165" grpId="0"/>
      <p:bldP spid="178" grpId="0"/>
      <p:bldP spid="179" grpId="0"/>
      <p:bldP spid="194" grpId="0"/>
      <p:bldP spid="1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47" name="Pensées 46"/>
          <p:cNvSpPr/>
          <p:nvPr/>
        </p:nvSpPr>
        <p:spPr>
          <a:xfrm>
            <a:off x="179512" y="637297"/>
            <a:ext cx="7722604" cy="2575679"/>
          </a:xfrm>
          <a:prstGeom prst="cloudCallout">
            <a:avLst>
              <a:gd name="adj1" fmla="val -33088"/>
              <a:gd name="adj2" fmla="val 6815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8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49" name="ZoneTexte 48"/>
          <p:cNvSpPr txBox="1"/>
          <p:nvPr/>
        </p:nvSpPr>
        <p:spPr>
          <a:xfrm>
            <a:off x="1152128" y="980728"/>
            <a:ext cx="594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لدمج وتقسيم </a:t>
            </a:r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الخلايا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الجدول؟ 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4716016" y="1444714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دمج الخلايا</a:t>
            </a:r>
            <a:endParaRPr lang="fr-FR" sz="2000" b="1" dirty="0"/>
          </a:p>
        </p:txBody>
      </p:sp>
      <p:sp>
        <p:nvSpPr>
          <p:cNvPr id="51" name="ZoneTexte 50"/>
          <p:cNvSpPr txBox="1"/>
          <p:nvPr/>
        </p:nvSpPr>
        <p:spPr>
          <a:xfrm>
            <a:off x="1475656" y="1444714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تقسيم الخلايا</a:t>
            </a:r>
            <a:endParaRPr lang="fr-FR" sz="2000" b="1" dirty="0"/>
          </a:p>
        </p:txBody>
      </p:sp>
      <p:pic>
        <p:nvPicPr>
          <p:cNvPr id="8194" name="Picture 2" descr="C:\Users\RIDHA\Desktop\5658888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33014"/>
            <a:ext cx="269557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RIDHA\Desktop\565888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085" y="1833014"/>
            <a:ext cx="27051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4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3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5" name="Rectangle 14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6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8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9" name="Rectangle 18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7" name="Rectangle 16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8" name="Image 7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9" name="Image 8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2" name="ZoneTexte 11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0" name="Image 29" descr="Microsoft_Word_2013_logo.svg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72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74" name="Group 60"/>
          <p:cNvGrpSpPr>
            <a:grpSpLocks/>
          </p:cNvGrpSpPr>
          <p:nvPr/>
        </p:nvGrpSpPr>
        <p:grpSpPr bwMode="auto">
          <a:xfrm flipH="1">
            <a:off x="8298021" y="1404283"/>
            <a:ext cx="192383" cy="190618"/>
            <a:chOff x="2078" y="1680"/>
            <a:chExt cx="1615" cy="1615"/>
          </a:xfrm>
        </p:grpSpPr>
        <p:sp>
          <p:nvSpPr>
            <p:cNvPr id="75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6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7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8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79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0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81" name="Rectangle 80"/>
          <p:cNvSpPr/>
          <p:nvPr/>
        </p:nvSpPr>
        <p:spPr>
          <a:xfrm>
            <a:off x="-108520" y="1330315"/>
            <a:ext cx="69847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يمكن دمج خليتين أو أكثر لتصبح خلية واحدة، نحدد الخلايا  المراد دمجها ،وننقر على التوالي: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2" name="ZoneTexte 81"/>
          <p:cNvSpPr txBox="1"/>
          <p:nvPr/>
        </p:nvSpPr>
        <p:spPr>
          <a:xfrm>
            <a:off x="6713984" y="1268760"/>
            <a:ext cx="145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دمج الخلايا: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83" name="Group 60"/>
          <p:cNvGrpSpPr>
            <a:grpSpLocks/>
          </p:cNvGrpSpPr>
          <p:nvPr/>
        </p:nvGrpSpPr>
        <p:grpSpPr bwMode="auto">
          <a:xfrm flipH="1">
            <a:off x="8261509" y="3348499"/>
            <a:ext cx="192383" cy="190618"/>
            <a:chOff x="2078" y="1680"/>
            <a:chExt cx="1615" cy="1615"/>
          </a:xfrm>
        </p:grpSpPr>
        <p:sp>
          <p:nvSpPr>
            <p:cNvPr id="84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5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7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88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9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90" name="Rectangle 89"/>
          <p:cNvSpPr/>
          <p:nvPr/>
        </p:nvSpPr>
        <p:spPr>
          <a:xfrm>
            <a:off x="0" y="3274531"/>
            <a:ext cx="67139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يمكن تقسيم خلية واحدة إلى عدة خلايا،نحدد الخلية المراد تقسيمها،وننقر على التوالي:</a:t>
            </a:r>
            <a:endParaRPr lang="fr-FR" sz="19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91" name="ZoneTexte 90"/>
          <p:cNvSpPr txBox="1"/>
          <p:nvPr/>
        </p:nvSpPr>
        <p:spPr>
          <a:xfrm>
            <a:off x="6588224" y="3212976"/>
            <a:ext cx="1547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تقسيم الخلايا: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92" name="Group 104"/>
          <p:cNvGrpSpPr/>
          <p:nvPr/>
        </p:nvGrpSpPr>
        <p:grpSpPr>
          <a:xfrm>
            <a:off x="5006725" y="3861048"/>
            <a:ext cx="3727793" cy="527690"/>
            <a:chOff x="782821" y="1173645"/>
            <a:chExt cx="3577009" cy="1114425"/>
          </a:xfrm>
        </p:grpSpPr>
        <p:sp>
          <p:nvSpPr>
            <p:cNvPr id="93" name="Rectangle 9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8" name="Group 118"/>
          <p:cNvGrpSpPr/>
          <p:nvPr/>
        </p:nvGrpSpPr>
        <p:grpSpPr>
          <a:xfrm>
            <a:off x="4351345" y="4490151"/>
            <a:ext cx="4383175" cy="523025"/>
            <a:chOff x="153949" y="2392845"/>
            <a:chExt cx="4205881" cy="1114425"/>
          </a:xfrm>
        </p:grpSpPr>
        <p:sp>
          <p:nvSpPr>
            <p:cNvPr id="99" name="Rectangle 98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153949" y="2592869"/>
              <a:ext cx="3431181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8007608" y="386773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8021553" y="449015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4351345" y="4596076"/>
            <a:ext cx="3244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Fractionner les cellules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08" name="Group 104"/>
          <p:cNvGrpSpPr/>
          <p:nvPr/>
        </p:nvGrpSpPr>
        <p:grpSpPr>
          <a:xfrm>
            <a:off x="5004048" y="1969871"/>
            <a:ext cx="3727793" cy="527690"/>
            <a:chOff x="782821" y="1173645"/>
            <a:chExt cx="3577009" cy="1114425"/>
          </a:xfrm>
        </p:grpSpPr>
        <p:sp>
          <p:nvSpPr>
            <p:cNvPr id="109" name="Rectangle 108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14" name="Rectangle 113"/>
          <p:cNvSpPr/>
          <p:nvPr/>
        </p:nvSpPr>
        <p:spPr>
          <a:xfrm>
            <a:off x="7956376" y="197954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16" name="Group 104"/>
          <p:cNvGrpSpPr/>
          <p:nvPr/>
        </p:nvGrpSpPr>
        <p:grpSpPr>
          <a:xfrm>
            <a:off x="4473115" y="2613278"/>
            <a:ext cx="4258725" cy="527690"/>
            <a:chOff x="273364" y="1173645"/>
            <a:chExt cx="4086466" cy="1114425"/>
          </a:xfrm>
        </p:grpSpPr>
        <p:sp>
          <p:nvSpPr>
            <p:cNvPr id="117" name="Rectangle 11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273364" y="1373671"/>
              <a:ext cx="3311765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4572000" y="2717224"/>
            <a:ext cx="30876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Fusionner les cellules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8004931" y="261996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32" name="Group 104"/>
          <p:cNvGrpSpPr/>
          <p:nvPr/>
        </p:nvGrpSpPr>
        <p:grpSpPr>
          <a:xfrm>
            <a:off x="1403647" y="5085184"/>
            <a:ext cx="7344817" cy="891480"/>
            <a:chOff x="-2687900" y="1173645"/>
            <a:chExt cx="7047730" cy="1114425"/>
          </a:xfrm>
        </p:grpSpPr>
        <p:sp>
          <p:nvSpPr>
            <p:cNvPr id="133" name="Rectangle 13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134"/>
            <p:cNvSpPr/>
            <p:nvPr/>
          </p:nvSpPr>
          <p:spPr>
            <a:xfrm flipH="1">
              <a:off x="-2687900" y="1373671"/>
              <a:ext cx="627302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8" name="Rectangle 137"/>
          <p:cNvSpPr/>
          <p:nvPr/>
        </p:nvSpPr>
        <p:spPr>
          <a:xfrm>
            <a:off x="1403648" y="5272172"/>
            <a:ext cx="627261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تظهر نافذة نحدد عليها عدد الأعمدة(</a:t>
            </a:r>
            <a:r>
              <a:rPr lang="fr-FR" sz="1900" b="1" dirty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nombre de colonnes</a:t>
            </a: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) وعدد الأسطر </a:t>
            </a:r>
            <a:r>
              <a:rPr lang="fr-FR" sz="1900" b="1" dirty="0">
                <a:solidFill>
                  <a:schemeClr val="bg1"/>
                </a:solidFill>
                <a:ea typeface="Times New Roman"/>
                <a:cs typeface="Times New Roman"/>
              </a:rPr>
              <a:t>(</a:t>
            </a:r>
            <a:r>
              <a:rPr lang="fr-FR" sz="1900" b="1" dirty="0" smtClean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nombre </a:t>
            </a:r>
            <a:r>
              <a:rPr lang="fr-FR" sz="1900" b="1" dirty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de linges)</a:t>
            </a:r>
            <a:r>
              <a:rPr lang="fr-FR" sz="1900" b="1" dirty="0">
                <a:solidFill>
                  <a:schemeClr val="bg1"/>
                </a:solidFill>
                <a:latin typeface="Simplified Arabic"/>
                <a:ea typeface="Times New Roman"/>
              </a:rPr>
              <a:t> </a:t>
            </a:r>
            <a:r>
              <a:rPr lang="ar-SA" sz="1900" b="1" dirty="0" smtClean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المراد </a:t>
            </a:r>
            <a:r>
              <a:rPr lang="ar-SA" sz="1900" b="1" dirty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الحصول عليها في الخلية </a:t>
            </a: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ثم نضغط </a:t>
            </a:r>
            <a:r>
              <a:rPr lang="fr-FR" sz="1900" b="1" dirty="0">
                <a:solidFill>
                  <a:schemeClr val="bg1"/>
                </a:solidFill>
                <a:latin typeface="Times New Roman"/>
                <a:ea typeface="Times New Roman"/>
              </a:rPr>
              <a:t>ok</a:t>
            </a:r>
            <a:r>
              <a:rPr lang="ar-DZ" sz="1900" b="1" dirty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19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8021554" y="521990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8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49" name="Shape 859"/>
          <p:cNvSpPr/>
          <p:nvPr/>
        </p:nvSpPr>
        <p:spPr>
          <a:xfrm>
            <a:off x="3707904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50" name="ZoneTexte 149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7-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51" name="ZoneTexte 150"/>
          <p:cNvSpPr txBox="1"/>
          <p:nvPr/>
        </p:nvSpPr>
        <p:spPr>
          <a:xfrm>
            <a:off x="3995936" y="735087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دمج وتقسيم الخلايا</a:t>
            </a:r>
            <a:r>
              <a:rPr lang="fr-FR" sz="2400" b="1" dirty="0">
                <a:solidFill>
                  <a:srgbClr val="FFFF00"/>
                </a:solidFill>
              </a:rPr>
              <a:t>:</a:t>
            </a:r>
          </a:p>
        </p:txBody>
      </p:sp>
      <p:sp>
        <p:nvSpPr>
          <p:cNvPr id="152" name="TextBox 68"/>
          <p:cNvSpPr txBox="1"/>
          <p:nvPr/>
        </p:nvSpPr>
        <p:spPr>
          <a:xfrm>
            <a:off x="5109997" y="2113111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</a:rPr>
              <a:t>التبويب </a:t>
            </a:r>
            <a:r>
              <a:rPr lang="fr-FR" sz="2000" b="1" dirty="0">
                <a:solidFill>
                  <a:schemeClr val="bg1"/>
                </a:solidFill>
              </a:rPr>
              <a:t>Disposition</a:t>
            </a:r>
            <a:r>
              <a:rPr lang="ar-SA" sz="2000" b="1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3" name="TextBox 68"/>
          <p:cNvSpPr txBox="1"/>
          <p:nvPr/>
        </p:nvSpPr>
        <p:spPr>
          <a:xfrm>
            <a:off x="5109997" y="4005064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</a:rPr>
              <a:t>التبويب </a:t>
            </a:r>
            <a:r>
              <a:rPr lang="fr-FR" sz="2000" b="1" dirty="0">
                <a:solidFill>
                  <a:schemeClr val="bg1"/>
                </a:solidFill>
              </a:rPr>
              <a:t>Disposition</a:t>
            </a:r>
            <a:r>
              <a:rPr lang="ar-SA" sz="2000" b="1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218" name="Picture 2" descr="C:\Users\RIDHA\Desktop\56588888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3666745"/>
            <a:ext cx="2736304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e 1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2" name="Groupe 1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21" name="Image 20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22" name="Image 21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23" name="ZoneTexte 22"/>
                <p:cNvSpPr txBox="1"/>
                <p:nvPr/>
              </p:nvSpPr>
              <p:spPr>
                <a:xfrm>
                  <a:off x="5652120" y="6351711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ZoneTexte 23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ZoneTexte 24"/>
                <p:cNvSpPr txBox="1"/>
                <p:nvPr/>
              </p:nvSpPr>
              <p:spPr>
                <a:xfrm>
                  <a:off x="2987824" y="6381328"/>
                  <a:ext cx="20882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" name="Image 103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15" name="ZoneTexte 114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ZoneTexte 121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الجداول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23" name="Image 122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8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 advAuto="0"/>
      <p:bldP spid="152" grpId="0"/>
      <p:bldP spid="1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0" y="0"/>
            <a:ext cx="9144000" cy="6885384"/>
            <a:chOff x="0" y="0"/>
            <a:chExt cx="9144000" cy="6885384"/>
          </a:xfrm>
        </p:grpSpPr>
        <p:grpSp>
          <p:nvGrpSpPr>
            <p:cNvPr id="5" name="Groupe 18"/>
            <p:cNvGrpSpPr/>
            <p:nvPr/>
          </p:nvGrpSpPr>
          <p:grpSpPr>
            <a:xfrm>
              <a:off x="0" y="0"/>
              <a:ext cx="9144000" cy="6885384"/>
              <a:chOff x="0" y="0"/>
              <a:chExt cx="9144000" cy="6885384"/>
            </a:xfrm>
          </p:grpSpPr>
          <p:sp>
            <p:nvSpPr>
              <p:cNvPr id="7" name="Rectangle 6"/>
              <p:cNvSpPr/>
              <p:nvPr/>
            </p:nvSpPr>
            <p:spPr>
              <a:xfrm rot="10800000" flipV="1">
                <a:off x="0" y="0"/>
                <a:ext cx="6983760" cy="620688"/>
              </a:xfrm>
              <a:prstGeom prst="rect">
                <a:avLst/>
              </a:prstGeom>
              <a:solidFill>
                <a:srgbClr val="FF6600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8" name="Groupe 15"/>
              <p:cNvGrpSpPr/>
              <p:nvPr/>
            </p:nvGrpSpPr>
            <p:grpSpPr>
              <a:xfrm>
                <a:off x="0" y="6237312"/>
                <a:ext cx="9144000" cy="648072"/>
                <a:chOff x="0" y="6237312"/>
                <a:chExt cx="9144000" cy="648072"/>
              </a:xfrm>
            </p:grpSpPr>
            <p:sp>
              <p:nvSpPr>
                <p:cNvPr id="10" name="Rectangle 5"/>
                <p:cNvSpPr/>
                <p:nvPr/>
              </p:nvSpPr>
              <p:spPr>
                <a:xfrm>
                  <a:off x="0" y="6309320"/>
                  <a:ext cx="9144000" cy="57606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 flipV="1">
                  <a:off x="0" y="6237312"/>
                  <a:ext cx="9144000" cy="72008"/>
                </a:xfrm>
                <a:prstGeom prst="rect">
                  <a:avLst/>
                </a:prstGeom>
                <a:solidFill>
                  <a:srgbClr val="FF6600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9" name="Rectangle 8"/>
              <p:cNvSpPr/>
              <p:nvPr/>
            </p:nvSpPr>
            <p:spPr>
              <a:xfrm rot="10800000" flipV="1">
                <a:off x="7020272" y="0"/>
                <a:ext cx="2123728" cy="62068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6" name="ZoneTexte 5"/>
            <p:cNvSpPr txBox="1"/>
            <p:nvPr/>
          </p:nvSpPr>
          <p:spPr>
            <a:xfrm>
              <a:off x="7308304" y="116632"/>
              <a:ext cx="1440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000" b="1" dirty="0" smtClean="0">
                  <a:solidFill>
                    <a:schemeClr val="bg1"/>
                  </a:solidFill>
                </a:rPr>
                <a:t>مذكرة رقم 1</a:t>
              </a:r>
              <a:endParaRPr lang="fr-FR" sz="2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2" name="Picture 1" descr="C:\Users\RIDHA\Downloads\صور المعلوماتية\computer_pc_PNG771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1368152" cy="637297"/>
          </a:xfrm>
          <a:prstGeom prst="rect">
            <a:avLst/>
          </a:prstGeom>
          <a:noFill/>
        </p:spPr>
      </p:pic>
      <p:pic>
        <p:nvPicPr>
          <p:cNvPr id="47" name="Image 46" descr="3-2-blogging-transparent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5736" y="6165304"/>
            <a:ext cx="864096" cy="741369"/>
          </a:xfrm>
          <a:prstGeom prst="rect">
            <a:avLst/>
          </a:prstGeom>
        </p:spPr>
      </p:pic>
      <p:pic>
        <p:nvPicPr>
          <p:cNvPr id="48" name="Image 47" descr="12-2-education-png-image-thumb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88424" y="5976664"/>
            <a:ext cx="720080" cy="980728"/>
          </a:xfrm>
          <a:prstGeom prst="rect">
            <a:avLst/>
          </a:prstGeom>
        </p:spPr>
      </p:pic>
      <p:sp>
        <p:nvSpPr>
          <p:cNvPr id="49" name="ZoneTexte 48"/>
          <p:cNvSpPr txBox="1"/>
          <p:nvPr/>
        </p:nvSpPr>
        <p:spPr>
          <a:xfrm>
            <a:off x="5652120" y="6351711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متوسطة قلواز </a:t>
            </a:r>
            <a:r>
              <a:rPr lang="ar-DZ" sz="2000" b="1" dirty="0" err="1" smtClean="0">
                <a:solidFill>
                  <a:schemeClr val="bg1"/>
                </a:solidFill>
              </a:rPr>
              <a:t>موسى </a:t>
            </a:r>
            <a:r>
              <a:rPr lang="ar-DZ" sz="2000" b="1" dirty="0" smtClean="0">
                <a:solidFill>
                  <a:schemeClr val="bg1"/>
                </a:solidFill>
              </a:rPr>
              <a:t>- بوراشد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-180528" y="6396335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تصميم الأستاذ ماحي رضا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2987824" y="6381328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المستوى:الأول متوسط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52" name="Group 60"/>
          <p:cNvGrpSpPr>
            <a:grpSpLocks/>
          </p:cNvGrpSpPr>
          <p:nvPr/>
        </p:nvGrpSpPr>
        <p:grpSpPr bwMode="auto">
          <a:xfrm flipH="1">
            <a:off x="899592" y="836712"/>
            <a:ext cx="384766" cy="381000"/>
            <a:chOff x="2078" y="1680"/>
            <a:chExt cx="1615" cy="1615"/>
          </a:xfrm>
        </p:grpSpPr>
        <p:sp>
          <p:nvSpPr>
            <p:cNvPr id="53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56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57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58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grpSp>
        <p:nvGrpSpPr>
          <p:cNvPr id="59" name="Group 53"/>
          <p:cNvGrpSpPr>
            <a:grpSpLocks/>
          </p:cNvGrpSpPr>
          <p:nvPr/>
        </p:nvGrpSpPr>
        <p:grpSpPr bwMode="auto">
          <a:xfrm flipH="1">
            <a:off x="648072" y="1412776"/>
            <a:ext cx="387623" cy="381000"/>
            <a:chOff x="2078" y="1680"/>
            <a:chExt cx="1615" cy="1615"/>
          </a:xfrm>
        </p:grpSpPr>
        <p:sp>
          <p:nvSpPr>
            <p:cNvPr id="60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3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64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5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cxnSp>
        <p:nvCxnSpPr>
          <p:cNvPr id="66" name="Straight Connector 25"/>
          <p:cNvCxnSpPr/>
          <p:nvPr/>
        </p:nvCxnSpPr>
        <p:spPr>
          <a:xfrm flipH="1">
            <a:off x="251520" y="1268760"/>
            <a:ext cx="1" cy="614898"/>
          </a:xfrm>
          <a:prstGeom prst="line">
            <a:avLst/>
          </a:prstGeom>
          <a:ln w="1905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21340</TotalTime>
  <Words>919</Words>
  <Application>Microsoft Office PowerPoint</Application>
  <PresentationFormat>Affichage à l'écran (4:3)</PresentationFormat>
  <Paragraphs>222</Paragraphs>
  <Slides>18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603</cp:revision>
  <dcterms:created xsi:type="dcterms:W3CDTF">2017-08-13T13:54:07Z</dcterms:created>
  <dcterms:modified xsi:type="dcterms:W3CDTF">2017-10-13T21:45:30Z</dcterms:modified>
</cp:coreProperties>
</file>