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6" r:id="rId2"/>
    <p:sldId id="256" r:id="rId3"/>
    <p:sldId id="257" r:id="rId4"/>
    <p:sldId id="275" r:id="rId5"/>
    <p:sldId id="260" r:id="rId6"/>
    <p:sldId id="274" r:id="rId7"/>
    <p:sldId id="261" r:id="rId8"/>
    <p:sldId id="264" r:id="rId9"/>
    <p:sldId id="265" r:id="rId10"/>
    <p:sldId id="266" r:id="rId11"/>
    <p:sldId id="267" r:id="rId12"/>
    <p:sldId id="27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FF6600"/>
    <a:srgbClr val="57ABC9"/>
    <a:srgbClr val="D75BB4"/>
    <a:srgbClr val="EEC208"/>
    <a:srgbClr val="E86E77"/>
    <a:srgbClr val="F79646"/>
    <a:srgbClr val="F48E56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5" autoAdjust="0"/>
    <p:restoredTop sz="93728" autoAdjust="0"/>
  </p:normalViewPr>
  <p:slideViewPr>
    <p:cSldViewPr>
      <p:cViewPr varScale="1">
        <p:scale>
          <a:sx n="69" d="100"/>
          <a:sy n="69" d="100"/>
        </p:scale>
        <p:origin x="55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68C6B9-1AE0-4F9B-92BA-7BAE68551FBC}" type="datetimeFigureOut">
              <a:rPr lang="fr-FR" smtClean="0"/>
              <a:pPr/>
              <a:t>02/04/2018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4C1ED-98AE-46DE-B9B9-6CFC1AF092D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9.png"/><Relationship Id="rId7" Type="http://schemas.openxmlformats.org/officeDocument/2006/relationships/image" Target="../media/image5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0.png"/><Relationship Id="rId7" Type="http://schemas.openxmlformats.org/officeDocument/2006/relationships/image" Target="../media/image1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1.png"/><Relationship Id="rId7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7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5" descr="besmallah.bmp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92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Image 87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pic>
        <p:nvPicPr>
          <p:cNvPr id="51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124744"/>
            <a:ext cx="2376264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e 1"/>
          <p:cNvGrpSpPr/>
          <p:nvPr/>
        </p:nvGrpSpPr>
        <p:grpSpPr>
          <a:xfrm>
            <a:off x="3491880" y="1052736"/>
            <a:ext cx="5544616" cy="862584"/>
            <a:chOff x="3491880" y="1052736"/>
            <a:chExt cx="5544616" cy="862584"/>
          </a:xfrm>
        </p:grpSpPr>
        <p:sp>
          <p:nvSpPr>
            <p:cNvPr id="53" name="Shape 1816"/>
            <p:cNvSpPr/>
            <p:nvPr/>
          </p:nvSpPr>
          <p:spPr>
            <a:xfrm>
              <a:off x="3491880" y="1052736"/>
              <a:ext cx="5317563" cy="73542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54" name="Freeform 11"/>
            <p:cNvSpPr>
              <a:spLocks/>
            </p:cNvSpPr>
            <p:nvPr/>
          </p:nvSpPr>
          <p:spPr bwMode="auto">
            <a:xfrm>
              <a:off x="6804247" y="1150077"/>
              <a:ext cx="2160238" cy="693242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55" name="Rectangle 54"/>
            <p:cNvSpPr/>
            <p:nvPr/>
          </p:nvSpPr>
          <p:spPr>
            <a:xfrm>
              <a:off x="7606296" y="1234187"/>
              <a:ext cx="143020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الحصة التعلمية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8028383" y="1499822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01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717864" y="1196752"/>
              <a:ext cx="3374416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ar-DZ" sz="2300" b="1" dirty="0" smtClean="0">
                  <a:latin typeface="Raleway"/>
                  <a:cs typeface="+mj-cs"/>
                </a:rPr>
                <a:t>برنامج </a:t>
              </a:r>
              <a:r>
                <a:rPr lang="ar-DZ" sz="2300" b="1" dirty="0" err="1" smtClean="0">
                  <a:latin typeface="Raleway"/>
                  <a:cs typeface="+mj-cs"/>
                </a:rPr>
                <a:t>سكراتش</a:t>
              </a:r>
              <a:r>
                <a:rPr lang="ar-DZ" sz="2300" b="1" dirty="0" smtClean="0">
                  <a:latin typeface="Raleway"/>
                  <a:cs typeface="+mj-cs"/>
                </a:rPr>
                <a:t> </a:t>
              </a:r>
              <a:r>
                <a:rPr lang="fr-FR" sz="2300" b="1" dirty="0" smtClean="0">
                  <a:latin typeface="Raleway"/>
                  <a:cs typeface="+mj-cs"/>
                </a:rPr>
                <a:t>SCRATCH</a:t>
              </a:r>
              <a:endParaRPr lang="en-US" sz="2300" b="1" dirty="0">
                <a:latin typeface="Calibri Light" panose="020F0302020204030204" pitchFamily="34" charset="0"/>
                <a:cs typeface="+mj-cs"/>
              </a:endParaRPr>
            </a:p>
          </p:txBody>
        </p:sp>
        <p:sp>
          <p:nvSpPr>
            <p:cNvPr id="59" name="Freeform 9"/>
            <p:cNvSpPr/>
            <p:nvPr/>
          </p:nvSpPr>
          <p:spPr>
            <a:xfrm flipH="1">
              <a:off x="7071582" y="1366314"/>
              <a:ext cx="92706" cy="108271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3" name="Groupe 2"/>
          <p:cNvGrpSpPr/>
          <p:nvPr/>
        </p:nvGrpSpPr>
        <p:grpSpPr>
          <a:xfrm>
            <a:off x="3491880" y="2096501"/>
            <a:ext cx="5544616" cy="861504"/>
            <a:chOff x="3491880" y="2096501"/>
            <a:chExt cx="5544616" cy="861504"/>
          </a:xfrm>
        </p:grpSpPr>
        <p:sp>
          <p:nvSpPr>
            <p:cNvPr id="60" name="Shape 1816"/>
            <p:cNvSpPr/>
            <p:nvPr/>
          </p:nvSpPr>
          <p:spPr>
            <a:xfrm>
              <a:off x="3491880" y="2096501"/>
              <a:ext cx="5288339" cy="73051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61" name="Freeform 11"/>
            <p:cNvSpPr>
              <a:spLocks/>
            </p:cNvSpPr>
            <p:nvPr/>
          </p:nvSpPr>
          <p:spPr bwMode="auto">
            <a:xfrm>
              <a:off x="6818662" y="2193192"/>
              <a:ext cx="2145824" cy="688616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62" name="Rectangle 61"/>
            <p:cNvSpPr/>
            <p:nvPr/>
          </p:nvSpPr>
          <p:spPr>
            <a:xfrm>
              <a:off x="3635896" y="2278033"/>
              <a:ext cx="3394336" cy="4308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fr-FR" sz="2200" b="1" dirty="0" smtClean="0">
                  <a:latin typeface="Raleway"/>
                  <a:cs typeface="Raleway"/>
                </a:rPr>
                <a:t>.</a:t>
              </a:r>
              <a:r>
                <a:rPr lang="ar-DZ" sz="2200" b="1" dirty="0" smtClean="0">
                  <a:latin typeface="Raleway"/>
                  <a:cs typeface="+mj-cs"/>
                </a:rPr>
                <a:t> واجهة برنامج </a:t>
              </a:r>
              <a:r>
                <a:rPr lang="ar-DZ" sz="2200" b="1" dirty="0" err="1" smtClean="0">
                  <a:latin typeface="Raleway"/>
                  <a:cs typeface="+mj-cs"/>
                </a:rPr>
                <a:t>سكراتش</a:t>
              </a:r>
              <a:r>
                <a:rPr lang="en-US" sz="2200" b="1" dirty="0" err="1" smtClean="0">
                  <a:latin typeface="Raleway"/>
                  <a:cs typeface="Raleway"/>
                </a:rPr>
                <a:t>scr</a:t>
              </a:r>
              <a:r>
                <a:rPr lang="fr-FR" sz="2200" b="1" dirty="0">
                  <a:latin typeface="Raleway"/>
                  <a:cs typeface="Raleway"/>
                </a:rPr>
                <a:t>a</a:t>
              </a:r>
              <a:r>
                <a:rPr lang="en-US" sz="2200" b="1" dirty="0" err="1">
                  <a:latin typeface="Raleway"/>
                  <a:cs typeface="Raleway"/>
                </a:rPr>
                <a:t>tch</a:t>
              </a:r>
              <a:endParaRPr lang="en-US" sz="2200" b="1" dirty="0">
                <a:latin typeface="Calibri Light" panose="020F0302020204030204" pitchFamily="34" charset="0"/>
                <a:cs typeface="Raleway"/>
              </a:endParaRPr>
            </a:p>
          </p:txBody>
        </p:sp>
        <p:sp>
          <p:nvSpPr>
            <p:cNvPr id="66" name="Freeform 65"/>
            <p:cNvSpPr/>
            <p:nvPr/>
          </p:nvSpPr>
          <p:spPr>
            <a:xfrm flipH="1">
              <a:off x="7063080" y="2401775"/>
              <a:ext cx="92086" cy="107550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0" name="Rectangle 89"/>
            <p:cNvSpPr/>
            <p:nvPr/>
          </p:nvSpPr>
          <p:spPr>
            <a:xfrm>
              <a:off x="7596678" y="2276872"/>
              <a:ext cx="143981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الحصة التعلمية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7884368" y="2542507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02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</p:grpSp>
      <p:grpSp>
        <p:nvGrpSpPr>
          <p:cNvPr id="4" name="Groupe 3"/>
          <p:cNvGrpSpPr/>
          <p:nvPr/>
        </p:nvGrpSpPr>
        <p:grpSpPr>
          <a:xfrm>
            <a:off x="3419872" y="3140265"/>
            <a:ext cx="5616624" cy="897860"/>
            <a:chOff x="3419872" y="3140265"/>
            <a:chExt cx="5616624" cy="897860"/>
          </a:xfrm>
        </p:grpSpPr>
        <p:sp>
          <p:nvSpPr>
            <p:cNvPr id="67" name="Shape 1816"/>
            <p:cNvSpPr/>
            <p:nvPr/>
          </p:nvSpPr>
          <p:spPr>
            <a:xfrm>
              <a:off x="3491880" y="3140265"/>
              <a:ext cx="5288288" cy="730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68" name="Freeform 11"/>
            <p:cNvSpPr>
              <a:spLocks/>
            </p:cNvSpPr>
            <p:nvPr/>
          </p:nvSpPr>
          <p:spPr bwMode="auto">
            <a:xfrm>
              <a:off x="6818078" y="3244252"/>
              <a:ext cx="2146411" cy="688804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419872" y="3358023"/>
              <a:ext cx="3765216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rtl="1"/>
              <a:r>
                <a:rPr lang="ar-DZ" sz="2200" b="1" dirty="0" smtClean="0">
                  <a:latin typeface="Raleway"/>
                  <a:cs typeface="+mj-cs"/>
                </a:rPr>
                <a:t>الحركة في برنامج </a:t>
              </a:r>
              <a:r>
                <a:rPr lang="en-US" sz="2200" b="1" dirty="0" err="1" smtClean="0">
                  <a:latin typeface="Raleway"/>
                  <a:cs typeface="Raleway"/>
                </a:rPr>
                <a:t>scr</a:t>
              </a:r>
              <a:r>
                <a:rPr lang="fr-FR" sz="2200" b="1" dirty="0">
                  <a:latin typeface="Raleway"/>
                  <a:cs typeface="Raleway"/>
                </a:rPr>
                <a:t>a</a:t>
              </a:r>
              <a:r>
                <a:rPr lang="en-US" sz="2200" b="1" dirty="0" err="1">
                  <a:latin typeface="Raleway"/>
                  <a:cs typeface="Raleway"/>
                </a:rPr>
                <a:t>tch</a:t>
              </a:r>
              <a:endParaRPr lang="en-US" sz="2200" b="1" dirty="0">
                <a:latin typeface="Calibri Light" panose="020F0302020204030204" pitchFamily="34" charset="0"/>
                <a:cs typeface="Raleway"/>
              </a:endParaRPr>
            </a:p>
            <a:p>
              <a:endParaRPr lang="en-US" sz="800" b="1" dirty="0">
                <a:latin typeface="Calibri Light" panose="020F0302020204030204" pitchFamily="34" charset="0"/>
                <a:cs typeface="Raleway"/>
              </a:endParaRPr>
            </a:p>
          </p:txBody>
        </p:sp>
        <p:sp>
          <p:nvSpPr>
            <p:cNvPr id="73" name="Freeform 66"/>
            <p:cNvSpPr/>
            <p:nvPr/>
          </p:nvSpPr>
          <p:spPr>
            <a:xfrm flipH="1">
              <a:off x="7063873" y="3447423"/>
              <a:ext cx="92112" cy="107579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92" name="Rectangle 91"/>
            <p:cNvSpPr/>
            <p:nvPr/>
          </p:nvSpPr>
          <p:spPr>
            <a:xfrm>
              <a:off x="7401112" y="3356992"/>
              <a:ext cx="16353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الوحدة </a:t>
              </a:r>
              <a:r>
                <a:rPr lang="ar-DZ" sz="2000" b="1" dirty="0" err="1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المفاهيمية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93" name="Rectangle 92"/>
            <p:cNvSpPr/>
            <p:nvPr/>
          </p:nvSpPr>
          <p:spPr>
            <a:xfrm>
              <a:off x="7884368" y="3622627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03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</p:grpSp>
      <p:grpSp>
        <p:nvGrpSpPr>
          <p:cNvPr id="5" name="Groupe 4"/>
          <p:cNvGrpSpPr/>
          <p:nvPr/>
        </p:nvGrpSpPr>
        <p:grpSpPr>
          <a:xfrm>
            <a:off x="3419872" y="4187324"/>
            <a:ext cx="5617946" cy="897860"/>
            <a:chOff x="3419872" y="4187324"/>
            <a:chExt cx="5617946" cy="897860"/>
          </a:xfrm>
        </p:grpSpPr>
        <p:sp>
          <p:nvSpPr>
            <p:cNvPr id="39" name="Shape 1816"/>
            <p:cNvSpPr/>
            <p:nvPr/>
          </p:nvSpPr>
          <p:spPr>
            <a:xfrm>
              <a:off x="3491880" y="4187324"/>
              <a:ext cx="5289610" cy="73071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 algn="ctr">
                <a:defRPr sz="3200">
                  <a:solidFill>
                    <a:srgbClr val="FFFFFF"/>
                  </a:solidFill>
                </a:defRPr>
              </a:pPr>
              <a:endParaRPr sz="3200">
                <a:solidFill>
                  <a:srgbClr val="FFFFFF"/>
                </a:solidFill>
                <a:latin typeface="Raleway"/>
                <a:cs typeface="Raleway"/>
              </a:endParaRPr>
            </a:p>
          </p:txBody>
        </p:sp>
        <p:sp>
          <p:nvSpPr>
            <p:cNvPr id="40" name="Freeform 11"/>
            <p:cNvSpPr>
              <a:spLocks/>
            </p:cNvSpPr>
            <p:nvPr/>
          </p:nvSpPr>
          <p:spPr bwMode="auto">
            <a:xfrm>
              <a:off x="6819400" y="4291311"/>
              <a:ext cx="2146411" cy="688804"/>
            </a:xfrm>
            <a:custGeom>
              <a:avLst/>
              <a:gdLst>
                <a:gd name="T0" fmla="*/ 823 w 823"/>
                <a:gd name="T1" fmla="*/ 0 h 587"/>
                <a:gd name="T2" fmla="*/ 311 w 823"/>
                <a:gd name="T3" fmla="*/ 0 h 587"/>
                <a:gd name="T4" fmla="*/ 0 w 823"/>
                <a:gd name="T5" fmla="*/ 587 h 587"/>
                <a:gd name="T6" fmla="*/ 823 w 823"/>
                <a:gd name="T7" fmla="*/ 587 h 587"/>
                <a:gd name="T8" fmla="*/ 823 w 823"/>
                <a:gd name="T9" fmla="*/ 0 h 5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23" h="587">
                  <a:moveTo>
                    <a:pt x="823" y="0"/>
                  </a:moveTo>
                  <a:lnTo>
                    <a:pt x="311" y="0"/>
                  </a:lnTo>
                  <a:lnTo>
                    <a:pt x="0" y="587"/>
                  </a:lnTo>
                  <a:lnTo>
                    <a:pt x="823" y="587"/>
                  </a:lnTo>
                  <a:lnTo>
                    <a:pt x="823" y="0"/>
                  </a:lnTo>
                  <a:close/>
                </a:path>
              </a:pathLst>
            </a:custGeom>
            <a:solidFill>
              <a:srgbClr val="FF66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100"/>
            </a:p>
          </p:txBody>
        </p:sp>
        <p:sp>
          <p:nvSpPr>
            <p:cNvPr id="41" name="Rectangle 40"/>
            <p:cNvSpPr/>
            <p:nvPr/>
          </p:nvSpPr>
          <p:spPr>
            <a:xfrm>
              <a:off x="3419872" y="4320292"/>
              <a:ext cx="3684365" cy="73866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 rtl="1"/>
              <a:r>
                <a:rPr lang="ar-DZ" sz="2100" b="1" dirty="0">
                  <a:latin typeface="+mj-lt"/>
                  <a:cs typeface="Raleway"/>
                </a:rPr>
                <a:t> </a:t>
              </a:r>
              <a:r>
                <a:rPr lang="ar-DZ" sz="2100" b="1" dirty="0" smtClean="0">
                  <a:latin typeface="+mj-lt"/>
                  <a:cs typeface="+mj-cs"/>
                </a:rPr>
                <a:t>المظاهر في برنامج </a:t>
              </a:r>
              <a:r>
                <a:rPr lang="en-US" sz="2100" b="1" dirty="0" err="1" smtClean="0">
                  <a:latin typeface="Raleway"/>
                  <a:cs typeface="Raleway"/>
                </a:rPr>
                <a:t>scr</a:t>
              </a:r>
              <a:r>
                <a:rPr lang="fr-FR" sz="2100" b="1" dirty="0">
                  <a:latin typeface="Raleway"/>
                  <a:cs typeface="Raleway"/>
                </a:rPr>
                <a:t>a</a:t>
              </a:r>
              <a:r>
                <a:rPr lang="en-US" sz="2100" b="1" dirty="0" err="1">
                  <a:latin typeface="Raleway"/>
                  <a:cs typeface="Raleway"/>
                </a:rPr>
                <a:t>tch</a:t>
              </a:r>
              <a:endParaRPr lang="en-US" sz="2100" b="1" dirty="0">
                <a:latin typeface="Calibri Light" panose="020F0302020204030204" pitchFamily="34" charset="0"/>
                <a:cs typeface="Raleway"/>
              </a:endParaRPr>
            </a:p>
            <a:p>
              <a:pPr algn="r"/>
              <a:endParaRPr lang="en-US" sz="2100" b="1" dirty="0">
                <a:latin typeface="Calibri Light" panose="020F0302020204030204" pitchFamily="34" charset="0"/>
                <a:cs typeface="Raleway"/>
              </a:endParaRPr>
            </a:p>
          </p:txBody>
        </p:sp>
        <p:sp>
          <p:nvSpPr>
            <p:cNvPr id="42" name="Freeform 66"/>
            <p:cNvSpPr/>
            <p:nvPr/>
          </p:nvSpPr>
          <p:spPr>
            <a:xfrm flipH="1">
              <a:off x="7065195" y="4494482"/>
              <a:ext cx="92112" cy="107579"/>
            </a:xfrm>
            <a:custGeom>
              <a:avLst/>
              <a:gdLst>
                <a:gd name="connsiteX0" fmla="*/ 0 w 314893"/>
                <a:gd name="connsiteY0" fmla="*/ 0 h 605563"/>
                <a:gd name="connsiteX1" fmla="*/ 314893 w 314893"/>
                <a:gd name="connsiteY1" fmla="*/ 314893 h 605563"/>
                <a:gd name="connsiteX2" fmla="*/ 24223 w 314893"/>
                <a:gd name="connsiteY2" fmla="*/ 605563 h 605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4893" h="605563">
                  <a:moveTo>
                    <a:pt x="0" y="0"/>
                  </a:moveTo>
                  <a:lnTo>
                    <a:pt x="314893" y="314893"/>
                  </a:lnTo>
                  <a:lnTo>
                    <a:pt x="24223" y="605563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  <p:sp>
          <p:nvSpPr>
            <p:cNvPr id="43" name="Rectangle 42"/>
            <p:cNvSpPr/>
            <p:nvPr/>
          </p:nvSpPr>
          <p:spPr>
            <a:xfrm>
              <a:off x="7402434" y="4404051"/>
              <a:ext cx="1635384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0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الوحدة </a:t>
              </a:r>
              <a:r>
                <a:rPr lang="ar-DZ" sz="2000" b="1" dirty="0" err="1" smtClean="0">
                  <a:solidFill>
                    <a:schemeClr val="bg1"/>
                  </a:solidFill>
                  <a:latin typeface="Raleway" panose="020B0003030101060003" pitchFamily="34" charset="0"/>
                </a:rPr>
                <a:t>المفاهيمية</a:t>
              </a:r>
              <a:endParaRPr lang="en-US" sz="24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7885690" y="4669686"/>
              <a:ext cx="482824" cy="41549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r"/>
              <a:r>
                <a:rPr lang="ar-DZ" sz="2100" b="1" dirty="0" smtClean="0">
                  <a:solidFill>
                    <a:schemeClr val="bg1"/>
                  </a:solidFill>
                  <a:latin typeface="Raleway" panose="020B0003030101060003" pitchFamily="34" charset="0"/>
                </a:rPr>
                <a:t>04</a:t>
              </a:r>
              <a:endParaRPr lang="en-US" sz="2100" b="1" dirty="0">
                <a:solidFill>
                  <a:schemeClr val="bg1"/>
                </a:solidFill>
                <a:latin typeface="Raleway" panose="020B0003030101060003" pitchFamily="34" charset="0"/>
              </a:endParaRPr>
            </a:p>
          </p:txBody>
        </p:sp>
      </p:grpSp>
      <p:grpSp>
        <p:nvGrpSpPr>
          <p:cNvPr id="10" name="Groupe 9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7" name="Groupe 6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8" name="Groupe 9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1" name="Groupe 180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grpSp>
                <p:nvGrpSpPr>
                  <p:cNvPr id="19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14" name="Rectangle 13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16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6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8" name="Rectangle 7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17" name="Rectangle 16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sp>
                <p:nvSpPr>
                  <p:cNvPr id="105" name="ZoneTexte 104"/>
                  <p:cNvSpPr txBox="1"/>
                  <p:nvPr/>
                </p:nvSpPr>
                <p:spPr>
                  <a:xfrm>
                    <a:off x="7164288" y="87015"/>
                    <a:ext cx="1872208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400" b="1" dirty="0" smtClean="0">
                        <a:solidFill>
                          <a:schemeClr val="bg1"/>
                        </a:solidFill>
                      </a:rPr>
                      <a:t>المجال المفاهيمي</a:t>
                    </a:r>
                    <a:endParaRPr lang="fr-FR" sz="24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sp>
              <p:nvSpPr>
                <p:cNvPr id="183" name="ZoneTexte 182"/>
                <p:cNvSpPr txBox="1"/>
                <p:nvPr/>
              </p:nvSpPr>
              <p:spPr>
                <a:xfrm>
                  <a:off x="2339752" y="87015"/>
                  <a:ext cx="2592288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Low" rtl="1"/>
                  <a:r>
                    <a:rPr lang="ar-DZ" sz="2400" b="1" dirty="0" smtClean="0">
                      <a:solidFill>
                        <a:schemeClr val="bg1"/>
                      </a:solidFill>
                    </a:rPr>
                    <a:t>بناء المشاريع</a:t>
                  </a:r>
                  <a:endParaRPr lang="fr-FR" sz="24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8" name="Image 37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94" name="Image 93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95" name="ZoneTexte 94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6" name="ZoneTexte 95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97" name="ZoneTexte 96"/>
                <p:cNvSpPr txBox="1"/>
                <p:nvPr/>
              </p:nvSpPr>
              <p:spPr>
                <a:xfrm>
                  <a:off x="2987824" y="6428655"/>
                  <a:ext cx="2016224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45" name="Image 44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16016" y="6274668"/>
                <a:ext cx="1440160" cy="583332"/>
              </a:xfrm>
              <a:prstGeom prst="rect">
                <a:avLst/>
              </a:prstGeom>
            </p:spPr>
          </p:pic>
        </p:grpSp>
        <p:pic>
          <p:nvPicPr>
            <p:cNvPr id="9" name="Image 8"/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2909" y="0"/>
              <a:ext cx="1344795" cy="574358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68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846340"/>
          </a:xfrm>
          <a:prstGeom prst="rect">
            <a:avLst/>
          </a:prstGeom>
        </p:spPr>
      </p:pic>
      <p:pic>
        <p:nvPicPr>
          <p:cNvPr id="70" name="Image 69" descr="11-2-animation-png-hd-thumb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flipH="1">
            <a:off x="6660232" y="2564904"/>
            <a:ext cx="3528392" cy="3384376"/>
          </a:xfrm>
          <a:prstGeom prst="rect">
            <a:avLst/>
          </a:prstGeom>
        </p:spPr>
      </p:pic>
      <p:grpSp>
        <p:nvGrpSpPr>
          <p:cNvPr id="71" name="Group 77"/>
          <p:cNvGrpSpPr/>
          <p:nvPr/>
        </p:nvGrpSpPr>
        <p:grpSpPr>
          <a:xfrm rot="19918279">
            <a:off x="5123972" y="1038807"/>
            <a:ext cx="2814705" cy="3572481"/>
            <a:chOff x="914400" y="1122362"/>
            <a:chExt cx="2080267" cy="3453889"/>
          </a:xfrm>
        </p:grpSpPr>
        <p:sp>
          <p:nvSpPr>
            <p:cNvPr id="72" name="Freeform 6"/>
            <p:cNvSpPr>
              <a:spLocks/>
            </p:cNvSpPr>
            <p:nvPr/>
          </p:nvSpPr>
          <p:spPr bwMode="auto">
            <a:xfrm>
              <a:off x="1259206" y="4208781"/>
              <a:ext cx="1138806" cy="367470"/>
            </a:xfrm>
            <a:custGeom>
              <a:avLst/>
              <a:gdLst/>
              <a:ahLst/>
              <a:cxnLst>
                <a:cxn ang="0">
                  <a:pos x="0" y="35"/>
                </a:cxn>
                <a:cxn ang="0">
                  <a:pos x="433" y="0"/>
                </a:cxn>
                <a:cxn ang="0">
                  <a:pos x="657" y="193"/>
                </a:cxn>
                <a:cxn ang="0">
                  <a:pos x="0" y="35"/>
                </a:cxn>
              </a:cxnLst>
              <a:rect l="0" t="0" r="r" b="b"/>
              <a:pathLst>
                <a:path w="657" h="193">
                  <a:moveTo>
                    <a:pt x="0" y="35"/>
                  </a:moveTo>
                  <a:lnTo>
                    <a:pt x="433" y="0"/>
                  </a:lnTo>
                  <a:lnTo>
                    <a:pt x="657" y="193"/>
                  </a:lnTo>
                  <a:lnTo>
                    <a:pt x="0" y="35"/>
                  </a:lnTo>
                  <a:close/>
                </a:path>
              </a:pathLst>
            </a:custGeom>
            <a:solidFill>
              <a:schemeClr val="accent4">
                <a:lumMod val="5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3" name="Freeform 7"/>
            <p:cNvSpPr>
              <a:spLocks/>
            </p:cNvSpPr>
            <p:nvPr/>
          </p:nvSpPr>
          <p:spPr bwMode="auto">
            <a:xfrm>
              <a:off x="1265879" y="3815606"/>
              <a:ext cx="1728788" cy="48586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1089" y="176"/>
                </a:cxn>
                <a:cxn ang="0">
                  <a:pos x="9" y="265"/>
                </a:cxn>
                <a:cxn ang="0">
                  <a:pos x="0" y="0"/>
                </a:cxn>
              </a:cxnLst>
              <a:rect l="0" t="0" r="r" b="b"/>
              <a:pathLst>
                <a:path w="1089" h="265">
                  <a:moveTo>
                    <a:pt x="0" y="0"/>
                  </a:moveTo>
                  <a:lnTo>
                    <a:pt x="1089" y="176"/>
                  </a:lnTo>
                  <a:lnTo>
                    <a:pt x="9" y="2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4" name="Freeform 8"/>
            <p:cNvSpPr>
              <a:spLocks/>
            </p:cNvSpPr>
            <p:nvPr/>
          </p:nvSpPr>
          <p:spPr bwMode="auto">
            <a:xfrm>
              <a:off x="914400" y="1122362"/>
              <a:ext cx="2062163" cy="3013075"/>
            </a:xfrm>
            <a:custGeom>
              <a:avLst/>
              <a:gdLst/>
              <a:ahLst/>
              <a:cxnLst>
                <a:cxn ang="0">
                  <a:pos x="1299" y="1898"/>
                </a:cxn>
                <a:cxn ang="0">
                  <a:pos x="0" y="1689"/>
                </a:cxn>
                <a:cxn ang="0">
                  <a:pos x="0" y="0"/>
                </a:cxn>
                <a:cxn ang="0">
                  <a:pos x="1299" y="0"/>
                </a:cxn>
                <a:cxn ang="0">
                  <a:pos x="1299" y="1898"/>
                </a:cxn>
              </a:cxnLst>
              <a:rect l="0" t="0" r="r" b="b"/>
              <a:pathLst>
                <a:path w="1299" h="1898">
                  <a:moveTo>
                    <a:pt x="1299" y="1898"/>
                  </a:moveTo>
                  <a:lnTo>
                    <a:pt x="0" y="1689"/>
                  </a:lnTo>
                  <a:lnTo>
                    <a:pt x="0" y="0"/>
                  </a:lnTo>
                  <a:lnTo>
                    <a:pt x="1299" y="0"/>
                  </a:lnTo>
                  <a:lnTo>
                    <a:pt x="1299" y="1898"/>
                  </a:lnTo>
                  <a:close/>
                </a:path>
              </a:pathLst>
            </a:custGeom>
            <a:solidFill>
              <a:schemeClr val="accent4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5" name="ZoneTexte 74"/>
          <p:cNvSpPr txBox="1"/>
          <p:nvPr/>
        </p:nvSpPr>
        <p:spPr>
          <a:xfrm rot="19873273">
            <a:off x="4979967" y="1072738"/>
            <a:ext cx="281849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1900" b="1" dirty="0">
                <a:solidFill>
                  <a:schemeClr val="bg1"/>
                </a:solidFill>
              </a:rPr>
              <a:t>عندما يُذكر أمامنا كلمة "مبرمج" يتبادر الى الأذهان أناس يدرسون علوم </a:t>
            </a:r>
            <a:r>
              <a:rPr lang="ar-DZ" sz="1900" b="1" dirty="0" smtClean="0">
                <a:solidFill>
                  <a:schemeClr val="bg1"/>
                </a:solidFill>
              </a:rPr>
              <a:t>الحاسوب </a:t>
            </a:r>
            <a:r>
              <a:rPr lang="ar-DZ" sz="1900" b="1" dirty="0">
                <a:solidFill>
                  <a:schemeClr val="bg1"/>
                </a:solidFill>
              </a:rPr>
              <a:t>ويعكفون على الخوارزميات ويستخدمون عدة لغات برمجة لا يجيدها إلا مَن في نفس تخصصهم ويتحادثون مع بعضهم البعض بمصطلحات لا يفهمها الآخرون. لكن هناك </a:t>
            </a:r>
            <a:r>
              <a:rPr lang="ar-DZ" sz="1900" b="1" dirty="0" smtClean="0">
                <a:solidFill>
                  <a:schemeClr val="bg1"/>
                </a:solidFill>
              </a:rPr>
              <a:t>لغة </a:t>
            </a:r>
            <a:r>
              <a:rPr lang="ar-DZ" sz="1900" b="1" dirty="0">
                <a:solidFill>
                  <a:schemeClr val="bg1"/>
                </a:solidFill>
              </a:rPr>
              <a:t>برمجة خاصة </a:t>
            </a:r>
            <a:r>
              <a:rPr lang="ar-DZ" sz="1900" b="1" dirty="0" smtClean="0">
                <a:solidFill>
                  <a:schemeClr val="bg1"/>
                </a:solidFill>
              </a:rPr>
              <a:t>بالصغار و المبتدئين.</a:t>
            </a:r>
            <a:endParaRPr lang="fr-FR" sz="1900" dirty="0">
              <a:solidFill>
                <a:schemeClr val="bg1"/>
              </a:solidFill>
            </a:endParaRPr>
          </a:p>
        </p:txBody>
      </p:sp>
      <p:pic>
        <p:nvPicPr>
          <p:cNvPr id="76" name="Image 75" descr="Person-question-2-151x300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77" name="Pensées 76"/>
          <p:cNvSpPr/>
          <p:nvPr/>
        </p:nvSpPr>
        <p:spPr>
          <a:xfrm>
            <a:off x="0" y="980728"/>
            <a:ext cx="4499992" cy="1800200"/>
          </a:xfrm>
          <a:prstGeom prst="cloudCallout">
            <a:avLst>
              <a:gd name="adj1" fmla="val -32375"/>
              <a:gd name="adj2" fmla="val 70431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8" name="ZoneTexte 77"/>
          <p:cNvSpPr txBox="1"/>
          <p:nvPr/>
        </p:nvSpPr>
        <p:spPr>
          <a:xfrm>
            <a:off x="122456" y="1850921"/>
            <a:ext cx="41044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ماهي هذه اللغة؟</a:t>
            </a:r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84" name="Picture 4" descr="C:\Users\RIDHA\Pictures\Image13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123728" y="4149080"/>
            <a:ext cx="1224136" cy="2220466"/>
          </a:xfrm>
          <a:prstGeom prst="rect">
            <a:avLst/>
          </a:prstGeom>
          <a:noFill/>
        </p:spPr>
      </p:pic>
      <p:grpSp>
        <p:nvGrpSpPr>
          <p:cNvPr id="85" name="Groupe 84"/>
          <p:cNvGrpSpPr/>
          <p:nvPr/>
        </p:nvGrpSpPr>
        <p:grpSpPr>
          <a:xfrm>
            <a:off x="2627784" y="3717032"/>
            <a:ext cx="2160240" cy="648072"/>
            <a:chOff x="3563888" y="1268760"/>
            <a:chExt cx="2664296" cy="936104"/>
          </a:xfrm>
        </p:grpSpPr>
        <p:sp>
          <p:nvSpPr>
            <p:cNvPr id="86" name="Pensées 8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25273"/>
                <a:gd name="adj2" fmla="val 9506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87" name="ZoneTexte 8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90" name="Groupe 89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2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2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54" name="Rectangle 53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55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57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58" name="Rectangle 57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56" name="Rectangle 55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49" name="Image 48" descr="3-2-blogging-transparent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50" name="Image 49" descr="12-2-education-png-image-thumb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9" name="ZoneTexte 78"/>
                <p:cNvSpPr txBox="1"/>
                <p:nvPr/>
              </p:nvSpPr>
              <p:spPr>
                <a:xfrm>
                  <a:off x="5796136" y="6453336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0" name="ZoneTexte 7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81" name="ZoneTexte 80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83" name="Image 82" descr="3d print business.png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4716016" y="6309320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4" name="ZoneTexte 33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5" name="ZoneTexte 34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" name="Rectangle 2"/>
          <p:cNvSpPr/>
          <p:nvPr/>
        </p:nvSpPr>
        <p:spPr>
          <a:xfrm>
            <a:off x="467544" y="1215367"/>
            <a:ext cx="379306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هناك لغة </a:t>
            </a:r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برمجة خاصة بالصغار والمبتدئين في 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البرمجة</a:t>
            </a:r>
            <a:r>
              <a:rPr lang="ar-DZ" sz="20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fr-FR" sz="2000" b="1" dirty="0" smtClean="0">
                <a:solidFill>
                  <a:schemeClr val="accent6">
                    <a:lumMod val="75000"/>
                  </a:schemeClr>
                </a:solidFill>
              </a:rPr>
              <a:t>!!!</a:t>
            </a:r>
            <a:endParaRPr lang="fr-FR" sz="20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5" dur="2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6" dur="2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7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8" dur="4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9880"/>
                            </p:stCondLst>
                            <p:childTnLst>
                              <p:par>
                                <p:cTn id="20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10380"/>
                            </p:stCondLst>
                            <p:childTnLst>
                              <p:par>
                                <p:cTn id="2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880"/>
                            </p:stCondLst>
                            <p:childTnLst>
                              <p:par>
                                <p:cTn id="28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1880"/>
                            </p:stCondLst>
                            <p:childTnLst>
                              <p:par>
                                <p:cTn id="3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2380"/>
                            </p:stCondLst>
                            <p:childTnLst>
                              <p:par>
                                <p:cTn id="3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/>
      <p:bldP spid="77" grpId="0" animBg="1"/>
      <p:bldP spid="7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e 24"/>
          <p:cNvGrpSpPr/>
          <p:nvPr/>
        </p:nvGrpSpPr>
        <p:grpSpPr>
          <a:xfrm>
            <a:off x="0" y="620688"/>
            <a:ext cx="9144000" cy="5616623"/>
            <a:chOff x="0" y="620688"/>
            <a:chExt cx="9144000" cy="5616623"/>
          </a:xfrm>
        </p:grpSpPr>
        <p:pic>
          <p:nvPicPr>
            <p:cNvPr id="2051" name="Picture 3" descr="C:\Users\RIDHA\Downloads\صور المعلوماتية\1 (14).jpg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620688"/>
              <a:ext cx="9144000" cy="5616623"/>
            </a:xfrm>
            <a:prstGeom prst="rect">
              <a:avLst/>
            </a:prstGeom>
            <a:noFill/>
          </p:spPr>
        </p:pic>
        <p:sp>
          <p:nvSpPr>
            <p:cNvPr id="24" name="Rectangle 23"/>
            <p:cNvSpPr/>
            <p:nvPr/>
          </p:nvSpPr>
          <p:spPr>
            <a:xfrm>
              <a:off x="4788024" y="1412776"/>
              <a:ext cx="3888432" cy="280831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pic>
        <p:nvPicPr>
          <p:cNvPr id="26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700808"/>
            <a:ext cx="2461483" cy="4233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ZoneTexte 26"/>
          <p:cNvSpPr txBox="1"/>
          <p:nvPr/>
        </p:nvSpPr>
        <p:spPr>
          <a:xfrm>
            <a:off x="4716016" y="155679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المجال المفاهيمي: </a:t>
            </a:r>
            <a:r>
              <a:rPr lang="ar-DZ" sz="2400" b="1" dirty="0" smtClean="0">
                <a:solidFill>
                  <a:schemeClr val="bg1"/>
                </a:solidFill>
              </a:rPr>
              <a:t>بناء المشاريع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8" name="ZoneTexte 27"/>
          <p:cNvSpPr txBox="1"/>
          <p:nvPr/>
        </p:nvSpPr>
        <p:spPr>
          <a:xfrm>
            <a:off x="4788024" y="2276872"/>
            <a:ext cx="3960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400" b="1" dirty="0" smtClean="0">
                <a:solidFill>
                  <a:srgbClr val="FFFF00"/>
                </a:solidFill>
              </a:rPr>
              <a:t>الوحدة المفاهمية: </a:t>
            </a:r>
            <a:r>
              <a:rPr lang="ar-DZ" sz="2400" b="1" dirty="0" smtClean="0">
                <a:solidFill>
                  <a:schemeClr val="bg1"/>
                </a:solidFill>
              </a:rPr>
              <a:t>مشروع متعدد الوسائط 1  </a:t>
            </a:r>
            <a:endParaRPr lang="fr-FR" sz="2400" b="1" dirty="0">
              <a:solidFill>
                <a:srgbClr val="FF0000"/>
              </a:solidFill>
            </a:endParaRPr>
          </a:p>
        </p:txBody>
      </p:sp>
      <p:sp>
        <p:nvSpPr>
          <p:cNvPr id="29" name="ZoneTexte 28"/>
          <p:cNvSpPr txBox="1"/>
          <p:nvPr/>
        </p:nvSpPr>
        <p:spPr>
          <a:xfrm>
            <a:off x="4788024" y="3239978"/>
            <a:ext cx="3960440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Low" rtl="1"/>
            <a:r>
              <a:rPr lang="ar-DZ" sz="2500" b="1" dirty="0" smtClean="0">
                <a:solidFill>
                  <a:srgbClr val="FFFF00"/>
                </a:solidFill>
              </a:rPr>
              <a:t>الحصة التعلمية:</a:t>
            </a:r>
            <a:r>
              <a:rPr lang="ar-DZ" sz="2400" b="1" dirty="0">
                <a:solidFill>
                  <a:schemeClr val="bg1"/>
                </a:solidFill>
              </a:rPr>
              <a:t> </a:t>
            </a:r>
            <a:r>
              <a:rPr lang="ar-DZ" sz="2400" b="1" dirty="0" smtClean="0">
                <a:solidFill>
                  <a:schemeClr val="bg1"/>
                </a:solidFill>
              </a:rPr>
              <a:t>برنامج سكراتش </a:t>
            </a:r>
            <a:r>
              <a:rPr lang="en-US" sz="2400" b="1" dirty="0" err="1" smtClean="0">
                <a:solidFill>
                  <a:schemeClr val="bg1"/>
                </a:solidFill>
              </a:rPr>
              <a:t>scr</a:t>
            </a:r>
            <a:r>
              <a:rPr lang="fr-FR" sz="2400" b="1" dirty="0" err="1" smtClean="0">
                <a:solidFill>
                  <a:schemeClr val="bg1"/>
                </a:solidFill>
              </a:rPr>
              <a:t>atch</a:t>
            </a:r>
            <a:endParaRPr lang="fr-FR" sz="2400" b="1" dirty="0">
              <a:solidFill>
                <a:srgbClr val="FF0000"/>
              </a:solidFill>
            </a:endParaRPr>
          </a:p>
        </p:txBody>
      </p: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5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5" name="Groupe 14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17" name="Rectangle 1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18" name="Groupe 17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1" name="Rectangle 2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19" name="Rectangle 1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0" name="Image 9" descr="3-2-blogging-transparent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1" name="Image 10" descr="12-2-education-png-image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2" name="ZoneTexte 11"/>
                <p:cNvSpPr txBox="1"/>
                <p:nvPr/>
              </p:nvSpPr>
              <p:spPr>
                <a:xfrm>
                  <a:off x="5796136" y="6453336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3" name="ZoneTexte 12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4" name="ZoneTexte 13"/>
                <p:cNvSpPr txBox="1"/>
                <p:nvPr/>
              </p:nvSpPr>
              <p:spPr>
                <a:xfrm>
                  <a:off x="2915816" y="6453336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6" name="Image 5" descr="3d print business.png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4788024" y="6264696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0" name="ZoneTexte 2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المستوى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1" name="ZoneTexte 30"/>
            <p:cNvSpPr txBox="1"/>
            <p:nvPr/>
          </p:nvSpPr>
          <p:spPr>
            <a:xfrm>
              <a:off x="2915816" y="44624"/>
              <a:ext cx="2088232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الثاني المتوسط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2" name="Image 31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4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400" tmFilter="0,0; .5, 1; 1, 1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98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4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400" tmFilter="0,0; .5, 1; 1, 1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700"/>
                            </p:stCondLst>
                            <p:childTnLst>
                              <p:par>
                                <p:cTn id="2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 tmFilter="0,0; .5, 1; 1, 1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Image 6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57" y="620688"/>
            <a:ext cx="9144000" cy="5645442"/>
          </a:xfrm>
          <a:prstGeom prst="rect">
            <a:avLst/>
          </a:prstGeom>
        </p:spPr>
      </p:pic>
      <p:sp>
        <p:nvSpPr>
          <p:cNvPr id="51" name="Shape 856"/>
          <p:cNvSpPr/>
          <p:nvPr/>
        </p:nvSpPr>
        <p:spPr>
          <a:xfrm>
            <a:off x="7646512" y="1998312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2" name="Shape 859"/>
          <p:cNvSpPr/>
          <p:nvPr/>
        </p:nvSpPr>
        <p:spPr>
          <a:xfrm>
            <a:off x="4406152" y="2025944"/>
            <a:ext cx="3188922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3" name="Shape 856"/>
          <p:cNvSpPr/>
          <p:nvPr/>
        </p:nvSpPr>
        <p:spPr>
          <a:xfrm>
            <a:off x="7646513" y="3249056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4" name="Shape 859"/>
          <p:cNvSpPr/>
          <p:nvPr/>
        </p:nvSpPr>
        <p:spPr>
          <a:xfrm>
            <a:off x="4355976" y="3276688"/>
            <a:ext cx="3239098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55" name="ZoneTexte 54"/>
          <p:cNvSpPr txBox="1"/>
          <p:nvPr/>
        </p:nvSpPr>
        <p:spPr>
          <a:xfrm>
            <a:off x="7634059" y="1998312"/>
            <a:ext cx="5885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1-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6" name="ZoneTexte 55"/>
          <p:cNvSpPr txBox="1"/>
          <p:nvPr/>
        </p:nvSpPr>
        <p:spPr>
          <a:xfrm>
            <a:off x="7646513" y="3249056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2-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57" name="ZoneTexte 56"/>
          <p:cNvSpPr txBox="1"/>
          <p:nvPr/>
        </p:nvSpPr>
        <p:spPr>
          <a:xfrm>
            <a:off x="4550168" y="2070320"/>
            <a:ext cx="30243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bg1"/>
                </a:solidFill>
              </a:rPr>
              <a:t>مفهوم برنامج سكراتش </a:t>
            </a:r>
            <a:r>
              <a:rPr lang="en-US" sz="2000" b="1" dirty="0" err="1" smtClean="0">
                <a:solidFill>
                  <a:schemeClr val="bg1"/>
                </a:solidFill>
              </a:rPr>
              <a:t>scr</a:t>
            </a:r>
            <a:r>
              <a:rPr lang="fr-FR" sz="2000" b="1" dirty="0" smtClean="0">
                <a:solidFill>
                  <a:schemeClr val="bg1"/>
                </a:solidFill>
              </a:rPr>
              <a:t>a</a:t>
            </a:r>
            <a:r>
              <a:rPr lang="en-US" sz="2000" b="1" dirty="0" err="1" smtClean="0">
                <a:solidFill>
                  <a:schemeClr val="bg1"/>
                </a:solidFill>
              </a:rPr>
              <a:t>tch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58" name="ZoneTexte 57"/>
          <p:cNvSpPr txBox="1"/>
          <p:nvPr/>
        </p:nvSpPr>
        <p:spPr>
          <a:xfrm>
            <a:off x="4485104" y="3321064"/>
            <a:ext cx="315346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>
                <a:solidFill>
                  <a:schemeClr val="bg1"/>
                </a:solidFill>
              </a:rPr>
              <a:t>الهدف من </a:t>
            </a:r>
            <a:r>
              <a:rPr lang="ar-DZ" sz="1900" b="1" dirty="0">
                <a:solidFill>
                  <a:schemeClr val="bg1"/>
                </a:solidFill>
              </a:rPr>
              <a:t>برنامج سكراتش </a:t>
            </a:r>
            <a:r>
              <a:rPr lang="en-US" sz="1900" b="1" dirty="0" err="1">
                <a:solidFill>
                  <a:schemeClr val="bg1"/>
                </a:solidFill>
              </a:rPr>
              <a:t>scr</a:t>
            </a:r>
            <a:r>
              <a:rPr lang="fr-FR" sz="1900" b="1" dirty="0">
                <a:solidFill>
                  <a:schemeClr val="bg1"/>
                </a:solidFill>
              </a:rPr>
              <a:t>a</a:t>
            </a:r>
            <a:r>
              <a:rPr lang="en-US" sz="1900" b="1" dirty="0" err="1">
                <a:solidFill>
                  <a:schemeClr val="bg1"/>
                </a:solidFill>
              </a:rPr>
              <a:t>tch</a:t>
            </a:r>
            <a:endParaRPr lang="fr-FR" sz="1900" b="1" dirty="0">
              <a:solidFill>
                <a:schemeClr val="bg1"/>
              </a:solidFill>
            </a:endParaRPr>
          </a:p>
        </p:txBody>
      </p:sp>
      <p:sp>
        <p:nvSpPr>
          <p:cNvPr id="71" name="Shape 856"/>
          <p:cNvSpPr/>
          <p:nvPr/>
        </p:nvSpPr>
        <p:spPr>
          <a:xfrm>
            <a:off x="4241737" y="2636912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2" name="Shape 859"/>
          <p:cNvSpPr/>
          <p:nvPr/>
        </p:nvSpPr>
        <p:spPr>
          <a:xfrm>
            <a:off x="1188061" y="2664544"/>
            <a:ext cx="3002237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3" name="ZoneTexte 72"/>
          <p:cNvSpPr txBox="1"/>
          <p:nvPr/>
        </p:nvSpPr>
        <p:spPr>
          <a:xfrm>
            <a:off x="4241737" y="2636912"/>
            <a:ext cx="546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3-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74" name="ZoneTexte 73"/>
          <p:cNvSpPr txBox="1"/>
          <p:nvPr/>
        </p:nvSpPr>
        <p:spPr>
          <a:xfrm>
            <a:off x="1404085" y="2706232"/>
            <a:ext cx="2736305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>
                <a:solidFill>
                  <a:schemeClr val="bg1"/>
                </a:solidFill>
              </a:rPr>
              <a:t>مزايا </a:t>
            </a:r>
            <a:r>
              <a:rPr lang="ar-DZ" sz="1900" b="1" dirty="0">
                <a:solidFill>
                  <a:schemeClr val="bg1"/>
                </a:solidFill>
              </a:rPr>
              <a:t>برنامج سكراتش </a:t>
            </a:r>
            <a:r>
              <a:rPr lang="en-US" sz="1900" b="1" dirty="0" err="1">
                <a:solidFill>
                  <a:schemeClr val="bg1"/>
                </a:solidFill>
              </a:rPr>
              <a:t>scr</a:t>
            </a:r>
            <a:r>
              <a:rPr lang="fr-FR" sz="1900" b="1" dirty="0">
                <a:solidFill>
                  <a:schemeClr val="bg1"/>
                </a:solidFill>
              </a:rPr>
              <a:t>a</a:t>
            </a:r>
            <a:r>
              <a:rPr lang="en-US" sz="1900" b="1" dirty="0" err="1">
                <a:solidFill>
                  <a:schemeClr val="bg1"/>
                </a:solidFill>
              </a:rPr>
              <a:t>tch</a:t>
            </a:r>
            <a:endParaRPr lang="fr-FR" sz="1900" b="1" dirty="0">
              <a:solidFill>
                <a:schemeClr val="bg1"/>
              </a:solidFill>
            </a:endParaRPr>
          </a:p>
        </p:txBody>
      </p:sp>
      <p:sp>
        <p:nvSpPr>
          <p:cNvPr id="45" name="Shape 856"/>
          <p:cNvSpPr/>
          <p:nvPr/>
        </p:nvSpPr>
        <p:spPr>
          <a:xfrm>
            <a:off x="4241738" y="384720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6" name="Shape 859"/>
          <p:cNvSpPr/>
          <p:nvPr/>
        </p:nvSpPr>
        <p:spPr>
          <a:xfrm>
            <a:off x="1223628" y="3874836"/>
            <a:ext cx="2966672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47" name="ZoneTexte 46"/>
          <p:cNvSpPr txBox="1"/>
          <p:nvPr/>
        </p:nvSpPr>
        <p:spPr>
          <a:xfrm>
            <a:off x="4211961" y="3847204"/>
            <a:ext cx="54628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chemeClr val="bg1"/>
                </a:solidFill>
              </a:rPr>
              <a:t>4-</a:t>
            </a:r>
            <a:endParaRPr lang="fr-FR" sz="2800" b="1" dirty="0">
              <a:solidFill>
                <a:schemeClr val="bg1"/>
              </a:solidFill>
            </a:endParaRPr>
          </a:p>
        </p:txBody>
      </p:sp>
      <p:sp>
        <p:nvSpPr>
          <p:cNvPr id="48" name="ZoneTexte 47"/>
          <p:cNvSpPr txBox="1"/>
          <p:nvPr/>
        </p:nvSpPr>
        <p:spPr>
          <a:xfrm>
            <a:off x="1527532" y="3933056"/>
            <a:ext cx="2612422" cy="3847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1900" b="1" dirty="0" smtClean="0">
                <a:solidFill>
                  <a:schemeClr val="bg1"/>
                </a:solidFill>
              </a:rPr>
              <a:t>تحميل وتثبيت </a:t>
            </a:r>
            <a:r>
              <a:rPr lang="ar-DZ" sz="1900" b="1" dirty="0">
                <a:solidFill>
                  <a:schemeClr val="bg1"/>
                </a:solidFill>
              </a:rPr>
              <a:t>برنامج </a:t>
            </a:r>
            <a:r>
              <a:rPr lang="ar-DZ" sz="1900" b="1" dirty="0" smtClean="0">
                <a:solidFill>
                  <a:schemeClr val="bg1"/>
                </a:solidFill>
              </a:rPr>
              <a:t>سكراتش</a:t>
            </a:r>
            <a:endParaRPr lang="fr-FR" sz="1900" b="1" dirty="0">
              <a:solidFill>
                <a:schemeClr val="bg1"/>
              </a:solidFill>
            </a:endParaRPr>
          </a:p>
        </p:txBody>
      </p:sp>
      <p:grpSp>
        <p:nvGrpSpPr>
          <p:cNvPr id="3" name="Groupe 2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2" name="Groupe 1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80" name="Groupe 79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75" name="Image 74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76" name="Image 75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77" name="ZoneTexte 76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8" name="ZoneTexte 77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79" name="ZoneTexte 78"/>
                <p:cNvSpPr txBox="1"/>
                <p:nvPr/>
              </p:nvSpPr>
              <p:spPr>
                <a:xfrm>
                  <a:off x="2987824" y="6413266"/>
                  <a:ext cx="20882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59" name="Image 58" descr="3d print busine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88024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60" name="ZoneTexte 5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63" name="ZoneTexte 62"/>
          <p:cNvSpPr txBox="1"/>
          <p:nvPr/>
        </p:nvSpPr>
        <p:spPr>
          <a:xfrm>
            <a:off x="2267744" y="446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برنامج سكراتش </a:t>
            </a:r>
            <a:r>
              <a:rPr lang="fr-FR" sz="2800" b="1" dirty="0" smtClean="0">
                <a:solidFill>
                  <a:schemeClr val="bg1"/>
                </a:solidFill>
              </a:rPr>
              <a:t>scratch</a:t>
            </a:r>
            <a:endParaRPr lang="fr-FR" sz="2800" b="1" dirty="0">
              <a:solidFill>
                <a:schemeClr val="bg1"/>
              </a:solidFill>
            </a:endParaRPr>
          </a:p>
        </p:txBody>
      </p:sp>
      <p:pic>
        <p:nvPicPr>
          <p:cNvPr id="50" name="Picture 6" descr="G:\Bibliotaque video\desigin\3D man\Vector.Character.Plarinum.Bundle.eps-ai-psd-png_2\Vector.Character.Plarinum.Bundle.eps-ai-psd-png\malepack2\Young_Businessman_Vector_Character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1884525"/>
            <a:ext cx="1944216" cy="364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9" name="Image 38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100"/>
                            </p:stCondLst>
                            <p:childTnLst>
                              <p:par>
                                <p:cTn id="2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6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9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400"/>
                            </p:stCondLst>
                            <p:childTnLst>
                              <p:par>
                                <p:cTn id="4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3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3700"/>
                            </p:stCondLst>
                            <p:childTnLst>
                              <p:par>
                                <p:cTn id="4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2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4500"/>
                            </p:stCondLst>
                            <p:childTnLst>
                              <p:par>
                                <p:cTn id="5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0"/>
                            </p:stCondLst>
                            <p:childTnLst>
                              <p:par>
                                <p:cTn id="6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3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300"/>
                            </p:stCondLst>
                            <p:childTnLst>
                              <p:par>
                                <p:cTn id="6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800"/>
                            </p:stCondLst>
                            <p:childTnLst>
                              <p:par>
                                <p:cTn id="7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3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100"/>
                            </p:stCondLst>
                            <p:childTnLst>
                              <p:par>
                                <p:cTn id="7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6600"/>
                            </p:stCondLst>
                            <p:childTnLst>
                              <p:par>
                                <p:cTn id="8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 animBg="1"/>
      <p:bldP spid="54" grpId="0" animBg="1"/>
      <p:bldP spid="55" grpId="0"/>
      <p:bldP spid="56" grpId="0"/>
      <p:bldP spid="57" grpId="0"/>
      <p:bldP spid="58" grpId="0"/>
      <p:bldP spid="71" grpId="0" animBg="1"/>
      <p:bldP spid="72" grpId="0" animBg="1"/>
      <p:bldP spid="73" grpId="0"/>
      <p:bldP spid="74" grpId="0"/>
      <p:bldP spid="45" grpId="0" animBg="1"/>
      <p:bldP spid="46" grpId="0" animBg="1"/>
      <p:bldP spid="47" grpId="0"/>
      <p:bldP spid="4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pic>
        <p:nvPicPr>
          <p:cNvPr id="5" name="Image 4" descr="Person-question-2-151x300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108520" y="2204864"/>
            <a:ext cx="1438275" cy="3289548"/>
          </a:xfrm>
          <a:prstGeom prst="rect">
            <a:avLst/>
          </a:prstGeom>
        </p:spPr>
      </p:pic>
      <p:sp>
        <p:nvSpPr>
          <p:cNvPr id="6" name="Pensées 5"/>
          <p:cNvSpPr/>
          <p:nvPr/>
        </p:nvSpPr>
        <p:spPr>
          <a:xfrm>
            <a:off x="827584" y="980728"/>
            <a:ext cx="3672408" cy="1800200"/>
          </a:xfrm>
          <a:prstGeom prst="cloudCallout">
            <a:avLst>
              <a:gd name="adj1" fmla="val -49179"/>
              <a:gd name="adj2" fmla="val 74222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6" name="ZoneTexte 25"/>
          <p:cNvSpPr txBox="1"/>
          <p:nvPr/>
        </p:nvSpPr>
        <p:spPr>
          <a:xfrm>
            <a:off x="899592" y="1558533"/>
            <a:ext cx="35283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ماذا نقصد ببرنامج سكراتش </a:t>
            </a:r>
            <a:r>
              <a:rPr lang="en-US" sz="2000" b="1" dirty="0" smtClean="0">
                <a:solidFill>
                  <a:schemeClr val="accent6">
                    <a:lumMod val="75000"/>
                  </a:schemeClr>
                </a:solidFill>
              </a:rPr>
              <a:t>scratch</a:t>
            </a:r>
            <a:r>
              <a:rPr lang="ar-DZ" sz="2000" b="1" dirty="0" smtClean="0">
                <a:solidFill>
                  <a:schemeClr val="accent6">
                    <a:lumMod val="75000"/>
                  </a:schemeClr>
                </a:solidFill>
              </a:rPr>
              <a:t>؟</a:t>
            </a:r>
            <a:endParaRPr lang="fr-FR" sz="2000" b="1" dirty="0">
              <a:ln w="1905"/>
              <a:solidFill>
                <a:schemeClr val="accent6">
                  <a:lumMod val="75000"/>
                </a:schemeClr>
              </a:soli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27" name="Picture 4" descr="C:\Users\RIDHA\Pictures\Image13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944" y="3655643"/>
            <a:ext cx="1584176" cy="2713903"/>
          </a:xfrm>
          <a:prstGeom prst="rect">
            <a:avLst/>
          </a:prstGeom>
          <a:noFill/>
        </p:spPr>
      </p:pic>
      <p:grpSp>
        <p:nvGrpSpPr>
          <p:cNvPr id="28" name="Groupe 27"/>
          <p:cNvGrpSpPr/>
          <p:nvPr/>
        </p:nvGrpSpPr>
        <p:grpSpPr>
          <a:xfrm>
            <a:off x="5004048" y="2996952"/>
            <a:ext cx="2160240" cy="792088"/>
            <a:chOff x="3563888" y="1268760"/>
            <a:chExt cx="2664296" cy="936104"/>
          </a:xfrm>
        </p:grpSpPr>
        <p:sp>
          <p:nvSpPr>
            <p:cNvPr id="29" name="Pensées 28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-31591"/>
                <a:gd name="adj2" fmla="val 110567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30" name="ZoneTexte 29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8" name="Groupe 7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9" name="Groupe 8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21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4" name="Image 13" descr="3-2-blogging-transparent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5" name="Image 14" descr="12-2-education-png-image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6" name="ZoneTexte 15"/>
                <p:cNvSpPr txBox="1"/>
                <p:nvPr/>
              </p:nvSpPr>
              <p:spPr>
                <a:xfrm>
                  <a:off x="5796136" y="6428655"/>
                  <a:ext cx="2664296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8" name="ZoneTexte 17"/>
                <p:cNvSpPr txBox="1"/>
                <p:nvPr/>
              </p:nvSpPr>
              <p:spPr>
                <a:xfrm>
                  <a:off x="2915816" y="6428655"/>
                  <a:ext cx="208823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10" name="Image 9" descr="3d print business.png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4716016" y="6237312"/>
                <a:ext cx="1440160" cy="620688"/>
              </a:xfrm>
              <a:prstGeom prst="rect">
                <a:avLst/>
              </a:prstGeom>
            </p:spPr>
          </p:pic>
        </p:grpSp>
        <p:sp>
          <p:nvSpPr>
            <p:cNvPr id="31" name="ZoneTexte 30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ZoneTexte 31"/>
            <p:cNvSpPr txBox="1"/>
            <p:nvPr/>
          </p:nvSpPr>
          <p:spPr>
            <a:xfrm>
              <a:off x="2267744" y="44624"/>
              <a:ext cx="32403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برنامج سكراتش </a:t>
              </a:r>
              <a:r>
                <a:rPr lang="fr-FR" sz="2800" b="1" dirty="0" smtClean="0">
                  <a:solidFill>
                    <a:schemeClr val="bg1"/>
                  </a:solidFill>
                </a:rPr>
                <a:t>scratch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3" name="Image 3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Image 36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97" name="Shape 856"/>
          <p:cNvSpPr/>
          <p:nvPr/>
        </p:nvSpPr>
        <p:spPr>
          <a:xfrm>
            <a:off x="8346193" y="76470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8" name="Shape 859"/>
          <p:cNvSpPr/>
          <p:nvPr/>
        </p:nvSpPr>
        <p:spPr>
          <a:xfrm>
            <a:off x="4858579" y="792336"/>
            <a:ext cx="3436175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99" name="ZoneTexte 98"/>
          <p:cNvSpPr txBox="1"/>
          <p:nvPr/>
        </p:nvSpPr>
        <p:spPr>
          <a:xfrm>
            <a:off x="8346193" y="764704"/>
            <a:ext cx="537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1</a:t>
            </a:r>
            <a:r>
              <a:rPr lang="fr-FR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100" name="ZoneTexte 99"/>
          <p:cNvSpPr txBox="1"/>
          <p:nvPr/>
        </p:nvSpPr>
        <p:spPr>
          <a:xfrm>
            <a:off x="4964494" y="803614"/>
            <a:ext cx="328466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r" rtl="1"/>
            <a:r>
              <a:rPr lang="ar-DZ" sz="2200" b="1" dirty="0" smtClean="0">
                <a:solidFill>
                  <a:srgbClr val="FFFF00"/>
                </a:solidFill>
              </a:rPr>
              <a:t>مفهوم برنامج سكراتش </a:t>
            </a:r>
            <a:r>
              <a:rPr lang="en-US" sz="2200" b="1" dirty="0" err="1" smtClean="0">
                <a:solidFill>
                  <a:srgbClr val="FFFF00"/>
                </a:solidFill>
              </a:rPr>
              <a:t>scr</a:t>
            </a:r>
            <a:r>
              <a:rPr lang="fr-FR" sz="2200" b="1" dirty="0" err="1" smtClean="0">
                <a:solidFill>
                  <a:srgbClr val="FFFF00"/>
                </a:solidFill>
              </a:rPr>
              <a:t>atch</a:t>
            </a:r>
            <a:r>
              <a:rPr lang="ar-DZ" sz="2200" b="1" dirty="0" smtClean="0">
                <a:solidFill>
                  <a:srgbClr val="FFFF00"/>
                </a:solidFill>
              </a:rPr>
              <a:t>:  </a:t>
            </a:r>
            <a:endParaRPr lang="en-US" sz="2200" b="1" dirty="0" smtClean="0">
              <a:solidFill>
                <a:srgbClr val="FFFF00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6" name="Groupe 195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32" name="Image 31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33" name="Image 32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34" name="ZoneTexte 33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5" name="ZoneTexte 34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36" name="ZoneTexte 35"/>
                  <p:cNvSpPr txBox="1"/>
                  <p:nvPr/>
                </p:nvSpPr>
                <p:spPr>
                  <a:xfrm>
                    <a:off x="2987824" y="6413266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52" name="Image 51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54" name="ZoneTexte 5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6" name="ZoneTexte 55"/>
            <p:cNvSpPr txBox="1"/>
            <p:nvPr/>
          </p:nvSpPr>
          <p:spPr>
            <a:xfrm>
              <a:off x="2267744" y="44624"/>
              <a:ext cx="32403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برنامج سكراتش </a:t>
              </a:r>
              <a:r>
                <a:rPr lang="fr-FR" sz="2800" b="1" dirty="0" smtClean="0">
                  <a:solidFill>
                    <a:schemeClr val="bg1"/>
                  </a:solidFill>
                </a:rPr>
                <a:t>scratch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8" name="Rectangle à coins arrondis 57"/>
          <p:cNvSpPr/>
          <p:nvPr/>
        </p:nvSpPr>
        <p:spPr>
          <a:xfrm flipH="1" flipV="1">
            <a:off x="572668" y="1897050"/>
            <a:ext cx="8094622" cy="1440160"/>
          </a:xfrm>
          <a:prstGeom prst="wedgeRoundRectCallout">
            <a:avLst>
              <a:gd name="adj1" fmla="val -19782"/>
              <a:gd name="adj2" fmla="val 86869"/>
              <a:gd name="adj3" fmla="val 16667"/>
            </a:avLst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Rectangle 58"/>
          <p:cNvSpPr/>
          <p:nvPr/>
        </p:nvSpPr>
        <p:spPr>
          <a:xfrm>
            <a:off x="763662" y="1992865"/>
            <a:ext cx="77768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rtl="1"/>
            <a:r>
              <a:rPr lang="ar-DZ" sz="2400" b="1" dirty="0">
                <a:solidFill>
                  <a:schemeClr val="bg1"/>
                </a:solidFill>
              </a:rPr>
              <a:t>عبارة عن  لغة برمجة رسومية تسمح بإنشاء الألعاب والقصص التفاعلية و الرسوم المتحركة بكائنات رسومية تبرمج بمقاطع برمجية (مجموعة من اللبنات) مع بعض المعطيات والأوامر.</a:t>
            </a:r>
            <a:endParaRPr lang="fr-FR" sz="2400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pic>
        <p:nvPicPr>
          <p:cNvPr id="29" name="Image 28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6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" grpId="0" animBg="1"/>
      <p:bldP spid="98" grpId="0" animBg="1"/>
      <p:bldP spid="99" grpId="0"/>
      <p:bldP spid="100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Image 3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12" name="Pensées 11"/>
          <p:cNvSpPr/>
          <p:nvPr/>
        </p:nvSpPr>
        <p:spPr>
          <a:xfrm>
            <a:off x="827583" y="1482842"/>
            <a:ext cx="5959150" cy="1802142"/>
          </a:xfrm>
          <a:prstGeom prst="cloudCallout">
            <a:avLst>
              <a:gd name="adj1" fmla="val -44785"/>
              <a:gd name="adj2" fmla="val 59707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3" name="ZoneTexte 12"/>
          <p:cNvSpPr txBox="1"/>
          <p:nvPr/>
        </p:nvSpPr>
        <p:spPr>
          <a:xfrm>
            <a:off x="1187624" y="2113692"/>
            <a:ext cx="52381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ماهو الهدف من استعمال برنامج سكراتش؟</a:t>
            </a:r>
            <a:endParaRPr lang="ar-DZ" sz="28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pic>
        <p:nvPicPr>
          <p:cNvPr id="14" name="Picture 4" descr="C:\Users\RIDHA\Pictures\Image13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 flipH="1">
            <a:off x="7740352" y="2996952"/>
            <a:ext cx="1584176" cy="2796530"/>
          </a:xfrm>
          <a:prstGeom prst="rect">
            <a:avLst/>
          </a:prstGeom>
          <a:noFill/>
        </p:spPr>
      </p:pic>
      <p:grpSp>
        <p:nvGrpSpPr>
          <p:cNvPr id="15" name="Groupe 14"/>
          <p:cNvGrpSpPr/>
          <p:nvPr/>
        </p:nvGrpSpPr>
        <p:grpSpPr>
          <a:xfrm>
            <a:off x="6660232" y="1916832"/>
            <a:ext cx="2448272" cy="1008112"/>
            <a:chOff x="3563888" y="1268760"/>
            <a:chExt cx="2664296" cy="936104"/>
          </a:xfrm>
        </p:grpSpPr>
        <p:sp>
          <p:nvSpPr>
            <p:cNvPr id="16" name="Pensées 15"/>
            <p:cNvSpPr/>
            <p:nvPr/>
          </p:nvSpPr>
          <p:spPr>
            <a:xfrm>
              <a:off x="3563888" y="1268760"/>
              <a:ext cx="2664296" cy="936104"/>
            </a:xfrm>
            <a:prstGeom prst="cloudCallout">
              <a:avLst>
                <a:gd name="adj1" fmla="val 3890"/>
                <a:gd name="adj2" fmla="val 120361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 rtl="1"/>
              <a:endParaRPr lang="fr-FR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ZoneTexte 16"/>
            <p:cNvSpPr txBox="1"/>
            <p:nvPr/>
          </p:nvSpPr>
          <p:spPr>
            <a:xfrm>
              <a:off x="3779913" y="1484784"/>
              <a:ext cx="2304256" cy="5779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rtl="1"/>
              <a:r>
                <a:rPr lang="ar-DZ" sz="2000" b="1" dirty="0" smtClean="0"/>
                <a:t>الإجابة برفع الإصبع</a:t>
              </a:r>
            </a:p>
          </p:txBody>
        </p:sp>
      </p:grpSp>
      <p:pic>
        <p:nvPicPr>
          <p:cNvPr id="32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612576" y="3212976"/>
            <a:ext cx="2941886" cy="2952328"/>
          </a:xfrm>
          <a:prstGeom prst="rect">
            <a:avLst/>
          </a:prstGeom>
          <a:noFill/>
        </p:spPr>
      </p:pic>
      <p:grpSp>
        <p:nvGrpSpPr>
          <p:cNvPr id="2" name="Groupe 1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4" name="Groupe 3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9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21" name="Rectangle 20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22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24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25" name="Rectangle 24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23" name="Rectangle 22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27" name="Image 26" descr="3-2-blogging-transparent-thumb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28" name="Image 27" descr="12-2-education-png-image-thumb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29" name="ZoneTexte 28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0" name="ZoneTexte 29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31" name="ZoneTexte 30"/>
                <p:cNvSpPr txBox="1"/>
                <p:nvPr/>
              </p:nvSpPr>
              <p:spPr>
                <a:xfrm>
                  <a:off x="2987824" y="6413266"/>
                  <a:ext cx="20882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pic>
              <p:nvPicPr>
                <p:cNvPr id="33" name="Image 32" descr="3d print business.png"/>
                <p:cNvPicPr>
                  <a:picLocks noChangeAspect="1"/>
                </p:cNvPicPr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4" name="ZoneTexte 3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9" name="ZoneTexte 38"/>
            <p:cNvSpPr txBox="1"/>
            <p:nvPr/>
          </p:nvSpPr>
          <p:spPr>
            <a:xfrm>
              <a:off x="2267744" y="44624"/>
              <a:ext cx="32403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برنامج سكراتش </a:t>
              </a:r>
              <a:r>
                <a:rPr lang="fr-FR" sz="2800" b="1" dirty="0" smtClean="0">
                  <a:solidFill>
                    <a:schemeClr val="bg1"/>
                  </a:solidFill>
                </a:rPr>
                <a:t>scratch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35" name="Image 3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20" name="Shape 856"/>
          <p:cNvSpPr/>
          <p:nvPr/>
        </p:nvSpPr>
        <p:spPr>
          <a:xfrm>
            <a:off x="8316416" y="649618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1" name="Shape 859"/>
          <p:cNvSpPr/>
          <p:nvPr/>
        </p:nvSpPr>
        <p:spPr>
          <a:xfrm>
            <a:off x="3707904" y="677250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22" name="ZoneTexte 21"/>
          <p:cNvSpPr txBox="1"/>
          <p:nvPr/>
        </p:nvSpPr>
        <p:spPr>
          <a:xfrm>
            <a:off x="8316416" y="649618"/>
            <a:ext cx="5760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2-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23" name="ZoneTexte 22"/>
          <p:cNvSpPr txBox="1"/>
          <p:nvPr/>
        </p:nvSpPr>
        <p:spPr>
          <a:xfrm>
            <a:off x="3894151" y="702462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الهدف من برنامج سكراتش </a:t>
            </a:r>
            <a:r>
              <a:rPr lang="en-US" sz="2400" b="1" dirty="0" err="1" smtClean="0">
                <a:solidFill>
                  <a:srgbClr val="FFFF00"/>
                </a:solidFill>
              </a:rPr>
              <a:t>scr</a:t>
            </a:r>
            <a:r>
              <a:rPr lang="fr-FR" sz="2400" b="1" dirty="0" err="1" smtClean="0">
                <a:solidFill>
                  <a:srgbClr val="FFFF00"/>
                </a:solidFill>
              </a:rPr>
              <a:t>atch</a:t>
            </a:r>
            <a:r>
              <a:rPr lang="ar-DZ" sz="2400" b="1" dirty="0" smtClean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grpSp>
        <p:nvGrpSpPr>
          <p:cNvPr id="57" name="Group 63"/>
          <p:cNvGrpSpPr/>
          <p:nvPr/>
        </p:nvGrpSpPr>
        <p:grpSpPr>
          <a:xfrm flipH="1">
            <a:off x="827584" y="3660553"/>
            <a:ext cx="8007554" cy="1055768"/>
            <a:chOff x="1120775" y="1730534"/>
            <a:chExt cx="8007554" cy="1280160"/>
          </a:xfrm>
        </p:grpSpPr>
        <p:cxnSp>
          <p:nvCxnSpPr>
            <p:cNvPr id="58" name="Straight Connector 64"/>
            <p:cNvCxnSpPr/>
            <p:nvPr/>
          </p:nvCxnSpPr>
          <p:spPr>
            <a:xfrm rot="5400000">
              <a:off x="701040" y="2369820"/>
              <a:ext cx="1280160" cy="158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9" name="Group 18"/>
            <p:cNvGrpSpPr/>
            <p:nvPr/>
          </p:nvGrpSpPr>
          <p:grpSpPr>
            <a:xfrm>
              <a:off x="1120775" y="1838325"/>
              <a:ext cx="8007554" cy="1077920"/>
              <a:chOff x="3810000" y="1948650"/>
              <a:chExt cx="8007554" cy="1077920"/>
            </a:xfrm>
          </p:grpSpPr>
          <p:sp>
            <p:nvSpPr>
              <p:cNvPr id="66" name="Trapezoid 66"/>
              <p:cNvSpPr/>
              <p:nvPr/>
            </p:nvSpPr>
            <p:spPr>
              <a:xfrm rot="5400000" flipH="1">
                <a:off x="3665141" y="2318934"/>
                <a:ext cx="892968" cy="152400"/>
              </a:xfrm>
              <a:prstGeom prst="trapezoid">
                <a:avLst>
                  <a:gd name="adj" fmla="val 62501"/>
                </a:avLst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Parallelogram 67"/>
              <p:cNvSpPr/>
              <p:nvPr/>
            </p:nvSpPr>
            <p:spPr>
              <a:xfrm rot="16200000" flipV="1">
                <a:off x="3508373" y="2343942"/>
                <a:ext cx="984254" cy="381000"/>
              </a:xfrm>
              <a:prstGeom prst="parallelogram">
                <a:avLst>
                  <a:gd name="adj" fmla="val 63243"/>
                </a:avLst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Freeform 68"/>
              <p:cNvSpPr/>
              <p:nvPr/>
            </p:nvSpPr>
            <p:spPr>
              <a:xfrm flipV="1">
                <a:off x="3810000" y="2286000"/>
                <a:ext cx="8007554" cy="74057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93" name="Groupe 92"/>
          <p:cNvGrpSpPr/>
          <p:nvPr/>
        </p:nvGrpSpPr>
        <p:grpSpPr>
          <a:xfrm>
            <a:off x="827584" y="1268760"/>
            <a:ext cx="8007554" cy="1152127"/>
            <a:chOff x="849590" y="1340768"/>
            <a:chExt cx="8007554" cy="1280160"/>
          </a:xfrm>
        </p:grpSpPr>
        <p:cxnSp>
          <p:nvCxnSpPr>
            <p:cNvPr id="70" name="Straight Connector 70"/>
            <p:cNvCxnSpPr/>
            <p:nvPr/>
          </p:nvCxnSpPr>
          <p:spPr>
            <a:xfrm rot="16200000" flipH="1">
              <a:off x="7984535" y="1980010"/>
              <a:ext cx="1280160" cy="1676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1" name="Group 24"/>
            <p:cNvGrpSpPr/>
            <p:nvPr/>
          </p:nvGrpSpPr>
          <p:grpSpPr>
            <a:xfrm flipH="1">
              <a:off x="849590" y="1448560"/>
              <a:ext cx="8007554" cy="1044336"/>
              <a:chOff x="3810000" y="1948650"/>
              <a:chExt cx="7587978" cy="1077920"/>
            </a:xfrm>
          </p:grpSpPr>
          <p:sp>
            <p:nvSpPr>
              <p:cNvPr id="72" name="Trapezoid 72"/>
              <p:cNvSpPr/>
              <p:nvPr/>
            </p:nvSpPr>
            <p:spPr>
              <a:xfrm rot="5400000" flipH="1">
                <a:off x="3665141" y="2318934"/>
                <a:ext cx="892968" cy="152400"/>
              </a:xfrm>
              <a:prstGeom prst="trapezoid">
                <a:avLst>
                  <a:gd name="adj" fmla="val 62501"/>
                </a:avLst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Parallelogram 73"/>
              <p:cNvSpPr/>
              <p:nvPr/>
            </p:nvSpPr>
            <p:spPr>
              <a:xfrm rot="16200000" flipV="1">
                <a:off x="3508373" y="2343942"/>
                <a:ext cx="984254" cy="381000"/>
              </a:xfrm>
              <a:prstGeom prst="parallelogram">
                <a:avLst>
                  <a:gd name="adj" fmla="val 63243"/>
                </a:avLst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Freeform 74"/>
              <p:cNvSpPr/>
              <p:nvPr/>
            </p:nvSpPr>
            <p:spPr>
              <a:xfrm flipV="1">
                <a:off x="3810000" y="2286000"/>
                <a:ext cx="7587978" cy="74057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" name="ZoneTexte 1"/>
          <p:cNvSpPr txBox="1"/>
          <p:nvPr/>
        </p:nvSpPr>
        <p:spPr>
          <a:xfrm>
            <a:off x="2411760" y="1772816"/>
            <a:ext cx="6282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- </a:t>
            </a:r>
            <a:r>
              <a:rPr lang="ar-SA" sz="2000" b="1" dirty="0">
                <a:solidFill>
                  <a:schemeClr val="bg1"/>
                </a:solidFill>
              </a:rPr>
              <a:t>تجاوز تعقيدات الأكواد وتعويضها بكائنات ومقاطع برمجية رسومية.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2" name="ZoneTexte 81"/>
          <p:cNvSpPr txBox="1"/>
          <p:nvPr/>
        </p:nvSpPr>
        <p:spPr>
          <a:xfrm>
            <a:off x="1201620" y="4017258"/>
            <a:ext cx="7524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- توظيف المفاهيم الرياضية الهامة كنظام الإحداثيات والمتغيرات والأعداد العشوائية في البرمجة.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24" name="Groupe 2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18" name="Groupe 17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5" name="Groupe 18"/>
                <p:cNvGrpSpPr/>
                <p:nvPr/>
              </p:nvGrpSpPr>
              <p:grpSpPr>
                <a:xfrm>
                  <a:off x="0" y="0"/>
                  <a:ext cx="9144000" cy="6885384"/>
                  <a:chOff x="0" y="0"/>
                  <a:chExt cx="9144000" cy="6885384"/>
                </a:xfrm>
              </p:grpSpPr>
              <p:sp>
                <p:nvSpPr>
                  <p:cNvPr id="7" name="Rectangle 6"/>
                  <p:cNvSpPr/>
                  <p:nvPr/>
                </p:nvSpPr>
                <p:spPr>
                  <a:xfrm rot="10800000" flipV="1">
                    <a:off x="0" y="0"/>
                    <a:ext cx="6983760" cy="620688"/>
                  </a:xfrm>
                  <a:prstGeom prst="rect">
                    <a:avLst/>
                  </a:prstGeom>
                  <a:solidFill>
                    <a:srgbClr val="FF66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/>
                  </a:p>
                </p:txBody>
              </p:sp>
              <p:grpSp>
                <p:nvGrpSpPr>
                  <p:cNvPr id="8" name="Groupe 15"/>
                  <p:cNvGrpSpPr/>
                  <p:nvPr/>
                </p:nvGrpSpPr>
                <p:grpSpPr>
                  <a:xfrm>
                    <a:off x="0" y="6237312"/>
                    <a:ext cx="9144000" cy="648072"/>
                    <a:chOff x="0" y="6237312"/>
                    <a:chExt cx="9144000" cy="648072"/>
                  </a:xfrm>
                </p:grpSpPr>
                <p:sp>
                  <p:nvSpPr>
                    <p:cNvPr id="10" name="Rectangle 5"/>
                    <p:cNvSpPr/>
                    <p:nvPr/>
                  </p:nvSpPr>
                  <p:spPr>
                    <a:xfrm>
                      <a:off x="0" y="6309320"/>
                      <a:ext cx="9144000" cy="576064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1"/>
                    </a:lnRef>
                    <a:fillRef idx="3">
                      <a:schemeClr val="accent1"/>
                    </a:fillRef>
                    <a:effectRef idx="2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sp>
                  <p:nvSpPr>
                    <p:cNvPr id="11" name="Rectangle 10"/>
                    <p:cNvSpPr/>
                    <p:nvPr/>
                  </p:nvSpPr>
                  <p:spPr>
                    <a:xfrm flipV="1">
                      <a:off x="0" y="6237312"/>
                      <a:ext cx="9144000" cy="7200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</p:grpSp>
              <p:sp>
                <p:nvSpPr>
                  <p:cNvPr id="9" name="Rectangle 8"/>
                  <p:cNvSpPr/>
                  <p:nvPr/>
                </p:nvSpPr>
                <p:spPr>
                  <a:xfrm rot="10800000" flipV="1">
                    <a:off x="7020272" y="0"/>
                    <a:ext cx="2123728" cy="620688"/>
                  </a:xfrm>
                  <a:prstGeom prst="rect">
                    <a:avLst/>
                  </a:prstGeom>
                  <a:solidFill>
                    <a:srgbClr val="CC0000"/>
                  </a:solidFill>
                  <a:ln>
                    <a:noFill/>
                  </a:ln>
                </p:spPr>
                <p:style>
                  <a:lnRef idx="1">
                    <a:schemeClr val="accent6"/>
                  </a:lnRef>
                  <a:fillRef idx="3">
                    <a:schemeClr val="accent6"/>
                  </a:fillRef>
                  <a:effectRef idx="2">
                    <a:schemeClr val="accent6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FR" dirty="0"/>
                  </a:p>
                </p:txBody>
              </p:sp>
            </p:grpSp>
            <p:pic>
              <p:nvPicPr>
                <p:cNvPr id="13" name="Image 12" descr="3-2-blogging-transparent-thumb.png"/>
                <p:cNvPicPr>
                  <a:picLocks noChangeAspect="1"/>
                </p:cNvPicPr>
                <p:nvPr/>
              </p:nvPicPr>
              <p:blipFill>
                <a:blip r:embed="rId3" cstate="print"/>
                <a:stretch>
                  <a:fillRect/>
                </a:stretch>
              </p:blipFill>
              <p:spPr>
                <a:xfrm>
                  <a:off x="2195736" y="6165304"/>
                  <a:ext cx="864096" cy="741369"/>
                </a:xfrm>
                <a:prstGeom prst="rect">
                  <a:avLst/>
                </a:prstGeom>
              </p:spPr>
            </p:pic>
            <p:pic>
              <p:nvPicPr>
                <p:cNvPr id="14" name="Image 13" descr="12-2-education-png-image-thumb.png"/>
                <p:cNvPicPr>
                  <a:picLocks noChangeAspect="1"/>
                </p:cNvPicPr>
                <p:nvPr/>
              </p:nvPicPr>
              <p:blipFill>
                <a:blip r:embed="rId4" cstate="print"/>
                <a:stretch>
                  <a:fillRect/>
                </a:stretch>
              </p:blipFill>
              <p:spPr>
                <a:xfrm>
                  <a:off x="8388424" y="5976664"/>
                  <a:ext cx="720080" cy="980728"/>
                </a:xfrm>
                <a:prstGeom prst="rect">
                  <a:avLst/>
                </a:prstGeom>
              </p:spPr>
            </p:pic>
            <p:sp>
              <p:nvSpPr>
                <p:cNvPr id="15" name="ZoneTexte 14"/>
                <p:cNvSpPr txBox="1"/>
                <p:nvPr/>
              </p:nvSpPr>
              <p:spPr>
                <a:xfrm>
                  <a:off x="5652120" y="6428655"/>
                  <a:ext cx="2808312" cy="38472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متوسطة قلواز </a:t>
                  </a:r>
                  <a:r>
                    <a:rPr lang="ar-DZ" sz="1900" b="1" dirty="0" err="1" smtClean="0">
                      <a:solidFill>
                        <a:schemeClr val="bg1"/>
                      </a:solidFill>
                    </a:rPr>
                    <a:t>موسى </a:t>
                  </a:r>
                  <a:r>
                    <a:rPr lang="ar-DZ" sz="1900" b="1" dirty="0" smtClean="0">
                      <a:solidFill>
                        <a:schemeClr val="bg1"/>
                      </a:solidFill>
                    </a:rPr>
                    <a:t>- بوراشد</a:t>
                  </a:r>
                  <a:endParaRPr lang="fr-FR" sz="19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6" name="ZoneTexte 15"/>
                <p:cNvSpPr txBox="1"/>
                <p:nvPr/>
              </p:nvSpPr>
              <p:spPr>
                <a:xfrm>
                  <a:off x="-180528" y="6396335"/>
                  <a:ext cx="244827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تصميم الأستاذ ماحي رضا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  <p:sp>
              <p:nvSpPr>
                <p:cNvPr id="17" name="ZoneTexte 16"/>
                <p:cNvSpPr txBox="1"/>
                <p:nvPr/>
              </p:nvSpPr>
              <p:spPr>
                <a:xfrm>
                  <a:off x="2987824" y="6413266"/>
                  <a:ext cx="208823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 rtl="1"/>
                  <a:r>
                    <a:rPr lang="ar-DZ" sz="2000" b="1" dirty="0" smtClean="0">
                      <a:solidFill>
                        <a:schemeClr val="bg1"/>
                      </a:solidFill>
                    </a:rPr>
                    <a:t>المستوى:الأول متوسط</a:t>
                  </a:r>
                  <a:endParaRPr lang="fr-FR" sz="2000" b="1" dirty="0">
                    <a:solidFill>
                      <a:schemeClr val="bg1"/>
                    </a:solidFill>
                  </a:endParaRPr>
                </a:p>
              </p:txBody>
            </p:sp>
          </p:grpSp>
          <p:pic>
            <p:nvPicPr>
              <p:cNvPr id="49" name="Image 48" descr="3d print business.png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4788024" y="6274668"/>
                <a:ext cx="1440160" cy="583332"/>
              </a:xfrm>
              <a:prstGeom prst="rect">
                <a:avLst/>
              </a:prstGeom>
            </p:spPr>
          </p:pic>
        </p:grpSp>
        <p:sp>
          <p:nvSpPr>
            <p:cNvPr id="50" name="ZoneTexte 49"/>
            <p:cNvSpPr txBox="1"/>
            <p:nvPr/>
          </p:nvSpPr>
          <p:spPr>
            <a:xfrm>
              <a:off x="6948264" y="44624"/>
              <a:ext cx="212372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الحصة </a:t>
              </a:r>
              <a:r>
                <a:rPr lang="ar-DZ" sz="2800" b="1" dirty="0" err="1" smtClean="0">
                  <a:solidFill>
                    <a:schemeClr val="bg1"/>
                  </a:solidFill>
                </a:rPr>
                <a:t>التعلمية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55" name="ZoneTexte 54"/>
          <p:cNvSpPr txBox="1"/>
          <p:nvPr/>
        </p:nvSpPr>
        <p:spPr>
          <a:xfrm>
            <a:off x="2267744" y="44624"/>
            <a:ext cx="32403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800" b="1" dirty="0" smtClean="0">
                <a:solidFill>
                  <a:schemeClr val="bg1"/>
                </a:solidFill>
              </a:rPr>
              <a:t>برنامج سكراتش </a:t>
            </a:r>
            <a:r>
              <a:rPr lang="fr-FR" sz="2800" b="1" dirty="0" smtClean="0">
                <a:solidFill>
                  <a:schemeClr val="bg1"/>
                </a:solidFill>
              </a:rPr>
              <a:t>scratch</a:t>
            </a:r>
            <a:endParaRPr lang="fr-FR" sz="2800" b="1" dirty="0">
              <a:solidFill>
                <a:schemeClr val="bg1"/>
              </a:solidFill>
            </a:endParaRPr>
          </a:p>
        </p:txBody>
      </p:sp>
      <p:grpSp>
        <p:nvGrpSpPr>
          <p:cNvPr id="60" name="Group 63"/>
          <p:cNvGrpSpPr/>
          <p:nvPr/>
        </p:nvGrpSpPr>
        <p:grpSpPr>
          <a:xfrm flipH="1">
            <a:off x="827584" y="4758256"/>
            <a:ext cx="8007554" cy="1119016"/>
            <a:chOff x="1120775" y="1730534"/>
            <a:chExt cx="8007554" cy="1280160"/>
          </a:xfrm>
        </p:grpSpPr>
        <p:cxnSp>
          <p:nvCxnSpPr>
            <p:cNvPr id="61" name="Straight Connector 64"/>
            <p:cNvCxnSpPr/>
            <p:nvPr/>
          </p:nvCxnSpPr>
          <p:spPr>
            <a:xfrm rot="5400000">
              <a:off x="701040" y="2369820"/>
              <a:ext cx="1280160" cy="158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2" name="Group 18"/>
            <p:cNvGrpSpPr/>
            <p:nvPr/>
          </p:nvGrpSpPr>
          <p:grpSpPr>
            <a:xfrm>
              <a:off x="1120775" y="1838325"/>
              <a:ext cx="8007554" cy="1077920"/>
              <a:chOff x="3810000" y="1948650"/>
              <a:chExt cx="8007554" cy="1077920"/>
            </a:xfrm>
          </p:grpSpPr>
          <p:sp>
            <p:nvSpPr>
              <p:cNvPr id="63" name="Trapezoid 66"/>
              <p:cNvSpPr/>
              <p:nvPr/>
            </p:nvSpPr>
            <p:spPr>
              <a:xfrm rot="5400000" flipH="1">
                <a:off x="3665141" y="2318934"/>
                <a:ext cx="892968" cy="152400"/>
              </a:xfrm>
              <a:prstGeom prst="trapezoid">
                <a:avLst>
                  <a:gd name="adj" fmla="val 62501"/>
                </a:avLst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4" name="Parallelogram 67"/>
              <p:cNvSpPr/>
              <p:nvPr/>
            </p:nvSpPr>
            <p:spPr>
              <a:xfrm rot="16200000" flipV="1">
                <a:off x="3508373" y="2343942"/>
                <a:ext cx="984254" cy="381000"/>
              </a:xfrm>
              <a:prstGeom prst="parallelogram">
                <a:avLst>
                  <a:gd name="adj" fmla="val 63243"/>
                </a:avLst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Freeform 68"/>
              <p:cNvSpPr/>
              <p:nvPr/>
            </p:nvSpPr>
            <p:spPr>
              <a:xfrm flipV="1">
                <a:off x="3810000" y="2286000"/>
                <a:ext cx="8007554" cy="74057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69" name="Group 63"/>
          <p:cNvGrpSpPr/>
          <p:nvPr/>
        </p:nvGrpSpPr>
        <p:grpSpPr>
          <a:xfrm flipH="1">
            <a:off x="827584" y="2492896"/>
            <a:ext cx="8007554" cy="1119016"/>
            <a:chOff x="1120775" y="1730534"/>
            <a:chExt cx="8007554" cy="1280160"/>
          </a:xfrm>
        </p:grpSpPr>
        <p:cxnSp>
          <p:nvCxnSpPr>
            <p:cNvPr id="76" name="Straight Connector 64"/>
            <p:cNvCxnSpPr/>
            <p:nvPr/>
          </p:nvCxnSpPr>
          <p:spPr>
            <a:xfrm rot="5400000">
              <a:off x="701040" y="2369820"/>
              <a:ext cx="1280160" cy="1588"/>
            </a:xfrm>
            <a:prstGeom prst="line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  <a:effectLst>
              <a:outerShdw blurRad="38100" dist="12700" sx="96000" sy="96000" algn="l" rotWithShape="0">
                <a:prstClr val="black">
                  <a:alpha val="95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7" name="Group 18"/>
            <p:cNvGrpSpPr/>
            <p:nvPr/>
          </p:nvGrpSpPr>
          <p:grpSpPr>
            <a:xfrm>
              <a:off x="1120775" y="1838325"/>
              <a:ext cx="8007554" cy="1077920"/>
              <a:chOff x="3810000" y="1948650"/>
              <a:chExt cx="8007554" cy="1077920"/>
            </a:xfrm>
          </p:grpSpPr>
          <p:sp>
            <p:nvSpPr>
              <p:cNvPr id="78" name="Trapezoid 66"/>
              <p:cNvSpPr/>
              <p:nvPr/>
            </p:nvSpPr>
            <p:spPr>
              <a:xfrm rot="5400000" flipH="1">
                <a:off x="3665141" y="2318934"/>
                <a:ext cx="892968" cy="152400"/>
              </a:xfrm>
              <a:prstGeom prst="trapezoid">
                <a:avLst>
                  <a:gd name="adj" fmla="val 62501"/>
                </a:avLst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Parallelogram 67"/>
              <p:cNvSpPr/>
              <p:nvPr/>
            </p:nvSpPr>
            <p:spPr>
              <a:xfrm rot="16200000" flipV="1">
                <a:off x="3508373" y="2343942"/>
                <a:ext cx="984254" cy="381000"/>
              </a:xfrm>
              <a:prstGeom prst="parallelogram">
                <a:avLst>
                  <a:gd name="adj" fmla="val 63243"/>
                </a:avLst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Freeform 68"/>
              <p:cNvSpPr/>
              <p:nvPr/>
            </p:nvSpPr>
            <p:spPr>
              <a:xfrm flipV="1">
                <a:off x="3810000" y="2286000"/>
                <a:ext cx="8007554" cy="74057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81" name="ZoneTexte 80"/>
          <p:cNvSpPr txBox="1"/>
          <p:nvPr/>
        </p:nvSpPr>
        <p:spPr>
          <a:xfrm>
            <a:off x="994466" y="2882003"/>
            <a:ext cx="77048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- التعلم المبكر والمبسّط لمفاهيم البرمجة الأساسية كالتكرار والشروط، و المفاهيم الأكثر تعقيدا كالكائنات و المقاطع البرمجية بطريقة رسومية.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sp>
        <p:nvSpPr>
          <p:cNvPr id="83" name="ZoneTexte 82"/>
          <p:cNvSpPr txBox="1"/>
          <p:nvPr/>
        </p:nvSpPr>
        <p:spPr>
          <a:xfrm>
            <a:off x="1151619" y="5117094"/>
            <a:ext cx="752483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DZ" sz="2000" b="1" dirty="0">
                <a:solidFill>
                  <a:schemeClr val="bg1"/>
                </a:solidFill>
              </a:rPr>
              <a:t>- تجسيد الأفكار بإنشــاء مشاريع على شكل رسوم متحركة أو قصص تفاعلية بالرسوم والصور والموسيقى والأصوات.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pic>
        <p:nvPicPr>
          <p:cNvPr id="54" name="Image 5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80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30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8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3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800"/>
                            </p:stCondLst>
                            <p:childTnLst>
                              <p:par>
                                <p:cTn id="3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30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800"/>
                            </p:stCondLst>
                            <p:childTnLst>
                              <p:par>
                                <p:cTn id="3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4300"/>
                            </p:stCondLst>
                            <p:childTnLst>
                              <p:par>
                                <p:cTn id="4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800"/>
                            </p:stCondLst>
                            <p:childTnLst>
                              <p:par>
                                <p:cTn id="4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9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300"/>
                            </p:stCondLst>
                            <p:childTnLst>
                              <p:par>
                                <p:cTn id="5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/>
      <p:bldP spid="23" grpId="0"/>
      <p:bldP spid="2" grpId="0"/>
      <p:bldP spid="82" grpId="0"/>
      <p:bldP spid="81" grpId="0"/>
      <p:bldP spid="8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49" descr="shutterstock_172215422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16624"/>
          </a:xfrm>
          <a:prstGeom prst="rect">
            <a:avLst/>
          </a:prstGeom>
        </p:spPr>
      </p:pic>
      <p:sp>
        <p:nvSpPr>
          <p:cNvPr id="30" name="Pensées 29"/>
          <p:cNvSpPr/>
          <p:nvPr/>
        </p:nvSpPr>
        <p:spPr>
          <a:xfrm>
            <a:off x="179512" y="1268760"/>
            <a:ext cx="7722604" cy="1728192"/>
          </a:xfrm>
          <a:prstGeom prst="cloudCallout">
            <a:avLst>
              <a:gd name="adj1" fmla="val -38920"/>
              <a:gd name="adj2" fmla="val 78746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36" name="Picture 1" descr="C:\Users\RIDHA\Downloads\صور المعلوماتية\Bonhomme-question-01-0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756592" y="3284984"/>
            <a:ext cx="2941886" cy="2952328"/>
          </a:xfrm>
          <a:prstGeom prst="rect">
            <a:avLst/>
          </a:prstGeom>
          <a:noFill/>
        </p:spPr>
      </p:pic>
      <p:sp>
        <p:nvSpPr>
          <p:cNvPr id="31" name="ZoneTexte 30"/>
          <p:cNvSpPr txBox="1"/>
          <p:nvPr/>
        </p:nvSpPr>
        <p:spPr>
          <a:xfrm>
            <a:off x="467544" y="2000453"/>
            <a:ext cx="652194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في رأيك ماهي هذه المزايا </a:t>
            </a:r>
            <a:r>
              <a:rPr lang="ar-DZ" sz="2600" b="1" dirty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التي يقدمها برنامج سكراتش؟</a:t>
            </a:r>
            <a:endParaRPr lang="ar-DZ" sz="2600" b="1" dirty="0" smtClean="0">
              <a:ln w="1905"/>
              <a:gradFill>
                <a:gsLst>
                  <a:gs pos="0">
                    <a:schemeClr val="accent6">
                      <a:shade val="20000"/>
                      <a:satMod val="200000"/>
                    </a:schemeClr>
                  </a:gs>
                  <a:gs pos="78000">
                    <a:schemeClr val="accent6">
                      <a:tint val="90000"/>
                      <a:shade val="89000"/>
                      <a:satMod val="220000"/>
                    </a:schemeClr>
                  </a:gs>
                  <a:gs pos="100000">
                    <a:schemeClr val="accent6">
                      <a:tint val="12000"/>
                      <a:satMod val="255000"/>
                    </a:schemeClr>
                  </a:gs>
                </a:gsLst>
                <a:lin ang="5400000"/>
              </a:gradFill>
              <a:effectLst>
                <a:innerShdw blurRad="69850" dist="43180" dir="5400000">
                  <a:srgbClr val="000000">
                    <a:alpha val="65000"/>
                  </a:srgbClr>
                </a:innerShdw>
              </a:effectLst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19" name="Groupe 18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3" name="Groupe 2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13266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32" name="Image 31" descr="3d print business.png"/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33" name="ZoneTexte 32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8" name="ZoneTexte 37"/>
            <p:cNvSpPr txBox="1"/>
            <p:nvPr/>
          </p:nvSpPr>
          <p:spPr>
            <a:xfrm>
              <a:off x="2267744" y="44624"/>
              <a:ext cx="32403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برنامج سكراتش </a:t>
              </a:r>
              <a:r>
                <a:rPr lang="fr-FR" sz="2800" b="1" dirty="0" smtClean="0">
                  <a:solidFill>
                    <a:schemeClr val="bg1"/>
                  </a:solidFill>
                </a:rPr>
                <a:t>scratch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9" name="ZoneTexte 38"/>
          <p:cNvSpPr txBox="1"/>
          <p:nvPr/>
        </p:nvSpPr>
        <p:spPr>
          <a:xfrm>
            <a:off x="3347863" y="1412776"/>
            <a:ext cx="3803035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DZ" sz="2600" b="1" dirty="0" smtClean="0">
                <a:ln w="1905"/>
                <a:gradFill>
                  <a:gsLst>
                    <a:gs pos="0">
                      <a:schemeClr val="accent6">
                        <a:shade val="20000"/>
                        <a:satMod val="200000"/>
                      </a:schemeClr>
                    </a:gs>
                    <a:gs pos="78000">
                      <a:schemeClr val="accent6">
                        <a:tint val="90000"/>
                        <a:shade val="89000"/>
                        <a:satMod val="220000"/>
                      </a:schemeClr>
                    </a:gs>
                    <a:gs pos="100000">
                      <a:schemeClr val="accent6">
                        <a:tint val="12000"/>
                        <a:satMod val="255000"/>
                      </a:schemeClr>
                    </a:gs>
                  </a:gsLst>
                  <a:lin ang="5400000"/>
                </a:gradFill>
                <a:effectLst>
                  <a:innerShdw blurRad="69850" dist="43180" dir="5400000">
                    <a:srgbClr val="000000">
                      <a:alpha val="65000"/>
                    </a:srgbClr>
                  </a:innerShdw>
                </a:effectLst>
              </a:rPr>
              <a:t>يقدم البرنامج العديد من المزايا</a:t>
            </a:r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68" name="Shape 856"/>
          <p:cNvSpPr/>
          <p:nvPr/>
        </p:nvSpPr>
        <p:spPr>
          <a:xfrm>
            <a:off x="8281172" y="76470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9" name="Shape 859"/>
          <p:cNvSpPr/>
          <p:nvPr/>
        </p:nvSpPr>
        <p:spPr>
          <a:xfrm>
            <a:off x="3672660" y="792336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0" name="ZoneTexte 69"/>
          <p:cNvSpPr txBox="1"/>
          <p:nvPr/>
        </p:nvSpPr>
        <p:spPr>
          <a:xfrm>
            <a:off x="8244408" y="764704"/>
            <a:ext cx="588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800" b="1" dirty="0" smtClean="0">
                <a:solidFill>
                  <a:srgbClr val="FFFF00"/>
                </a:solidFill>
              </a:rPr>
              <a:t>3-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3858907" y="817548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مزايا برنامج سكراتش </a:t>
            </a:r>
            <a:r>
              <a:rPr lang="en-US" sz="2400" b="1" dirty="0" err="1" smtClean="0">
                <a:solidFill>
                  <a:srgbClr val="FFFF00"/>
                </a:solidFill>
              </a:rPr>
              <a:t>scr</a:t>
            </a:r>
            <a:r>
              <a:rPr lang="fr-FR" sz="2400" b="1" dirty="0" smtClean="0">
                <a:solidFill>
                  <a:srgbClr val="FFFF00"/>
                </a:solidFill>
              </a:rPr>
              <a:t>a</a:t>
            </a:r>
            <a:r>
              <a:rPr lang="en-US" sz="2400" b="1" dirty="0" err="1" smtClean="0">
                <a:solidFill>
                  <a:srgbClr val="FFFF00"/>
                </a:solidFill>
              </a:rPr>
              <a:t>tch</a:t>
            </a:r>
            <a:r>
              <a:rPr lang="ar-DZ" sz="2400" b="1" dirty="0" smtClean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99811" y="1943820"/>
            <a:ext cx="49704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>
                <a:solidFill>
                  <a:schemeClr val="bg1"/>
                </a:solidFill>
              </a:rPr>
              <a:t>نضغط على الأداة         بالزر الأيسر لتحديد الجدول كله.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395536" y="1618737"/>
            <a:ext cx="8416449" cy="725194"/>
            <a:chOff x="-179961" y="1618736"/>
            <a:chExt cx="8416449" cy="725194"/>
          </a:xfrm>
        </p:grpSpPr>
        <p:grpSp>
          <p:nvGrpSpPr>
            <p:cNvPr id="50" name="Group 104"/>
            <p:cNvGrpSpPr/>
            <p:nvPr/>
          </p:nvGrpSpPr>
          <p:grpSpPr>
            <a:xfrm>
              <a:off x="-179961" y="1618736"/>
              <a:ext cx="8416449" cy="725194"/>
              <a:chOff x="-3716185" y="1173645"/>
              <a:chExt cx="8076015" cy="1114425"/>
            </a:xfrm>
          </p:grpSpPr>
          <p:sp>
            <p:nvSpPr>
              <p:cNvPr id="51" name="Rectangle 50"/>
              <p:cNvSpPr/>
              <p:nvPr/>
            </p:nvSpPr>
            <p:spPr>
              <a:xfrm flipH="1">
                <a:off x="3947080" y="1373670"/>
                <a:ext cx="412750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reeform 106"/>
              <p:cNvSpPr/>
              <p:nvPr/>
            </p:nvSpPr>
            <p:spPr>
              <a:xfrm rot="5400000" flipH="1">
                <a:off x="3527344" y="15936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-3716185" y="1373670"/>
                <a:ext cx="7301314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Freeform 108"/>
              <p:cNvSpPr/>
              <p:nvPr/>
            </p:nvSpPr>
            <p:spPr>
              <a:xfrm rot="16200000" flipH="1" flipV="1">
                <a:off x="2887581" y="15936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/>
              <p:cNvSpPr/>
              <p:nvPr/>
            </p:nvSpPr>
            <p:spPr>
              <a:xfrm flipH="1">
                <a:off x="3306524" y="1173645"/>
                <a:ext cx="914400" cy="9144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dirty="0"/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7459387" y="1731585"/>
              <a:ext cx="261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SA" b="1" dirty="0">
                  <a:solidFill>
                    <a:schemeClr val="bg1"/>
                  </a:solidFill>
                </a:rPr>
                <a:t>-</a:t>
              </a:r>
              <a:endParaRPr lang="fr-FR" dirty="0"/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1690806" y="2703806"/>
            <a:ext cx="7120872" cy="725194"/>
            <a:chOff x="1115617" y="2482832"/>
            <a:chExt cx="7120872" cy="725194"/>
          </a:xfrm>
        </p:grpSpPr>
        <p:grpSp>
          <p:nvGrpSpPr>
            <p:cNvPr id="56" name="Group 118"/>
            <p:cNvGrpSpPr/>
            <p:nvPr/>
          </p:nvGrpSpPr>
          <p:grpSpPr>
            <a:xfrm>
              <a:off x="1115617" y="2482832"/>
              <a:ext cx="7120872" cy="725194"/>
              <a:chOff x="-2473011" y="2392845"/>
              <a:chExt cx="6832841" cy="1114425"/>
            </a:xfrm>
          </p:grpSpPr>
          <p:sp>
            <p:nvSpPr>
              <p:cNvPr id="57" name="Rectangle 56"/>
              <p:cNvSpPr/>
              <p:nvPr/>
            </p:nvSpPr>
            <p:spPr>
              <a:xfrm flipH="1">
                <a:off x="3947080" y="2592870"/>
                <a:ext cx="41275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Freeform 120"/>
              <p:cNvSpPr/>
              <p:nvPr/>
            </p:nvSpPr>
            <p:spPr>
              <a:xfrm rot="5400000" flipH="1">
                <a:off x="3527344" y="28128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58"/>
              <p:cNvSpPr/>
              <p:nvPr/>
            </p:nvSpPr>
            <p:spPr>
              <a:xfrm flipH="1">
                <a:off x="-2473011" y="2592870"/>
                <a:ext cx="6058142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Freeform 122"/>
              <p:cNvSpPr/>
              <p:nvPr/>
            </p:nvSpPr>
            <p:spPr>
              <a:xfrm rot="16200000" flipH="1" flipV="1">
                <a:off x="2887581" y="28128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Rectangle 60"/>
              <p:cNvSpPr/>
              <p:nvPr/>
            </p:nvSpPr>
            <p:spPr>
              <a:xfrm flipH="1">
                <a:off x="3306524" y="2392845"/>
                <a:ext cx="914400" cy="9144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dirty="0"/>
              </a:p>
            </p:txBody>
          </p:sp>
        </p:grpSp>
        <p:sp>
          <p:nvSpPr>
            <p:cNvPr id="31" name="Rectangle 30"/>
            <p:cNvSpPr/>
            <p:nvPr/>
          </p:nvSpPr>
          <p:spPr>
            <a:xfrm>
              <a:off x="7459387" y="2627620"/>
              <a:ext cx="261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SA" b="1" dirty="0">
                  <a:solidFill>
                    <a:schemeClr val="bg1"/>
                  </a:solidFill>
                </a:rPr>
                <a:t>-</a:t>
              </a:r>
              <a:endParaRPr lang="fr-FR" dirty="0"/>
            </a:p>
          </p:txBody>
        </p:sp>
      </p:grpSp>
      <p:grpSp>
        <p:nvGrpSpPr>
          <p:cNvPr id="21" name="Groupe 20"/>
          <p:cNvGrpSpPr/>
          <p:nvPr/>
        </p:nvGrpSpPr>
        <p:grpSpPr>
          <a:xfrm>
            <a:off x="1676861" y="3749941"/>
            <a:ext cx="7134817" cy="725194"/>
            <a:chOff x="1115616" y="3346929"/>
            <a:chExt cx="7134817" cy="725194"/>
          </a:xfrm>
        </p:grpSpPr>
        <p:grpSp>
          <p:nvGrpSpPr>
            <p:cNvPr id="62" name="Group 132"/>
            <p:cNvGrpSpPr/>
            <p:nvPr/>
          </p:nvGrpSpPr>
          <p:grpSpPr>
            <a:xfrm>
              <a:off x="1115616" y="3346929"/>
              <a:ext cx="7134817" cy="725194"/>
              <a:chOff x="-2486955" y="3612045"/>
              <a:chExt cx="6846785" cy="1114425"/>
            </a:xfrm>
          </p:grpSpPr>
          <p:sp>
            <p:nvSpPr>
              <p:cNvPr id="63" name="Rectangle 62"/>
              <p:cNvSpPr/>
              <p:nvPr/>
            </p:nvSpPr>
            <p:spPr>
              <a:xfrm flipH="1">
                <a:off x="3947080" y="3812070"/>
                <a:ext cx="412750" cy="914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4" name="Freeform 134"/>
              <p:cNvSpPr/>
              <p:nvPr/>
            </p:nvSpPr>
            <p:spPr>
              <a:xfrm rot="5400000" flipH="1">
                <a:off x="3527344" y="40320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5" name="Rectangle 64"/>
              <p:cNvSpPr/>
              <p:nvPr/>
            </p:nvSpPr>
            <p:spPr>
              <a:xfrm flipH="1">
                <a:off x="-2486955" y="3812070"/>
                <a:ext cx="6072086" cy="9144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6" name="Freeform 136"/>
              <p:cNvSpPr/>
              <p:nvPr/>
            </p:nvSpPr>
            <p:spPr>
              <a:xfrm rot="16200000" flipH="1" flipV="1">
                <a:off x="2887581" y="40320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4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7" name="Rectangle 66"/>
              <p:cNvSpPr/>
              <p:nvPr/>
            </p:nvSpPr>
            <p:spPr>
              <a:xfrm flipH="1">
                <a:off x="3306524" y="3612045"/>
                <a:ext cx="914400" cy="914400"/>
              </a:xfrm>
              <a:prstGeom prst="rect">
                <a:avLst/>
              </a:prstGeom>
              <a:solidFill>
                <a:schemeClr val="accent4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dirty="0"/>
              </a:p>
            </p:txBody>
          </p:sp>
        </p:grpSp>
        <p:sp>
          <p:nvSpPr>
            <p:cNvPr id="21504" name="Rectangle 21503"/>
            <p:cNvSpPr/>
            <p:nvPr/>
          </p:nvSpPr>
          <p:spPr>
            <a:xfrm>
              <a:off x="7459387" y="3459778"/>
              <a:ext cx="261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SA" b="1" dirty="0">
                  <a:solidFill>
                    <a:schemeClr val="bg1"/>
                  </a:solidFill>
                </a:rPr>
                <a:t>-</a:t>
              </a:r>
              <a:endParaRPr lang="fr-FR" dirty="0"/>
            </a:p>
          </p:txBody>
        </p:sp>
      </p:grpSp>
      <p:sp>
        <p:nvSpPr>
          <p:cNvPr id="21510" name="Rectangle 21509"/>
          <p:cNvSpPr/>
          <p:nvPr/>
        </p:nvSpPr>
        <p:spPr>
          <a:xfrm>
            <a:off x="5796698" y="2925658"/>
            <a:ext cx="172675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r-SA" sz="2000" b="1" dirty="0">
                <a:solidFill>
                  <a:schemeClr val="bg1"/>
                </a:solidFill>
              </a:rPr>
              <a:t>يدعم اللغة العربية.</a:t>
            </a:r>
            <a:endParaRPr lang="fr-FR" sz="2000" dirty="0">
              <a:solidFill>
                <a:schemeClr val="bg1"/>
              </a:solidFill>
            </a:endParaRPr>
          </a:p>
        </p:txBody>
      </p:sp>
      <p:sp>
        <p:nvSpPr>
          <p:cNvPr id="21511" name="Rectangle 21510"/>
          <p:cNvSpPr/>
          <p:nvPr/>
        </p:nvSpPr>
        <p:spPr>
          <a:xfrm>
            <a:off x="1719027" y="3832012"/>
            <a:ext cx="5994412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1900" b="1" dirty="0">
                <a:solidFill>
                  <a:schemeClr val="bg1"/>
                </a:solidFill>
              </a:rPr>
              <a:t>مشاركة المشــاريع على الإنترنت ، حيث بإمكانك تجربة مشاريع الآخرين وإعادة استخدامها  والتعديل  عليها، وكذلك إرسال مشاريعك الخاصة.</a:t>
            </a:r>
            <a:endParaRPr lang="fr-FR" sz="1900" dirty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13266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7" name="ZoneTexte 76"/>
            <p:cNvSpPr txBox="1"/>
            <p:nvPr/>
          </p:nvSpPr>
          <p:spPr>
            <a:xfrm>
              <a:off x="2267744" y="44624"/>
              <a:ext cx="32403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برنامج سكراتش </a:t>
              </a:r>
              <a:r>
                <a:rPr lang="fr-FR" sz="2800" b="1" dirty="0" smtClean="0">
                  <a:solidFill>
                    <a:schemeClr val="bg1"/>
                  </a:solidFill>
                </a:rPr>
                <a:t>scratch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8" name="Rectangle 77"/>
          <p:cNvSpPr/>
          <p:nvPr/>
        </p:nvSpPr>
        <p:spPr>
          <a:xfrm>
            <a:off x="321287" y="1804754"/>
            <a:ext cx="749107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fr-FR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 smtClean="0">
                <a:solidFill>
                  <a:schemeClr val="bg1"/>
                </a:solidFill>
              </a:rPr>
              <a:t>برنامج </a:t>
            </a:r>
            <a:r>
              <a:rPr lang="ar-SA" sz="2000" b="1" dirty="0">
                <a:solidFill>
                  <a:schemeClr val="bg1"/>
                </a:solidFill>
              </a:rPr>
              <a:t>سكراتش متوفر ًمجانا ، من خلال</a:t>
            </a:r>
            <a:r>
              <a:rPr lang="ar-SA" sz="2000" b="1" dirty="0" smtClean="0">
                <a:solidFill>
                  <a:schemeClr val="bg1"/>
                </a:solidFill>
              </a:rPr>
              <a:t>:</a:t>
            </a:r>
            <a:r>
              <a:rPr lang="fr-FR" sz="2000" b="1" dirty="0" smtClean="0">
                <a:solidFill>
                  <a:schemeClr val="bg1"/>
                </a:solidFill>
              </a:rPr>
              <a:t> </a:t>
            </a:r>
            <a:r>
              <a:rPr lang="ar-DZ" sz="2000" b="1" dirty="0" smtClean="0">
                <a:solidFill>
                  <a:schemeClr val="bg1"/>
                </a:solidFill>
              </a:rPr>
              <a:t> </a:t>
            </a:r>
            <a:r>
              <a:rPr lang="fr-FR" sz="2000" b="1" dirty="0">
                <a:solidFill>
                  <a:schemeClr val="bg1"/>
                </a:solidFill>
              </a:rPr>
              <a:t>http://scratch.mit.edu/download</a:t>
            </a:r>
            <a:r>
              <a:rPr lang="fr-FR" sz="2000" b="1" dirty="0" smtClean="0">
                <a:solidFill>
                  <a:schemeClr val="bg1"/>
                </a:solidFill>
              </a:rPr>
              <a:t>/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72" name="Image 7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250"/>
                            </p:stCondLst>
                            <p:childTnLst>
                              <p:par>
                                <p:cTn id="3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1" grpId="0"/>
      <p:bldP spid="29" grpId="0"/>
      <p:bldP spid="21510" grpId="0"/>
      <p:bldP spid="21511" grpId="0"/>
      <p:bldP spid="7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 18" descr="h1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620688"/>
            <a:ext cx="9144000" cy="5665812"/>
          </a:xfrm>
          <a:prstGeom prst="rect">
            <a:avLst/>
          </a:prstGeom>
        </p:spPr>
      </p:pic>
      <p:sp>
        <p:nvSpPr>
          <p:cNvPr id="68" name="Shape 856"/>
          <p:cNvSpPr/>
          <p:nvPr/>
        </p:nvSpPr>
        <p:spPr>
          <a:xfrm>
            <a:off x="8281172" y="764704"/>
            <a:ext cx="618295" cy="5471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50800" tIns="50800" rIns="50800" bIns="50800" numCol="1" anchor="ctr">
            <a:noAutofit/>
          </a:bodyPr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69" name="Shape 859"/>
          <p:cNvSpPr/>
          <p:nvPr/>
        </p:nvSpPr>
        <p:spPr>
          <a:xfrm>
            <a:off x="3672660" y="792336"/>
            <a:ext cx="4557074" cy="4764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8" y="0"/>
                </a:moveTo>
                <a:cubicBezTo>
                  <a:pt x="433" y="0"/>
                  <a:pt x="0" y="3963"/>
                  <a:pt x="0" y="8848"/>
                </a:cubicBezTo>
                <a:lnTo>
                  <a:pt x="0" y="12758"/>
                </a:lnTo>
                <a:cubicBezTo>
                  <a:pt x="0" y="17643"/>
                  <a:pt x="433" y="21600"/>
                  <a:pt x="968" y="21600"/>
                </a:cubicBezTo>
                <a:lnTo>
                  <a:pt x="20197" y="21600"/>
                </a:lnTo>
                <a:cubicBezTo>
                  <a:pt x="20704" y="21600"/>
                  <a:pt x="21119" y="18028"/>
                  <a:pt x="21160" y="13486"/>
                </a:cubicBezTo>
                <a:lnTo>
                  <a:pt x="21600" y="10806"/>
                </a:lnTo>
                <a:lnTo>
                  <a:pt x="21160" y="8119"/>
                </a:lnTo>
                <a:cubicBezTo>
                  <a:pt x="21120" y="3575"/>
                  <a:pt x="20704" y="0"/>
                  <a:pt x="20197" y="0"/>
                </a:cubicBezTo>
                <a:lnTo>
                  <a:pt x="968" y="0"/>
                </a:ln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lIns="50800" tIns="50800" rIns="50800" bIns="50800" anchor="ctr"/>
          <a:lstStyle/>
          <a:p>
            <a:pPr lvl="0" defTabSz="825500">
              <a:defRPr sz="56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/>
          </a:p>
        </p:txBody>
      </p:sp>
      <p:sp>
        <p:nvSpPr>
          <p:cNvPr id="70" name="ZoneTexte 69"/>
          <p:cNvSpPr txBox="1"/>
          <p:nvPr/>
        </p:nvSpPr>
        <p:spPr>
          <a:xfrm>
            <a:off x="8244408" y="764704"/>
            <a:ext cx="5885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fr-FR" sz="2800" b="1" dirty="0" smtClean="0">
                <a:solidFill>
                  <a:srgbClr val="FFFF00"/>
                </a:solidFill>
              </a:rPr>
              <a:t>4</a:t>
            </a:r>
            <a:r>
              <a:rPr lang="ar-DZ" sz="2800" b="1" dirty="0" smtClean="0">
                <a:solidFill>
                  <a:srgbClr val="FFFF00"/>
                </a:solidFill>
              </a:rPr>
              <a:t>-</a:t>
            </a:r>
            <a:endParaRPr lang="fr-FR" sz="2800" b="1" dirty="0">
              <a:solidFill>
                <a:srgbClr val="FFFF00"/>
              </a:solidFill>
            </a:endParaRPr>
          </a:p>
        </p:txBody>
      </p:sp>
      <p:sp>
        <p:nvSpPr>
          <p:cNvPr id="71" name="ZoneTexte 70"/>
          <p:cNvSpPr txBox="1"/>
          <p:nvPr/>
        </p:nvSpPr>
        <p:spPr>
          <a:xfrm>
            <a:off x="3858907" y="817548"/>
            <a:ext cx="3960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/>
            <a:r>
              <a:rPr lang="ar-DZ" sz="2400" b="1" dirty="0" smtClean="0">
                <a:solidFill>
                  <a:srgbClr val="FFFF00"/>
                </a:solidFill>
              </a:rPr>
              <a:t>تحميل وتثبيت</a:t>
            </a:r>
            <a:r>
              <a:rPr lang="ar-DZ" sz="2400" b="1" dirty="0" smtClean="0">
                <a:solidFill>
                  <a:srgbClr val="FFFF00"/>
                </a:solidFill>
              </a:rPr>
              <a:t> </a:t>
            </a:r>
            <a:r>
              <a:rPr lang="ar-DZ" sz="2400" b="1" dirty="0" smtClean="0">
                <a:solidFill>
                  <a:srgbClr val="FFFF00"/>
                </a:solidFill>
              </a:rPr>
              <a:t>سكراتش </a:t>
            </a:r>
            <a:r>
              <a:rPr lang="en-US" sz="2400" b="1" dirty="0" err="1" smtClean="0">
                <a:solidFill>
                  <a:srgbClr val="FFFF00"/>
                </a:solidFill>
              </a:rPr>
              <a:t>scr</a:t>
            </a:r>
            <a:r>
              <a:rPr lang="fr-FR" sz="2400" b="1" dirty="0" smtClean="0">
                <a:solidFill>
                  <a:srgbClr val="FFFF00"/>
                </a:solidFill>
              </a:rPr>
              <a:t>a</a:t>
            </a:r>
            <a:r>
              <a:rPr lang="en-US" sz="2400" b="1" dirty="0" err="1" smtClean="0">
                <a:solidFill>
                  <a:srgbClr val="FFFF00"/>
                </a:solidFill>
              </a:rPr>
              <a:t>tch</a:t>
            </a:r>
            <a:r>
              <a:rPr lang="ar-DZ" sz="2400" b="1" dirty="0" smtClean="0">
                <a:solidFill>
                  <a:srgbClr val="FFFF00"/>
                </a:solidFill>
              </a:rPr>
              <a:t>:</a:t>
            </a:r>
            <a:endParaRPr lang="fr-FR" sz="2400" b="1" dirty="0">
              <a:solidFill>
                <a:srgbClr val="FFFF00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899811" y="1943820"/>
            <a:ext cx="497042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spcAft>
                <a:spcPts val="0"/>
              </a:spcAft>
            </a:pPr>
            <a:r>
              <a:rPr lang="ar-SA" sz="2000" b="1" dirty="0" smtClean="0">
                <a:solidFill>
                  <a:schemeClr val="bg1"/>
                </a:solidFill>
              </a:rPr>
              <a:t> </a:t>
            </a:r>
            <a:r>
              <a:rPr lang="ar-SA" sz="2000" b="1" dirty="0">
                <a:solidFill>
                  <a:schemeClr val="bg1"/>
                </a:solidFill>
              </a:rPr>
              <a:t>نضغط على الأداة         بالزر الأيسر لتحديد الجدول كله.</a:t>
            </a:r>
            <a:endParaRPr lang="fr-FR" b="1" dirty="0">
              <a:solidFill>
                <a:schemeClr val="bg1"/>
              </a:solidFill>
              <a:latin typeface="Times New Roman"/>
              <a:ea typeface="Times New Roman"/>
            </a:endParaRPr>
          </a:p>
        </p:txBody>
      </p:sp>
      <p:grpSp>
        <p:nvGrpSpPr>
          <p:cNvPr id="6" name="Groupe 5"/>
          <p:cNvGrpSpPr/>
          <p:nvPr/>
        </p:nvGrpSpPr>
        <p:grpSpPr>
          <a:xfrm>
            <a:off x="395536" y="1618736"/>
            <a:ext cx="8416449" cy="861227"/>
            <a:chOff x="-179961" y="1618736"/>
            <a:chExt cx="8416449" cy="725194"/>
          </a:xfrm>
        </p:grpSpPr>
        <p:grpSp>
          <p:nvGrpSpPr>
            <p:cNvPr id="50" name="Group 104"/>
            <p:cNvGrpSpPr/>
            <p:nvPr/>
          </p:nvGrpSpPr>
          <p:grpSpPr>
            <a:xfrm>
              <a:off x="-179961" y="1618736"/>
              <a:ext cx="8416449" cy="725194"/>
              <a:chOff x="-3716185" y="1173645"/>
              <a:chExt cx="8076015" cy="1114425"/>
            </a:xfrm>
          </p:grpSpPr>
          <p:sp>
            <p:nvSpPr>
              <p:cNvPr id="51" name="Rectangle 50"/>
              <p:cNvSpPr/>
              <p:nvPr/>
            </p:nvSpPr>
            <p:spPr>
              <a:xfrm flipH="1">
                <a:off x="3947080" y="1373670"/>
                <a:ext cx="412750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2" name="Freeform 106"/>
              <p:cNvSpPr/>
              <p:nvPr/>
            </p:nvSpPr>
            <p:spPr>
              <a:xfrm rot="5400000" flipH="1">
                <a:off x="3527344" y="15936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3" name="Rectangle 52"/>
              <p:cNvSpPr/>
              <p:nvPr/>
            </p:nvSpPr>
            <p:spPr>
              <a:xfrm flipH="1">
                <a:off x="-3716185" y="1373670"/>
                <a:ext cx="7301314" cy="9144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4" name="Freeform 108"/>
              <p:cNvSpPr/>
              <p:nvPr/>
            </p:nvSpPr>
            <p:spPr>
              <a:xfrm rot="16200000" flipH="1" flipV="1">
                <a:off x="2887581" y="15936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5" name="Rectangle 54"/>
              <p:cNvSpPr/>
              <p:nvPr/>
            </p:nvSpPr>
            <p:spPr>
              <a:xfrm flipH="1">
                <a:off x="3306524" y="1173645"/>
                <a:ext cx="914400" cy="914400"/>
              </a:xfrm>
              <a:prstGeom prst="rect">
                <a:avLst/>
              </a:pr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dirty="0"/>
              </a:p>
            </p:txBody>
          </p:sp>
        </p:grpSp>
        <p:sp>
          <p:nvSpPr>
            <p:cNvPr id="30" name="Rectangle 29"/>
            <p:cNvSpPr/>
            <p:nvPr/>
          </p:nvSpPr>
          <p:spPr>
            <a:xfrm>
              <a:off x="7459387" y="1731585"/>
              <a:ext cx="261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SA" b="1" dirty="0">
                  <a:solidFill>
                    <a:schemeClr val="bg1"/>
                  </a:solidFill>
                </a:rPr>
                <a:t>-</a:t>
              </a:r>
              <a:endParaRPr lang="fr-FR" dirty="0"/>
            </a:p>
          </p:txBody>
        </p:sp>
      </p:grpSp>
      <p:grpSp>
        <p:nvGrpSpPr>
          <p:cNvPr id="12" name="Groupe 11"/>
          <p:cNvGrpSpPr/>
          <p:nvPr/>
        </p:nvGrpSpPr>
        <p:grpSpPr>
          <a:xfrm>
            <a:off x="395536" y="2703805"/>
            <a:ext cx="8416142" cy="909363"/>
            <a:chOff x="-179653" y="2482832"/>
            <a:chExt cx="8416142" cy="725194"/>
          </a:xfrm>
        </p:grpSpPr>
        <p:grpSp>
          <p:nvGrpSpPr>
            <p:cNvPr id="56" name="Group 118"/>
            <p:cNvGrpSpPr/>
            <p:nvPr/>
          </p:nvGrpSpPr>
          <p:grpSpPr>
            <a:xfrm>
              <a:off x="-179653" y="2482832"/>
              <a:ext cx="8416142" cy="725194"/>
              <a:chOff x="-3715889" y="2392845"/>
              <a:chExt cx="8075719" cy="1114425"/>
            </a:xfrm>
          </p:grpSpPr>
          <p:sp>
            <p:nvSpPr>
              <p:cNvPr id="57" name="Rectangle 56"/>
              <p:cNvSpPr/>
              <p:nvPr/>
            </p:nvSpPr>
            <p:spPr>
              <a:xfrm flipH="1">
                <a:off x="3947080" y="2592870"/>
                <a:ext cx="412750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Freeform 120"/>
              <p:cNvSpPr/>
              <p:nvPr/>
            </p:nvSpPr>
            <p:spPr>
              <a:xfrm rot="5400000" flipH="1">
                <a:off x="3527344" y="28128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Rectangle 58"/>
              <p:cNvSpPr/>
              <p:nvPr/>
            </p:nvSpPr>
            <p:spPr>
              <a:xfrm flipH="1">
                <a:off x="-3715889" y="2592870"/>
                <a:ext cx="7301019" cy="914400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0" name="Freeform 122"/>
              <p:cNvSpPr/>
              <p:nvPr/>
            </p:nvSpPr>
            <p:spPr>
              <a:xfrm rot="16200000" flipH="1" flipV="1">
                <a:off x="2887581" y="2812896"/>
                <a:ext cx="1114425" cy="274323"/>
              </a:xfrm>
              <a:custGeom>
                <a:avLst/>
                <a:gdLst>
                  <a:gd name="connsiteX0" fmla="*/ 0 w 633676"/>
                  <a:gd name="connsiteY0" fmla="*/ 274320 h 274320"/>
                  <a:gd name="connsiteX1" fmla="*/ 68580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633676"/>
                  <a:gd name="connsiteY0" fmla="*/ 274320 h 274320"/>
                  <a:gd name="connsiteX1" fmla="*/ 115214 w 633676"/>
                  <a:gd name="connsiteY1" fmla="*/ 0 h 274320"/>
                  <a:gd name="connsiteX2" fmla="*/ 633676 w 633676"/>
                  <a:gd name="connsiteY2" fmla="*/ 0 h 274320"/>
                  <a:gd name="connsiteX3" fmla="*/ 565096 w 633676"/>
                  <a:gd name="connsiteY3" fmla="*/ 274320 h 274320"/>
                  <a:gd name="connsiteX4" fmla="*/ 0 w 633676"/>
                  <a:gd name="connsiteY4" fmla="*/ 274320 h 274320"/>
                  <a:gd name="connsiteX0" fmla="*/ 0 w 576069"/>
                  <a:gd name="connsiteY0" fmla="*/ 274320 h 274320"/>
                  <a:gd name="connsiteX1" fmla="*/ 57607 w 576069"/>
                  <a:gd name="connsiteY1" fmla="*/ 0 h 274320"/>
                  <a:gd name="connsiteX2" fmla="*/ 576069 w 576069"/>
                  <a:gd name="connsiteY2" fmla="*/ 0 h 274320"/>
                  <a:gd name="connsiteX3" fmla="*/ 507489 w 576069"/>
                  <a:gd name="connsiteY3" fmla="*/ 274320 h 274320"/>
                  <a:gd name="connsiteX4" fmla="*/ 0 w 576069"/>
                  <a:gd name="connsiteY4" fmla="*/ 274320 h 274320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576069"/>
                  <a:gd name="connsiteY0" fmla="*/ 274323 h 274323"/>
                  <a:gd name="connsiteX1" fmla="*/ 57607 w 576069"/>
                  <a:gd name="connsiteY1" fmla="*/ 0 h 274323"/>
                  <a:gd name="connsiteX2" fmla="*/ 576069 w 576069"/>
                  <a:gd name="connsiteY2" fmla="*/ 0 h 274323"/>
                  <a:gd name="connsiteX3" fmla="*/ 507489 w 576069"/>
                  <a:gd name="connsiteY3" fmla="*/ 274320 h 274323"/>
                  <a:gd name="connsiteX4" fmla="*/ 0 w 576069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65097 w 633677"/>
                  <a:gd name="connsiteY3" fmla="*/ 274320 h 274323"/>
                  <a:gd name="connsiteX4" fmla="*/ 0 w 633677"/>
                  <a:gd name="connsiteY4" fmla="*/ 274323 h 274323"/>
                  <a:gd name="connsiteX0" fmla="*/ 0 w 633677"/>
                  <a:gd name="connsiteY0" fmla="*/ 274323 h 274323"/>
                  <a:gd name="connsiteX1" fmla="*/ 115215 w 633677"/>
                  <a:gd name="connsiteY1" fmla="*/ 0 h 274323"/>
                  <a:gd name="connsiteX2" fmla="*/ 633677 w 633677"/>
                  <a:gd name="connsiteY2" fmla="*/ 0 h 274323"/>
                  <a:gd name="connsiteX3" fmla="*/ 518463 w 633677"/>
                  <a:gd name="connsiteY3" fmla="*/ 274323 h 274323"/>
                  <a:gd name="connsiteX4" fmla="*/ 0 w 633677"/>
                  <a:gd name="connsiteY4" fmla="*/ 274323 h 274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33677" h="274323">
                    <a:moveTo>
                      <a:pt x="0" y="274323"/>
                    </a:moveTo>
                    <a:lnTo>
                      <a:pt x="115215" y="0"/>
                    </a:lnTo>
                    <a:lnTo>
                      <a:pt x="633677" y="0"/>
                    </a:lnTo>
                    <a:lnTo>
                      <a:pt x="518463" y="274323"/>
                    </a:lnTo>
                    <a:lnTo>
                      <a:pt x="0" y="274323"/>
                    </a:lnTo>
                    <a:close/>
                  </a:path>
                </a:pathLst>
              </a:custGeom>
              <a:solidFill>
                <a:schemeClr val="accent3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61" name="Rectangle 60"/>
              <p:cNvSpPr/>
              <p:nvPr/>
            </p:nvSpPr>
            <p:spPr>
              <a:xfrm flipH="1">
                <a:off x="3306524" y="2392845"/>
                <a:ext cx="914400" cy="914400"/>
              </a:xfrm>
              <a:prstGeom prst="rect">
                <a:avLst/>
              </a:prstGeom>
              <a:solidFill>
                <a:schemeClr val="accent3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400" b="1" dirty="0"/>
              </a:p>
            </p:txBody>
          </p:sp>
        </p:grpSp>
        <p:sp>
          <p:nvSpPr>
            <p:cNvPr id="31" name="Rectangle 30"/>
            <p:cNvSpPr/>
            <p:nvPr/>
          </p:nvSpPr>
          <p:spPr>
            <a:xfrm>
              <a:off x="7459387" y="2627620"/>
              <a:ext cx="26161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ar-SA" b="1" dirty="0">
                  <a:solidFill>
                    <a:schemeClr val="bg1"/>
                  </a:solidFill>
                </a:rPr>
                <a:t>-</a:t>
              </a:r>
              <a:endParaRPr lang="fr-FR" dirty="0"/>
            </a:p>
          </p:txBody>
        </p:sp>
      </p:grpSp>
      <p:sp>
        <p:nvSpPr>
          <p:cNvPr id="21510" name="Rectangle 21509"/>
          <p:cNvSpPr/>
          <p:nvPr/>
        </p:nvSpPr>
        <p:spPr>
          <a:xfrm>
            <a:off x="562909" y="2924943"/>
            <a:ext cx="6975615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A" sz="2000" b="1" dirty="0" smtClean="0">
                <a:solidFill>
                  <a:schemeClr val="bg1"/>
                </a:solidFill>
              </a:rPr>
              <a:t>نضغط </a:t>
            </a:r>
            <a:r>
              <a:rPr lang="ar-SA" sz="2000" b="1" dirty="0">
                <a:solidFill>
                  <a:schemeClr val="bg1"/>
                </a:solidFill>
              </a:rPr>
              <a:t>ضغطا مزدوجا فوق البرنامج ثم نتبع خطوات التثبيت حسب إرشادات </a:t>
            </a:r>
            <a:endParaRPr lang="ar-DZ" sz="2000" b="1" dirty="0" smtClean="0">
              <a:solidFill>
                <a:schemeClr val="bg1"/>
              </a:solidFill>
            </a:endParaRPr>
          </a:p>
          <a:p>
            <a:pPr algn="r" rtl="1"/>
            <a:r>
              <a:rPr lang="ar-SA" sz="2000" b="1" dirty="0" smtClean="0">
                <a:solidFill>
                  <a:schemeClr val="bg1"/>
                </a:solidFill>
              </a:rPr>
              <a:t>وتوجيهات  </a:t>
            </a:r>
            <a:r>
              <a:rPr lang="ar-SA" sz="2000" b="1" dirty="0">
                <a:solidFill>
                  <a:schemeClr val="bg1"/>
                </a:solidFill>
              </a:rPr>
              <a:t>البرنامج.</a:t>
            </a:r>
            <a:endParaRPr lang="fr-FR" sz="2000" dirty="0">
              <a:solidFill>
                <a:schemeClr val="bg1"/>
              </a:solidFill>
            </a:endParaRPr>
          </a:p>
        </p:txBody>
      </p:sp>
      <p:grpSp>
        <p:nvGrpSpPr>
          <p:cNvPr id="4" name="Groupe 3"/>
          <p:cNvGrpSpPr/>
          <p:nvPr/>
        </p:nvGrpSpPr>
        <p:grpSpPr>
          <a:xfrm>
            <a:off x="-180528" y="0"/>
            <a:ext cx="9324528" cy="6957392"/>
            <a:chOff x="-180528" y="0"/>
            <a:chExt cx="9324528" cy="6957392"/>
          </a:xfrm>
        </p:grpSpPr>
        <p:grpSp>
          <p:nvGrpSpPr>
            <p:cNvPr id="3" name="Groupe 2"/>
            <p:cNvGrpSpPr/>
            <p:nvPr/>
          </p:nvGrpSpPr>
          <p:grpSpPr>
            <a:xfrm>
              <a:off x="-180528" y="0"/>
              <a:ext cx="9324528" cy="6957392"/>
              <a:chOff x="-180528" y="0"/>
              <a:chExt cx="9324528" cy="6957392"/>
            </a:xfrm>
          </p:grpSpPr>
          <p:grpSp>
            <p:nvGrpSpPr>
              <p:cNvPr id="2" name="Groupe 1"/>
              <p:cNvGrpSpPr/>
              <p:nvPr/>
            </p:nvGrpSpPr>
            <p:grpSpPr>
              <a:xfrm>
                <a:off x="-180528" y="0"/>
                <a:ext cx="9324528" cy="6957392"/>
                <a:chOff x="-180528" y="0"/>
                <a:chExt cx="9324528" cy="6957392"/>
              </a:xfrm>
            </p:grpSpPr>
            <p:grpSp>
              <p:nvGrpSpPr>
                <p:cNvPr id="18" name="Groupe 17"/>
                <p:cNvGrpSpPr/>
                <p:nvPr/>
              </p:nvGrpSpPr>
              <p:grpSpPr>
                <a:xfrm>
                  <a:off x="-180528" y="0"/>
                  <a:ext cx="9324528" cy="6957392"/>
                  <a:chOff x="-180528" y="0"/>
                  <a:chExt cx="9324528" cy="6957392"/>
                </a:xfrm>
              </p:grpSpPr>
              <p:grpSp>
                <p:nvGrpSpPr>
                  <p:cNvPr id="5" name="Groupe 18"/>
                  <p:cNvGrpSpPr/>
                  <p:nvPr/>
                </p:nvGrpSpPr>
                <p:grpSpPr>
                  <a:xfrm>
                    <a:off x="0" y="0"/>
                    <a:ext cx="9144000" cy="6885384"/>
                    <a:chOff x="0" y="0"/>
                    <a:chExt cx="9144000" cy="6885384"/>
                  </a:xfrm>
                </p:grpSpPr>
                <p:sp>
                  <p:nvSpPr>
                    <p:cNvPr id="7" name="Rectangle 6"/>
                    <p:cNvSpPr/>
                    <p:nvPr/>
                  </p:nvSpPr>
                  <p:spPr>
                    <a:xfrm rot="10800000" flipV="1">
                      <a:off x="0" y="0"/>
                      <a:ext cx="6983760" cy="620688"/>
                    </a:xfrm>
                    <a:prstGeom prst="rect">
                      <a:avLst/>
                    </a:prstGeom>
                    <a:solidFill>
                      <a:srgbClr val="FF66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/>
                    </a:p>
                  </p:txBody>
                </p:sp>
                <p:grpSp>
                  <p:nvGrpSpPr>
                    <p:cNvPr id="8" name="Groupe 15"/>
                    <p:cNvGrpSpPr/>
                    <p:nvPr/>
                  </p:nvGrpSpPr>
                  <p:grpSpPr>
                    <a:xfrm>
                      <a:off x="0" y="6237312"/>
                      <a:ext cx="9144000" cy="648072"/>
                      <a:chOff x="0" y="6237312"/>
                      <a:chExt cx="9144000" cy="648072"/>
                    </a:xfrm>
                  </p:grpSpPr>
                  <p:sp>
                    <p:nvSpPr>
                      <p:cNvPr id="10" name="Rectangle 5"/>
                      <p:cNvSpPr/>
                      <p:nvPr/>
                    </p:nvSpPr>
                    <p:spPr>
                      <a:xfrm>
                        <a:off x="0" y="6309320"/>
                        <a:ext cx="9144000" cy="576064"/>
                      </a:xfrm>
                      <a:prstGeom prst="rect">
                        <a:avLst/>
                      </a:prstGeom>
                      <a:solidFill>
                        <a:srgbClr val="CC00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1"/>
                      </a:lnRef>
                      <a:fillRef idx="3">
                        <a:schemeClr val="accent1"/>
                      </a:fillRef>
                      <a:effectRef idx="2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  <p:sp>
                    <p:nvSpPr>
                      <p:cNvPr id="11" name="Rectangle 10"/>
                      <p:cNvSpPr/>
                      <p:nvPr/>
                    </p:nvSpPr>
                    <p:spPr>
                      <a:xfrm flipV="1">
                        <a:off x="0" y="6237312"/>
                        <a:ext cx="9144000" cy="72008"/>
                      </a:xfrm>
                      <a:prstGeom prst="rect">
                        <a:avLst/>
                      </a:prstGeom>
                      <a:solidFill>
                        <a:srgbClr val="FF6600"/>
                      </a:solidFill>
                      <a:ln>
                        <a:noFill/>
                      </a:ln>
                    </p:spPr>
                    <p:style>
                      <a:lnRef idx="1">
                        <a:schemeClr val="accent6"/>
                      </a:lnRef>
                      <a:fillRef idx="3">
                        <a:schemeClr val="accent6"/>
                      </a:fillRef>
                      <a:effectRef idx="2">
                        <a:schemeClr val="accent6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fr-FR"/>
                      </a:p>
                    </p:txBody>
                  </p:sp>
                </p:grpSp>
                <p:sp>
                  <p:nvSpPr>
                    <p:cNvPr id="9" name="Rectangle 8"/>
                    <p:cNvSpPr/>
                    <p:nvPr/>
                  </p:nvSpPr>
                  <p:spPr>
                    <a:xfrm rot="10800000" flipV="1">
                      <a:off x="7020272" y="0"/>
                      <a:ext cx="2123728" cy="620688"/>
                    </a:xfrm>
                    <a:prstGeom prst="rect">
                      <a:avLst/>
                    </a:prstGeom>
                    <a:solidFill>
                      <a:srgbClr val="CC0000"/>
                    </a:solidFill>
                    <a:ln>
                      <a:noFill/>
                    </a:ln>
                  </p:spPr>
                  <p:style>
                    <a:lnRef idx="1">
                      <a:schemeClr val="accent6"/>
                    </a:lnRef>
                    <a:fillRef idx="3">
                      <a:schemeClr val="accent6"/>
                    </a:fillRef>
                    <a:effectRef idx="2">
                      <a:schemeClr val="accent6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fr-FR" dirty="0"/>
                    </a:p>
                  </p:txBody>
                </p:sp>
              </p:grpSp>
              <p:pic>
                <p:nvPicPr>
                  <p:cNvPr id="13" name="Image 12" descr="3-2-blogging-transparent-thumb.png"/>
                  <p:cNvPicPr>
                    <a:picLocks noChangeAspect="1"/>
                  </p:cNvPicPr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2195736" y="6165304"/>
                    <a:ext cx="864096" cy="741369"/>
                  </a:xfrm>
                  <a:prstGeom prst="rect">
                    <a:avLst/>
                  </a:prstGeom>
                </p:spPr>
              </p:pic>
              <p:pic>
                <p:nvPicPr>
                  <p:cNvPr id="14" name="Image 13" descr="12-2-education-png-image-thumb.png"/>
                  <p:cNvPicPr>
                    <a:picLocks noChangeAspect="1"/>
                  </p:cNvPicPr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8388424" y="5976664"/>
                    <a:ext cx="720080" cy="980728"/>
                  </a:xfrm>
                  <a:prstGeom prst="rect">
                    <a:avLst/>
                  </a:prstGeom>
                </p:spPr>
              </p:pic>
              <p:sp>
                <p:nvSpPr>
                  <p:cNvPr id="15" name="ZoneTexte 14"/>
                  <p:cNvSpPr txBox="1"/>
                  <p:nvPr/>
                </p:nvSpPr>
                <p:spPr>
                  <a:xfrm>
                    <a:off x="5652120" y="6428655"/>
                    <a:ext cx="2808312" cy="384721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متوسطة قلواز </a:t>
                    </a:r>
                    <a:r>
                      <a:rPr lang="ar-DZ" sz="1900" b="1" dirty="0" err="1" smtClean="0">
                        <a:solidFill>
                          <a:schemeClr val="bg1"/>
                        </a:solidFill>
                      </a:rPr>
                      <a:t>موسى </a:t>
                    </a:r>
                    <a:r>
                      <a:rPr lang="ar-DZ" sz="1900" b="1" dirty="0" smtClean="0">
                        <a:solidFill>
                          <a:schemeClr val="bg1"/>
                        </a:solidFill>
                      </a:rPr>
                      <a:t>- بوراشد</a:t>
                    </a:r>
                    <a:endParaRPr lang="fr-FR" sz="19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6" name="ZoneTexte 15"/>
                  <p:cNvSpPr txBox="1"/>
                  <p:nvPr/>
                </p:nvSpPr>
                <p:spPr>
                  <a:xfrm>
                    <a:off x="-180528" y="6396335"/>
                    <a:ext cx="244827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تصميم الأستاذ ماحي رضا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  <p:sp>
                <p:nvSpPr>
                  <p:cNvPr id="17" name="ZoneTexte 16"/>
                  <p:cNvSpPr txBox="1"/>
                  <p:nvPr/>
                </p:nvSpPr>
                <p:spPr>
                  <a:xfrm>
                    <a:off x="2987824" y="6413266"/>
                    <a:ext cx="2088232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r" rtl="1"/>
                    <a:r>
                      <a:rPr lang="ar-DZ" sz="2000" b="1" dirty="0" smtClean="0">
                        <a:solidFill>
                          <a:schemeClr val="bg1"/>
                        </a:solidFill>
                      </a:rPr>
                      <a:t>المستوى:الأول متوسط</a:t>
                    </a:r>
                    <a:endParaRPr lang="fr-FR" sz="2000" b="1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73" name="Image 72" descr="3d print business.png"/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4788024" y="6274668"/>
                  <a:ext cx="1440160" cy="583332"/>
                </a:xfrm>
                <a:prstGeom prst="rect">
                  <a:avLst/>
                </a:prstGeom>
              </p:spPr>
            </p:pic>
          </p:grpSp>
          <p:sp>
            <p:nvSpPr>
              <p:cNvPr id="74" name="ZoneTexte 73"/>
              <p:cNvSpPr txBox="1"/>
              <p:nvPr/>
            </p:nvSpPr>
            <p:spPr>
              <a:xfrm>
                <a:off x="6948264" y="44624"/>
                <a:ext cx="212372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 rtl="1"/>
                <a:r>
                  <a:rPr lang="ar-DZ" sz="2800" b="1" dirty="0" smtClean="0">
                    <a:solidFill>
                      <a:schemeClr val="bg1"/>
                    </a:solidFill>
                  </a:rPr>
                  <a:t>الحصة </a:t>
                </a:r>
                <a:r>
                  <a:rPr lang="ar-DZ" sz="2800" b="1" dirty="0" err="1" smtClean="0">
                    <a:solidFill>
                      <a:schemeClr val="bg1"/>
                    </a:solidFill>
                  </a:rPr>
                  <a:t>التعلمية</a:t>
                </a:r>
                <a:endParaRPr lang="fr-FR" sz="2800" b="1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77" name="ZoneTexte 76"/>
            <p:cNvSpPr txBox="1"/>
            <p:nvPr/>
          </p:nvSpPr>
          <p:spPr>
            <a:xfrm>
              <a:off x="2267744" y="44624"/>
              <a:ext cx="324036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 rtl="1"/>
              <a:r>
                <a:rPr lang="ar-DZ" sz="2800" b="1" dirty="0" smtClean="0">
                  <a:solidFill>
                    <a:schemeClr val="bg1"/>
                  </a:solidFill>
                </a:rPr>
                <a:t>برنامج سكراتش </a:t>
              </a:r>
              <a:r>
                <a:rPr lang="fr-FR" sz="2800" b="1" dirty="0" smtClean="0">
                  <a:solidFill>
                    <a:schemeClr val="bg1"/>
                  </a:solidFill>
                </a:rPr>
                <a:t>scratch</a:t>
              </a:r>
              <a:endParaRPr lang="fr-FR" sz="28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8" name="Rectangle 77"/>
          <p:cNvSpPr/>
          <p:nvPr/>
        </p:nvSpPr>
        <p:spPr>
          <a:xfrm>
            <a:off x="251520" y="1772816"/>
            <a:ext cx="74910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DZ" sz="2000" b="1" dirty="0">
                <a:solidFill>
                  <a:schemeClr val="bg1"/>
                </a:solidFill>
              </a:rPr>
              <a:t>- بعد تحديد ملف البرنامج الذي يوافق نظام التشغيل الخاص بك من موقع البرنامج، تقوم بتحميله.</a:t>
            </a:r>
            <a:endParaRPr lang="fr-FR" sz="2000" b="1" dirty="0">
              <a:solidFill>
                <a:schemeClr val="bg1"/>
              </a:solidFill>
            </a:endParaRPr>
          </a:p>
        </p:txBody>
      </p:sp>
      <p:pic>
        <p:nvPicPr>
          <p:cNvPr id="72" name="Image 71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09" y="0"/>
            <a:ext cx="1344795" cy="57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156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5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750"/>
                            </p:stCondLst>
                            <p:childTnLst>
                              <p:par>
                                <p:cTn id="1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250"/>
                            </p:stCondLst>
                            <p:childTnLst>
                              <p:par>
                                <p:cTn id="1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75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5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69" grpId="0" animBg="1"/>
      <p:bldP spid="70" grpId="0"/>
      <p:bldP spid="71" grpId="0"/>
      <p:bldP spid="29" grpId="0"/>
      <p:bldP spid="21510" grpId="0"/>
      <p:bldP spid="78" grpId="0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22957</TotalTime>
  <Words>564</Words>
  <Application>Microsoft Office PowerPoint</Application>
  <PresentationFormat>Affichage à l'écran (4:3)</PresentationFormat>
  <Paragraphs>114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Gill Sans</vt:lpstr>
      <vt:lpstr>Raleway</vt:lpstr>
      <vt:lpstr>Times New Roman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CEM KALOUAZ MOUSSA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RIDHA MAHI</dc:creator>
  <cp:lastModifiedBy>ridha mahi</cp:lastModifiedBy>
  <cp:revision>622</cp:revision>
  <dcterms:created xsi:type="dcterms:W3CDTF">2017-08-13T13:54:07Z</dcterms:created>
  <dcterms:modified xsi:type="dcterms:W3CDTF">2018-04-02T11:00:47Z</dcterms:modified>
</cp:coreProperties>
</file>