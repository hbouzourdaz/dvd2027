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75" r:id="rId4"/>
    <p:sldId id="260" r:id="rId5"/>
    <p:sldId id="274" r:id="rId6"/>
    <p:sldId id="261" r:id="rId7"/>
    <p:sldId id="266" r:id="rId8"/>
    <p:sldId id="279" r:id="rId9"/>
    <p:sldId id="265" r:id="rId10"/>
    <p:sldId id="277" r:id="rId11"/>
    <p:sldId id="267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00"/>
    <a:srgbClr val="FF6600"/>
    <a:srgbClr val="57ABC9"/>
    <a:srgbClr val="D75BB4"/>
    <a:srgbClr val="EEC208"/>
    <a:srgbClr val="E86E77"/>
    <a:srgbClr val="F79646"/>
    <a:srgbClr val="F48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9" autoAdjust="0"/>
    <p:restoredTop sz="93728" autoAdjust="0"/>
  </p:normalViewPr>
  <p:slideViewPr>
    <p:cSldViewPr>
      <p:cViewPr>
        <p:scale>
          <a:sx n="70" d="100"/>
          <a:sy n="70" d="100"/>
        </p:scale>
        <p:origin x="-138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19/01/2018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6.png"/><Relationship Id="rId7" Type="http://schemas.openxmlformats.org/officeDocument/2006/relationships/image" Target="../media/image18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10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9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11" Type="http://schemas.openxmlformats.org/officeDocument/2006/relationships/image" Target="../media/image13.png"/><Relationship Id="rId5" Type="http://schemas.openxmlformats.org/officeDocument/2006/relationships/image" Target="../media/image26.jpeg"/><Relationship Id="rId10" Type="http://schemas.openxmlformats.org/officeDocument/2006/relationships/image" Target="../media/image7.png"/><Relationship Id="rId4" Type="http://schemas.openxmlformats.org/officeDocument/2006/relationships/image" Target="../media/image25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660232" y="2348880"/>
            <a:ext cx="3456384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313453" y="1103772"/>
            <a:ext cx="2577601" cy="3222893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30558">
            <a:off x="5239204" y="1484805"/>
            <a:ext cx="252069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600" b="1" dirty="0">
                <a:solidFill>
                  <a:schemeClr val="bg1"/>
                </a:solidFill>
              </a:rPr>
              <a:t>أردت الاتصال بصديق لك خارج الوطن بالصوت والصورة وتتبادلان بعض الملفات والمعلومات</a:t>
            </a:r>
            <a:r>
              <a:rPr lang="ar-DZ" sz="2600" b="1" dirty="0" smtClean="0">
                <a:solidFill>
                  <a:schemeClr val="bg1"/>
                </a:solidFill>
              </a:rPr>
              <a:t>.</a:t>
            </a:r>
            <a:endParaRPr lang="ar-DZ" sz="2600" b="1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971600" y="1612831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>
                <a:solidFill>
                  <a:schemeClr val="accent6">
                    <a:lumMod val="75000"/>
                  </a:schemeClr>
                </a:solidFill>
              </a:rPr>
              <a:t>كيف  </a:t>
            </a:r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يمكنك ذلك؟</a:t>
            </a:r>
            <a:endParaRPr lang="ar-DZ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85" name="Groupe 84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86" name="Pensées 8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ZoneTexte 8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3" name="Groupe 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90" name="Groupe 89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2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2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54" name="Rectangle 5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55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57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58" name="Rectangle 5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56" name="Rectangle 55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49" name="Image 48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50" name="Image 49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80" name="ZoneTexte 7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81" name="ZoneTexte 80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83" name="Image 82" descr="3d print business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4716016" y="6309320"/>
                  <a:ext cx="1440160" cy="620688"/>
                </a:xfrm>
                <a:prstGeom prst="rect">
                  <a:avLst/>
                </a:prstGeom>
              </p:spPr>
            </p:pic>
          </p:grpSp>
          <p:sp>
            <p:nvSpPr>
              <p:cNvPr id="34" name="ZoneTexte 3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المستوى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الثاني المتوسط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7" name="Image 36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16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66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16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16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66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/>
          <p:cNvGrpSpPr/>
          <p:nvPr/>
        </p:nvGrpSpPr>
        <p:grpSpPr>
          <a:xfrm>
            <a:off x="3127" y="609368"/>
            <a:ext cx="9144000" cy="5643181"/>
            <a:chOff x="1996306" y="415012"/>
            <a:chExt cx="9144000" cy="5643181"/>
          </a:xfrm>
        </p:grpSpPr>
        <p:pic>
          <p:nvPicPr>
            <p:cNvPr id="2050" name="Picture 2" descr="C:\Users\RIDHA\Downloads\صور المعلوماتية\1 (12)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6306" y="415012"/>
              <a:ext cx="9144000" cy="5643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6444208" y="1844825"/>
              <a:ext cx="3528392" cy="223224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7" name="ZoneTexte 26"/>
          <p:cNvSpPr txBox="1"/>
          <p:nvPr/>
        </p:nvSpPr>
        <p:spPr>
          <a:xfrm>
            <a:off x="4525765" y="2125718"/>
            <a:ext cx="3346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300" b="1" dirty="0" smtClean="0">
                <a:solidFill>
                  <a:srgbClr val="FFFF00"/>
                </a:solidFill>
              </a:rPr>
              <a:t>المجال المفاهيمي:</a:t>
            </a:r>
            <a:r>
              <a:rPr lang="ar-DZ" sz="2300" b="1" dirty="0">
                <a:solidFill>
                  <a:srgbClr val="FFFF00"/>
                </a:solidFill>
              </a:rPr>
              <a:t> </a:t>
            </a:r>
            <a:r>
              <a:rPr lang="ar-DZ" sz="2300" b="1" dirty="0" smtClean="0">
                <a:solidFill>
                  <a:schemeClr val="bg1"/>
                </a:solidFill>
              </a:rPr>
              <a:t>الشبكات </a:t>
            </a:r>
            <a:r>
              <a:rPr lang="en-US" sz="2300" b="1" dirty="0" smtClean="0">
                <a:solidFill>
                  <a:schemeClr val="bg1"/>
                </a:solidFill>
              </a:rPr>
              <a:t>R</a:t>
            </a:r>
            <a:r>
              <a:rPr lang="fr-FR" sz="2300" b="1" dirty="0" err="1" smtClean="0">
                <a:solidFill>
                  <a:schemeClr val="bg1"/>
                </a:solidFill>
              </a:rPr>
              <a:t>éseaux</a:t>
            </a:r>
            <a:endParaRPr lang="fr-FR" sz="23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4524547" y="2982724"/>
            <a:ext cx="33813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3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300" b="1" dirty="0" smtClean="0">
                <a:solidFill>
                  <a:schemeClr val="bg1"/>
                </a:solidFill>
              </a:rPr>
              <a:t>شبكة الإنترنت</a:t>
            </a:r>
            <a:endParaRPr lang="fr-FR" sz="23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741789" y="3774812"/>
            <a:ext cx="312851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3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300" b="1" dirty="0">
                <a:solidFill>
                  <a:schemeClr val="bg1"/>
                </a:solidFill>
              </a:rPr>
              <a:t>شبكة الإنترنت</a:t>
            </a:r>
            <a:endParaRPr lang="fr-FR" sz="2300" b="1" dirty="0">
              <a:solidFill>
                <a:srgbClr val="FF0000"/>
              </a:solidFill>
            </a:endParaRPr>
          </a:p>
        </p:txBody>
      </p:sp>
      <p:grpSp>
        <p:nvGrpSpPr>
          <p:cNvPr id="9" name="Groupe 8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4" name="Groupe 3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5" name="Groupe 14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7" name="Rectangle 1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8" name="Groupe 17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1" name="Rectangle 2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9" name="Rectangle 1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0" name="Image 9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1" name="Image 10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2" name="ZoneTexte 11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" name="ZoneTexte 12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" name="ZoneTexte 13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6" name="Image 5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64696"/>
                  <a:ext cx="1440160" cy="620688"/>
                </a:xfrm>
                <a:prstGeom prst="rect">
                  <a:avLst/>
                </a:prstGeom>
              </p:spPr>
            </p:pic>
          </p:grpSp>
          <p:sp>
            <p:nvSpPr>
              <p:cNvPr id="30" name="ZoneTexte 2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المستوى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ZoneTexte 30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الثاني المتوسط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3" name="Image 3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179" y="1743272"/>
            <a:ext cx="2461483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6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4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RIDHA\Downloads\صور المعلوماتية\1 (28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9"/>
            <a:ext cx="9144000" cy="56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15313" y="2053165"/>
            <a:ext cx="2073309" cy="40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856"/>
          <p:cNvSpPr/>
          <p:nvPr/>
        </p:nvSpPr>
        <p:spPr>
          <a:xfrm>
            <a:off x="5874000" y="2181541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2998220" y="2202587"/>
            <a:ext cx="2863773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5861994" y="2226501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3269705" y="2226501"/>
            <a:ext cx="2499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 مفهوم </a:t>
            </a:r>
            <a:r>
              <a:rPr lang="ar-DZ" sz="2000" b="1" dirty="0" smtClean="0">
                <a:solidFill>
                  <a:schemeClr val="bg1"/>
                </a:solidFill>
              </a:rPr>
              <a:t>الإنترنت </a:t>
            </a:r>
            <a:r>
              <a:rPr lang="en-US" sz="2000" b="1" dirty="0" smtClean="0">
                <a:solidFill>
                  <a:schemeClr val="bg1"/>
                </a:solidFill>
              </a:rPr>
              <a:t>Internet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5875623" y="3120405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2998220" y="3141451"/>
            <a:ext cx="2865398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5841955" y="3141451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2-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3199321" y="3184528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شروط  الإتصال بالإنترنت</a:t>
            </a:r>
            <a:endParaRPr lang="fr-FR" sz="2000" b="1" dirty="0">
              <a:solidFill>
                <a:schemeClr val="bg1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-27384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-27384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0" name="Groupe 79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5" name="Image 74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76" name="Image 75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7" name="ZoneTexte 76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8" name="ZoneTexte 77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9" name="Image 58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60" name="ZoneTexte 5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ZoneTexte 38"/>
            <p:cNvSpPr txBox="1"/>
            <p:nvPr/>
          </p:nvSpPr>
          <p:spPr>
            <a:xfrm>
              <a:off x="2915816" y="25460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شبكة الإنترنت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40" name="Image 39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-5753"/>
              <a:ext cx="2520279" cy="5495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/>
      <p:bldP spid="57" grpId="0"/>
      <p:bldP spid="71" grpId="0" animBg="1"/>
      <p:bldP spid="72" grpId="0" animBg="1"/>
      <p:bldP spid="73" grpId="0"/>
      <p:bldP spid="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980728"/>
            <a:ext cx="511256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827584" y="1680773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accent6">
                    <a:lumMod val="75000"/>
                  </a:schemeClr>
                </a:solidFill>
              </a:rPr>
              <a:t>ماذا نقصد </a:t>
            </a:r>
            <a:r>
              <a:rPr lang="ar-DZ" sz="2800" b="1" dirty="0" smtClean="0">
                <a:solidFill>
                  <a:schemeClr val="accent6">
                    <a:lumMod val="75000"/>
                  </a:schemeClr>
                </a:solidFill>
              </a:rPr>
              <a:t>بالإنترنت؟</a:t>
            </a:r>
            <a:endParaRPr lang="fr-FR" sz="28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5004048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9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22" name="Groupe 21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4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5" name="Rectangle 24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23" name="Rectangle 22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4" name="Image 13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5" name="Image 14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ZoneTexte 17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" name="Image 9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16016" y="6237312"/>
                  <a:ext cx="1440160" cy="620688"/>
                </a:xfrm>
                <a:prstGeom prst="rect">
                  <a:avLst/>
                </a:prstGeom>
              </p:spPr>
            </p:pic>
          </p:grpSp>
          <p:sp>
            <p:nvSpPr>
              <p:cNvPr id="31" name="ZoneTexte 30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" name="ZoneTexte 32"/>
            <p:cNvSpPr txBox="1"/>
            <p:nvPr/>
          </p:nvSpPr>
          <p:spPr>
            <a:xfrm>
              <a:off x="2915816" y="75837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شبكة الإنترنت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34" name="Image 33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C:\Users\RIDHA\Downloads\صور المعلوماتية\9 (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9180512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4828802" y="753426"/>
            <a:ext cx="343617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ZoneTexte 58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4934718" y="764704"/>
            <a:ext cx="309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مفهوم </a:t>
            </a:r>
            <a:r>
              <a:rPr lang="ar-DZ" sz="2400" b="1" dirty="0" smtClean="0">
                <a:solidFill>
                  <a:srgbClr val="FFFF00"/>
                </a:solidFill>
              </a:rPr>
              <a:t>الإنترنت </a:t>
            </a:r>
            <a:r>
              <a:rPr lang="fr-FR" sz="2400" b="1" dirty="0" smtClean="0">
                <a:solidFill>
                  <a:srgbClr val="FFFF00"/>
                </a:solidFill>
              </a:rPr>
              <a:t>Internet</a:t>
            </a:r>
            <a:r>
              <a:rPr lang="ar-DZ" sz="2400" b="1" dirty="0" smtClean="0">
                <a:solidFill>
                  <a:srgbClr val="FFFF00"/>
                </a:solidFill>
              </a:rPr>
              <a:t>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 flipH="1" flipV="1">
            <a:off x="395536" y="1700808"/>
            <a:ext cx="8352928" cy="1368152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539552" y="1805915"/>
            <a:ext cx="82089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200" b="1" dirty="0">
                <a:solidFill>
                  <a:schemeClr val="bg1"/>
                </a:solidFill>
              </a:rPr>
              <a:t>هي شبكة عالمية تربط مختلف الشبكات (</a:t>
            </a:r>
            <a:r>
              <a:rPr lang="fr-FR" sz="2200" b="1" dirty="0">
                <a:solidFill>
                  <a:schemeClr val="bg1"/>
                </a:solidFill>
              </a:rPr>
              <a:t>LAN </a:t>
            </a:r>
            <a:r>
              <a:rPr lang="ar-DZ" sz="2200" b="1" dirty="0" smtClean="0">
                <a:solidFill>
                  <a:schemeClr val="bg1"/>
                </a:solidFill>
              </a:rPr>
              <a:t> و</a:t>
            </a:r>
            <a:r>
              <a:rPr lang="fr-FR" sz="2200" b="1" dirty="0" smtClean="0">
                <a:solidFill>
                  <a:schemeClr val="bg1"/>
                </a:solidFill>
              </a:rPr>
              <a:t>MAN </a:t>
            </a:r>
            <a:r>
              <a:rPr lang="ar-DZ" sz="2200" b="1" dirty="0" smtClean="0">
                <a:solidFill>
                  <a:schemeClr val="bg1"/>
                </a:solidFill>
              </a:rPr>
              <a:t> و</a:t>
            </a:r>
            <a:r>
              <a:rPr lang="fr-FR" sz="2200" b="1" dirty="0" smtClean="0">
                <a:solidFill>
                  <a:schemeClr val="bg1"/>
                </a:solidFill>
              </a:rPr>
              <a:t>WAN </a:t>
            </a:r>
            <a:r>
              <a:rPr lang="ar-DZ" sz="2200" b="1" dirty="0" smtClean="0">
                <a:solidFill>
                  <a:schemeClr val="bg1"/>
                </a:solidFill>
              </a:rPr>
              <a:t>)عن </a:t>
            </a:r>
            <a:r>
              <a:rPr lang="ar-DZ" sz="2200" b="1" dirty="0">
                <a:solidFill>
                  <a:schemeClr val="bg1"/>
                </a:solidFill>
              </a:rPr>
              <a:t>طريق الشبكة الهاتفية والأقمار الصناعية وتوفر العديد من الخدمات منها الشبكة العنكبوتية </a:t>
            </a:r>
            <a:r>
              <a:rPr lang="fr-FR" sz="2200" b="1" dirty="0" smtClean="0">
                <a:solidFill>
                  <a:schemeClr val="bg1"/>
                </a:solidFill>
              </a:rPr>
              <a:t>web</a:t>
            </a:r>
            <a:r>
              <a:rPr lang="ar-DZ" sz="2200" b="1" dirty="0">
                <a:solidFill>
                  <a:schemeClr val="bg1"/>
                </a:solidFill>
              </a:rPr>
              <a:t>.</a:t>
            </a:r>
            <a:endParaRPr lang="ar-DZ" sz="2200" b="1" dirty="0" smtClean="0">
              <a:solidFill>
                <a:schemeClr val="bg1"/>
              </a:solidFill>
            </a:endParaRPr>
          </a:p>
          <a:p>
            <a:pPr lvl="0" algn="just" rtl="1"/>
            <a:r>
              <a:rPr lang="ar-DZ" sz="2200" b="1" dirty="0" smtClean="0">
                <a:solidFill>
                  <a:schemeClr val="bg1"/>
                </a:solidFill>
              </a:rPr>
              <a:t>- وهي </a:t>
            </a:r>
            <a:r>
              <a:rPr lang="ar-DZ" sz="2200" b="1" dirty="0">
                <a:solidFill>
                  <a:schemeClr val="bg1"/>
                </a:solidFill>
              </a:rPr>
              <a:t>كلمة مركبة من كلمتين</a:t>
            </a:r>
            <a:r>
              <a:rPr lang="ar-DZ" sz="2200" b="1" dirty="0" smtClean="0">
                <a:solidFill>
                  <a:schemeClr val="bg1"/>
                </a:solidFill>
              </a:rPr>
              <a:t>: </a:t>
            </a:r>
            <a:r>
              <a:rPr lang="fr-FR" sz="2200" b="1" dirty="0" smtClean="0">
                <a:solidFill>
                  <a:schemeClr val="bg1"/>
                </a:solidFill>
              </a:rPr>
              <a:t>Network</a:t>
            </a:r>
            <a:r>
              <a:rPr lang="ar-DZ" sz="2200" b="1" dirty="0" smtClean="0">
                <a:solidFill>
                  <a:schemeClr val="bg1"/>
                </a:solidFill>
              </a:rPr>
              <a:t>  </a:t>
            </a:r>
            <a:r>
              <a:rPr lang="fr-FR" sz="2200" b="1" dirty="0">
                <a:solidFill>
                  <a:schemeClr val="bg1"/>
                </a:solidFill>
              </a:rPr>
              <a:t>international</a:t>
            </a:r>
            <a:endParaRPr lang="fr-FR" sz="2200" b="1" dirty="0">
              <a:solidFill>
                <a:schemeClr val="bg1"/>
              </a:solidFill>
            </a:endParaRPr>
          </a:p>
        </p:txBody>
      </p:sp>
      <p:sp>
        <p:nvSpPr>
          <p:cNvPr id="13" name="Nuage 12"/>
          <p:cNvSpPr/>
          <p:nvPr/>
        </p:nvSpPr>
        <p:spPr>
          <a:xfrm>
            <a:off x="179512" y="3212976"/>
            <a:ext cx="8820471" cy="3312368"/>
          </a:xfrm>
          <a:prstGeom prst="cloud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6" name="Groupe 19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32" name="Image 3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3" name="Image 3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4" name="ZoneTexte 33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5" name="ZoneTexte 3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ZoneTexte 35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2" name="Image 51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4" name="ZoneTexte 5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ZoneTexte 54"/>
              <p:cNvSpPr txBox="1"/>
              <p:nvPr/>
            </p:nvSpPr>
            <p:spPr>
              <a:xfrm>
                <a:off x="2915816" y="44624"/>
                <a:ext cx="29523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شبكة الإنترنت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7" name="Groupe 36"/>
            <p:cNvGrpSpPr/>
            <p:nvPr/>
          </p:nvGrpSpPr>
          <p:grpSpPr>
            <a:xfrm>
              <a:off x="395536" y="13411"/>
              <a:ext cx="2520279" cy="585646"/>
              <a:chOff x="773578" y="2708920"/>
              <a:chExt cx="6372708" cy="2880320"/>
            </a:xfrm>
          </p:grpSpPr>
          <p:pic>
            <p:nvPicPr>
              <p:cNvPr id="38" name="Image 37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3578" y="2708920"/>
                <a:ext cx="6372708" cy="2702582"/>
              </a:xfrm>
              <a:prstGeom prst="rect">
                <a:avLst/>
              </a:prstGeom>
            </p:spPr>
          </p:pic>
          <p:grpSp>
            <p:nvGrpSpPr>
              <p:cNvPr id="39" name="Groupe 38"/>
              <p:cNvGrpSpPr/>
              <p:nvPr/>
            </p:nvGrpSpPr>
            <p:grpSpPr>
              <a:xfrm>
                <a:off x="2555776" y="5094631"/>
                <a:ext cx="954816" cy="494609"/>
                <a:chOff x="2393048" y="4971713"/>
                <a:chExt cx="954816" cy="494609"/>
              </a:xfrm>
            </p:grpSpPr>
            <p:cxnSp>
              <p:nvCxnSpPr>
                <p:cNvPr id="40" name="Connecteur en arc 39"/>
                <p:cNvCxnSpPr/>
                <p:nvPr/>
              </p:nvCxnSpPr>
              <p:spPr>
                <a:xfrm flipV="1">
                  <a:off x="3059832" y="5147007"/>
                  <a:ext cx="288032" cy="247307"/>
                </a:xfrm>
                <a:prstGeom prst="curvedConnector3">
                  <a:avLst>
                    <a:gd name="adj1" fmla="val -11598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41" name="Picture 2" descr="C:\Users\RIDHA\Downloads\صور المعلوماتية\الطابعة.png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2393048" y="4971713"/>
                  <a:ext cx="735416" cy="49460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pic>
        <p:nvPicPr>
          <p:cNvPr id="5122" name="Picture 2" descr="K:\صور المعلوماتية\téléchargement (9)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674" y="3573016"/>
            <a:ext cx="5959249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  <p:bldP spid="60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2123728" y="1282393"/>
            <a:ext cx="5544616" cy="2064451"/>
          </a:xfrm>
          <a:prstGeom prst="cloudCallout">
            <a:avLst>
              <a:gd name="adj1" fmla="val -38100"/>
              <a:gd name="adj2" fmla="val 77244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429000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2483768" y="1911652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يمكنك الإتصال بشبكة</a:t>
            </a:r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الإنترنت؟ </a:t>
            </a:r>
            <a:endParaRPr lang="ar-DZ" sz="24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ZoneTexte 27"/>
            <p:cNvSpPr txBox="1"/>
            <p:nvPr/>
          </p:nvSpPr>
          <p:spPr>
            <a:xfrm>
              <a:off x="2915816" y="75837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شبكة الإنترنت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  <p:sp>
        <p:nvSpPr>
          <p:cNvPr id="34" name="ZoneTexte 33"/>
          <p:cNvSpPr txBox="1"/>
          <p:nvPr/>
        </p:nvSpPr>
        <p:spPr>
          <a:xfrm>
            <a:off x="2590092" y="2375906"/>
            <a:ext cx="39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وماهي الشروط اللازمة لذلك</a:t>
            </a:r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؟ </a:t>
            </a:r>
            <a:endParaRPr lang="ar-DZ" sz="24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2123728" y="1282393"/>
            <a:ext cx="5544616" cy="2064451"/>
          </a:xfrm>
          <a:prstGeom prst="cloudCallout">
            <a:avLst>
              <a:gd name="adj1" fmla="val -38100"/>
              <a:gd name="adj2" fmla="val 77244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429000"/>
            <a:ext cx="2941886" cy="2952328"/>
          </a:xfrm>
          <a:prstGeom prst="rect">
            <a:avLst/>
          </a:prstGeom>
          <a:noFill/>
        </p:spPr>
      </p:pic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ZoneTexte 27"/>
            <p:cNvSpPr txBox="1"/>
            <p:nvPr/>
          </p:nvSpPr>
          <p:spPr>
            <a:xfrm>
              <a:off x="2915816" y="75837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شبكة الإنترنت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  <p:sp>
        <p:nvSpPr>
          <p:cNvPr id="34" name="ZoneTexte 33"/>
          <p:cNvSpPr txBox="1"/>
          <p:nvPr/>
        </p:nvSpPr>
        <p:spPr>
          <a:xfrm>
            <a:off x="2627784" y="1914241"/>
            <a:ext cx="3963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الشروط الإتصال السلكي</a:t>
            </a:r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؟ </a:t>
            </a:r>
            <a:endParaRPr lang="ar-DZ" sz="24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875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8" descr="C:\Users\RIDHA\Downloads\صور المعلوماتية\9 (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9180512" cy="561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Shape 859"/>
          <p:cNvSpPr/>
          <p:nvPr/>
        </p:nvSpPr>
        <p:spPr>
          <a:xfrm>
            <a:off x="4031939" y="720328"/>
            <a:ext cx="419080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ZoneTexte 90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4283968" y="692696"/>
            <a:ext cx="36724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600" b="1" dirty="0" smtClean="0">
                <a:solidFill>
                  <a:srgbClr val="FFFF00"/>
                </a:solidFill>
              </a:rPr>
              <a:t>شروط الإتصال بالإنترنت:</a:t>
            </a:r>
            <a:endParaRPr lang="fr-FR" sz="2600" b="1" dirty="0">
              <a:solidFill>
                <a:srgbClr val="FFFF00"/>
              </a:solidFill>
            </a:endParaRPr>
          </a:p>
        </p:txBody>
      </p:sp>
      <p:grpSp>
        <p:nvGrpSpPr>
          <p:cNvPr id="64" name="Group 104"/>
          <p:cNvGrpSpPr/>
          <p:nvPr/>
        </p:nvGrpSpPr>
        <p:grpSpPr>
          <a:xfrm>
            <a:off x="5004047" y="3405366"/>
            <a:ext cx="3730472" cy="527690"/>
            <a:chOff x="780251" y="1173645"/>
            <a:chExt cx="3579579" cy="1114425"/>
          </a:xfrm>
        </p:grpSpPr>
        <p:sp>
          <p:nvSpPr>
            <p:cNvPr id="65" name="Rectangle 6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 flipH="1">
              <a:off x="780251" y="1373671"/>
              <a:ext cx="2804879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71" name="Group 118"/>
          <p:cNvGrpSpPr/>
          <p:nvPr/>
        </p:nvGrpSpPr>
        <p:grpSpPr>
          <a:xfrm>
            <a:off x="964874" y="3410031"/>
            <a:ext cx="3592114" cy="523025"/>
            <a:chOff x="913013" y="2392845"/>
            <a:chExt cx="3446817" cy="1114425"/>
          </a:xfrm>
        </p:grpSpPr>
        <p:sp>
          <p:nvSpPr>
            <p:cNvPr id="72" name="Rectangle 71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913013" y="2592869"/>
              <a:ext cx="2672118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7" name="Rectangle 86"/>
          <p:cNvSpPr/>
          <p:nvPr/>
        </p:nvSpPr>
        <p:spPr>
          <a:xfrm>
            <a:off x="5004047" y="3509312"/>
            <a:ext cx="26582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SA" sz="2000" b="1" dirty="0">
                <a:solidFill>
                  <a:schemeClr val="bg1"/>
                </a:solidFill>
              </a:rPr>
              <a:t>وسائط الاتصال مثل الكابلات.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007608" y="3412056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5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93" name="Rectangle 92"/>
          <p:cNvSpPr/>
          <p:nvPr/>
        </p:nvSpPr>
        <p:spPr>
          <a:xfrm>
            <a:off x="3844021" y="3410032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6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95" name="Rectangle 94"/>
          <p:cNvSpPr/>
          <p:nvPr/>
        </p:nvSpPr>
        <p:spPr>
          <a:xfrm>
            <a:off x="1842732" y="3515956"/>
            <a:ext cx="15760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متصفح الإنترنت.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21" name="Group 118"/>
          <p:cNvGrpSpPr/>
          <p:nvPr/>
        </p:nvGrpSpPr>
        <p:grpSpPr>
          <a:xfrm>
            <a:off x="964874" y="2329911"/>
            <a:ext cx="3727796" cy="523025"/>
            <a:chOff x="782819" y="2392845"/>
            <a:chExt cx="3577011" cy="1114425"/>
          </a:xfrm>
        </p:grpSpPr>
        <p:sp>
          <p:nvSpPr>
            <p:cNvPr id="122" name="Rectangle 121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 flipH="1">
              <a:off x="782819" y="2592869"/>
              <a:ext cx="2802308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ectangle 125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9" name="Rectangle 128"/>
          <p:cNvSpPr/>
          <p:nvPr/>
        </p:nvSpPr>
        <p:spPr>
          <a:xfrm>
            <a:off x="3979703" y="2329912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3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510337" y="2435836"/>
            <a:ext cx="20441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جهاز مودم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Modem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31" name="Group 104"/>
          <p:cNvGrpSpPr/>
          <p:nvPr/>
        </p:nvGrpSpPr>
        <p:grpSpPr>
          <a:xfrm>
            <a:off x="824907" y="2876570"/>
            <a:ext cx="7906934" cy="527690"/>
            <a:chOff x="-3227279" y="1173645"/>
            <a:chExt cx="7587109" cy="1114425"/>
          </a:xfrm>
        </p:grpSpPr>
        <p:sp>
          <p:nvSpPr>
            <p:cNvPr id="132" name="Rectangle 131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Rectangle 133"/>
            <p:cNvSpPr/>
            <p:nvPr/>
          </p:nvSpPr>
          <p:spPr>
            <a:xfrm flipH="1">
              <a:off x="-3227279" y="1373671"/>
              <a:ext cx="6812410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Rectangle 135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37" name="Rectangle 136"/>
          <p:cNvSpPr/>
          <p:nvPr/>
        </p:nvSpPr>
        <p:spPr>
          <a:xfrm>
            <a:off x="1040931" y="2980516"/>
            <a:ext cx="66247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دفع حق الإشتراك لدى مزود خدمة الإنترنت (شركة اتصالات الجزائر).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8004931" y="2883260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4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39" name="Group 104"/>
          <p:cNvGrpSpPr/>
          <p:nvPr/>
        </p:nvGrpSpPr>
        <p:grpSpPr>
          <a:xfrm>
            <a:off x="827584" y="1749182"/>
            <a:ext cx="7904257" cy="527690"/>
            <a:chOff x="-3224711" y="1173645"/>
            <a:chExt cx="7584541" cy="1114425"/>
          </a:xfrm>
        </p:grpSpPr>
        <p:sp>
          <p:nvSpPr>
            <p:cNvPr id="140" name="Rectangle 139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Rectangle 141"/>
            <p:cNvSpPr/>
            <p:nvPr/>
          </p:nvSpPr>
          <p:spPr>
            <a:xfrm flipH="1">
              <a:off x="-3224711" y="1373671"/>
              <a:ext cx="6809841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Rectangle 143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45" name="Rectangle 144"/>
          <p:cNvSpPr/>
          <p:nvPr/>
        </p:nvSpPr>
        <p:spPr>
          <a:xfrm>
            <a:off x="7956376" y="1758859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1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46" name="TextBox 68"/>
          <p:cNvSpPr txBox="1"/>
          <p:nvPr/>
        </p:nvSpPr>
        <p:spPr>
          <a:xfrm>
            <a:off x="1043609" y="1892422"/>
            <a:ext cx="648072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جهاز حاسوب يحتوي على بطاقة الشبكة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السلكية 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carte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réseau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filaire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47" name="Group 104"/>
          <p:cNvGrpSpPr/>
          <p:nvPr/>
        </p:nvGrpSpPr>
        <p:grpSpPr>
          <a:xfrm>
            <a:off x="5004049" y="2323221"/>
            <a:ext cx="3727792" cy="527690"/>
            <a:chOff x="782822" y="1173645"/>
            <a:chExt cx="3577008" cy="1114425"/>
          </a:xfrm>
        </p:grpSpPr>
        <p:sp>
          <p:nvSpPr>
            <p:cNvPr id="148" name="Rectangle 147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Rectangle 149"/>
            <p:cNvSpPr/>
            <p:nvPr/>
          </p:nvSpPr>
          <p:spPr>
            <a:xfrm flipH="1">
              <a:off x="782822" y="1373671"/>
              <a:ext cx="2802309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Rectangle 151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53" name="Rectangle 152"/>
          <p:cNvSpPr/>
          <p:nvPr/>
        </p:nvSpPr>
        <p:spPr>
          <a:xfrm>
            <a:off x="5217394" y="2427167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>
                <a:solidFill>
                  <a:schemeClr val="bg1"/>
                </a:solidFill>
              </a:rPr>
              <a:t>خط هاتفي أرضي.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8004931" y="2329911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2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9" name="Nuage 18"/>
          <p:cNvSpPr/>
          <p:nvPr/>
        </p:nvSpPr>
        <p:spPr>
          <a:xfrm rot="151158">
            <a:off x="-403842" y="3930353"/>
            <a:ext cx="9576088" cy="2906942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4" name="Groupe 2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53336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49" name="Image 48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0" name="ZoneTexte 4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2" name="ZoneTexte 51"/>
            <p:cNvSpPr txBox="1"/>
            <p:nvPr/>
          </p:nvSpPr>
          <p:spPr>
            <a:xfrm>
              <a:off x="2915816" y="44624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شبكة الإنترنت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54" name="Image 5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  <p:pic>
        <p:nvPicPr>
          <p:cNvPr id="3075" name="Picture 3" descr="J:\Nouveau dossier\صور\وسائط الربط1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215" y="5013176"/>
            <a:ext cx="973265" cy="903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J:\Nouveau dossier\صور\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11226">
            <a:off x="6804650" y="4227171"/>
            <a:ext cx="1375968" cy="103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e 19"/>
          <p:cNvGrpSpPr/>
          <p:nvPr/>
        </p:nvGrpSpPr>
        <p:grpSpPr>
          <a:xfrm>
            <a:off x="1043608" y="4223248"/>
            <a:ext cx="5760640" cy="2014064"/>
            <a:chOff x="1510337" y="4005064"/>
            <a:chExt cx="4822845" cy="2155675"/>
          </a:xfrm>
        </p:grpSpPr>
        <p:pic>
          <p:nvPicPr>
            <p:cNvPr id="3078" name="Picture 6" descr="J:\Nouveau dossier\صور\hhhhhhhhhhhhhh.jpg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0337" y="4005064"/>
              <a:ext cx="4822845" cy="2155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 descr="J:\Nouveau dossier\صور\building-icon-12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057" y="4077072"/>
              <a:ext cx="792088" cy="79208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5" name="Rectangle 154"/>
            <p:cNvSpPr/>
            <p:nvPr/>
          </p:nvSpPr>
          <p:spPr>
            <a:xfrm>
              <a:off x="4886329" y="4201223"/>
              <a:ext cx="98937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 rtl="1"/>
              <a:r>
                <a:rPr lang="ar-DZ" sz="1200" b="1" dirty="0" smtClean="0">
                  <a:cs typeface="Times New Roman"/>
                </a:rPr>
                <a:t>اتصالات الجزائر</a:t>
              </a:r>
              <a:endParaRPr lang="fr-FR" sz="1200" dirty="0"/>
            </a:p>
          </p:txBody>
        </p:sp>
      </p:grpSp>
      <p:grpSp>
        <p:nvGrpSpPr>
          <p:cNvPr id="156" name="Group 53"/>
          <p:cNvGrpSpPr>
            <a:grpSpLocks/>
          </p:cNvGrpSpPr>
          <p:nvPr/>
        </p:nvGrpSpPr>
        <p:grpSpPr bwMode="auto">
          <a:xfrm flipH="1">
            <a:off x="8235567" y="1378424"/>
            <a:ext cx="253339" cy="245165"/>
            <a:chOff x="2078" y="1680"/>
            <a:chExt cx="1615" cy="1615"/>
          </a:xfrm>
        </p:grpSpPr>
        <p:sp>
          <p:nvSpPr>
            <p:cNvPr id="157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8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9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60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61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62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63" name="ZoneTexte 162"/>
          <p:cNvSpPr txBox="1"/>
          <p:nvPr/>
        </p:nvSpPr>
        <p:spPr>
          <a:xfrm>
            <a:off x="6015174" y="1280373"/>
            <a:ext cx="23012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600" b="1" dirty="0" smtClean="0">
                <a:solidFill>
                  <a:srgbClr val="FFFF00"/>
                </a:solidFill>
              </a:rPr>
              <a:t>الإتصال السلكي:</a:t>
            </a:r>
            <a:endParaRPr lang="fr-FR" sz="2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6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6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1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6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1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6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71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600"/>
                            </p:stCondLst>
                            <p:childTnLst>
                              <p:par>
                                <p:cTn id="10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3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  <p:bldP spid="92" grpId="0"/>
      <p:bldP spid="87" grpId="0"/>
      <p:bldP spid="88" grpId="0"/>
      <p:bldP spid="93" grpId="0"/>
      <p:bldP spid="95" grpId="0"/>
      <p:bldP spid="129" grpId="0"/>
      <p:bldP spid="130" grpId="0"/>
      <p:bldP spid="137" grpId="0"/>
      <p:bldP spid="138" grpId="0"/>
      <p:bldP spid="145" grpId="0"/>
      <p:bldP spid="146" grpId="0"/>
      <p:bldP spid="153" grpId="0"/>
      <p:bldP spid="154" grpId="0"/>
      <p:bldP spid="1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63688" y="1268760"/>
            <a:ext cx="4176464" cy="1728192"/>
          </a:xfrm>
          <a:prstGeom prst="cloudCallout">
            <a:avLst>
              <a:gd name="adj1" fmla="val -30751"/>
              <a:gd name="adj2" fmla="val 8842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1931707" y="1850381"/>
            <a:ext cx="3675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</a:t>
            </a:r>
            <a:r>
              <a:rPr lang="ar-DZ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شروط الإتصال اللاسكي؟</a:t>
            </a:r>
            <a:endParaRPr lang="ar-DZ" sz="24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pSp>
        <p:nvGrpSpPr>
          <p:cNvPr id="20" name="Groupe 1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ZoneTexte 34"/>
              <p:cNvSpPr txBox="1"/>
              <p:nvPr/>
            </p:nvSpPr>
            <p:spPr>
              <a:xfrm>
                <a:off x="2915816" y="44624"/>
                <a:ext cx="20882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الأشكال والصور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7" name="Image 36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6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40" name="Group 104"/>
          <p:cNvGrpSpPr/>
          <p:nvPr/>
        </p:nvGrpSpPr>
        <p:grpSpPr>
          <a:xfrm>
            <a:off x="5162008" y="2812348"/>
            <a:ext cx="3730472" cy="527690"/>
            <a:chOff x="780251" y="1173645"/>
            <a:chExt cx="3579579" cy="1114425"/>
          </a:xfrm>
        </p:grpSpPr>
        <p:sp>
          <p:nvSpPr>
            <p:cNvPr id="41" name="Rectangle 4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/>
            <p:cNvSpPr/>
            <p:nvPr/>
          </p:nvSpPr>
          <p:spPr>
            <a:xfrm flipH="1">
              <a:off x="780251" y="1373671"/>
              <a:ext cx="2804879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52" name="Rectangle 51"/>
          <p:cNvSpPr/>
          <p:nvPr/>
        </p:nvSpPr>
        <p:spPr>
          <a:xfrm>
            <a:off x="5162008" y="2916294"/>
            <a:ext cx="26582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SA" sz="2000" b="1" dirty="0">
                <a:solidFill>
                  <a:schemeClr val="bg1"/>
                </a:solidFill>
              </a:rPr>
              <a:t>- متصفح الإنترنت.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100392" y="2819038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3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68" name="Group 104"/>
          <p:cNvGrpSpPr/>
          <p:nvPr/>
        </p:nvGrpSpPr>
        <p:grpSpPr>
          <a:xfrm>
            <a:off x="268143" y="1916832"/>
            <a:ext cx="8625057" cy="769007"/>
            <a:chOff x="-3894024" y="1173645"/>
            <a:chExt cx="8253854" cy="1114425"/>
          </a:xfrm>
        </p:grpSpPr>
        <p:sp>
          <p:nvSpPr>
            <p:cNvPr id="69" name="Rectangle 68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flipH="1">
              <a:off x="-3894024" y="1373672"/>
              <a:ext cx="7479155" cy="9143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0" name="Rectangle 79"/>
          <p:cNvSpPr/>
          <p:nvPr/>
        </p:nvSpPr>
        <p:spPr>
          <a:xfrm>
            <a:off x="412159" y="2020779"/>
            <a:ext cx="741486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1900" b="1" dirty="0">
                <a:solidFill>
                  <a:schemeClr val="bg1"/>
                </a:solidFill>
              </a:rPr>
              <a:t>- </a:t>
            </a:r>
            <a:r>
              <a:rPr lang="ar-SA" sz="1900" b="1" dirty="0" smtClean="0">
                <a:solidFill>
                  <a:schemeClr val="bg1"/>
                </a:solidFill>
              </a:rPr>
              <a:t>موزع </a:t>
            </a:r>
            <a:r>
              <a:rPr lang="ar-SA" sz="1900" b="1" dirty="0">
                <a:solidFill>
                  <a:schemeClr val="bg1"/>
                </a:solidFill>
              </a:rPr>
              <a:t>لاسلكي </a:t>
            </a:r>
            <a:r>
              <a:rPr lang="ar-SA" sz="1900" b="1" dirty="0" smtClean="0">
                <a:solidFill>
                  <a:schemeClr val="bg1"/>
                </a:solidFill>
              </a:rPr>
              <a:t>(</a:t>
            </a:r>
            <a:r>
              <a:rPr lang="fr-FR" sz="1900" b="1" dirty="0" smtClean="0">
                <a:solidFill>
                  <a:schemeClr val="bg1"/>
                </a:solidFill>
              </a:rPr>
              <a:t> (</a:t>
            </a:r>
            <a:r>
              <a:rPr lang="fr-FR" sz="1900" b="1" dirty="0">
                <a:solidFill>
                  <a:schemeClr val="bg1"/>
                </a:solidFill>
              </a:rPr>
              <a:t>4</a:t>
            </a:r>
            <a:r>
              <a:rPr lang="fr-FR" sz="1900" b="1" dirty="0" smtClean="0">
                <a:solidFill>
                  <a:schemeClr val="bg1"/>
                </a:solidFill>
              </a:rPr>
              <a:t>G </a:t>
            </a:r>
            <a:r>
              <a:rPr lang="ar-SA" sz="1900" b="1" dirty="0">
                <a:solidFill>
                  <a:schemeClr val="bg1"/>
                </a:solidFill>
              </a:rPr>
              <a:t>من اتصالات الجزائر. </a:t>
            </a:r>
          </a:p>
          <a:p>
            <a:pPr algn="r" rtl="1">
              <a:spcAft>
                <a:spcPts val="0"/>
              </a:spcAft>
            </a:pPr>
            <a:r>
              <a:rPr lang="ar-SA" sz="1900" b="1" dirty="0" smtClean="0">
                <a:solidFill>
                  <a:schemeClr val="bg1"/>
                </a:solidFill>
              </a:rPr>
              <a:t>- </a:t>
            </a:r>
            <a:r>
              <a:rPr lang="ar-SA" sz="1900" b="1" dirty="0">
                <a:solidFill>
                  <a:schemeClr val="bg1"/>
                </a:solidFill>
              </a:rPr>
              <a:t>أو شريحة هاتف و مفتاح إنترنت من إحدى شركات الهاتف النقال (موبيليس،جازي،أوريدو)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00392" y="2069064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2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82" name="Group 104"/>
          <p:cNvGrpSpPr/>
          <p:nvPr/>
        </p:nvGrpSpPr>
        <p:grpSpPr>
          <a:xfrm>
            <a:off x="268143" y="1086030"/>
            <a:ext cx="8624337" cy="758793"/>
            <a:chOff x="-3915665" y="1173645"/>
            <a:chExt cx="8275495" cy="1114425"/>
          </a:xfrm>
        </p:grpSpPr>
        <p:sp>
          <p:nvSpPr>
            <p:cNvPr id="83" name="Rectangle 82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flipH="1">
              <a:off x="-3915665" y="1373671"/>
              <a:ext cx="7500795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8" name="Rectangle 87"/>
          <p:cNvSpPr/>
          <p:nvPr/>
        </p:nvSpPr>
        <p:spPr>
          <a:xfrm>
            <a:off x="8117015" y="1196752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b="1" dirty="0" smtClean="0">
                <a:solidFill>
                  <a:schemeClr val="bg1"/>
                </a:solidFill>
              </a:rPr>
              <a:t>1</a:t>
            </a:r>
            <a:r>
              <a:rPr lang="ar-SA" b="1" dirty="0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9" name="TextBox 68"/>
          <p:cNvSpPr txBox="1"/>
          <p:nvPr/>
        </p:nvSpPr>
        <p:spPr>
          <a:xfrm>
            <a:off x="412159" y="1229271"/>
            <a:ext cx="7272809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جهاز حاسوب  أو هاتف ذكي  يحتويان على بطاقة الشبكة اللاسلكية 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carte réseau sans fil.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1" name="Nuage 100"/>
          <p:cNvSpPr/>
          <p:nvPr/>
        </p:nvSpPr>
        <p:spPr>
          <a:xfrm rot="151158">
            <a:off x="-193275" y="3481351"/>
            <a:ext cx="9576088" cy="2906942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3" name="Group 53"/>
          <p:cNvGrpSpPr>
            <a:grpSpLocks/>
          </p:cNvGrpSpPr>
          <p:nvPr/>
        </p:nvGrpSpPr>
        <p:grpSpPr bwMode="auto">
          <a:xfrm flipH="1">
            <a:off x="8235567" y="730352"/>
            <a:ext cx="253339" cy="245165"/>
            <a:chOff x="2078" y="1680"/>
            <a:chExt cx="1615" cy="1615"/>
          </a:xfrm>
        </p:grpSpPr>
        <p:sp>
          <p:nvSpPr>
            <p:cNvPr id="105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6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7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08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09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10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11" name="ZoneTexte 110"/>
          <p:cNvSpPr txBox="1"/>
          <p:nvPr/>
        </p:nvSpPr>
        <p:spPr>
          <a:xfrm>
            <a:off x="6015174" y="632301"/>
            <a:ext cx="23012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600" b="1" dirty="0" smtClean="0">
                <a:solidFill>
                  <a:srgbClr val="FFFF00"/>
                </a:solidFill>
              </a:rPr>
              <a:t>الإتصال اللاسلكي:</a:t>
            </a:r>
            <a:endParaRPr lang="fr-FR" sz="2600" b="1" dirty="0">
              <a:solidFill>
                <a:srgbClr val="FFFF00"/>
              </a:solidFill>
            </a:endParaRPr>
          </a:p>
        </p:txBody>
      </p:sp>
      <p:pic>
        <p:nvPicPr>
          <p:cNvPr id="113" name="Image 112" descr="D:\informatique\مذكرات سنة ثانية متوسط\djezy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436" y="4474214"/>
            <a:ext cx="972951" cy="943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Image 113" descr="D:\informatique\مذكرات سنة ثانية متوسط\ooredoo.png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6" r="17320"/>
          <a:stretch/>
        </p:blipFill>
        <p:spPr bwMode="auto">
          <a:xfrm>
            <a:off x="7478187" y="3945091"/>
            <a:ext cx="766221" cy="852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Picture 9" descr="D:\informatique\مذكرات سنة ثانية متوسط\ltjhp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86" r="24314"/>
          <a:stretch/>
        </p:blipFill>
        <p:spPr bwMode="auto">
          <a:xfrm>
            <a:off x="6876256" y="4808486"/>
            <a:ext cx="1188132" cy="11407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J:\Nouveau dossier\صور\946294_vw_etz00_1021906180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812409"/>
            <a:ext cx="1093229" cy="85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K:\صور المعلوماتية\3-2-online-banking-free-png-image-thumb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93305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J:\Nouveau dossier\صور\wireless-300x219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0" t="12669" r="9956" b="17842"/>
          <a:stretch/>
        </p:blipFill>
        <p:spPr bwMode="auto">
          <a:xfrm>
            <a:off x="899593" y="3928694"/>
            <a:ext cx="3744416" cy="180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9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المستوى:الثاني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73" name="Image 72" descr="3d print business.png"/>
                <p:cNvPicPr>
                  <a:picLocks noChangeAspect="1"/>
                </p:cNvPicPr>
                <p:nvPr/>
              </p:nvPicPr>
              <p:blipFill>
                <a:blip r:embed="rId11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74" name="ZoneTexte 7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ZoneTexte 37"/>
            <p:cNvSpPr txBox="1"/>
            <p:nvPr/>
          </p:nvSpPr>
          <p:spPr>
            <a:xfrm>
              <a:off x="2915816" y="75837"/>
              <a:ext cx="2952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مفهوم الشبكة و أنواعها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536" y="44624"/>
              <a:ext cx="2520279" cy="5495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1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1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1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52" grpId="0"/>
      <p:bldP spid="53" grpId="0"/>
      <p:bldP spid="80" grpId="0"/>
      <p:bldP spid="81" grpId="0"/>
      <p:bldP spid="88" grpId="0"/>
      <p:bldP spid="89" grpId="0"/>
      <p:bldP spid="111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35244</TotalTime>
  <Words>381</Words>
  <Application>Microsoft Office PowerPoint</Application>
  <PresentationFormat>Affichage à l'écran (4:3)</PresentationFormat>
  <Paragraphs>95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704</cp:revision>
  <dcterms:created xsi:type="dcterms:W3CDTF">2017-08-13T13:54:07Z</dcterms:created>
  <dcterms:modified xsi:type="dcterms:W3CDTF">2018-01-21T21:50:17Z</dcterms:modified>
</cp:coreProperties>
</file>