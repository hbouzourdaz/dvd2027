
<file path=[Content_Types].xml><?xml version="1.0" encoding="utf-8"?>
<Types xmlns="http://schemas.openxmlformats.org/package/2006/content-types">
  <Default Extension="png" ContentType="image/png"/>
  <Default Extension="tmp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6" r:id="rId2"/>
    <p:sldId id="257" r:id="rId3"/>
    <p:sldId id="275" r:id="rId4"/>
    <p:sldId id="260" r:id="rId5"/>
    <p:sldId id="274" r:id="rId6"/>
    <p:sldId id="261" r:id="rId7"/>
    <p:sldId id="264" r:id="rId8"/>
    <p:sldId id="266" r:id="rId9"/>
    <p:sldId id="265" r:id="rId10"/>
    <p:sldId id="277" r:id="rId11"/>
    <p:sldId id="267" r:id="rId12"/>
    <p:sldId id="269" r:id="rId13"/>
    <p:sldId id="270" r:id="rId14"/>
    <p:sldId id="271" r:id="rId15"/>
    <p:sldId id="272" r:id="rId16"/>
    <p:sldId id="273" r:id="rId17"/>
    <p:sldId id="262" r:id="rId18"/>
    <p:sldId id="263" r:id="rId19"/>
    <p:sldId id="278" r:id="rId20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00"/>
    <a:srgbClr val="FF3300"/>
    <a:srgbClr val="FF6600"/>
    <a:srgbClr val="57ABC9"/>
    <a:srgbClr val="D75BB4"/>
    <a:srgbClr val="EEC208"/>
    <a:srgbClr val="E86E77"/>
    <a:srgbClr val="F79646"/>
    <a:srgbClr val="F48E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728" autoAdjust="0"/>
  </p:normalViewPr>
  <p:slideViewPr>
    <p:cSldViewPr>
      <p:cViewPr>
        <p:scale>
          <a:sx n="70" d="100"/>
          <a:sy n="70" d="100"/>
        </p:scale>
        <p:origin x="-1386" y="-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C6B9-1AE0-4F9B-92BA-7BAE68551FBC}" type="datetimeFigureOut">
              <a:rPr lang="fr-FR" smtClean="0"/>
              <a:pPr/>
              <a:t>07/11/2017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4C1ED-98AE-46DE-B9B9-6CFC1AF092D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C6B9-1AE0-4F9B-92BA-7BAE68551FBC}" type="datetimeFigureOut">
              <a:rPr lang="fr-FR" smtClean="0"/>
              <a:pPr/>
              <a:t>07/11/2017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4C1ED-98AE-46DE-B9B9-6CFC1AF092D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C6B9-1AE0-4F9B-92BA-7BAE68551FBC}" type="datetimeFigureOut">
              <a:rPr lang="fr-FR" smtClean="0"/>
              <a:pPr/>
              <a:t>07/11/2017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4C1ED-98AE-46DE-B9B9-6CFC1AF092D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C6B9-1AE0-4F9B-92BA-7BAE68551FBC}" type="datetimeFigureOut">
              <a:rPr lang="fr-FR" smtClean="0"/>
              <a:pPr/>
              <a:t>07/11/2017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4C1ED-98AE-46DE-B9B9-6CFC1AF092D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C6B9-1AE0-4F9B-92BA-7BAE68551FBC}" type="datetimeFigureOut">
              <a:rPr lang="fr-FR" smtClean="0"/>
              <a:pPr/>
              <a:t>07/11/2017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4C1ED-98AE-46DE-B9B9-6CFC1AF092D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C6B9-1AE0-4F9B-92BA-7BAE68551FBC}" type="datetimeFigureOut">
              <a:rPr lang="fr-FR" smtClean="0"/>
              <a:pPr/>
              <a:t>07/11/2017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4C1ED-98AE-46DE-B9B9-6CFC1AF092D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C6B9-1AE0-4F9B-92BA-7BAE68551FBC}" type="datetimeFigureOut">
              <a:rPr lang="fr-FR" smtClean="0"/>
              <a:pPr/>
              <a:t>07/11/2017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4C1ED-98AE-46DE-B9B9-6CFC1AF092D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C6B9-1AE0-4F9B-92BA-7BAE68551FBC}" type="datetimeFigureOut">
              <a:rPr lang="fr-FR" smtClean="0"/>
              <a:pPr/>
              <a:t>07/11/2017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4C1ED-98AE-46DE-B9B9-6CFC1AF092D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C6B9-1AE0-4F9B-92BA-7BAE68551FBC}" type="datetimeFigureOut">
              <a:rPr lang="fr-FR" smtClean="0"/>
              <a:pPr/>
              <a:t>07/11/2017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4C1ED-98AE-46DE-B9B9-6CFC1AF092D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C6B9-1AE0-4F9B-92BA-7BAE68551FBC}" type="datetimeFigureOut">
              <a:rPr lang="fr-FR" smtClean="0"/>
              <a:pPr/>
              <a:t>07/11/2017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4C1ED-98AE-46DE-B9B9-6CFC1AF092D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C6B9-1AE0-4F9B-92BA-7BAE68551FBC}" type="datetimeFigureOut">
              <a:rPr lang="fr-FR" smtClean="0"/>
              <a:pPr/>
              <a:t>07/11/2017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4C1ED-98AE-46DE-B9B9-6CFC1AF092D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68C6B9-1AE0-4F9B-92BA-7BAE68551FBC}" type="datetimeFigureOut">
              <a:rPr lang="fr-FR" smtClean="0"/>
              <a:pPr/>
              <a:t>07/11/2017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24C1ED-98AE-46DE-B9B9-6CFC1AF092D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9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9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5.tmp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13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13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6.png"/><Relationship Id="rId7" Type="http://schemas.openxmlformats.org/officeDocument/2006/relationships/image" Target="../media/image1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13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6.png"/><Relationship Id="rId7" Type="http://schemas.openxmlformats.org/officeDocument/2006/relationships/image" Target="../media/image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13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6.png"/><Relationship Id="rId7" Type="http://schemas.openxmlformats.org/officeDocument/2006/relationships/image" Target="../media/image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20.png"/><Relationship Id="rId5" Type="http://schemas.openxmlformats.org/officeDocument/2006/relationships/image" Target="../media/image7.png"/><Relationship Id="rId10" Type="http://schemas.openxmlformats.org/officeDocument/2006/relationships/image" Target="../media/image19.png"/><Relationship Id="rId4" Type="http://schemas.openxmlformats.org/officeDocument/2006/relationships/image" Target="../media/image6.png"/><Relationship Id="rId9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21.tmp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13.png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6.png"/><Relationship Id="rId7" Type="http://schemas.openxmlformats.org/officeDocument/2006/relationships/image" Target="../media/image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13.png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6.png"/><Relationship Id="rId7" Type="http://schemas.openxmlformats.org/officeDocument/2006/relationships/image" Target="../media/image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22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13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 descr="besmallah.bmp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92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Image 68" descr="shutterstock_17221542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20688"/>
            <a:ext cx="9144000" cy="5616624"/>
          </a:xfrm>
          <a:prstGeom prst="rect">
            <a:avLst/>
          </a:prstGeom>
        </p:spPr>
      </p:pic>
      <p:pic>
        <p:nvPicPr>
          <p:cNvPr id="70" name="Image 69" descr="11-2-animation-png-hd-thumb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 flipH="1">
            <a:off x="6516216" y="2193557"/>
            <a:ext cx="3672408" cy="3384376"/>
          </a:xfrm>
          <a:prstGeom prst="rect">
            <a:avLst/>
          </a:prstGeom>
        </p:spPr>
      </p:pic>
      <p:grpSp>
        <p:nvGrpSpPr>
          <p:cNvPr id="71" name="Group 77"/>
          <p:cNvGrpSpPr/>
          <p:nvPr/>
        </p:nvGrpSpPr>
        <p:grpSpPr>
          <a:xfrm rot="20065487">
            <a:off x="5275599" y="1098927"/>
            <a:ext cx="2577601" cy="3064663"/>
            <a:chOff x="914400" y="1122362"/>
            <a:chExt cx="2080267" cy="3453889"/>
          </a:xfrm>
        </p:grpSpPr>
        <p:sp>
          <p:nvSpPr>
            <p:cNvPr id="72" name="Freeform 6"/>
            <p:cNvSpPr>
              <a:spLocks/>
            </p:cNvSpPr>
            <p:nvPr/>
          </p:nvSpPr>
          <p:spPr bwMode="auto">
            <a:xfrm>
              <a:off x="1259206" y="4208781"/>
              <a:ext cx="1138806" cy="367470"/>
            </a:xfrm>
            <a:custGeom>
              <a:avLst/>
              <a:gdLst/>
              <a:ahLst/>
              <a:cxnLst>
                <a:cxn ang="0">
                  <a:pos x="0" y="35"/>
                </a:cxn>
                <a:cxn ang="0">
                  <a:pos x="433" y="0"/>
                </a:cxn>
                <a:cxn ang="0">
                  <a:pos x="657" y="193"/>
                </a:cxn>
                <a:cxn ang="0">
                  <a:pos x="0" y="35"/>
                </a:cxn>
              </a:cxnLst>
              <a:rect l="0" t="0" r="r" b="b"/>
              <a:pathLst>
                <a:path w="657" h="193">
                  <a:moveTo>
                    <a:pt x="0" y="35"/>
                  </a:moveTo>
                  <a:lnTo>
                    <a:pt x="433" y="0"/>
                  </a:lnTo>
                  <a:lnTo>
                    <a:pt x="657" y="193"/>
                  </a:lnTo>
                  <a:lnTo>
                    <a:pt x="0" y="35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" name="Freeform 7"/>
            <p:cNvSpPr>
              <a:spLocks/>
            </p:cNvSpPr>
            <p:nvPr/>
          </p:nvSpPr>
          <p:spPr bwMode="auto">
            <a:xfrm>
              <a:off x="1265879" y="3815606"/>
              <a:ext cx="1728788" cy="48586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089" y="176"/>
                </a:cxn>
                <a:cxn ang="0">
                  <a:pos x="9" y="265"/>
                </a:cxn>
                <a:cxn ang="0">
                  <a:pos x="0" y="0"/>
                </a:cxn>
              </a:cxnLst>
              <a:rect l="0" t="0" r="r" b="b"/>
              <a:pathLst>
                <a:path w="1089" h="265">
                  <a:moveTo>
                    <a:pt x="0" y="0"/>
                  </a:moveTo>
                  <a:lnTo>
                    <a:pt x="1089" y="176"/>
                  </a:lnTo>
                  <a:lnTo>
                    <a:pt x="9" y="2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" name="Freeform 8"/>
            <p:cNvSpPr>
              <a:spLocks/>
            </p:cNvSpPr>
            <p:nvPr/>
          </p:nvSpPr>
          <p:spPr bwMode="auto">
            <a:xfrm>
              <a:off x="914400" y="1122362"/>
              <a:ext cx="2062163" cy="3013075"/>
            </a:xfrm>
            <a:custGeom>
              <a:avLst/>
              <a:gdLst/>
              <a:ahLst/>
              <a:cxnLst>
                <a:cxn ang="0">
                  <a:pos x="1299" y="1898"/>
                </a:cxn>
                <a:cxn ang="0">
                  <a:pos x="0" y="1689"/>
                </a:cxn>
                <a:cxn ang="0">
                  <a:pos x="0" y="0"/>
                </a:cxn>
                <a:cxn ang="0">
                  <a:pos x="1299" y="0"/>
                </a:cxn>
                <a:cxn ang="0">
                  <a:pos x="1299" y="1898"/>
                </a:cxn>
              </a:cxnLst>
              <a:rect l="0" t="0" r="r" b="b"/>
              <a:pathLst>
                <a:path w="1299" h="1898">
                  <a:moveTo>
                    <a:pt x="1299" y="1898"/>
                  </a:moveTo>
                  <a:lnTo>
                    <a:pt x="0" y="1689"/>
                  </a:lnTo>
                  <a:lnTo>
                    <a:pt x="0" y="0"/>
                  </a:lnTo>
                  <a:lnTo>
                    <a:pt x="1299" y="0"/>
                  </a:lnTo>
                  <a:lnTo>
                    <a:pt x="1299" y="1898"/>
                  </a:lnTo>
                  <a:close/>
                </a:path>
              </a:pathLst>
            </a:custGeom>
            <a:solidFill>
              <a:schemeClr val="accent4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75" name="ZoneTexte 74"/>
          <p:cNvSpPr txBox="1"/>
          <p:nvPr/>
        </p:nvSpPr>
        <p:spPr>
          <a:xfrm rot="20130558">
            <a:off x="5148538" y="1410832"/>
            <a:ext cx="252069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Low" rtl="1"/>
            <a:r>
              <a:rPr lang="ar-DZ" sz="2000" b="1" dirty="0">
                <a:solidFill>
                  <a:schemeClr val="bg1"/>
                </a:solidFill>
              </a:rPr>
              <a:t>بالإضافة إلى كتابة النصوص و إدراج الجداول، يسمح لنا معالج النصوص</a:t>
            </a:r>
            <a:r>
              <a:rPr lang="fr-FR" sz="2000" b="1" dirty="0" err="1">
                <a:solidFill>
                  <a:schemeClr val="bg1"/>
                </a:solidFill>
              </a:rPr>
              <a:t>MsWord</a:t>
            </a:r>
            <a:r>
              <a:rPr lang="fr-FR" sz="2000" b="1" dirty="0">
                <a:solidFill>
                  <a:schemeClr val="bg1"/>
                </a:solidFill>
              </a:rPr>
              <a:t> </a:t>
            </a:r>
            <a:r>
              <a:rPr lang="ar-SA" sz="2000" b="1" dirty="0">
                <a:solidFill>
                  <a:schemeClr val="bg1"/>
                </a:solidFill>
              </a:rPr>
              <a:t> بإدراج الصور ومختلف الأشكال التي تساعدنا في إتمام  أبحاثنا وأعمالنا في</a:t>
            </a:r>
            <a:r>
              <a:rPr lang="ar-DZ" sz="2000" b="1" dirty="0" smtClean="0">
                <a:solidFill>
                  <a:schemeClr val="bg1"/>
                </a:solidFill>
              </a:rPr>
              <a:t>ه</a:t>
            </a:r>
            <a:r>
              <a:rPr lang="ar-DZ" sz="2000" b="1" dirty="0">
                <a:solidFill>
                  <a:schemeClr val="bg1"/>
                </a:solidFill>
              </a:rPr>
              <a:t>.</a:t>
            </a:r>
            <a:endParaRPr lang="fr-FR" sz="2000" dirty="0">
              <a:solidFill>
                <a:schemeClr val="bg1"/>
              </a:solidFill>
            </a:endParaRPr>
          </a:p>
        </p:txBody>
      </p:sp>
      <p:pic>
        <p:nvPicPr>
          <p:cNvPr id="76" name="Image 75" descr="Person-question-2-151x300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-108520" y="2204864"/>
            <a:ext cx="1438275" cy="3289548"/>
          </a:xfrm>
          <a:prstGeom prst="rect">
            <a:avLst/>
          </a:prstGeom>
        </p:spPr>
      </p:pic>
      <p:sp>
        <p:nvSpPr>
          <p:cNvPr id="77" name="Pensées 76"/>
          <p:cNvSpPr/>
          <p:nvPr/>
        </p:nvSpPr>
        <p:spPr>
          <a:xfrm>
            <a:off x="827584" y="980728"/>
            <a:ext cx="3672408" cy="1800200"/>
          </a:xfrm>
          <a:prstGeom prst="cloudCallout">
            <a:avLst>
              <a:gd name="adj1" fmla="val -49179"/>
              <a:gd name="adj2" fmla="val 74222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8" name="ZoneTexte 77"/>
          <p:cNvSpPr txBox="1"/>
          <p:nvPr/>
        </p:nvSpPr>
        <p:spPr>
          <a:xfrm>
            <a:off x="827584" y="1486525"/>
            <a:ext cx="35283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3600" b="1" dirty="0" smtClean="0">
                <a:solidFill>
                  <a:schemeClr val="accent6">
                    <a:lumMod val="75000"/>
                  </a:schemeClr>
                </a:solidFill>
              </a:rPr>
              <a:t>كيف يتم ذلك؟</a:t>
            </a:r>
            <a:endParaRPr lang="fr-FR" sz="3600" b="1" dirty="0">
              <a:ln w="1905"/>
              <a:solidFill>
                <a:schemeClr val="accent6">
                  <a:lumMod val="75000"/>
                </a:schemeClr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84" name="Picture 4" descr="C:\Users\RIDHA\Pictures\Image13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123728" y="4149080"/>
            <a:ext cx="1224136" cy="2220466"/>
          </a:xfrm>
          <a:prstGeom prst="rect">
            <a:avLst/>
          </a:prstGeom>
          <a:noFill/>
        </p:spPr>
      </p:pic>
      <p:grpSp>
        <p:nvGrpSpPr>
          <p:cNvPr id="85" name="Groupe 84"/>
          <p:cNvGrpSpPr/>
          <p:nvPr/>
        </p:nvGrpSpPr>
        <p:grpSpPr>
          <a:xfrm>
            <a:off x="2627784" y="3717032"/>
            <a:ext cx="2160240" cy="648072"/>
            <a:chOff x="3563888" y="1268760"/>
            <a:chExt cx="2664296" cy="936104"/>
          </a:xfrm>
        </p:grpSpPr>
        <p:sp>
          <p:nvSpPr>
            <p:cNvPr id="86" name="Pensées 85"/>
            <p:cNvSpPr/>
            <p:nvPr/>
          </p:nvSpPr>
          <p:spPr>
            <a:xfrm>
              <a:off x="3563888" y="1268760"/>
              <a:ext cx="2664296" cy="936104"/>
            </a:xfrm>
            <a:prstGeom prst="cloudCallout">
              <a:avLst>
                <a:gd name="adj1" fmla="val -25273"/>
                <a:gd name="adj2" fmla="val 95060"/>
              </a:avLst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 rtl="1"/>
              <a:endParaRPr lang="fr-FR" b="1" dirty="0">
                <a:solidFill>
                  <a:schemeClr val="tx1"/>
                </a:solidFill>
              </a:endParaRPr>
            </a:p>
          </p:txBody>
        </p:sp>
        <p:sp>
          <p:nvSpPr>
            <p:cNvPr id="87" name="ZoneTexte 86"/>
            <p:cNvSpPr txBox="1"/>
            <p:nvPr/>
          </p:nvSpPr>
          <p:spPr>
            <a:xfrm>
              <a:off x="3779913" y="1484784"/>
              <a:ext cx="2304256" cy="5779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1"/>
              <a:r>
                <a:rPr lang="ar-DZ" sz="2000" b="1" dirty="0" smtClean="0"/>
                <a:t>الإجابة برفع الإصبع</a:t>
              </a:r>
            </a:p>
          </p:txBody>
        </p:sp>
      </p:grpSp>
      <p:grpSp>
        <p:nvGrpSpPr>
          <p:cNvPr id="2" name="Groupe 1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90" name="Groupe 89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82" name="Groupe 81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52" name="Groupe 18"/>
                <p:cNvGrpSpPr/>
                <p:nvPr/>
              </p:nvGrpSpPr>
              <p:grpSpPr>
                <a:xfrm>
                  <a:off x="0" y="0"/>
                  <a:ext cx="9144000" cy="6885384"/>
                  <a:chOff x="0" y="0"/>
                  <a:chExt cx="9144000" cy="6885384"/>
                </a:xfrm>
              </p:grpSpPr>
              <p:sp>
                <p:nvSpPr>
                  <p:cNvPr id="54" name="Rectangle 53"/>
                  <p:cNvSpPr/>
                  <p:nvPr/>
                </p:nvSpPr>
                <p:spPr>
                  <a:xfrm rot="10800000" flipV="1">
                    <a:off x="0" y="0"/>
                    <a:ext cx="6983760" cy="620688"/>
                  </a:xfrm>
                  <a:prstGeom prst="rect">
                    <a:avLst/>
                  </a:prstGeom>
                  <a:solidFill>
                    <a:srgbClr val="FF6600"/>
                  </a:solidFill>
                  <a:ln>
                    <a:noFill/>
                  </a:ln>
                </p:spPr>
                <p:style>
                  <a:lnRef idx="1">
                    <a:schemeClr val="accent6"/>
                  </a:lnRef>
                  <a:fillRef idx="3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grpSp>
                <p:nvGrpSpPr>
                  <p:cNvPr id="55" name="Groupe 15"/>
                  <p:cNvGrpSpPr/>
                  <p:nvPr/>
                </p:nvGrpSpPr>
                <p:grpSpPr>
                  <a:xfrm>
                    <a:off x="0" y="6237312"/>
                    <a:ext cx="9144000" cy="648072"/>
                    <a:chOff x="0" y="6237312"/>
                    <a:chExt cx="9144000" cy="648072"/>
                  </a:xfrm>
                </p:grpSpPr>
                <p:sp>
                  <p:nvSpPr>
                    <p:cNvPr id="57" name="Rectangle 5"/>
                    <p:cNvSpPr/>
                    <p:nvPr/>
                  </p:nvSpPr>
                  <p:spPr>
                    <a:xfrm>
                      <a:off x="0" y="6309320"/>
                      <a:ext cx="9144000" cy="576064"/>
                    </a:xfrm>
                    <a:prstGeom prst="rect">
                      <a:avLst/>
                    </a:prstGeom>
                    <a:solidFill>
                      <a:srgbClr val="CC0000"/>
                    </a:solidFill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sp>
                  <p:nvSpPr>
                    <p:cNvPr id="58" name="Rectangle 57"/>
                    <p:cNvSpPr/>
                    <p:nvPr/>
                  </p:nvSpPr>
                  <p:spPr>
                    <a:xfrm flipV="1">
                      <a:off x="0" y="6237312"/>
                      <a:ext cx="9144000" cy="72008"/>
                    </a:xfrm>
                    <a:prstGeom prst="rect">
                      <a:avLst/>
                    </a:prstGeom>
                    <a:solidFill>
                      <a:srgbClr val="FF66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</p:grpSp>
              <p:sp>
                <p:nvSpPr>
                  <p:cNvPr id="56" name="Rectangle 55"/>
                  <p:cNvSpPr/>
                  <p:nvPr/>
                </p:nvSpPr>
                <p:spPr>
                  <a:xfrm rot="10800000" flipV="1">
                    <a:off x="7020272" y="0"/>
                    <a:ext cx="2123728" cy="620688"/>
                  </a:xfrm>
                  <a:prstGeom prst="rect">
                    <a:avLst/>
                  </a:prstGeom>
                  <a:solidFill>
                    <a:srgbClr val="CC0000"/>
                  </a:solidFill>
                  <a:ln>
                    <a:noFill/>
                  </a:ln>
                </p:spPr>
                <p:style>
                  <a:lnRef idx="1">
                    <a:schemeClr val="accent6"/>
                  </a:lnRef>
                  <a:fillRef idx="3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dirty="0"/>
                  </a:p>
                </p:txBody>
              </p:sp>
            </p:grpSp>
            <p:pic>
              <p:nvPicPr>
                <p:cNvPr id="49" name="Image 48" descr="3-2-blogging-transparent-thumb.png"/>
                <p:cNvPicPr>
                  <a:picLocks noChangeAspect="1"/>
                </p:cNvPicPr>
                <p:nvPr/>
              </p:nvPicPr>
              <p:blipFill>
                <a:blip r:embed="rId6" cstate="print"/>
                <a:stretch>
                  <a:fillRect/>
                </a:stretch>
              </p:blipFill>
              <p:spPr>
                <a:xfrm>
                  <a:off x="2195736" y="6165304"/>
                  <a:ext cx="864096" cy="741369"/>
                </a:xfrm>
                <a:prstGeom prst="rect">
                  <a:avLst/>
                </a:prstGeom>
              </p:spPr>
            </p:pic>
            <p:pic>
              <p:nvPicPr>
                <p:cNvPr id="50" name="Image 49" descr="12-2-education-png-image-thumb.png"/>
                <p:cNvPicPr>
                  <a:picLocks noChangeAspect="1"/>
                </p:cNvPicPr>
                <p:nvPr/>
              </p:nvPicPr>
              <p:blipFill>
                <a:blip r:embed="rId7" cstate="print"/>
                <a:stretch>
                  <a:fillRect/>
                </a:stretch>
              </p:blipFill>
              <p:spPr>
                <a:xfrm>
                  <a:off x="8388424" y="5976664"/>
                  <a:ext cx="720080" cy="980728"/>
                </a:xfrm>
                <a:prstGeom prst="rect">
                  <a:avLst/>
                </a:prstGeom>
              </p:spPr>
            </p:pic>
            <p:sp>
              <p:nvSpPr>
                <p:cNvPr id="79" name="ZoneTexte 78"/>
                <p:cNvSpPr txBox="1"/>
                <p:nvPr/>
              </p:nvSpPr>
              <p:spPr>
                <a:xfrm>
                  <a:off x="5796136" y="6428655"/>
                  <a:ext cx="2664296" cy="3847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1900" b="1" dirty="0" smtClean="0">
                      <a:solidFill>
                        <a:schemeClr val="bg1"/>
                      </a:solidFill>
                    </a:rPr>
                    <a:t>متوسطة قلواز </a:t>
                  </a:r>
                  <a:r>
                    <a:rPr lang="ar-DZ" sz="1900" b="1" dirty="0" err="1" smtClean="0">
                      <a:solidFill>
                        <a:schemeClr val="bg1"/>
                      </a:solidFill>
                    </a:rPr>
                    <a:t>موسى </a:t>
                  </a:r>
                  <a:r>
                    <a:rPr lang="ar-DZ" sz="1900" b="1" dirty="0" smtClean="0">
                      <a:solidFill>
                        <a:schemeClr val="bg1"/>
                      </a:solidFill>
                    </a:rPr>
                    <a:t>- بوراشد</a:t>
                  </a:r>
                  <a:endParaRPr lang="fr-FR" sz="19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80" name="ZoneTexte 79"/>
                <p:cNvSpPr txBox="1"/>
                <p:nvPr/>
              </p:nvSpPr>
              <p:spPr>
                <a:xfrm>
                  <a:off x="-180528" y="6396335"/>
                  <a:ext cx="244827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2000" b="1" dirty="0" smtClean="0">
                      <a:solidFill>
                        <a:schemeClr val="bg1"/>
                      </a:solidFill>
                    </a:rPr>
                    <a:t>تصميم الأستاذ ماحي رضا</a:t>
                  </a:r>
                  <a:endParaRPr lang="fr-FR" sz="20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81" name="ZoneTexte 80"/>
                <p:cNvSpPr txBox="1"/>
                <p:nvPr/>
              </p:nvSpPr>
              <p:spPr>
                <a:xfrm>
                  <a:off x="2915816" y="6381328"/>
                  <a:ext cx="2088232" cy="3847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1900" b="1" dirty="0" smtClean="0">
                      <a:solidFill>
                        <a:schemeClr val="bg1"/>
                      </a:solidFill>
                    </a:rPr>
                    <a:t>المستوى:الثاني متوسط</a:t>
                  </a:r>
                  <a:endParaRPr lang="fr-FR" sz="1900" b="1" dirty="0">
                    <a:solidFill>
                      <a:schemeClr val="bg1"/>
                    </a:solidFill>
                  </a:endParaRPr>
                </a:p>
              </p:txBody>
            </p:sp>
          </p:grpSp>
          <p:pic>
            <p:nvPicPr>
              <p:cNvPr id="83" name="Image 82" descr="3d print business.png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4716016" y="6309320"/>
                <a:ext cx="1440160" cy="620688"/>
              </a:xfrm>
              <a:prstGeom prst="rect">
                <a:avLst/>
              </a:prstGeom>
            </p:spPr>
          </p:pic>
          <p:pic>
            <p:nvPicPr>
              <p:cNvPr id="88" name="Image 87" descr="Microsoft_Word_2013_logo.svg.png"/>
              <p:cNvPicPr>
                <a:picLocks noChangeAspect="1"/>
              </p:cNvPicPr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827584" y="33236"/>
                <a:ext cx="792087" cy="587452"/>
              </a:xfrm>
              <a:prstGeom prst="rect">
                <a:avLst/>
              </a:prstGeom>
            </p:spPr>
          </p:pic>
        </p:grpSp>
        <p:sp>
          <p:nvSpPr>
            <p:cNvPr id="34" name="ZoneTexte 33"/>
            <p:cNvSpPr txBox="1"/>
            <p:nvPr/>
          </p:nvSpPr>
          <p:spPr>
            <a:xfrm>
              <a:off x="6948264" y="44624"/>
              <a:ext cx="212372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800" b="1" dirty="0" smtClean="0">
                  <a:solidFill>
                    <a:schemeClr val="bg1"/>
                  </a:solidFill>
                </a:rPr>
                <a:t>المستوى</a:t>
              </a:r>
              <a:endParaRPr lang="fr-FR" sz="2800" b="1" dirty="0">
                <a:solidFill>
                  <a:schemeClr val="bg1"/>
                </a:solidFill>
              </a:endParaRPr>
            </a:p>
          </p:txBody>
        </p:sp>
        <p:sp>
          <p:nvSpPr>
            <p:cNvPr id="35" name="ZoneTexte 34"/>
            <p:cNvSpPr txBox="1"/>
            <p:nvPr/>
          </p:nvSpPr>
          <p:spPr>
            <a:xfrm>
              <a:off x="2915816" y="44624"/>
              <a:ext cx="208823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800" b="1" dirty="0" smtClean="0">
                  <a:solidFill>
                    <a:schemeClr val="bg1"/>
                  </a:solidFill>
                </a:rPr>
                <a:t>الثاني المتوسط</a:t>
              </a:r>
              <a:endParaRPr lang="fr-FR" sz="2800" b="1" dirty="0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56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5" dur="2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7" dur="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8" dur="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6200"/>
                            </p:stCondLst>
                            <p:childTnLst>
                              <p:par>
                                <p:cTn id="20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6700"/>
                            </p:stCondLst>
                            <p:childTnLst>
                              <p:par>
                                <p:cTn id="2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7200"/>
                            </p:stCondLst>
                            <p:childTnLst>
                              <p:par>
                                <p:cTn id="28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8200"/>
                            </p:stCondLst>
                            <p:childTnLst>
                              <p:par>
                                <p:cTn id="34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8700"/>
                            </p:stCondLst>
                            <p:childTnLst>
                              <p:par>
                                <p:cTn id="3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0"/>
      <p:bldP spid="77" grpId="0" animBg="1"/>
      <p:bldP spid="7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620688"/>
            <a:ext cx="9144000" cy="5616623"/>
          </a:xfrm>
          <a:prstGeom prst="rect">
            <a:avLst/>
          </a:prstGeom>
          <a:noFill/>
        </p:spPr>
      </p:pic>
      <p:sp>
        <p:nvSpPr>
          <p:cNvPr id="24" name="Rectangle 23"/>
          <p:cNvSpPr/>
          <p:nvPr/>
        </p:nvSpPr>
        <p:spPr>
          <a:xfrm>
            <a:off x="4513203" y="2348880"/>
            <a:ext cx="3587189" cy="2088232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6" name="Picture 6" descr="G:\Bibliotaque video\desigin\3D man\Vector.Character.Plarinum.Bundle.eps-ai-psd-png_2\Vector.Character.Plarinum.Bundle.eps-ai-psd-png\malepack2\Young_Businessman_Vector_Character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1700808"/>
            <a:ext cx="2461483" cy="4233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ZoneTexte 26"/>
          <p:cNvSpPr txBox="1"/>
          <p:nvPr/>
        </p:nvSpPr>
        <p:spPr>
          <a:xfrm>
            <a:off x="4499992" y="2412466"/>
            <a:ext cx="3600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Low" rtl="1"/>
            <a:r>
              <a:rPr lang="ar-DZ" sz="2300" b="1" dirty="0" smtClean="0">
                <a:solidFill>
                  <a:srgbClr val="FFFF00"/>
                </a:solidFill>
              </a:rPr>
              <a:t>المجال المفاهيمي: </a:t>
            </a:r>
            <a:r>
              <a:rPr lang="ar-DZ" sz="2300" b="1" dirty="0" smtClean="0">
                <a:solidFill>
                  <a:schemeClr val="bg1"/>
                </a:solidFill>
              </a:rPr>
              <a:t>معالج النصوص    </a:t>
            </a:r>
            <a:r>
              <a:rPr lang="fr-FR" sz="2300" b="1" dirty="0" smtClean="0">
                <a:solidFill>
                  <a:schemeClr val="bg1"/>
                </a:solidFill>
              </a:rPr>
              <a:t>MS-Word</a:t>
            </a:r>
            <a:endParaRPr lang="fr-FR" sz="2300" b="1" dirty="0">
              <a:solidFill>
                <a:srgbClr val="FF0000"/>
              </a:solidFill>
            </a:endParaRPr>
          </a:p>
        </p:txBody>
      </p:sp>
      <p:sp>
        <p:nvSpPr>
          <p:cNvPr id="28" name="ZoneTexte 27"/>
          <p:cNvSpPr txBox="1"/>
          <p:nvPr/>
        </p:nvSpPr>
        <p:spPr>
          <a:xfrm>
            <a:off x="4427984" y="3270756"/>
            <a:ext cx="36591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Low" rtl="1"/>
            <a:r>
              <a:rPr lang="ar-DZ" sz="2400" b="1" dirty="0" smtClean="0">
                <a:solidFill>
                  <a:srgbClr val="FFFF00"/>
                </a:solidFill>
              </a:rPr>
              <a:t>الوحدة المفاهمية: </a:t>
            </a:r>
            <a:r>
              <a:rPr lang="ar-DZ" sz="2400" b="1" dirty="0" smtClean="0">
                <a:solidFill>
                  <a:schemeClr val="bg1"/>
                </a:solidFill>
              </a:rPr>
              <a:t>الأشكال والصور</a:t>
            </a:r>
            <a:endParaRPr lang="fr-FR" sz="2400" b="1" dirty="0">
              <a:solidFill>
                <a:srgbClr val="FF0000"/>
              </a:solidFill>
            </a:endParaRPr>
          </a:p>
        </p:txBody>
      </p:sp>
      <p:sp>
        <p:nvSpPr>
          <p:cNvPr id="29" name="ZoneTexte 28"/>
          <p:cNvSpPr txBox="1"/>
          <p:nvPr/>
        </p:nvSpPr>
        <p:spPr>
          <a:xfrm>
            <a:off x="4427984" y="3846820"/>
            <a:ext cx="36724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Low" rtl="1"/>
            <a:r>
              <a:rPr lang="ar-DZ" sz="2400" b="1" dirty="0" smtClean="0">
                <a:solidFill>
                  <a:srgbClr val="FFFF00"/>
                </a:solidFill>
              </a:rPr>
              <a:t>الحصة التعلمية: </a:t>
            </a:r>
            <a:r>
              <a:rPr lang="ar-DZ" sz="2400" b="1" dirty="0" smtClean="0">
                <a:solidFill>
                  <a:schemeClr val="bg1"/>
                </a:solidFill>
              </a:rPr>
              <a:t>الأشكال والصور</a:t>
            </a:r>
            <a:endParaRPr lang="fr-FR" sz="2400" b="1" dirty="0">
              <a:solidFill>
                <a:srgbClr val="FF0000"/>
              </a:solidFill>
            </a:endParaRPr>
          </a:p>
        </p:txBody>
      </p:sp>
      <p:grpSp>
        <p:nvGrpSpPr>
          <p:cNvPr id="2" name="Groupe 1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4" name="Groupe 3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5" name="Groupe 81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15" name="Groupe 14"/>
                <p:cNvGrpSpPr/>
                <p:nvPr/>
              </p:nvGrpSpPr>
              <p:grpSpPr>
                <a:xfrm>
                  <a:off x="0" y="0"/>
                  <a:ext cx="9144000" cy="6885384"/>
                  <a:chOff x="0" y="0"/>
                  <a:chExt cx="9144000" cy="6885384"/>
                </a:xfrm>
              </p:grpSpPr>
              <p:sp>
                <p:nvSpPr>
                  <p:cNvPr id="17" name="Rectangle 16"/>
                  <p:cNvSpPr/>
                  <p:nvPr/>
                </p:nvSpPr>
                <p:spPr>
                  <a:xfrm rot="10800000" flipV="1">
                    <a:off x="0" y="0"/>
                    <a:ext cx="6983760" cy="620688"/>
                  </a:xfrm>
                  <a:prstGeom prst="rect">
                    <a:avLst/>
                  </a:prstGeom>
                  <a:solidFill>
                    <a:srgbClr val="FF6600"/>
                  </a:solidFill>
                  <a:ln>
                    <a:noFill/>
                  </a:ln>
                </p:spPr>
                <p:style>
                  <a:lnRef idx="1">
                    <a:schemeClr val="accent6"/>
                  </a:lnRef>
                  <a:fillRef idx="3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grpSp>
                <p:nvGrpSpPr>
                  <p:cNvPr id="18" name="Groupe 17"/>
                  <p:cNvGrpSpPr/>
                  <p:nvPr/>
                </p:nvGrpSpPr>
                <p:grpSpPr>
                  <a:xfrm>
                    <a:off x="0" y="6237312"/>
                    <a:ext cx="9144000" cy="648072"/>
                    <a:chOff x="0" y="6237312"/>
                    <a:chExt cx="9144000" cy="648072"/>
                  </a:xfrm>
                </p:grpSpPr>
                <p:sp>
                  <p:nvSpPr>
                    <p:cNvPr id="20" name="Rectangle 5"/>
                    <p:cNvSpPr/>
                    <p:nvPr/>
                  </p:nvSpPr>
                  <p:spPr>
                    <a:xfrm>
                      <a:off x="0" y="6309320"/>
                      <a:ext cx="9144000" cy="576064"/>
                    </a:xfrm>
                    <a:prstGeom prst="rect">
                      <a:avLst/>
                    </a:prstGeom>
                    <a:solidFill>
                      <a:srgbClr val="CC0000"/>
                    </a:solidFill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sp>
                  <p:nvSpPr>
                    <p:cNvPr id="21" name="Rectangle 20"/>
                    <p:cNvSpPr/>
                    <p:nvPr/>
                  </p:nvSpPr>
                  <p:spPr>
                    <a:xfrm flipV="1">
                      <a:off x="0" y="6237312"/>
                      <a:ext cx="9144000" cy="72008"/>
                    </a:xfrm>
                    <a:prstGeom prst="rect">
                      <a:avLst/>
                    </a:prstGeom>
                    <a:solidFill>
                      <a:srgbClr val="FF66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</p:grpSp>
              <p:sp>
                <p:nvSpPr>
                  <p:cNvPr id="19" name="Rectangle 18"/>
                  <p:cNvSpPr/>
                  <p:nvPr/>
                </p:nvSpPr>
                <p:spPr>
                  <a:xfrm rot="10800000" flipV="1">
                    <a:off x="7020272" y="0"/>
                    <a:ext cx="2123728" cy="620688"/>
                  </a:xfrm>
                  <a:prstGeom prst="rect">
                    <a:avLst/>
                  </a:prstGeom>
                  <a:solidFill>
                    <a:srgbClr val="CC0000"/>
                  </a:solidFill>
                  <a:ln>
                    <a:noFill/>
                  </a:ln>
                </p:spPr>
                <p:style>
                  <a:lnRef idx="1">
                    <a:schemeClr val="accent6"/>
                  </a:lnRef>
                  <a:fillRef idx="3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dirty="0"/>
                  </a:p>
                </p:txBody>
              </p:sp>
            </p:grpSp>
            <p:pic>
              <p:nvPicPr>
                <p:cNvPr id="10" name="Image 9" descr="3-2-blogging-transparent-thumb.png"/>
                <p:cNvPicPr>
                  <a:picLocks noChangeAspect="1"/>
                </p:cNvPicPr>
                <p:nvPr/>
              </p:nvPicPr>
              <p:blipFill>
                <a:blip r:embed="rId4" cstate="print"/>
                <a:stretch>
                  <a:fillRect/>
                </a:stretch>
              </p:blipFill>
              <p:spPr>
                <a:xfrm>
                  <a:off x="2195736" y="6165304"/>
                  <a:ext cx="864096" cy="741369"/>
                </a:xfrm>
                <a:prstGeom prst="rect">
                  <a:avLst/>
                </a:prstGeom>
              </p:spPr>
            </p:pic>
            <p:pic>
              <p:nvPicPr>
                <p:cNvPr id="11" name="Image 10" descr="12-2-education-png-image-thumb.png"/>
                <p:cNvPicPr>
                  <a:picLocks noChangeAspect="1"/>
                </p:cNvPicPr>
                <p:nvPr/>
              </p:nvPicPr>
              <p:blipFill>
                <a:blip r:embed="rId5" cstate="print"/>
                <a:stretch>
                  <a:fillRect/>
                </a:stretch>
              </p:blipFill>
              <p:spPr>
                <a:xfrm>
                  <a:off x="8388424" y="5976664"/>
                  <a:ext cx="720080" cy="980728"/>
                </a:xfrm>
                <a:prstGeom prst="rect">
                  <a:avLst/>
                </a:prstGeom>
              </p:spPr>
            </p:pic>
            <p:sp>
              <p:nvSpPr>
                <p:cNvPr id="12" name="ZoneTexte 11"/>
                <p:cNvSpPr txBox="1"/>
                <p:nvPr/>
              </p:nvSpPr>
              <p:spPr>
                <a:xfrm>
                  <a:off x="5796136" y="6428655"/>
                  <a:ext cx="2664296" cy="3847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1900" b="1" dirty="0" smtClean="0">
                      <a:solidFill>
                        <a:schemeClr val="bg1"/>
                      </a:solidFill>
                    </a:rPr>
                    <a:t>متوسطة قلواز </a:t>
                  </a:r>
                  <a:r>
                    <a:rPr lang="ar-DZ" sz="1900" b="1" dirty="0" err="1" smtClean="0">
                      <a:solidFill>
                        <a:schemeClr val="bg1"/>
                      </a:solidFill>
                    </a:rPr>
                    <a:t>موسى </a:t>
                  </a:r>
                  <a:r>
                    <a:rPr lang="ar-DZ" sz="1900" b="1" dirty="0" smtClean="0">
                      <a:solidFill>
                        <a:schemeClr val="bg1"/>
                      </a:solidFill>
                    </a:rPr>
                    <a:t>- بوراشد</a:t>
                  </a:r>
                  <a:endParaRPr lang="fr-FR" sz="19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3" name="ZoneTexte 12"/>
                <p:cNvSpPr txBox="1"/>
                <p:nvPr/>
              </p:nvSpPr>
              <p:spPr>
                <a:xfrm>
                  <a:off x="-180528" y="6396335"/>
                  <a:ext cx="244827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2000" b="1" dirty="0" smtClean="0">
                      <a:solidFill>
                        <a:schemeClr val="bg1"/>
                      </a:solidFill>
                    </a:rPr>
                    <a:t>تصميم الأستاذ ماحي رضا</a:t>
                  </a:r>
                  <a:endParaRPr lang="fr-FR" sz="20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4" name="ZoneTexte 13"/>
                <p:cNvSpPr txBox="1"/>
                <p:nvPr/>
              </p:nvSpPr>
              <p:spPr>
                <a:xfrm>
                  <a:off x="2915816" y="6428655"/>
                  <a:ext cx="2088232" cy="3847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1900" b="1" dirty="0" smtClean="0">
                      <a:solidFill>
                        <a:schemeClr val="bg1"/>
                      </a:solidFill>
                    </a:rPr>
                    <a:t>المستوى:الثاني متوسط</a:t>
                  </a:r>
                  <a:endParaRPr lang="fr-FR" sz="1900" b="1" dirty="0">
                    <a:solidFill>
                      <a:schemeClr val="bg1"/>
                    </a:solidFill>
                  </a:endParaRPr>
                </a:p>
              </p:txBody>
            </p:sp>
          </p:grpSp>
          <p:pic>
            <p:nvPicPr>
              <p:cNvPr id="6" name="Image 5" descr="3d print business.png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4788024" y="6264696"/>
                <a:ext cx="1440160" cy="620688"/>
              </a:xfrm>
              <a:prstGeom prst="rect">
                <a:avLst/>
              </a:prstGeom>
            </p:spPr>
          </p:pic>
          <p:pic>
            <p:nvPicPr>
              <p:cNvPr id="7" name="Image 6" descr="Microsoft_Word_2013_logo.svg.png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827584" y="33236"/>
                <a:ext cx="792087" cy="587452"/>
              </a:xfrm>
              <a:prstGeom prst="rect">
                <a:avLst/>
              </a:prstGeom>
            </p:spPr>
          </p:pic>
        </p:grpSp>
        <p:sp>
          <p:nvSpPr>
            <p:cNvPr id="30" name="ZoneTexte 29"/>
            <p:cNvSpPr txBox="1"/>
            <p:nvPr/>
          </p:nvSpPr>
          <p:spPr>
            <a:xfrm>
              <a:off x="6948264" y="44624"/>
              <a:ext cx="212372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800" b="1" dirty="0" smtClean="0">
                  <a:solidFill>
                    <a:schemeClr val="bg1"/>
                  </a:solidFill>
                </a:rPr>
                <a:t>المستوى</a:t>
              </a:r>
              <a:endParaRPr lang="fr-FR" sz="2800" b="1" dirty="0">
                <a:solidFill>
                  <a:schemeClr val="bg1"/>
                </a:solidFill>
              </a:endParaRPr>
            </a:p>
          </p:txBody>
        </p:sp>
        <p:sp>
          <p:nvSpPr>
            <p:cNvPr id="31" name="ZoneTexte 30"/>
            <p:cNvSpPr txBox="1"/>
            <p:nvPr/>
          </p:nvSpPr>
          <p:spPr>
            <a:xfrm>
              <a:off x="2915816" y="44624"/>
              <a:ext cx="208823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800" b="1" dirty="0" smtClean="0">
                  <a:solidFill>
                    <a:schemeClr val="bg1"/>
                  </a:solidFill>
                </a:rPr>
                <a:t>الثاني المتوسط</a:t>
              </a:r>
              <a:endParaRPr lang="fr-FR" sz="2800" b="1" dirty="0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400" tmFilter="0,0; .5, 1; 1, 1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220"/>
                            </p:stCondLst>
                            <p:childTnLst>
                              <p:par>
                                <p:cTn id="17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 tmFilter="0,0; .5, 1; 1, 1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740"/>
                            </p:stCondLst>
                            <p:childTnLst>
                              <p:par>
                                <p:cTn id="2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 tmFilter="0,0; .5, 1; 1, 1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Image 2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9726"/>
            <a:ext cx="9144000" cy="5976664"/>
          </a:xfrm>
          <a:prstGeom prst="rect">
            <a:avLst/>
          </a:prstGeom>
        </p:spPr>
      </p:pic>
      <p:pic>
        <p:nvPicPr>
          <p:cNvPr id="50" name="Picture 6" descr="G:\Bibliotaque video\desigin\3D man\Vector.Character.Plarinum.Bundle.eps-ai-psd-png_2\Vector.Character.Plarinum.Bundle.eps-ai-psd-png\malepack2\Young_Businessman_Vector_Character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1340768"/>
            <a:ext cx="2533491" cy="4104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Shape 856"/>
          <p:cNvSpPr/>
          <p:nvPr/>
        </p:nvSpPr>
        <p:spPr>
          <a:xfrm>
            <a:off x="8172400" y="1916832"/>
            <a:ext cx="618295" cy="54713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lIns="50800" tIns="50800" rIns="50800" bIns="50800" numCol="1" anchor="ctr">
            <a:noAutofit/>
          </a:bodyPr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52" name="Shape 859"/>
          <p:cNvSpPr/>
          <p:nvPr/>
        </p:nvSpPr>
        <p:spPr>
          <a:xfrm>
            <a:off x="3563888" y="1944464"/>
            <a:ext cx="4557074" cy="4764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8" y="0"/>
                </a:moveTo>
                <a:cubicBezTo>
                  <a:pt x="433" y="0"/>
                  <a:pt x="0" y="3963"/>
                  <a:pt x="0" y="8848"/>
                </a:cubicBezTo>
                <a:lnTo>
                  <a:pt x="0" y="12758"/>
                </a:lnTo>
                <a:cubicBezTo>
                  <a:pt x="0" y="17643"/>
                  <a:pt x="433" y="21600"/>
                  <a:pt x="968" y="21600"/>
                </a:cubicBezTo>
                <a:lnTo>
                  <a:pt x="20197" y="21600"/>
                </a:lnTo>
                <a:cubicBezTo>
                  <a:pt x="20704" y="21600"/>
                  <a:pt x="21119" y="18028"/>
                  <a:pt x="21160" y="13486"/>
                </a:cubicBezTo>
                <a:lnTo>
                  <a:pt x="21600" y="10806"/>
                </a:lnTo>
                <a:lnTo>
                  <a:pt x="21160" y="8119"/>
                </a:lnTo>
                <a:cubicBezTo>
                  <a:pt x="21120" y="3575"/>
                  <a:pt x="20704" y="0"/>
                  <a:pt x="20197" y="0"/>
                </a:cubicBezTo>
                <a:lnTo>
                  <a:pt x="968" y="0"/>
                </a:lnTo>
                <a:close/>
              </a:path>
            </a:pathLst>
          </a:custGeom>
          <a:solidFill>
            <a:schemeClr val="accent2"/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50800" tIns="50800" rIns="50800" bIns="50800" anchor="ctr"/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55" name="ZoneTexte 54"/>
          <p:cNvSpPr txBox="1"/>
          <p:nvPr/>
        </p:nvSpPr>
        <p:spPr>
          <a:xfrm>
            <a:off x="8159947" y="1916832"/>
            <a:ext cx="5885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800" b="1" dirty="0" smtClean="0">
                <a:solidFill>
                  <a:schemeClr val="bg1"/>
                </a:solidFill>
              </a:rPr>
              <a:t>1-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57" name="ZoneTexte 56"/>
          <p:cNvSpPr txBox="1"/>
          <p:nvPr/>
        </p:nvSpPr>
        <p:spPr>
          <a:xfrm>
            <a:off x="3779912" y="1988840"/>
            <a:ext cx="3960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400" b="1" dirty="0" smtClean="0">
                <a:solidFill>
                  <a:schemeClr val="bg1"/>
                </a:solidFill>
              </a:rPr>
              <a:t> إدراج الأشكال </a:t>
            </a:r>
            <a:r>
              <a:rPr lang="en-US" sz="2400" b="1" dirty="0" smtClean="0">
                <a:solidFill>
                  <a:schemeClr val="bg1"/>
                </a:solidFill>
              </a:rPr>
              <a:t>For</a:t>
            </a:r>
            <a:r>
              <a:rPr lang="fr-FR" sz="2400" b="1" dirty="0" smtClean="0">
                <a:solidFill>
                  <a:schemeClr val="bg1"/>
                </a:solidFill>
              </a:rPr>
              <a:t>mes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71" name="Shape 856"/>
          <p:cNvSpPr/>
          <p:nvPr/>
        </p:nvSpPr>
        <p:spPr>
          <a:xfrm>
            <a:off x="8172400" y="2492896"/>
            <a:ext cx="618295" cy="54713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lIns="50800" tIns="50800" rIns="50800" bIns="50800" numCol="1" anchor="ctr">
            <a:noAutofit/>
          </a:bodyPr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72" name="Shape 859"/>
          <p:cNvSpPr/>
          <p:nvPr/>
        </p:nvSpPr>
        <p:spPr>
          <a:xfrm>
            <a:off x="3563888" y="2520528"/>
            <a:ext cx="4557074" cy="4764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8" y="0"/>
                </a:moveTo>
                <a:cubicBezTo>
                  <a:pt x="433" y="0"/>
                  <a:pt x="0" y="3963"/>
                  <a:pt x="0" y="8848"/>
                </a:cubicBezTo>
                <a:lnTo>
                  <a:pt x="0" y="12758"/>
                </a:lnTo>
                <a:cubicBezTo>
                  <a:pt x="0" y="17643"/>
                  <a:pt x="433" y="21600"/>
                  <a:pt x="968" y="21600"/>
                </a:cubicBezTo>
                <a:lnTo>
                  <a:pt x="20197" y="21600"/>
                </a:lnTo>
                <a:cubicBezTo>
                  <a:pt x="20704" y="21600"/>
                  <a:pt x="21119" y="18028"/>
                  <a:pt x="21160" y="13486"/>
                </a:cubicBezTo>
                <a:lnTo>
                  <a:pt x="21600" y="10806"/>
                </a:lnTo>
                <a:lnTo>
                  <a:pt x="21160" y="8119"/>
                </a:lnTo>
                <a:cubicBezTo>
                  <a:pt x="21120" y="3575"/>
                  <a:pt x="20704" y="0"/>
                  <a:pt x="20197" y="0"/>
                </a:cubicBezTo>
                <a:lnTo>
                  <a:pt x="968" y="0"/>
                </a:ln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lIns="50800" tIns="50800" rIns="50800" bIns="50800" anchor="ctr"/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73" name="ZoneTexte 72"/>
          <p:cNvSpPr txBox="1"/>
          <p:nvPr/>
        </p:nvSpPr>
        <p:spPr>
          <a:xfrm>
            <a:off x="8172400" y="2492896"/>
            <a:ext cx="5462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800" b="1" dirty="0" smtClean="0">
                <a:solidFill>
                  <a:schemeClr val="bg1"/>
                </a:solidFill>
              </a:rPr>
              <a:t>2-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74" name="ZoneTexte 73"/>
          <p:cNvSpPr txBox="1"/>
          <p:nvPr/>
        </p:nvSpPr>
        <p:spPr>
          <a:xfrm>
            <a:off x="3750135" y="2545740"/>
            <a:ext cx="3960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400" b="1" dirty="0" smtClean="0">
                <a:solidFill>
                  <a:schemeClr val="bg1"/>
                </a:solidFill>
              </a:rPr>
              <a:t>عمليات على الأشكال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45" name="Shape 856"/>
          <p:cNvSpPr/>
          <p:nvPr/>
        </p:nvSpPr>
        <p:spPr>
          <a:xfrm>
            <a:off x="8172400" y="3068960"/>
            <a:ext cx="618295" cy="54713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 lIns="50800" tIns="50800" rIns="50800" bIns="50800" numCol="1" anchor="ctr">
            <a:noAutofit/>
          </a:bodyPr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46" name="Shape 859"/>
          <p:cNvSpPr/>
          <p:nvPr/>
        </p:nvSpPr>
        <p:spPr>
          <a:xfrm>
            <a:off x="3563888" y="3096592"/>
            <a:ext cx="4557074" cy="4764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8" y="0"/>
                </a:moveTo>
                <a:cubicBezTo>
                  <a:pt x="433" y="0"/>
                  <a:pt x="0" y="3963"/>
                  <a:pt x="0" y="8848"/>
                </a:cubicBezTo>
                <a:lnTo>
                  <a:pt x="0" y="12758"/>
                </a:lnTo>
                <a:cubicBezTo>
                  <a:pt x="0" y="17643"/>
                  <a:pt x="433" y="21600"/>
                  <a:pt x="968" y="21600"/>
                </a:cubicBezTo>
                <a:lnTo>
                  <a:pt x="20197" y="21600"/>
                </a:lnTo>
                <a:cubicBezTo>
                  <a:pt x="20704" y="21600"/>
                  <a:pt x="21119" y="18028"/>
                  <a:pt x="21160" y="13486"/>
                </a:cubicBezTo>
                <a:lnTo>
                  <a:pt x="21600" y="10806"/>
                </a:lnTo>
                <a:lnTo>
                  <a:pt x="21160" y="8119"/>
                </a:lnTo>
                <a:cubicBezTo>
                  <a:pt x="21120" y="3575"/>
                  <a:pt x="20704" y="0"/>
                  <a:pt x="20197" y="0"/>
                </a:cubicBezTo>
                <a:lnTo>
                  <a:pt x="968" y="0"/>
                </a:ln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50800" tIns="50800" rIns="50800" bIns="50800" anchor="ctr"/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47" name="ZoneTexte 46"/>
          <p:cNvSpPr txBox="1"/>
          <p:nvPr/>
        </p:nvSpPr>
        <p:spPr>
          <a:xfrm>
            <a:off x="8142623" y="3068960"/>
            <a:ext cx="5462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800" b="1" dirty="0" smtClean="0">
                <a:solidFill>
                  <a:schemeClr val="bg1"/>
                </a:solidFill>
              </a:rPr>
              <a:t>3-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48" name="ZoneTexte 47"/>
          <p:cNvSpPr txBox="1"/>
          <p:nvPr/>
        </p:nvSpPr>
        <p:spPr>
          <a:xfrm>
            <a:off x="3750135" y="3121804"/>
            <a:ext cx="3960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400" b="1" dirty="0" smtClean="0">
                <a:solidFill>
                  <a:schemeClr val="bg1"/>
                </a:solidFill>
              </a:rPr>
              <a:t>إدراج الصور </a:t>
            </a:r>
            <a:r>
              <a:rPr lang="fr-FR" sz="2400" b="1" dirty="0" smtClean="0">
                <a:solidFill>
                  <a:schemeClr val="bg1"/>
                </a:solidFill>
              </a:rPr>
              <a:t>Images</a:t>
            </a:r>
            <a:r>
              <a:rPr lang="ar-DZ" sz="2400" b="1" dirty="0" smtClean="0">
                <a:solidFill>
                  <a:schemeClr val="bg1"/>
                </a:solidFill>
              </a:rPr>
              <a:t> 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90" name="Shape 856"/>
          <p:cNvSpPr/>
          <p:nvPr/>
        </p:nvSpPr>
        <p:spPr>
          <a:xfrm>
            <a:off x="8172400" y="3616094"/>
            <a:ext cx="618295" cy="54713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lIns="50800" tIns="50800" rIns="50800" bIns="50800" numCol="1" anchor="ctr">
            <a:noAutofit/>
          </a:bodyPr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91" name="Shape 859"/>
          <p:cNvSpPr/>
          <p:nvPr/>
        </p:nvSpPr>
        <p:spPr>
          <a:xfrm>
            <a:off x="3563888" y="3643726"/>
            <a:ext cx="4557074" cy="4764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8" y="0"/>
                </a:moveTo>
                <a:cubicBezTo>
                  <a:pt x="433" y="0"/>
                  <a:pt x="0" y="3963"/>
                  <a:pt x="0" y="8848"/>
                </a:cubicBezTo>
                <a:lnTo>
                  <a:pt x="0" y="12758"/>
                </a:lnTo>
                <a:cubicBezTo>
                  <a:pt x="0" y="17643"/>
                  <a:pt x="433" y="21600"/>
                  <a:pt x="968" y="21600"/>
                </a:cubicBezTo>
                <a:lnTo>
                  <a:pt x="20197" y="21600"/>
                </a:lnTo>
                <a:cubicBezTo>
                  <a:pt x="20704" y="21600"/>
                  <a:pt x="21119" y="18028"/>
                  <a:pt x="21160" y="13486"/>
                </a:cubicBezTo>
                <a:lnTo>
                  <a:pt x="21600" y="10806"/>
                </a:lnTo>
                <a:lnTo>
                  <a:pt x="21160" y="8119"/>
                </a:lnTo>
                <a:cubicBezTo>
                  <a:pt x="21120" y="3575"/>
                  <a:pt x="20704" y="0"/>
                  <a:pt x="20197" y="0"/>
                </a:cubicBezTo>
                <a:lnTo>
                  <a:pt x="968" y="0"/>
                </a:ln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lIns="50800" tIns="50800" rIns="50800" bIns="50800" anchor="ctr"/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92" name="ZoneTexte 91"/>
          <p:cNvSpPr txBox="1"/>
          <p:nvPr/>
        </p:nvSpPr>
        <p:spPr>
          <a:xfrm>
            <a:off x="8172400" y="3616094"/>
            <a:ext cx="5462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800" b="1" dirty="0" smtClean="0">
                <a:solidFill>
                  <a:schemeClr val="bg1"/>
                </a:solidFill>
              </a:rPr>
              <a:t>4-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93" name="ZoneTexte 92"/>
          <p:cNvSpPr txBox="1"/>
          <p:nvPr/>
        </p:nvSpPr>
        <p:spPr>
          <a:xfrm>
            <a:off x="3750135" y="3668938"/>
            <a:ext cx="3960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400" b="1" dirty="0" smtClean="0">
                <a:solidFill>
                  <a:schemeClr val="bg1"/>
                </a:solidFill>
              </a:rPr>
              <a:t>عمليات على الصور</a:t>
            </a:r>
            <a:endParaRPr lang="fr-FR" sz="2400" b="1" dirty="0">
              <a:solidFill>
                <a:schemeClr val="bg1"/>
              </a:solidFill>
            </a:endParaRPr>
          </a:p>
        </p:txBody>
      </p:sp>
      <p:grpSp>
        <p:nvGrpSpPr>
          <p:cNvPr id="12" name="Groupe 11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3" name="Groupe 2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2" name="Groupe 1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80" name="Groupe 79"/>
                <p:cNvGrpSpPr/>
                <p:nvPr/>
              </p:nvGrpSpPr>
              <p:grpSpPr>
                <a:xfrm>
                  <a:off x="-180528" y="0"/>
                  <a:ext cx="9324528" cy="6957392"/>
                  <a:chOff x="-180528" y="0"/>
                  <a:chExt cx="9324528" cy="6957392"/>
                </a:xfrm>
              </p:grpSpPr>
              <p:grpSp>
                <p:nvGrpSpPr>
                  <p:cNvPr id="5" name="Groupe 18"/>
                  <p:cNvGrpSpPr/>
                  <p:nvPr/>
                </p:nvGrpSpPr>
                <p:grpSpPr>
                  <a:xfrm>
                    <a:off x="0" y="0"/>
                    <a:ext cx="9144000" cy="6885384"/>
                    <a:chOff x="0" y="0"/>
                    <a:chExt cx="9144000" cy="6885384"/>
                  </a:xfrm>
                </p:grpSpPr>
                <p:sp>
                  <p:nvSpPr>
                    <p:cNvPr id="7" name="Rectangle 6"/>
                    <p:cNvSpPr/>
                    <p:nvPr/>
                  </p:nvSpPr>
                  <p:spPr>
                    <a:xfrm rot="10800000" flipV="1">
                      <a:off x="0" y="0"/>
                      <a:ext cx="6983760" cy="620688"/>
                    </a:xfrm>
                    <a:prstGeom prst="rect">
                      <a:avLst/>
                    </a:prstGeom>
                    <a:solidFill>
                      <a:srgbClr val="FF66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grpSp>
                  <p:nvGrpSpPr>
                    <p:cNvPr id="8" name="Groupe 15"/>
                    <p:cNvGrpSpPr/>
                    <p:nvPr/>
                  </p:nvGrpSpPr>
                  <p:grpSpPr>
                    <a:xfrm>
                      <a:off x="0" y="6237312"/>
                      <a:ext cx="9144000" cy="648072"/>
                      <a:chOff x="0" y="6237312"/>
                      <a:chExt cx="9144000" cy="648072"/>
                    </a:xfrm>
                  </p:grpSpPr>
                  <p:sp>
                    <p:nvSpPr>
                      <p:cNvPr id="10" name="Rectangle 5"/>
                      <p:cNvSpPr/>
                      <p:nvPr/>
                    </p:nvSpPr>
                    <p:spPr>
                      <a:xfrm>
                        <a:off x="0" y="6309320"/>
                        <a:ext cx="9144000" cy="576064"/>
                      </a:xfrm>
                      <a:prstGeom prst="rect">
                        <a:avLst/>
                      </a:prstGeom>
                      <a:solidFill>
                        <a:srgbClr val="CC00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  <p:sp>
                    <p:nvSpPr>
                      <p:cNvPr id="11" name="Rectangle 10"/>
                      <p:cNvSpPr/>
                      <p:nvPr/>
                    </p:nvSpPr>
                    <p:spPr>
                      <a:xfrm flipV="1">
                        <a:off x="0" y="6237312"/>
                        <a:ext cx="9144000" cy="72008"/>
                      </a:xfrm>
                      <a:prstGeom prst="rect">
                        <a:avLst/>
                      </a:prstGeom>
                      <a:solidFill>
                        <a:srgbClr val="FF66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</p:grpSp>
                <p:sp>
                  <p:nvSpPr>
                    <p:cNvPr id="9" name="Rectangle 8"/>
                    <p:cNvSpPr/>
                    <p:nvPr/>
                  </p:nvSpPr>
                  <p:spPr>
                    <a:xfrm rot="10800000" flipV="1">
                      <a:off x="7020272" y="0"/>
                      <a:ext cx="2123728" cy="620688"/>
                    </a:xfrm>
                    <a:prstGeom prst="rect">
                      <a:avLst/>
                    </a:prstGeom>
                    <a:solidFill>
                      <a:srgbClr val="CC00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 dirty="0"/>
                    </a:p>
                  </p:txBody>
                </p:sp>
              </p:grpSp>
              <p:pic>
                <p:nvPicPr>
                  <p:cNvPr id="75" name="Image 74" descr="3-2-blogging-transparent-thumb.png"/>
                  <p:cNvPicPr>
                    <a:picLocks noChangeAspect="1"/>
                  </p:cNvPicPr>
                  <p:nvPr/>
                </p:nvPicPr>
                <p:blipFill>
                  <a:blip r:embed="rId4" cstate="print"/>
                  <a:stretch>
                    <a:fillRect/>
                  </a:stretch>
                </p:blipFill>
                <p:spPr>
                  <a:xfrm>
                    <a:off x="2195736" y="6165304"/>
                    <a:ext cx="864096" cy="741369"/>
                  </a:xfrm>
                  <a:prstGeom prst="rect">
                    <a:avLst/>
                  </a:prstGeom>
                </p:spPr>
              </p:pic>
              <p:pic>
                <p:nvPicPr>
                  <p:cNvPr id="76" name="Image 75" descr="12-2-education-png-image-thumb.png"/>
                  <p:cNvPicPr>
                    <a:picLocks noChangeAspect="1"/>
                  </p:cNvPicPr>
                  <p:nvPr/>
                </p:nvPicPr>
                <p:blipFill>
                  <a:blip r:embed="rId5" cstate="print"/>
                  <a:stretch>
                    <a:fillRect/>
                  </a:stretch>
                </p:blipFill>
                <p:spPr>
                  <a:xfrm>
                    <a:off x="8388424" y="5976664"/>
                    <a:ext cx="720080" cy="980728"/>
                  </a:xfrm>
                  <a:prstGeom prst="rect">
                    <a:avLst/>
                  </a:prstGeom>
                </p:spPr>
              </p:pic>
              <p:sp>
                <p:nvSpPr>
                  <p:cNvPr id="77" name="ZoneTexte 76"/>
                  <p:cNvSpPr txBox="1"/>
                  <p:nvPr/>
                </p:nvSpPr>
                <p:spPr>
                  <a:xfrm>
                    <a:off x="5652120" y="6428655"/>
                    <a:ext cx="2808312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متوسطة قلواز </a:t>
                    </a:r>
                    <a:r>
                      <a:rPr lang="ar-DZ" sz="1900" b="1" dirty="0" err="1" smtClean="0">
                        <a:solidFill>
                          <a:schemeClr val="bg1"/>
                        </a:solidFill>
                      </a:rPr>
                      <a:t>موسى </a:t>
                    </a:r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- بوراشد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78" name="ZoneTexte 77"/>
                  <p:cNvSpPr txBox="1"/>
                  <p:nvPr/>
                </p:nvSpPr>
                <p:spPr>
                  <a:xfrm>
                    <a:off x="-180528" y="6396335"/>
                    <a:ext cx="2448272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2000" b="1" dirty="0" smtClean="0">
                        <a:solidFill>
                          <a:schemeClr val="bg1"/>
                        </a:solidFill>
                      </a:rPr>
                      <a:t>تصميم الأستاذ ماحي رضا</a:t>
                    </a:r>
                    <a:endParaRPr lang="fr-FR" sz="20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79" name="ZoneTexte 78"/>
                  <p:cNvSpPr txBox="1"/>
                  <p:nvPr/>
                </p:nvSpPr>
                <p:spPr>
                  <a:xfrm>
                    <a:off x="2987824" y="6428655"/>
                    <a:ext cx="2088232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المستوى:الثاني متوسط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</p:grpSp>
            <p:pic>
              <p:nvPicPr>
                <p:cNvPr id="59" name="Image 58" descr="3d print business.png"/>
                <p:cNvPicPr>
                  <a:picLocks noChangeAspect="1"/>
                </p:cNvPicPr>
                <p:nvPr/>
              </p:nvPicPr>
              <p:blipFill>
                <a:blip r:embed="rId6" cstate="print"/>
                <a:stretch>
                  <a:fillRect/>
                </a:stretch>
              </p:blipFill>
              <p:spPr>
                <a:xfrm>
                  <a:off x="4788024" y="6274668"/>
                  <a:ext cx="1440160" cy="583332"/>
                </a:xfrm>
                <a:prstGeom prst="rect">
                  <a:avLst/>
                </a:prstGeom>
              </p:spPr>
            </p:pic>
          </p:grpSp>
          <p:sp>
            <p:nvSpPr>
              <p:cNvPr id="60" name="ZoneTexte 59"/>
              <p:cNvSpPr txBox="1"/>
              <p:nvPr/>
            </p:nvSpPr>
            <p:spPr>
              <a:xfrm>
                <a:off x="6948264" y="44624"/>
                <a:ext cx="212372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 smtClean="0">
                    <a:solidFill>
                      <a:schemeClr val="bg1"/>
                    </a:solidFill>
                  </a:rPr>
                  <a:t>الحصة </a:t>
                </a:r>
                <a:r>
                  <a:rPr lang="ar-DZ" sz="2800" b="1" dirty="0" err="1" smtClean="0">
                    <a:solidFill>
                      <a:schemeClr val="bg1"/>
                    </a:solidFill>
                  </a:rPr>
                  <a:t>التعلمية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61" name="ZoneTexte 60"/>
              <p:cNvSpPr txBox="1"/>
              <p:nvPr/>
            </p:nvSpPr>
            <p:spPr>
              <a:xfrm>
                <a:off x="2915816" y="44624"/>
                <a:ext cx="208823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 smtClean="0">
                    <a:solidFill>
                      <a:schemeClr val="bg1"/>
                    </a:solidFill>
                  </a:rPr>
                  <a:t>الأشكال والصور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62" name="Image 61" descr="Microsoft_Word_2013_logo.svg.png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27584" y="33236"/>
              <a:ext cx="792087" cy="587452"/>
            </a:xfrm>
            <a:prstGeom prst="rect">
              <a:avLst/>
            </a:prstGeom>
          </p:spPr>
        </p:pic>
      </p:grpSp>
      <p:sp>
        <p:nvSpPr>
          <p:cNvPr id="39" name="Shape 856"/>
          <p:cNvSpPr/>
          <p:nvPr/>
        </p:nvSpPr>
        <p:spPr>
          <a:xfrm>
            <a:off x="8172400" y="4192158"/>
            <a:ext cx="618295" cy="54713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lIns="50800" tIns="50800" rIns="50800" bIns="50800" numCol="1" anchor="ctr">
            <a:noAutofit/>
          </a:bodyPr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40" name="Shape 859"/>
          <p:cNvSpPr/>
          <p:nvPr/>
        </p:nvSpPr>
        <p:spPr>
          <a:xfrm>
            <a:off x="3563888" y="4219790"/>
            <a:ext cx="4557074" cy="4764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8" y="0"/>
                </a:moveTo>
                <a:cubicBezTo>
                  <a:pt x="433" y="0"/>
                  <a:pt x="0" y="3963"/>
                  <a:pt x="0" y="8848"/>
                </a:cubicBezTo>
                <a:lnTo>
                  <a:pt x="0" y="12758"/>
                </a:lnTo>
                <a:cubicBezTo>
                  <a:pt x="0" y="17643"/>
                  <a:pt x="433" y="21600"/>
                  <a:pt x="968" y="21600"/>
                </a:cubicBezTo>
                <a:lnTo>
                  <a:pt x="20197" y="21600"/>
                </a:lnTo>
                <a:cubicBezTo>
                  <a:pt x="20704" y="21600"/>
                  <a:pt x="21119" y="18028"/>
                  <a:pt x="21160" y="13486"/>
                </a:cubicBezTo>
                <a:lnTo>
                  <a:pt x="21600" y="10806"/>
                </a:lnTo>
                <a:lnTo>
                  <a:pt x="21160" y="8119"/>
                </a:lnTo>
                <a:cubicBezTo>
                  <a:pt x="21120" y="3575"/>
                  <a:pt x="20704" y="0"/>
                  <a:pt x="20197" y="0"/>
                </a:cubicBezTo>
                <a:lnTo>
                  <a:pt x="968" y="0"/>
                </a:ln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50800" tIns="50800" rIns="50800" bIns="50800" anchor="ctr"/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41" name="ZoneTexte 40"/>
          <p:cNvSpPr txBox="1"/>
          <p:nvPr/>
        </p:nvSpPr>
        <p:spPr>
          <a:xfrm>
            <a:off x="8172400" y="4192158"/>
            <a:ext cx="5462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fr-FR" sz="2800" b="1" dirty="0" smtClean="0">
                <a:solidFill>
                  <a:schemeClr val="bg1"/>
                </a:solidFill>
              </a:rPr>
              <a:t>5</a:t>
            </a:r>
            <a:r>
              <a:rPr lang="ar-DZ" sz="2800" b="1" dirty="0" smtClean="0">
                <a:solidFill>
                  <a:schemeClr val="bg1"/>
                </a:solidFill>
              </a:rPr>
              <a:t>-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42" name="ZoneTexte 41"/>
          <p:cNvSpPr txBox="1"/>
          <p:nvPr/>
        </p:nvSpPr>
        <p:spPr>
          <a:xfrm>
            <a:off x="3750135" y="4245002"/>
            <a:ext cx="3960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400" b="1" dirty="0" smtClean="0">
                <a:solidFill>
                  <a:schemeClr val="bg1"/>
                </a:solidFill>
              </a:rPr>
              <a:t>إدراج نص فني</a:t>
            </a:r>
            <a:endParaRPr lang="fr-FR" sz="24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3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300"/>
                            </p:stCondLst>
                            <p:childTnLst>
                              <p:par>
                                <p:cTn id="1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800"/>
                            </p:stCondLst>
                            <p:childTnLst>
                              <p:par>
                                <p:cTn id="2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3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100"/>
                            </p:stCondLst>
                            <p:childTnLst>
                              <p:par>
                                <p:cTn id="2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600"/>
                            </p:stCondLst>
                            <p:childTnLst>
                              <p:par>
                                <p:cTn id="3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3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3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900"/>
                            </p:stCondLst>
                            <p:childTnLst>
                              <p:par>
                                <p:cTn id="3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400"/>
                            </p:stCondLst>
                            <p:childTnLst>
                              <p:par>
                                <p:cTn id="4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3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3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700"/>
                            </p:stCondLst>
                            <p:childTnLst>
                              <p:par>
                                <p:cTn id="4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200"/>
                            </p:stCondLst>
                            <p:childTnLst>
                              <p:par>
                                <p:cTn id="5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3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3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4500"/>
                            </p:stCondLst>
                            <p:childTnLst>
                              <p:par>
                                <p:cTn id="5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0"/>
                            </p:stCondLst>
                            <p:childTnLst>
                              <p:par>
                                <p:cTn id="6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3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3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300"/>
                            </p:stCondLst>
                            <p:childTnLst>
                              <p:par>
                                <p:cTn id="6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1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800"/>
                            </p:stCondLst>
                            <p:childTnLst>
                              <p:par>
                                <p:cTn id="7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3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3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3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6100"/>
                            </p:stCondLst>
                            <p:childTnLst>
                              <p:par>
                                <p:cTn id="7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1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6600"/>
                            </p:stCondLst>
                            <p:childTnLst>
                              <p:par>
                                <p:cTn id="8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3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3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6900"/>
                            </p:stCondLst>
                            <p:childTnLst>
                              <p:par>
                                <p:cTn id="8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7400"/>
                            </p:stCondLst>
                            <p:childTnLst>
                              <p:par>
                                <p:cTn id="9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3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3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7700"/>
                            </p:stCondLst>
                            <p:childTnLst>
                              <p:par>
                                <p:cTn id="9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8200"/>
                            </p:stCondLst>
                            <p:childTnLst>
                              <p:par>
                                <p:cTn id="10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3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3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  <p:bldP spid="52" grpId="0" animBg="1"/>
      <p:bldP spid="55" grpId="0"/>
      <p:bldP spid="57" grpId="0"/>
      <p:bldP spid="71" grpId="0" animBg="1"/>
      <p:bldP spid="72" grpId="0" animBg="1"/>
      <p:bldP spid="73" grpId="0"/>
      <p:bldP spid="74" grpId="0"/>
      <p:bldP spid="45" grpId="0" animBg="1"/>
      <p:bldP spid="46" grpId="0" animBg="1"/>
      <p:bldP spid="47" grpId="0"/>
      <p:bldP spid="48" grpId="0"/>
      <p:bldP spid="90" grpId="0" animBg="1"/>
      <p:bldP spid="91" grpId="0" animBg="1"/>
      <p:bldP spid="92" grpId="0"/>
      <p:bldP spid="93" grpId="0"/>
      <p:bldP spid="39" grpId="0" animBg="1"/>
      <p:bldP spid="40" grpId="0" animBg="1"/>
      <p:bldP spid="41" grpId="0"/>
      <p:bldP spid="4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shutterstock_17221542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20688"/>
            <a:ext cx="9144000" cy="5616624"/>
          </a:xfrm>
          <a:prstGeom prst="rect">
            <a:avLst/>
          </a:prstGeom>
        </p:spPr>
      </p:pic>
      <p:pic>
        <p:nvPicPr>
          <p:cNvPr id="5" name="Image 4" descr="Person-question-2-151x300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-108520" y="2204864"/>
            <a:ext cx="1438275" cy="3289548"/>
          </a:xfrm>
          <a:prstGeom prst="rect">
            <a:avLst/>
          </a:prstGeom>
        </p:spPr>
      </p:pic>
      <p:sp>
        <p:nvSpPr>
          <p:cNvPr id="6" name="Pensées 5"/>
          <p:cNvSpPr/>
          <p:nvPr/>
        </p:nvSpPr>
        <p:spPr>
          <a:xfrm>
            <a:off x="827584" y="980728"/>
            <a:ext cx="5112568" cy="1800200"/>
          </a:xfrm>
          <a:prstGeom prst="cloudCallout">
            <a:avLst>
              <a:gd name="adj1" fmla="val -49179"/>
              <a:gd name="adj2" fmla="val 74222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6" name="ZoneTexte 25"/>
          <p:cNvSpPr txBox="1"/>
          <p:nvPr/>
        </p:nvSpPr>
        <p:spPr>
          <a:xfrm>
            <a:off x="1403648" y="1172942"/>
            <a:ext cx="41063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000" b="1" dirty="0" smtClean="0">
                <a:solidFill>
                  <a:schemeClr val="accent6">
                    <a:lumMod val="75000"/>
                  </a:schemeClr>
                </a:solidFill>
              </a:rPr>
              <a:t>كيف يمكنك إدراج الأشكال في معالج النصوص؟</a:t>
            </a:r>
            <a:endParaRPr lang="fr-FR" sz="2000" b="1" dirty="0">
              <a:ln w="1905"/>
              <a:solidFill>
                <a:schemeClr val="accent6">
                  <a:lumMod val="75000"/>
                </a:schemeClr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27" name="Picture 4" descr="C:\Users\RIDHA\Pictures\Image13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067944" y="3655643"/>
            <a:ext cx="1584176" cy="2713903"/>
          </a:xfrm>
          <a:prstGeom prst="rect">
            <a:avLst/>
          </a:prstGeom>
          <a:noFill/>
        </p:spPr>
      </p:pic>
      <p:grpSp>
        <p:nvGrpSpPr>
          <p:cNvPr id="28" name="Groupe 27"/>
          <p:cNvGrpSpPr/>
          <p:nvPr/>
        </p:nvGrpSpPr>
        <p:grpSpPr>
          <a:xfrm>
            <a:off x="5004048" y="2996952"/>
            <a:ext cx="2160240" cy="792088"/>
            <a:chOff x="3563888" y="1268760"/>
            <a:chExt cx="2664296" cy="936104"/>
          </a:xfrm>
        </p:grpSpPr>
        <p:sp>
          <p:nvSpPr>
            <p:cNvPr id="29" name="Pensées 28"/>
            <p:cNvSpPr/>
            <p:nvPr/>
          </p:nvSpPr>
          <p:spPr>
            <a:xfrm>
              <a:off x="3563888" y="1268760"/>
              <a:ext cx="2664296" cy="936104"/>
            </a:xfrm>
            <a:prstGeom prst="cloudCallout">
              <a:avLst>
                <a:gd name="adj1" fmla="val -31591"/>
                <a:gd name="adj2" fmla="val 110567"/>
              </a:avLst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 rtl="1"/>
              <a:endParaRPr lang="fr-FR" b="1" dirty="0">
                <a:solidFill>
                  <a:schemeClr val="tx1"/>
                </a:solidFill>
              </a:endParaRPr>
            </a:p>
          </p:txBody>
        </p:sp>
        <p:sp>
          <p:nvSpPr>
            <p:cNvPr id="30" name="ZoneTexte 29"/>
            <p:cNvSpPr txBox="1"/>
            <p:nvPr/>
          </p:nvSpPr>
          <p:spPr>
            <a:xfrm>
              <a:off x="3779913" y="1484784"/>
              <a:ext cx="2304256" cy="5779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1"/>
              <a:r>
                <a:rPr lang="ar-DZ" sz="2000" b="1" dirty="0" smtClean="0"/>
                <a:t>الإجابة برفع الإصبع</a:t>
              </a:r>
            </a:p>
          </p:txBody>
        </p:sp>
      </p:grpSp>
      <p:grpSp>
        <p:nvGrpSpPr>
          <p:cNvPr id="2" name="Groupe 1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8" name="Groupe 7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9" name="Groupe 81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19" name="Groupe 18"/>
                <p:cNvGrpSpPr/>
                <p:nvPr/>
              </p:nvGrpSpPr>
              <p:grpSpPr>
                <a:xfrm>
                  <a:off x="0" y="0"/>
                  <a:ext cx="9144000" cy="6885384"/>
                  <a:chOff x="0" y="0"/>
                  <a:chExt cx="9144000" cy="6885384"/>
                </a:xfrm>
              </p:grpSpPr>
              <p:sp>
                <p:nvSpPr>
                  <p:cNvPr id="21" name="Rectangle 20"/>
                  <p:cNvSpPr/>
                  <p:nvPr/>
                </p:nvSpPr>
                <p:spPr>
                  <a:xfrm rot="10800000" flipV="1">
                    <a:off x="0" y="0"/>
                    <a:ext cx="6983760" cy="620688"/>
                  </a:xfrm>
                  <a:prstGeom prst="rect">
                    <a:avLst/>
                  </a:prstGeom>
                  <a:solidFill>
                    <a:srgbClr val="FF6600"/>
                  </a:solidFill>
                  <a:ln>
                    <a:noFill/>
                  </a:ln>
                </p:spPr>
                <p:style>
                  <a:lnRef idx="1">
                    <a:schemeClr val="accent6"/>
                  </a:lnRef>
                  <a:fillRef idx="3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grpSp>
                <p:nvGrpSpPr>
                  <p:cNvPr id="22" name="Groupe 21"/>
                  <p:cNvGrpSpPr/>
                  <p:nvPr/>
                </p:nvGrpSpPr>
                <p:grpSpPr>
                  <a:xfrm>
                    <a:off x="0" y="6237312"/>
                    <a:ext cx="9144000" cy="648072"/>
                    <a:chOff x="0" y="6237312"/>
                    <a:chExt cx="9144000" cy="648072"/>
                  </a:xfrm>
                </p:grpSpPr>
                <p:sp>
                  <p:nvSpPr>
                    <p:cNvPr id="24" name="Rectangle 5"/>
                    <p:cNvSpPr/>
                    <p:nvPr/>
                  </p:nvSpPr>
                  <p:spPr>
                    <a:xfrm>
                      <a:off x="0" y="6309320"/>
                      <a:ext cx="9144000" cy="576064"/>
                    </a:xfrm>
                    <a:prstGeom prst="rect">
                      <a:avLst/>
                    </a:prstGeom>
                    <a:solidFill>
                      <a:srgbClr val="CC0000"/>
                    </a:solidFill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sp>
                  <p:nvSpPr>
                    <p:cNvPr id="25" name="Rectangle 24"/>
                    <p:cNvSpPr/>
                    <p:nvPr/>
                  </p:nvSpPr>
                  <p:spPr>
                    <a:xfrm flipV="1">
                      <a:off x="0" y="6237312"/>
                      <a:ext cx="9144000" cy="72008"/>
                    </a:xfrm>
                    <a:prstGeom prst="rect">
                      <a:avLst/>
                    </a:prstGeom>
                    <a:solidFill>
                      <a:srgbClr val="FF66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</p:grpSp>
              <p:sp>
                <p:nvSpPr>
                  <p:cNvPr id="23" name="Rectangle 22"/>
                  <p:cNvSpPr/>
                  <p:nvPr/>
                </p:nvSpPr>
                <p:spPr>
                  <a:xfrm rot="10800000" flipV="1">
                    <a:off x="7020272" y="0"/>
                    <a:ext cx="2123728" cy="620688"/>
                  </a:xfrm>
                  <a:prstGeom prst="rect">
                    <a:avLst/>
                  </a:prstGeom>
                  <a:solidFill>
                    <a:srgbClr val="CC0000"/>
                  </a:solidFill>
                  <a:ln>
                    <a:noFill/>
                  </a:ln>
                </p:spPr>
                <p:style>
                  <a:lnRef idx="1">
                    <a:schemeClr val="accent6"/>
                  </a:lnRef>
                  <a:fillRef idx="3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dirty="0"/>
                  </a:p>
                </p:txBody>
              </p:sp>
            </p:grpSp>
            <p:pic>
              <p:nvPicPr>
                <p:cNvPr id="14" name="Image 13" descr="3-2-blogging-transparent-thumb.png"/>
                <p:cNvPicPr>
                  <a:picLocks noChangeAspect="1"/>
                </p:cNvPicPr>
                <p:nvPr/>
              </p:nvPicPr>
              <p:blipFill>
                <a:blip r:embed="rId5" cstate="print"/>
                <a:stretch>
                  <a:fillRect/>
                </a:stretch>
              </p:blipFill>
              <p:spPr>
                <a:xfrm>
                  <a:off x="2195736" y="6165304"/>
                  <a:ext cx="864096" cy="741369"/>
                </a:xfrm>
                <a:prstGeom prst="rect">
                  <a:avLst/>
                </a:prstGeom>
              </p:spPr>
            </p:pic>
            <p:pic>
              <p:nvPicPr>
                <p:cNvPr id="15" name="Image 14" descr="12-2-education-png-image-thumb.png"/>
                <p:cNvPicPr>
                  <a:picLocks noChangeAspect="1"/>
                </p:cNvPicPr>
                <p:nvPr/>
              </p:nvPicPr>
              <p:blipFill>
                <a:blip r:embed="rId6" cstate="print"/>
                <a:stretch>
                  <a:fillRect/>
                </a:stretch>
              </p:blipFill>
              <p:spPr>
                <a:xfrm>
                  <a:off x="8388424" y="5976664"/>
                  <a:ext cx="720080" cy="980728"/>
                </a:xfrm>
                <a:prstGeom prst="rect">
                  <a:avLst/>
                </a:prstGeom>
              </p:spPr>
            </p:pic>
            <p:sp>
              <p:nvSpPr>
                <p:cNvPr id="16" name="ZoneTexte 15"/>
                <p:cNvSpPr txBox="1"/>
                <p:nvPr/>
              </p:nvSpPr>
              <p:spPr>
                <a:xfrm>
                  <a:off x="5796136" y="6351711"/>
                  <a:ext cx="2664296" cy="3847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1900" b="1" dirty="0" smtClean="0">
                      <a:solidFill>
                        <a:schemeClr val="bg1"/>
                      </a:solidFill>
                    </a:rPr>
                    <a:t>متوسطة قلواز </a:t>
                  </a:r>
                  <a:r>
                    <a:rPr lang="ar-DZ" sz="1900" b="1" dirty="0" err="1" smtClean="0">
                      <a:solidFill>
                        <a:schemeClr val="bg1"/>
                      </a:solidFill>
                    </a:rPr>
                    <a:t>موسى </a:t>
                  </a:r>
                  <a:r>
                    <a:rPr lang="ar-DZ" sz="1900" b="1" dirty="0" smtClean="0">
                      <a:solidFill>
                        <a:schemeClr val="bg1"/>
                      </a:solidFill>
                    </a:rPr>
                    <a:t>- بوراشد</a:t>
                  </a:r>
                  <a:endParaRPr lang="fr-FR" sz="19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7" name="ZoneTexte 16"/>
                <p:cNvSpPr txBox="1"/>
                <p:nvPr/>
              </p:nvSpPr>
              <p:spPr>
                <a:xfrm>
                  <a:off x="-180528" y="6396335"/>
                  <a:ext cx="244827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2000" b="1" dirty="0" smtClean="0">
                      <a:solidFill>
                        <a:schemeClr val="bg1"/>
                      </a:solidFill>
                    </a:rPr>
                    <a:t>تصميم الأستاذ ماحي رضا</a:t>
                  </a:r>
                  <a:endParaRPr lang="fr-FR" sz="20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8" name="ZoneTexte 17"/>
                <p:cNvSpPr txBox="1"/>
                <p:nvPr/>
              </p:nvSpPr>
              <p:spPr>
                <a:xfrm>
                  <a:off x="2915816" y="6428655"/>
                  <a:ext cx="2088232" cy="3847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1900" b="1" dirty="0" smtClean="0">
                      <a:solidFill>
                        <a:schemeClr val="bg1"/>
                      </a:solidFill>
                    </a:rPr>
                    <a:t>المستوى:الثاني متوسط</a:t>
                  </a:r>
                  <a:endParaRPr lang="fr-FR" sz="1900" b="1" dirty="0">
                    <a:solidFill>
                      <a:schemeClr val="bg1"/>
                    </a:solidFill>
                  </a:endParaRPr>
                </a:p>
              </p:txBody>
            </p:sp>
          </p:grpSp>
          <p:pic>
            <p:nvPicPr>
              <p:cNvPr id="10" name="Image 9" descr="3d print business.png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4716016" y="6237312"/>
                <a:ext cx="1440160" cy="620688"/>
              </a:xfrm>
              <a:prstGeom prst="rect">
                <a:avLst/>
              </a:prstGeom>
            </p:spPr>
          </p:pic>
          <p:pic>
            <p:nvPicPr>
              <p:cNvPr id="11" name="Image 10" descr="Microsoft_Word_2013_logo.svg.png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827584" y="33236"/>
                <a:ext cx="792087" cy="587452"/>
              </a:xfrm>
              <a:prstGeom prst="rect">
                <a:avLst/>
              </a:prstGeom>
            </p:spPr>
          </p:pic>
        </p:grpSp>
        <p:sp>
          <p:nvSpPr>
            <p:cNvPr id="31" name="ZoneTexte 30"/>
            <p:cNvSpPr txBox="1"/>
            <p:nvPr/>
          </p:nvSpPr>
          <p:spPr>
            <a:xfrm>
              <a:off x="6948264" y="44624"/>
              <a:ext cx="212372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800" b="1" dirty="0" smtClean="0">
                  <a:solidFill>
                    <a:schemeClr val="bg1"/>
                  </a:solidFill>
                </a:rPr>
                <a:t>الحصة </a:t>
              </a:r>
              <a:r>
                <a:rPr lang="ar-DZ" sz="2800" b="1" dirty="0" err="1" smtClean="0">
                  <a:solidFill>
                    <a:schemeClr val="bg1"/>
                  </a:solidFill>
                </a:rPr>
                <a:t>التعلمية</a:t>
              </a:r>
              <a:endParaRPr lang="fr-FR" sz="2800" b="1" dirty="0">
                <a:solidFill>
                  <a:schemeClr val="bg1"/>
                </a:solidFill>
              </a:endParaRPr>
            </a:p>
          </p:txBody>
        </p:sp>
        <p:sp>
          <p:nvSpPr>
            <p:cNvPr id="32" name="ZoneTexte 31"/>
            <p:cNvSpPr txBox="1"/>
            <p:nvPr/>
          </p:nvSpPr>
          <p:spPr>
            <a:xfrm>
              <a:off x="2915816" y="44624"/>
              <a:ext cx="208823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800" b="1" dirty="0" smtClean="0">
                  <a:solidFill>
                    <a:schemeClr val="bg1"/>
                  </a:solidFill>
                </a:rPr>
                <a:t>الأشكال والصور</a:t>
              </a:r>
              <a:endParaRPr lang="fr-FR" sz="28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3" name="Rectangle 2"/>
          <p:cNvSpPr/>
          <p:nvPr/>
        </p:nvSpPr>
        <p:spPr>
          <a:xfrm>
            <a:off x="2771800" y="1772816"/>
            <a:ext cx="1296144" cy="5760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Triangle isocèle 6"/>
          <p:cNvSpPr/>
          <p:nvPr/>
        </p:nvSpPr>
        <p:spPr>
          <a:xfrm>
            <a:off x="1706114" y="1745557"/>
            <a:ext cx="648072" cy="576064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Ellipse 11"/>
          <p:cNvSpPr/>
          <p:nvPr/>
        </p:nvSpPr>
        <p:spPr>
          <a:xfrm>
            <a:off x="4340406" y="1673549"/>
            <a:ext cx="751219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500"/>
                            </p:stCondLst>
                            <p:childTnLst>
                              <p:par>
                                <p:cTn id="3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000"/>
                            </p:stCondLst>
                            <p:childTnLst>
                              <p:par>
                                <p:cTn id="4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6" grpId="0"/>
      <p:bldP spid="3" grpId="0" animBg="1"/>
      <p:bldP spid="7" grpId="0" animBg="1"/>
      <p:bldP spid="1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Image 36" descr="h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20688"/>
            <a:ext cx="9144000" cy="5665812"/>
          </a:xfrm>
          <a:prstGeom prst="rect">
            <a:avLst/>
          </a:prstGeom>
        </p:spPr>
      </p:pic>
      <p:grpSp>
        <p:nvGrpSpPr>
          <p:cNvPr id="12" name="Groupe 11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3" name="Groupe 2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2" name="Groupe 1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196" name="Groupe 195"/>
                <p:cNvGrpSpPr/>
                <p:nvPr/>
              </p:nvGrpSpPr>
              <p:grpSpPr>
                <a:xfrm>
                  <a:off x="-180528" y="0"/>
                  <a:ext cx="9324528" cy="6957392"/>
                  <a:chOff x="-180528" y="0"/>
                  <a:chExt cx="9324528" cy="6957392"/>
                </a:xfrm>
              </p:grpSpPr>
              <p:grpSp>
                <p:nvGrpSpPr>
                  <p:cNvPr id="5" name="Groupe 18"/>
                  <p:cNvGrpSpPr/>
                  <p:nvPr/>
                </p:nvGrpSpPr>
                <p:grpSpPr>
                  <a:xfrm>
                    <a:off x="0" y="0"/>
                    <a:ext cx="9144000" cy="6885384"/>
                    <a:chOff x="0" y="0"/>
                    <a:chExt cx="9144000" cy="6885384"/>
                  </a:xfrm>
                </p:grpSpPr>
                <p:sp>
                  <p:nvSpPr>
                    <p:cNvPr id="7" name="Rectangle 6"/>
                    <p:cNvSpPr/>
                    <p:nvPr/>
                  </p:nvSpPr>
                  <p:spPr>
                    <a:xfrm rot="10800000" flipV="1">
                      <a:off x="0" y="0"/>
                      <a:ext cx="6983760" cy="620688"/>
                    </a:xfrm>
                    <a:prstGeom prst="rect">
                      <a:avLst/>
                    </a:prstGeom>
                    <a:solidFill>
                      <a:srgbClr val="FF66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grpSp>
                  <p:nvGrpSpPr>
                    <p:cNvPr id="8" name="Groupe 15"/>
                    <p:cNvGrpSpPr/>
                    <p:nvPr/>
                  </p:nvGrpSpPr>
                  <p:grpSpPr>
                    <a:xfrm>
                      <a:off x="0" y="6237312"/>
                      <a:ext cx="9144000" cy="648072"/>
                      <a:chOff x="0" y="6237312"/>
                      <a:chExt cx="9144000" cy="648072"/>
                    </a:xfrm>
                  </p:grpSpPr>
                  <p:sp>
                    <p:nvSpPr>
                      <p:cNvPr id="10" name="Rectangle 5"/>
                      <p:cNvSpPr/>
                      <p:nvPr/>
                    </p:nvSpPr>
                    <p:spPr>
                      <a:xfrm>
                        <a:off x="0" y="6309320"/>
                        <a:ext cx="9144000" cy="576064"/>
                      </a:xfrm>
                      <a:prstGeom prst="rect">
                        <a:avLst/>
                      </a:prstGeom>
                      <a:solidFill>
                        <a:srgbClr val="CC00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  <p:sp>
                    <p:nvSpPr>
                      <p:cNvPr id="11" name="Rectangle 10"/>
                      <p:cNvSpPr/>
                      <p:nvPr/>
                    </p:nvSpPr>
                    <p:spPr>
                      <a:xfrm flipV="1">
                        <a:off x="0" y="6237312"/>
                        <a:ext cx="9144000" cy="72008"/>
                      </a:xfrm>
                      <a:prstGeom prst="rect">
                        <a:avLst/>
                      </a:prstGeom>
                      <a:solidFill>
                        <a:srgbClr val="FF66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</p:grpSp>
                <p:sp>
                  <p:nvSpPr>
                    <p:cNvPr id="9" name="Rectangle 8"/>
                    <p:cNvSpPr/>
                    <p:nvPr/>
                  </p:nvSpPr>
                  <p:spPr>
                    <a:xfrm rot="10800000" flipV="1">
                      <a:off x="7020272" y="0"/>
                      <a:ext cx="2123728" cy="620688"/>
                    </a:xfrm>
                    <a:prstGeom prst="rect">
                      <a:avLst/>
                    </a:prstGeom>
                    <a:solidFill>
                      <a:srgbClr val="CC00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 dirty="0"/>
                    </a:p>
                  </p:txBody>
                </p:sp>
              </p:grpSp>
              <p:pic>
                <p:nvPicPr>
                  <p:cNvPr id="32" name="Image 31" descr="3-2-blogging-transparent-thumb.png"/>
                  <p:cNvPicPr>
                    <a:picLocks noChangeAspect="1"/>
                  </p:cNvPicPr>
                  <p:nvPr/>
                </p:nvPicPr>
                <p:blipFill>
                  <a:blip r:embed="rId3" cstate="print"/>
                  <a:stretch>
                    <a:fillRect/>
                  </a:stretch>
                </p:blipFill>
                <p:spPr>
                  <a:xfrm>
                    <a:off x="2195736" y="6165304"/>
                    <a:ext cx="864096" cy="741369"/>
                  </a:xfrm>
                  <a:prstGeom prst="rect">
                    <a:avLst/>
                  </a:prstGeom>
                </p:spPr>
              </p:pic>
              <p:pic>
                <p:nvPicPr>
                  <p:cNvPr id="33" name="Image 32" descr="12-2-education-png-image-thumb.png"/>
                  <p:cNvPicPr>
                    <a:picLocks noChangeAspect="1"/>
                  </p:cNvPicPr>
                  <p:nvPr/>
                </p:nvPicPr>
                <p:blipFill>
                  <a:blip r:embed="rId4" cstate="print"/>
                  <a:stretch>
                    <a:fillRect/>
                  </a:stretch>
                </p:blipFill>
                <p:spPr>
                  <a:xfrm>
                    <a:off x="8388424" y="5976664"/>
                    <a:ext cx="720080" cy="980728"/>
                  </a:xfrm>
                  <a:prstGeom prst="rect">
                    <a:avLst/>
                  </a:prstGeom>
                </p:spPr>
              </p:pic>
              <p:sp>
                <p:nvSpPr>
                  <p:cNvPr id="34" name="ZoneTexte 33"/>
                  <p:cNvSpPr txBox="1"/>
                  <p:nvPr/>
                </p:nvSpPr>
                <p:spPr>
                  <a:xfrm>
                    <a:off x="5652120" y="6428655"/>
                    <a:ext cx="2808312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متوسطة قلواز </a:t>
                    </a:r>
                    <a:r>
                      <a:rPr lang="ar-DZ" sz="1900" b="1" dirty="0" err="1" smtClean="0">
                        <a:solidFill>
                          <a:schemeClr val="bg1"/>
                        </a:solidFill>
                      </a:rPr>
                      <a:t>موسى </a:t>
                    </a:r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- بوراشد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35" name="ZoneTexte 34"/>
                  <p:cNvSpPr txBox="1"/>
                  <p:nvPr/>
                </p:nvSpPr>
                <p:spPr>
                  <a:xfrm>
                    <a:off x="-180528" y="6396335"/>
                    <a:ext cx="2448272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2000" b="1" dirty="0" smtClean="0">
                        <a:solidFill>
                          <a:schemeClr val="bg1"/>
                        </a:solidFill>
                      </a:rPr>
                      <a:t>تصميم الأستاذ ماحي رضا</a:t>
                    </a:r>
                    <a:endParaRPr lang="fr-FR" sz="20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36" name="ZoneTexte 35"/>
                  <p:cNvSpPr txBox="1"/>
                  <p:nvPr/>
                </p:nvSpPr>
                <p:spPr>
                  <a:xfrm>
                    <a:off x="2987824" y="6428655"/>
                    <a:ext cx="2088232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المستوى:الثاني متوسط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</p:grpSp>
            <p:pic>
              <p:nvPicPr>
                <p:cNvPr id="52" name="Image 51" descr="3d print business.png"/>
                <p:cNvPicPr>
                  <a:picLocks noChangeAspect="1"/>
                </p:cNvPicPr>
                <p:nvPr/>
              </p:nvPicPr>
              <p:blipFill>
                <a:blip r:embed="rId5" cstate="print"/>
                <a:stretch>
                  <a:fillRect/>
                </a:stretch>
              </p:blipFill>
              <p:spPr>
                <a:xfrm>
                  <a:off x="4788024" y="6274668"/>
                  <a:ext cx="1440160" cy="583332"/>
                </a:xfrm>
                <a:prstGeom prst="rect">
                  <a:avLst/>
                </a:prstGeom>
              </p:spPr>
            </p:pic>
          </p:grpSp>
          <p:sp>
            <p:nvSpPr>
              <p:cNvPr id="54" name="ZoneTexte 53"/>
              <p:cNvSpPr txBox="1"/>
              <p:nvPr/>
            </p:nvSpPr>
            <p:spPr>
              <a:xfrm>
                <a:off x="6948264" y="44624"/>
                <a:ext cx="212372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 smtClean="0">
                    <a:solidFill>
                      <a:schemeClr val="bg1"/>
                    </a:solidFill>
                  </a:rPr>
                  <a:t>الحصة </a:t>
                </a:r>
                <a:r>
                  <a:rPr lang="ar-DZ" sz="2800" b="1" dirty="0" err="1" smtClean="0">
                    <a:solidFill>
                      <a:schemeClr val="bg1"/>
                    </a:solidFill>
                  </a:rPr>
                  <a:t>التعلمية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5" name="ZoneTexte 54"/>
              <p:cNvSpPr txBox="1"/>
              <p:nvPr/>
            </p:nvSpPr>
            <p:spPr>
              <a:xfrm>
                <a:off x="2915816" y="44624"/>
                <a:ext cx="208823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 smtClean="0">
                    <a:solidFill>
                      <a:schemeClr val="bg1"/>
                    </a:solidFill>
                  </a:rPr>
                  <a:t>الأشكال والصور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57" name="Image 56" descr="Microsoft_Word_2013_logo.svg.png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27584" y="33236"/>
              <a:ext cx="792087" cy="587452"/>
            </a:xfrm>
            <a:prstGeom prst="rect">
              <a:avLst/>
            </a:prstGeom>
          </p:spPr>
        </p:pic>
      </p:grpSp>
      <p:sp>
        <p:nvSpPr>
          <p:cNvPr id="56" name="Shape 856"/>
          <p:cNvSpPr/>
          <p:nvPr/>
        </p:nvSpPr>
        <p:spPr>
          <a:xfrm>
            <a:off x="8316416" y="725794"/>
            <a:ext cx="618295" cy="54713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lIns="50800" tIns="50800" rIns="50800" bIns="50800" numCol="1" anchor="ctr">
            <a:noAutofit/>
          </a:bodyPr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58" name="Shape 859"/>
          <p:cNvSpPr/>
          <p:nvPr/>
        </p:nvSpPr>
        <p:spPr>
          <a:xfrm>
            <a:off x="4828802" y="753426"/>
            <a:ext cx="3436175" cy="4764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8" y="0"/>
                </a:moveTo>
                <a:cubicBezTo>
                  <a:pt x="433" y="0"/>
                  <a:pt x="0" y="3963"/>
                  <a:pt x="0" y="8848"/>
                </a:cubicBezTo>
                <a:lnTo>
                  <a:pt x="0" y="12758"/>
                </a:lnTo>
                <a:cubicBezTo>
                  <a:pt x="0" y="17643"/>
                  <a:pt x="433" y="21600"/>
                  <a:pt x="968" y="21600"/>
                </a:cubicBezTo>
                <a:lnTo>
                  <a:pt x="20197" y="21600"/>
                </a:lnTo>
                <a:cubicBezTo>
                  <a:pt x="20704" y="21600"/>
                  <a:pt x="21119" y="18028"/>
                  <a:pt x="21160" y="13486"/>
                </a:cubicBezTo>
                <a:lnTo>
                  <a:pt x="21600" y="10806"/>
                </a:lnTo>
                <a:lnTo>
                  <a:pt x="21160" y="8119"/>
                </a:lnTo>
                <a:cubicBezTo>
                  <a:pt x="21120" y="3575"/>
                  <a:pt x="20704" y="0"/>
                  <a:pt x="20197" y="0"/>
                </a:cubicBezTo>
                <a:lnTo>
                  <a:pt x="968" y="0"/>
                </a:ln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50800" tIns="50800" rIns="50800" bIns="50800" anchor="ctr"/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59" name="ZoneTexte 58"/>
          <p:cNvSpPr txBox="1"/>
          <p:nvPr/>
        </p:nvSpPr>
        <p:spPr>
          <a:xfrm>
            <a:off x="8316416" y="725794"/>
            <a:ext cx="5374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800" b="1" dirty="0" smtClean="0">
                <a:solidFill>
                  <a:srgbClr val="FFFF00"/>
                </a:solidFill>
              </a:rPr>
              <a:t>1</a:t>
            </a:r>
            <a:r>
              <a:rPr lang="fr-FR" sz="2800" b="1" dirty="0" smtClean="0">
                <a:solidFill>
                  <a:srgbClr val="FFFF00"/>
                </a:solidFill>
              </a:rPr>
              <a:t>-</a:t>
            </a:r>
            <a:endParaRPr lang="fr-FR" sz="2800" b="1" dirty="0">
              <a:solidFill>
                <a:srgbClr val="FFFF00"/>
              </a:solidFill>
            </a:endParaRPr>
          </a:p>
        </p:txBody>
      </p:sp>
      <p:sp>
        <p:nvSpPr>
          <p:cNvPr id="60" name="ZoneTexte 59"/>
          <p:cNvSpPr txBox="1"/>
          <p:nvPr/>
        </p:nvSpPr>
        <p:spPr>
          <a:xfrm>
            <a:off x="4934718" y="764704"/>
            <a:ext cx="30936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rtl="1"/>
            <a:r>
              <a:rPr lang="ar-DZ" sz="2400" b="1" dirty="0" smtClean="0">
                <a:solidFill>
                  <a:srgbClr val="FFFF00"/>
                </a:solidFill>
              </a:rPr>
              <a:t> إدراج الأشكال </a:t>
            </a:r>
            <a:r>
              <a:rPr lang="en-US" sz="2400" b="1" dirty="0" smtClean="0">
                <a:solidFill>
                  <a:srgbClr val="FFFF00"/>
                </a:solidFill>
              </a:rPr>
              <a:t>For</a:t>
            </a:r>
            <a:r>
              <a:rPr lang="fr-FR" sz="2400" b="1" dirty="0" smtClean="0">
                <a:solidFill>
                  <a:srgbClr val="FFFF00"/>
                </a:solidFill>
              </a:rPr>
              <a:t>mes</a:t>
            </a:r>
            <a:r>
              <a:rPr lang="ar-DZ" sz="2400" b="1" dirty="0" smtClean="0">
                <a:solidFill>
                  <a:srgbClr val="FFFF00"/>
                </a:solidFill>
              </a:rPr>
              <a:t>:  </a:t>
            </a:r>
            <a:endParaRPr lang="en-US" sz="2400" b="1" dirty="0" smtClean="0">
              <a:solidFill>
                <a:srgbClr val="FFFF00"/>
              </a:solidFill>
            </a:endParaRPr>
          </a:p>
        </p:txBody>
      </p:sp>
      <p:sp>
        <p:nvSpPr>
          <p:cNvPr id="61" name="Rectangle 52"/>
          <p:cNvSpPr>
            <a:spLocks noChangeArrowheads="1"/>
          </p:cNvSpPr>
          <p:nvPr/>
        </p:nvSpPr>
        <p:spPr bwMode="auto">
          <a:xfrm>
            <a:off x="8055193" y="1359534"/>
            <a:ext cx="613569" cy="1566392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62" name="Group 64"/>
          <p:cNvGrpSpPr/>
          <p:nvPr/>
        </p:nvGrpSpPr>
        <p:grpSpPr>
          <a:xfrm>
            <a:off x="4934718" y="1412776"/>
            <a:ext cx="3741738" cy="451793"/>
            <a:chOff x="-148675" y="1693797"/>
            <a:chExt cx="3741738" cy="1026832"/>
          </a:xfrm>
        </p:grpSpPr>
        <p:sp>
          <p:nvSpPr>
            <p:cNvPr id="63" name="Freeform 9"/>
            <p:cNvSpPr>
              <a:spLocks/>
            </p:cNvSpPr>
            <p:nvPr/>
          </p:nvSpPr>
          <p:spPr bwMode="auto">
            <a:xfrm flipH="1">
              <a:off x="-148675" y="1943390"/>
              <a:ext cx="3118104" cy="777239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" name="Freeform 10"/>
            <p:cNvSpPr>
              <a:spLocks/>
            </p:cNvSpPr>
            <p:nvPr/>
          </p:nvSpPr>
          <p:spPr bwMode="auto">
            <a:xfrm flipH="1">
              <a:off x="2688188" y="2261625"/>
              <a:ext cx="280988" cy="457589"/>
            </a:xfrm>
            <a:custGeom>
              <a:avLst/>
              <a:gdLst/>
              <a:ahLst/>
              <a:cxnLst>
                <a:cxn ang="0">
                  <a:pos x="177" y="5"/>
                </a:cxn>
                <a:cxn ang="0">
                  <a:pos x="0" y="0"/>
                </a:cxn>
                <a:cxn ang="0">
                  <a:pos x="1" y="220"/>
                </a:cxn>
                <a:cxn ang="0">
                  <a:pos x="177" y="5"/>
                </a:cxn>
              </a:cxnLst>
              <a:rect l="0" t="0" r="r" b="b"/>
              <a:pathLst>
                <a:path w="177" h="220">
                  <a:moveTo>
                    <a:pt x="177" y="5"/>
                  </a:moveTo>
                  <a:lnTo>
                    <a:pt x="0" y="0"/>
                  </a:lnTo>
                  <a:lnTo>
                    <a:pt x="1" y="220"/>
                  </a:lnTo>
                  <a:lnTo>
                    <a:pt x="177" y="5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" name="Freeform 83"/>
            <p:cNvSpPr>
              <a:spLocks/>
            </p:cNvSpPr>
            <p:nvPr/>
          </p:nvSpPr>
          <p:spPr bwMode="auto">
            <a:xfrm flipH="1">
              <a:off x="2685013" y="1693797"/>
              <a:ext cx="908050" cy="584466"/>
            </a:xfrm>
            <a:custGeom>
              <a:avLst/>
              <a:gdLst/>
              <a:ahLst/>
              <a:cxnLst>
                <a:cxn ang="0">
                  <a:pos x="504" y="4"/>
                </a:cxn>
                <a:cxn ang="0">
                  <a:pos x="0" y="0"/>
                </a:cxn>
                <a:cxn ang="0">
                  <a:pos x="71" y="281"/>
                </a:cxn>
                <a:cxn ang="0">
                  <a:pos x="572" y="281"/>
                </a:cxn>
                <a:cxn ang="0">
                  <a:pos x="504" y="4"/>
                </a:cxn>
              </a:cxnLst>
              <a:rect l="0" t="0" r="r" b="b"/>
              <a:pathLst>
                <a:path w="572" h="281">
                  <a:moveTo>
                    <a:pt x="504" y="4"/>
                  </a:moveTo>
                  <a:lnTo>
                    <a:pt x="0" y="0"/>
                  </a:lnTo>
                  <a:lnTo>
                    <a:pt x="71" y="281"/>
                  </a:lnTo>
                  <a:lnTo>
                    <a:pt x="572" y="281"/>
                  </a:lnTo>
                  <a:lnTo>
                    <a:pt x="504" y="4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9525">
              <a:noFill/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66" name="TextBox 68"/>
          <p:cNvSpPr txBox="1"/>
          <p:nvPr/>
        </p:nvSpPr>
        <p:spPr>
          <a:xfrm>
            <a:off x="5254013" y="1537047"/>
            <a:ext cx="2414331" cy="30777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lvl="0" algn="r" rtl="1">
              <a:spcBef>
                <a:spcPct val="20000"/>
              </a:spcBef>
              <a:defRPr/>
            </a:pPr>
            <a:r>
              <a:rPr lang="ar-DZ" sz="2000" b="1" dirty="0">
                <a:solidFill>
                  <a:schemeClr val="bg1"/>
                </a:solidFill>
              </a:rPr>
              <a:t>التبويب </a:t>
            </a:r>
            <a:r>
              <a:rPr lang="fr-FR" sz="2000" b="1" dirty="0" smtClean="0">
                <a:solidFill>
                  <a:schemeClr val="bg1"/>
                </a:solidFill>
              </a:rPr>
              <a:t>Insertion</a:t>
            </a:r>
            <a:r>
              <a:rPr lang="ar-DZ" sz="2000" b="1" dirty="0" smtClean="0">
                <a:solidFill>
                  <a:schemeClr val="bg1"/>
                </a:solidFill>
              </a:rPr>
              <a:t>.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67" name="TextBox 82"/>
          <p:cNvSpPr txBox="1"/>
          <p:nvPr/>
        </p:nvSpPr>
        <p:spPr>
          <a:xfrm>
            <a:off x="8082137" y="1340768"/>
            <a:ext cx="2798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</a:rPr>
              <a:t>-</a:t>
            </a:r>
            <a:endParaRPr lang="en-US" sz="2000" b="1" dirty="0">
              <a:solidFill>
                <a:schemeClr val="bg1"/>
              </a:solidFill>
            </a:endParaRPr>
          </a:p>
        </p:txBody>
      </p:sp>
      <p:grpSp>
        <p:nvGrpSpPr>
          <p:cNvPr id="68" name="Group 64"/>
          <p:cNvGrpSpPr/>
          <p:nvPr/>
        </p:nvGrpSpPr>
        <p:grpSpPr>
          <a:xfrm>
            <a:off x="4934718" y="1969095"/>
            <a:ext cx="3741738" cy="451793"/>
            <a:chOff x="-148675" y="1693797"/>
            <a:chExt cx="3741738" cy="1026832"/>
          </a:xfrm>
        </p:grpSpPr>
        <p:sp>
          <p:nvSpPr>
            <p:cNvPr id="69" name="Freeform 9"/>
            <p:cNvSpPr>
              <a:spLocks/>
            </p:cNvSpPr>
            <p:nvPr/>
          </p:nvSpPr>
          <p:spPr bwMode="auto">
            <a:xfrm flipH="1">
              <a:off x="-148675" y="1943390"/>
              <a:ext cx="3118104" cy="777239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" name="Freeform 10"/>
            <p:cNvSpPr>
              <a:spLocks/>
            </p:cNvSpPr>
            <p:nvPr/>
          </p:nvSpPr>
          <p:spPr bwMode="auto">
            <a:xfrm flipH="1">
              <a:off x="2688188" y="2261625"/>
              <a:ext cx="280988" cy="457589"/>
            </a:xfrm>
            <a:custGeom>
              <a:avLst/>
              <a:gdLst/>
              <a:ahLst/>
              <a:cxnLst>
                <a:cxn ang="0">
                  <a:pos x="177" y="5"/>
                </a:cxn>
                <a:cxn ang="0">
                  <a:pos x="0" y="0"/>
                </a:cxn>
                <a:cxn ang="0">
                  <a:pos x="1" y="220"/>
                </a:cxn>
                <a:cxn ang="0">
                  <a:pos x="177" y="5"/>
                </a:cxn>
              </a:cxnLst>
              <a:rect l="0" t="0" r="r" b="b"/>
              <a:pathLst>
                <a:path w="177" h="220">
                  <a:moveTo>
                    <a:pt x="177" y="5"/>
                  </a:moveTo>
                  <a:lnTo>
                    <a:pt x="0" y="0"/>
                  </a:lnTo>
                  <a:lnTo>
                    <a:pt x="1" y="220"/>
                  </a:lnTo>
                  <a:lnTo>
                    <a:pt x="177" y="5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" name="Freeform 83"/>
            <p:cNvSpPr>
              <a:spLocks/>
            </p:cNvSpPr>
            <p:nvPr/>
          </p:nvSpPr>
          <p:spPr bwMode="auto">
            <a:xfrm flipH="1">
              <a:off x="2685013" y="1693797"/>
              <a:ext cx="908050" cy="584466"/>
            </a:xfrm>
            <a:custGeom>
              <a:avLst/>
              <a:gdLst/>
              <a:ahLst/>
              <a:cxnLst>
                <a:cxn ang="0">
                  <a:pos x="504" y="4"/>
                </a:cxn>
                <a:cxn ang="0">
                  <a:pos x="0" y="0"/>
                </a:cxn>
                <a:cxn ang="0">
                  <a:pos x="71" y="281"/>
                </a:cxn>
                <a:cxn ang="0">
                  <a:pos x="572" y="281"/>
                </a:cxn>
                <a:cxn ang="0">
                  <a:pos x="504" y="4"/>
                </a:cxn>
              </a:cxnLst>
              <a:rect l="0" t="0" r="r" b="b"/>
              <a:pathLst>
                <a:path w="572" h="281">
                  <a:moveTo>
                    <a:pt x="504" y="4"/>
                  </a:moveTo>
                  <a:lnTo>
                    <a:pt x="0" y="0"/>
                  </a:lnTo>
                  <a:lnTo>
                    <a:pt x="71" y="281"/>
                  </a:lnTo>
                  <a:lnTo>
                    <a:pt x="572" y="281"/>
                  </a:lnTo>
                  <a:lnTo>
                    <a:pt x="504" y="4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 w="9525">
              <a:noFill/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72" name="TextBox 68"/>
          <p:cNvSpPr txBox="1"/>
          <p:nvPr/>
        </p:nvSpPr>
        <p:spPr>
          <a:xfrm>
            <a:off x="5254013" y="2093366"/>
            <a:ext cx="2414331" cy="30777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lang="ar-SA" sz="2000" b="1" dirty="0">
                <a:solidFill>
                  <a:schemeClr val="bg1"/>
                </a:solidFill>
              </a:rPr>
              <a:t>الأداة </a:t>
            </a:r>
            <a:r>
              <a:rPr lang="fr-FR" sz="2000" b="1" dirty="0" smtClean="0">
                <a:solidFill>
                  <a:schemeClr val="bg1"/>
                </a:solidFill>
              </a:rPr>
              <a:t>formes</a:t>
            </a:r>
            <a:r>
              <a:rPr lang="ar-DZ" sz="2000" b="1" dirty="0" smtClean="0">
                <a:solidFill>
                  <a:schemeClr val="bg1"/>
                </a:solidFill>
              </a:rPr>
              <a:t>.</a:t>
            </a:r>
            <a:endParaRPr lang="fr-FR" sz="2000" b="1" dirty="0">
              <a:solidFill>
                <a:schemeClr val="bg1"/>
              </a:solidFill>
              <a:latin typeface="Times New Roman"/>
              <a:ea typeface="Times New Roman"/>
            </a:endParaRPr>
          </a:p>
        </p:txBody>
      </p:sp>
      <p:sp>
        <p:nvSpPr>
          <p:cNvPr id="73" name="TextBox 82"/>
          <p:cNvSpPr txBox="1"/>
          <p:nvPr/>
        </p:nvSpPr>
        <p:spPr>
          <a:xfrm>
            <a:off x="8082137" y="1876762"/>
            <a:ext cx="2798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</a:rPr>
              <a:t>-</a:t>
            </a:r>
            <a:endParaRPr lang="en-US" sz="2000" b="1" dirty="0">
              <a:solidFill>
                <a:schemeClr val="bg1"/>
              </a:solidFill>
            </a:endParaRPr>
          </a:p>
        </p:txBody>
      </p:sp>
      <p:grpSp>
        <p:nvGrpSpPr>
          <p:cNvPr id="74" name="Group 64"/>
          <p:cNvGrpSpPr/>
          <p:nvPr/>
        </p:nvGrpSpPr>
        <p:grpSpPr>
          <a:xfrm>
            <a:off x="2627784" y="2474132"/>
            <a:ext cx="6045994" cy="451793"/>
            <a:chOff x="-2452931" y="1693797"/>
            <a:chExt cx="6045994" cy="1026832"/>
          </a:xfrm>
        </p:grpSpPr>
        <p:sp>
          <p:nvSpPr>
            <p:cNvPr id="75" name="Freeform 9"/>
            <p:cNvSpPr>
              <a:spLocks/>
            </p:cNvSpPr>
            <p:nvPr/>
          </p:nvSpPr>
          <p:spPr bwMode="auto">
            <a:xfrm flipH="1">
              <a:off x="-2452931" y="1943391"/>
              <a:ext cx="5422360" cy="777238"/>
            </a:xfrm>
            <a:prstGeom prst="rect">
              <a:avLst/>
            </a:prstGeom>
            <a:solidFill>
              <a:schemeClr val="accent4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Freeform 10"/>
            <p:cNvSpPr>
              <a:spLocks/>
            </p:cNvSpPr>
            <p:nvPr/>
          </p:nvSpPr>
          <p:spPr bwMode="auto">
            <a:xfrm flipH="1">
              <a:off x="2688188" y="2261625"/>
              <a:ext cx="280988" cy="457589"/>
            </a:xfrm>
            <a:custGeom>
              <a:avLst/>
              <a:gdLst/>
              <a:ahLst/>
              <a:cxnLst>
                <a:cxn ang="0">
                  <a:pos x="177" y="5"/>
                </a:cxn>
                <a:cxn ang="0">
                  <a:pos x="0" y="0"/>
                </a:cxn>
                <a:cxn ang="0">
                  <a:pos x="1" y="220"/>
                </a:cxn>
                <a:cxn ang="0">
                  <a:pos x="177" y="5"/>
                </a:cxn>
              </a:cxnLst>
              <a:rect l="0" t="0" r="r" b="b"/>
              <a:pathLst>
                <a:path w="177" h="220">
                  <a:moveTo>
                    <a:pt x="177" y="5"/>
                  </a:moveTo>
                  <a:lnTo>
                    <a:pt x="0" y="0"/>
                  </a:lnTo>
                  <a:lnTo>
                    <a:pt x="1" y="220"/>
                  </a:lnTo>
                  <a:lnTo>
                    <a:pt x="177" y="5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Freeform 83"/>
            <p:cNvSpPr>
              <a:spLocks/>
            </p:cNvSpPr>
            <p:nvPr/>
          </p:nvSpPr>
          <p:spPr bwMode="auto">
            <a:xfrm flipH="1">
              <a:off x="2685013" y="1693797"/>
              <a:ext cx="908050" cy="584466"/>
            </a:xfrm>
            <a:custGeom>
              <a:avLst/>
              <a:gdLst/>
              <a:ahLst/>
              <a:cxnLst>
                <a:cxn ang="0">
                  <a:pos x="504" y="4"/>
                </a:cxn>
                <a:cxn ang="0">
                  <a:pos x="0" y="0"/>
                </a:cxn>
                <a:cxn ang="0">
                  <a:pos x="71" y="281"/>
                </a:cxn>
                <a:cxn ang="0">
                  <a:pos x="572" y="281"/>
                </a:cxn>
                <a:cxn ang="0">
                  <a:pos x="504" y="4"/>
                </a:cxn>
              </a:cxnLst>
              <a:rect l="0" t="0" r="r" b="b"/>
              <a:pathLst>
                <a:path w="572" h="281">
                  <a:moveTo>
                    <a:pt x="504" y="4"/>
                  </a:moveTo>
                  <a:lnTo>
                    <a:pt x="0" y="0"/>
                  </a:lnTo>
                  <a:lnTo>
                    <a:pt x="71" y="281"/>
                  </a:lnTo>
                  <a:lnTo>
                    <a:pt x="572" y="281"/>
                  </a:lnTo>
                  <a:lnTo>
                    <a:pt x="504" y="4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9525">
              <a:noFill/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78" name="TextBox 68"/>
          <p:cNvSpPr txBox="1"/>
          <p:nvPr/>
        </p:nvSpPr>
        <p:spPr>
          <a:xfrm>
            <a:off x="2520187" y="2602711"/>
            <a:ext cx="5181484" cy="30777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lang="ar-DZ" sz="2000" b="1" dirty="0" smtClean="0">
                <a:solidFill>
                  <a:schemeClr val="bg1"/>
                </a:solidFill>
              </a:rPr>
              <a:t>ننقر مرتين بالزر الأيسر للفأرة على الشكل الذي نريد إدراجه.</a:t>
            </a:r>
            <a:endParaRPr lang="fr-FR" sz="2000" b="1" dirty="0">
              <a:solidFill>
                <a:schemeClr val="bg1"/>
              </a:solidFill>
              <a:latin typeface="Times New Roman"/>
              <a:ea typeface="Times New Roman"/>
            </a:endParaRPr>
          </a:p>
        </p:txBody>
      </p:sp>
      <p:sp>
        <p:nvSpPr>
          <p:cNvPr id="79" name="TextBox 82"/>
          <p:cNvSpPr txBox="1"/>
          <p:nvPr/>
        </p:nvSpPr>
        <p:spPr>
          <a:xfrm>
            <a:off x="8079459" y="2380818"/>
            <a:ext cx="2798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</a:rPr>
              <a:t>-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80" name="ZoneTexte 79"/>
          <p:cNvSpPr txBox="1"/>
          <p:nvPr/>
        </p:nvSpPr>
        <p:spPr>
          <a:xfrm>
            <a:off x="180343" y="796642"/>
            <a:ext cx="467968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 rtl="1"/>
            <a:r>
              <a:rPr lang="ar-DZ" sz="2100" b="1" dirty="0" smtClean="0">
                <a:solidFill>
                  <a:schemeClr val="bg1"/>
                </a:solidFill>
              </a:rPr>
              <a:t> بعد تحديد مكان الإدراج ننقر على التوالي بالترتيب:</a:t>
            </a:r>
            <a:endParaRPr lang="en-US" sz="2100" b="1" dirty="0" smtClean="0">
              <a:solidFill>
                <a:schemeClr val="bg1"/>
              </a:solidFill>
            </a:endParaRPr>
          </a:p>
        </p:txBody>
      </p:sp>
      <p:pic>
        <p:nvPicPr>
          <p:cNvPr id="81" name="Image 80" descr="Capture d’écran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3077940"/>
            <a:ext cx="7675731" cy="308736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3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3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800"/>
                            </p:stCondLst>
                            <p:childTnLst>
                              <p:par>
                                <p:cTn id="1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300"/>
                            </p:stCondLst>
                            <p:childTnLst>
                              <p:par>
                                <p:cTn id="1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3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600"/>
                            </p:stCondLst>
                            <p:childTnLst>
                              <p:par>
                                <p:cTn id="2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4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500"/>
                            </p:stCondLst>
                            <p:childTnLst>
                              <p:par>
                                <p:cTn id="4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000"/>
                            </p:stCondLst>
                            <p:childTnLst>
                              <p:par>
                                <p:cTn id="4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5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0"/>
                            </p:stCondLst>
                            <p:childTnLst>
                              <p:par>
                                <p:cTn id="5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500"/>
                            </p:stCondLst>
                            <p:childTnLst>
                              <p:par>
                                <p:cTn id="5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60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6500"/>
                            </p:stCondLst>
                            <p:childTnLst>
                              <p:par>
                                <p:cTn id="6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58" grpId="0" animBg="1"/>
      <p:bldP spid="59" grpId="0"/>
      <p:bldP spid="60" grpId="0"/>
      <p:bldP spid="61" grpId="0" animBg="1"/>
      <p:bldP spid="66" grpId="0"/>
      <p:bldP spid="67" grpId="0"/>
      <p:bldP spid="72" grpId="0"/>
      <p:bldP spid="73" grpId="0"/>
      <p:bldP spid="78" grpId="0"/>
      <p:bldP spid="79" grpId="0"/>
      <p:bldP spid="8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Image 39" descr="shutterstock_17221542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20688"/>
            <a:ext cx="9144000" cy="5616624"/>
          </a:xfrm>
          <a:prstGeom prst="rect">
            <a:avLst/>
          </a:prstGeom>
        </p:spPr>
      </p:pic>
      <p:grpSp>
        <p:nvGrpSpPr>
          <p:cNvPr id="5" name="Groupe 4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4" name="Groupe 3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3" name="Groupe 2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19" name="Groupe 18"/>
                <p:cNvGrpSpPr/>
                <p:nvPr/>
              </p:nvGrpSpPr>
              <p:grpSpPr>
                <a:xfrm>
                  <a:off x="0" y="0"/>
                  <a:ext cx="9144000" cy="6885384"/>
                  <a:chOff x="0" y="0"/>
                  <a:chExt cx="9144000" cy="6885384"/>
                </a:xfrm>
              </p:grpSpPr>
              <p:sp>
                <p:nvSpPr>
                  <p:cNvPr id="21" name="Rectangle 20"/>
                  <p:cNvSpPr/>
                  <p:nvPr/>
                </p:nvSpPr>
                <p:spPr>
                  <a:xfrm rot="10800000" flipV="1">
                    <a:off x="0" y="0"/>
                    <a:ext cx="6983760" cy="620688"/>
                  </a:xfrm>
                  <a:prstGeom prst="rect">
                    <a:avLst/>
                  </a:prstGeom>
                  <a:solidFill>
                    <a:srgbClr val="FF6600"/>
                  </a:solidFill>
                  <a:ln>
                    <a:noFill/>
                  </a:ln>
                </p:spPr>
                <p:style>
                  <a:lnRef idx="1">
                    <a:schemeClr val="accent6"/>
                  </a:lnRef>
                  <a:fillRef idx="3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grpSp>
                <p:nvGrpSpPr>
                  <p:cNvPr id="22" name="Groupe 15"/>
                  <p:cNvGrpSpPr/>
                  <p:nvPr/>
                </p:nvGrpSpPr>
                <p:grpSpPr>
                  <a:xfrm>
                    <a:off x="0" y="6237312"/>
                    <a:ext cx="9144000" cy="648072"/>
                    <a:chOff x="0" y="6237312"/>
                    <a:chExt cx="9144000" cy="648072"/>
                  </a:xfrm>
                </p:grpSpPr>
                <p:sp>
                  <p:nvSpPr>
                    <p:cNvPr id="24" name="Rectangle 5"/>
                    <p:cNvSpPr/>
                    <p:nvPr/>
                  </p:nvSpPr>
                  <p:spPr>
                    <a:xfrm>
                      <a:off x="0" y="6309320"/>
                      <a:ext cx="9144000" cy="576064"/>
                    </a:xfrm>
                    <a:prstGeom prst="rect">
                      <a:avLst/>
                    </a:prstGeom>
                    <a:solidFill>
                      <a:srgbClr val="CC0000"/>
                    </a:solidFill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sp>
                  <p:nvSpPr>
                    <p:cNvPr id="25" name="Rectangle 24"/>
                    <p:cNvSpPr/>
                    <p:nvPr/>
                  </p:nvSpPr>
                  <p:spPr>
                    <a:xfrm flipV="1">
                      <a:off x="0" y="6237312"/>
                      <a:ext cx="9144000" cy="72008"/>
                    </a:xfrm>
                    <a:prstGeom prst="rect">
                      <a:avLst/>
                    </a:prstGeom>
                    <a:solidFill>
                      <a:srgbClr val="FF66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</p:grpSp>
              <p:sp>
                <p:nvSpPr>
                  <p:cNvPr id="23" name="Rectangle 22"/>
                  <p:cNvSpPr/>
                  <p:nvPr/>
                </p:nvSpPr>
                <p:spPr>
                  <a:xfrm rot="10800000" flipV="1">
                    <a:off x="7020272" y="0"/>
                    <a:ext cx="2123728" cy="620688"/>
                  </a:xfrm>
                  <a:prstGeom prst="rect">
                    <a:avLst/>
                  </a:prstGeom>
                  <a:solidFill>
                    <a:srgbClr val="CC0000"/>
                  </a:solidFill>
                  <a:ln>
                    <a:noFill/>
                  </a:ln>
                </p:spPr>
                <p:style>
                  <a:lnRef idx="1">
                    <a:schemeClr val="accent6"/>
                  </a:lnRef>
                  <a:fillRef idx="3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dirty="0"/>
                  </a:p>
                </p:txBody>
              </p:sp>
            </p:grpSp>
            <p:pic>
              <p:nvPicPr>
                <p:cNvPr id="27" name="Image 26" descr="3-2-blogging-transparent-thumb.png"/>
                <p:cNvPicPr>
                  <a:picLocks noChangeAspect="1"/>
                </p:cNvPicPr>
                <p:nvPr/>
              </p:nvPicPr>
              <p:blipFill>
                <a:blip r:embed="rId3" cstate="print"/>
                <a:stretch>
                  <a:fillRect/>
                </a:stretch>
              </p:blipFill>
              <p:spPr>
                <a:xfrm>
                  <a:off x="2195736" y="6165304"/>
                  <a:ext cx="864096" cy="741369"/>
                </a:xfrm>
                <a:prstGeom prst="rect">
                  <a:avLst/>
                </a:prstGeom>
              </p:spPr>
            </p:pic>
            <p:pic>
              <p:nvPicPr>
                <p:cNvPr id="28" name="Image 27" descr="12-2-education-png-image-thumb.png"/>
                <p:cNvPicPr>
                  <a:picLocks noChangeAspect="1"/>
                </p:cNvPicPr>
                <p:nvPr/>
              </p:nvPicPr>
              <p:blipFill>
                <a:blip r:embed="rId4" cstate="print"/>
                <a:stretch>
                  <a:fillRect/>
                </a:stretch>
              </p:blipFill>
              <p:spPr>
                <a:xfrm>
                  <a:off x="8388424" y="5976664"/>
                  <a:ext cx="720080" cy="980728"/>
                </a:xfrm>
                <a:prstGeom prst="rect">
                  <a:avLst/>
                </a:prstGeom>
              </p:spPr>
            </p:pic>
            <p:sp>
              <p:nvSpPr>
                <p:cNvPr id="29" name="ZoneTexte 28"/>
                <p:cNvSpPr txBox="1"/>
                <p:nvPr/>
              </p:nvSpPr>
              <p:spPr>
                <a:xfrm>
                  <a:off x="5652120" y="6428655"/>
                  <a:ext cx="2808312" cy="3847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1900" b="1" dirty="0" smtClean="0">
                      <a:solidFill>
                        <a:schemeClr val="bg1"/>
                      </a:solidFill>
                    </a:rPr>
                    <a:t>متوسطة قلواز </a:t>
                  </a:r>
                  <a:r>
                    <a:rPr lang="ar-DZ" sz="1900" b="1" dirty="0" err="1" smtClean="0">
                      <a:solidFill>
                        <a:schemeClr val="bg1"/>
                      </a:solidFill>
                    </a:rPr>
                    <a:t>موسى </a:t>
                  </a:r>
                  <a:r>
                    <a:rPr lang="ar-DZ" sz="1900" b="1" dirty="0" smtClean="0">
                      <a:solidFill>
                        <a:schemeClr val="bg1"/>
                      </a:solidFill>
                    </a:rPr>
                    <a:t>- بوراشد</a:t>
                  </a:r>
                  <a:endParaRPr lang="fr-FR" sz="19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30" name="ZoneTexte 29"/>
                <p:cNvSpPr txBox="1"/>
                <p:nvPr/>
              </p:nvSpPr>
              <p:spPr>
                <a:xfrm>
                  <a:off x="-180528" y="6396335"/>
                  <a:ext cx="244827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2000" b="1" dirty="0" smtClean="0">
                      <a:solidFill>
                        <a:schemeClr val="bg1"/>
                      </a:solidFill>
                    </a:rPr>
                    <a:t>تصميم الأستاذ ماحي رضا</a:t>
                  </a:r>
                  <a:endParaRPr lang="fr-FR" sz="20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31" name="ZoneTexte 30"/>
                <p:cNvSpPr txBox="1"/>
                <p:nvPr/>
              </p:nvSpPr>
              <p:spPr>
                <a:xfrm>
                  <a:off x="2987824" y="6428655"/>
                  <a:ext cx="2088232" cy="3847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1900" b="1" dirty="0" smtClean="0">
                      <a:solidFill>
                        <a:schemeClr val="bg1"/>
                      </a:solidFill>
                    </a:rPr>
                    <a:t>المستوى:الثاني متوسط</a:t>
                  </a:r>
                  <a:endParaRPr lang="fr-FR" sz="1900" b="1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33" name="Image 32" descr="3d print business.png"/>
                <p:cNvPicPr>
                  <a:picLocks noChangeAspect="1"/>
                </p:cNvPicPr>
                <p:nvPr/>
              </p:nvPicPr>
              <p:blipFill>
                <a:blip r:embed="rId5" cstate="print"/>
                <a:stretch>
                  <a:fillRect/>
                </a:stretch>
              </p:blipFill>
              <p:spPr>
                <a:xfrm>
                  <a:off x="4788024" y="6274668"/>
                  <a:ext cx="1440160" cy="583332"/>
                </a:xfrm>
                <a:prstGeom prst="rect">
                  <a:avLst/>
                </a:prstGeom>
              </p:spPr>
            </p:pic>
          </p:grpSp>
          <p:sp>
            <p:nvSpPr>
              <p:cNvPr id="34" name="ZoneTexte 33"/>
              <p:cNvSpPr txBox="1"/>
              <p:nvPr/>
            </p:nvSpPr>
            <p:spPr>
              <a:xfrm>
                <a:off x="6948264" y="44624"/>
                <a:ext cx="212372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 smtClean="0">
                    <a:solidFill>
                      <a:schemeClr val="bg1"/>
                    </a:solidFill>
                  </a:rPr>
                  <a:t>الحصة </a:t>
                </a:r>
                <a:r>
                  <a:rPr lang="ar-DZ" sz="2800" b="1" dirty="0" err="1" smtClean="0">
                    <a:solidFill>
                      <a:schemeClr val="bg1"/>
                    </a:solidFill>
                  </a:rPr>
                  <a:t>التعلمية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5" name="ZoneTexte 34"/>
              <p:cNvSpPr txBox="1"/>
              <p:nvPr/>
            </p:nvSpPr>
            <p:spPr>
              <a:xfrm>
                <a:off x="2915816" y="44624"/>
                <a:ext cx="208823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 smtClean="0">
                    <a:solidFill>
                      <a:schemeClr val="bg1"/>
                    </a:solidFill>
                  </a:rPr>
                  <a:t>الأشكال والصور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36" name="Image 35" descr="Microsoft_Word_2013_logo.svg.png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27584" y="33236"/>
              <a:ext cx="792087" cy="587452"/>
            </a:xfrm>
            <a:prstGeom prst="rect">
              <a:avLst/>
            </a:prstGeom>
          </p:spPr>
        </p:pic>
      </p:grpSp>
      <p:sp>
        <p:nvSpPr>
          <p:cNvPr id="39" name="Pensées 38"/>
          <p:cNvSpPr/>
          <p:nvPr/>
        </p:nvSpPr>
        <p:spPr>
          <a:xfrm>
            <a:off x="467544" y="1596862"/>
            <a:ext cx="2448272" cy="968042"/>
          </a:xfrm>
          <a:prstGeom prst="cloudCallout">
            <a:avLst>
              <a:gd name="adj1" fmla="val -28437"/>
              <a:gd name="adj2" fmla="val 108465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41" name="Picture 4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956376" y="2934010"/>
            <a:ext cx="1407586" cy="2796530"/>
          </a:xfrm>
          <a:prstGeom prst="rect">
            <a:avLst/>
          </a:prstGeom>
          <a:noFill/>
        </p:spPr>
      </p:pic>
      <p:sp>
        <p:nvSpPr>
          <p:cNvPr id="42" name="Pensées 41"/>
          <p:cNvSpPr/>
          <p:nvPr/>
        </p:nvSpPr>
        <p:spPr>
          <a:xfrm>
            <a:off x="6480189" y="1700808"/>
            <a:ext cx="2591803" cy="1152128"/>
          </a:xfrm>
          <a:prstGeom prst="cloudCallout">
            <a:avLst>
              <a:gd name="adj1" fmla="val 22575"/>
              <a:gd name="adj2" fmla="val 123735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endParaRPr lang="fr-FR" b="1" dirty="0">
              <a:solidFill>
                <a:schemeClr val="tx1"/>
              </a:solidFill>
            </a:endParaRPr>
          </a:p>
        </p:txBody>
      </p:sp>
      <p:sp>
        <p:nvSpPr>
          <p:cNvPr id="43" name="ZoneTexte 42"/>
          <p:cNvSpPr txBox="1"/>
          <p:nvPr/>
        </p:nvSpPr>
        <p:spPr>
          <a:xfrm>
            <a:off x="6629533" y="1772816"/>
            <a:ext cx="233495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0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ماهي العمليات الممكن تطبيقها على الأشكال بعد إدراجها؟</a:t>
            </a:r>
            <a:endParaRPr lang="fr-FR" sz="2000" b="1" dirty="0" smtClean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44" name="Picture 1" descr="C:\Users\RIDHA\Downloads\صور المعلوماتية\Bonhomme-question-01-01.png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-756592" y="2852936"/>
            <a:ext cx="2941886" cy="2952328"/>
          </a:xfrm>
          <a:prstGeom prst="rect">
            <a:avLst/>
          </a:prstGeom>
          <a:noFill/>
        </p:spPr>
      </p:pic>
      <p:sp>
        <p:nvSpPr>
          <p:cNvPr id="45" name="Rectangle 44"/>
          <p:cNvSpPr/>
          <p:nvPr/>
        </p:nvSpPr>
        <p:spPr>
          <a:xfrm>
            <a:off x="0" y="1876762"/>
            <a:ext cx="316835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ar-DZ" sz="2000" b="1" dirty="0" smtClean="0">
                <a:solidFill>
                  <a:srgbClr val="0070C0"/>
                </a:solidFill>
              </a:rPr>
              <a:t>كيف يمكن ذلك </a:t>
            </a:r>
            <a:r>
              <a:rPr lang="ar-SA" sz="2000" b="1" dirty="0" smtClean="0">
                <a:solidFill>
                  <a:srgbClr val="0070C0"/>
                </a:solidFill>
              </a:rPr>
              <a:t>.....؟</a:t>
            </a:r>
            <a:endParaRPr lang="ar-SA" sz="2000" b="1" dirty="0">
              <a:solidFill>
                <a:srgbClr val="0070C0"/>
              </a:solidFill>
            </a:endParaRPr>
          </a:p>
        </p:txBody>
      </p:sp>
      <p:pic>
        <p:nvPicPr>
          <p:cNvPr id="46" name="Image 45" descr="11-2-animation-png-hd-thumb.png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 flipH="1">
            <a:off x="5004048" y="3140968"/>
            <a:ext cx="3096344" cy="3096344"/>
          </a:xfrm>
          <a:prstGeom prst="rect">
            <a:avLst/>
          </a:prstGeom>
        </p:spPr>
      </p:pic>
      <p:grpSp>
        <p:nvGrpSpPr>
          <p:cNvPr id="47" name="Group 77"/>
          <p:cNvGrpSpPr/>
          <p:nvPr/>
        </p:nvGrpSpPr>
        <p:grpSpPr>
          <a:xfrm rot="20503916">
            <a:off x="3810692" y="1512744"/>
            <a:ext cx="2304318" cy="3323489"/>
            <a:chOff x="914400" y="1122362"/>
            <a:chExt cx="2080267" cy="3507909"/>
          </a:xfrm>
        </p:grpSpPr>
        <p:sp>
          <p:nvSpPr>
            <p:cNvPr id="48" name="Freeform 6"/>
            <p:cNvSpPr>
              <a:spLocks/>
            </p:cNvSpPr>
            <p:nvPr/>
          </p:nvSpPr>
          <p:spPr bwMode="auto">
            <a:xfrm>
              <a:off x="1259207" y="4208782"/>
              <a:ext cx="1197680" cy="421489"/>
            </a:xfrm>
            <a:custGeom>
              <a:avLst/>
              <a:gdLst/>
              <a:ahLst/>
              <a:cxnLst>
                <a:cxn ang="0">
                  <a:pos x="0" y="35"/>
                </a:cxn>
                <a:cxn ang="0">
                  <a:pos x="433" y="0"/>
                </a:cxn>
                <a:cxn ang="0">
                  <a:pos x="657" y="193"/>
                </a:cxn>
                <a:cxn ang="0">
                  <a:pos x="0" y="35"/>
                </a:cxn>
              </a:cxnLst>
              <a:rect l="0" t="0" r="r" b="b"/>
              <a:pathLst>
                <a:path w="657" h="193">
                  <a:moveTo>
                    <a:pt x="0" y="35"/>
                  </a:moveTo>
                  <a:lnTo>
                    <a:pt x="433" y="0"/>
                  </a:lnTo>
                  <a:lnTo>
                    <a:pt x="657" y="193"/>
                  </a:lnTo>
                  <a:lnTo>
                    <a:pt x="0" y="35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7"/>
            <p:cNvSpPr>
              <a:spLocks/>
            </p:cNvSpPr>
            <p:nvPr/>
          </p:nvSpPr>
          <p:spPr bwMode="auto">
            <a:xfrm>
              <a:off x="1265879" y="3815606"/>
              <a:ext cx="1728788" cy="48586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089" y="176"/>
                </a:cxn>
                <a:cxn ang="0">
                  <a:pos x="9" y="265"/>
                </a:cxn>
                <a:cxn ang="0">
                  <a:pos x="0" y="0"/>
                </a:cxn>
              </a:cxnLst>
              <a:rect l="0" t="0" r="r" b="b"/>
              <a:pathLst>
                <a:path w="1089" h="265">
                  <a:moveTo>
                    <a:pt x="0" y="0"/>
                  </a:moveTo>
                  <a:lnTo>
                    <a:pt x="1089" y="176"/>
                  </a:lnTo>
                  <a:lnTo>
                    <a:pt x="9" y="2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8"/>
            <p:cNvSpPr>
              <a:spLocks/>
            </p:cNvSpPr>
            <p:nvPr/>
          </p:nvSpPr>
          <p:spPr bwMode="auto">
            <a:xfrm>
              <a:off x="914400" y="1122362"/>
              <a:ext cx="2062163" cy="3013075"/>
            </a:xfrm>
            <a:custGeom>
              <a:avLst/>
              <a:gdLst/>
              <a:ahLst/>
              <a:cxnLst>
                <a:cxn ang="0">
                  <a:pos x="1299" y="1898"/>
                </a:cxn>
                <a:cxn ang="0">
                  <a:pos x="0" y="1689"/>
                </a:cxn>
                <a:cxn ang="0">
                  <a:pos x="0" y="0"/>
                </a:cxn>
                <a:cxn ang="0">
                  <a:pos x="1299" y="0"/>
                </a:cxn>
                <a:cxn ang="0">
                  <a:pos x="1299" y="1898"/>
                </a:cxn>
              </a:cxnLst>
              <a:rect l="0" t="0" r="r" b="b"/>
              <a:pathLst>
                <a:path w="1299" h="1898">
                  <a:moveTo>
                    <a:pt x="1299" y="1898"/>
                  </a:moveTo>
                  <a:lnTo>
                    <a:pt x="0" y="1689"/>
                  </a:lnTo>
                  <a:lnTo>
                    <a:pt x="0" y="0"/>
                  </a:lnTo>
                  <a:lnTo>
                    <a:pt x="1299" y="0"/>
                  </a:lnTo>
                  <a:lnTo>
                    <a:pt x="1299" y="1898"/>
                  </a:lnTo>
                  <a:close/>
                </a:path>
              </a:pathLst>
            </a:custGeom>
            <a:solidFill>
              <a:schemeClr val="accent4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51" name="ZoneTexte 50"/>
          <p:cNvSpPr txBox="1"/>
          <p:nvPr/>
        </p:nvSpPr>
        <p:spPr>
          <a:xfrm rot="20502721">
            <a:off x="3739733" y="1569101"/>
            <a:ext cx="217902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Low" rtl="1"/>
            <a:r>
              <a:rPr lang="ar-DZ" sz="2000" b="1" dirty="0" smtClean="0">
                <a:solidFill>
                  <a:schemeClr val="bg1"/>
                </a:solidFill>
              </a:rPr>
              <a:t>يمكن تطبيق عدة عمليات على الأشكال بعد إدراجها مثل التحريك و </a:t>
            </a:r>
            <a:r>
              <a:rPr lang="ar-DZ" sz="2000" b="1" dirty="0">
                <a:solidFill>
                  <a:schemeClr val="bg1"/>
                </a:solidFill>
              </a:rPr>
              <a:t>تغيير الحجم </a:t>
            </a:r>
            <a:r>
              <a:rPr lang="ar-DZ" sz="2000" b="1" dirty="0" smtClean="0">
                <a:solidFill>
                  <a:schemeClr val="bg1"/>
                </a:solidFill>
              </a:rPr>
              <a:t>و</a:t>
            </a:r>
            <a:r>
              <a:rPr lang="ar-DZ" sz="2000" b="1" dirty="0">
                <a:solidFill>
                  <a:schemeClr val="bg1"/>
                </a:solidFill>
              </a:rPr>
              <a:t> الحذف </a:t>
            </a:r>
            <a:r>
              <a:rPr lang="ar-DZ" sz="2000" b="1" dirty="0" smtClean="0">
                <a:solidFill>
                  <a:schemeClr val="bg1"/>
                </a:solidFill>
              </a:rPr>
              <a:t>و </a:t>
            </a:r>
            <a:r>
              <a:rPr lang="ar-DZ" sz="2000" b="1" dirty="0">
                <a:solidFill>
                  <a:schemeClr val="bg1"/>
                </a:solidFill>
              </a:rPr>
              <a:t>التلوين </a:t>
            </a:r>
            <a:r>
              <a:rPr lang="ar-DZ" sz="2000" b="1" dirty="0" smtClean="0">
                <a:solidFill>
                  <a:schemeClr val="bg1"/>
                </a:solidFill>
              </a:rPr>
              <a:t>و </a:t>
            </a:r>
            <a:r>
              <a:rPr lang="ar-DZ" sz="2000" b="1" dirty="0">
                <a:solidFill>
                  <a:schemeClr val="bg1"/>
                </a:solidFill>
              </a:rPr>
              <a:t>الكتابة داخل الشكل </a:t>
            </a:r>
            <a:r>
              <a:rPr lang="ar-DZ" sz="2000" b="1" dirty="0" smtClean="0">
                <a:solidFill>
                  <a:schemeClr val="bg1"/>
                </a:solidFill>
              </a:rPr>
              <a:t>وترتيب و </a:t>
            </a:r>
            <a:r>
              <a:rPr lang="ar-DZ" sz="2000" b="1" dirty="0">
                <a:solidFill>
                  <a:schemeClr val="bg1"/>
                </a:solidFill>
              </a:rPr>
              <a:t>تجميع </a:t>
            </a:r>
            <a:r>
              <a:rPr lang="ar-DZ" sz="2000" b="1" dirty="0" smtClean="0">
                <a:solidFill>
                  <a:schemeClr val="bg1"/>
                </a:solidFill>
              </a:rPr>
              <a:t>وفك </a:t>
            </a:r>
            <a:r>
              <a:rPr lang="ar-DZ" sz="2000" b="1" dirty="0">
                <a:solidFill>
                  <a:schemeClr val="bg1"/>
                </a:solidFill>
              </a:rPr>
              <a:t>تجميع مجموعة من الأشكال</a:t>
            </a:r>
            <a:r>
              <a:rPr lang="ar-DZ" sz="2000" b="1" dirty="0" smtClean="0">
                <a:solidFill>
                  <a:schemeClr val="bg1"/>
                </a:solidFill>
              </a:rPr>
              <a:t>  </a:t>
            </a:r>
            <a:endParaRPr lang="fr-FR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56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32" dur="175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33" dur="175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34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35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0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42" grpId="0" animBg="1"/>
      <p:bldP spid="43" grpId="0"/>
      <p:bldP spid="45" grpId="0"/>
      <p:bldP spid="5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Image 49" descr="shutterstock_17221542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20688"/>
            <a:ext cx="9144000" cy="5616624"/>
          </a:xfrm>
          <a:prstGeom prst="rect">
            <a:avLst/>
          </a:prstGeom>
        </p:spPr>
      </p:pic>
      <p:sp>
        <p:nvSpPr>
          <p:cNvPr id="30" name="Pensées 29"/>
          <p:cNvSpPr/>
          <p:nvPr/>
        </p:nvSpPr>
        <p:spPr>
          <a:xfrm>
            <a:off x="2411760" y="1196752"/>
            <a:ext cx="4752528" cy="2064451"/>
          </a:xfrm>
          <a:prstGeom prst="cloudCallout">
            <a:avLst>
              <a:gd name="adj1" fmla="val -43515"/>
              <a:gd name="adj2" fmla="val 83855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36" name="Picture 1" descr="C:\Users\RIDHA\Downloads\صور المعلوماتية\Bonhomme-question-01-01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99592" y="3429000"/>
            <a:ext cx="2941886" cy="2952328"/>
          </a:xfrm>
          <a:prstGeom prst="rect">
            <a:avLst/>
          </a:prstGeom>
          <a:noFill/>
        </p:spPr>
      </p:pic>
      <p:sp>
        <p:nvSpPr>
          <p:cNvPr id="31" name="ZoneTexte 30"/>
          <p:cNvSpPr txBox="1"/>
          <p:nvPr/>
        </p:nvSpPr>
        <p:spPr>
          <a:xfrm>
            <a:off x="2987824" y="1556792"/>
            <a:ext cx="33123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0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كيف يتم تلوين الأشكال والكتابة فيها؟ </a:t>
            </a:r>
          </a:p>
        </p:txBody>
      </p:sp>
      <p:grpSp>
        <p:nvGrpSpPr>
          <p:cNvPr id="20" name="Groupe 19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19" name="Groupe 18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3" name="Groupe 2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18" name="Groupe 17"/>
                <p:cNvGrpSpPr/>
                <p:nvPr/>
              </p:nvGrpSpPr>
              <p:grpSpPr>
                <a:xfrm>
                  <a:off x="-180528" y="0"/>
                  <a:ext cx="9324528" cy="6957392"/>
                  <a:chOff x="-180528" y="0"/>
                  <a:chExt cx="9324528" cy="6957392"/>
                </a:xfrm>
              </p:grpSpPr>
              <p:grpSp>
                <p:nvGrpSpPr>
                  <p:cNvPr id="5" name="Groupe 18"/>
                  <p:cNvGrpSpPr/>
                  <p:nvPr/>
                </p:nvGrpSpPr>
                <p:grpSpPr>
                  <a:xfrm>
                    <a:off x="0" y="0"/>
                    <a:ext cx="9144000" cy="6885384"/>
                    <a:chOff x="0" y="0"/>
                    <a:chExt cx="9144000" cy="6885384"/>
                  </a:xfrm>
                </p:grpSpPr>
                <p:sp>
                  <p:nvSpPr>
                    <p:cNvPr id="7" name="Rectangle 6"/>
                    <p:cNvSpPr/>
                    <p:nvPr/>
                  </p:nvSpPr>
                  <p:spPr>
                    <a:xfrm rot="10800000" flipV="1">
                      <a:off x="0" y="0"/>
                      <a:ext cx="6983760" cy="620688"/>
                    </a:xfrm>
                    <a:prstGeom prst="rect">
                      <a:avLst/>
                    </a:prstGeom>
                    <a:solidFill>
                      <a:srgbClr val="FF66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grpSp>
                  <p:nvGrpSpPr>
                    <p:cNvPr id="8" name="Groupe 15"/>
                    <p:cNvGrpSpPr/>
                    <p:nvPr/>
                  </p:nvGrpSpPr>
                  <p:grpSpPr>
                    <a:xfrm>
                      <a:off x="0" y="6237312"/>
                      <a:ext cx="9144000" cy="648072"/>
                      <a:chOff x="0" y="6237312"/>
                      <a:chExt cx="9144000" cy="648072"/>
                    </a:xfrm>
                  </p:grpSpPr>
                  <p:sp>
                    <p:nvSpPr>
                      <p:cNvPr id="10" name="Rectangle 5"/>
                      <p:cNvSpPr/>
                      <p:nvPr/>
                    </p:nvSpPr>
                    <p:spPr>
                      <a:xfrm>
                        <a:off x="0" y="6309320"/>
                        <a:ext cx="9144000" cy="576064"/>
                      </a:xfrm>
                      <a:prstGeom prst="rect">
                        <a:avLst/>
                      </a:prstGeom>
                      <a:solidFill>
                        <a:srgbClr val="CC00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  <p:sp>
                    <p:nvSpPr>
                      <p:cNvPr id="11" name="Rectangle 10"/>
                      <p:cNvSpPr/>
                      <p:nvPr/>
                    </p:nvSpPr>
                    <p:spPr>
                      <a:xfrm flipV="1">
                        <a:off x="0" y="6237312"/>
                        <a:ext cx="9144000" cy="72008"/>
                      </a:xfrm>
                      <a:prstGeom prst="rect">
                        <a:avLst/>
                      </a:prstGeom>
                      <a:solidFill>
                        <a:srgbClr val="FF66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</p:grpSp>
                <p:sp>
                  <p:nvSpPr>
                    <p:cNvPr id="9" name="Rectangle 8"/>
                    <p:cNvSpPr/>
                    <p:nvPr/>
                  </p:nvSpPr>
                  <p:spPr>
                    <a:xfrm rot="10800000" flipV="1">
                      <a:off x="7020272" y="0"/>
                      <a:ext cx="2123728" cy="620688"/>
                    </a:xfrm>
                    <a:prstGeom prst="rect">
                      <a:avLst/>
                    </a:prstGeom>
                    <a:solidFill>
                      <a:srgbClr val="CC00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 dirty="0"/>
                    </a:p>
                  </p:txBody>
                </p:sp>
              </p:grpSp>
              <p:pic>
                <p:nvPicPr>
                  <p:cNvPr id="13" name="Image 12" descr="3-2-blogging-transparent-thumb.png"/>
                  <p:cNvPicPr>
                    <a:picLocks noChangeAspect="1"/>
                  </p:cNvPicPr>
                  <p:nvPr/>
                </p:nvPicPr>
                <p:blipFill>
                  <a:blip r:embed="rId4" cstate="print"/>
                  <a:stretch>
                    <a:fillRect/>
                  </a:stretch>
                </p:blipFill>
                <p:spPr>
                  <a:xfrm>
                    <a:off x="2195736" y="6165304"/>
                    <a:ext cx="864096" cy="741369"/>
                  </a:xfrm>
                  <a:prstGeom prst="rect">
                    <a:avLst/>
                  </a:prstGeom>
                </p:spPr>
              </p:pic>
              <p:pic>
                <p:nvPicPr>
                  <p:cNvPr id="14" name="Image 13" descr="12-2-education-png-image-thumb.png"/>
                  <p:cNvPicPr>
                    <a:picLocks noChangeAspect="1"/>
                  </p:cNvPicPr>
                  <p:nvPr/>
                </p:nvPicPr>
                <p:blipFill>
                  <a:blip r:embed="rId5" cstate="print"/>
                  <a:stretch>
                    <a:fillRect/>
                  </a:stretch>
                </p:blipFill>
                <p:spPr>
                  <a:xfrm>
                    <a:off x="8388424" y="5976664"/>
                    <a:ext cx="720080" cy="980728"/>
                  </a:xfrm>
                  <a:prstGeom prst="rect">
                    <a:avLst/>
                  </a:prstGeom>
                </p:spPr>
              </p:pic>
              <p:sp>
                <p:nvSpPr>
                  <p:cNvPr id="15" name="ZoneTexte 14"/>
                  <p:cNvSpPr txBox="1"/>
                  <p:nvPr/>
                </p:nvSpPr>
                <p:spPr>
                  <a:xfrm>
                    <a:off x="5652120" y="6428655"/>
                    <a:ext cx="2808312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متوسطة قلواز </a:t>
                    </a:r>
                    <a:r>
                      <a:rPr lang="ar-DZ" sz="1900" b="1" dirty="0" err="1" smtClean="0">
                        <a:solidFill>
                          <a:schemeClr val="bg1"/>
                        </a:solidFill>
                      </a:rPr>
                      <a:t>موسى </a:t>
                    </a:r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- بوراشد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6" name="ZoneTexte 15"/>
                  <p:cNvSpPr txBox="1"/>
                  <p:nvPr/>
                </p:nvSpPr>
                <p:spPr>
                  <a:xfrm>
                    <a:off x="-180528" y="6396335"/>
                    <a:ext cx="2448272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2000" b="1" dirty="0" smtClean="0">
                        <a:solidFill>
                          <a:schemeClr val="bg1"/>
                        </a:solidFill>
                      </a:rPr>
                      <a:t>تصميم الأستاذ ماحي رضا</a:t>
                    </a:r>
                    <a:endParaRPr lang="fr-FR" sz="20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7" name="ZoneTexte 16"/>
                  <p:cNvSpPr txBox="1"/>
                  <p:nvPr/>
                </p:nvSpPr>
                <p:spPr>
                  <a:xfrm>
                    <a:off x="2987824" y="6428655"/>
                    <a:ext cx="2088232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المستوى:الثاني متوسط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</p:grpSp>
            <p:pic>
              <p:nvPicPr>
                <p:cNvPr id="32" name="Image 31" descr="3d print business.png"/>
                <p:cNvPicPr>
                  <a:picLocks noChangeAspect="1"/>
                </p:cNvPicPr>
                <p:nvPr/>
              </p:nvPicPr>
              <p:blipFill>
                <a:blip r:embed="rId6" cstate="print"/>
                <a:stretch>
                  <a:fillRect/>
                </a:stretch>
              </p:blipFill>
              <p:spPr>
                <a:xfrm>
                  <a:off x="4788024" y="6274668"/>
                  <a:ext cx="1440160" cy="583332"/>
                </a:xfrm>
                <a:prstGeom prst="rect">
                  <a:avLst/>
                </a:prstGeom>
              </p:spPr>
            </p:pic>
          </p:grpSp>
          <p:sp>
            <p:nvSpPr>
              <p:cNvPr id="33" name="ZoneTexte 32"/>
              <p:cNvSpPr txBox="1"/>
              <p:nvPr/>
            </p:nvSpPr>
            <p:spPr>
              <a:xfrm>
                <a:off x="6948264" y="44624"/>
                <a:ext cx="212372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 smtClean="0">
                    <a:solidFill>
                      <a:schemeClr val="bg1"/>
                    </a:solidFill>
                  </a:rPr>
                  <a:t>الحصة </a:t>
                </a:r>
                <a:r>
                  <a:rPr lang="ar-DZ" sz="2800" b="1" dirty="0" err="1" smtClean="0">
                    <a:solidFill>
                      <a:schemeClr val="bg1"/>
                    </a:solidFill>
                  </a:rPr>
                  <a:t>التعلمية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5" name="ZoneTexte 34"/>
              <p:cNvSpPr txBox="1"/>
              <p:nvPr/>
            </p:nvSpPr>
            <p:spPr>
              <a:xfrm>
                <a:off x="2699792" y="44624"/>
                <a:ext cx="230425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 smtClean="0">
                    <a:solidFill>
                      <a:schemeClr val="bg1"/>
                    </a:solidFill>
                  </a:rPr>
                  <a:t>الأشكال و الصور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37" name="Image 36" descr="Microsoft_Word_2013_logo.svg.png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27584" y="33236"/>
              <a:ext cx="792087" cy="587452"/>
            </a:xfrm>
            <a:prstGeom prst="rect">
              <a:avLst/>
            </a:prstGeom>
          </p:spPr>
        </p:pic>
      </p:grpSp>
      <p:sp>
        <p:nvSpPr>
          <p:cNvPr id="4" name="Rectangle 3"/>
          <p:cNvSpPr/>
          <p:nvPr/>
        </p:nvSpPr>
        <p:spPr>
          <a:xfrm>
            <a:off x="4191033" y="2228977"/>
            <a:ext cx="1173055" cy="623959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1600" b="1" dirty="0" smtClean="0"/>
              <a:t>مستطيل</a:t>
            </a:r>
            <a:endParaRPr lang="fr-FR" sz="1600" b="1" dirty="0"/>
          </a:p>
        </p:txBody>
      </p:sp>
      <p:sp>
        <p:nvSpPr>
          <p:cNvPr id="6" name="Ellipse 5"/>
          <p:cNvSpPr/>
          <p:nvPr/>
        </p:nvSpPr>
        <p:spPr>
          <a:xfrm>
            <a:off x="5538258" y="2060848"/>
            <a:ext cx="905950" cy="777897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1400" b="1" dirty="0" smtClean="0"/>
              <a:t>دائرة</a:t>
            </a:r>
            <a:endParaRPr lang="fr-FR" sz="1400" b="1" dirty="0"/>
          </a:p>
        </p:txBody>
      </p:sp>
      <p:sp>
        <p:nvSpPr>
          <p:cNvPr id="21" name="Triangle isocèle 20"/>
          <p:cNvSpPr/>
          <p:nvPr/>
        </p:nvSpPr>
        <p:spPr>
          <a:xfrm>
            <a:off x="2915816" y="2060340"/>
            <a:ext cx="1203209" cy="792596"/>
          </a:xfrm>
          <a:prstGeom prst="triangl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1400" b="1" dirty="0" smtClean="0">
                <a:solidFill>
                  <a:srgbClr val="C00000"/>
                </a:solidFill>
              </a:rPr>
              <a:t>مثلث</a:t>
            </a:r>
            <a:endParaRPr lang="fr-FR" sz="1400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1" grpId="0"/>
      <p:bldP spid="4" grpId="0" animBg="1"/>
      <p:bldP spid="6" grpId="0" animBg="1"/>
      <p:bldP spid="2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18" descr="h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20688"/>
            <a:ext cx="9144000" cy="5665812"/>
          </a:xfrm>
          <a:prstGeom prst="rect">
            <a:avLst/>
          </a:prstGeom>
        </p:spPr>
      </p:pic>
      <p:grpSp>
        <p:nvGrpSpPr>
          <p:cNvPr id="25" name="Groupe 24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24" name="Groupe 23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3" name="Groupe 2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18" name="Groupe 17"/>
                <p:cNvGrpSpPr/>
                <p:nvPr/>
              </p:nvGrpSpPr>
              <p:grpSpPr>
                <a:xfrm>
                  <a:off x="-180528" y="0"/>
                  <a:ext cx="9324528" cy="6957392"/>
                  <a:chOff x="-180528" y="0"/>
                  <a:chExt cx="9324528" cy="6957392"/>
                </a:xfrm>
              </p:grpSpPr>
              <p:grpSp>
                <p:nvGrpSpPr>
                  <p:cNvPr id="5" name="Groupe 18"/>
                  <p:cNvGrpSpPr/>
                  <p:nvPr/>
                </p:nvGrpSpPr>
                <p:grpSpPr>
                  <a:xfrm>
                    <a:off x="0" y="0"/>
                    <a:ext cx="9144000" cy="6885384"/>
                    <a:chOff x="0" y="0"/>
                    <a:chExt cx="9144000" cy="6885384"/>
                  </a:xfrm>
                </p:grpSpPr>
                <p:sp>
                  <p:nvSpPr>
                    <p:cNvPr id="7" name="Rectangle 6"/>
                    <p:cNvSpPr/>
                    <p:nvPr/>
                  </p:nvSpPr>
                  <p:spPr>
                    <a:xfrm rot="10800000" flipV="1">
                      <a:off x="0" y="0"/>
                      <a:ext cx="6983760" cy="620688"/>
                    </a:xfrm>
                    <a:prstGeom prst="rect">
                      <a:avLst/>
                    </a:prstGeom>
                    <a:solidFill>
                      <a:srgbClr val="FF66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grpSp>
                  <p:nvGrpSpPr>
                    <p:cNvPr id="8" name="Groupe 15"/>
                    <p:cNvGrpSpPr/>
                    <p:nvPr/>
                  </p:nvGrpSpPr>
                  <p:grpSpPr>
                    <a:xfrm>
                      <a:off x="0" y="6237312"/>
                      <a:ext cx="9144000" cy="648072"/>
                      <a:chOff x="0" y="6237312"/>
                      <a:chExt cx="9144000" cy="648072"/>
                    </a:xfrm>
                  </p:grpSpPr>
                  <p:sp>
                    <p:nvSpPr>
                      <p:cNvPr id="10" name="Rectangle 5"/>
                      <p:cNvSpPr/>
                      <p:nvPr/>
                    </p:nvSpPr>
                    <p:spPr>
                      <a:xfrm>
                        <a:off x="0" y="6309320"/>
                        <a:ext cx="9144000" cy="576064"/>
                      </a:xfrm>
                      <a:prstGeom prst="rect">
                        <a:avLst/>
                      </a:prstGeom>
                      <a:solidFill>
                        <a:srgbClr val="CC00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  <p:sp>
                    <p:nvSpPr>
                      <p:cNvPr id="11" name="Rectangle 10"/>
                      <p:cNvSpPr/>
                      <p:nvPr/>
                    </p:nvSpPr>
                    <p:spPr>
                      <a:xfrm flipV="1">
                        <a:off x="0" y="6237312"/>
                        <a:ext cx="9144000" cy="72008"/>
                      </a:xfrm>
                      <a:prstGeom prst="rect">
                        <a:avLst/>
                      </a:prstGeom>
                      <a:solidFill>
                        <a:srgbClr val="FF66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</p:grpSp>
                <p:sp>
                  <p:nvSpPr>
                    <p:cNvPr id="9" name="Rectangle 8"/>
                    <p:cNvSpPr/>
                    <p:nvPr/>
                  </p:nvSpPr>
                  <p:spPr>
                    <a:xfrm rot="10800000" flipV="1">
                      <a:off x="7020272" y="0"/>
                      <a:ext cx="2123728" cy="620688"/>
                    </a:xfrm>
                    <a:prstGeom prst="rect">
                      <a:avLst/>
                    </a:prstGeom>
                    <a:solidFill>
                      <a:srgbClr val="CC00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 dirty="0"/>
                    </a:p>
                  </p:txBody>
                </p:sp>
              </p:grpSp>
              <p:pic>
                <p:nvPicPr>
                  <p:cNvPr id="13" name="Image 12" descr="3-2-blogging-transparent-thumb.png"/>
                  <p:cNvPicPr>
                    <a:picLocks noChangeAspect="1"/>
                  </p:cNvPicPr>
                  <p:nvPr/>
                </p:nvPicPr>
                <p:blipFill>
                  <a:blip r:embed="rId3" cstate="print"/>
                  <a:stretch>
                    <a:fillRect/>
                  </a:stretch>
                </p:blipFill>
                <p:spPr>
                  <a:xfrm>
                    <a:off x="2195736" y="6165304"/>
                    <a:ext cx="864096" cy="741369"/>
                  </a:xfrm>
                  <a:prstGeom prst="rect">
                    <a:avLst/>
                  </a:prstGeom>
                </p:spPr>
              </p:pic>
              <p:pic>
                <p:nvPicPr>
                  <p:cNvPr id="14" name="Image 13" descr="12-2-education-png-image-thumb.png"/>
                  <p:cNvPicPr>
                    <a:picLocks noChangeAspect="1"/>
                  </p:cNvPicPr>
                  <p:nvPr/>
                </p:nvPicPr>
                <p:blipFill>
                  <a:blip r:embed="rId4" cstate="print"/>
                  <a:stretch>
                    <a:fillRect/>
                  </a:stretch>
                </p:blipFill>
                <p:spPr>
                  <a:xfrm>
                    <a:off x="8388424" y="5976664"/>
                    <a:ext cx="720080" cy="980728"/>
                  </a:xfrm>
                  <a:prstGeom prst="rect">
                    <a:avLst/>
                  </a:prstGeom>
                </p:spPr>
              </p:pic>
              <p:sp>
                <p:nvSpPr>
                  <p:cNvPr id="15" name="ZoneTexte 14"/>
                  <p:cNvSpPr txBox="1"/>
                  <p:nvPr/>
                </p:nvSpPr>
                <p:spPr>
                  <a:xfrm>
                    <a:off x="5652120" y="6428655"/>
                    <a:ext cx="2808312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متوسطة قلواز </a:t>
                    </a:r>
                    <a:r>
                      <a:rPr lang="ar-DZ" sz="1900" b="1" dirty="0" err="1" smtClean="0">
                        <a:solidFill>
                          <a:schemeClr val="bg1"/>
                        </a:solidFill>
                      </a:rPr>
                      <a:t>موسى </a:t>
                    </a:r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- بوراشد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6" name="ZoneTexte 15"/>
                  <p:cNvSpPr txBox="1"/>
                  <p:nvPr/>
                </p:nvSpPr>
                <p:spPr>
                  <a:xfrm>
                    <a:off x="-180528" y="6396335"/>
                    <a:ext cx="2448272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2000" b="1" dirty="0" smtClean="0">
                        <a:solidFill>
                          <a:schemeClr val="bg1"/>
                        </a:solidFill>
                      </a:rPr>
                      <a:t>تصميم الأستاذ ماحي رضا</a:t>
                    </a:r>
                    <a:endParaRPr lang="fr-FR" sz="20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7" name="ZoneTexte 16"/>
                  <p:cNvSpPr txBox="1"/>
                  <p:nvPr/>
                </p:nvSpPr>
                <p:spPr>
                  <a:xfrm>
                    <a:off x="2987824" y="6428655"/>
                    <a:ext cx="2088232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المستوى:الثاني متوسط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</p:grpSp>
            <p:pic>
              <p:nvPicPr>
                <p:cNvPr id="49" name="Image 48" descr="3d print business.png"/>
                <p:cNvPicPr>
                  <a:picLocks noChangeAspect="1"/>
                </p:cNvPicPr>
                <p:nvPr/>
              </p:nvPicPr>
              <p:blipFill>
                <a:blip r:embed="rId5" cstate="print"/>
                <a:stretch>
                  <a:fillRect/>
                </a:stretch>
              </p:blipFill>
              <p:spPr>
                <a:xfrm>
                  <a:off x="4788024" y="6274668"/>
                  <a:ext cx="1440160" cy="583332"/>
                </a:xfrm>
                <a:prstGeom prst="rect">
                  <a:avLst/>
                </a:prstGeom>
              </p:spPr>
            </p:pic>
          </p:grpSp>
          <p:sp>
            <p:nvSpPr>
              <p:cNvPr id="50" name="ZoneTexte 49"/>
              <p:cNvSpPr txBox="1"/>
              <p:nvPr/>
            </p:nvSpPr>
            <p:spPr>
              <a:xfrm>
                <a:off x="6948264" y="44624"/>
                <a:ext cx="212372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 smtClean="0">
                    <a:solidFill>
                      <a:schemeClr val="bg1"/>
                    </a:solidFill>
                  </a:rPr>
                  <a:t>الحصة </a:t>
                </a:r>
                <a:r>
                  <a:rPr lang="ar-DZ" sz="2800" b="1" dirty="0" err="1" smtClean="0">
                    <a:solidFill>
                      <a:schemeClr val="bg1"/>
                    </a:solidFill>
                  </a:rPr>
                  <a:t>التعلمية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1" name="ZoneTexte 50"/>
              <p:cNvSpPr txBox="1"/>
              <p:nvPr/>
            </p:nvSpPr>
            <p:spPr>
              <a:xfrm>
                <a:off x="2915816" y="44624"/>
                <a:ext cx="208823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 smtClean="0">
                    <a:solidFill>
                      <a:schemeClr val="bg1"/>
                    </a:solidFill>
                  </a:rPr>
                  <a:t>الأشكال والصور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53" name="Image 52" descr="Microsoft_Word_2013_logo.svg.png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27584" y="33236"/>
              <a:ext cx="792087" cy="587452"/>
            </a:xfrm>
            <a:prstGeom prst="rect">
              <a:avLst/>
            </a:prstGeom>
          </p:spPr>
        </p:pic>
      </p:grpSp>
      <p:grpSp>
        <p:nvGrpSpPr>
          <p:cNvPr id="55" name="Groupe 54"/>
          <p:cNvGrpSpPr/>
          <p:nvPr/>
        </p:nvGrpSpPr>
        <p:grpSpPr>
          <a:xfrm>
            <a:off x="5868144" y="1412776"/>
            <a:ext cx="2972668" cy="576064"/>
            <a:chOff x="5004048" y="2348880"/>
            <a:chExt cx="2972668" cy="576064"/>
          </a:xfrm>
        </p:grpSpPr>
        <p:grpSp>
          <p:nvGrpSpPr>
            <p:cNvPr id="60" name="Groupe 58"/>
            <p:cNvGrpSpPr/>
            <p:nvPr/>
          </p:nvGrpSpPr>
          <p:grpSpPr>
            <a:xfrm>
              <a:off x="5004048" y="2348880"/>
              <a:ext cx="2972668" cy="504056"/>
              <a:chOff x="5004048" y="2852936"/>
              <a:chExt cx="2972668" cy="576064"/>
            </a:xfrm>
          </p:grpSpPr>
          <p:sp>
            <p:nvSpPr>
              <p:cNvPr id="62" name="Notched Right Arrow 54"/>
              <p:cNvSpPr/>
              <p:nvPr/>
            </p:nvSpPr>
            <p:spPr>
              <a:xfrm flipH="1">
                <a:off x="5004048" y="3008511"/>
                <a:ext cx="2972668" cy="420489"/>
              </a:xfrm>
              <a:prstGeom prst="notchedRightArrow">
                <a:avLst>
                  <a:gd name="adj1" fmla="val 100000"/>
                  <a:gd name="adj2" fmla="val 28125"/>
                </a:avLst>
              </a:prstGeom>
              <a:ln/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63" name="Group 13"/>
              <p:cNvGrpSpPr/>
              <p:nvPr/>
            </p:nvGrpSpPr>
            <p:grpSpPr>
              <a:xfrm flipH="1">
                <a:off x="7372840" y="2852936"/>
                <a:ext cx="466716" cy="411474"/>
                <a:chOff x="1271589" y="1657350"/>
                <a:chExt cx="466716" cy="411474"/>
              </a:xfrm>
            </p:grpSpPr>
            <p:sp>
              <p:nvSpPr>
                <p:cNvPr id="64" name="Freeform 56"/>
                <p:cNvSpPr/>
                <p:nvPr/>
              </p:nvSpPr>
              <p:spPr>
                <a:xfrm>
                  <a:off x="1271589" y="1657350"/>
                  <a:ext cx="466716" cy="154781"/>
                </a:xfrm>
                <a:custGeom>
                  <a:avLst/>
                  <a:gdLst>
                    <a:gd name="connsiteX0" fmla="*/ 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104775 w 485775"/>
                    <a:gd name="connsiteY0" fmla="*/ 0 h 154781"/>
                    <a:gd name="connsiteX1" fmla="*/ 485775 w 485775"/>
                    <a:gd name="connsiteY1" fmla="*/ 0 h 154781"/>
                    <a:gd name="connsiteX2" fmla="*/ 485775 w 485775"/>
                    <a:gd name="connsiteY2" fmla="*/ 152400 h 154781"/>
                    <a:gd name="connsiteX3" fmla="*/ 0 w 485775"/>
                    <a:gd name="connsiteY3" fmla="*/ 154781 h 154781"/>
                    <a:gd name="connsiteX4" fmla="*/ 104775 w 485775"/>
                    <a:gd name="connsiteY4" fmla="*/ 0 h 1547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85775" h="154781">
                      <a:moveTo>
                        <a:pt x="104775" y="0"/>
                      </a:moveTo>
                      <a:lnTo>
                        <a:pt x="485775" y="0"/>
                      </a:lnTo>
                      <a:lnTo>
                        <a:pt x="485775" y="152400"/>
                      </a:lnTo>
                      <a:lnTo>
                        <a:pt x="0" y="154781"/>
                      </a:lnTo>
                      <a:lnTo>
                        <a:pt x="104775" y="0"/>
                      </a:lnTo>
                      <a:close/>
                    </a:path>
                  </a:pathLst>
                </a:custGeom>
                <a:ln/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5" name="Rectangle 64"/>
                <p:cNvSpPr/>
                <p:nvPr/>
              </p:nvSpPr>
              <p:spPr>
                <a:xfrm>
                  <a:off x="1371600" y="1687824"/>
                  <a:ext cx="365760" cy="381000"/>
                </a:xfrm>
                <a:prstGeom prst="rect">
                  <a:avLst/>
                </a:prstGeom>
                <a:ln/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vert="horz" wrap="none" rtlCol="0" anchor="ctr"/>
                <a:lstStyle/>
                <a:p>
                  <a:pPr algn="ctr"/>
                  <a:r>
                    <a:rPr lang="fr-FR" sz="2400" b="1" dirty="0" smtClean="0">
                      <a:solidFill>
                        <a:srgbClr val="FFFF00"/>
                      </a:solidFill>
                    </a:rPr>
                    <a:t>-</a:t>
                  </a:r>
                  <a:r>
                    <a:rPr lang="ar-DZ" sz="2400" b="1" dirty="0" smtClean="0">
                      <a:solidFill>
                        <a:srgbClr val="FFFF00"/>
                      </a:solidFill>
                    </a:rPr>
                    <a:t>أ</a:t>
                  </a:r>
                  <a:endParaRPr lang="en-US" sz="2400" b="1" dirty="0">
                    <a:solidFill>
                      <a:srgbClr val="FFFF00"/>
                    </a:solidFill>
                  </a:endParaRPr>
                </a:p>
              </p:txBody>
            </p:sp>
          </p:grpSp>
        </p:grpSp>
        <p:sp>
          <p:nvSpPr>
            <p:cNvPr id="61" name="ZoneTexte 60"/>
            <p:cNvSpPr txBox="1"/>
            <p:nvPr/>
          </p:nvSpPr>
          <p:spPr>
            <a:xfrm>
              <a:off x="5292080" y="2494057"/>
              <a:ext cx="216024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1"/>
              <a:r>
                <a:rPr lang="ar-DZ" sz="2200" b="1" dirty="0" smtClean="0">
                  <a:solidFill>
                    <a:srgbClr val="FFFF00"/>
                  </a:solidFill>
                </a:rPr>
                <a:t>تلوين الشكل:</a:t>
              </a:r>
              <a:endParaRPr lang="fr-FR" sz="2200" b="1" dirty="0">
                <a:solidFill>
                  <a:srgbClr val="FFFF00"/>
                </a:solidFill>
              </a:endParaRPr>
            </a:p>
          </p:txBody>
        </p:sp>
      </p:grpSp>
      <p:grpSp>
        <p:nvGrpSpPr>
          <p:cNvPr id="69" name="Group 104"/>
          <p:cNvGrpSpPr/>
          <p:nvPr/>
        </p:nvGrpSpPr>
        <p:grpSpPr>
          <a:xfrm>
            <a:off x="5868142" y="2109222"/>
            <a:ext cx="3015559" cy="527690"/>
            <a:chOff x="1466246" y="1173645"/>
            <a:chExt cx="2893584" cy="1114425"/>
          </a:xfrm>
        </p:grpSpPr>
        <p:sp>
          <p:nvSpPr>
            <p:cNvPr id="76" name="Rectangle 75"/>
            <p:cNvSpPr/>
            <p:nvPr/>
          </p:nvSpPr>
          <p:spPr>
            <a:xfrm flipH="1">
              <a:off x="3947080" y="1373670"/>
              <a:ext cx="412750" cy="91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7" name="Freeform 106"/>
            <p:cNvSpPr/>
            <p:nvPr/>
          </p:nvSpPr>
          <p:spPr>
            <a:xfrm rot="5400000" flipH="1">
              <a:off x="3527344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8" name="Rectangle 77"/>
            <p:cNvSpPr/>
            <p:nvPr/>
          </p:nvSpPr>
          <p:spPr>
            <a:xfrm flipH="1">
              <a:off x="1466246" y="1373670"/>
              <a:ext cx="2118882" cy="91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9" name="Freeform 108"/>
            <p:cNvSpPr/>
            <p:nvPr/>
          </p:nvSpPr>
          <p:spPr>
            <a:xfrm rot="16200000" flipH="1" flipV="1">
              <a:off x="2887581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0" name="Rectangle 79"/>
            <p:cNvSpPr/>
            <p:nvPr/>
          </p:nvSpPr>
          <p:spPr>
            <a:xfrm flipH="1">
              <a:off x="3306524" y="1173645"/>
              <a:ext cx="914400" cy="9144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/>
            </a:p>
          </p:txBody>
        </p:sp>
      </p:grpSp>
      <p:grpSp>
        <p:nvGrpSpPr>
          <p:cNvPr id="81" name="Group 118"/>
          <p:cNvGrpSpPr/>
          <p:nvPr/>
        </p:nvGrpSpPr>
        <p:grpSpPr>
          <a:xfrm>
            <a:off x="5004048" y="2769921"/>
            <a:ext cx="3888432" cy="515063"/>
            <a:chOff x="706197" y="2392845"/>
            <a:chExt cx="3653633" cy="1114425"/>
          </a:xfrm>
        </p:grpSpPr>
        <p:sp>
          <p:nvSpPr>
            <p:cNvPr id="83" name="Rectangle 82"/>
            <p:cNvSpPr/>
            <p:nvPr/>
          </p:nvSpPr>
          <p:spPr>
            <a:xfrm flipH="1">
              <a:off x="3947080" y="2592870"/>
              <a:ext cx="412750" cy="914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4" name="Freeform 120"/>
            <p:cNvSpPr/>
            <p:nvPr/>
          </p:nvSpPr>
          <p:spPr>
            <a:xfrm rot="5400000" flipH="1">
              <a:off x="3527344" y="28128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5" name="Rectangle 84"/>
            <p:cNvSpPr/>
            <p:nvPr/>
          </p:nvSpPr>
          <p:spPr>
            <a:xfrm flipH="1">
              <a:off x="706197" y="2592870"/>
              <a:ext cx="2878933" cy="914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6" name="Freeform 122"/>
            <p:cNvSpPr/>
            <p:nvPr/>
          </p:nvSpPr>
          <p:spPr>
            <a:xfrm rot="16200000" flipH="1" flipV="1">
              <a:off x="2887581" y="28128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4" name="Rectangle 93"/>
            <p:cNvSpPr/>
            <p:nvPr/>
          </p:nvSpPr>
          <p:spPr>
            <a:xfrm flipH="1">
              <a:off x="3306524" y="2392845"/>
              <a:ext cx="914400" cy="9144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/>
            </a:p>
          </p:txBody>
        </p:sp>
      </p:grpSp>
      <p:grpSp>
        <p:nvGrpSpPr>
          <p:cNvPr id="96" name="Group 132"/>
          <p:cNvGrpSpPr/>
          <p:nvPr/>
        </p:nvGrpSpPr>
        <p:grpSpPr>
          <a:xfrm>
            <a:off x="2915816" y="3399330"/>
            <a:ext cx="5981831" cy="533726"/>
            <a:chOff x="-1380515" y="3612045"/>
            <a:chExt cx="5740345" cy="1114425"/>
          </a:xfrm>
        </p:grpSpPr>
        <p:sp>
          <p:nvSpPr>
            <p:cNvPr id="97" name="Rectangle 96"/>
            <p:cNvSpPr/>
            <p:nvPr/>
          </p:nvSpPr>
          <p:spPr>
            <a:xfrm flipH="1">
              <a:off x="3947080" y="3812070"/>
              <a:ext cx="412750" cy="9144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8" name="Freeform 134"/>
            <p:cNvSpPr/>
            <p:nvPr/>
          </p:nvSpPr>
          <p:spPr>
            <a:xfrm rot="5400000" flipH="1">
              <a:off x="3527344" y="40320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9" name="Rectangle 98"/>
            <p:cNvSpPr/>
            <p:nvPr/>
          </p:nvSpPr>
          <p:spPr>
            <a:xfrm flipH="1">
              <a:off x="-1380515" y="3812070"/>
              <a:ext cx="4965646" cy="9144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0" name="Freeform 136"/>
            <p:cNvSpPr/>
            <p:nvPr/>
          </p:nvSpPr>
          <p:spPr>
            <a:xfrm rot="16200000" flipH="1" flipV="1">
              <a:off x="2887581" y="40320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1" name="Rectangle 100"/>
            <p:cNvSpPr/>
            <p:nvPr/>
          </p:nvSpPr>
          <p:spPr>
            <a:xfrm flipH="1">
              <a:off x="3306524" y="3612045"/>
              <a:ext cx="914400" cy="914400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/>
            </a:p>
          </p:txBody>
        </p:sp>
      </p:grpSp>
      <p:sp>
        <p:nvSpPr>
          <p:cNvPr id="102" name="Rectangle 101"/>
          <p:cNvSpPr/>
          <p:nvPr/>
        </p:nvSpPr>
        <p:spPr>
          <a:xfrm>
            <a:off x="6012160" y="2215381"/>
            <a:ext cx="158331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lang="ar-SA" sz="2000" b="1" dirty="0" smtClean="0">
                <a:solidFill>
                  <a:schemeClr val="bg1"/>
                </a:solidFill>
              </a:rPr>
              <a:t> ن</a:t>
            </a:r>
            <a:r>
              <a:rPr lang="ar-DZ" sz="2000" b="1" dirty="0" smtClean="0">
                <a:solidFill>
                  <a:schemeClr val="bg1"/>
                </a:solidFill>
              </a:rPr>
              <a:t>حدد الشكل</a:t>
            </a:r>
            <a:r>
              <a:rPr lang="ar-SA" sz="2000" b="1" dirty="0" smtClean="0">
                <a:solidFill>
                  <a:schemeClr val="bg1"/>
                </a:solidFill>
              </a:rPr>
              <a:t>.</a:t>
            </a:r>
            <a:endParaRPr lang="fr-FR" b="1" dirty="0">
              <a:solidFill>
                <a:schemeClr val="bg1"/>
              </a:solidFill>
              <a:latin typeface="Times New Roman"/>
              <a:ea typeface="Times New Roman"/>
            </a:endParaRPr>
          </a:p>
        </p:txBody>
      </p:sp>
      <p:sp>
        <p:nvSpPr>
          <p:cNvPr id="103" name="Rectangle 102"/>
          <p:cNvSpPr/>
          <p:nvPr/>
        </p:nvSpPr>
        <p:spPr>
          <a:xfrm>
            <a:off x="8156791" y="2134081"/>
            <a:ext cx="261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b="1" dirty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sp>
        <p:nvSpPr>
          <p:cNvPr id="104" name="Rectangle 103"/>
          <p:cNvSpPr/>
          <p:nvPr/>
        </p:nvSpPr>
        <p:spPr>
          <a:xfrm>
            <a:off x="8170736" y="2769921"/>
            <a:ext cx="261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b="1" dirty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sp>
        <p:nvSpPr>
          <p:cNvPr id="105" name="Rectangle 104"/>
          <p:cNvSpPr/>
          <p:nvPr/>
        </p:nvSpPr>
        <p:spPr>
          <a:xfrm>
            <a:off x="8170439" y="3429000"/>
            <a:ext cx="261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b="1" dirty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sp>
        <p:nvSpPr>
          <p:cNvPr id="106" name="Rectangle 105"/>
          <p:cNvSpPr/>
          <p:nvPr/>
        </p:nvSpPr>
        <p:spPr>
          <a:xfrm>
            <a:off x="5316253" y="2841929"/>
            <a:ext cx="244098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DZ" sz="2000" b="1" dirty="0" smtClean="0">
                <a:solidFill>
                  <a:schemeClr val="bg1"/>
                </a:solidFill>
              </a:rPr>
              <a:t>ننقر على التبويب </a:t>
            </a:r>
            <a:r>
              <a:rPr lang="en-US" sz="2000" b="1" dirty="0" smtClean="0">
                <a:solidFill>
                  <a:schemeClr val="bg1"/>
                </a:solidFill>
              </a:rPr>
              <a:t>F</a:t>
            </a:r>
            <a:r>
              <a:rPr lang="fr-FR" sz="2000" b="1" dirty="0" err="1" smtClean="0">
                <a:solidFill>
                  <a:schemeClr val="bg1"/>
                </a:solidFill>
              </a:rPr>
              <a:t>ormat</a:t>
            </a:r>
            <a:endParaRPr lang="fr-FR" sz="2000" dirty="0">
              <a:solidFill>
                <a:schemeClr val="bg1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3004679" y="3532946"/>
            <a:ext cx="47965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r" rtl="1"/>
            <a:r>
              <a:rPr lang="ar-DZ" sz="2000" b="1" dirty="0">
                <a:solidFill>
                  <a:schemeClr val="bg1"/>
                </a:solidFill>
                <a:ea typeface="Times New Roman"/>
              </a:rPr>
              <a:t>ننقر الأداة </a:t>
            </a:r>
            <a:r>
              <a:rPr lang="fr-FR" sz="2000" b="1" dirty="0">
                <a:solidFill>
                  <a:schemeClr val="bg1"/>
                </a:solidFill>
                <a:ea typeface="Times New Roman"/>
              </a:rPr>
              <a:t>Remplissage de forme</a:t>
            </a:r>
            <a:r>
              <a:rPr lang="ar-DZ" sz="2000" b="1" dirty="0">
                <a:solidFill>
                  <a:schemeClr val="bg1"/>
                </a:solidFill>
                <a:ea typeface="Times New Roman"/>
              </a:rPr>
              <a:t> ثم نختار اللون.</a:t>
            </a:r>
            <a:endParaRPr lang="fr-FR" sz="2000" dirty="0">
              <a:solidFill>
                <a:schemeClr val="bg1"/>
              </a:solidFill>
              <a:ea typeface="Times New Roman"/>
            </a:endParaRPr>
          </a:p>
        </p:txBody>
      </p:sp>
      <p:grpSp>
        <p:nvGrpSpPr>
          <p:cNvPr id="122" name="Groupe 121"/>
          <p:cNvGrpSpPr/>
          <p:nvPr/>
        </p:nvGrpSpPr>
        <p:grpSpPr>
          <a:xfrm>
            <a:off x="5868144" y="4077072"/>
            <a:ext cx="2972668" cy="576064"/>
            <a:chOff x="5004048" y="2348880"/>
            <a:chExt cx="2972668" cy="576064"/>
          </a:xfrm>
        </p:grpSpPr>
        <p:grpSp>
          <p:nvGrpSpPr>
            <p:cNvPr id="123" name="Groupe 58"/>
            <p:cNvGrpSpPr/>
            <p:nvPr/>
          </p:nvGrpSpPr>
          <p:grpSpPr>
            <a:xfrm>
              <a:off x="5004048" y="2348880"/>
              <a:ext cx="2972668" cy="504056"/>
              <a:chOff x="5004048" y="2852936"/>
              <a:chExt cx="2972668" cy="576064"/>
            </a:xfrm>
          </p:grpSpPr>
          <p:sp>
            <p:nvSpPr>
              <p:cNvPr id="125" name="Notched Right Arrow 54"/>
              <p:cNvSpPr/>
              <p:nvPr/>
            </p:nvSpPr>
            <p:spPr>
              <a:xfrm flipH="1">
                <a:off x="5004048" y="3008511"/>
                <a:ext cx="2972668" cy="420489"/>
              </a:xfrm>
              <a:prstGeom prst="notchedRightArrow">
                <a:avLst>
                  <a:gd name="adj1" fmla="val 100000"/>
                  <a:gd name="adj2" fmla="val 28125"/>
                </a:avLst>
              </a:prstGeom>
              <a:ln/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26" name="Group 13"/>
              <p:cNvGrpSpPr/>
              <p:nvPr/>
            </p:nvGrpSpPr>
            <p:grpSpPr>
              <a:xfrm flipH="1">
                <a:off x="7372840" y="2852936"/>
                <a:ext cx="466716" cy="411474"/>
                <a:chOff x="1271589" y="1657350"/>
                <a:chExt cx="466716" cy="411474"/>
              </a:xfrm>
            </p:grpSpPr>
            <p:sp>
              <p:nvSpPr>
                <p:cNvPr id="127" name="Freeform 56"/>
                <p:cNvSpPr/>
                <p:nvPr/>
              </p:nvSpPr>
              <p:spPr>
                <a:xfrm>
                  <a:off x="1271589" y="1657350"/>
                  <a:ext cx="466716" cy="154781"/>
                </a:xfrm>
                <a:custGeom>
                  <a:avLst/>
                  <a:gdLst>
                    <a:gd name="connsiteX0" fmla="*/ 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104775 w 485775"/>
                    <a:gd name="connsiteY0" fmla="*/ 0 h 154781"/>
                    <a:gd name="connsiteX1" fmla="*/ 485775 w 485775"/>
                    <a:gd name="connsiteY1" fmla="*/ 0 h 154781"/>
                    <a:gd name="connsiteX2" fmla="*/ 485775 w 485775"/>
                    <a:gd name="connsiteY2" fmla="*/ 152400 h 154781"/>
                    <a:gd name="connsiteX3" fmla="*/ 0 w 485775"/>
                    <a:gd name="connsiteY3" fmla="*/ 154781 h 154781"/>
                    <a:gd name="connsiteX4" fmla="*/ 104775 w 485775"/>
                    <a:gd name="connsiteY4" fmla="*/ 0 h 1547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85775" h="154781">
                      <a:moveTo>
                        <a:pt x="104775" y="0"/>
                      </a:moveTo>
                      <a:lnTo>
                        <a:pt x="485775" y="0"/>
                      </a:lnTo>
                      <a:lnTo>
                        <a:pt x="485775" y="152400"/>
                      </a:lnTo>
                      <a:lnTo>
                        <a:pt x="0" y="154781"/>
                      </a:lnTo>
                      <a:lnTo>
                        <a:pt x="104775" y="0"/>
                      </a:lnTo>
                      <a:close/>
                    </a:path>
                  </a:pathLst>
                </a:custGeom>
                <a:ln/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8" name="Rectangle 127"/>
                <p:cNvSpPr/>
                <p:nvPr/>
              </p:nvSpPr>
              <p:spPr>
                <a:xfrm>
                  <a:off x="1371600" y="1687824"/>
                  <a:ext cx="365760" cy="381000"/>
                </a:xfrm>
                <a:prstGeom prst="rect">
                  <a:avLst/>
                </a:prstGeom>
                <a:ln/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vert="horz" wrap="none" rtlCol="0" anchor="ctr"/>
                <a:lstStyle/>
                <a:p>
                  <a:pPr algn="ctr"/>
                  <a:r>
                    <a:rPr lang="fr-FR" sz="2400" b="1" dirty="0" smtClean="0">
                      <a:solidFill>
                        <a:srgbClr val="FFFF00"/>
                      </a:solidFill>
                    </a:rPr>
                    <a:t>-</a:t>
                  </a:r>
                  <a:r>
                    <a:rPr lang="ar-DZ" sz="2400" b="1" dirty="0" smtClean="0">
                      <a:solidFill>
                        <a:srgbClr val="FFFF00"/>
                      </a:solidFill>
                    </a:rPr>
                    <a:t>ب</a:t>
                  </a:r>
                  <a:endParaRPr lang="en-US" sz="2400" b="1" dirty="0">
                    <a:solidFill>
                      <a:srgbClr val="FFFF00"/>
                    </a:solidFill>
                  </a:endParaRPr>
                </a:p>
              </p:txBody>
            </p:sp>
          </p:grpSp>
        </p:grpSp>
        <p:sp>
          <p:nvSpPr>
            <p:cNvPr id="124" name="ZoneTexte 123"/>
            <p:cNvSpPr txBox="1"/>
            <p:nvPr/>
          </p:nvSpPr>
          <p:spPr>
            <a:xfrm>
              <a:off x="5292080" y="2494057"/>
              <a:ext cx="216024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1"/>
              <a:r>
                <a:rPr lang="ar-DZ" sz="2200" b="1" dirty="0" smtClean="0">
                  <a:solidFill>
                    <a:srgbClr val="FFFF00"/>
                  </a:solidFill>
                </a:rPr>
                <a:t>الكتابة داخل الشكل:</a:t>
              </a:r>
              <a:endParaRPr lang="fr-FR" sz="2200" b="1" dirty="0">
                <a:solidFill>
                  <a:srgbClr val="FFFF00"/>
                </a:solidFill>
              </a:endParaRPr>
            </a:p>
          </p:txBody>
        </p:sp>
      </p:grpSp>
      <p:grpSp>
        <p:nvGrpSpPr>
          <p:cNvPr id="129" name="Group 104"/>
          <p:cNvGrpSpPr/>
          <p:nvPr/>
        </p:nvGrpSpPr>
        <p:grpSpPr>
          <a:xfrm>
            <a:off x="2483767" y="4725144"/>
            <a:ext cx="6399934" cy="527690"/>
            <a:chOff x="-1781236" y="1173645"/>
            <a:chExt cx="6141066" cy="1114425"/>
          </a:xfrm>
        </p:grpSpPr>
        <p:sp>
          <p:nvSpPr>
            <p:cNvPr id="130" name="Rectangle 129"/>
            <p:cNvSpPr/>
            <p:nvPr/>
          </p:nvSpPr>
          <p:spPr>
            <a:xfrm flipH="1">
              <a:off x="3947080" y="1373670"/>
              <a:ext cx="412750" cy="91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1" name="Freeform 106"/>
            <p:cNvSpPr/>
            <p:nvPr/>
          </p:nvSpPr>
          <p:spPr>
            <a:xfrm rot="5400000" flipH="1">
              <a:off x="3527344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2" name="Rectangle 131"/>
            <p:cNvSpPr/>
            <p:nvPr/>
          </p:nvSpPr>
          <p:spPr>
            <a:xfrm flipH="1">
              <a:off x="-1781236" y="1373671"/>
              <a:ext cx="5366363" cy="9143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3" name="Freeform 108"/>
            <p:cNvSpPr/>
            <p:nvPr/>
          </p:nvSpPr>
          <p:spPr>
            <a:xfrm rot="16200000" flipH="1" flipV="1">
              <a:off x="2887581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4" name="Rectangle 133"/>
            <p:cNvSpPr/>
            <p:nvPr/>
          </p:nvSpPr>
          <p:spPr>
            <a:xfrm flipH="1">
              <a:off x="3306524" y="1173645"/>
              <a:ext cx="914400" cy="9144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/>
            </a:p>
          </p:txBody>
        </p:sp>
      </p:grpSp>
      <p:grpSp>
        <p:nvGrpSpPr>
          <p:cNvPr id="135" name="Group 118"/>
          <p:cNvGrpSpPr/>
          <p:nvPr/>
        </p:nvGrpSpPr>
        <p:grpSpPr>
          <a:xfrm>
            <a:off x="1835696" y="5434217"/>
            <a:ext cx="7056784" cy="515063"/>
            <a:chOff x="-2270837" y="2392845"/>
            <a:chExt cx="6630667" cy="1114425"/>
          </a:xfrm>
        </p:grpSpPr>
        <p:sp>
          <p:nvSpPr>
            <p:cNvPr id="136" name="Rectangle 135"/>
            <p:cNvSpPr/>
            <p:nvPr/>
          </p:nvSpPr>
          <p:spPr>
            <a:xfrm flipH="1">
              <a:off x="3947080" y="2592870"/>
              <a:ext cx="412750" cy="914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7" name="Freeform 120"/>
            <p:cNvSpPr/>
            <p:nvPr/>
          </p:nvSpPr>
          <p:spPr>
            <a:xfrm rot="5400000" flipH="1">
              <a:off x="3527344" y="28128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8" name="Rectangle 137"/>
            <p:cNvSpPr/>
            <p:nvPr/>
          </p:nvSpPr>
          <p:spPr>
            <a:xfrm flipH="1">
              <a:off x="-2270837" y="2592870"/>
              <a:ext cx="5855967" cy="914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9" name="Freeform 122"/>
            <p:cNvSpPr/>
            <p:nvPr/>
          </p:nvSpPr>
          <p:spPr>
            <a:xfrm rot="16200000" flipH="1" flipV="1">
              <a:off x="2887581" y="28128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0" name="Rectangle 139"/>
            <p:cNvSpPr/>
            <p:nvPr/>
          </p:nvSpPr>
          <p:spPr>
            <a:xfrm flipH="1">
              <a:off x="3306524" y="2392845"/>
              <a:ext cx="914400" cy="9144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/>
            </a:p>
          </p:txBody>
        </p:sp>
      </p:grpSp>
      <p:sp>
        <p:nvSpPr>
          <p:cNvPr id="147" name="Rectangle 146"/>
          <p:cNvSpPr/>
          <p:nvPr/>
        </p:nvSpPr>
        <p:spPr>
          <a:xfrm>
            <a:off x="2627784" y="4831303"/>
            <a:ext cx="511256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lang="ar-SA" sz="2000" b="1" dirty="0" smtClean="0">
                <a:solidFill>
                  <a:schemeClr val="bg1"/>
                </a:solidFill>
              </a:rPr>
              <a:t> </a:t>
            </a:r>
            <a:r>
              <a:rPr lang="ar-DZ" sz="2000" b="1" dirty="0">
                <a:solidFill>
                  <a:schemeClr val="bg1"/>
                </a:solidFill>
                <a:ea typeface="Times New Roman"/>
                <a:cs typeface="Times New Roman"/>
              </a:rPr>
              <a:t>ننقر على الشكل بالزر الأيمن للفأرة عندما يظهر الرمز </a:t>
            </a:r>
            <a:r>
              <a:rPr lang="ar-DZ" sz="20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     </a:t>
            </a:r>
            <a:r>
              <a:rPr lang="ar-SA" sz="2000" b="1" dirty="0" smtClean="0">
                <a:solidFill>
                  <a:schemeClr val="bg1"/>
                </a:solidFill>
              </a:rPr>
              <a:t>.</a:t>
            </a:r>
            <a:endParaRPr lang="fr-FR" b="1" dirty="0">
              <a:solidFill>
                <a:schemeClr val="bg1"/>
              </a:solidFill>
              <a:latin typeface="Times New Roman"/>
              <a:ea typeface="Times New Roman"/>
            </a:endParaRPr>
          </a:p>
        </p:txBody>
      </p:sp>
      <p:sp>
        <p:nvSpPr>
          <p:cNvPr id="148" name="Rectangle 147"/>
          <p:cNvSpPr/>
          <p:nvPr/>
        </p:nvSpPr>
        <p:spPr>
          <a:xfrm>
            <a:off x="8156791" y="4750003"/>
            <a:ext cx="261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b="1" dirty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sp>
        <p:nvSpPr>
          <p:cNvPr id="149" name="Rectangle 148"/>
          <p:cNvSpPr/>
          <p:nvPr/>
        </p:nvSpPr>
        <p:spPr>
          <a:xfrm>
            <a:off x="8170736" y="5434217"/>
            <a:ext cx="261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b="1" dirty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grpSp>
        <p:nvGrpSpPr>
          <p:cNvPr id="27" name="Group 1"/>
          <p:cNvGrpSpPr>
            <a:grpSpLocks/>
          </p:cNvGrpSpPr>
          <p:nvPr/>
        </p:nvGrpSpPr>
        <p:grpSpPr bwMode="auto">
          <a:xfrm>
            <a:off x="2915816" y="4651762"/>
            <a:ext cx="266700" cy="266700"/>
            <a:chOff x="3255" y="7035"/>
            <a:chExt cx="420" cy="435"/>
          </a:xfrm>
        </p:grpSpPr>
        <p:cxnSp>
          <p:nvCxnSpPr>
            <p:cNvPr id="1026" name="AutoShape 2"/>
            <p:cNvCxnSpPr>
              <a:cxnSpLocks noChangeShapeType="1"/>
            </p:cNvCxnSpPr>
            <p:nvPr/>
          </p:nvCxnSpPr>
          <p:spPr bwMode="auto">
            <a:xfrm flipH="1">
              <a:off x="3255" y="7260"/>
              <a:ext cx="420" cy="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27" name="AutoShape 3"/>
            <p:cNvCxnSpPr>
              <a:cxnSpLocks noChangeShapeType="1"/>
            </p:cNvCxnSpPr>
            <p:nvPr/>
          </p:nvCxnSpPr>
          <p:spPr bwMode="auto">
            <a:xfrm>
              <a:off x="3465" y="7035"/>
              <a:ext cx="0" cy="43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8" name="Rectangle 27"/>
          <p:cNvSpPr/>
          <p:nvPr/>
        </p:nvSpPr>
        <p:spPr>
          <a:xfrm>
            <a:off x="1979711" y="5506225"/>
            <a:ext cx="569266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ar-DZ" sz="2000" b="1" dirty="0">
                <a:solidFill>
                  <a:schemeClr val="bg1"/>
                </a:solidFill>
                <a:ea typeface="Times New Roman"/>
                <a:cs typeface="Times New Roman"/>
              </a:rPr>
              <a:t>نختار من القائمة التي تظهر </a:t>
            </a:r>
            <a:r>
              <a:rPr lang="fr-FR" sz="2000" b="1" dirty="0">
                <a:solidFill>
                  <a:schemeClr val="bg1"/>
                </a:solidFill>
                <a:latin typeface="Times New Roman"/>
                <a:ea typeface="Times New Roman"/>
              </a:rPr>
              <a:t>Ajouter du texte</a:t>
            </a:r>
            <a:r>
              <a:rPr lang="ar-DZ" sz="2000" b="1" dirty="0">
                <a:solidFill>
                  <a:schemeClr val="bg1"/>
                </a:solidFill>
                <a:latin typeface="Times New Roman"/>
                <a:ea typeface="Times New Roman"/>
              </a:rPr>
              <a:t> ثم نكتب ما </a:t>
            </a:r>
            <a:r>
              <a:rPr lang="ar-DZ" sz="2000" b="1" dirty="0" smtClean="0">
                <a:solidFill>
                  <a:schemeClr val="bg1"/>
                </a:solidFill>
                <a:latin typeface="Times New Roman"/>
                <a:ea typeface="Times New Roman"/>
              </a:rPr>
              <a:t>نريد.</a:t>
            </a:r>
            <a:endParaRPr lang="fr-FR" sz="2000" dirty="0">
              <a:solidFill>
                <a:schemeClr val="bg1"/>
              </a:solidFill>
            </a:endParaRPr>
          </a:p>
        </p:txBody>
      </p:sp>
      <p:sp>
        <p:nvSpPr>
          <p:cNvPr id="82" name="Shape 856"/>
          <p:cNvSpPr/>
          <p:nvPr/>
        </p:nvSpPr>
        <p:spPr>
          <a:xfrm>
            <a:off x="8274185" y="692696"/>
            <a:ext cx="618295" cy="54713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lIns="50800" tIns="50800" rIns="50800" bIns="50800" numCol="1" anchor="ctr">
            <a:noAutofit/>
          </a:bodyPr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87" name="Shape 859"/>
          <p:cNvSpPr/>
          <p:nvPr/>
        </p:nvSpPr>
        <p:spPr>
          <a:xfrm>
            <a:off x="3665673" y="720328"/>
            <a:ext cx="4557074" cy="4764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8" y="0"/>
                </a:moveTo>
                <a:cubicBezTo>
                  <a:pt x="433" y="0"/>
                  <a:pt x="0" y="3963"/>
                  <a:pt x="0" y="8848"/>
                </a:cubicBezTo>
                <a:lnTo>
                  <a:pt x="0" y="12758"/>
                </a:lnTo>
                <a:cubicBezTo>
                  <a:pt x="0" y="17643"/>
                  <a:pt x="433" y="21600"/>
                  <a:pt x="968" y="21600"/>
                </a:cubicBezTo>
                <a:lnTo>
                  <a:pt x="20197" y="21600"/>
                </a:lnTo>
                <a:cubicBezTo>
                  <a:pt x="20704" y="21600"/>
                  <a:pt x="21119" y="18028"/>
                  <a:pt x="21160" y="13486"/>
                </a:cubicBezTo>
                <a:lnTo>
                  <a:pt x="21600" y="10806"/>
                </a:lnTo>
                <a:lnTo>
                  <a:pt x="21160" y="8119"/>
                </a:lnTo>
                <a:cubicBezTo>
                  <a:pt x="21120" y="3575"/>
                  <a:pt x="20704" y="0"/>
                  <a:pt x="20197" y="0"/>
                </a:cubicBezTo>
                <a:lnTo>
                  <a:pt x="968" y="0"/>
                </a:ln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lIns="50800" tIns="50800" rIns="50800" bIns="50800" anchor="ctr"/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88" name="ZoneTexte 87"/>
          <p:cNvSpPr txBox="1"/>
          <p:nvPr/>
        </p:nvSpPr>
        <p:spPr>
          <a:xfrm>
            <a:off x="8274185" y="692696"/>
            <a:ext cx="5462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800" b="1" dirty="0" smtClean="0">
                <a:solidFill>
                  <a:srgbClr val="FFFF00"/>
                </a:solidFill>
              </a:rPr>
              <a:t>2-</a:t>
            </a:r>
            <a:endParaRPr lang="fr-FR" sz="2800" b="1" dirty="0">
              <a:solidFill>
                <a:srgbClr val="FFFF00"/>
              </a:solidFill>
            </a:endParaRPr>
          </a:p>
        </p:txBody>
      </p:sp>
      <p:sp>
        <p:nvSpPr>
          <p:cNvPr id="89" name="ZoneTexte 88"/>
          <p:cNvSpPr txBox="1"/>
          <p:nvPr/>
        </p:nvSpPr>
        <p:spPr>
          <a:xfrm>
            <a:off x="3851920" y="745540"/>
            <a:ext cx="3960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400" b="1" dirty="0" smtClean="0">
                <a:solidFill>
                  <a:srgbClr val="FFFF00"/>
                </a:solidFill>
              </a:rPr>
              <a:t>عمليات على الأشكال:</a:t>
            </a:r>
            <a:endParaRPr lang="fr-FR" sz="2400" b="1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3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3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800"/>
                            </p:stCondLst>
                            <p:childTnLst>
                              <p:par>
                                <p:cTn id="1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300"/>
                            </p:stCondLst>
                            <p:childTnLst>
                              <p:par>
                                <p:cTn id="1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3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600"/>
                            </p:stCondLst>
                            <p:childTnLst>
                              <p:par>
                                <p:cTn id="2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600"/>
                            </p:stCondLst>
                            <p:childTnLst>
                              <p:par>
                                <p:cTn id="3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100"/>
                            </p:stCondLst>
                            <p:childTnLst>
                              <p:par>
                                <p:cTn id="3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600"/>
                            </p:stCondLst>
                            <p:childTnLst>
                              <p:par>
                                <p:cTn id="4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100"/>
                            </p:stCondLst>
                            <p:childTnLst>
                              <p:par>
                                <p:cTn id="4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600"/>
                            </p:stCondLst>
                            <p:childTnLst>
                              <p:par>
                                <p:cTn id="4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100"/>
                            </p:stCondLst>
                            <p:childTnLst>
                              <p:par>
                                <p:cTn id="5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7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600"/>
                            </p:stCondLst>
                            <p:childTnLst>
                              <p:par>
                                <p:cTn id="5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6100"/>
                            </p:stCondLst>
                            <p:childTnLst>
                              <p:par>
                                <p:cTn id="6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6600"/>
                            </p:stCondLst>
                            <p:childTnLst>
                              <p:par>
                                <p:cTn id="6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7100"/>
                            </p:stCondLst>
                            <p:childTnLst>
                              <p:par>
                                <p:cTn id="7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8100"/>
                            </p:stCondLst>
                            <p:childTnLst>
                              <p:par>
                                <p:cTn id="7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1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8600"/>
                            </p:stCondLst>
                            <p:childTnLst>
                              <p:par>
                                <p:cTn id="8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9100"/>
                            </p:stCondLst>
                            <p:childTnLst>
                              <p:par>
                                <p:cTn id="8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1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9600"/>
                            </p:stCondLst>
                            <p:childTnLst>
                              <p:par>
                                <p:cTn id="9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10100"/>
                            </p:stCondLst>
                            <p:childTnLst>
                              <p:par>
                                <p:cTn id="9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1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10600"/>
                            </p:stCondLst>
                            <p:childTnLst>
                              <p:par>
                                <p:cTn id="10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11100"/>
                            </p:stCondLst>
                            <p:childTnLst>
                              <p:par>
                                <p:cTn id="10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" grpId="0"/>
      <p:bldP spid="103" grpId="0"/>
      <p:bldP spid="104" grpId="0"/>
      <p:bldP spid="105" grpId="0"/>
      <p:bldP spid="106" grpId="0"/>
      <p:bldP spid="26" grpId="0"/>
      <p:bldP spid="147" grpId="0"/>
      <p:bldP spid="148" grpId="0"/>
      <p:bldP spid="149" grpId="0"/>
      <p:bldP spid="28" grpId="0"/>
      <p:bldP spid="82" grpId="0" animBg="1"/>
      <p:bldP spid="87" grpId="0" animBg="1"/>
      <p:bldP spid="88" grpId="0"/>
      <p:bldP spid="8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Image 49" descr="shutterstock_17221542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20688"/>
            <a:ext cx="9144000" cy="5616624"/>
          </a:xfrm>
          <a:prstGeom prst="rect">
            <a:avLst/>
          </a:prstGeom>
        </p:spPr>
      </p:pic>
      <p:sp>
        <p:nvSpPr>
          <p:cNvPr id="30" name="Pensées 29"/>
          <p:cNvSpPr/>
          <p:nvPr/>
        </p:nvSpPr>
        <p:spPr>
          <a:xfrm>
            <a:off x="179512" y="692696"/>
            <a:ext cx="7722604" cy="2304256"/>
          </a:xfrm>
          <a:prstGeom prst="cloudCallout">
            <a:avLst>
              <a:gd name="adj1" fmla="val -38920"/>
              <a:gd name="adj2" fmla="val 78746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4" name="Pensées 33"/>
          <p:cNvSpPr/>
          <p:nvPr/>
        </p:nvSpPr>
        <p:spPr>
          <a:xfrm rot="20675170">
            <a:off x="6019020" y="2481992"/>
            <a:ext cx="3054164" cy="1008112"/>
          </a:xfrm>
          <a:prstGeom prst="cloudCallout">
            <a:avLst>
              <a:gd name="adj1" fmla="val 16001"/>
              <a:gd name="adj2" fmla="val 104996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endParaRPr lang="fr-FR" b="1" dirty="0">
              <a:solidFill>
                <a:schemeClr val="tx1"/>
              </a:solidFill>
            </a:endParaRPr>
          </a:p>
        </p:txBody>
      </p:sp>
      <p:pic>
        <p:nvPicPr>
          <p:cNvPr id="36" name="Picture 1" descr="C:\Users\RIDHA\Downloads\صور المعلوماتية\Bonhomme-question-01-01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756592" y="3284984"/>
            <a:ext cx="2941886" cy="2952328"/>
          </a:xfrm>
          <a:prstGeom prst="rect">
            <a:avLst/>
          </a:prstGeom>
          <a:noFill/>
        </p:spPr>
      </p:pic>
      <p:sp>
        <p:nvSpPr>
          <p:cNvPr id="31" name="ZoneTexte 30"/>
          <p:cNvSpPr txBox="1"/>
          <p:nvPr/>
        </p:nvSpPr>
        <p:spPr>
          <a:xfrm>
            <a:off x="1331640" y="980728"/>
            <a:ext cx="56166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0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وكيف يمكن ترتيبها؟ </a:t>
            </a:r>
            <a:r>
              <a:rPr lang="ar-DZ" sz="20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و</a:t>
            </a:r>
            <a:r>
              <a:rPr lang="ar-DZ" sz="20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وضع المستطيل مثلا امام الدائرة والمثلث. </a:t>
            </a:r>
          </a:p>
        </p:txBody>
      </p:sp>
      <p:pic>
        <p:nvPicPr>
          <p:cNvPr id="48" name="Image 47" descr="Person-question-2-151x300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028384" y="2996952"/>
            <a:ext cx="1241884" cy="3073524"/>
          </a:xfrm>
          <a:prstGeom prst="rect">
            <a:avLst/>
          </a:prstGeom>
        </p:spPr>
      </p:pic>
      <p:sp>
        <p:nvSpPr>
          <p:cNvPr id="49" name="ZoneTexte 48"/>
          <p:cNvSpPr txBox="1"/>
          <p:nvPr/>
        </p:nvSpPr>
        <p:spPr>
          <a:xfrm rot="20420500">
            <a:off x="6173401" y="2710689"/>
            <a:ext cx="25498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0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ماذا نقصد بترتيب الأشكال؟ </a:t>
            </a:r>
          </a:p>
        </p:txBody>
      </p:sp>
      <p:grpSp>
        <p:nvGrpSpPr>
          <p:cNvPr id="20" name="Groupe 19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19" name="Groupe 18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3" name="Groupe 2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18" name="Groupe 17"/>
                <p:cNvGrpSpPr/>
                <p:nvPr/>
              </p:nvGrpSpPr>
              <p:grpSpPr>
                <a:xfrm>
                  <a:off x="-180528" y="0"/>
                  <a:ext cx="9324528" cy="6957392"/>
                  <a:chOff x="-180528" y="0"/>
                  <a:chExt cx="9324528" cy="6957392"/>
                </a:xfrm>
              </p:grpSpPr>
              <p:grpSp>
                <p:nvGrpSpPr>
                  <p:cNvPr id="5" name="Groupe 18"/>
                  <p:cNvGrpSpPr/>
                  <p:nvPr/>
                </p:nvGrpSpPr>
                <p:grpSpPr>
                  <a:xfrm>
                    <a:off x="0" y="0"/>
                    <a:ext cx="9144000" cy="6885384"/>
                    <a:chOff x="0" y="0"/>
                    <a:chExt cx="9144000" cy="6885384"/>
                  </a:xfrm>
                </p:grpSpPr>
                <p:sp>
                  <p:nvSpPr>
                    <p:cNvPr id="7" name="Rectangle 6"/>
                    <p:cNvSpPr/>
                    <p:nvPr/>
                  </p:nvSpPr>
                  <p:spPr>
                    <a:xfrm rot="10800000" flipV="1">
                      <a:off x="0" y="0"/>
                      <a:ext cx="6983760" cy="620688"/>
                    </a:xfrm>
                    <a:prstGeom prst="rect">
                      <a:avLst/>
                    </a:prstGeom>
                    <a:solidFill>
                      <a:srgbClr val="FF66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grpSp>
                  <p:nvGrpSpPr>
                    <p:cNvPr id="8" name="Groupe 15"/>
                    <p:cNvGrpSpPr/>
                    <p:nvPr/>
                  </p:nvGrpSpPr>
                  <p:grpSpPr>
                    <a:xfrm>
                      <a:off x="0" y="6237312"/>
                      <a:ext cx="9144000" cy="648072"/>
                      <a:chOff x="0" y="6237312"/>
                      <a:chExt cx="9144000" cy="648072"/>
                    </a:xfrm>
                  </p:grpSpPr>
                  <p:sp>
                    <p:nvSpPr>
                      <p:cNvPr id="10" name="Rectangle 5"/>
                      <p:cNvSpPr/>
                      <p:nvPr/>
                    </p:nvSpPr>
                    <p:spPr>
                      <a:xfrm>
                        <a:off x="0" y="6309320"/>
                        <a:ext cx="9144000" cy="576064"/>
                      </a:xfrm>
                      <a:prstGeom prst="rect">
                        <a:avLst/>
                      </a:prstGeom>
                      <a:solidFill>
                        <a:srgbClr val="CC00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  <p:sp>
                    <p:nvSpPr>
                      <p:cNvPr id="11" name="Rectangle 10"/>
                      <p:cNvSpPr/>
                      <p:nvPr/>
                    </p:nvSpPr>
                    <p:spPr>
                      <a:xfrm flipV="1">
                        <a:off x="0" y="6237312"/>
                        <a:ext cx="9144000" cy="72008"/>
                      </a:xfrm>
                      <a:prstGeom prst="rect">
                        <a:avLst/>
                      </a:prstGeom>
                      <a:solidFill>
                        <a:srgbClr val="FF66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</p:grpSp>
                <p:sp>
                  <p:nvSpPr>
                    <p:cNvPr id="9" name="Rectangle 8"/>
                    <p:cNvSpPr/>
                    <p:nvPr/>
                  </p:nvSpPr>
                  <p:spPr>
                    <a:xfrm rot="10800000" flipV="1">
                      <a:off x="7020272" y="0"/>
                      <a:ext cx="2123728" cy="620688"/>
                    </a:xfrm>
                    <a:prstGeom prst="rect">
                      <a:avLst/>
                    </a:prstGeom>
                    <a:solidFill>
                      <a:srgbClr val="CC00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 dirty="0"/>
                    </a:p>
                  </p:txBody>
                </p:sp>
              </p:grpSp>
              <p:pic>
                <p:nvPicPr>
                  <p:cNvPr id="13" name="Image 12" descr="3-2-blogging-transparent-thumb.png"/>
                  <p:cNvPicPr>
                    <a:picLocks noChangeAspect="1"/>
                  </p:cNvPicPr>
                  <p:nvPr/>
                </p:nvPicPr>
                <p:blipFill>
                  <a:blip r:embed="rId5" cstate="print"/>
                  <a:stretch>
                    <a:fillRect/>
                  </a:stretch>
                </p:blipFill>
                <p:spPr>
                  <a:xfrm>
                    <a:off x="2195736" y="6165304"/>
                    <a:ext cx="864096" cy="741369"/>
                  </a:xfrm>
                  <a:prstGeom prst="rect">
                    <a:avLst/>
                  </a:prstGeom>
                </p:spPr>
              </p:pic>
              <p:pic>
                <p:nvPicPr>
                  <p:cNvPr id="14" name="Image 13" descr="12-2-education-png-image-thumb.png"/>
                  <p:cNvPicPr>
                    <a:picLocks noChangeAspect="1"/>
                  </p:cNvPicPr>
                  <p:nvPr/>
                </p:nvPicPr>
                <p:blipFill>
                  <a:blip r:embed="rId6" cstate="print"/>
                  <a:stretch>
                    <a:fillRect/>
                  </a:stretch>
                </p:blipFill>
                <p:spPr>
                  <a:xfrm>
                    <a:off x="8388424" y="5976664"/>
                    <a:ext cx="720080" cy="980728"/>
                  </a:xfrm>
                  <a:prstGeom prst="rect">
                    <a:avLst/>
                  </a:prstGeom>
                </p:spPr>
              </p:pic>
              <p:sp>
                <p:nvSpPr>
                  <p:cNvPr id="15" name="ZoneTexte 14"/>
                  <p:cNvSpPr txBox="1"/>
                  <p:nvPr/>
                </p:nvSpPr>
                <p:spPr>
                  <a:xfrm>
                    <a:off x="5652120" y="6428655"/>
                    <a:ext cx="2808312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متوسطة قلواز </a:t>
                    </a:r>
                    <a:r>
                      <a:rPr lang="ar-DZ" sz="1900" b="1" dirty="0" err="1" smtClean="0">
                        <a:solidFill>
                          <a:schemeClr val="bg1"/>
                        </a:solidFill>
                      </a:rPr>
                      <a:t>موسى </a:t>
                    </a:r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- بوراشد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6" name="ZoneTexte 15"/>
                  <p:cNvSpPr txBox="1"/>
                  <p:nvPr/>
                </p:nvSpPr>
                <p:spPr>
                  <a:xfrm>
                    <a:off x="-180528" y="6396335"/>
                    <a:ext cx="2448272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2000" b="1" dirty="0" smtClean="0">
                        <a:solidFill>
                          <a:schemeClr val="bg1"/>
                        </a:solidFill>
                      </a:rPr>
                      <a:t>تصميم الأستاذ ماحي رضا</a:t>
                    </a:r>
                    <a:endParaRPr lang="fr-FR" sz="20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7" name="ZoneTexte 16"/>
                  <p:cNvSpPr txBox="1"/>
                  <p:nvPr/>
                </p:nvSpPr>
                <p:spPr>
                  <a:xfrm>
                    <a:off x="2987824" y="6428655"/>
                    <a:ext cx="2088232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المستوى:الثاني متوسط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</p:grpSp>
            <p:pic>
              <p:nvPicPr>
                <p:cNvPr id="32" name="Image 31" descr="3d print business.png"/>
                <p:cNvPicPr>
                  <a:picLocks noChangeAspect="1"/>
                </p:cNvPicPr>
                <p:nvPr/>
              </p:nvPicPr>
              <p:blipFill>
                <a:blip r:embed="rId7" cstate="print"/>
                <a:stretch>
                  <a:fillRect/>
                </a:stretch>
              </p:blipFill>
              <p:spPr>
                <a:xfrm>
                  <a:off x="4788024" y="6274668"/>
                  <a:ext cx="1440160" cy="583332"/>
                </a:xfrm>
                <a:prstGeom prst="rect">
                  <a:avLst/>
                </a:prstGeom>
              </p:spPr>
            </p:pic>
          </p:grpSp>
          <p:sp>
            <p:nvSpPr>
              <p:cNvPr id="33" name="ZoneTexte 32"/>
              <p:cNvSpPr txBox="1"/>
              <p:nvPr/>
            </p:nvSpPr>
            <p:spPr>
              <a:xfrm>
                <a:off x="6948264" y="44624"/>
                <a:ext cx="212372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 smtClean="0">
                    <a:solidFill>
                      <a:schemeClr val="bg1"/>
                    </a:solidFill>
                  </a:rPr>
                  <a:t>الحصة </a:t>
                </a:r>
                <a:r>
                  <a:rPr lang="ar-DZ" sz="2800" b="1" dirty="0" err="1" smtClean="0">
                    <a:solidFill>
                      <a:schemeClr val="bg1"/>
                    </a:solidFill>
                  </a:rPr>
                  <a:t>التعلمية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5" name="ZoneTexte 34"/>
              <p:cNvSpPr txBox="1"/>
              <p:nvPr/>
            </p:nvSpPr>
            <p:spPr>
              <a:xfrm>
                <a:off x="2915816" y="44624"/>
                <a:ext cx="208823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 smtClean="0">
                    <a:solidFill>
                      <a:schemeClr val="bg1"/>
                    </a:solidFill>
                  </a:rPr>
                  <a:t>الأشكال والصور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37" name="Image 36" descr="Microsoft_Word_2013_logo.svg.png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27584" y="33236"/>
              <a:ext cx="792087" cy="587452"/>
            </a:xfrm>
            <a:prstGeom prst="rect">
              <a:avLst/>
            </a:prstGeom>
          </p:spPr>
        </p:pic>
      </p:grpSp>
      <p:sp>
        <p:nvSpPr>
          <p:cNvPr id="38" name="Rectangle 37"/>
          <p:cNvSpPr/>
          <p:nvPr/>
        </p:nvSpPr>
        <p:spPr>
          <a:xfrm>
            <a:off x="3590169" y="1700808"/>
            <a:ext cx="1349033" cy="763155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1600" b="1" dirty="0" smtClean="0"/>
              <a:t>مستطيل</a:t>
            </a:r>
            <a:endParaRPr lang="fr-FR" sz="1600" b="1" dirty="0"/>
          </a:p>
        </p:txBody>
      </p:sp>
      <p:sp>
        <p:nvSpPr>
          <p:cNvPr id="39" name="Ellipse 38"/>
          <p:cNvSpPr/>
          <p:nvPr/>
        </p:nvSpPr>
        <p:spPr>
          <a:xfrm>
            <a:off x="4355976" y="1484784"/>
            <a:ext cx="1080120" cy="951371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1400" b="1" dirty="0" smtClean="0"/>
              <a:t>دائرة</a:t>
            </a:r>
            <a:endParaRPr lang="fr-FR" sz="1400" b="1" dirty="0"/>
          </a:p>
        </p:txBody>
      </p:sp>
      <p:sp>
        <p:nvSpPr>
          <p:cNvPr id="40" name="Triangle isocèle 39"/>
          <p:cNvSpPr/>
          <p:nvPr/>
        </p:nvSpPr>
        <p:spPr>
          <a:xfrm>
            <a:off x="2843808" y="1570805"/>
            <a:ext cx="1296143" cy="871995"/>
          </a:xfrm>
          <a:prstGeom prst="triangl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1400" b="1" dirty="0" smtClean="0">
                <a:solidFill>
                  <a:srgbClr val="C00000"/>
                </a:solidFill>
              </a:rPr>
              <a:t>مثلث</a:t>
            </a:r>
            <a:endParaRPr lang="fr-FR" sz="1400" b="1" dirty="0">
              <a:solidFill>
                <a:srgbClr val="C0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843808" y="1412776"/>
            <a:ext cx="2664296" cy="115212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06783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500"/>
                            </p:stCondLst>
                            <p:childTnLst>
                              <p:par>
                                <p:cTn id="3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000"/>
                            </p:stCondLst>
                            <p:childTnLst>
                              <p:par>
                                <p:cTn id="4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500"/>
                            </p:stCondLst>
                            <p:childTnLst>
                              <p:par>
                                <p:cTn id="4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4" grpId="0" animBg="1"/>
      <p:bldP spid="31" grpId="0"/>
      <p:bldP spid="49" grpId="0"/>
      <p:bldP spid="38" grpId="0" animBg="1"/>
      <p:bldP spid="39" grpId="0" animBg="1"/>
      <p:bldP spid="40" grpId="0" animBg="1"/>
      <p:bldP spid="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18" descr="h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20688"/>
            <a:ext cx="9144000" cy="5665812"/>
          </a:xfrm>
          <a:prstGeom prst="rect">
            <a:avLst/>
          </a:prstGeom>
        </p:spPr>
      </p:pic>
      <p:grpSp>
        <p:nvGrpSpPr>
          <p:cNvPr id="20" name="Groupe 19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3" name="Groupe 2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2" name="Groupe 1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18" name="Groupe 17"/>
                <p:cNvGrpSpPr/>
                <p:nvPr/>
              </p:nvGrpSpPr>
              <p:grpSpPr>
                <a:xfrm>
                  <a:off x="-180528" y="0"/>
                  <a:ext cx="9324528" cy="6957392"/>
                  <a:chOff x="-180528" y="0"/>
                  <a:chExt cx="9324528" cy="6957392"/>
                </a:xfrm>
              </p:grpSpPr>
              <p:grpSp>
                <p:nvGrpSpPr>
                  <p:cNvPr id="5" name="Groupe 18"/>
                  <p:cNvGrpSpPr/>
                  <p:nvPr/>
                </p:nvGrpSpPr>
                <p:grpSpPr>
                  <a:xfrm>
                    <a:off x="0" y="0"/>
                    <a:ext cx="9144000" cy="6885384"/>
                    <a:chOff x="0" y="0"/>
                    <a:chExt cx="9144000" cy="6885384"/>
                  </a:xfrm>
                </p:grpSpPr>
                <p:sp>
                  <p:nvSpPr>
                    <p:cNvPr id="7" name="Rectangle 6"/>
                    <p:cNvSpPr/>
                    <p:nvPr/>
                  </p:nvSpPr>
                  <p:spPr>
                    <a:xfrm rot="10800000" flipV="1">
                      <a:off x="0" y="0"/>
                      <a:ext cx="6983760" cy="620688"/>
                    </a:xfrm>
                    <a:prstGeom prst="rect">
                      <a:avLst/>
                    </a:prstGeom>
                    <a:solidFill>
                      <a:srgbClr val="FF66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grpSp>
                  <p:nvGrpSpPr>
                    <p:cNvPr id="8" name="Groupe 15"/>
                    <p:cNvGrpSpPr/>
                    <p:nvPr/>
                  </p:nvGrpSpPr>
                  <p:grpSpPr>
                    <a:xfrm>
                      <a:off x="0" y="6237312"/>
                      <a:ext cx="9144000" cy="648072"/>
                      <a:chOff x="0" y="6237312"/>
                      <a:chExt cx="9144000" cy="648072"/>
                    </a:xfrm>
                  </p:grpSpPr>
                  <p:sp>
                    <p:nvSpPr>
                      <p:cNvPr id="10" name="Rectangle 5"/>
                      <p:cNvSpPr/>
                      <p:nvPr/>
                    </p:nvSpPr>
                    <p:spPr>
                      <a:xfrm>
                        <a:off x="0" y="6309320"/>
                        <a:ext cx="9144000" cy="576064"/>
                      </a:xfrm>
                      <a:prstGeom prst="rect">
                        <a:avLst/>
                      </a:prstGeom>
                      <a:solidFill>
                        <a:srgbClr val="CC00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  <p:sp>
                    <p:nvSpPr>
                      <p:cNvPr id="11" name="Rectangle 10"/>
                      <p:cNvSpPr/>
                      <p:nvPr/>
                    </p:nvSpPr>
                    <p:spPr>
                      <a:xfrm flipV="1">
                        <a:off x="0" y="6237312"/>
                        <a:ext cx="9144000" cy="72008"/>
                      </a:xfrm>
                      <a:prstGeom prst="rect">
                        <a:avLst/>
                      </a:prstGeom>
                      <a:solidFill>
                        <a:srgbClr val="FF66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</p:grpSp>
                <p:sp>
                  <p:nvSpPr>
                    <p:cNvPr id="9" name="Rectangle 8"/>
                    <p:cNvSpPr/>
                    <p:nvPr/>
                  </p:nvSpPr>
                  <p:spPr>
                    <a:xfrm rot="10800000" flipV="1">
                      <a:off x="7020272" y="0"/>
                      <a:ext cx="2123728" cy="620688"/>
                    </a:xfrm>
                    <a:prstGeom prst="rect">
                      <a:avLst/>
                    </a:prstGeom>
                    <a:solidFill>
                      <a:srgbClr val="CC00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 dirty="0"/>
                    </a:p>
                  </p:txBody>
                </p:sp>
              </p:grpSp>
              <p:pic>
                <p:nvPicPr>
                  <p:cNvPr id="13" name="Image 12" descr="3-2-blogging-transparent-thumb.png"/>
                  <p:cNvPicPr>
                    <a:picLocks noChangeAspect="1"/>
                  </p:cNvPicPr>
                  <p:nvPr/>
                </p:nvPicPr>
                <p:blipFill>
                  <a:blip r:embed="rId3" cstate="print"/>
                  <a:stretch>
                    <a:fillRect/>
                  </a:stretch>
                </p:blipFill>
                <p:spPr>
                  <a:xfrm>
                    <a:off x="2195736" y="6165304"/>
                    <a:ext cx="864096" cy="741369"/>
                  </a:xfrm>
                  <a:prstGeom prst="rect">
                    <a:avLst/>
                  </a:prstGeom>
                </p:spPr>
              </p:pic>
              <p:pic>
                <p:nvPicPr>
                  <p:cNvPr id="14" name="Image 13" descr="12-2-education-png-image-thumb.png"/>
                  <p:cNvPicPr>
                    <a:picLocks noChangeAspect="1"/>
                  </p:cNvPicPr>
                  <p:nvPr/>
                </p:nvPicPr>
                <p:blipFill>
                  <a:blip r:embed="rId4" cstate="print"/>
                  <a:stretch>
                    <a:fillRect/>
                  </a:stretch>
                </p:blipFill>
                <p:spPr>
                  <a:xfrm>
                    <a:off x="8388424" y="5976664"/>
                    <a:ext cx="720080" cy="980728"/>
                  </a:xfrm>
                  <a:prstGeom prst="rect">
                    <a:avLst/>
                  </a:prstGeom>
                </p:spPr>
              </p:pic>
              <p:sp>
                <p:nvSpPr>
                  <p:cNvPr id="15" name="ZoneTexte 14"/>
                  <p:cNvSpPr txBox="1"/>
                  <p:nvPr/>
                </p:nvSpPr>
                <p:spPr>
                  <a:xfrm>
                    <a:off x="5652120" y="6428655"/>
                    <a:ext cx="2808312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متوسطة قلواز </a:t>
                    </a:r>
                    <a:r>
                      <a:rPr lang="ar-DZ" sz="1900" b="1" dirty="0" err="1" smtClean="0">
                        <a:solidFill>
                          <a:schemeClr val="bg1"/>
                        </a:solidFill>
                      </a:rPr>
                      <a:t>موسى </a:t>
                    </a:r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- بوراشد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6" name="ZoneTexte 15"/>
                  <p:cNvSpPr txBox="1"/>
                  <p:nvPr/>
                </p:nvSpPr>
                <p:spPr>
                  <a:xfrm>
                    <a:off x="-180528" y="6396335"/>
                    <a:ext cx="2448272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2000" b="1" dirty="0" smtClean="0">
                        <a:solidFill>
                          <a:schemeClr val="bg1"/>
                        </a:solidFill>
                      </a:rPr>
                      <a:t>تصميم الأستاذ ماحي رضا</a:t>
                    </a:r>
                    <a:endParaRPr lang="fr-FR" sz="20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7" name="ZoneTexte 16"/>
                  <p:cNvSpPr txBox="1"/>
                  <p:nvPr/>
                </p:nvSpPr>
                <p:spPr>
                  <a:xfrm>
                    <a:off x="2987824" y="6428655"/>
                    <a:ext cx="2088232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المستوى:الثاني متوسط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</p:grpSp>
            <p:pic>
              <p:nvPicPr>
                <p:cNvPr id="73" name="Image 72" descr="3d print business.png"/>
                <p:cNvPicPr>
                  <a:picLocks noChangeAspect="1"/>
                </p:cNvPicPr>
                <p:nvPr/>
              </p:nvPicPr>
              <p:blipFill>
                <a:blip r:embed="rId5" cstate="print"/>
                <a:stretch>
                  <a:fillRect/>
                </a:stretch>
              </p:blipFill>
              <p:spPr>
                <a:xfrm>
                  <a:off x="4788024" y="6274668"/>
                  <a:ext cx="1440160" cy="583332"/>
                </a:xfrm>
                <a:prstGeom prst="rect">
                  <a:avLst/>
                </a:prstGeom>
              </p:spPr>
            </p:pic>
          </p:grpSp>
          <p:sp>
            <p:nvSpPr>
              <p:cNvPr id="74" name="ZoneTexte 73"/>
              <p:cNvSpPr txBox="1"/>
              <p:nvPr/>
            </p:nvSpPr>
            <p:spPr>
              <a:xfrm>
                <a:off x="6948264" y="44624"/>
                <a:ext cx="212372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 smtClean="0">
                    <a:solidFill>
                      <a:schemeClr val="bg1"/>
                    </a:solidFill>
                  </a:rPr>
                  <a:t>الحصة </a:t>
                </a:r>
                <a:r>
                  <a:rPr lang="ar-DZ" sz="2800" b="1" dirty="0" err="1" smtClean="0">
                    <a:solidFill>
                      <a:schemeClr val="bg1"/>
                    </a:solidFill>
                  </a:rPr>
                  <a:t>التعلمية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75" name="ZoneTexte 74"/>
              <p:cNvSpPr txBox="1"/>
              <p:nvPr/>
            </p:nvSpPr>
            <p:spPr>
              <a:xfrm>
                <a:off x="2771800" y="44624"/>
                <a:ext cx="223224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 smtClean="0">
                    <a:solidFill>
                      <a:schemeClr val="bg1"/>
                    </a:solidFill>
                  </a:rPr>
                  <a:t>الأشكال و الصور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76" name="Image 75" descr="Microsoft_Word_2013_logo.svg.png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27584" y="33236"/>
              <a:ext cx="792087" cy="587452"/>
            </a:xfrm>
            <a:prstGeom prst="rect">
              <a:avLst/>
            </a:prstGeom>
          </p:spPr>
        </p:pic>
      </p:grpSp>
      <p:grpSp>
        <p:nvGrpSpPr>
          <p:cNvPr id="79" name="Groupe 78"/>
          <p:cNvGrpSpPr/>
          <p:nvPr/>
        </p:nvGrpSpPr>
        <p:grpSpPr>
          <a:xfrm>
            <a:off x="6156176" y="692696"/>
            <a:ext cx="2684636" cy="576064"/>
            <a:chOff x="5292080" y="2348880"/>
            <a:chExt cx="2684636" cy="576064"/>
          </a:xfrm>
        </p:grpSpPr>
        <p:grpSp>
          <p:nvGrpSpPr>
            <p:cNvPr id="80" name="Groupe 58"/>
            <p:cNvGrpSpPr/>
            <p:nvPr/>
          </p:nvGrpSpPr>
          <p:grpSpPr>
            <a:xfrm>
              <a:off x="5292080" y="2348880"/>
              <a:ext cx="2684636" cy="504056"/>
              <a:chOff x="5292080" y="2852936"/>
              <a:chExt cx="2684636" cy="576064"/>
            </a:xfrm>
          </p:grpSpPr>
          <p:sp>
            <p:nvSpPr>
              <p:cNvPr id="82" name="Notched Right Arrow 54"/>
              <p:cNvSpPr/>
              <p:nvPr/>
            </p:nvSpPr>
            <p:spPr>
              <a:xfrm flipH="1">
                <a:off x="5292080" y="3008511"/>
                <a:ext cx="2684636" cy="420489"/>
              </a:xfrm>
              <a:prstGeom prst="notchedRightArrow">
                <a:avLst>
                  <a:gd name="adj1" fmla="val 100000"/>
                  <a:gd name="adj2" fmla="val 28125"/>
                </a:avLst>
              </a:prstGeom>
              <a:ln/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83" name="Group 13"/>
              <p:cNvGrpSpPr/>
              <p:nvPr/>
            </p:nvGrpSpPr>
            <p:grpSpPr>
              <a:xfrm flipH="1">
                <a:off x="7372840" y="2852936"/>
                <a:ext cx="466716" cy="411474"/>
                <a:chOff x="1271589" y="1657350"/>
                <a:chExt cx="466716" cy="411474"/>
              </a:xfrm>
            </p:grpSpPr>
            <p:sp>
              <p:nvSpPr>
                <p:cNvPr id="84" name="Freeform 56"/>
                <p:cNvSpPr/>
                <p:nvPr/>
              </p:nvSpPr>
              <p:spPr>
                <a:xfrm>
                  <a:off x="1271589" y="1657350"/>
                  <a:ext cx="466716" cy="154781"/>
                </a:xfrm>
                <a:custGeom>
                  <a:avLst/>
                  <a:gdLst>
                    <a:gd name="connsiteX0" fmla="*/ 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104775 w 485775"/>
                    <a:gd name="connsiteY0" fmla="*/ 0 h 154781"/>
                    <a:gd name="connsiteX1" fmla="*/ 485775 w 485775"/>
                    <a:gd name="connsiteY1" fmla="*/ 0 h 154781"/>
                    <a:gd name="connsiteX2" fmla="*/ 485775 w 485775"/>
                    <a:gd name="connsiteY2" fmla="*/ 152400 h 154781"/>
                    <a:gd name="connsiteX3" fmla="*/ 0 w 485775"/>
                    <a:gd name="connsiteY3" fmla="*/ 154781 h 154781"/>
                    <a:gd name="connsiteX4" fmla="*/ 104775 w 485775"/>
                    <a:gd name="connsiteY4" fmla="*/ 0 h 1547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85775" h="154781">
                      <a:moveTo>
                        <a:pt x="104775" y="0"/>
                      </a:moveTo>
                      <a:lnTo>
                        <a:pt x="485775" y="0"/>
                      </a:lnTo>
                      <a:lnTo>
                        <a:pt x="485775" y="152400"/>
                      </a:lnTo>
                      <a:lnTo>
                        <a:pt x="0" y="154781"/>
                      </a:lnTo>
                      <a:lnTo>
                        <a:pt x="104775" y="0"/>
                      </a:lnTo>
                      <a:close/>
                    </a:path>
                  </a:pathLst>
                </a:custGeom>
                <a:ln/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84"/>
                <p:cNvSpPr/>
                <p:nvPr/>
              </p:nvSpPr>
              <p:spPr>
                <a:xfrm>
                  <a:off x="1371600" y="1687824"/>
                  <a:ext cx="365760" cy="381000"/>
                </a:xfrm>
                <a:prstGeom prst="rect">
                  <a:avLst/>
                </a:prstGeom>
                <a:ln/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vert="horz" wrap="none" rtlCol="0" anchor="ctr"/>
                <a:lstStyle/>
                <a:p>
                  <a:pPr algn="ctr"/>
                  <a:r>
                    <a:rPr lang="fr-FR" sz="2400" b="1" dirty="0" smtClean="0">
                      <a:solidFill>
                        <a:srgbClr val="FFFF00"/>
                      </a:solidFill>
                    </a:rPr>
                    <a:t>-</a:t>
                  </a:r>
                  <a:r>
                    <a:rPr lang="ar-DZ" sz="2400" b="1" dirty="0" smtClean="0">
                      <a:solidFill>
                        <a:srgbClr val="FFFF00"/>
                      </a:solidFill>
                    </a:rPr>
                    <a:t>ج</a:t>
                  </a:r>
                  <a:endParaRPr lang="en-US" sz="2400" b="1" dirty="0">
                    <a:solidFill>
                      <a:srgbClr val="FFFF00"/>
                    </a:solidFill>
                  </a:endParaRPr>
                </a:p>
              </p:txBody>
            </p:sp>
          </p:grpSp>
        </p:grpSp>
        <p:sp>
          <p:nvSpPr>
            <p:cNvPr id="81" name="ZoneTexte 80"/>
            <p:cNvSpPr txBox="1"/>
            <p:nvPr/>
          </p:nvSpPr>
          <p:spPr>
            <a:xfrm>
              <a:off x="5292080" y="2494057"/>
              <a:ext cx="216024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1"/>
              <a:r>
                <a:rPr lang="ar-DZ" sz="2200" b="1" dirty="0" smtClean="0">
                  <a:solidFill>
                    <a:srgbClr val="FFFF00"/>
                  </a:solidFill>
                </a:rPr>
                <a:t>ترتيب  الأشكال:</a:t>
              </a:r>
              <a:endParaRPr lang="fr-FR" sz="2200" b="1" dirty="0">
                <a:solidFill>
                  <a:srgbClr val="FFFF00"/>
                </a:solidFill>
              </a:endParaRPr>
            </a:p>
          </p:txBody>
        </p:sp>
      </p:grpSp>
      <p:grpSp>
        <p:nvGrpSpPr>
          <p:cNvPr id="86" name="Group 104"/>
          <p:cNvGrpSpPr/>
          <p:nvPr/>
        </p:nvGrpSpPr>
        <p:grpSpPr>
          <a:xfrm>
            <a:off x="2627783" y="2109221"/>
            <a:ext cx="6255918" cy="815723"/>
            <a:chOff x="-1643045" y="1173645"/>
            <a:chExt cx="6002875" cy="1114425"/>
          </a:xfrm>
        </p:grpSpPr>
        <p:sp>
          <p:nvSpPr>
            <p:cNvPr id="87" name="Rectangle 86"/>
            <p:cNvSpPr/>
            <p:nvPr/>
          </p:nvSpPr>
          <p:spPr>
            <a:xfrm flipH="1">
              <a:off x="3947080" y="1373670"/>
              <a:ext cx="412750" cy="91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8" name="Freeform 106"/>
            <p:cNvSpPr/>
            <p:nvPr/>
          </p:nvSpPr>
          <p:spPr>
            <a:xfrm rot="5400000" flipH="1">
              <a:off x="3527344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9" name="Rectangle 88"/>
            <p:cNvSpPr/>
            <p:nvPr/>
          </p:nvSpPr>
          <p:spPr>
            <a:xfrm flipH="1">
              <a:off x="-1643045" y="1373671"/>
              <a:ext cx="5228172" cy="9143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0" name="Freeform 108"/>
            <p:cNvSpPr/>
            <p:nvPr/>
          </p:nvSpPr>
          <p:spPr>
            <a:xfrm rot="16200000" flipH="1" flipV="1">
              <a:off x="2887581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1" name="Rectangle 100"/>
            <p:cNvSpPr/>
            <p:nvPr/>
          </p:nvSpPr>
          <p:spPr>
            <a:xfrm flipH="1">
              <a:off x="3306524" y="1173645"/>
              <a:ext cx="914400" cy="9144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/>
            </a:p>
          </p:txBody>
        </p:sp>
      </p:grpSp>
      <p:grpSp>
        <p:nvGrpSpPr>
          <p:cNvPr id="102" name="Group 118"/>
          <p:cNvGrpSpPr/>
          <p:nvPr/>
        </p:nvGrpSpPr>
        <p:grpSpPr>
          <a:xfrm>
            <a:off x="4139952" y="3284984"/>
            <a:ext cx="4752528" cy="731087"/>
            <a:chOff x="-105721" y="2392845"/>
            <a:chExt cx="4465551" cy="1114425"/>
          </a:xfrm>
        </p:grpSpPr>
        <p:sp>
          <p:nvSpPr>
            <p:cNvPr id="104" name="Rectangle 103"/>
            <p:cNvSpPr/>
            <p:nvPr/>
          </p:nvSpPr>
          <p:spPr>
            <a:xfrm flipH="1">
              <a:off x="3947080" y="2592870"/>
              <a:ext cx="412750" cy="914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2" name="Freeform 120"/>
            <p:cNvSpPr/>
            <p:nvPr/>
          </p:nvSpPr>
          <p:spPr>
            <a:xfrm rot="5400000" flipH="1">
              <a:off x="3527344" y="28128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3" name="Rectangle 112"/>
            <p:cNvSpPr/>
            <p:nvPr/>
          </p:nvSpPr>
          <p:spPr>
            <a:xfrm flipH="1">
              <a:off x="-105721" y="2592870"/>
              <a:ext cx="3690851" cy="914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4" name="Freeform 122"/>
            <p:cNvSpPr/>
            <p:nvPr/>
          </p:nvSpPr>
          <p:spPr>
            <a:xfrm rot="16200000" flipH="1" flipV="1">
              <a:off x="2887581" y="28128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5" name="Rectangle 114"/>
            <p:cNvSpPr/>
            <p:nvPr/>
          </p:nvSpPr>
          <p:spPr>
            <a:xfrm flipH="1">
              <a:off x="3306524" y="2392845"/>
              <a:ext cx="914400" cy="9144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/>
            </a:p>
          </p:txBody>
        </p:sp>
      </p:grpSp>
      <p:grpSp>
        <p:nvGrpSpPr>
          <p:cNvPr id="116" name="Group 132"/>
          <p:cNvGrpSpPr/>
          <p:nvPr/>
        </p:nvGrpSpPr>
        <p:grpSpPr>
          <a:xfrm>
            <a:off x="4139952" y="4407442"/>
            <a:ext cx="4757695" cy="749750"/>
            <a:chOff x="-205797" y="3612045"/>
            <a:chExt cx="4565627" cy="1114425"/>
          </a:xfrm>
        </p:grpSpPr>
        <p:sp>
          <p:nvSpPr>
            <p:cNvPr id="117" name="Rectangle 116"/>
            <p:cNvSpPr/>
            <p:nvPr/>
          </p:nvSpPr>
          <p:spPr>
            <a:xfrm flipH="1">
              <a:off x="3947080" y="3812070"/>
              <a:ext cx="412750" cy="9144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8" name="Freeform 134"/>
            <p:cNvSpPr/>
            <p:nvPr/>
          </p:nvSpPr>
          <p:spPr>
            <a:xfrm rot="5400000" flipH="1">
              <a:off x="3527344" y="40320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9" name="Rectangle 118"/>
            <p:cNvSpPr/>
            <p:nvPr/>
          </p:nvSpPr>
          <p:spPr>
            <a:xfrm flipH="1">
              <a:off x="-205797" y="3812070"/>
              <a:ext cx="3790928" cy="9144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0" name="Freeform 136"/>
            <p:cNvSpPr/>
            <p:nvPr/>
          </p:nvSpPr>
          <p:spPr>
            <a:xfrm rot="16200000" flipH="1" flipV="1">
              <a:off x="2887581" y="40320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1" name="Rectangle 120"/>
            <p:cNvSpPr/>
            <p:nvPr/>
          </p:nvSpPr>
          <p:spPr>
            <a:xfrm flipH="1">
              <a:off x="3306524" y="3612045"/>
              <a:ext cx="914400" cy="914400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/>
            </a:p>
          </p:txBody>
        </p:sp>
      </p:grpSp>
      <p:sp>
        <p:nvSpPr>
          <p:cNvPr id="122" name="Rectangle 121"/>
          <p:cNvSpPr/>
          <p:nvPr/>
        </p:nvSpPr>
        <p:spPr>
          <a:xfrm>
            <a:off x="6012160" y="1495301"/>
            <a:ext cx="158331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lang="ar-SA" sz="2000" b="1" dirty="0" smtClean="0">
                <a:solidFill>
                  <a:schemeClr val="bg1"/>
                </a:solidFill>
              </a:rPr>
              <a:t> </a:t>
            </a:r>
            <a:endParaRPr lang="fr-FR" b="1" dirty="0">
              <a:solidFill>
                <a:schemeClr val="bg1"/>
              </a:solidFill>
              <a:latin typeface="Times New Roman"/>
              <a:ea typeface="Times New Roman"/>
            </a:endParaRPr>
          </a:p>
        </p:txBody>
      </p:sp>
      <p:sp>
        <p:nvSpPr>
          <p:cNvPr id="123" name="Rectangle 122"/>
          <p:cNvSpPr/>
          <p:nvPr/>
        </p:nvSpPr>
        <p:spPr>
          <a:xfrm>
            <a:off x="8156791" y="2276872"/>
            <a:ext cx="261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b="1" dirty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sp>
        <p:nvSpPr>
          <p:cNvPr id="124" name="Rectangle 123"/>
          <p:cNvSpPr/>
          <p:nvPr/>
        </p:nvSpPr>
        <p:spPr>
          <a:xfrm>
            <a:off x="8170736" y="3367999"/>
            <a:ext cx="261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b="1" dirty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sp>
        <p:nvSpPr>
          <p:cNvPr id="125" name="Rectangle 124"/>
          <p:cNvSpPr/>
          <p:nvPr/>
        </p:nvSpPr>
        <p:spPr>
          <a:xfrm>
            <a:off x="8170439" y="4509120"/>
            <a:ext cx="261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b="1" dirty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sp>
        <p:nvSpPr>
          <p:cNvPr id="126" name="Rectangle 125"/>
          <p:cNvSpPr/>
          <p:nvPr/>
        </p:nvSpPr>
        <p:spPr>
          <a:xfrm>
            <a:off x="4479874" y="3482952"/>
            <a:ext cx="324819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DZ" sz="2000" b="1" dirty="0">
                <a:solidFill>
                  <a:schemeClr val="bg1"/>
                </a:solidFill>
                <a:ea typeface="Times New Roman"/>
                <a:cs typeface="Times New Roman"/>
              </a:rPr>
              <a:t>نختار من القائمة التي تظهر </a:t>
            </a:r>
            <a:r>
              <a:rPr lang="fr-FR" sz="2000" b="1" dirty="0">
                <a:solidFill>
                  <a:schemeClr val="bg1"/>
                </a:solidFill>
                <a:latin typeface="Times New Roman"/>
                <a:ea typeface="Times New Roman"/>
              </a:rPr>
              <a:t>Ordre</a:t>
            </a:r>
            <a:r>
              <a:rPr lang="ar-DZ" sz="2000" b="1" dirty="0">
                <a:solidFill>
                  <a:schemeClr val="bg1"/>
                </a:solidFill>
                <a:latin typeface="Times New Roman"/>
                <a:ea typeface="Times New Roman"/>
              </a:rPr>
              <a:t>.</a:t>
            </a:r>
            <a:endParaRPr lang="fr-FR" sz="2000" dirty="0">
              <a:solidFill>
                <a:schemeClr val="bg1"/>
              </a:solidFill>
            </a:endParaRPr>
          </a:p>
        </p:txBody>
      </p:sp>
      <p:sp>
        <p:nvSpPr>
          <p:cNvPr id="127" name="Rectangle 126"/>
          <p:cNvSpPr/>
          <p:nvPr/>
        </p:nvSpPr>
        <p:spPr>
          <a:xfrm>
            <a:off x="5607956" y="4613066"/>
            <a:ext cx="21932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r" rtl="1"/>
            <a:r>
              <a:rPr lang="ar-DZ" sz="2000" b="1" dirty="0">
                <a:solidFill>
                  <a:schemeClr val="bg1"/>
                </a:solidFill>
                <a:ea typeface="Times New Roman"/>
                <a:cs typeface="Times New Roman"/>
              </a:rPr>
              <a:t>نختار الترتيب الذي نريد.</a:t>
            </a:r>
            <a:endParaRPr lang="fr-FR" sz="2000" dirty="0">
              <a:solidFill>
                <a:schemeClr val="bg1"/>
              </a:solidFill>
              <a:ea typeface="Times New Roman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223627" y="1495301"/>
            <a:ext cx="761718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ar-DZ" sz="2400" b="1" dirty="0">
                <a:solidFill>
                  <a:schemeClr val="bg1"/>
                </a:solidFill>
              </a:rPr>
              <a:t>نقصد به تقديم أو تأخير شكل على آخر إذا كانت المساحة مشتركة بينهما.</a:t>
            </a:r>
            <a:endParaRPr lang="fr-FR" sz="2400" dirty="0">
              <a:solidFill>
                <a:schemeClr val="bg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699792" y="2346107"/>
            <a:ext cx="498662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ar-DZ" sz="2000" b="1" dirty="0">
                <a:solidFill>
                  <a:schemeClr val="bg1"/>
                </a:solidFill>
                <a:ea typeface="Times New Roman"/>
                <a:cs typeface="Times New Roman"/>
              </a:rPr>
              <a:t>ننقر بالزر الأيمن للفأرة على الشكل عندما يظهر الرمز </a:t>
            </a:r>
            <a:r>
              <a:rPr lang="ar-DZ" sz="20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     .</a:t>
            </a:r>
            <a:endParaRPr lang="fr-FR" sz="2000" dirty="0">
              <a:solidFill>
                <a:schemeClr val="bg1"/>
              </a:solidFill>
            </a:endParaRPr>
          </a:p>
        </p:txBody>
      </p:sp>
      <p:grpSp>
        <p:nvGrpSpPr>
          <p:cNvPr id="131" name="Group 7"/>
          <p:cNvGrpSpPr>
            <a:grpSpLocks/>
          </p:cNvGrpSpPr>
          <p:nvPr/>
        </p:nvGrpSpPr>
        <p:grpSpPr bwMode="auto">
          <a:xfrm>
            <a:off x="2915816" y="2420888"/>
            <a:ext cx="266700" cy="266700"/>
            <a:chOff x="3255" y="7035"/>
            <a:chExt cx="420" cy="435"/>
          </a:xfrm>
        </p:grpSpPr>
        <p:cxnSp>
          <p:nvCxnSpPr>
            <p:cNvPr id="132" name="AutoShape 8"/>
            <p:cNvCxnSpPr>
              <a:cxnSpLocks noChangeShapeType="1"/>
            </p:cNvCxnSpPr>
            <p:nvPr/>
          </p:nvCxnSpPr>
          <p:spPr bwMode="auto">
            <a:xfrm flipH="1">
              <a:off x="3255" y="7260"/>
              <a:ext cx="420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" name="AutoShape 9"/>
            <p:cNvCxnSpPr>
              <a:cxnSpLocks noChangeShapeType="1"/>
            </p:cNvCxnSpPr>
            <p:nvPr/>
          </p:nvCxnSpPr>
          <p:spPr bwMode="auto">
            <a:xfrm>
              <a:off x="3465" y="7035"/>
              <a:ext cx="0" cy="43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000"/>
                            </p:stCondLst>
                            <p:childTnLst>
                              <p:par>
                                <p:cTn id="3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500"/>
                            </p:stCondLst>
                            <p:childTnLst>
                              <p:par>
                                <p:cTn id="4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0"/>
                            </p:stCondLst>
                            <p:childTnLst>
                              <p:par>
                                <p:cTn id="4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500"/>
                            </p:stCondLst>
                            <p:childTnLst>
                              <p:par>
                                <p:cTn id="5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000"/>
                            </p:stCondLst>
                            <p:childTnLst>
                              <p:par>
                                <p:cTn id="5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6500"/>
                            </p:stCondLst>
                            <p:childTnLst>
                              <p:par>
                                <p:cTn id="6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5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" grpId="0"/>
      <p:bldP spid="123" grpId="0"/>
      <p:bldP spid="124" grpId="0"/>
      <p:bldP spid="125" grpId="0"/>
      <p:bldP spid="126" grpId="0"/>
      <p:bldP spid="127" grpId="0"/>
      <p:bldP spid="4" grpId="0"/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Image 75" descr="shutterstock_17221542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20688"/>
            <a:ext cx="9144000" cy="5616624"/>
          </a:xfrm>
          <a:prstGeom prst="rect">
            <a:avLst/>
          </a:prstGeom>
        </p:spPr>
      </p:pic>
      <p:sp>
        <p:nvSpPr>
          <p:cNvPr id="69" name="Pensées 68"/>
          <p:cNvSpPr/>
          <p:nvPr/>
        </p:nvSpPr>
        <p:spPr>
          <a:xfrm>
            <a:off x="179512" y="692696"/>
            <a:ext cx="7902624" cy="2592288"/>
          </a:xfrm>
          <a:prstGeom prst="cloudCallout">
            <a:avLst>
              <a:gd name="adj1" fmla="val -33442"/>
              <a:gd name="adj2" fmla="val 78746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70" name="Picture 1" descr="C:\Users\RIDHA\Downloads\صور المعلوماتية\Bonhomme-question-01-01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314102" y="3284984"/>
            <a:ext cx="2941886" cy="2952328"/>
          </a:xfrm>
          <a:prstGeom prst="rect">
            <a:avLst/>
          </a:prstGeom>
          <a:noFill/>
        </p:spPr>
      </p:pic>
      <p:grpSp>
        <p:nvGrpSpPr>
          <p:cNvPr id="19" name="Groupe 18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3" name="Groupe 2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2" name="Groupe 1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4" name="Groupe 3"/>
                <p:cNvGrpSpPr/>
                <p:nvPr/>
              </p:nvGrpSpPr>
              <p:grpSpPr>
                <a:xfrm>
                  <a:off x="-180528" y="0"/>
                  <a:ext cx="9324528" cy="6957392"/>
                  <a:chOff x="-180528" y="0"/>
                  <a:chExt cx="9324528" cy="6957392"/>
                </a:xfrm>
              </p:grpSpPr>
              <p:grpSp>
                <p:nvGrpSpPr>
                  <p:cNvPr id="12" name="Groupe 18"/>
                  <p:cNvGrpSpPr/>
                  <p:nvPr/>
                </p:nvGrpSpPr>
                <p:grpSpPr>
                  <a:xfrm>
                    <a:off x="0" y="0"/>
                    <a:ext cx="9144000" cy="6885384"/>
                    <a:chOff x="0" y="0"/>
                    <a:chExt cx="9144000" cy="6885384"/>
                  </a:xfrm>
                </p:grpSpPr>
                <p:sp>
                  <p:nvSpPr>
                    <p:cNvPr id="14" name="Rectangle 13"/>
                    <p:cNvSpPr/>
                    <p:nvPr/>
                  </p:nvSpPr>
                  <p:spPr>
                    <a:xfrm rot="10800000" flipV="1">
                      <a:off x="0" y="0"/>
                      <a:ext cx="6983760" cy="620688"/>
                    </a:xfrm>
                    <a:prstGeom prst="rect">
                      <a:avLst/>
                    </a:prstGeom>
                    <a:solidFill>
                      <a:srgbClr val="FF66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grpSp>
                  <p:nvGrpSpPr>
                    <p:cNvPr id="15" name="Groupe 15"/>
                    <p:cNvGrpSpPr/>
                    <p:nvPr/>
                  </p:nvGrpSpPr>
                  <p:grpSpPr>
                    <a:xfrm>
                      <a:off x="0" y="6237312"/>
                      <a:ext cx="9144000" cy="648072"/>
                      <a:chOff x="0" y="6237312"/>
                      <a:chExt cx="9144000" cy="648072"/>
                    </a:xfrm>
                  </p:grpSpPr>
                  <p:sp>
                    <p:nvSpPr>
                      <p:cNvPr id="17" name="Rectangle 5"/>
                      <p:cNvSpPr/>
                      <p:nvPr/>
                    </p:nvSpPr>
                    <p:spPr>
                      <a:xfrm>
                        <a:off x="0" y="6309320"/>
                        <a:ext cx="9144000" cy="576064"/>
                      </a:xfrm>
                      <a:prstGeom prst="rect">
                        <a:avLst/>
                      </a:prstGeom>
                      <a:solidFill>
                        <a:srgbClr val="CC00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  <p:sp>
                    <p:nvSpPr>
                      <p:cNvPr id="18" name="Rectangle 17"/>
                      <p:cNvSpPr/>
                      <p:nvPr/>
                    </p:nvSpPr>
                    <p:spPr>
                      <a:xfrm flipV="1">
                        <a:off x="0" y="6237312"/>
                        <a:ext cx="9144000" cy="72008"/>
                      </a:xfrm>
                      <a:prstGeom prst="rect">
                        <a:avLst/>
                      </a:prstGeom>
                      <a:solidFill>
                        <a:srgbClr val="FF66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</p:grpSp>
                <p:sp>
                  <p:nvSpPr>
                    <p:cNvPr id="16" name="Rectangle 15"/>
                    <p:cNvSpPr/>
                    <p:nvPr/>
                  </p:nvSpPr>
                  <p:spPr>
                    <a:xfrm rot="10800000" flipV="1">
                      <a:off x="7020272" y="0"/>
                      <a:ext cx="2123728" cy="620688"/>
                    </a:xfrm>
                    <a:prstGeom prst="rect">
                      <a:avLst/>
                    </a:prstGeom>
                    <a:solidFill>
                      <a:srgbClr val="CC00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 dirty="0"/>
                    </a:p>
                  </p:txBody>
                </p:sp>
              </p:grpSp>
              <p:pic>
                <p:nvPicPr>
                  <p:cNvPr id="7" name="Image 6" descr="3-2-blogging-transparent-thumb.png"/>
                  <p:cNvPicPr>
                    <a:picLocks noChangeAspect="1"/>
                  </p:cNvPicPr>
                  <p:nvPr/>
                </p:nvPicPr>
                <p:blipFill>
                  <a:blip r:embed="rId4" cstate="print"/>
                  <a:stretch>
                    <a:fillRect/>
                  </a:stretch>
                </p:blipFill>
                <p:spPr>
                  <a:xfrm>
                    <a:off x="2195736" y="6165304"/>
                    <a:ext cx="864096" cy="741369"/>
                  </a:xfrm>
                  <a:prstGeom prst="rect">
                    <a:avLst/>
                  </a:prstGeom>
                </p:spPr>
              </p:pic>
              <p:pic>
                <p:nvPicPr>
                  <p:cNvPr id="8" name="Image 7" descr="12-2-education-png-image-thumb.png"/>
                  <p:cNvPicPr>
                    <a:picLocks noChangeAspect="1"/>
                  </p:cNvPicPr>
                  <p:nvPr/>
                </p:nvPicPr>
                <p:blipFill>
                  <a:blip r:embed="rId5" cstate="print"/>
                  <a:stretch>
                    <a:fillRect/>
                  </a:stretch>
                </p:blipFill>
                <p:spPr>
                  <a:xfrm>
                    <a:off x="8388424" y="5976664"/>
                    <a:ext cx="720080" cy="980728"/>
                  </a:xfrm>
                  <a:prstGeom prst="rect">
                    <a:avLst/>
                  </a:prstGeom>
                </p:spPr>
              </p:pic>
              <p:sp>
                <p:nvSpPr>
                  <p:cNvPr id="9" name="ZoneTexte 8"/>
                  <p:cNvSpPr txBox="1"/>
                  <p:nvPr/>
                </p:nvSpPr>
                <p:spPr>
                  <a:xfrm>
                    <a:off x="5652120" y="6428655"/>
                    <a:ext cx="2808312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متوسطة قلواز </a:t>
                    </a:r>
                    <a:r>
                      <a:rPr lang="ar-DZ" sz="1900" b="1" dirty="0" err="1" smtClean="0">
                        <a:solidFill>
                          <a:schemeClr val="bg1"/>
                        </a:solidFill>
                      </a:rPr>
                      <a:t>موسى </a:t>
                    </a:r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- بوراشد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0" name="ZoneTexte 9"/>
                  <p:cNvSpPr txBox="1"/>
                  <p:nvPr/>
                </p:nvSpPr>
                <p:spPr>
                  <a:xfrm>
                    <a:off x="-180528" y="6396335"/>
                    <a:ext cx="2448272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2000" b="1" dirty="0" smtClean="0">
                        <a:solidFill>
                          <a:schemeClr val="bg1"/>
                        </a:solidFill>
                      </a:rPr>
                      <a:t>تصميم الأستاذ ماحي رضا</a:t>
                    </a:r>
                    <a:endParaRPr lang="fr-FR" sz="20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1" name="ZoneTexte 10"/>
                  <p:cNvSpPr txBox="1"/>
                  <p:nvPr/>
                </p:nvSpPr>
                <p:spPr>
                  <a:xfrm>
                    <a:off x="2987824" y="6428655"/>
                    <a:ext cx="2088232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المستوى:الثاني متوسط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</p:grpSp>
            <p:pic>
              <p:nvPicPr>
                <p:cNvPr id="25" name="Image 24" descr="3d print business.png"/>
                <p:cNvPicPr>
                  <a:picLocks noChangeAspect="1"/>
                </p:cNvPicPr>
                <p:nvPr/>
              </p:nvPicPr>
              <p:blipFill>
                <a:blip r:embed="rId6" cstate="print"/>
                <a:stretch>
                  <a:fillRect/>
                </a:stretch>
              </p:blipFill>
              <p:spPr>
                <a:xfrm>
                  <a:off x="4788024" y="6274668"/>
                  <a:ext cx="1440160" cy="583332"/>
                </a:xfrm>
                <a:prstGeom prst="rect">
                  <a:avLst/>
                </a:prstGeom>
              </p:spPr>
            </p:pic>
          </p:grpSp>
          <p:sp>
            <p:nvSpPr>
              <p:cNvPr id="27" name="ZoneTexte 26"/>
              <p:cNvSpPr txBox="1"/>
              <p:nvPr/>
            </p:nvSpPr>
            <p:spPr>
              <a:xfrm>
                <a:off x="6948264" y="44624"/>
                <a:ext cx="212372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 smtClean="0">
                    <a:solidFill>
                      <a:schemeClr val="bg1"/>
                    </a:solidFill>
                  </a:rPr>
                  <a:t>الحصة </a:t>
                </a:r>
                <a:r>
                  <a:rPr lang="ar-DZ" sz="2800" b="1" dirty="0" err="1" smtClean="0">
                    <a:solidFill>
                      <a:schemeClr val="bg1"/>
                    </a:solidFill>
                  </a:rPr>
                  <a:t>التعلمية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8" name="ZoneTexte 27"/>
              <p:cNvSpPr txBox="1"/>
              <p:nvPr/>
            </p:nvSpPr>
            <p:spPr>
              <a:xfrm>
                <a:off x="2843808" y="44624"/>
                <a:ext cx="21602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 smtClean="0">
                    <a:solidFill>
                      <a:schemeClr val="bg1"/>
                    </a:solidFill>
                  </a:rPr>
                  <a:t>الأشكال و الصور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30" name="Image 29" descr="Microsoft_Word_2013_logo.svg.png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27584" y="33236"/>
              <a:ext cx="792087" cy="587452"/>
            </a:xfrm>
            <a:prstGeom prst="rect">
              <a:avLst/>
            </a:prstGeom>
          </p:spPr>
        </p:pic>
      </p:grpSp>
      <p:pic>
        <p:nvPicPr>
          <p:cNvPr id="2050" name="Picture 2" descr="C:\Users\RIDHA\Desktop\Sans titre888.png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4" y="1356883"/>
            <a:ext cx="1790972" cy="1160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 descr="C:\Users\RIDHA\Desktop\Sans titre888.png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4647" y="1340768"/>
            <a:ext cx="1646193" cy="11668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Double flèche horizontale 4"/>
          <p:cNvSpPr/>
          <p:nvPr/>
        </p:nvSpPr>
        <p:spPr>
          <a:xfrm>
            <a:off x="3491880" y="1787569"/>
            <a:ext cx="1080120" cy="284004"/>
          </a:xfrm>
          <a:prstGeom prst="left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ZoneTexte 31"/>
          <p:cNvSpPr txBox="1"/>
          <p:nvPr/>
        </p:nvSpPr>
        <p:spPr>
          <a:xfrm>
            <a:off x="1474407" y="2540223"/>
            <a:ext cx="5148572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19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و كيف يمكنك فك الشكل المجمع  ليصبح مجموعة من الأشكال؟</a:t>
            </a:r>
          </a:p>
        </p:txBody>
      </p:sp>
      <p:sp>
        <p:nvSpPr>
          <p:cNvPr id="71" name="ZoneTexte 70"/>
          <p:cNvSpPr txBox="1"/>
          <p:nvPr/>
        </p:nvSpPr>
        <p:spPr>
          <a:xfrm>
            <a:off x="1403648" y="1028055"/>
            <a:ext cx="5148572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19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كيف يمكنك تجميع مجموعة من الأشكال لتصبح شكل واحد ؟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3724657" y="1448850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b="1" dirty="0" smtClean="0"/>
              <a:t>تجميع</a:t>
            </a:r>
            <a:endParaRPr lang="fr-FR" b="1" dirty="0"/>
          </a:p>
        </p:txBody>
      </p:sp>
      <p:sp>
        <p:nvSpPr>
          <p:cNvPr id="31" name="ZoneTexte 30"/>
          <p:cNvSpPr txBox="1"/>
          <p:nvPr/>
        </p:nvSpPr>
        <p:spPr>
          <a:xfrm>
            <a:off x="3707904" y="1988840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b="1" dirty="0" smtClean="0"/>
              <a:t>تفكيك</a:t>
            </a:r>
            <a:endParaRPr lang="fr-FR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25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5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250"/>
                            </p:stCondLst>
                            <p:childTnLst>
                              <p:par>
                                <p:cTn id="1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750"/>
                            </p:stCondLst>
                            <p:childTnLst>
                              <p:par>
                                <p:cTn id="2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250"/>
                            </p:stCondLst>
                            <p:childTnLst>
                              <p:par>
                                <p:cTn id="3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750"/>
                            </p:stCondLst>
                            <p:childTnLst>
                              <p:par>
                                <p:cTn id="37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2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2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 animBg="1"/>
      <p:bldP spid="5" grpId="0" animBg="1"/>
      <p:bldP spid="32" grpId="0"/>
      <p:bldP spid="7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Image 35" descr="h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20688"/>
            <a:ext cx="9144000" cy="5665812"/>
          </a:xfrm>
          <a:prstGeom prst="rect">
            <a:avLst/>
          </a:prstGeom>
        </p:spPr>
      </p:pic>
      <p:sp>
        <p:nvSpPr>
          <p:cNvPr id="19" name="Rectangle 3"/>
          <p:cNvSpPr>
            <a:spLocks noChangeArrowheads="1"/>
          </p:cNvSpPr>
          <p:nvPr/>
        </p:nvSpPr>
        <p:spPr bwMode="auto">
          <a:xfrm>
            <a:off x="457200" y="37639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grpSp>
        <p:nvGrpSpPr>
          <p:cNvPr id="23" name="Groupe 22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20" name="Groupe 19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3" name="Groupe 2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4" name="Groupe 3"/>
                <p:cNvGrpSpPr/>
                <p:nvPr/>
              </p:nvGrpSpPr>
              <p:grpSpPr>
                <a:xfrm>
                  <a:off x="-180528" y="0"/>
                  <a:ext cx="9324528" cy="6957392"/>
                  <a:chOff x="-180528" y="0"/>
                  <a:chExt cx="9324528" cy="6957392"/>
                </a:xfrm>
              </p:grpSpPr>
              <p:grpSp>
                <p:nvGrpSpPr>
                  <p:cNvPr id="12" name="Groupe 18"/>
                  <p:cNvGrpSpPr/>
                  <p:nvPr/>
                </p:nvGrpSpPr>
                <p:grpSpPr>
                  <a:xfrm>
                    <a:off x="0" y="0"/>
                    <a:ext cx="9144000" cy="6885384"/>
                    <a:chOff x="0" y="0"/>
                    <a:chExt cx="9144000" cy="6885384"/>
                  </a:xfrm>
                </p:grpSpPr>
                <p:sp>
                  <p:nvSpPr>
                    <p:cNvPr id="14" name="Rectangle 13"/>
                    <p:cNvSpPr/>
                    <p:nvPr/>
                  </p:nvSpPr>
                  <p:spPr>
                    <a:xfrm rot="10800000" flipV="1">
                      <a:off x="0" y="0"/>
                      <a:ext cx="6983760" cy="620688"/>
                    </a:xfrm>
                    <a:prstGeom prst="rect">
                      <a:avLst/>
                    </a:prstGeom>
                    <a:solidFill>
                      <a:srgbClr val="FF66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grpSp>
                  <p:nvGrpSpPr>
                    <p:cNvPr id="15" name="Groupe 15"/>
                    <p:cNvGrpSpPr/>
                    <p:nvPr/>
                  </p:nvGrpSpPr>
                  <p:grpSpPr>
                    <a:xfrm>
                      <a:off x="0" y="6237312"/>
                      <a:ext cx="9144000" cy="648072"/>
                      <a:chOff x="0" y="6237312"/>
                      <a:chExt cx="9144000" cy="648072"/>
                    </a:xfrm>
                  </p:grpSpPr>
                  <p:sp>
                    <p:nvSpPr>
                      <p:cNvPr id="17" name="Rectangle 5"/>
                      <p:cNvSpPr/>
                      <p:nvPr/>
                    </p:nvSpPr>
                    <p:spPr>
                      <a:xfrm>
                        <a:off x="0" y="6309320"/>
                        <a:ext cx="9144000" cy="576064"/>
                      </a:xfrm>
                      <a:prstGeom prst="rect">
                        <a:avLst/>
                      </a:prstGeom>
                      <a:solidFill>
                        <a:srgbClr val="CC00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  <p:sp>
                    <p:nvSpPr>
                      <p:cNvPr id="18" name="Rectangle 17"/>
                      <p:cNvSpPr/>
                      <p:nvPr/>
                    </p:nvSpPr>
                    <p:spPr>
                      <a:xfrm flipV="1">
                        <a:off x="0" y="6237312"/>
                        <a:ext cx="9144000" cy="72008"/>
                      </a:xfrm>
                      <a:prstGeom prst="rect">
                        <a:avLst/>
                      </a:prstGeom>
                      <a:solidFill>
                        <a:srgbClr val="FF66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</p:grpSp>
                <p:sp>
                  <p:nvSpPr>
                    <p:cNvPr id="16" name="Rectangle 15"/>
                    <p:cNvSpPr/>
                    <p:nvPr/>
                  </p:nvSpPr>
                  <p:spPr>
                    <a:xfrm rot="10800000" flipV="1">
                      <a:off x="7020272" y="0"/>
                      <a:ext cx="2123728" cy="620688"/>
                    </a:xfrm>
                    <a:prstGeom prst="rect">
                      <a:avLst/>
                    </a:prstGeom>
                    <a:solidFill>
                      <a:srgbClr val="CC00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 dirty="0"/>
                    </a:p>
                  </p:txBody>
                </p:sp>
              </p:grpSp>
              <p:pic>
                <p:nvPicPr>
                  <p:cNvPr id="7" name="Image 6" descr="3-2-blogging-transparent-thumb.png"/>
                  <p:cNvPicPr>
                    <a:picLocks noChangeAspect="1"/>
                  </p:cNvPicPr>
                  <p:nvPr/>
                </p:nvPicPr>
                <p:blipFill>
                  <a:blip r:embed="rId3" cstate="print"/>
                  <a:stretch>
                    <a:fillRect/>
                  </a:stretch>
                </p:blipFill>
                <p:spPr>
                  <a:xfrm>
                    <a:off x="2195736" y="6165304"/>
                    <a:ext cx="864096" cy="741369"/>
                  </a:xfrm>
                  <a:prstGeom prst="rect">
                    <a:avLst/>
                  </a:prstGeom>
                </p:spPr>
              </p:pic>
              <p:pic>
                <p:nvPicPr>
                  <p:cNvPr id="8" name="Image 7" descr="12-2-education-png-image-thumb.png"/>
                  <p:cNvPicPr>
                    <a:picLocks noChangeAspect="1"/>
                  </p:cNvPicPr>
                  <p:nvPr/>
                </p:nvPicPr>
                <p:blipFill>
                  <a:blip r:embed="rId4" cstate="print"/>
                  <a:stretch>
                    <a:fillRect/>
                  </a:stretch>
                </p:blipFill>
                <p:spPr>
                  <a:xfrm>
                    <a:off x="8388424" y="5976664"/>
                    <a:ext cx="720080" cy="980728"/>
                  </a:xfrm>
                  <a:prstGeom prst="rect">
                    <a:avLst/>
                  </a:prstGeom>
                </p:spPr>
              </p:pic>
              <p:sp>
                <p:nvSpPr>
                  <p:cNvPr id="9" name="ZoneTexte 8"/>
                  <p:cNvSpPr txBox="1"/>
                  <p:nvPr/>
                </p:nvSpPr>
                <p:spPr>
                  <a:xfrm>
                    <a:off x="5652120" y="6428655"/>
                    <a:ext cx="2808312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متوسطة قلواز </a:t>
                    </a:r>
                    <a:r>
                      <a:rPr lang="ar-DZ" sz="1900" b="1" dirty="0" err="1" smtClean="0">
                        <a:solidFill>
                          <a:schemeClr val="bg1"/>
                        </a:solidFill>
                      </a:rPr>
                      <a:t>موسى </a:t>
                    </a:r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- بوراشد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0" name="ZoneTexte 9"/>
                  <p:cNvSpPr txBox="1"/>
                  <p:nvPr/>
                </p:nvSpPr>
                <p:spPr>
                  <a:xfrm>
                    <a:off x="-180528" y="6396335"/>
                    <a:ext cx="2448272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2000" b="1" dirty="0" smtClean="0">
                        <a:solidFill>
                          <a:schemeClr val="bg1"/>
                        </a:solidFill>
                      </a:rPr>
                      <a:t>تصميم الأستاذ ماحي رضا</a:t>
                    </a:r>
                    <a:endParaRPr lang="fr-FR" sz="20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1" name="ZoneTexte 10"/>
                  <p:cNvSpPr txBox="1"/>
                  <p:nvPr/>
                </p:nvSpPr>
                <p:spPr>
                  <a:xfrm>
                    <a:off x="2987824" y="6428655"/>
                    <a:ext cx="2088232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المستوى:الثاني متوسط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</p:grpSp>
            <p:pic>
              <p:nvPicPr>
                <p:cNvPr id="101" name="Image 100" descr="3d print business.png"/>
                <p:cNvPicPr>
                  <a:picLocks noChangeAspect="1"/>
                </p:cNvPicPr>
                <p:nvPr/>
              </p:nvPicPr>
              <p:blipFill>
                <a:blip r:embed="rId5" cstate="print"/>
                <a:stretch>
                  <a:fillRect/>
                </a:stretch>
              </p:blipFill>
              <p:spPr>
                <a:xfrm>
                  <a:off x="4788024" y="6274668"/>
                  <a:ext cx="1440160" cy="583332"/>
                </a:xfrm>
                <a:prstGeom prst="rect">
                  <a:avLst/>
                </a:prstGeom>
              </p:spPr>
            </p:pic>
          </p:grpSp>
          <p:sp>
            <p:nvSpPr>
              <p:cNvPr id="103" name="ZoneTexte 102"/>
              <p:cNvSpPr txBox="1"/>
              <p:nvPr/>
            </p:nvSpPr>
            <p:spPr>
              <a:xfrm>
                <a:off x="6948264" y="44624"/>
                <a:ext cx="212372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 smtClean="0">
                    <a:solidFill>
                      <a:schemeClr val="bg1"/>
                    </a:solidFill>
                  </a:rPr>
                  <a:t>الحصة </a:t>
                </a:r>
                <a:r>
                  <a:rPr lang="ar-DZ" sz="2800" b="1" dirty="0" err="1" smtClean="0">
                    <a:solidFill>
                      <a:schemeClr val="bg1"/>
                    </a:solidFill>
                  </a:rPr>
                  <a:t>التعلمية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04" name="ZoneTexte 103"/>
              <p:cNvSpPr txBox="1"/>
              <p:nvPr/>
            </p:nvSpPr>
            <p:spPr>
              <a:xfrm>
                <a:off x="2915816" y="44624"/>
                <a:ext cx="208823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 smtClean="0">
                    <a:solidFill>
                      <a:schemeClr val="bg1"/>
                    </a:solidFill>
                  </a:rPr>
                  <a:t>الأشكال والصور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106" name="Image 105" descr="Microsoft_Word_2013_logo.svg.png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27584" y="33236"/>
              <a:ext cx="792087" cy="587452"/>
            </a:xfrm>
            <a:prstGeom prst="rect">
              <a:avLst/>
            </a:prstGeom>
          </p:spPr>
        </p:pic>
      </p:grpSp>
      <p:grpSp>
        <p:nvGrpSpPr>
          <p:cNvPr id="105" name="Groupe 104"/>
          <p:cNvGrpSpPr/>
          <p:nvPr/>
        </p:nvGrpSpPr>
        <p:grpSpPr>
          <a:xfrm>
            <a:off x="5868144" y="692696"/>
            <a:ext cx="2972668" cy="576064"/>
            <a:chOff x="5004048" y="2348880"/>
            <a:chExt cx="2972668" cy="576064"/>
          </a:xfrm>
        </p:grpSpPr>
        <p:grpSp>
          <p:nvGrpSpPr>
            <p:cNvPr id="107" name="Groupe 58"/>
            <p:cNvGrpSpPr/>
            <p:nvPr/>
          </p:nvGrpSpPr>
          <p:grpSpPr>
            <a:xfrm>
              <a:off x="5004048" y="2348880"/>
              <a:ext cx="2972668" cy="504056"/>
              <a:chOff x="5004048" y="2852936"/>
              <a:chExt cx="2972668" cy="576064"/>
            </a:xfrm>
          </p:grpSpPr>
          <p:sp>
            <p:nvSpPr>
              <p:cNvPr id="109" name="Notched Right Arrow 54"/>
              <p:cNvSpPr/>
              <p:nvPr/>
            </p:nvSpPr>
            <p:spPr>
              <a:xfrm flipH="1">
                <a:off x="5004048" y="3008511"/>
                <a:ext cx="2972668" cy="420489"/>
              </a:xfrm>
              <a:prstGeom prst="notchedRightArrow">
                <a:avLst>
                  <a:gd name="adj1" fmla="val 100000"/>
                  <a:gd name="adj2" fmla="val 28125"/>
                </a:avLst>
              </a:prstGeom>
              <a:ln/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11" name="Group 13"/>
              <p:cNvGrpSpPr/>
              <p:nvPr/>
            </p:nvGrpSpPr>
            <p:grpSpPr>
              <a:xfrm flipH="1">
                <a:off x="7372840" y="2852936"/>
                <a:ext cx="466716" cy="411474"/>
                <a:chOff x="1271589" y="1657350"/>
                <a:chExt cx="466716" cy="411474"/>
              </a:xfrm>
            </p:grpSpPr>
            <p:sp>
              <p:nvSpPr>
                <p:cNvPr id="112" name="Freeform 56"/>
                <p:cNvSpPr/>
                <p:nvPr/>
              </p:nvSpPr>
              <p:spPr>
                <a:xfrm>
                  <a:off x="1271589" y="1657350"/>
                  <a:ext cx="466716" cy="154781"/>
                </a:xfrm>
                <a:custGeom>
                  <a:avLst/>
                  <a:gdLst>
                    <a:gd name="connsiteX0" fmla="*/ 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104775 w 485775"/>
                    <a:gd name="connsiteY0" fmla="*/ 0 h 154781"/>
                    <a:gd name="connsiteX1" fmla="*/ 485775 w 485775"/>
                    <a:gd name="connsiteY1" fmla="*/ 0 h 154781"/>
                    <a:gd name="connsiteX2" fmla="*/ 485775 w 485775"/>
                    <a:gd name="connsiteY2" fmla="*/ 152400 h 154781"/>
                    <a:gd name="connsiteX3" fmla="*/ 0 w 485775"/>
                    <a:gd name="connsiteY3" fmla="*/ 154781 h 154781"/>
                    <a:gd name="connsiteX4" fmla="*/ 104775 w 485775"/>
                    <a:gd name="connsiteY4" fmla="*/ 0 h 1547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85775" h="154781">
                      <a:moveTo>
                        <a:pt x="104775" y="0"/>
                      </a:moveTo>
                      <a:lnTo>
                        <a:pt x="485775" y="0"/>
                      </a:lnTo>
                      <a:lnTo>
                        <a:pt x="485775" y="152400"/>
                      </a:lnTo>
                      <a:lnTo>
                        <a:pt x="0" y="154781"/>
                      </a:lnTo>
                      <a:lnTo>
                        <a:pt x="104775" y="0"/>
                      </a:lnTo>
                      <a:close/>
                    </a:path>
                  </a:pathLst>
                </a:custGeom>
                <a:ln/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3" name="Rectangle 112"/>
                <p:cNvSpPr/>
                <p:nvPr/>
              </p:nvSpPr>
              <p:spPr>
                <a:xfrm>
                  <a:off x="1371600" y="1687824"/>
                  <a:ext cx="365760" cy="381000"/>
                </a:xfrm>
                <a:prstGeom prst="rect">
                  <a:avLst/>
                </a:prstGeom>
                <a:ln/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vert="horz" wrap="none" rtlCol="0" anchor="ctr"/>
                <a:lstStyle/>
                <a:p>
                  <a:pPr algn="ctr"/>
                  <a:r>
                    <a:rPr lang="fr-FR" sz="2400" b="1" dirty="0" smtClean="0">
                      <a:solidFill>
                        <a:srgbClr val="FFFF00"/>
                      </a:solidFill>
                    </a:rPr>
                    <a:t>-</a:t>
                  </a:r>
                  <a:r>
                    <a:rPr lang="ar-DZ" sz="2400" b="1" dirty="0" smtClean="0">
                      <a:solidFill>
                        <a:srgbClr val="FFFF00"/>
                      </a:solidFill>
                    </a:rPr>
                    <a:t>د</a:t>
                  </a:r>
                  <a:endParaRPr lang="en-US" sz="2400" b="1" dirty="0">
                    <a:solidFill>
                      <a:srgbClr val="FFFF00"/>
                    </a:solidFill>
                  </a:endParaRPr>
                </a:p>
              </p:txBody>
            </p:sp>
          </p:grpSp>
        </p:grpSp>
        <p:sp>
          <p:nvSpPr>
            <p:cNvPr id="108" name="ZoneTexte 107"/>
            <p:cNvSpPr txBox="1"/>
            <p:nvPr/>
          </p:nvSpPr>
          <p:spPr>
            <a:xfrm>
              <a:off x="5292080" y="2494057"/>
              <a:ext cx="216024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1"/>
              <a:r>
                <a:rPr lang="ar-DZ" sz="2200" b="1" dirty="0" smtClean="0">
                  <a:solidFill>
                    <a:srgbClr val="FFFF00"/>
                  </a:solidFill>
                </a:rPr>
                <a:t>تجميع الأشكال:</a:t>
              </a:r>
              <a:endParaRPr lang="fr-FR" sz="2200" b="1" dirty="0">
                <a:solidFill>
                  <a:srgbClr val="FFFF00"/>
                </a:solidFill>
              </a:endParaRPr>
            </a:p>
          </p:txBody>
        </p:sp>
      </p:grpSp>
      <p:grpSp>
        <p:nvGrpSpPr>
          <p:cNvPr id="114" name="Group 104"/>
          <p:cNvGrpSpPr/>
          <p:nvPr/>
        </p:nvGrpSpPr>
        <p:grpSpPr>
          <a:xfrm>
            <a:off x="251520" y="1389142"/>
            <a:ext cx="8632181" cy="527690"/>
            <a:chOff x="-3923192" y="1173645"/>
            <a:chExt cx="8283022" cy="1114425"/>
          </a:xfrm>
        </p:grpSpPr>
        <p:sp>
          <p:nvSpPr>
            <p:cNvPr id="115" name="Rectangle 114"/>
            <p:cNvSpPr/>
            <p:nvPr/>
          </p:nvSpPr>
          <p:spPr>
            <a:xfrm flipH="1">
              <a:off x="3947080" y="1373670"/>
              <a:ext cx="412750" cy="91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6" name="Freeform 106"/>
            <p:cNvSpPr/>
            <p:nvPr/>
          </p:nvSpPr>
          <p:spPr>
            <a:xfrm rot="5400000" flipH="1">
              <a:off x="3527344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7" name="Rectangle 116"/>
            <p:cNvSpPr/>
            <p:nvPr/>
          </p:nvSpPr>
          <p:spPr>
            <a:xfrm flipH="1">
              <a:off x="-3923192" y="1373671"/>
              <a:ext cx="7508320" cy="9143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8" name="Freeform 108"/>
            <p:cNvSpPr/>
            <p:nvPr/>
          </p:nvSpPr>
          <p:spPr>
            <a:xfrm rot="16200000" flipH="1" flipV="1">
              <a:off x="2887581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9" name="Rectangle 118"/>
            <p:cNvSpPr/>
            <p:nvPr/>
          </p:nvSpPr>
          <p:spPr>
            <a:xfrm flipH="1">
              <a:off x="3306524" y="1173645"/>
              <a:ext cx="914400" cy="9144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/>
            </a:p>
          </p:txBody>
        </p:sp>
      </p:grpSp>
      <p:grpSp>
        <p:nvGrpSpPr>
          <p:cNvPr id="120" name="Group 118"/>
          <p:cNvGrpSpPr/>
          <p:nvPr/>
        </p:nvGrpSpPr>
        <p:grpSpPr>
          <a:xfrm>
            <a:off x="2267744" y="2132856"/>
            <a:ext cx="6624736" cy="515063"/>
            <a:chOff x="-1864878" y="2392845"/>
            <a:chExt cx="6224708" cy="1114425"/>
          </a:xfrm>
        </p:grpSpPr>
        <p:sp>
          <p:nvSpPr>
            <p:cNvPr id="121" name="Rectangle 120"/>
            <p:cNvSpPr/>
            <p:nvPr/>
          </p:nvSpPr>
          <p:spPr>
            <a:xfrm flipH="1">
              <a:off x="3947080" y="2592870"/>
              <a:ext cx="412750" cy="914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2" name="Freeform 120"/>
            <p:cNvSpPr/>
            <p:nvPr/>
          </p:nvSpPr>
          <p:spPr>
            <a:xfrm rot="5400000" flipH="1">
              <a:off x="3527344" y="28128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3" name="Rectangle 122"/>
            <p:cNvSpPr/>
            <p:nvPr/>
          </p:nvSpPr>
          <p:spPr>
            <a:xfrm flipH="1">
              <a:off x="-1864878" y="2592870"/>
              <a:ext cx="5450008" cy="914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4" name="Freeform 122"/>
            <p:cNvSpPr/>
            <p:nvPr/>
          </p:nvSpPr>
          <p:spPr>
            <a:xfrm rot="16200000" flipH="1" flipV="1">
              <a:off x="2887581" y="28128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5" name="Rectangle 124"/>
            <p:cNvSpPr/>
            <p:nvPr/>
          </p:nvSpPr>
          <p:spPr>
            <a:xfrm flipH="1">
              <a:off x="3306524" y="2392845"/>
              <a:ext cx="914400" cy="9144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/>
            </a:p>
          </p:txBody>
        </p:sp>
      </p:grpSp>
      <p:grpSp>
        <p:nvGrpSpPr>
          <p:cNvPr id="126" name="Group 132"/>
          <p:cNvGrpSpPr/>
          <p:nvPr/>
        </p:nvGrpSpPr>
        <p:grpSpPr>
          <a:xfrm>
            <a:off x="2915816" y="2823266"/>
            <a:ext cx="5981831" cy="533726"/>
            <a:chOff x="-1380515" y="3612045"/>
            <a:chExt cx="5740345" cy="1114425"/>
          </a:xfrm>
        </p:grpSpPr>
        <p:sp>
          <p:nvSpPr>
            <p:cNvPr id="127" name="Rectangle 126"/>
            <p:cNvSpPr/>
            <p:nvPr/>
          </p:nvSpPr>
          <p:spPr>
            <a:xfrm flipH="1">
              <a:off x="3947080" y="3812070"/>
              <a:ext cx="412750" cy="9144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8" name="Freeform 134"/>
            <p:cNvSpPr/>
            <p:nvPr/>
          </p:nvSpPr>
          <p:spPr>
            <a:xfrm rot="5400000" flipH="1">
              <a:off x="3527344" y="40320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9" name="Rectangle 128"/>
            <p:cNvSpPr/>
            <p:nvPr/>
          </p:nvSpPr>
          <p:spPr>
            <a:xfrm flipH="1">
              <a:off x="-1380515" y="3812070"/>
              <a:ext cx="4965646" cy="9144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1" name="Freeform 136"/>
            <p:cNvSpPr/>
            <p:nvPr/>
          </p:nvSpPr>
          <p:spPr>
            <a:xfrm rot="16200000" flipH="1" flipV="1">
              <a:off x="2887581" y="40320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2" name="Rectangle 191"/>
            <p:cNvSpPr/>
            <p:nvPr/>
          </p:nvSpPr>
          <p:spPr>
            <a:xfrm flipH="1">
              <a:off x="3306524" y="3612045"/>
              <a:ext cx="914400" cy="914400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/>
            </a:p>
          </p:txBody>
        </p:sp>
      </p:grpSp>
      <p:sp>
        <p:nvSpPr>
          <p:cNvPr id="193" name="Rectangle 192"/>
          <p:cNvSpPr/>
          <p:nvPr/>
        </p:nvSpPr>
        <p:spPr>
          <a:xfrm>
            <a:off x="457200" y="1495301"/>
            <a:ext cx="728315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lang="ar-SA" sz="2000" b="1" dirty="0" smtClean="0">
                <a:solidFill>
                  <a:schemeClr val="bg1"/>
                </a:solidFill>
              </a:rPr>
              <a:t> </a:t>
            </a:r>
            <a:r>
              <a:rPr lang="ar-DZ" sz="2000" b="1" dirty="0">
                <a:solidFill>
                  <a:schemeClr val="bg1"/>
                </a:solidFill>
                <a:ea typeface="Times New Roman"/>
                <a:cs typeface="Times New Roman"/>
              </a:rPr>
              <a:t>نضغط على المفتاح </a:t>
            </a:r>
            <a:r>
              <a:rPr lang="fr-FR" sz="2000" b="1" dirty="0">
                <a:solidFill>
                  <a:schemeClr val="bg1"/>
                </a:solidFill>
                <a:latin typeface="Times New Roman"/>
                <a:ea typeface="Times New Roman"/>
              </a:rPr>
              <a:t> Ctrl</a:t>
            </a:r>
            <a:r>
              <a:rPr lang="ar-DZ" sz="2000" b="1" dirty="0">
                <a:solidFill>
                  <a:schemeClr val="bg1"/>
                </a:solidFill>
                <a:latin typeface="Times New Roman"/>
                <a:ea typeface="Times New Roman"/>
              </a:rPr>
              <a:t>من لوحة المفاتيح باستمرار ونحدد الأشكال عندما </a:t>
            </a:r>
            <a:r>
              <a:rPr lang="ar-DZ" sz="2000" b="1" dirty="0" smtClean="0">
                <a:solidFill>
                  <a:schemeClr val="bg1"/>
                </a:solidFill>
                <a:latin typeface="Times New Roman"/>
                <a:ea typeface="Times New Roman"/>
              </a:rPr>
              <a:t>يظهر     . </a:t>
            </a:r>
            <a:endParaRPr lang="fr-FR" b="1" dirty="0">
              <a:solidFill>
                <a:schemeClr val="bg1"/>
              </a:solidFill>
              <a:latin typeface="Times New Roman"/>
              <a:ea typeface="Times New Roman"/>
            </a:endParaRPr>
          </a:p>
        </p:txBody>
      </p:sp>
      <p:sp>
        <p:nvSpPr>
          <p:cNvPr id="194" name="Rectangle 193"/>
          <p:cNvSpPr/>
          <p:nvPr/>
        </p:nvSpPr>
        <p:spPr>
          <a:xfrm>
            <a:off x="8156791" y="1414001"/>
            <a:ext cx="261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b="1" dirty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sp>
        <p:nvSpPr>
          <p:cNvPr id="195" name="Rectangle 194"/>
          <p:cNvSpPr/>
          <p:nvPr/>
        </p:nvSpPr>
        <p:spPr>
          <a:xfrm>
            <a:off x="8170736" y="2132856"/>
            <a:ext cx="261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b="1" dirty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sp>
        <p:nvSpPr>
          <p:cNvPr id="196" name="Rectangle 195"/>
          <p:cNvSpPr/>
          <p:nvPr/>
        </p:nvSpPr>
        <p:spPr>
          <a:xfrm>
            <a:off x="8170439" y="2895273"/>
            <a:ext cx="261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b="1" dirty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sp>
        <p:nvSpPr>
          <p:cNvPr id="197" name="Rectangle 196"/>
          <p:cNvSpPr/>
          <p:nvPr/>
        </p:nvSpPr>
        <p:spPr>
          <a:xfrm>
            <a:off x="2483767" y="2236802"/>
            <a:ext cx="52734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ar-DZ" sz="2000" b="1" dirty="0">
                <a:solidFill>
                  <a:schemeClr val="bg1"/>
                </a:solidFill>
                <a:ea typeface="Times New Roman"/>
                <a:cs typeface="Times New Roman"/>
              </a:rPr>
              <a:t>ننقر  بالزر الأيمن للفأرة على الأشكال عندما يظهر </a:t>
            </a:r>
            <a:r>
              <a:rPr lang="ar-DZ" sz="20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الشكل      . </a:t>
            </a:r>
            <a:endParaRPr lang="fr-FR" sz="2000" dirty="0">
              <a:solidFill>
                <a:schemeClr val="bg1"/>
              </a:solidFill>
            </a:endParaRPr>
          </a:p>
        </p:txBody>
      </p:sp>
      <p:sp>
        <p:nvSpPr>
          <p:cNvPr id="198" name="Rectangle 197"/>
          <p:cNvSpPr/>
          <p:nvPr/>
        </p:nvSpPr>
        <p:spPr>
          <a:xfrm>
            <a:off x="3073224" y="2956882"/>
            <a:ext cx="472796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r" rtl="1"/>
            <a:r>
              <a:rPr lang="ar-DZ" sz="2000" b="1" dirty="0">
                <a:solidFill>
                  <a:schemeClr val="bg1"/>
                </a:solidFill>
                <a:ea typeface="Times New Roman"/>
                <a:cs typeface="Times New Roman"/>
              </a:rPr>
              <a:t>نختار من القائمة التي تظهر </a:t>
            </a:r>
            <a:r>
              <a:rPr lang="fr-FR" sz="2000" b="1" dirty="0">
                <a:solidFill>
                  <a:schemeClr val="bg1"/>
                </a:solidFill>
                <a:latin typeface="Times New Roman"/>
                <a:ea typeface="Times New Roman"/>
              </a:rPr>
              <a:t>Groupe</a:t>
            </a:r>
            <a:r>
              <a:rPr lang="ar-DZ" sz="2000" b="1" dirty="0">
                <a:solidFill>
                  <a:schemeClr val="bg1"/>
                </a:solidFill>
                <a:latin typeface="Times New Roman"/>
                <a:ea typeface="Times New Roman"/>
              </a:rPr>
              <a:t> ثم </a:t>
            </a:r>
            <a:r>
              <a:rPr lang="fr-FR" sz="2000" b="1" dirty="0" smtClean="0">
                <a:solidFill>
                  <a:schemeClr val="bg1"/>
                </a:solidFill>
                <a:latin typeface="Times New Roman"/>
                <a:ea typeface="Times New Roman"/>
              </a:rPr>
              <a:t>Grouper</a:t>
            </a:r>
            <a:r>
              <a:rPr lang="ar-DZ" sz="2000" b="1" dirty="0" smtClean="0">
                <a:solidFill>
                  <a:schemeClr val="bg1"/>
                </a:solidFill>
                <a:ea typeface="Times New Roman"/>
              </a:rPr>
              <a:t>.</a:t>
            </a:r>
            <a:endParaRPr lang="fr-FR" sz="2000" dirty="0">
              <a:solidFill>
                <a:schemeClr val="bg1"/>
              </a:solidFill>
              <a:ea typeface="Times New Roman"/>
            </a:endParaRPr>
          </a:p>
        </p:txBody>
      </p:sp>
      <p:grpSp>
        <p:nvGrpSpPr>
          <p:cNvPr id="199" name="Groupe 198"/>
          <p:cNvGrpSpPr/>
          <p:nvPr/>
        </p:nvGrpSpPr>
        <p:grpSpPr>
          <a:xfrm>
            <a:off x="5868144" y="3645024"/>
            <a:ext cx="2972668" cy="576064"/>
            <a:chOff x="5004048" y="2348880"/>
            <a:chExt cx="2972668" cy="576064"/>
          </a:xfrm>
        </p:grpSpPr>
        <p:grpSp>
          <p:nvGrpSpPr>
            <p:cNvPr id="200" name="Groupe 58"/>
            <p:cNvGrpSpPr/>
            <p:nvPr/>
          </p:nvGrpSpPr>
          <p:grpSpPr>
            <a:xfrm>
              <a:off x="5004048" y="2348880"/>
              <a:ext cx="2972668" cy="504056"/>
              <a:chOff x="5004048" y="2852936"/>
              <a:chExt cx="2972668" cy="576064"/>
            </a:xfrm>
          </p:grpSpPr>
          <p:sp>
            <p:nvSpPr>
              <p:cNvPr id="202" name="Notched Right Arrow 54"/>
              <p:cNvSpPr/>
              <p:nvPr/>
            </p:nvSpPr>
            <p:spPr>
              <a:xfrm flipH="1">
                <a:off x="5004048" y="3008511"/>
                <a:ext cx="2972668" cy="420489"/>
              </a:xfrm>
              <a:prstGeom prst="notchedRightArrow">
                <a:avLst>
                  <a:gd name="adj1" fmla="val 100000"/>
                  <a:gd name="adj2" fmla="val 28125"/>
                </a:avLst>
              </a:prstGeom>
              <a:ln/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03" name="Group 13"/>
              <p:cNvGrpSpPr/>
              <p:nvPr/>
            </p:nvGrpSpPr>
            <p:grpSpPr>
              <a:xfrm flipH="1">
                <a:off x="7372840" y="2852936"/>
                <a:ext cx="466716" cy="411474"/>
                <a:chOff x="1271589" y="1657350"/>
                <a:chExt cx="466716" cy="411474"/>
              </a:xfrm>
            </p:grpSpPr>
            <p:sp>
              <p:nvSpPr>
                <p:cNvPr id="204" name="Freeform 56"/>
                <p:cNvSpPr/>
                <p:nvPr/>
              </p:nvSpPr>
              <p:spPr>
                <a:xfrm>
                  <a:off x="1271589" y="1657350"/>
                  <a:ext cx="466716" cy="154781"/>
                </a:xfrm>
                <a:custGeom>
                  <a:avLst/>
                  <a:gdLst>
                    <a:gd name="connsiteX0" fmla="*/ 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104775 w 485775"/>
                    <a:gd name="connsiteY0" fmla="*/ 0 h 154781"/>
                    <a:gd name="connsiteX1" fmla="*/ 485775 w 485775"/>
                    <a:gd name="connsiteY1" fmla="*/ 0 h 154781"/>
                    <a:gd name="connsiteX2" fmla="*/ 485775 w 485775"/>
                    <a:gd name="connsiteY2" fmla="*/ 152400 h 154781"/>
                    <a:gd name="connsiteX3" fmla="*/ 0 w 485775"/>
                    <a:gd name="connsiteY3" fmla="*/ 154781 h 154781"/>
                    <a:gd name="connsiteX4" fmla="*/ 104775 w 485775"/>
                    <a:gd name="connsiteY4" fmla="*/ 0 h 1547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85775" h="154781">
                      <a:moveTo>
                        <a:pt x="104775" y="0"/>
                      </a:moveTo>
                      <a:lnTo>
                        <a:pt x="485775" y="0"/>
                      </a:lnTo>
                      <a:lnTo>
                        <a:pt x="485775" y="152400"/>
                      </a:lnTo>
                      <a:lnTo>
                        <a:pt x="0" y="154781"/>
                      </a:lnTo>
                      <a:lnTo>
                        <a:pt x="104775" y="0"/>
                      </a:lnTo>
                      <a:close/>
                    </a:path>
                  </a:pathLst>
                </a:custGeom>
                <a:ln/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5" name="Rectangle 204"/>
                <p:cNvSpPr/>
                <p:nvPr/>
              </p:nvSpPr>
              <p:spPr>
                <a:xfrm>
                  <a:off x="1371600" y="1687824"/>
                  <a:ext cx="365760" cy="381000"/>
                </a:xfrm>
                <a:prstGeom prst="rect">
                  <a:avLst/>
                </a:prstGeom>
                <a:ln/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vert="horz" wrap="none" rtlCol="0" anchor="ctr"/>
                <a:lstStyle/>
                <a:p>
                  <a:pPr algn="ctr"/>
                  <a:r>
                    <a:rPr lang="fr-FR" sz="2400" b="1" dirty="0" smtClean="0">
                      <a:solidFill>
                        <a:srgbClr val="FFFF00"/>
                      </a:solidFill>
                    </a:rPr>
                    <a:t>-</a:t>
                  </a:r>
                  <a:r>
                    <a:rPr lang="ar-DZ" sz="2400" b="1" dirty="0" smtClean="0">
                      <a:solidFill>
                        <a:srgbClr val="FFFF00"/>
                      </a:solidFill>
                    </a:rPr>
                    <a:t>ب</a:t>
                  </a:r>
                  <a:endParaRPr lang="en-US" sz="2400" b="1" dirty="0">
                    <a:solidFill>
                      <a:srgbClr val="FFFF00"/>
                    </a:solidFill>
                  </a:endParaRPr>
                </a:p>
              </p:txBody>
            </p:sp>
          </p:grpSp>
        </p:grpSp>
        <p:sp>
          <p:nvSpPr>
            <p:cNvPr id="201" name="ZoneTexte 200"/>
            <p:cNvSpPr txBox="1"/>
            <p:nvPr/>
          </p:nvSpPr>
          <p:spPr>
            <a:xfrm>
              <a:off x="5292080" y="2494057"/>
              <a:ext cx="216024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1"/>
              <a:r>
                <a:rPr lang="ar-DZ" sz="2200" b="1" dirty="0" smtClean="0">
                  <a:solidFill>
                    <a:srgbClr val="FFFF00"/>
                  </a:solidFill>
                </a:rPr>
                <a:t>فك تجميع الأشكال:</a:t>
              </a:r>
              <a:endParaRPr lang="fr-FR" sz="2200" b="1" dirty="0">
                <a:solidFill>
                  <a:srgbClr val="FFFF00"/>
                </a:solidFill>
              </a:endParaRPr>
            </a:p>
          </p:txBody>
        </p:sp>
      </p:grpSp>
      <p:grpSp>
        <p:nvGrpSpPr>
          <p:cNvPr id="206" name="Group 104"/>
          <p:cNvGrpSpPr/>
          <p:nvPr/>
        </p:nvGrpSpPr>
        <p:grpSpPr>
          <a:xfrm>
            <a:off x="1619670" y="4485486"/>
            <a:ext cx="7264031" cy="527690"/>
            <a:chOff x="-2610382" y="1173645"/>
            <a:chExt cx="6970212" cy="1114425"/>
          </a:xfrm>
        </p:grpSpPr>
        <p:sp>
          <p:nvSpPr>
            <p:cNvPr id="207" name="Rectangle 206"/>
            <p:cNvSpPr/>
            <p:nvPr/>
          </p:nvSpPr>
          <p:spPr>
            <a:xfrm flipH="1">
              <a:off x="3947080" y="1373670"/>
              <a:ext cx="412750" cy="91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8" name="Freeform 106"/>
            <p:cNvSpPr/>
            <p:nvPr/>
          </p:nvSpPr>
          <p:spPr>
            <a:xfrm rot="5400000" flipH="1">
              <a:off x="3527344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9" name="Rectangle 208"/>
            <p:cNvSpPr/>
            <p:nvPr/>
          </p:nvSpPr>
          <p:spPr>
            <a:xfrm flipH="1">
              <a:off x="-2610382" y="1373671"/>
              <a:ext cx="6195506" cy="9143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0" name="Freeform 108"/>
            <p:cNvSpPr/>
            <p:nvPr/>
          </p:nvSpPr>
          <p:spPr>
            <a:xfrm rot="16200000" flipH="1" flipV="1">
              <a:off x="2887581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1" name="Rectangle 210"/>
            <p:cNvSpPr/>
            <p:nvPr/>
          </p:nvSpPr>
          <p:spPr>
            <a:xfrm flipH="1">
              <a:off x="3306524" y="1173645"/>
              <a:ext cx="914400" cy="9144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/>
            </a:p>
          </p:txBody>
        </p:sp>
      </p:grpSp>
      <p:grpSp>
        <p:nvGrpSpPr>
          <p:cNvPr id="212" name="Group 118"/>
          <p:cNvGrpSpPr/>
          <p:nvPr/>
        </p:nvGrpSpPr>
        <p:grpSpPr>
          <a:xfrm>
            <a:off x="2627784" y="5290201"/>
            <a:ext cx="6264696" cy="515063"/>
            <a:chOff x="-1526578" y="2392845"/>
            <a:chExt cx="5886408" cy="1114425"/>
          </a:xfrm>
        </p:grpSpPr>
        <p:sp>
          <p:nvSpPr>
            <p:cNvPr id="213" name="Rectangle 212"/>
            <p:cNvSpPr/>
            <p:nvPr/>
          </p:nvSpPr>
          <p:spPr>
            <a:xfrm flipH="1">
              <a:off x="3947080" y="2592870"/>
              <a:ext cx="412750" cy="914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4" name="Freeform 120"/>
            <p:cNvSpPr/>
            <p:nvPr/>
          </p:nvSpPr>
          <p:spPr>
            <a:xfrm rot="5400000" flipH="1">
              <a:off x="3527344" y="28128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5" name="Rectangle 214"/>
            <p:cNvSpPr/>
            <p:nvPr/>
          </p:nvSpPr>
          <p:spPr>
            <a:xfrm flipH="1">
              <a:off x="-1526578" y="2592870"/>
              <a:ext cx="5111708" cy="914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6" name="Freeform 122"/>
            <p:cNvSpPr/>
            <p:nvPr/>
          </p:nvSpPr>
          <p:spPr>
            <a:xfrm rot="16200000" flipH="1" flipV="1">
              <a:off x="2887581" y="28128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7" name="Rectangle 216"/>
            <p:cNvSpPr/>
            <p:nvPr/>
          </p:nvSpPr>
          <p:spPr>
            <a:xfrm flipH="1">
              <a:off x="3306524" y="2392845"/>
              <a:ext cx="914400" cy="9144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/>
            </a:p>
          </p:txBody>
        </p:sp>
      </p:grpSp>
      <p:sp>
        <p:nvSpPr>
          <p:cNvPr id="218" name="Rectangle 217"/>
          <p:cNvSpPr/>
          <p:nvPr/>
        </p:nvSpPr>
        <p:spPr>
          <a:xfrm>
            <a:off x="1835696" y="4591645"/>
            <a:ext cx="590465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lang="ar-SA" sz="2000" b="1" dirty="0" smtClean="0">
                <a:solidFill>
                  <a:schemeClr val="bg1"/>
                </a:solidFill>
              </a:rPr>
              <a:t> </a:t>
            </a:r>
            <a:r>
              <a:rPr lang="ar-DZ" sz="2000" b="1" dirty="0">
                <a:solidFill>
                  <a:schemeClr val="bg1"/>
                </a:solidFill>
                <a:ea typeface="Times New Roman"/>
                <a:cs typeface="Times New Roman"/>
              </a:rPr>
              <a:t>ننقر  بالزر الأيمن للفأرة على  الشكل المجمع  عندما يظهر الشكل </a:t>
            </a:r>
            <a:r>
              <a:rPr lang="ar-DZ" sz="20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    </a:t>
            </a:r>
            <a:r>
              <a:rPr lang="ar-SA" sz="2000" b="1" dirty="0" smtClean="0">
                <a:solidFill>
                  <a:schemeClr val="bg1"/>
                </a:solidFill>
              </a:rPr>
              <a:t>.</a:t>
            </a:r>
            <a:endParaRPr lang="fr-FR" b="1" dirty="0">
              <a:solidFill>
                <a:schemeClr val="bg1"/>
              </a:solidFill>
              <a:latin typeface="Times New Roman"/>
              <a:ea typeface="Times New Roman"/>
            </a:endParaRPr>
          </a:p>
        </p:txBody>
      </p:sp>
      <p:sp>
        <p:nvSpPr>
          <p:cNvPr id="219" name="Rectangle 218"/>
          <p:cNvSpPr/>
          <p:nvPr/>
        </p:nvSpPr>
        <p:spPr>
          <a:xfrm>
            <a:off x="8156791" y="4510345"/>
            <a:ext cx="261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b="1" dirty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sp>
        <p:nvSpPr>
          <p:cNvPr id="220" name="Rectangle 219"/>
          <p:cNvSpPr/>
          <p:nvPr/>
        </p:nvSpPr>
        <p:spPr>
          <a:xfrm>
            <a:off x="8170736" y="5290201"/>
            <a:ext cx="261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b="1" dirty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sp>
        <p:nvSpPr>
          <p:cNvPr id="221" name="Rectangle 220"/>
          <p:cNvSpPr/>
          <p:nvPr/>
        </p:nvSpPr>
        <p:spPr>
          <a:xfrm>
            <a:off x="2915816" y="5362209"/>
            <a:ext cx="475656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ar-DZ" sz="2000" b="1" dirty="0">
                <a:solidFill>
                  <a:schemeClr val="bg1"/>
                </a:solidFill>
              </a:rPr>
              <a:t>نختار من القائمة التي تظهر </a:t>
            </a:r>
            <a:r>
              <a:rPr lang="fr-FR" sz="2000" b="1" dirty="0">
                <a:solidFill>
                  <a:schemeClr val="bg1"/>
                </a:solidFill>
              </a:rPr>
              <a:t>Groupe</a:t>
            </a:r>
            <a:r>
              <a:rPr lang="ar-DZ" sz="2000" b="1" dirty="0">
                <a:solidFill>
                  <a:schemeClr val="bg1"/>
                </a:solidFill>
              </a:rPr>
              <a:t> ثم </a:t>
            </a:r>
            <a:r>
              <a:rPr lang="fr-FR" sz="2000" b="1" dirty="0" smtClean="0">
                <a:solidFill>
                  <a:schemeClr val="bg1"/>
                </a:solidFill>
              </a:rPr>
              <a:t>Dissocier</a:t>
            </a:r>
            <a:r>
              <a:rPr lang="ar-DZ" sz="2000" b="1" dirty="0" smtClean="0">
                <a:solidFill>
                  <a:schemeClr val="bg1"/>
                </a:solidFill>
                <a:latin typeface="Times New Roman"/>
                <a:ea typeface="Times New Roman"/>
              </a:rPr>
              <a:t>.</a:t>
            </a:r>
            <a:endParaRPr lang="fr-FR" sz="2000" dirty="0">
              <a:solidFill>
                <a:schemeClr val="bg1"/>
              </a:solidFill>
            </a:endParaRPr>
          </a:p>
        </p:txBody>
      </p:sp>
      <p:grpSp>
        <p:nvGrpSpPr>
          <p:cNvPr id="5" name="Group 2"/>
          <p:cNvGrpSpPr>
            <a:grpSpLocks/>
          </p:cNvGrpSpPr>
          <p:nvPr/>
        </p:nvGrpSpPr>
        <p:grpSpPr bwMode="auto">
          <a:xfrm>
            <a:off x="709382" y="1553831"/>
            <a:ext cx="161925" cy="268287"/>
            <a:chOff x="1140" y="14160"/>
            <a:chExt cx="255" cy="422"/>
          </a:xfrm>
          <a:solidFill>
            <a:srgbClr val="FFFF00"/>
          </a:solidFill>
        </p:grpSpPr>
        <p:sp>
          <p:nvSpPr>
            <p:cNvPr id="6" name="Flèche vers le haut 4"/>
            <p:cNvSpPr>
              <a:spLocks noChangeArrowheads="1"/>
            </p:cNvSpPr>
            <p:nvPr/>
          </p:nvSpPr>
          <p:spPr bwMode="auto">
            <a:xfrm rot="-1189252">
              <a:off x="1140" y="14266"/>
              <a:ext cx="97" cy="316"/>
            </a:xfrm>
            <a:prstGeom prst="upArrow">
              <a:avLst>
                <a:gd name="adj1" fmla="val 46667"/>
                <a:gd name="adj2" fmla="val 50073"/>
              </a:avLst>
            </a:prstGeom>
            <a:grpFill/>
            <a:ln w="25400" algn="ctr">
              <a:solidFill>
                <a:srgbClr val="262626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grpSp>
          <p:nvGrpSpPr>
            <p:cNvPr id="13" name="Group 4"/>
            <p:cNvGrpSpPr>
              <a:grpSpLocks/>
            </p:cNvGrpSpPr>
            <p:nvPr/>
          </p:nvGrpSpPr>
          <p:grpSpPr bwMode="auto">
            <a:xfrm>
              <a:off x="1230" y="14160"/>
              <a:ext cx="165" cy="196"/>
              <a:chOff x="1230" y="14085"/>
              <a:chExt cx="225" cy="241"/>
            </a:xfrm>
            <a:grpFill/>
          </p:grpSpPr>
          <p:cxnSp>
            <p:nvCxnSpPr>
              <p:cNvPr id="29" name="Connecteur droit 7"/>
              <p:cNvCxnSpPr>
                <a:cxnSpLocks noChangeShapeType="1"/>
              </p:cNvCxnSpPr>
              <p:nvPr/>
            </p:nvCxnSpPr>
            <p:spPr bwMode="auto">
              <a:xfrm flipH="1">
                <a:off x="1230" y="14215"/>
                <a:ext cx="225" cy="0"/>
              </a:xfrm>
              <a:prstGeom prst="line">
                <a:avLst/>
              </a:prstGeom>
              <a:grpFill/>
              <a:ln w="28575" algn="ctr">
                <a:solidFill>
                  <a:srgbClr val="000000"/>
                </a:solidFill>
                <a:round/>
                <a:headEnd/>
                <a:tailEnd/>
              </a:ln>
              <a:extLst/>
            </p:spPr>
          </p:cxnSp>
          <p:cxnSp>
            <p:nvCxnSpPr>
              <p:cNvPr id="30" name="Connecteur droit 8"/>
              <p:cNvCxnSpPr>
                <a:cxnSpLocks noChangeShapeType="1"/>
              </p:cNvCxnSpPr>
              <p:nvPr/>
            </p:nvCxnSpPr>
            <p:spPr bwMode="auto">
              <a:xfrm>
                <a:off x="1333" y="14085"/>
                <a:ext cx="0" cy="241"/>
              </a:xfrm>
              <a:prstGeom prst="line">
                <a:avLst/>
              </a:prstGeom>
              <a:grpFill/>
              <a:ln w="28575" algn="ctr">
                <a:solidFill>
                  <a:srgbClr val="000000"/>
                </a:solidFill>
                <a:round/>
                <a:headEnd/>
                <a:tailEnd/>
              </a:ln>
              <a:extLst/>
            </p:spPr>
          </p:cxnSp>
        </p:grpSp>
      </p:grpSp>
      <p:grpSp>
        <p:nvGrpSpPr>
          <p:cNvPr id="31" name="Group 7"/>
          <p:cNvGrpSpPr>
            <a:grpSpLocks/>
          </p:cNvGrpSpPr>
          <p:nvPr/>
        </p:nvGrpSpPr>
        <p:grpSpPr bwMode="auto">
          <a:xfrm>
            <a:off x="2062386" y="4663338"/>
            <a:ext cx="266700" cy="266700"/>
            <a:chOff x="3255" y="7035"/>
            <a:chExt cx="420" cy="435"/>
          </a:xfrm>
        </p:grpSpPr>
        <p:cxnSp>
          <p:nvCxnSpPr>
            <p:cNvPr id="3080" name="AutoShape 8"/>
            <p:cNvCxnSpPr>
              <a:cxnSpLocks noChangeShapeType="1"/>
            </p:cNvCxnSpPr>
            <p:nvPr/>
          </p:nvCxnSpPr>
          <p:spPr bwMode="auto">
            <a:xfrm flipH="1">
              <a:off x="3255" y="7260"/>
              <a:ext cx="420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81" name="AutoShape 9"/>
            <p:cNvCxnSpPr>
              <a:cxnSpLocks noChangeShapeType="1"/>
            </p:cNvCxnSpPr>
            <p:nvPr/>
          </p:nvCxnSpPr>
          <p:spPr bwMode="auto">
            <a:xfrm>
              <a:off x="3465" y="7035"/>
              <a:ext cx="0" cy="43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22" name="Group 7"/>
          <p:cNvGrpSpPr>
            <a:grpSpLocks/>
          </p:cNvGrpSpPr>
          <p:nvPr/>
        </p:nvGrpSpPr>
        <p:grpSpPr bwMode="auto">
          <a:xfrm>
            <a:off x="2782466" y="2338025"/>
            <a:ext cx="266700" cy="266700"/>
            <a:chOff x="3255" y="7035"/>
            <a:chExt cx="420" cy="435"/>
          </a:xfrm>
        </p:grpSpPr>
        <p:cxnSp>
          <p:nvCxnSpPr>
            <p:cNvPr id="223" name="AutoShape 8"/>
            <p:cNvCxnSpPr>
              <a:cxnSpLocks noChangeShapeType="1"/>
            </p:cNvCxnSpPr>
            <p:nvPr/>
          </p:nvCxnSpPr>
          <p:spPr bwMode="auto">
            <a:xfrm flipH="1">
              <a:off x="3255" y="7260"/>
              <a:ext cx="420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4" name="AutoShape 9"/>
            <p:cNvCxnSpPr>
              <a:cxnSpLocks noChangeShapeType="1"/>
            </p:cNvCxnSpPr>
            <p:nvPr/>
          </p:nvCxnSpPr>
          <p:spPr bwMode="auto">
            <a:xfrm>
              <a:off x="3465" y="7035"/>
              <a:ext cx="0" cy="43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500"/>
                            </p:stCondLst>
                            <p:childTnLst>
                              <p:par>
                                <p:cTn id="3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000"/>
                            </p:stCondLst>
                            <p:childTnLst>
                              <p:par>
                                <p:cTn id="4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500"/>
                            </p:stCondLst>
                            <p:childTnLst>
                              <p:par>
                                <p:cTn id="4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0"/>
                            </p:stCondLst>
                            <p:childTnLst>
                              <p:par>
                                <p:cTn id="5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3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500"/>
                            </p:stCondLst>
                            <p:childTnLst>
                              <p:par>
                                <p:cTn id="5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6000"/>
                            </p:stCondLst>
                            <p:childTnLst>
                              <p:par>
                                <p:cTn id="6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3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6500"/>
                            </p:stCondLst>
                            <p:childTnLst>
                              <p:par>
                                <p:cTn id="6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7500"/>
                            </p:stCondLst>
                            <p:childTnLst>
                              <p:par>
                                <p:cTn id="7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3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8000"/>
                            </p:stCondLst>
                            <p:childTnLst>
                              <p:par>
                                <p:cTn id="7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8500"/>
                            </p:stCondLst>
                            <p:childTnLst>
                              <p:par>
                                <p:cTn id="8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3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9000"/>
                            </p:stCondLst>
                            <p:childTnLst>
                              <p:par>
                                <p:cTn id="8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9500"/>
                            </p:stCondLst>
                            <p:childTnLst>
                              <p:par>
                                <p:cTn id="9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3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0000"/>
                            </p:stCondLst>
                            <p:childTnLst>
                              <p:par>
                                <p:cTn id="9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0500"/>
                            </p:stCondLst>
                            <p:childTnLst>
                              <p:par>
                                <p:cTn id="10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3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3" grpId="0"/>
      <p:bldP spid="194" grpId="0"/>
      <p:bldP spid="195" grpId="0"/>
      <p:bldP spid="196" grpId="0"/>
      <p:bldP spid="197" grpId="0"/>
      <p:bldP spid="198" grpId="0"/>
      <p:bldP spid="218" grpId="0"/>
      <p:bldP spid="219" grpId="0"/>
      <p:bldP spid="220" grpId="0"/>
      <p:bldP spid="22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Image 59" descr="shutterstock_17221542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-19508" y="620688"/>
            <a:ext cx="9144000" cy="5616624"/>
          </a:xfrm>
          <a:prstGeom prst="rect">
            <a:avLst/>
          </a:prstGeom>
        </p:spPr>
      </p:pic>
      <p:sp>
        <p:nvSpPr>
          <p:cNvPr id="61" name="Pensées 60"/>
          <p:cNvSpPr/>
          <p:nvPr/>
        </p:nvSpPr>
        <p:spPr>
          <a:xfrm>
            <a:off x="179512" y="836712"/>
            <a:ext cx="4896544" cy="1845037"/>
          </a:xfrm>
          <a:prstGeom prst="cloudCallout">
            <a:avLst>
              <a:gd name="adj1" fmla="val -24116"/>
              <a:gd name="adj2" fmla="val 101961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64" name="Picture 1" descr="C:\Users\RIDHA\Downloads\صور المعلوماتية\Bonhomme-question-01-01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314102" y="3284984"/>
            <a:ext cx="2941886" cy="2952328"/>
          </a:xfrm>
          <a:prstGeom prst="rect">
            <a:avLst/>
          </a:prstGeom>
          <a:noFill/>
        </p:spPr>
      </p:pic>
      <p:sp>
        <p:nvSpPr>
          <p:cNvPr id="65" name="ZoneTexte 64"/>
          <p:cNvSpPr txBox="1"/>
          <p:nvPr/>
        </p:nvSpPr>
        <p:spPr>
          <a:xfrm>
            <a:off x="719572" y="980728"/>
            <a:ext cx="39244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0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كيف يمكنك إدراج الصور في معالج النصوص بطريقتين مختلفتين؟ </a:t>
            </a:r>
          </a:p>
        </p:txBody>
      </p:sp>
      <p:grpSp>
        <p:nvGrpSpPr>
          <p:cNvPr id="4" name="Groupe 3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3" name="Groupe 2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2" name="Groupe 1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43" name="Groupe 42"/>
                <p:cNvGrpSpPr/>
                <p:nvPr/>
              </p:nvGrpSpPr>
              <p:grpSpPr>
                <a:xfrm>
                  <a:off x="-180528" y="0"/>
                  <a:ext cx="9324528" cy="6957392"/>
                  <a:chOff x="-180528" y="0"/>
                  <a:chExt cx="9324528" cy="6957392"/>
                </a:xfrm>
              </p:grpSpPr>
              <p:grpSp>
                <p:nvGrpSpPr>
                  <p:cNvPr id="51" name="Groupe 18"/>
                  <p:cNvGrpSpPr/>
                  <p:nvPr/>
                </p:nvGrpSpPr>
                <p:grpSpPr>
                  <a:xfrm>
                    <a:off x="0" y="0"/>
                    <a:ext cx="9144000" cy="6885384"/>
                    <a:chOff x="0" y="0"/>
                    <a:chExt cx="9144000" cy="6885384"/>
                  </a:xfrm>
                </p:grpSpPr>
                <p:sp>
                  <p:nvSpPr>
                    <p:cNvPr id="53" name="Rectangle 52"/>
                    <p:cNvSpPr/>
                    <p:nvPr/>
                  </p:nvSpPr>
                  <p:spPr>
                    <a:xfrm rot="10800000" flipV="1">
                      <a:off x="0" y="0"/>
                      <a:ext cx="6983760" cy="620688"/>
                    </a:xfrm>
                    <a:prstGeom prst="rect">
                      <a:avLst/>
                    </a:prstGeom>
                    <a:solidFill>
                      <a:srgbClr val="FF66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grpSp>
                  <p:nvGrpSpPr>
                    <p:cNvPr id="54" name="Groupe 15"/>
                    <p:cNvGrpSpPr/>
                    <p:nvPr/>
                  </p:nvGrpSpPr>
                  <p:grpSpPr>
                    <a:xfrm>
                      <a:off x="0" y="6237312"/>
                      <a:ext cx="9144000" cy="648072"/>
                      <a:chOff x="0" y="6237312"/>
                      <a:chExt cx="9144000" cy="648072"/>
                    </a:xfrm>
                  </p:grpSpPr>
                  <p:sp>
                    <p:nvSpPr>
                      <p:cNvPr id="56" name="Rectangle 5"/>
                      <p:cNvSpPr/>
                      <p:nvPr/>
                    </p:nvSpPr>
                    <p:spPr>
                      <a:xfrm>
                        <a:off x="0" y="6309320"/>
                        <a:ext cx="9144000" cy="576064"/>
                      </a:xfrm>
                      <a:prstGeom prst="rect">
                        <a:avLst/>
                      </a:prstGeom>
                      <a:solidFill>
                        <a:srgbClr val="CC00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  <p:sp>
                    <p:nvSpPr>
                      <p:cNvPr id="57" name="Rectangle 56"/>
                      <p:cNvSpPr/>
                      <p:nvPr/>
                    </p:nvSpPr>
                    <p:spPr>
                      <a:xfrm flipV="1">
                        <a:off x="0" y="6237312"/>
                        <a:ext cx="9144000" cy="72008"/>
                      </a:xfrm>
                      <a:prstGeom prst="rect">
                        <a:avLst/>
                      </a:prstGeom>
                      <a:solidFill>
                        <a:srgbClr val="FF66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</p:grpSp>
                <p:sp>
                  <p:nvSpPr>
                    <p:cNvPr id="55" name="Rectangle 54"/>
                    <p:cNvSpPr/>
                    <p:nvPr/>
                  </p:nvSpPr>
                  <p:spPr>
                    <a:xfrm rot="10800000" flipV="1">
                      <a:off x="7020272" y="0"/>
                      <a:ext cx="2123728" cy="620688"/>
                    </a:xfrm>
                    <a:prstGeom prst="rect">
                      <a:avLst/>
                    </a:prstGeom>
                    <a:solidFill>
                      <a:srgbClr val="CC00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 dirty="0"/>
                    </a:p>
                  </p:txBody>
                </p:sp>
              </p:grpSp>
              <p:pic>
                <p:nvPicPr>
                  <p:cNvPr id="46" name="Image 45" descr="3-2-blogging-transparent-thumb.png"/>
                  <p:cNvPicPr>
                    <a:picLocks noChangeAspect="1"/>
                  </p:cNvPicPr>
                  <p:nvPr/>
                </p:nvPicPr>
                <p:blipFill>
                  <a:blip r:embed="rId4" cstate="print"/>
                  <a:stretch>
                    <a:fillRect/>
                  </a:stretch>
                </p:blipFill>
                <p:spPr>
                  <a:xfrm>
                    <a:off x="2195736" y="6165304"/>
                    <a:ext cx="864096" cy="741369"/>
                  </a:xfrm>
                  <a:prstGeom prst="rect">
                    <a:avLst/>
                  </a:prstGeom>
                </p:spPr>
              </p:pic>
              <p:pic>
                <p:nvPicPr>
                  <p:cNvPr id="47" name="Image 46" descr="12-2-education-png-image-thumb.png"/>
                  <p:cNvPicPr>
                    <a:picLocks noChangeAspect="1"/>
                  </p:cNvPicPr>
                  <p:nvPr/>
                </p:nvPicPr>
                <p:blipFill>
                  <a:blip r:embed="rId5" cstate="print"/>
                  <a:stretch>
                    <a:fillRect/>
                  </a:stretch>
                </p:blipFill>
                <p:spPr>
                  <a:xfrm>
                    <a:off x="8388424" y="5976664"/>
                    <a:ext cx="720080" cy="980728"/>
                  </a:xfrm>
                  <a:prstGeom prst="rect">
                    <a:avLst/>
                  </a:prstGeom>
                </p:spPr>
              </p:pic>
              <p:sp>
                <p:nvSpPr>
                  <p:cNvPr id="48" name="ZoneTexte 47"/>
                  <p:cNvSpPr txBox="1"/>
                  <p:nvPr/>
                </p:nvSpPr>
                <p:spPr>
                  <a:xfrm>
                    <a:off x="5652120" y="6351711"/>
                    <a:ext cx="2808312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متوسطة قلواز </a:t>
                    </a:r>
                    <a:r>
                      <a:rPr lang="ar-DZ" sz="1900" b="1" dirty="0" err="1" smtClean="0">
                        <a:solidFill>
                          <a:schemeClr val="bg1"/>
                        </a:solidFill>
                      </a:rPr>
                      <a:t>موسى </a:t>
                    </a:r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- بوراشد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49" name="ZoneTexte 48"/>
                  <p:cNvSpPr txBox="1"/>
                  <p:nvPr/>
                </p:nvSpPr>
                <p:spPr>
                  <a:xfrm>
                    <a:off x="-180528" y="6396335"/>
                    <a:ext cx="2448272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2000" b="1" dirty="0" smtClean="0">
                        <a:solidFill>
                          <a:schemeClr val="bg1"/>
                        </a:solidFill>
                      </a:rPr>
                      <a:t>تصميم الأستاذ ماحي رضا</a:t>
                    </a:r>
                    <a:endParaRPr lang="fr-FR" sz="20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50" name="ZoneTexte 49"/>
                  <p:cNvSpPr txBox="1"/>
                  <p:nvPr/>
                </p:nvSpPr>
                <p:spPr>
                  <a:xfrm>
                    <a:off x="2987824" y="6428655"/>
                    <a:ext cx="2088232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المستوى:الثاني متوسط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</p:grpSp>
            <p:pic>
              <p:nvPicPr>
                <p:cNvPr id="25" name="Image 24" descr="3d print business.png"/>
                <p:cNvPicPr>
                  <a:picLocks noChangeAspect="1"/>
                </p:cNvPicPr>
                <p:nvPr/>
              </p:nvPicPr>
              <p:blipFill>
                <a:blip r:embed="rId6" cstate="print"/>
                <a:stretch>
                  <a:fillRect/>
                </a:stretch>
              </p:blipFill>
              <p:spPr>
                <a:xfrm>
                  <a:off x="4788024" y="6274668"/>
                  <a:ext cx="1440160" cy="583332"/>
                </a:xfrm>
                <a:prstGeom prst="rect">
                  <a:avLst/>
                </a:prstGeom>
              </p:spPr>
            </p:pic>
          </p:grpSp>
          <p:sp>
            <p:nvSpPr>
              <p:cNvPr id="27" name="ZoneTexte 26"/>
              <p:cNvSpPr txBox="1"/>
              <p:nvPr/>
            </p:nvSpPr>
            <p:spPr>
              <a:xfrm>
                <a:off x="6948264" y="44624"/>
                <a:ext cx="212372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 smtClean="0">
                    <a:solidFill>
                      <a:schemeClr val="bg1"/>
                    </a:solidFill>
                  </a:rPr>
                  <a:t>الحصة </a:t>
                </a:r>
                <a:r>
                  <a:rPr lang="ar-DZ" sz="2800" b="1" dirty="0" err="1" smtClean="0">
                    <a:solidFill>
                      <a:schemeClr val="bg1"/>
                    </a:solidFill>
                  </a:rPr>
                  <a:t>التعلمية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8" name="ZoneTexte 27"/>
              <p:cNvSpPr txBox="1"/>
              <p:nvPr/>
            </p:nvSpPr>
            <p:spPr>
              <a:xfrm>
                <a:off x="2915816" y="44624"/>
                <a:ext cx="208823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 smtClean="0">
                    <a:solidFill>
                      <a:schemeClr val="bg1"/>
                    </a:solidFill>
                  </a:rPr>
                  <a:t>الأشكال والصور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30" name="Image 29" descr="Microsoft_Word_2013_logo.svg.png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27584" y="33236"/>
              <a:ext cx="792087" cy="587452"/>
            </a:xfrm>
            <a:prstGeom prst="rect">
              <a:avLst/>
            </a:prstGeom>
          </p:spPr>
        </p:pic>
      </p:grpSp>
      <p:pic>
        <p:nvPicPr>
          <p:cNvPr id="29" name="Image 28" descr="11-2-animation-png-hd-thumb.pn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 flipH="1">
            <a:off x="6876256" y="3140968"/>
            <a:ext cx="3096344" cy="3096344"/>
          </a:xfrm>
          <a:prstGeom prst="rect">
            <a:avLst/>
          </a:prstGeom>
        </p:spPr>
      </p:pic>
      <p:grpSp>
        <p:nvGrpSpPr>
          <p:cNvPr id="31" name="Group 77"/>
          <p:cNvGrpSpPr/>
          <p:nvPr/>
        </p:nvGrpSpPr>
        <p:grpSpPr>
          <a:xfrm rot="20503916">
            <a:off x="5682900" y="1512744"/>
            <a:ext cx="2304318" cy="3323489"/>
            <a:chOff x="914400" y="1122362"/>
            <a:chExt cx="2080267" cy="3507909"/>
          </a:xfrm>
        </p:grpSpPr>
        <p:sp>
          <p:nvSpPr>
            <p:cNvPr id="32" name="Freeform 6"/>
            <p:cNvSpPr>
              <a:spLocks/>
            </p:cNvSpPr>
            <p:nvPr/>
          </p:nvSpPr>
          <p:spPr bwMode="auto">
            <a:xfrm>
              <a:off x="1259207" y="4208782"/>
              <a:ext cx="1197680" cy="421489"/>
            </a:xfrm>
            <a:custGeom>
              <a:avLst/>
              <a:gdLst/>
              <a:ahLst/>
              <a:cxnLst>
                <a:cxn ang="0">
                  <a:pos x="0" y="35"/>
                </a:cxn>
                <a:cxn ang="0">
                  <a:pos x="433" y="0"/>
                </a:cxn>
                <a:cxn ang="0">
                  <a:pos x="657" y="193"/>
                </a:cxn>
                <a:cxn ang="0">
                  <a:pos x="0" y="35"/>
                </a:cxn>
              </a:cxnLst>
              <a:rect l="0" t="0" r="r" b="b"/>
              <a:pathLst>
                <a:path w="657" h="193">
                  <a:moveTo>
                    <a:pt x="0" y="35"/>
                  </a:moveTo>
                  <a:lnTo>
                    <a:pt x="433" y="0"/>
                  </a:lnTo>
                  <a:lnTo>
                    <a:pt x="657" y="193"/>
                  </a:lnTo>
                  <a:lnTo>
                    <a:pt x="0" y="35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7"/>
            <p:cNvSpPr>
              <a:spLocks/>
            </p:cNvSpPr>
            <p:nvPr/>
          </p:nvSpPr>
          <p:spPr bwMode="auto">
            <a:xfrm>
              <a:off x="1265879" y="3815606"/>
              <a:ext cx="1728788" cy="48586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089" y="176"/>
                </a:cxn>
                <a:cxn ang="0">
                  <a:pos x="9" y="265"/>
                </a:cxn>
                <a:cxn ang="0">
                  <a:pos x="0" y="0"/>
                </a:cxn>
              </a:cxnLst>
              <a:rect l="0" t="0" r="r" b="b"/>
              <a:pathLst>
                <a:path w="1089" h="265">
                  <a:moveTo>
                    <a:pt x="0" y="0"/>
                  </a:moveTo>
                  <a:lnTo>
                    <a:pt x="1089" y="176"/>
                  </a:lnTo>
                  <a:lnTo>
                    <a:pt x="9" y="2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8"/>
            <p:cNvSpPr>
              <a:spLocks/>
            </p:cNvSpPr>
            <p:nvPr/>
          </p:nvSpPr>
          <p:spPr bwMode="auto">
            <a:xfrm>
              <a:off x="914400" y="1122362"/>
              <a:ext cx="2062163" cy="3013075"/>
            </a:xfrm>
            <a:custGeom>
              <a:avLst/>
              <a:gdLst/>
              <a:ahLst/>
              <a:cxnLst>
                <a:cxn ang="0">
                  <a:pos x="1299" y="1898"/>
                </a:cxn>
                <a:cxn ang="0">
                  <a:pos x="0" y="1689"/>
                </a:cxn>
                <a:cxn ang="0">
                  <a:pos x="0" y="0"/>
                </a:cxn>
                <a:cxn ang="0">
                  <a:pos x="1299" y="0"/>
                </a:cxn>
                <a:cxn ang="0">
                  <a:pos x="1299" y="1898"/>
                </a:cxn>
              </a:cxnLst>
              <a:rect l="0" t="0" r="r" b="b"/>
              <a:pathLst>
                <a:path w="1299" h="1898">
                  <a:moveTo>
                    <a:pt x="1299" y="1898"/>
                  </a:moveTo>
                  <a:lnTo>
                    <a:pt x="0" y="1689"/>
                  </a:lnTo>
                  <a:lnTo>
                    <a:pt x="0" y="0"/>
                  </a:lnTo>
                  <a:lnTo>
                    <a:pt x="1299" y="0"/>
                  </a:lnTo>
                  <a:lnTo>
                    <a:pt x="1299" y="1898"/>
                  </a:lnTo>
                  <a:close/>
                </a:path>
              </a:pathLst>
            </a:custGeom>
            <a:solidFill>
              <a:schemeClr val="accent4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5" name="ZoneTexte 34"/>
          <p:cNvSpPr txBox="1"/>
          <p:nvPr/>
        </p:nvSpPr>
        <p:spPr>
          <a:xfrm rot="20502721">
            <a:off x="5611941" y="1561407"/>
            <a:ext cx="2179028" cy="25699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Low" rtl="1"/>
            <a:r>
              <a:rPr lang="ar-DZ" sz="2300" b="1" dirty="0" smtClean="0">
                <a:solidFill>
                  <a:schemeClr val="bg1"/>
                </a:solidFill>
              </a:rPr>
              <a:t>قد تحتاج لإدراج بعض الصور في معالج النصوص لشرح و دعم بها بحثك أو إنجاز مطويات أو كتب أو مجلات.</a:t>
            </a:r>
            <a:endParaRPr lang="fr-FR" sz="2300" dirty="0">
              <a:solidFill>
                <a:schemeClr val="bg1"/>
              </a:solidFill>
            </a:endParaRPr>
          </a:p>
        </p:txBody>
      </p:sp>
      <p:pic>
        <p:nvPicPr>
          <p:cNvPr id="36" name="Picture 4" descr="C:\Users\RIDHA\Pictures\Image13.png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2375756" y="3689486"/>
            <a:ext cx="1584176" cy="2713903"/>
          </a:xfrm>
          <a:prstGeom prst="rect">
            <a:avLst/>
          </a:prstGeom>
          <a:noFill/>
        </p:spPr>
      </p:pic>
      <p:grpSp>
        <p:nvGrpSpPr>
          <p:cNvPr id="37" name="Groupe 36"/>
          <p:cNvGrpSpPr/>
          <p:nvPr/>
        </p:nvGrpSpPr>
        <p:grpSpPr>
          <a:xfrm>
            <a:off x="3311860" y="3030795"/>
            <a:ext cx="2160240" cy="792088"/>
            <a:chOff x="3563888" y="1268760"/>
            <a:chExt cx="2664296" cy="936104"/>
          </a:xfrm>
        </p:grpSpPr>
        <p:sp>
          <p:nvSpPr>
            <p:cNvPr id="38" name="Pensées 37"/>
            <p:cNvSpPr/>
            <p:nvPr/>
          </p:nvSpPr>
          <p:spPr>
            <a:xfrm>
              <a:off x="3563888" y="1268760"/>
              <a:ext cx="2664296" cy="936104"/>
            </a:xfrm>
            <a:prstGeom prst="cloudCallout">
              <a:avLst>
                <a:gd name="adj1" fmla="val -31591"/>
                <a:gd name="adj2" fmla="val 110567"/>
              </a:avLst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 rtl="1"/>
              <a:endParaRPr lang="fr-FR" b="1" dirty="0">
                <a:solidFill>
                  <a:schemeClr val="tx1"/>
                </a:solidFill>
              </a:endParaRPr>
            </a:p>
          </p:txBody>
        </p:sp>
        <p:sp>
          <p:nvSpPr>
            <p:cNvPr id="39" name="ZoneTexte 38"/>
            <p:cNvSpPr txBox="1"/>
            <p:nvPr/>
          </p:nvSpPr>
          <p:spPr>
            <a:xfrm>
              <a:off x="3779912" y="1398964"/>
              <a:ext cx="2304256" cy="7638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1"/>
              <a:r>
                <a:rPr lang="ar-DZ" b="1" dirty="0" smtClean="0"/>
                <a:t>وهناك طريقتين في إدراجها </a:t>
              </a:r>
            </a:p>
          </p:txBody>
        </p:sp>
      </p:grpSp>
      <p:pic>
        <p:nvPicPr>
          <p:cNvPr id="6" name="Image 5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5610" y="1625440"/>
            <a:ext cx="952500" cy="952500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2341" y="1556792"/>
            <a:ext cx="1243269" cy="109788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56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5" dur="175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6" dur="175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7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8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940"/>
                            </p:stCondLst>
                            <p:childTnLst>
                              <p:par>
                                <p:cTn id="20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440"/>
                            </p:stCondLst>
                            <p:childTnLst>
                              <p:par>
                                <p:cTn id="2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4940"/>
                            </p:stCondLst>
                            <p:childTnLst>
                              <p:par>
                                <p:cTn id="28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440"/>
                            </p:stCondLst>
                            <p:childTnLst>
                              <p:par>
                                <p:cTn id="3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940"/>
                            </p:stCondLst>
                            <p:childTnLst>
                              <p:par>
                                <p:cTn id="3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6440"/>
                            </p:stCondLst>
                            <p:childTnLst>
                              <p:par>
                                <p:cTn id="4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6940"/>
                            </p:stCondLst>
                            <p:childTnLst>
                              <p:par>
                                <p:cTn id="4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 animBg="1"/>
      <p:bldP spid="65" grpId="0"/>
      <p:bldP spid="3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h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20688"/>
            <a:ext cx="9144000" cy="5665812"/>
          </a:xfrm>
          <a:prstGeom prst="rect">
            <a:avLst/>
          </a:prstGeom>
        </p:spPr>
      </p:pic>
      <p:grpSp>
        <p:nvGrpSpPr>
          <p:cNvPr id="62" name="Group 60"/>
          <p:cNvGrpSpPr>
            <a:grpSpLocks/>
          </p:cNvGrpSpPr>
          <p:nvPr/>
        </p:nvGrpSpPr>
        <p:grpSpPr bwMode="auto">
          <a:xfrm flipH="1">
            <a:off x="8298021" y="1404283"/>
            <a:ext cx="192383" cy="190618"/>
            <a:chOff x="2078" y="1680"/>
            <a:chExt cx="1615" cy="1615"/>
          </a:xfrm>
        </p:grpSpPr>
        <p:sp>
          <p:nvSpPr>
            <p:cNvPr id="63" name="Oval 61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4" name="Oval 62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5" name="Oval 63"/>
            <p:cNvSpPr>
              <a:spLocks noChangeArrowheads="1"/>
            </p:cNvSpPr>
            <p:nvPr/>
          </p:nvSpPr>
          <p:spPr bwMode="gray">
            <a:xfrm>
              <a:off x="2251" y="1855"/>
              <a:ext cx="1266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fr-FR">
                <a:latin typeface="Arial" charset="0"/>
                <a:cs typeface="Arial" charset="0"/>
              </a:endParaRPr>
            </a:p>
          </p:txBody>
        </p:sp>
        <p:sp>
          <p:nvSpPr>
            <p:cNvPr id="66" name="Oval 64"/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48BE67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fr-FR"/>
            </a:p>
          </p:txBody>
        </p:sp>
        <p:sp>
          <p:nvSpPr>
            <p:cNvPr id="67" name="Oval 65"/>
            <p:cNvSpPr>
              <a:spLocks noChangeArrowheads="1"/>
            </p:cNvSpPr>
            <p:nvPr/>
          </p:nvSpPr>
          <p:spPr bwMode="gray">
            <a:xfrm>
              <a:off x="2331" y="1936"/>
              <a:ext cx="1099" cy="110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fr-FR">
                <a:latin typeface="Arial" charset="0"/>
                <a:cs typeface="Arial" charset="0"/>
              </a:endParaRPr>
            </a:p>
          </p:txBody>
        </p:sp>
        <p:sp>
          <p:nvSpPr>
            <p:cNvPr id="68" name="Oval 66"/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48BE67"/>
                </a:gs>
                <a:gs pos="100000">
                  <a:srgbClr val="235C32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fr-FR"/>
            </a:p>
          </p:txBody>
        </p:sp>
      </p:grpSp>
      <p:sp>
        <p:nvSpPr>
          <p:cNvPr id="69" name="Rectangle 68"/>
          <p:cNvSpPr/>
          <p:nvPr/>
        </p:nvSpPr>
        <p:spPr>
          <a:xfrm>
            <a:off x="3703007" y="1291406"/>
            <a:ext cx="11286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ar-DZ" sz="20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ننقر على:</a:t>
            </a:r>
            <a:endParaRPr lang="fr-FR" sz="2000" dirty="0">
              <a:solidFill>
                <a:schemeClr val="bg1"/>
              </a:solidFill>
            </a:endParaRPr>
          </a:p>
        </p:txBody>
      </p:sp>
      <p:sp>
        <p:nvSpPr>
          <p:cNvPr id="70" name="ZoneTexte 69"/>
          <p:cNvSpPr txBox="1"/>
          <p:nvPr/>
        </p:nvSpPr>
        <p:spPr>
          <a:xfrm>
            <a:off x="4653239" y="1268760"/>
            <a:ext cx="35191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400" b="1" dirty="0" smtClean="0">
                <a:solidFill>
                  <a:srgbClr val="FFFF00"/>
                </a:solidFill>
              </a:rPr>
              <a:t>مكتبة الصور </a:t>
            </a:r>
            <a:r>
              <a:rPr lang="en-US" sz="2400" b="1" dirty="0" smtClean="0">
                <a:solidFill>
                  <a:srgbClr val="FFFF00"/>
                </a:solidFill>
              </a:rPr>
              <a:t>Images clipart</a:t>
            </a:r>
            <a:r>
              <a:rPr lang="ar-DZ" sz="2400" b="1" dirty="0" smtClean="0">
                <a:solidFill>
                  <a:srgbClr val="FFFF00"/>
                </a:solidFill>
              </a:rPr>
              <a:t>:</a:t>
            </a:r>
            <a:endParaRPr lang="fr-FR" sz="2400" b="1" dirty="0">
              <a:solidFill>
                <a:srgbClr val="FFFF00"/>
              </a:solidFill>
            </a:endParaRPr>
          </a:p>
        </p:txBody>
      </p:sp>
      <p:grpSp>
        <p:nvGrpSpPr>
          <p:cNvPr id="71" name="Group 60"/>
          <p:cNvGrpSpPr>
            <a:grpSpLocks/>
          </p:cNvGrpSpPr>
          <p:nvPr/>
        </p:nvGrpSpPr>
        <p:grpSpPr bwMode="auto">
          <a:xfrm flipH="1">
            <a:off x="8261509" y="4254986"/>
            <a:ext cx="192383" cy="190618"/>
            <a:chOff x="2078" y="1680"/>
            <a:chExt cx="1615" cy="1615"/>
          </a:xfrm>
        </p:grpSpPr>
        <p:sp>
          <p:nvSpPr>
            <p:cNvPr id="72" name="Oval 61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3" name="Oval 62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4" name="Oval 63"/>
            <p:cNvSpPr>
              <a:spLocks noChangeArrowheads="1"/>
            </p:cNvSpPr>
            <p:nvPr/>
          </p:nvSpPr>
          <p:spPr bwMode="gray">
            <a:xfrm>
              <a:off x="2251" y="1855"/>
              <a:ext cx="1266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fr-FR">
                <a:latin typeface="Arial" charset="0"/>
                <a:cs typeface="Arial" charset="0"/>
              </a:endParaRPr>
            </a:p>
          </p:txBody>
        </p:sp>
        <p:sp>
          <p:nvSpPr>
            <p:cNvPr id="75" name="Oval 64"/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48BE67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fr-FR"/>
            </a:p>
          </p:txBody>
        </p:sp>
        <p:sp>
          <p:nvSpPr>
            <p:cNvPr id="106" name="Oval 65"/>
            <p:cNvSpPr>
              <a:spLocks noChangeArrowheads="1"/>
            </p:cNvSpPr>
            <p:nvPr/>
          </p:nvSpPr>
          <p:spPr bwMode="gray">
            <a:xfrm>
              <a:off x="2331" y="1936"/>
              <a:ext cx="1099" cy="110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fr-FR">
                <a:latin typeface="Arial" charset="0"/>
                <a:cs typeface="Arial" charset="0"/>
              </a:endParaRPr>
            </a:p>
          </p:txBody>
        </p:sp>
        <p:sp>
          <p:nvSpPr>
            <p:cNvPr id="107" name="Oval 66"/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48BE67"/>
                </a:gs>
                <a:gs pos="100000">
                  <a:srgbClr val="235C32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fr-FR"/>
            </a:p>
          </p:txBody>
        </p:sp>
      </p:grpSp>
      <p:sp>
        <p:nvSpPr>
          <p:cNvPr id="109" name="ZoneTexte 108"/>
          <p:cNvSpPr txBox="1"/>
          <p:nvPr/>
        </p:nvSpPr>
        <p:spPr>
          <a:xfrm>
            <a:off x="4831682" y="4119463"/>
            <a:ext cx="33042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400" b="1" dirty="0" smtClean="0">
                <a:solidFill>
                  <a:srgbClr val="FFFF00"/>
                </a:solidFill>
              </a:rPr>
              <a:t>صورة مخزنة في الحاسوب:</a:t>
            </a:r>
            <a:endParaRPr lang="fr-FR" sz="2400" b="1" dirty="0">
              <a:solidFill>
                <a:srgbClr val="FFFF00"/>
              </a:solidFill>
            </a:endParaRPr>
          </a:p>
        </p:txBody>
      </p:sp>
      <p:grpSp>
        <p:nvGrpSpPr>
          <p:cNvPr id="110" name="Group 104"/>
          <p:cNvGrpSpPr/>
          <p:nvPr/>
        </p:nvGrpSpPr>
        <p:grpSpPr>
          <a:xfrm>
            <a:off x="5006725" y="4581128"/>
            <a:ext cx="3727793" cy="527690"/>
            <a:chOff x="782821" y="1173645"/>
            <a:chExt cx="3577009" cy="1114425"/>
          </a:xfrm>
        </p:grpSpPr>
        <p:sp>
          <p:nvSpPr>
            <p:cNvPr id="111" name="Rectangle 110"/>
            <p:cNvSpPr/>
            <p:nvPr/>
          </p:nvSpPr>
          <p:spPr>
            <a:xfrm flipH="1">
              <a:off x="3947080" y="1373670"/>
              <a:ext cx="412750" cy="91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2" name="Freeform 106"/>
            <p:cNvSpPr/>
            <p:nvPr/>
          </p:nvSpPr>
          <p:spPr>
            <a:xfrm rot="5400000" flipH="1">
              <a:off x="3527344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3" name="Rectangle 112"/>
            <p:cNvSpPr/>
            <p:nvPr/>
          </p:nvSpPr>
          <p:spPr>
            <a:xfrm flipH="1">
              <a:off x="782821" y="1373671"/>
              <a:ext cx="2802308" cy="9143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4" name="Freeform 108"/>
            <p:cNvSpPr/>
            <p:nvPr/>
          </p:nvSpPr>
          <p:spPr>
            <a:xfrm rot="16200000" flipH="1" flipV="1">
              <a:off x="2887581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5" name="Rectangle 114"/>
            <p:cNvSpPr/>
            <p:nvPr/>
          </p:nvSpPr>
          <p:spPr>
            <a:xfrm flipH="1">
              <a:off x="3306524" y="1173645"/>
              <a:ext cx="914400" cy="9144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/>
            </a:p>
          </p:txBody>
        </p:sp>
      </p:grpSp>
      <p:grpSp>
        <p:nvGrpSpPr>
          <p:cNvPr id="116" name="Group 118"/>
          <p:cNvGrpSpPr/>
          <p:nvPr/>
        </p:nvGrpSpPr>
        <p:grpSpPr>
          <a:xfrm>
            <a:off x="5006726" y="5354247"/>
            <a:ext cx="3727794" cy="523025"/>
            <a:chOff x="782821" y="2392845"/>
            <a:chExt cx="3577009" cy="1114425"/>
          </a:xfrm>
        </p:grpSpPr>
        <p:sp>
          <p:nvSpPr>
            <p:cNvPr id="117" name="Rectangle 116"/>
            <p:cNvSpPr/>
            <p:nvPr/>
          </p:nvSpPr>
          <p:spPr>
            <a:xfrm flipH="1">
              <a:off x="3947080" y="2592870"/>
              <a:ext cx="412750" cy="914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8" name="Freeform 120"/>
            <p:cNvSpPr/>
            <p:nvPr/>
          </p:nvSpPr>
          <p:spPr>
            <a:xfrm rot="5400000" flipH="1">
              <a:off x="3527344" y="28128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9" name="Rectangle 118"/>
            <p:cNvSpPr/>
            <p:nvPr/>
          </p:nvSpPr>
          <p:spPr>
            <a:xfrm flipH="1">
              <a:off x="782821" y="2592869"/>
              <a:ext cx="2802310" cy="91440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0" name="Freeform 122"/>
            <p:cNvSpPr/>
            <p:nvPr/>
          </p:nvSpPr>
          <p:spPr>
            <a:xfrm rot="16200000" flipH="1" flipV="1">
              <a:off x="2887581" y="28128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1" name="Rectangle 120"/>
            <p:cNvSpPr/>
            <p:nvPr/>
          </p:nvSpPr>
          <p:spPr>
            <a:xfrm flipH="1">
              <a:off x="3306524" y="2392845"/>
              <a:ext cx="914400" cy="9144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/>
            </a:p>
          </p:txBody>
        </p:sp>
      </p:grpSp>
      <p:sp>
        <p:nvSpPr>
          <p:cNvPr id="128" name="Rectangle 127"/>
          <p:cNvSpPr/>
          <p:nvPr/>
        </p:nvSpPr>
        <p:spPr>
          <a:xfrm>
            <a:off x="5220071" y="4685074"/>
            <a:ext cx="244224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rtl="1">
              <a:spcBef>
                <a:spcPct val="20000"/>
              </a:spcBef>
              <a:defRPr/>
            </a:pPr>
            <a:r>
              <a:rPr lang="ar-SA" sz="2000" b="1" dirty="0" smtClean="0">
                <a:solidFill>
                  <a:schemeClr val="bg1"/>
                </a:solidFill>
              </a:rPr>
              <a:t> </a:t>
            </a:r>
            <a:r>
              <a:rPr lang="ar-DZ" sz="2000" b="1" dirty="0" smtClean="0">
                <a:solidFill>
                  <a:schemeClr val="bg1"/>
                </a:solidFill>
              </a:rPr>
              <a:t>ا</a:t>
            </a:r>
            <a:r>
              <a:rPr lang="ar-DZ" sz="20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لتبويب  </a:t>
            </a:r>
            <a:r>
              <a:rPr lang="en-US" sz="20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 </a:t>
            </a:r>
            <a:r>
              <a:rPr lang="fr-FR" sz="20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.</a:t>
            </a:r>
            <a:r>
              <a:rPr lang="fr-FR" sz="2000" b="1" dirty="0" smtClean="0">
                <a:solidFill>
                  <a:schemeClr val="bg1"/>
                </a:solidFill>
                <a:latin typeface="Times New Roman"/>
                <a:ea typeface="Times New Roman"/>
              </a:rPr>
              <a:t>Insertion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29" name="Rectangle 128"/>
          <p:cNvSpPr/>
          <p:nvPr/>
        </p:nvSpPr>
        <p:spPr>
          <a:xfrm>
            <a:off x="8007608" y="4587818"/>
            <a:ext cx="261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b="1" dirty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sp>
        <p:nvSpPr>
          <p:cNvPr id="130" name="Rectangle 129"/>
          <p:cNvSpPr/>
          <p:nvPr/>
        </p:nvSpPr>
        <p:spPr>
          <a:xfrm>
            <a:off x="8021553" y="5354248"/>
            <a:ext cx="261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b="1" dirty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sp>
        <p:nvSpPr>
          <p:cNvPr id="132" name="Rectangle 131"/>
          <p:cNvSpPr/>
          <p:nvPr/>
        </p:nvSpPr>
        <p:spPr>
          <a:xfrm>
            <a:off x="6018660" y="5460172"/>
            <a:ext cx="157767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DZ" sz="2000" b="1" dirty="0">
                <a:solidFill>
                  <a:schemeClr val="bg1"/>
                </a:solidFill>
                <a:ea typeface="Times New Roman"/>
                <a:cs typeface="Times New Roman"/>
              </a:rPr>
              <a:t>الأداة  </a:t>
            </a:r>
            <a:r>
              <a:rPr lang="fr-FR" sz="20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.</a:t>
            </a:r>
            <a:r>
              <a:rPr lang="fr-FR" sz="2000" b="1" dirty="0" smtClean="0">
                <a:solidFill>
                  <a:schemeClr val="bg1"/>
                </a:solidFill>
                <a:latin typeface="Times New Roman"/>
                <a:ea typeface="Times New Roman"/>
              </a:rPr>
              <a:t>Images</a:t>
            </a:r>
            <a:endParaRPr lang="fr-FR" sz="2000" dirty="0">
              <a:solidFill>
                <a:schemeClr val="bg1"/>
              </a:solidFill>
            </a:endParaRPr>
          </a:p>
        </p:txBody>
      </p:sp>
      <p:grpSp>
        <p:nvGrpSpPr>
          <p:cNvPr id="134" name="Group 104"/>
          <p:cNvGrpSpPr/>
          <p:nvPr/>
        </p:nvGrpSpPr>
        <p:grpSpPr>
          <a:xfrm>
            <a:off x="5004048" y="1681839"/>
            <a:ext cx="3727793" cy="527690"/>
            <a:chOff x="782821" y="1173645"/>
            <a:chExt cx="3577009" cy="1114425"/>
          </a:xfrm>
        </p:grpSpPr>
        <p:sp>
          <p:nvSpPr>
            <p:cNvPr id="135" name="Rectangle 134"/>
            <p:cNvSpPr/>
            <p:nvPr/>
          </p:nvSpPr>
          <p:spPr>
            <a:xfrm flipH="1">
              <a:off x="3947080" y="1373670"/>
              <a:ext cx="412750" cy="91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6" name="Freeform 106"/>
            <p:cNvSpPr/>
            <p:nvPr/>
          </p:nvSpPr>
          <p:spPr>
            <a:xfrm rot="5400000" flipH="1">
              <a:off x="3527344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7" name="Rectangle 136"/>
            <p:cNvSpPr/>
            <p:nvPr/>
          </p:nvSpPr>
          <p:spPr>
            <a:xfrm flipH="1">
              <a:off x="782821" y="1373671"/>
              <a:ext cx="2802308" cy="9143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8" name="Freeform 108"/>
            <p:cNvSpPr/>
            <p:nvPr/>
          </p:nvSpPr>
          <p:spPr>
            <a:xfrm rot="16200000" flipH="1" flipV="1">
              <a:off x="2887581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9" name="Rectangle 138"/>
            <p:cNvSpPr/>
            <p:nvPr/>
          </p:nvSpPr>
          <p:spPr>
            <a:xfrm flipH="1">
              <a:off x="3306524" y="1173645"/>
              <a:ext cx="914400" cy="9144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/>
            </a:p>
          </p:txBody>
        </p:sp>
      </p:grpSp>
      <p:sp>
        <p:nvSpPr>
          <p:cNvPr id="146" name="Rectangle 145"/>
          <p:cNvSpPr/>
          <p:nvPr/>
        </p:nvSpPr>
        <p:spPr>
          <a:xfrm>
            <a:off x="7956376" y="1691516"/>
            <a:ext cx="261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b="1" dirty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sp>
        <p:nvSpPr>
          <p:cNvPr id="148" name="TextBox 68"/>
          <p:cNvSpPr txBox="1"/>
          <p:nvPr/>
        </p:nvSpPr>
        <p:spPr>
          <a:xfrm>
            <a:off x="5109997" y="1825079"/>
            <a:ext cx="2414331" cy="30777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lvl="0" algn="r" rtl="1">
              <a:spcBef>
                <a:spcPct val="20000"/>
              </a:spcBef>
              <a:defRPr/>
            </a:pPr>
            <a:r>
              <a:rPr lang="ar-DZ" sz="20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التبويب  </a:t>
            </a:r>
            <a:r>
              <a:rPr lang="en-US" sz="20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 </a:t>
            </a:r>
            <a:r>
              <a:rPr lang="fr-FR" sz="20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.</a:t>
            </a:r>
            <a:r>
              <a:rPr lang="fr-FR" sz="2000" b="1" dirty="0" smtClean="0">
                <a:solidFill>
                  <a:schemeClr val="bg1"/>
                </a:solidFill>
                <a:latin typeface="Times New Roman"/>
                <a:ea typeface="Times New Roman"/>
              </a:rPr>
              <a:t>Insertion</a:t>
            </a:r>
            <a:endParaRPr lang="en-US" sz="2000" dirty="0">
              <a:solidFill>
                <a:schemeClr val="bg1"/>
              </a:solidFill>
            </a:endParaRPr>
          </a:p>
        </p:txBody>
      </p:sp>
      <p:grpSp>
        <p:nvGrpSpPr>
          <p:cNvPr id="150" name="Group 104"/>
          <p:cNvGrpSpPr/>
          <p:nvPr/>
        </p:nvGrpSpPr>
        <p:grpSpPr>
          <a:xfrm>
            <a:off x="5004049" y="2325246"/>
            <a:ext cx="3727792" cy="527690"/>
            <a:chOff x="782822" y="1173645"/>
            <a:chExt cx="3577008" cy="1114425"/>
          </a:xfrm>
        </p:grpSpPr>
        <p:sp>
          <p:nvSpPr>
            <p:cNvPr id="151" name="Rectangle 150"/>
            <p:cNvSpPr/>
            <p:nvPr/>
          </p:nvSpPr>
          <p:spPr>
            <a:xfrm flipH="1">
              <a:off x="3947080" y="1373670"/>
              <a:ext cx="412750" cy="914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2" name="Freeform 106"/>
            <p:cNvSpPr/>
            <p:nvPr/>
          </p:nvSpPr>
          <p:spPr>
            <a:xfrm rot="5400000" flipH="1">
              <a:off x="3527344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3" name="Rectangle 152"/>
            <p:cNvSpPr/>
            <p:nvPr/>
          </p:nvSpPr>
          <p:spPr>
            <a:xfrm flipH="1">
              <a:off x="782822" y="1373671"/>
              <a:ext cx="2802309" cy="914399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4" name="Freeform 108"/>
            <p:cNvSpPr/>
            <p:nvPr/>
          </p:nvSpPr>
          <p:spPr>
            <a:xfrm rot="16200000" flipH="1" flipV="1">
              <a:off x="2887581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5" name="Rectangle 154"/>
            <p:cNvSpPr/>
            <p:nvPr/>
          </p:nvSpPr>
          <p:spPr>
            <a:xfrm flipH="1">
              <a:off x="3306524" y="1173645"/>
              <a:ext cx="914400" cy="9144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/>
            </a:p>
          </p:txBody>
        </p:sp>
      </p:grpSp>
      <p:grpSp>
        <p:nvGrpSpPr>
          <p:cNvPr id="156" name="Group 118"/>
          <p:cNvGrpSpPr/>
          <p:nvPr/>
        </p:nvGrpSpPr>
        <p:grpSpPr>
          <a:xfrm>
            <a:off x="827583" y="2924944"/>
            <a:ext cx="7904260" cy="523025"/>
            <a:chOff x="-3224712" y="2392845"/>
            <a:chExt cx="7584542" cy="1114425"/>
          </a:xfrm>
        </p:grpSpPr>
        <p:sp>
          <p:nvSpPr>
            <p:cNvPr id="157" name="Rectangle 156"/>
            <p:cNvSpPr/>
            <p:nvPr/>
          </p:nvSpPr>
          <p:spPr>
            <a:xfrm flipH="1">
              <a:off x="3947080" y="2592870"/>
              <a:ext cx="412750" cy="914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8" name="Freeform 120"/>
            <p:cNvSpPr/>
            <p:nvPr/>
          </p:nvSpPr>
          <p:spPr>
            <a:xfrm rot="5400000" flipH="1">
              <a:off x="3527344" y="28128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9" name="Rectangle 158"/>
            <p:cNvSpPr/>
            <p:nvPr/>
          </p:nvSpPr>
          <p:spPr>
            <a:xfrm flipH="1">
              <a:off x="-3224712" y="2592869"/>
              <a:ext cx="6809838" cy="91440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0" name="Freeform 122"/>
            <p:cNvSpPr/>
            <p:nvPr/>
          </p:nvSpPr>
          <p:spPr>
            <a:xfrm rot="16200000" flipH="1" flipV="1">
              <a:off x="2887581" y="28128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1" name="Rectangle 160"/>
            <p:cNvSpPr/>
            <p:nvPr/>
          </p:nvSpPr>
          <p:spPr>
            <a:xfrm flipH="1">
              <a:off x="3306524" y="2392845"/>
              <a:ext cx="914400" cy="9144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/>
            </a:p>
          </p:txBody>
        </p:sp>
      </p:grpSp>
      <p:sp>
        <p:nvSpPr>
          <p:cNvPr id="162" name="Rectangle 161"/>
          <p:cNvSpPr/>
          <p:nvPr/>
        </p:nvSpPr>
        <p:spPr>
          <a:xfrm>
            <a:off x="5217394" y="2429192"/>
            <a:ext cx="244224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lang="ar-SA" sz="2000" b="1" dirty="0" smtClean="0">
                <a:solidFill>
                  <a:schemeClr val="bg1"/>
                </a:solidFill>
              </a:rPr>
              <a:t> </a:t>
            </a:r>
            <a:r>
              <a:rPr lang="ar-DZ" sz="20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الأداة  </a:t>
            </a:r>
            <a:r>
              <a:rPr lang="fr-FR" sz="20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.</a:t>
            </a:r>
            <a:r>
              <a:rPr lang="fr-FR" sz="2000" b="1" dirty="0" smtClean="0">
                <a:solidFill>
                  <a:schemeClr val="bg1"/>
                </a:solidFill>
                <a:latin typeface="Times New Roman"/>
                <a:ea typeface="Times New Roman"/>
              </a:rPr>
              <a:t>Images clipart</a:t>
            </a:r>
            <a:endParaRPr lang="fr-FR" b="1" dirty="0">
              <a:solidFill>
                <a:schemeClr val="bg1"/>
              </a:solidFill>
              <a:latin typeface="Times New Roman"/>
              <a:ea typeface="Times New Roman"/>
            </a:endParaRPr>
          </a:p>
        </p:txBody>
      </p:sp>
      <p:sp>
        <p:nvSpPr>
          <p:cNvPr id="163" name="Rectangle 162"/>
          <p:cNvSpPr/>
          <p:nvPr/>
        </p:nvSpPr>
        <p:spPr>
          <a:xfrm>
            <a:off x="8004931" y="2331936"/>
            <a:ext cx="261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b="1" dirty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sp>
        <p:nvSpPr>
          <p:cNvPr id="164" name="Rectangle 163"/>
          <p:cNvSpPr/>
          <p:nvPr/>
        </p:nvSpPr>
        <p:spPr>
          <a:xfrm>
            <a:off x="8018876" y="2924945"/>
            <a:ext cx="261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b="1" dirty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sp>
        <p:nvSpPr>
          <p:cNvPr id="165" name="Rectangle 164"/>
          <p:cNvSpPr/>
          <p:nvPr/>
        </p:nvSpPr>
        <p:spPr>
          <a:xfrm>
            <a:off x="1043608" y="3028890"/>
            <a:ext cx="655272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ar-DZ" sz="2000" b="1" dirty="0">
                <a:solidFill>
                  <a:schemeClr val="bg1"/>
                </a:solidFill>
                <a:ea typeface="Times New Roman"/>
                <a:cs typeface="Times New Roman"/>
              </a:rPr>
              <a:t>نضغط على </a:t>
            </a:r>
            <a:r>
              <a:rPr lang="fr-FR" sz="2000" b="1" dirty="0">
                <a:solidFill>
                  <a:schemeClr val="bg1"/>
                </a:solidFill>
                <a:latin typeface="Times New Roman"/>
                <a:ea typeface="Times New Roman"/>
              </a:rPr>
              <a:t>Ok</a:t>
            </a:r>
            <a:r>
              <a:rPr lang="ar-DZ" sz="2000" b="1" dirty="0">
                <a:solidFill>
                  <a:schemeClr val="bg1"/>
                </a:solidFill>
                <a:latin typeface="Times New Roman"/>
                <a:ea typeface="Times New Roman"/>
              </a:rPr>
              <a:t> في الإطار الذي يظهر على يمين الوثيقة لإظهار جميع الصور.</a:t>
            </a:r>
            <a:endParaRPr lang="fr-FR" sz="2000" dirty="0">
              <a:solidFill>
                <a:schemeClr val="bg1"/>
              </a:solidFill>
            </a:endParaRPr>
          </a:p>
        </p:txBody>
      </p:sp>
      <p:grpSp>
        <p:nvGrpSpPr>
          <p:cNvPr id="166" name="Group 104"/>
          <p:cNvGrpSpPr/>
          <p:nvPr/>
        </p:nvGrpSpPr>
        <p:grpSpPr>
          <a:xfrm>
            <a:off x="107504" y="4941168"/>
            <a:ext cx="4159841" cy="527690"/>
            <a:chOff x="368249" y="1173645"/>
            <a:chExt cx="3991581" cy="1114425"/>
          </a:xfrm>
        </p:grpSpPr>
        <p:sp>
          <p:nvSpPr>
            <p:cNvPr id="167" name="Rectangle 166"/>
            <p:cNvSpPr/>
            <p:nvPr/>
          </p:nvSpPr>
          <p:spPr>
            <a:xfrm flipH="1">
              <a:off x="3947080" y="1373670"/>
              <a:ext cx="412750" cy="9144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8" name="Freeform 106"/>
            <p:cNvSpPr/>
            <p:nvPr/>
          </p:nvSpPr>
          <p:spPr>
            <a:xfrm rot="5400000" flipH="1">
              <a:off x="3527344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9" name="Rectangle 168"/>
            <p:cNvSpPr/>
            <p:nvPr/>
          </p:nvSpPr>
          <p:spPr>
            <a:xfrm flipH="1">
              <a:off x="368249" y="1373671"/>
              <a:ext cx="3216881" cy="91439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0" name="Freeform 108"/>
            <p:cNvSpPr/>
            <p:nvPr/>
          </p:nvSpPr>
          <p:spPr>
            <a:xfrm rot="16200000" flipH="1" flipV="1">
              <a:off x="2887581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1" name="Rectangle 170"/>
            <p:cNvSpPr/>
            <p:nvPr/>
          </p:nvSpPr>
          <p:spPr>
            <a:xfrm flipH="1">
              <a:off x="3306524" y="1173645"/>
              <a:ext cx="914400" cy="91440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/>
            </a:p>
          </p:txBody>
        </p:sp>
      </p:grpSp>
      <p:sp>
        <p:nvSpPr>
          <p:cNvPr id="178" name="Rectangle 177"/>
          <p:cNvSpPr/>
          <p:nvPr/>
        </p:nvSpPr>
        <p:spPr>
          <a:xfrm>
            <a:off x="251520" y="5045114"/>
            <a:ext cx="294362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lang="ar-DZ" sz="2000" b="1" dirty="0">
                <a:solidFill>
                  <a:schemeClr val="bg1"/>
                </a:solidFill>
                <a:ea typeface="Times New Roman"/>
                <a:cs typeface="Times New Roman"/>
              </a:rPr>
              <a:t>نحدد الصورة ثم نضغط </a:t>
            </a:r>
            <a:r>
              <a:rPr lang="fr-FR" sz="2000" b="1" dirty="0">
                <a:solidFill>
                  <a:schemeClr val="bg1"/>
                </a:solidFill>
                <a:latin typeface="Times New Roman"/>
                <a:ea typeface="Times New Roman"/>
              </a:rPr>
              <a:t>Insérer</a:t>
            </a:r>
            <a:r>
              <a:rPr lang="ar-DZ" sz="2000" b="1" dirty="0">
                <a:solidFill>
                  <a:schemeClr val="bg1"/>
                </a:solidFill>
                <a:latin typeface="Times New Roman"/>
                <a:ea typeface="Times New Roman"/>
              </a:rPr>
              <a:t>.</a:t>
            </a:r>
            <a:endParaRPr lang="fr-FR" b="1" dirty="0">
              <a:solidFill>
                <a:schemeClr val="bg1"/>
              </a:solidFill>
              <a:latin typeface="Times New Roman"/>
              <a:ea typeface="Times New Roman"/>
            </a:endParaRPr>
          </a:p>
        </p:txBody>
      </p:sp>
      <p:sp>
        <p:nvSpPr>
          <p:cNvPr id="179" name="Rectangle 178"/>
          <p:cNvSpPr/>
          <p:nvPr/>
        </p:nvSpPr>
        <p:spPr>
          <a:xfrm>
            <a:off x="3540435" y="4947858"/>
            <a:ext cx="261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b="1" dirty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grpSp>
        <p:nvGrpSpPr>
          <p:cNvPr id="182" name="Group 104"/>
          <p:cNvGrpSpPr/>
          <p:nvPr/>
        </p:nvGrpSpPr>
        <p:grpSpPr>
          <a:xfrm>
            <a:off x="3540434" y="3573016"/>
            <a:ext cx="5194084" cy="527690"/>
            <a:chOff x="-624160" y="1173645"/>
            <a:chExt cx="4983990" cy="1114425"/>
          </a:xfrm>
        </p:grpSpPr>
        <p:sp>
          <p:nvSpPr>
            <p:cNvPr id="183" name="Rectangle 182"/>
            <p:cNvSpPr/>
            <p:nvPr/>
          </p:nvSpPr>
          <p:spPr>
            <a:xfrm flipH="1">
              <a:off x="3947080" y="1373670"/>
              <a:ext cx="412750" cy="9144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4" name="Freeform 106"/>
            <p:cNvSpPr/>
            <p:nvPr/>
          </p:nvSpPr>
          <p:spPr>
            <a:xfrm rot="5400000" flipH="1">
              <a:off x="3527344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5" name="Rectangle 184"/>
            <p:cNvSpPr/>
            <p:nvPr/>
          </p:nvSpPr>
          <p:spPr>
            <a:xfrm flipH="1">
              <a:off x="-624160" y="1373671"/>
              <a:ext cx="4209290" cy="9143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6" name="Freeform 108"/>
            <p:cNvSpPr/>
            <p:nvPr/>
          </p:nvSpPr>
          <p:spPr>
            <a:xfrm rot="16200000" flipH="1" flipV="1">
              <a:off x="2887581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7" name="Rectangle 186"/>
            <p:cNvSpPr/>
            <p:nvPr/>
          </p:nvSpPr>
          <p:spPr>
            <a:xfrm flipH="1">
              <a:off x="3306524" y="1173645"/>
              <a:ext cx="914400" cy="914400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/>
            </a:p>
          </p:txBody>
        </p:sp>
      </p:grpSp>
      <p:sp>
        <p:nvSpPr>
          <p:cNvPr id="194" name="Rectangle 193"/>
          <p:cNvSpPr/>
          <p:nvPr/>
        </p:nvSpPr>
        <p:spPr>
          <a:xfrm>
            <a:off x="3646110" y="3676962"/>
            <a:ext cx="402223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rtl="1"/>
            <a:r>
              <a:rPr lang="ar-SA" sz="2000" b="1" dirty="0" smtClean="0">
                <a:solidFill>
                  <a:schemeClr val="bg1"/>
                </a:solidFill>
              </a:rPr>
              <a:t> </a:t>
            </a:r>
            <a:r>
              <a:rPr lang="ar-DZ" sz="2000" b="1" dirty="0">
                <a:solidFill>
                  <a:schemeClr val="bg1"/>
                </a:solidFill>
                <a:latin typeface="Times New Roman"/>
                <a:ea typeface="Times New Roman"/>
              </a:rPr>
              <a:t>نختار صورة بالنقر عليها بالزر الأيسر للفأرة.</a:t>
            </a:r>
            <a:endParaRPr lang="fr-FR" sz="2000" dirty="0">
              <a:solidFill>
                <a:schemeClr val="bg1"/>
              </a:solidFill>
              <a:latin typeface="Times New Roman"/>
              <a:ea typeface="Times New Roman"/>
            </a:endParaRPr>
          </a:p>
        </p:txBody>
      </p:sp>
      <p:sp>
        <p:nvSpPr>
          <p:cNvPr id="195" name="Rectangle 194"/>
          <p:cNvSpPr/>
          <p:nvPr/>
        </p:nvSpPr>
        <p:spPr>
          <a:xfrm>
            <a:off x="8007608" y="3579706"/>
            <a:ext cx="261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b="1" dirty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grpSp>
        <p:nvGrpSpPr>
          <p:cNvPr id="5" name="Groupe 4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3" name="Groupe 2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2" name="Groupe 1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43" name="Groupe 42"/>
                <p:cNvGrpSpPr/>
                <p:nvPr/>
              </p:nvGrpSpPr>
              <p:grpSpPr>
                <a:xfrm>
                  <a:off x="-180528" y="0"/>
                  <a:ext cx="9324528" cy="6957392"/>
                  <a:chOff x="-180528" y="0"/>
                  <a:chExt cx="9324528" cy="6957392"/>
                </a:xfrm>
              </p:grpSpPr>
              <p:grpSp>
                <p:nvGrpSpPr>
                  <p:cNvPr id="51" name="Groupe 18"/>
                  <p:cNvGrpSpPr/>
                  <p:nvPr/>
                </p:nvGrpSpPr>
                <p:grpSpPr>
                  <a:xfrm>
                    <a:off x="0" y="0"/>
                    <a:ext cx="9144000" cy="6885384"/>
                    <a:chOff x="0" y="0"/>
                    <a:chExt cx="9144000" cy="6885384"/>
                  </a:xfrm>
                </p:grpSpPr>
                <p:sp>
                  <p:nvSpPr>
                    <p:cNvPr id="53" name="Rectangle 52"/>
                    <p:cNvSpPr/>
                    <p:nvPr/>
                  </p:nvSpPr>
                  <p:spPr>
                    <a:xfrm rot="10800000" flipV="1">
                      <a:off x="0" y="0"/>
                      <a:ext cx="6983760" cy="620688"/>
                    </a:xfrm>
                    <a:prstGeom prst="rect">
                      <a:avLst/>
                    </a:prstGeom>
                    <a:solidFill>
                      <a:srgbClr val="FF66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grpSp>
                  <p:nvGrpSpPr>
                    <p:cNvPr id="54" name="Groupe 15"/>
                    <p:cNvGrpSpPr/>
                    <p:nvPr/>
                  </p:nvGrpSpPr>
                  <p:grpSpPr>
                    <a:xfrm>
                      <a:off x="0" y="6237312"/>
                      <a:ext cx="9144000" cy="648072"/>
                      <a:chOff x="0" y="6237312"/>
                      <a:chExt cx="9144000" cy="648072"/>
                    </a:xfrm>
                  </p:grpSpPr>
                  <p:sp>
                    <p:nvSpPr>
                      <p:cNvPr id="56" name="Rectangle 5"/>
                      <p:cNvSpPr/>
                      <p:nvPr/>
                    </p:nvSpPr>
                    <p:spPr>
                      <a:xfrm>
                        <a:off x="0" y="6309320"/>
                        <a:ext cx="9144000" cy="576064"/>
                      </a:xfrm>
                      <a:prstGeom prst="rect">
                        <a:avLst/>
                      </a:prstGeom>
                      <a:solidFill>
                        <a:srgbClr val="CC00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  <p:sp>
                    <p:nvSpPr>
                      <p:cNvPr id="57" name="Rectangle 56"/>
                      <p:cNvSpPr/>
                      <p:nvPr/>
                    </p:nvSpPr>
                    <p:spPr>
                      <a:xfrm flipV="1">
                        <a:off x="0" y="6237312"/>
                        <a:ext cx="9144000" cy="72008"/>
                      </a:xfrm>
                      <a:prstGeom prst="rect">
                        <a:avLst/>
                      </a:prstGeom>
                      <a:solidFill>
                        <a:srgbClr val="FF66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</p:grpSp>
                <p:sp>
                  <p:nvSpPr>
                    <p:cNvPr id="55" name="Rectangle 54"/>
                    <p:cNvSpPr/>
                    <p:nvPr/>
                  </p:nvSpPr>
                  <p:spPr>
                    <a:xfrm rot="10800000" flipV="1">
                      <a:off x="7020272" y="0"/>
                      <a:ext cx="2123728" cy="620688"/>
                    </a:xfrm>
                    <a:prstGeom prst="rect">
                      <a:avLst/>
                    </a:prstGeom>
                    <a:solidFill>
                      <a:srgbClr val="CC00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 dirty="0"/>
                    </a:p>
                  </p:txBody>
                </p:sp>
              </p:grpSp>
              <p:pic>
                <p:nvPicPr>
                  <p:cNvPr id="46" name="Image 45" descr="3-2-blogging-transparent-thumb.png"/>
                  <p:cNvPicPr>
                    <a:picLocks noChangeAspect="1"/>
                  </p:cNvPicPr>
                  <p:nvPr/>
                </p:nvPicPr>
                <p:blipFill>
                  <a:blip r:embed="rId3" cstate="print"/>
                  <a:stretch>
                    <a:fillRect/>
                  </a:stretch>
                </p:blipFill>
                <p:spPr>
                  <a:xfrm>
                    <a:off x="2195736" y="6165304"/>
                    <a:ext cx="864096" cy="741369"/>
                  </a:xfrm>
                  <a:prstGeom prst="rect">
                    <a:avLst/>
                  </a:prstGeom>
                </p:spPr>
              </p:pic>
              <p:pic>
                <p:nvPicPr>
                  <p:cNvPr id="47" name="Image 46" descr="12-2-education-png-image-thumb.png"/>
                  <p:cNvPicPr>
                    <a:picLocks noChangeAspect="1"/>
                  </p:cNvPicPr>
                  <p:nvPr/>
                </p:nvPicPr>
                <p:blipFill>
                  <a:blip r:embed="rId4" cstate="print"/>
                  <a:stretch>
                    <a:fillRect/>
                  </a:stretch>
                </p:blipFill>
                <p:spPr>
                  <a:xfrm>
                    <a:off x="8388424" y="5976664"/>
                    <a:ext cx="720080" cy="980728"/>
                  </a:xfrm>
                  <a:prstGeom prst="rect">
                    <a:avLst/>
                  </a:prstGeom>
                </p:spPr>
              </p:pic>
              <p:sp>
                <p:nvSpPr>
                  <p:cNvPr id="48" name="ZoneTexte 47"/>
                  <p:cNvSpPr txBox="1"/>
                  <p:nvPr/>
                </p:nvSpPr>
                <p:spPr>
                  <a:xfrm>
                    <a:off x="5652120" y="6428655"/>
                    <a:ext cx="2808312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متوسطة قلواز </a:t>
                    </a:r>
                    <a:r>
                      <a:rPr lang="ar-DZ" sz="1900" b="1" dirty="0" err="1" smtClean="0">
                        <a:solidFill>
                          <a:schemeClr val="bg1"/>
                        </a:solidFill>
                      </a:rPr>
                      <a:t>موسى </a:t>
                    </a:r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- بوراشد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49" name="ZoneTexte 48"/>
                  <p:cNvSpPr txBox="1"/>
                  <p:nvPr/>
                </p:nvSpPr>
                <p:spPr>
                  <a:xfrm>
                    <a:off x="-180528" y="6396335"/>
                    <a:ext cx="2448272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2000" b="1" dirty="0" smtClean="0">
                        <a:solidFill>
                          <a:schemeClr val="bg1"/>
                        </a:solidFill>
                      </a:rPr>
                      <a:t>تصميم الأستاذ ماحي رضا</a:t>
                    </a:r>
                    <a:endParaRPr lang="fr-FR" sz="20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50" name="ZoneTexte 49"/>
                  <p:cNvSpPr txBox="1"/>
                  <p:nvPr/>
                </p:nvSpPr>
                <p:spPr>
                  <a:xfrm>
                    <a:off x="2987824" y="6428655"/>
                    <a:ext cx="2088232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المستوى:الثاني متوسط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</p:grpSp>
            <p:pic>
              <p:nvPicPr>
                <p:cNvPr id="96" name="Image 95" descr="3d print business.png"/>
                <p:cNvPicPr>
                  <a:picLocks noChangeAspect="1"/>
                </p:cNvPicPr>
                <p:nvPr/>
              </p:nvPicPr>
              <p:blipFill>
                <a:blip r:embed="rId5" cstate="print"/>
                <a:stretch>
                  <a:fillRect/>
                </a:stretch>
              </p:blipFill>
              <p:spPr>
                <a:xfrm>
                  <a:off x="4788024" y="6274668"/>
                  <a:ext cx="1440160" cy="583332"/>
                </a:xfrm>
                <a:prstGeom prst="rect">
                  <a:avLst/>
                </a:prstGeom>
              </p:spPr>
            </p:pic>
          </p:grpSp>
          <p:sp>
            <p:nvSpPr>
              <p:cNvPr id="98" name="ZoneTexte 97"/>
              <p:cNvSpPr txBox="1"/>
              <p:nvPr/>
            </p:nvSpPr>
            <p:spPr>
              <a:xfrm>
                <a:off x="6948264" y="44624"/>
                <a:ext cx="212372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 smtClean="0">
                    <a:solidFill>
                      <a:schemeClr val="bg1"/>
                    </a:solidFill>
                  </a:rPr>
                  <a:t>الحصة </a:t>
                </a:r>
                <a:r>
                  <a:rPr lang="ar-DZ" sz="2800" b="1" dirty="0" err="1" smtClean="0">
                    <a:solidFill>
                      <a:schemeClr val="bg1"/>
                    </a:solidFill>
                  </a:rPr>
                  <a:t>التعلمية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99" name="ZoneTexte 98"/>
              <p:cNvSpPr txBox="1"/>
              <p:nvPr/>
            </p:nvSpPr>
            <p:spPr>
              <a:xfrm>
                <a:off x="2915816" y="44624"/>
                <a:ext cx="208823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 smtClean="0">
                    <a:solidFill>
                      <a:schemeClr val="bg1"/>
                    </a:solidFill>
                  </a:rPr>
                  <a:t>الأشكال والصور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101" name="Image 100" descr="Microsoft_Word_2013_logo.svg.png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27584" y="33236"/>
              <a:ext cx="792087" cy="587452"/>
            </a:xfrm>
            <a:prstGeom prst="rect">
              <a:avLst/>
            </a:prstGeom>
          </p:spPr>
        </p:pic>
      </p:grpSp>
      <p:sp>
        <p:nvSpPr>
          <p:cNvPr id="100" name="Shape 856"/>
          <p:cNvSpPr/>
          <p:nvPr/>
        </p:nvSpPr>
        <p:spPr>
          <a:xfrm>
            <a:off x="8244408" y="692696"/>
            <a:ext cx="618295" cy="54713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 lIns="50800" tIns="50800" rIns="50800" bIns="50800" numCol="1" anchor="ctr">
            <a:noAutofit/>
          </a:bodyPr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102" name="Shape 859"/>
          <p:cNvSpPr/>
          <p:nvPr/>
        </p:nvSpPr>
        <p:spPr>
          <a:xfrm>
            <a:off x="4571998" y="720328"/>
            <a:ext cx="3620971" cy="4764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8" y="0"/>
                </a:moveTo>
                <a:cubicBezTo>
                  <a:pt x="433" y="0"/>
                  <a:pt x="0" y="3963"/>
                  <a:pt x="0" y="8848"/>
                </a:cubicBezTo>
                <a:lnTo>
                  <a:pt x="0" y="12758"/>
                </a:lnTo>
                <a:cubicBezTo>
                  <a:pt x="0" y="17643"/>
                  <a:pt x="433" y="21600"/>
                  <a:pt x="968" y="21600"/>
                </a:cubicBezTo>
                <a:lnTo>
                  <a:pt x="20197" y="21600"/>
                </a:lnTo>
                <a:cubicBezTo>
                  <a:pt x="20704" y="21600"/>
                  <a:pt x="21119" y="18028"/>
                  <a:pt x="21160" y="13486"/>
                </a:cubicBezTo>
                <a:lnTo>
                  <a:pt x="21600" y="10806"/>
                </a:lnTo>
                <a:lnTo>
                  <a:pt x="21160" y="8119"/>
                </a:lnTo>
                <a:cubicBezTo>
                  <a:pt x="21120" y="3575"/>
                  <a:pt x="20704" y="0"/>
                  <a:pt x="20197" y="0"/>
                </a:cubicBezTo>
                <a:lnTo>
                  <a:pt x="968" y="0"/>
                </a:ln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50800" tIns="50800" rIns="50800" bIns="50800" anchor="ctr"/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103" name="ZoneTexte 102"/>
          <p:cNvSpPr txBox="1"/>
          <p:nvPr/>
        </p:nvSpPr>
        <p:spPr>
          <a:xfrm>
            <a:off x="8244408" y="717993"/>
            <a:ext cx="5462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800" b="1" dirty="0" smtClean="0">
                <a:solidFill>
                  <a:srgbClr val="FFFF00"/>
                </a:solidFill>
              </a:rPr>
              <a:t>3-</a:t>
            </a:r>
            <a:endParaRPr lang="fr-FR" sz="2800" b="1" dirty="0">
              <a:solidFill>
                <a:srgbClr val="FFFF00"/>
              </a:solidFill>
            </a:endParaRPr>
          </a:p>
        </p:txBody>
      </p:sp>
      <p:sp>
        <p:nvSpPr>
          <p:cNvPr id="104" name="ZoneTexte 103"/>
          <p:cNvSpPr txBox="1"/>
          <p:nvPr/>
        </p:nvSpPr>
        <p:spPr>
          <a:xfrm>
            <a:off x="4788024" y="745540"/>
            <a:ext cx="33123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400" b="1" dirty="0" smtClean="0">
                <a:solidFill>
                  <a:srgbClr val="FFFF00"/>
                </a:solidFill>
              </a:rPr>
              <a:t>إدراج الصور </a:t>
            </a:r>
            <a:r>
              <a:rPr lang="fr-FR" sz="2400" b="1" dirty="0" smtClean="0">
                <a:solidFill>
                  <a:srgbClr val="FFFF00"/>
                </a:solidFill>
              </a:rPr>
              <a:t>: Images</a:t>
            </a:r>
            <a:r>
              <a:rPr lang="ar-DZ" sz="2400" b="1" dirty="0" smtClean="0">
                <a:solidFill>
                  <a:srgbClr val="FFFF00"/>
                </a:solidFill>
              </a:rPr>
              <a:t> </a:t>
            </a:r>
            <a:endParaRPr lang="fr-FR" sz="2400" b="1" dirty="0">
              <a:solidFill>
                <a:srgbClr val="FFFF0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-6497" y="830178"/>
            <a:ext cx="4578497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r" rtl="1"/>
            <a:r>
              <a:rPr lang="ar-DZ" sz="2100" b="1" dirty="0">
                <a:solidFill>
                  <a:schemeClr val="bg1"/>
                </a:solidFill>
                <a:latin typeface="Times New Roman"/>
                <a:ea typeface="Times New Roman"/>
              </a:rPr>
              <a:t>هناك طريقتين لإدراج الصور في  معالج النصوص:</a:t>
            </a:r>
            <a:endParaRPr lang="fr-FR" sz="2100" dirty="0">
              <a:solidFill>
                <a:schemeClr val="bg1"/>
              </a:solidFill>
              <a:latin typeface="Times New Roman"/>
              <a:ea typeface="Times New Roman"/>
            </a:endParaRPr>
          </a:p>
        </p:txBody>
      </p:sp>
      <p:sp>
        <p:nvSpPr>
          <p:cNvPr id="122" name="Rectangle 121"/>
          <p:cNvSpPr/>
          <p:nvPr/>
        </p:nvSpPr>
        <p:spPr>
          <a:xfrm>
            <a:off x="4019389" y="4181018"/>
            <a:ext cx="11286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ar-DZ" sz="20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ننقر على:</a:t>
            </a:r>
            <a:endParaRPr lang="fr-FR" sz="2000" dirty="0">
              <a:solidFill>
                <a:schemeClr val="bg1"/>
              </a:solidFill>
            </a:endParaRPr>
          </a:p>
        </p:txBody>
      </p:sp>
      <p:pic>
        <p:nvPicPr>
          <p:cNvPr id="105" name="Image 104"/>
          <p:cNvPicPr/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1291406"/>
            <a:ext cx="3661402" cy="163353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3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3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800"/>
                            </p:stCondLst>
                            <p:childTnLst>
                              <p:par>
                                <p:cTn id="1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300"/>
                            </p:stCondLst>
                            <p:childTnLst>
                              <p:par>
                                <p:cTn id="1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3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600"/>
                            </p:stCondLst>
                            <p:childTnLst>
                              <p:par>
                                <p:cTn id="2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100"/>
                            </p:stCondLst>
                            <p:childTnLst>
                              <p:par>
                                <p:cTn id="2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600"/>
                            </p:stCondLst>
                            <p:childTnLst>
                              <p:par>
                                <p:cTn id="3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100"/>
                            </p:stCondLst>
                            <p:childTnLst>
                              <p:par>
                                <p:cTn id="3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600"/>
                            </p:stCondLst>
                            <p:childTnLst>
                              <p:par>
                                <p:cTn id="4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100"/>
                            </p:stCondLst>
                            <p:childTnLst>
                              <p:par>
                                <p:cTn id="4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600"/>
                            </p:stCondLst>
                            <p:childTnLst>
                              <p:par>
                                <p:cTn id="5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100"/>
                            </p:stCondLst>
                            <p:childTnLst>
                              <p:par>
                                <p:cTn id="5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600"/>
                            </p:stCondLst>
                            <p:childTnLst>
                              <p:par>
                                <p:cTn id="6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3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6100"/>
                            </p:stCondLst>
                            <p:childTnLst>
                              <p:par>
                                <p:cTn id="6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6600"/>
                            </p:stCondLst>
                            <p:childTnLst>
                              <p:par>
                                <p:cTn id="7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3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7100"/>
                            </p:stCondLst>
                            <p:childTnLst>
                              <p:par>
                                <p:cTn id="7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7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7600"/>
                            </p:stCondLst>
                            <p:childTnLst>
                              <p:par>
                                <p:cTn id="7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8100"/>
                            </p:stCondLst>
                            <p:childTnLst>
                              <p:par>
                                <p:cTn id="8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7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8600"/>
                            </p:stCondLst>
                            <p:childTnLst>
                              <p:par>
                                <p:cTn id="8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1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9100"/>
                            </p:stCondLst>
                            <p:childTnLst>
                              <p:par>
                                <p:cTn id="9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9600"/>
                            </p:stCondLst>
                            <p:childTnLst>
                              <p:par>
                                <p:cTn id="9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1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10100"/>
                            </p:stCondLst>
                            <p:childTnLst>
                              <p:par>
                                <p:cTn id="10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5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10600"/>
                            </p:stCondLst>
                            <p:childTnLst>
                              <p:par>
                                <p:cTn id="10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9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11100"/>
                            </p:stCondLst>
                            <p:childTnLst>
                              <p:par>
                                <p:cTn id="11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3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11600"/>
                            </p:stCondLst>
                            <p:childTnLst>
                              <p:par>
                                <p:cTn id="11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12100"/>
                            </p:stCondLst>
                            <p:childTnLst>
                              <p:par>
                                <p:cTn id="11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12600"/>
                            </p:stCondLst>
                            <p:childTnLst>
                              <p:par>
                                <p:cTn id="12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7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13100"/>
                            </p:stCondLst>
                            <p:childTnLst>
                              <p:par>
                                <p:cTn id="12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1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13600"/>
                            </p:stCondLst>
                            <p:childTnLst>
                              <p:par>
                                <p:cTn id="13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14100"/>
                            </p:stCondLst>
                            <p:childTnLst>
                              <p:par>
                                <p:cTn id="13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1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14600"/>
                            </p:stCondLst>
                            <p:childTnLst>
                              <p:par>
                                <p:cTn id="14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5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>
                            <p:stCondLst>
                              <p:cond delay="15100"/>
                            </p:stCondLst>
                            <p:childTnLst>
                              <p:par>
                                <p:cTn id="14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5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15600"/>
                            </p:stCondLst>
                            <p:childTnLst>
                              <p:par>
                                <p:cTn id="15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5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/>
      <p:bldP spid="70" grpId="0"/>
      <p:bldP spid="109" grpId="0"/>
      <p:bldP spid="128" grpId="0"/>
      <p:bldP spid="129" grpId="0"/>
      <p:bldP spid="130" grpId="0"/>
      <p:bldP spid="132" grpId="0"/>
      <p:bldP spid="146" grpId="0"/>
      <p:bldP spid="148" grpId="0"/>
      <p:bldP spid="162" grpId="0"/>
      <p:bldP spid="163" grpId="0"/>
      <p:bldP spid="164" grpId="0"/>
      <p:bldP spid="165" grpId="0"/>
      <p:bldP spid="178" grpId="0"/>
      <p:bldP spid="179" grpId="0"/>
      <p:bldP spid="194" grpId="0"/>
      <p:bldP spid="195" grpId="0"/>
      <p:bldP spid="100" grpId="0" animBg="1"/>
      <p:bldP spid="102" grpId="0" animBg="1"/>
      <p:bldP spid="103" grpId="0"/>
      <p:bldP spid="104" grpId="0"/>
      <p:bldP spid="11" grpId="0"/>
      <p:bldP spid="12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Image 39" descr="shutterstock_17221542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20688"/>
            <a:ext cx="9144000" cy="5616624"/>
          </a:xfrm>
          <a:prstGeom prst="rect">
            <a:avLst/>
          </a:prstGeom>
        </p:spPr>
      </p:pic>
      <p:sp>
        <p:nvSpPr>
          <p:cNvPr id="47" name="Pensées 46"/>
          <p:cNvSpPr/>
          <p:nvPr/>
        </p:nvSpPr>
        <p:spPr>
          <a:xfrm>
            <a:off x="179512" y="637297"/>
            <a:ext cx="3780420" cy="1783591"/>
          </a:xfrm>
          <a:prstGeom prst="cloudCallout">
            <a:avLst>
              <a:gd name="adj1" fmla="val -17203"/>
              <a:gd name="adj2" fmla="val 115596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48" name="Picture 1" descr="C:\Users\RIDHA\Downloads\صور المعلوماتية\Bonhomme-question-01-01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314102" y="3284984"/>
            <a:ext cx="2941886" cy="2952328"/>
          </a:xfrm>
          <a:prstGeom prst="rect">
            <a:avLst/>
          </a:prstGeom>
          <a:noFill/>
        </p:spPr>
      </p:pic>
      <p:sp>
        <p:nvSpPr>
          <p:cNvPr id="49" name="ZoneTexte 48"/>
          <p:cNvSpPr txBox="1"/>
          <p:nvPr/>
        </p:nvSpPr>
        <p:spPr>
          <a:xfrm>
            <a:off x="611559" y="1175149"/>
            <a:ext cx="28803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0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ماهي الخطوات المتبعة لتحديد محاذاة النص بالنسبة للصورة؟ </a:t>
            </a:r>
          </a:p>
        </p:txBody>
      </p:sp>
      <p:grpSp>
        <p:nvGrpSpPr>
          <p:cNvPr id="4" name="Groupe 3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3" name="Groupe 2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2" name="Groupe 1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5" name="Groupe 4"/>
                <p:cNvGrpSpPr/>
                <p:nvPr/>
              </p:nvGrpSpPr>
              <p:grpSpPr>
                <a:xfrm>
                  <a:off x="-180528" y="0"/>
                  <a:ext cx="9324528" cy="6957392"/>
                  <a:chOff x="-180528" y="0"/>
                  <a:chExt cx="9324528" cy="6957392"/>
                </a:xfrm>
              </p:grpSpPr>
              <p:grpSp>
                <p:nvGrpSpPr>
                  <p:cNvPr id="13" name="Groupe 18"/>
                  <p:cNvGrpSpPr/>
                  <p:nvPr/>
                </p:nvGrpSpPr>
                <p:grpSpPr>
                  <a:xfrm>
                    <a:off x="0" y="0"/>
                    <a:ext cx="9144000" cy="6885384"/>
                    <a:chOff x="0" y="0"/>
                    <a:chExt cx="9144000" cy="6885384"/>
                  </a:xfrm>
                </p:grpSpPr>
                <p:sp>
                  <p:nvSpPr>
                    <p:cNvPr id="15" name="Rectangle 14"/>
                    <p:cNvSpPr/>
                    <p:nvPr/>
                  </p:nvSpPr>
                  <p:spPr>
                    <a:xfrm rot="10800000" flipV="1">
                      <a:off x="0" y="0"/>
                      <a:ext cx="6983760" cy="620688"/>
                    </a:xfrm>
                    <a:prstGeom prst="rect">
                      <a:avLst/>
                    </a:prstGeom>
                    <a:solidFill>
                      <a:srgbClr val="FF66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grpSp>
                  <p:nvGrpSpPr>
                    <p:cNvPr id="16" name="Groupe 15"/>
                    <p:cNvGrpSpPr/>
                    <p:nvPr/>
                  </p:nvGrpSpPr>
                  <p:grpSpPr>
                    <a:xfrm>
                      <a:off x="0" y="6237312"/>
                      <a:ext cx="9144000" cy="648072"/>
                      <a:chOff x="0" y="6237312"/>
                      <a:chExt cx="9144000" cy="648072"/>
                    </a:xfrm>
                  </p:grpSpPr>
                  <p:sp>
                    <p:nvSpPr>
                      <p:cNvPr id="18" name="Rectangle 5"/>
                      <p:cNvSpPr/>
                      <p:nvPr/>
                    </p:nvSpPr>
                    <p:spPr>
                      <a:xfrm>
                        <a:off x="0" y="6309320"/>
                        <a:ext cx="9144000" cy="576064"/>
                      </a:xfrm>
                      <a:prstGeom prst="rect">
                        <a:avLst/>
                      </a:prstGeom>
                      <a:solidFill>
                        <a:srgbClr val="CC00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  <p:sp>
                    <p:nvSpPr>
                      <p:cNvPr id="19" name="Rectangle 18"/>
                      <p:cNvSpPr/>
                      <p:nvPr/>
                    </p:nvSpPr>
                    <p:spPr>
                      <a:xfrm flipV="1">
                        <a:off x="0" y="6237312"/>
                        <a:ext cx="9144000" cy="72008"/>
                      </a:xfrm>
                      <a:prstGeom prst="rect">
                        <a:avLst/>
                      </a:prstGeom>
                      <a:solidFill>
                        <a:srgbClr val="FF66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</p:grpSp>
                <p:sp>
                  <p:nvSpPr>
                    <p:cNvPr id="17" name="Rectangle 16"/>
                    <p:cNvSpPr/>
                    <p:nvPr/>
                  </p:nvSpPr>
                  <p:spPr>
                    <a:xfrm rot="10800000" flipV="1">
                      <a:off x="7020272" y="0"/>
                      <a:ext cx="2123728" cy="620688"/>
                    </a:xfrm>
                    <a:prstGeom prst="rect">
                      <a:avLst/>
                    </a:prstGeom>
                    <a:solidFill>
                      <a:srgbClr val="CC00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 dirty="0"/>
                    </a:p>
                  </p:txBody>
                </p:sp>
              </p:grpSp>
              <p:pic>
                <p:nvPicPr>
                  <p:cNvPr id="8" name="Image 7" descr="3-2-blogging-transparent-thumb.png"/>
                  <p:cNvPicPr>
                    <a:picLocks noChangeAspect="1"/>
                  </p:cNvPicPr>
                  <p:nvPr/>
                </p:nvPicPr>
                <p:blipFill>
                  <a:blip r:embed="rId4" cstate="print"/>
                  <a:stretch>
                    <a:fillRect/>
                  </a:stretch>
                </p:blipFill>
                <p:spPr>
                  <a:xfrm>
                    <a:off x="2195736" y="6165304"/>
                    <a:ext cx="864096" cy="741369"/>
                  </a:xfrm>
                  <a:prstGeom prst="rect">
                    <a:avLst/>
                  </a:prstGeom>
                </p:spPr>
              </p:pic>
              <p:pic>
                <p:nvPicPr>
                  <p:cNvPr id="9" name="Image 8" descr="12-2-education-png-image-thumb.png"/>
                  <p:cNvPicPr>
                    <a:picLocks noChangeAspect="1"/>
                  </p:cNvPicPr>
                  <p:nvPr/>
                </p:nvPicPr>
                <p:blipFill>
                  <a:blip r:embed="rId5" cstate="print"/>
                  <a:stretch>
                    <a:fillRect/>
                  </a:stretch>
                </p:blipFill>
                <p:spPr>
                  <a:xfrm>
                    <a:off x="8388424" y="5976664"/>
                    <a:ext cx="720080" cy="980728"/>
                  </a:xfrm>
                  <a:prstGeom prst="rect">
                    <a:avLst/>
                  </a:prstGeom>
                </p:spPr>
              </p:pic>
              <p:sp>
                <p:nvSpPr>
                  <p:cNvPr id="10" name="ZoneTexte 9"/>
                  <p:cNvSpPr txBox="1"/>
                  <p:nvPr/>
                </p:nvSpPr>
                <p:spPr>
                  <a:xfrm>
                    <a:off x="5652120" y="6428655"/>
                    <a:ext cx="2808312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متوسطة قلواز </a:t>
                    </a:r>
                    <a:r>
                      <a:rPr lang="ar-DZ" sz="1900" b="1" dirty="0" err="1" smtClean="0">
                        <a:solidFill>
                          <a:schemeClr val="bg1"/>
                        </a:solidFill>
                      </a:rPr>
                      <a:t>موسى </a:t>
                    </a:r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- بوراشد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1" name="ZoneTexte 10"/>
                  <p:cNvSpPr txBox="1"/>
                  <p:nvPr/>
                </p:nvSpPr>
                <p:spPr>
                  <a:xfrm>
                    <a:off x="-180528" y="6396335"/>
                    <a:ext cx="2448272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2000" b="1" dirty="0" smtClean="0">
                        <a:solidFill>
                          <a:schemeClr val="bg1"/>
                        </a:solidFill>
                      </a:rPr>
                      <a:t>تصميم الأستاذ ماحي رضا</a:t>
                    </a:r>
                    <a:endParaRPr lang="fr-FR" sz="20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2" name="ZoneTexte 11"/>
                  <p:cNvSpPr txBox="1"/>
                  <p:nvPr/>
                </p:nvSpPr>
                <p:spPr>
                  <a:xfrm>
                    <a:off x="2987824" y="6428655"/>
                    <a:ext cx="2088232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المستوى:الثاني متوسط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</p:grpSp>
            <p:pic>
              <p:nvPicPr>
                <p:cNvPr id="25" name="Image 24" descr="3d print business.png"/>
                <p:cNvPicPr>
                  <a:picLocks noChangeAspect="1"/>
                </p:cNvPicPr>
                <p:nvPr/>
              </p:nvPicPr>
              <p:blipFill>
                <a:blip r:embed="rId6" cstate="print"/>
                <a:stretch>
                  <a:fillRect/>
                </a:stretch>
              </p:blipFill>
              <p:spPr>
                <a:xfrm>
                  <a:off x="4788024" y="6274668"/>
                  <a:ext cx="1440160" cy="583332"/>
                </a:xfrm>
                <a:prstGeom prst="rect">
                  <a:avLst/>
                </a:prstGeom>
              </p:spPr>
            </p:pic>
          </p:grpSp>
          <p:sp>
            <p:nvSpPr>
              <p:cNvPr id="27" name="ZoneTexte 26"/>
              <p:cNvSpPr txBox="1"/>
              <p:nvPr/>
            </p:nvSpPr>
            <p:spPr>
              <a:xfrm>
                <a:off x="6948264" y="44624"/>
                <a:ext cx="212372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 smtClean="0">
                    <a:solidFill>
                      <a:schemeClr val="bg1"/>
                    </a:solidFill>
                  </a:rPr>
                  <a:t>الحصة </a:t>
                </a:r>
                <a:r>
                  <a:rPr lang="ar-DZ" sz="2800" b="1" dirty="0" err="1" smtClean="0">
                    <a:solidFill>
                      <a:schemeClr val="bg1"/>
                    </a:solidFill>
                  </a:rPr>
                  <a:t>التعلمية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8" name="ZoneTexte 27"/>
              <p:cNvSpPr txBox="1"/>
              <p:nvPr/>
            </p:nvSpPr>
            <p:spPr>
              <a:xfrm>
                <a:off x="2915816" y="44624"/>
                <a:ext cx="208823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 smtClean="0">
                    <a:solidFill>
                      <a:schemeClr val="bg1"/>
                    </a:solidFill>
                  </a:rPr>
                  <a:t>الأشكال والصور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30" name="Image 29" descr="Microsoft_Word_2013_logo.svg.png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27584" y="33236"/>
              <a:ext cx="792087" cy="587452"/>
            </a:xfrm>
            <a:prstGeom prst="rect">
              <a:avLst/>
            </a:prstGeom>
          </p:spPr>
        </p:pic>
      </p:grpSp>
      <p:pic>
        <p:nvPicPr>
          <p:cNvPr id="29" name="Image 28" descr="11-2-animation-png-hd-thumb.pn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 flipH="1">
            <a:off x="6876256" y="3140968"/>
            <a:ext cx="3096344" cy="3096344"/>
          </a:xfrm>
          <a:prstGeom prst="rect">
            <a:avLst/>
          </a:prstGeom>
        </p:spPr>
      </p:pic>
      <p:grpSp>
        <p:nvGrpSpPr>
          <p:cNvPr id="31" name="Group 77"/>
          <p:cNvGrpSpPr/>
          <p:nvPr/>
        </p:nvGrpSpPr>
        <p:grpSpPr>
          <a:xfrm rot="20503916">
            <a:off x="5682900" y="1512744"/>
            <a:ext cx="2304318" cy="3323489"/>
            <a:chOff x="914400" y="1122362"/>
            <a:chExt cx="2080267" cy="3507909"/>
          </a:xfrm>
        </p:grpSpPr>
        <p:sp>
          <p:nvSpPr>
            <p:cNvPr id="32" name="Freeform 6"/>
            <p:cNvSpPr>
              <a:spLocks/>
            </p:cNvSpPr>
            <p:nvPr/>
          </p:nvSpPr>
          <p:spPr bwMode="auto">
            <a:xfrm>
              <a:off x="1259207" y="4208782"/>
              <a:ext cx="1197680" cy="421489"/>
            </a:xfrm>
            <a:custGeom>
              <a:avLst/>
              <a:gdLst/>
              <a:ahLst/>
              <a:cxnLst>
                <a:cxn ang="0">
                  <a:pos x="0" y="35"/>
                </a:cxn>
                <a:cxn ang="0">
                  <a:pos x="433" y="0"/>
                </a:cxn>
                <a:cxn ang="0">
                  <a:pos x="657" y="193"/>
                </a:cxn>
                <a:cxn ang="0">
                  <a:pos x="0" y="35"/>
                </a:cxn>
              </a:cxnLst>
              <a:rect l="0" t="0" r="r" b="b"/>
              <a:pathLst>
                <a:path w="657" h="193">
                  <a:moveTo>
                    <a:pt x="0" y="35"/>
                  </a:moveTo>
                  <a:lnTo>
                    <a:pt x="433" y="0"/>
                  </a:lnTo>
                  <a:lnTo>
                    <a:pt x="657" y="193"/>
                  </a:lnTo>
                  <a:lnTo>
                    <a:pt x="0" y="35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7"/>
            <p:cNvSpPr>
              <a:spLocks/>
            </p:cNvSpPr>
            <p:nvPr/>
          </p:nvSpPr>
          <p:spPr bwMode="auto">
            <a:xfrm>
              <a:off x="1265879" y="3815606"/>
              <a:ext cx="1728788" cy="48586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089" y="176"/>
                </a:cxn>
                <a:cxn ang="0">
                  <a:pos x="9" y="265"/>
                </a:cxn>
                <a:cxn ang="0">
                  <a:pos x="0" y="0"/>
                </a:cxn>
              </a:cxnLst>
              <a:rect l="0" t="0" r="r" b="b"/>
              <a:pathLst>
                <a:path w="1089" h="265">
                  <a:moveTo>
                    <a:pt x="0" y="0"/>
                  </a:moveTo>
                  <a:lnTo>
                    <a:pt x="1089" y="176"/>
                  </a:lnTo>
                  <a:lnTo>
                    <a:pt x="9" y="2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8"/>
            <p:cNvSpPr>
              <a:spLocks/>
            </p:cNvSpPr>
            <p:nvPr/>
          </p:nvSpPr>
          <p:spPr bwMode="auto">
            <a:xfrm>
              <a:off x="914400" y="1122362"/>
              <a:ext cx="2062163" cy="3013075"/>
            </a:xfrm>
            <a:custGeom>
              <a:avLst/>
              <a:gdLst/>
              <a:ahLst/>
              <a:cxnLst>
                <a:cxn ang="0">
                  <a:pos x="1299" y="1898"/>
                </a:cxn>
                <a:cxn ang="0">
                  <a:pos x="0" y="1689"/>
                </a:cxn>
                <a:cxn ang="0">
                  <a:pos x="0" y="0"/>
                </a:cxn>
                <a:cxn ang="0">
                  <a:pos x="1299" y="0"/>
                </a:cxn>
                <a:cxn ang="0">
                  <a:pos x="1299" y="1898"/>
                </a:cxn>
              </a:cxnLst>
              <a:rect l="0" t="0" r="r" b="b"/>
              <a:pathLst>
                <a:path w="1299" h="1898">
                  <a:moveTo>
                    <a:pt x="1299" y="1898"/>
                  </a:moveTo>
                  <a:lnTo>
                    <a:pt x="0" y="1689"/>
                  </a:lnTo>
                  <a:lnTo>
                    <a:pt x="0" y="0"/>
                  </a:lnTo>
                  <a:lnTo>
                    <a:pt x="1299" y="0"/>
                  </a:lnTo>
                  <a:lnTo>
                    <a:pt x="1299" y="1898"/>
                  </a:lnTo>
                  <a:close/>
                </a:path>
              </a:pathLst>
            </a:custGeom>
            <a:solidFill>
              <a:schemeClr val="accent4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5" name="ZoneTexte 34"/>
          <p:cNvSpPr txBox="1"/>
          <p:nvPr/>
        </p:nvSpPr>
        <p:spPr>
          <a:xfrm rot="20502721">
            <a:off x="5558700" y="1574745"/>
            <a:ext cx="217902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Low" rtl="1"/>
            <a:r>
              <a:rPr lang="ar-DZ" sz="2000" b="1" dirty="0">
                <a:solidFill>
                  <a:schemeClr val="bg1"/>
                </a:solidFill>
                <a:ea typeface="Times New Roman"/>
                <a:cs typeface="Times New Roman"/>
              </a:rPr>
              <a:t>يمكن أن نطبق على الصور </a:t>
            </a:r>
            <a:r>
              <a:rPr lang="ar-DZ" sz="20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معظم </a:t>
            </a:r>
            <a:r>
              <a:rPr lang="ar-DZ" sz="2000" b="1" dirty="0">
                <a:solidFill>
                  <a:schemeClr val="bg1"/>
                </a:solidFill>
                <a:ea typeface="Times New Roman"/>
                <a:cs typeface="Times New Roman"/>
              </a:rPr>
              <a:t>العمليات التي يتم تطبيقها على الأشكال مثل(التحديد، التحريك، الحذف، تغيير </a:t>
            </a:r>
            <a:r>
              <a:rPr lang="ar-DZ" sz="20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الحجم،الترتيب، التجميع وفك التجميع....)</a:t>
            </a:r>
            <a:endParaRPr lang="fr-FR" sz="2000" dirty="0">
              <a:solidFill>
                <a:schemeClr val="bg1"/>
              </a:solidFill>
            </a:endParaRPr>
          </a:p>
        </p:txBody>
      </p:sp>
      <p:pic>
        <p:nvPicPr>
          <p:cNvPr id="36" name="Picture 4" descr="C:\Users\RIDHA\Pictures\Image13.png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2375756" y="3689486"/>
            <a:ext cx="1584176" cy="2713903"/>
          </a:xfrm>
          <a:prstGeom prst="rect">
            <a:avLst/>
          </a:prstGeom>
          <a:noFill/>
        </p:spPr>
      </p:pic>
      <p:grpSp>
        <p:nvGrpSpPr>
          <p:cNvPr id="37" name="Groupe 36"/>
          <p:cNvGrpSpPr/>
          <p:nvPr/>
        </p:nvGrpSpPr>
        <p:grpSpPr>
          <a:xfrm>
            <a:off x="2771798" y="2276872"/>
            <a:ext cx="2700305" cy="1403542"/>
            <a:chOff x="3904666" y="1161725"/>
            <a:chExt cx="2323517" cy="1043139"/>
          </a:xfrm>
        </p:grpSpPr>
        <p:sp>
          <p:nvSpPr>
            <p:cNvPr id="38" name="Pensées 37"/>
            <p:cNvSpPr/>
            <p:nvPr/>
          </p:nvSpPr>
          <p:spPr>
            <a:xfrm>
              <a:off x="3904666" y="1161725"/>
              <a:ext cx="2323517" cy="1043139"/>
            </a:xfrm>
            <a:prstGeom prst="cloudCallout">
              <a:avLst>
                <a:gd name="adj1" fmla="val -14912"/>
                <a:gd name="adj2" fmla="val 87230"/>
              </a:avLst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 rtl="1"/>
              <a:endParaRPr lang="fr-FR" b="1" dirty="0">
                <a:solidFill>
                  <a:schemeClr val="tx1"/>
                </a:solidFill>
              </a:endParaRPr>
            </a:p>
          </p:txBody>
        </p:sp>
        <p:sp>
          <p:nvSpPr>
            <p:cNvPr id="39" name="ZoneTexte 38"/>
            <p:cNvSpPr txBox="1"/>
            <p:nvPr/>
          </p:nvSpPr>
          <p:spPr>
            <a:xfrm>
              <a:off x="4028587" y="1268760"/>
              <a:ext cx="1920772" cy="6862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r" rtl="1" fontAlgn="base">
                <a:spcBef>
                  <a:spcPct val="0"/>
                </a:spcBef>
                <a:spcAft>
                  <a:spcPct val="0"/>
                </a:spcAft>
              </a:pPr>
              <a:r>
                <a:rPr lang="ar-DZ" b="1" dirty="0">
                  <a:solidFill>
                    <a:prstClr val="black"/>
                  </a:solidFill>
                  <a:latin typeface="Times New Roman"/>
                  <a:ea typeface="Times New Roman"/>
                </a:rPr>
                <a:t>بالإضافة إلى:</a:t>
              </a:r>
              <a:endParaRPr lang="fr-FR" b="1" dirty="0">
                <a:solidFill>
                  <a:prstClr val="black"/>
                </a:solidFill>
                <a:latin typeface="Times New Roman"/>
                <a:ea typeface="Times New Roman"/>
              </a:endParaRPr>
            </a:p>
            <a:p>
              <a:pPr lvl="0" algn="r" rtl="1" fontAlgn="base">
                <a:spcBef>
                  <a:spcPct val="0"/>
                </a:spcBef>
                <a:spcAft>
                  <a:spcPct val="0"/>
                </a:spcAft>
              </a:pPr>
              <a:r>
                <a:rPr lang="ar-DZ" b="1" dirty="0">
                  <a:solidFill>
                    <a:prstClr val="black"/>
                  </a:solidFill>
                  <a:latin typeface="Arial" pitchFamily="34" charset="0"/>
                  <a:ea typeface="Times New Roman" pitchFamily="18" charset="0"/>
                  <a:cs typeface="Arial" pitchFamily="34" charset="0"/>
                </a:rPr>
                <a:t>تحديد محاذاة(التفاف) النص بالنسبة للصورة</a:t>
              </a:r>
              <a:r>
                <a:rPr lang="fr-FR" b="1" dirty="0">
                  <a:solidFill>
                    <a:prstClr val="black"/>
                  </a:solidFill>
                  <a:latin typeface="Arial" pitchFamily="34" charset="0"/>
                  <a:ea typeface="Times New Roman" pitchFamily="18" charset="0"/>
                  <a:cs typeface="Arial" pitchFamily="34" charset="0"/>
                </a:rPr>
                <a:t> </a:t>
              </a:r>
              <a:r>
                <a:rPr lang="ar-DZ" b="1" dirty="0">
                  <a:solidFill>
                    <a:prstClr val="black"/>
                  </a:solidFill>
                  <a:latin typeface="Arial" pitchFamily="34" charset="0"/>
                  <a:ea typeface="Times New Roman" pitchFamily="18" charset="0"/>
                  <a:cs typeface="Arial" pitchFamily="34" charset="0"/>
                </a:rPr>
                <a:t>.</a:t>
              </a:r>
              <a:endParaRPr lang="en-US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56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5" dur="175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6" dur="175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7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8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550"/>
                            </p:stCondLst>
                            <p:childTnLst>
                              <p:par>
                                <p:cTn id="20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6050"/>
                            </p:stCondLst>
                            <p:childTnLst>
                              <p:par>
                                <p:cTn id="2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6550"/>
                            </p:stCondLst>
                            <p:childTnLst>
                              <p:par>
                                <p:cTn id="28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7050"/>
                            </p:stCondLst>
                            <p:childTnLst>
                              <p:par>
                                <p:cTn id="3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7550"/>
                            </p:stCondLst>
                            <p:childTnLst>
                              <p:par>
                                <p:cTn id="3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  <p:bldP spid="49" grpId="0"/>
      <p:bldP spid="3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Image 72" descr="h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20688"/>
            <a:ext cx="9144000" cy="5665812"/>
          </a:xfrm>
          <a:prstGeom prst="rect">
            <a:avLst/>
          </a:prstGeom>
        </p:spPr>
      </p:pic>
      <p:grpSp>
        <p:nvGrpSpPr>
          <p:cNvPr id="74" name="Group 60"/>
          <p:cNvGrpSpPr>
            <a:grpSpLocks/>
          </p:cNvGrpSpPr>
          <p:nvPr/>
        </p:nvGrpSpPr>
        <p:grpSpPr bwMode="auto">
          <a:xfrm flipH="1">
            <a:off x="8310719" y="1582198"/>
            <a:ext cx="192383" cy="190618"/>
            <a:chOff x="2078" y="1680"/>
            <a:chExt cx="1615" cy="1615"/>
          </a:xfrm>
        </p:grpSpPr>
        <p:sp>
          <p:nvSpPr>
            <p:cNvPr id="75" name="Oval 61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6" name="Oval 62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7" name="Oval 63"/>
            <p:cNvSpPr>
              <a:spLocks noChangeArrowheads="1"/>
            </p:cNvSpPr>
            <p:nvPr/>
          </p:nvSpPr>
          <p:spPr bwMode="gray">
            <a:xfrm>
              <a:off x="2251" y="1855"/>
              <a:ext cx="1266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fr-FR">
                <a:latin typeface="Arial" charset="0"/>
                <a:cs typeface="Arial" charset="0"/>
              </a:endParaRPr>
            </a:p>
          </p:txBody>
        </p:sp>
        <p:sp>
          <p:nvSpPr>
            <p:cNvPr id="78" name="Oval 64"/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48BE67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fr-FR"/>
            </a:p>
          </p:txBody>
        </p:sp>
        <p:sp>
          <p:nvSpPr>
            <p:cNvPr id="79" name="Oval 65"/>
            <p:cNvSpPr>
              <a:spLocks noChangeArrowheads="1"/>
            </p:cNvSpPr>
            <p:nvPr/>
          </p:nvSpPr>
          <p:spPr bwMode="gray">
            <a:xfrm>
              <a:off x="2331" y="1936"/>
              <a:ext cx="1099" cy="110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fr-FR">
                <a:latin typeface="Arial" charset="0"/>
                <a:cs typeface="Arial" charset="0"/>
              </a:endParaRPr>
            </a:p>
          </p:txBody>
        </p:sp>
        <p:sp>
          <p:nvSpPr>
            <p:cNvPr id="80" name="Oval 66"/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48BE67"/>
                </a:gs>
                <a:gs pos="100000">
                  <a:srgbClr val="235C32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fr-FR"/>
            </a:p>
          </p:txBody>
        </p:sp>
      </p:grpSp>
      <p:grpSp>
        <p:nvGrpSpPr>
          <p:cNvPr id="98" name="Group 118"/>
          <p:cNvGrpSpPr/>
          <p:nvPr/>
        </p:nvGrpSpPr>
        <p:grpSpPr>
          <a:xfrm>
            <a:off x="4716015" y="4418143"/>
            <a:ext cx="3730473" cy="523025"/>
            <a:chOff x="780250" y="2392845"/>
            <a:chExt cx="3579580" cy="1114425"/>
          </a:xfrm>
        </p:grpSpPr>
        <p:sp>
          <p:nvSpPr>
            <p:cNvPr id="99" name="Rectangle 98"/>
            <p:cNvSpPr/>
            <p:nvPr/>
          </p:nvSpPr>
          <p:spPr>
            <a:xfrm flipH="1">
              <a:off x="3947080" y="2592870"/>
              <a:ext cx="412750" cy="914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0" name="Freeform 120"/>
            <p:cNvSpPr/>
            <p:nvPr/>
          </p:nvSpPr>
          <p:spPr>
            <a:xfrm rot="5400000" flipH="1">
              <a:off x="3527344" y="28128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1" name="Rectangle 100"/>
            <p:cNvSpPr/>
            <p:nvPr/>
          </p:nvSpPr>
          <p:spPr>
            <a:xfrm flipH="1">
              <a:off x="780250" y="2592869"/>
              <a:ext cx="2804879" cy="91440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2" name="Freeform 122"/>
            <p:cNvSpPr/>
            <p:nvPr/>
          </p:nvSpPr>
          <p:spPr>
            <a:xfrm rot="16200000" flipH="1" flipV="1">
              <a:off x="2887581" y="28128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3" name="Rectangle 102"/>
            <p:cNvSpPr/>
            <p:nvPr/>
          </p:nvSpPr>
          <p:spPr>
            <a:xfrm flipH="1">
              <a:off x="3306524" y="2392845"/>
              <a:ext cx="914400" cy="9144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/>
            </a:p>
          </p:txBody>
        </p:sp>
      </p:grpSp>
      <p:sp>
        <p:nvSpPr>
          <p:cNvPr id="106" name="Rectangle 105"/>
          <p:cNvSpPr/>
          <p:nvPr/>
        </p:nvSpPr>
        <p:spPr>
          <a:xfrm>
            <a:off x="7733521" y="4418144"/>
            <a:ext cx="261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b="1" dirty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sp>
        <p:nvSpPr>
          <p:cNvPr id="107" name="Rectangle 106"/>
          <p:cNvSpPr/>
          <p:nvPr/>
        </p:nvSpPr>
        <p:spPr>
          <a:xfrm>
            <a:off x="5099045" y="4524068"/>
            <a:ext cx="220925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DZ" sz="20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اختيار المحاذاة المناسبة</a:t>
            </a:r>
            <a:r>
              <a:rPr lang="ar-DZ" sz="2000" b="1" dirty="0" smtClean="0">
                <a:solidFill>
                  <a:schemeClr val="bg1"/>
                </a:solidFill>
                <a:latin typeface="Times New Roman"/>
                <a:ea typeface="Times New Roman"/>
              </a:rPr>
              <a:t>.</a:t>
            </a:r>
            <a:endParaRPr lang="fr-FR" sz="2000" dirty="0">
              <a:solidFill>
                <a:schemeClr val="bg1"/>
              </a:solidFill>
            </a:endParaRPr>
          </a:p>
        </p:txBody>
      </p:sp>
      <p:grpSp>
        <p:nvGrpSpPr>
          <p:cNvPr id="108" name="Group 104"/>
          <p:cNvGrpSpPr/>
          <p:nvPr/>
        </p:nvGrpSpPr>
        <p:grpSpPr>
          <a:xfrm>
            <a:off x="3563888" y="2689951"/>
            <a:ext cx="4879921" cy="527690"/>
            <a:chOff x="-322705" y="1173645"/>
            <a:chExt cx="4682535" cy="1114425"/>
          </a:xfrm>
        </p:grpSpPr>
        <p:sp>
          <p:nvSpPr>
            <p:cNvPr id="109" name="Rectangle 108"/>
            <p:cNvSpPr/>
            <p:nvPr/>
          </p:nvSpPr>
          <p:spPr>
            <a:xfrm flipH="1">
              <a:off x="3947080" y="1373670"/>
              <a:ext cx="412750" cy="91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0" name="Freeform 106"/>
            <p:cNvSpPr/>
            <p:nvPr/>
          </p:nvSpPr>
          <p:spPr>
            <a:xfrm rot="5400000" flipH="1">
              <a:off x="3527344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1" name="Rectangle 110"/>
            <p:cNvSpPr/>
            <p:nvPr/>
          </p:nvSpPr>
          <p:spPr>
            <a:xfrm flipH="1">
              <a:off x="-322705" y="1373671"/>
              <a:ext cx="3907834" cy="9143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2" name="Freeform 108"/>
            <p:cNvSpPr/>
            <p:nvPr/>
          </p:nvSpPr>
          <p:spPr>
            <a:xfrm rot="16200000" flipH="1" flipV="1">
              <a:off x="2887581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3" name="Rectangle 112"/>
            <p:cNvSpPr/>
            <p:nvPr/>
          </p:nvSpPr>
          <p:spPr>
            <a:xfrm flipH="1">
              <a:off x="3306524" y="1173645"/>
              <a:ext cx="914400" cy="9144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/>
            </a:p>
          </p:txBody>
        </p:sp>
      </p:grpSp>
      <p:sp>
        <p:nvSpPr>
          <p:cNvPr id="114" name="Rectangle 113"/>
          <p:cNvSpPr/>
          <p:nvPr/>
        </p:nvSpPr>
        <p:spPr>
          <a:xfrm>
            <a:off x="7668344" y="2699628"/>
            <a:ext cx="261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b="1" dirty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grpSp>
        <p:nvGrpSpPr>
          <p:cNvPr id="116" name="Group 104"/>
          <p:cNvGrpSpPr/>
          <p:nvPr/>
        </p:nvGrpSpPr>
        <p:grpSpPr>
          <a:xfrm>
            <a:off x="3347864" y="3549382"/>
            <a:ext cx="5095944" cy="527690"/>
            <a:chOff x="-529991" y="1173645"/>
            <a:chExt cx="4889821" cy="1114425"/>
          </a:xfrm>
        </p:grpSpPr>
        <p:sp>
          <p:nvSpPr>
            <p:cNvPr id="117" name="Rectangle 116"/>
            <p:cNvSpPr/>
            <p:nvPr/>
          </p:nvSpPr>
          <p:spPr>
            <a:xfrm flipH="1">
              <a:off x="3947080" y="1373670"/>
              <a:ext cx="412750" cy="91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8" name="Freeform 106"/>
            <p:cNvSpPr/>
            <p:nvPr/>
          </p:nvSpPr>
          <p:spPr>
            <a:xfrm rot="5400000" flipH="1">
              <a:off x="3527344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9" name="Rectangle 118"/>
            <p:cNvSpPr/>
            <p:nvPr/>
          </p:nvSpPr>
          <p:spPr>
            <a:xfrm flipH="1">
              <a:off x="-529991" y="1373671"/>
              <a:ext cx="4115121" cy="9143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0" name="Freeform 108"/>
            <p:cNvSpPr/>
            <p:nvPr/>
          </p:nvSpPr>
          <p:spPr>
            <a:xfrm rot="16200000" flipH="1" flipV="1">
              <a:off x="2887581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1" name="Rectangle 120"/>
            <p:cNvSpPr/>
            <p:nvPr/>
          </p:nvSpPr>
          <p:spPr>
            <a:xfrm flipH="1">
              <a:off x="3306524" y="1173645"/>
              <a:ext cx="914400" cy="9144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/>
            </a:p>
          </p:txBody>
        </p:sp>
      </p:grpSp>
      <p:sp>
        <p:nvSpPr>
          <p:cNvPr id="128" name="Rectangle 127"/>
          <p:cNvSpPr/>
          <p:nvPr/>
        </p:nvSpPr>
        <p:spPr>
          <a:xfrm>
            <a:off x="3563888" y="3653328"/>
            <a:ext cx="380772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lang="ar-SA" sz="2000" b="1" dirty="0" smtClean="0">
                <a:solidFill>
                  <a:schemeClr val="bg1"/>
                </a:solidFill>
              </a:rPr>
              <a:t> </a:t>
            </a:r>
            <a:r>
              <a:rPr lang="ar-DZ" sz="2000" b="1" dirty="0" smtClean="0">
                <a:solidFill>
                  <a:schemeClr val="bg1"/>
                </a:solidFill>
                <a:latin typeface="Times New Roman"/>
              </a:rPr>
              <a:t>نختار من القائمة </a:t>
            </a:r>
            <a:r>
              <a:rPr lang="fr-FR" sz="2000" b="1" dirty="0" smtClean="0">
                <a:solidFill>
                  <a:schemeClr val="bg1"/>
                </a:solidFill>
                <a:latin typeface="Times New Roman"/>
              </a:rPr>
              <a:t>Habillage du texte</a:t>
            </a:r>
            <a:r>
              <a:rPr lang="ar-DZ" sz="2000" b="1" dirty="0" smtClean="0">
                <a:solidFill>
                  <a:schemeClr val="bg1"/>
                </a:solidFill>
                <a:latin typeface="Times New Roman"/>
                <a:ea typeface="Times New Roman"/>
              </a:rPr>
              <a:t>.</a:t>
            </a:r>
            <a:endParaRPr lang="fr-FR" b="1" dirty="0">
              <a:solidFill>
                <a:schemeClr val="bg1"/>
              </a:solidFill>
              <a:latin typeface="Times New Roman"/>
              <a:ea typeface="Times New Roman"/>
            </a:endParaRPr>
          </a:p>
        </p:txBody>
      </p:sp>
      <p:sp>
        <p:nvSpPr>
          <p:cNvPr id="129" name="Rectangle 128"/>
          <p:cNvSpPr/>
          <p:nvPr/>
        </p:nvSpPr>
        <p:spPr>
          <a:xfrm>
            <a:off x="7716899" y="3556072"/>
            <a:ext cx="261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b="1" dirty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sp>
        <p:nvSpPr>
          <p:cNvPr id="148" name="Shape 856"/>
          <p:cNvSpPr/>
          <p:nvPr/>
        </p:nvSpPr>
        <p:spPr>
          <a:xfrm>
            <a:off x="8316416" y="692696"/>
            <a:ext cx="618295" cy="54713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lIns="50800" tIns="50800" rIns="50800" bIns="50800" numCol="1" anchor="ctr">
            <a:noAutofit/>
          </a:bodyPr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149" name="Shape 859"/>
          <p:cNvSpPr/>
          <p:nvPr/>
        </p:nvSpPr>
        <p:spPr>
          <a:xfrm>
            <a:off x="4473114" y="720328"/>
            <a:ext cx="3791863" cy="4764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8" y="0"/>
                </a:moveTo>
                <a:cubicBezTo>
                  <a:pt x="433" y="0"/>
                  <a:pt x="0" y="3963"/>
                  <a:pt x="0" y="8848"/>
                </a:cubicBezTo>
                <a:lnTo>
                  <a:pt x="0" y="12758"/>
                </a:lnTo>
                <a:cubicBezTo>
                  <a:pt x="0" y="17643"/>
                  <a:pt x="433" y="21600"/>
                  <a:pt x="968" y="21600"/>
                </a:cubicBezTo>
                <a:lnTo>
                  <a:pt x="20197" y="21600"/>
                </a:lnTo>
                <a:cubicBezTo>
                  <a:pt x="20704" y="21600"/>
                  <a:pt x="21119" y="18028"/>
                  <a:pt x="21160" y="13486"/>
                </a:cubicBezTo>
                <a:lnTo>
                  <a:pt x="21600" y="10806"/>
                </a:lnTo>
                <a:lnTo>
                  <a:pt x="21160" y="8119"/>
                </a:lnTo>
                <a:cubicBezTo>
                  <a:pt x="21120" y="3575"/>
                  <a:pt x="20704" y="0"/>
                  <a:pt x="20197" y="0"/>
                </a:cubicBezTo>
                <a:lnTo>
                  <a:pt x="968" y="0"/>
                </a:ln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lIns="50800" tIns="50800" rIns="50800" bIns="50800" anchor="ctr"/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150" name="ZoneTexte 149"/>
          <p:cNvSpPr txBox="1"/>
          <p:nvPr/>
        </p:nvSpPr>
        <p:spPr>
          <a:xfrm>
            <a:off x="8316416" y="692696"/>
            <a:ext cx="5399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800" b="1" dirty="0" smtClean="0">
                <a:solidFill>
                  <a:srgbClr val="FFFF00"/>
                </a:solidFill>
              </a:rPr>
              <a:t>4-</a:t>
            </a:r>
            <a:endParaRPr lang="fr-FR" sz="2800" b="1" dirty="0">
              <a:solidFill>
                <a:srgbClr val="FFFF00"/>
              </a:solidFill>
            </a:endParaRPr>
          </a:p>
        </p:txBody>
      </p:sp>
      <p:sp>
        <p:nvSpPr>
          <p:cNvPr id="151" name="ZoneTexte 150"/>
          <p:cNvSpPr txBox="1"/>
          <p:nvPr/>
        </p:nvSpPr>
        <p:spPr>
          <a:xfrm>
            <a:off x="5004048" y="735087"/>
            <a:ext cx="29523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400" b="1" dirty="0" smtClean="0">
                <a:solidFill>
                  <a:srgbClr val="FFFF00"/>
                </a:solidFill>
              </a:rPr>
              <a:t>عمليات على الصور</a:t>
            </a:r>
            <a:r>
              <a:rPr lang="fr-FR" sz="2400" b="1" dirty="0" smtClean="0">
                <a:solidFill>
                  <a:srgbClr val="FFFF00"/>
                </a:solidFill>
              </a:rPr>
              <a:t>:</a:t>
            </a:r>
            <a:endParaRPr lang="fr-FR" sz="2400" b="1" dirty="0">
              <a:solidFill>
                <a:srgbClr val="FFFF00"/>
              </a:solidFill>
            </a:endParaRPr>
          </a:p>
        </p:txBody>
      </p:sp>
      <p:sp>
        <p:nvSpPr>
          <p:cNvPr id="152" name="TextBox 68"/>
          <p:cNvSpPr txBox="1"/>
          <p:nvPr/>
        </p:nvSpPr>
        <p:spPr>
          <a:xfrm>
            <a:off x="3942185" y="2833191"/>
            <a:ext cx="3294112" cy="30777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lvl="0" algn="r" rtl="1">
              <a:spcBef>
                <a:spcPct val="20000"/>
              </a:spcBef>
              <a:defRPr/>
            </a:pPr>
            <a:r>
              <a:rPr lang="ar-DZ" sz="2000" b="1" dirty="0" smtClean="0">
                <a:solidFill>
                  <a:schemeClr val="bg1"/>
                </a:solidFill>
              </a:rPr>
              <a:t>نضغط على الصورة بالزر الأيمن للفأرة.</a:t>
            </a:r>
            <a:endParaRPr lang="en-US" sz="2000" dirty="0">
              <a:solidFill>
                <a:schemeClr val="bg1"/>
              </a:solidFill>
            </a:endParaRPr>
          </a:p>
        </p:txBody>
      </p:sp>
      <p:grpSp>
        <p:nvGrpSpPr>
          <p:cNvPr id="13" name="Groupe 12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12" name="Groupe 11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3" name="Groupe 2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5" name="Groupe 18"/>
                <p:cNvGrpSpPr/>
                <p:nvPr/>
              </p:nvGrpSpPr>
              <p:grpSpPr>
                <a:xfrm>
                  <a:off x="0" y="0"/>
                  <a:ext cx="9144000" cy="6885384"/>
                  <a:chOff x="0" y="0"/>
                  <a:chExt cx="9144000" cy="6885384"/>
                </a:xfrm>
              </p:grpSpPr>
              <p:sp>
                <p:nvSpPr>
                  <p:cNvPr id="7" name="Rectangle 6"/>
                  <p:cNvSpPr/>
                  <p:nvPr/>
                </p:nvSpPr>
                <p:spPr>
                  <a:xfrm rot="10800000" flipV="1">
                    <a:off x="0" y="0"/>
                    <a:ext cx="6983760" cy="620688"/>
                  </a:xfrm>
                  <a:prstGeom prst="rect">
                    <a:avLst/>
                  </a:prstGeom>
                  <a:solidFill>
                    <a:srgbClr val="FF6600"/>
                  </a:solidFill>
                  <a:ln>
                    <a:noFill/>
                  </a:ln>
                </p:spPr>
                <p:style>
                  <a:lnRef idx="1">
                    <a:schemeClr val="accent6"/>
                  </a:lnRef>
                  <a:fillRef idx="3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grpSp>
                <p:nvGrpSpPr>
                  <p:cNvPr id="8" name="Groupe 15"/>
                  <p:cNvGrpSpPr/>
                  <p:nvPr/>
                </p:nvGrpSpPr>
                <p:grpSpPr>
                  <a:xfrm>
                    <a:off x="0" y="6237312"/>
                    <a:ext cx="9144000" cy="648072"/>
                    <a:chOff x="0" y="6237312"/>
                    <a:chExt cx="9144000" cy="648072"/>
                  </a:xfrm>
                </p:grpSpPr>
                <p:sp>
                  <p:nvSpPr>
                    <p:cNvPr id="10" name="Rectangle 5"/>
                    <p:cNvSpPr/>
                    <p:nvPr/>
                  </p:nvSpPr>
                  <p:spPr>
                    <a:xfrm>
                      <a:off x="0" y="6309320"/>
                      <a:ext cx="9144000" cy="576064"/>
                    </a:xfrm>
                    <a:prstGeom prst="rect">
                      <a:avLst/>
                    </a:prstGeom>
                    <a:solidFill>
                      <a:srgbClr val="CC0000"/>
                    </a:solidFill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sp>
                  <p:nvSpPr>
                    <p:cNvPr id="11" name="Rectangle 10"/>
                    <p:cNvSpPr/>
                    <p:nvPr/>
                  </p:nvSpPr>
                  <p:spPr>
                    <a:xfrm flipV="1">
                      <a:off x="0" y="6237312"/>
                      <a:ext cx="9144000" cy="72008"/>
                    </a:xfrm>
                    <a:prstGeom prst="rect">
                      <a:avLst/>
                    </a:prstGeom>
                    <a:solidFill>
                      <a:srgbClr val="FF66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</p:grpSp>
              <p:sp>
                <p:nvSpPr>
                  <p:cNvPr id="9" name="Rectangle 8"/>
                  <p:cNvSpPr/>
                  <p:nvPr/>
                </p:nvSpPr>
                <p:spPr>
                  <a:xfrm rot="10800000" flipV="1">
                    <a:off x="7020272" y="0"/>
                    <a:ext cx="2123728" cy="620688"/>
                  </a:xfrm>
                  <a:prstGeom prst="rect">
                    <a:avLst/>
                  </a:prstGeom>
                  <a:solidFill>
                    <a:srgbClr val="CC0000"/>
                  </a:solidFill>
                  <a:ln>
                    <a:noFill/>
                  </a:ln>
                </p:spPr>
                <p:style>
                  <a:lnRef idx="1">
                    <a:schemeClr val="accent6"/>
                  </a:lnRef>
                  <a:fillRef idx="3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dirty="0"/>
                  </a:p>
                </p:txBody>
              </p:sp>
            </p:grpSp>
            <p:pic>
              <p:nvPicPr>
                <p:cNvPr id="21" name="Image 20" descr="3-2-blogging-transparent-thumb.png"/>
                <p:cNvPicPr>
                  <a:picLocks noChangeAspect="1"/>
                </p:cNvPicPr>
                <p:nvPr/>
              </p:nvPicPr>
              <p:blipFill>
                <a:blip r:embed="rId3" cstate="print"/>
                <a:stretch>
                  <a:fillRect/>
                </a:stretch>
              </p:blipFill>
              <p:spPr>
                <a:xfrm>
                  <a:off x="2195736" y="6165304"/>
                  <a:ext cx="864096" cy="741369"/>
                </a:xfrm>
                <a:prstGeom prst="rect">
                  <a:avLst/>
                </a:prstGeom>
              </p:spPr>
            </p:pic>
            <p:pic>
              <p:nvPicPr>
                <p:cNvPr id="22" name="Image 21" descr="12-2-education-png-image-thumb.png"/>
                <p:cNvPicPr>
                  <a:picLocks noChangeAspect="1"/>
                </p:cNvPicPr>
                <p:nvPr/>
              </p:nvPicPr>
              <p:blipFill>
                <a:blip r:embed="rId4" cstate="print"/>
                <a:stretch>
                  <a:fillRect/>
                </a:stretch>
              </p:blipFill>
              <p:spPr>
                <a:xfrm>
                  <a:off x="8388424" y="5976664"/>
                  <a:ext cx="720080" cy="980728"/>
                </a:xfrm>
                <a:prstGeom prst="rect">
                  <a:avLst/>
                </a:prstGeom>
              </p:spPr>
            </p:pic>
            <p:sp>
              <p:nvSpPr>
                <p:cNvPr id="23" name="ZoneTexte 22"/>
                <p:cNvSpPr txBox="1"/>
                <p:nvPr/>
              </p:nvSpPr>
              <p:spPr>
                <a:xfrm>
                  <a:off x="5652120" y="6428655"/>
                  <a:ext cx="2808312" cy="3847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1900" b="1" dirty="0" smtClean="0">
                      <a:solidFill>
                        <a:schemeClr val="bg1"/>
                      </a:solidFill>
                    </a:rPr>
                    <a:t>متوسطة قلواز </a:t>
                  </a:r>
                  <a:r>
                    <a:rPr lang="ar-DZ" sz="1900" b="1" dirty="0" err="1" smtClean="0">
                      <a:solidFill>
                        <a:schemeClr val="bg1"/>
                      </a:solidFill>
                    </a:rPr>
                    <a:t>موسى </a:t>
                  </a:r>
                  <a:r>
                    <a:rPr lang="ar-DZ" sz="1900" b="1" dirty="0" smtClean="0">
                      <a:solidFill>
                        <a:schemeClr val="bg1"/>
                      </a:solidFill>
                    </a:rPr>
                    <a:t>- بوراشد</a:t>
                  </a:r>
                  <a:endParaRPr lang="fr-FR" sz="19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4" name="ZoneTexte 23"/>
                <p:cNvSpPr txBox="1"/>
                <p:nvPr/>
              </p:nvSpPr>
              <p:spPr>
                <a:xfrm>
                  <a:off x="-180528" y="6396335"/>
                  <a:ext cx="244827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2000" b="1" dirty="0" smtClean="0">
                      <a:solidFill>
                        <a:schemeClr val="bg1"/>
                      </a:solidFill>
                    </a:rPr>
                    <a:t>تصميم الأستاذ ماحي رضا</a:t>
                  </a:r>
                  <a:endParaRPr lang="fr-FR" sz="20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5" name="ZoneTexte 24"/>
                <p:cNvSpPr txBox="1"/>
                <p:nvPr/>
              </p:nvSpPr>
              <p:spPr>
                <a:xfrm>
                  <a:off x="2987824" y="6428655"/>
                  <a:ext cx="2088232" cy="3847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1900" b="1" dirty="0" smtClean="0">
                      <a:solidFill>
                        <a:schemeClr val="bg1"/>
                      </a:solidFill>
                    </a:rPr>
                    <a:t>المستوى:الثاني متوسط</a:t>
                  </a:r>
                  <a:endParaRPr lang="fr-FR" sz="1900" b="1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4" name="Image 103" descr="3d print business.png"/>
                <p:cNvPicPr>
                  <a:picLocks noChangeAspect="1"/>
                </p:cNvPicPr>
                <p:nvPr/>
              </p:nvPicPr>
              <p:blipFill>
                <a:blip r:embed="rId5" cstate="print"/>
                <a:stretch>
                  <a:fillRect/>
                </a:stretch>
              </p:blipFill>
              <p:spPr>
                <a:xfrm>
                  <a:off x="4788024" y="6274668"/>
                  <a:ext cx="1440160" cy="583332"/>
                </a:xfrm>
                <a:prstGeom prst="rect">
                  <a:avLst/>
                </a:prstGeom>
              </p:spPr>
            </p:pic>
          </p:grpSp>
          <p:sp>
            <p:nvSpPr>
              <p:cNvPr id="115" name="ZoneTexte 114"/>
              <p:cNvSpPr txBox="1"/>
              <p:nvPr/>
            </p:nvSpPr>
            <p:spPr>
              <a:xfrm>
                <a:off x="6948264" y="44624"/>
                <a:ext cx="212372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 smtClean="0">
                    <a:solidFill>
                      <a:schemeClr val="bg1"/>
                    </a:solidFill>
                  </a:rPr>
                  <a:t>الحصة </a:t>
                </a:r>
                <a:r>
                  <a:rPr lang="ar-DZ" sz="2800" b="1" dirty="0" err="1" smtClean="0">
                    <a:solidFill>
                      <a:schemeClr val="bg1"/>
                    </a:solidFill>
                  </a:rPr>
                  <a:t>التعلمية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22" name="ZoneTexte 121"/>
              <p:cNvSpPr txBox="1"/>
              <p:nvPr/>
            </p:nvSpPr>
            <p:spPr>
              <a:xfrm>
                <a:off x="2843808" y="44624"/>
                <a:ext cx="21602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 smtClean="0">
                    <a:solidFill>
                      <a:schemeClr val="bg1"/>
                    </a:solidFill>
                  </a:rPr>
                  <a:t>الأشكال و الصور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123" name="Image 122" descr="Microsoft_Word_2013_logo.svg.png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27584" y="33236"/>
              <a:ext cx="792087" cy="587452"/>
            </a:xfrm>
            <a:prstGeom prst="rect">
              <a:avLst/>
            </a:prstGeom>
          </p:spPr>
        </p:pic>
      </p:grpSp>
      <p:sp>
        <p:nvSpPr>
          <p:cNvPr id="4" name="Rectangle 3"/>
          <p:cNvSpPr/>
          <p:nvPr/>
        </p:nvSpPr>
        <p:spPr>
          <a:xfrm>
            <a:off x="224240" y="1471874"/>
            <a:ext cx="802838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rtl="1">
              <a:tabLst>
                <a:tab pos="1581785" algn="l"/>
              </a:tabLst>
            </a:pPr>
            <a:r>
              <a:rPr lang="ar-DZ" sz="2000" b="1" dirty="0">
                <a:solidFill>
                  <a:schemeClr val="bg1"/>
                </a:solidFill>
                <a:latin typeface="Times New Roman"/>
                <a:ea typeface="Times New Roman"/>
              </a:rPr>
              <a:t>يمكن أن نطبق على الصور معظم العمليات التي يتم تطبيقها على الأشكال مثل(التحديد، التحريك، الحذف، تغيير الحجم،الترتيب، التجميع وفك التجميع...)، بالإضافة </a:t>
            </a:r>
            <a:r>
              <a:rPr lang="ar-DZ" sz="2000" b="1" dirty="0" smtClean="0">
                <a:solidFill>
                  <a:schemeClr val="bg1"/>
                </a:solidFill>
                <a:latin typeface="Times New Roman"/>
                <a:ea typeface="Times New Roman"/>
              </a:rPr>
              <a:t>إلى:</a:t>
            </a:r>
            <a:r>
              <a:rPr lang="ar-DZ" sz="2000" dirty="0" smtClean="0">
                <a:solidFill>
                  <a:schemeClr val="bg1"/>
                </a:solidFill>
                <a:latin typeface="Times New Roman"/>
                <a:ea typeface="Times New Roman"/>
              </a:rPr>
              <a:t> </a:t>
            </a:r>
            <a:r>
              <a:rPr lang="ar-DZ" sz="2000" b="1" dirty="0" smtClean="0">
                <a:solidFill>
                  <a:schemeClr val="bg1"/>
                </a:solidFill>
                <a:latin typeface="Times New Roman"/>
                <a:ea typeface="Times New Roman"/>
              </a:rPr>
              <a:t>تحديد محاذاة (</a:t>
            </a:r>
            <a:r>
              <a:rPr lang="ar-DZ" sz="2000" b="1" dirty="0">
                <a:solidFill>
                  <a:schemeClr val="bg1"/>
                </a:solidFill>
                <a:latin typeface="Times New Roman"/>
                <a:ea typeface="Times New Roman"/>
              </a:rPr>
              <a:t>التفاف) النص بالنسبة للصورة </a:t>
            </a:r>
            <a:r>
              <a:rPr lang="ar-DZ" sz="2000" b="1" dirty="0" smtClean="0">
                <a:solidFill>
                  <a:schemeClr val="bg1"/>
                </a:solidFill>
                <a:latin typeface="Times New Roman"/>
                <a:ea typeface="Times New Roman"/>
              </a:rPr>
              <a:t>بالنقر بالترتيب على :</a:t>
            </a:r>
            <a:endParaRPr lang="fr-FR" sz="2000" dirty="0">
              <a:solidFill>
                <a:schemeClr val="bg1"/>
              </a:solidFill>
              <a:latin typeface="Times New Roman"/>
              <a:ea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8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800"/>
                            </p:stCondLst>
                            <p:childTnLst>
                              <p:par>
                                <p:cTn id="1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300"/>
                            </p:stCondLst>
                            <p:childTnLst>
                              <p:par>
                                <p:cTn id="2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800"/>
                            </p:stCondLst>
                            <p:childTnLst>
                              <p:par>
                                <p:cTn id="2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300"/>
                            </p:stCondLst>
                            <p:childTnLst>
                              <p:par>
                                <p:cTn id="2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800"/>
                            </p:stCondLst>
                            <p:childTnLst>
                              <p:par>
                                <p:cTn id="3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300"/>
                            </p:stCondLst>
                            <p:childTnLst>
                              <p:par>
                                <p:cTn id="3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800"/>
                            </p:stCondLst>
                            <p:childTnLst>
                              <p:par>
                                <p:cTn id="4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300"/>
                            </p:stCondLst>
                            <p:childTnLst>
                              <p:par>
                                <p:cTn id="4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800"/>
                            </p:stCondLst>
                            <p:childTnLst>
                              <p:par>
                                <p:cTn id="5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3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6300"/>
                            </p:stCondLst>
                            <p:childTnLst>
                              <p:par>
                                <p:cTn id="5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7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6800"/>
                            </p:stCondLst>
                            <p:childTnLst>
                              <p:par>
                                <p:cTn id="5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7300"/>
                            </p:stCondLst>
                            <p:childTnLst>
                              <p:par>
                                <p:cTn id="6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" grpId="0"/>
      <p:bldP spid="107" grpId="0"/>
      <p:bldP spid="114" grpId="0"/>
      <p:bldP spid="128" grpId="0"/>
      <p:bldP spid="129" grpId="0"/>
      <p:bldP spid="148" grpId="0" animBg="1"/>
      <p:bldP spid="149" grpId="0" animBg="1" advAuto="0"/>
      <p:bldP spid="150" grpId="0"/>
      <p:bldP spid="151" grpId="0"/>
      <p:bldP spid="152" grpId="0"/>
      <p:bldP spid="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Image 30" descr="shutterstock_17221542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20688"/>
            <a:ext cx="9144000" cy="5616624"/>
          </a:xfrm>
          <a:prstGeom prst="rect">
            <a:avLst/>
          </a:prstGeom>
        </p:spPr>
      </p:pic>
      <p:sp>
        <p:nvSpPr>
          <p:cNvPr id="32" name="Pensées 31"/>
          <p:cNvSpPr/>
          <p:nvPr/>
        </p:nvSpPr>
        <p:spPr>
          <a:xfrm>
            <a:off x="179512" y="637297"/>
            <a:ext cx="3780420" cy="1783591"/>
          </a:xfrm>
          <a:prstGeom prst="cloudCallout">
            <a:avLst>
              <a:gd name="adj1" fmla="val -16481"/>
              <a:gd name="adj2" fmla="val 114066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33" name="Picture 1" descr="C:\Users\RIDHA\Downloads\صور المعلوماتية\Bonhomme-question-01-01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314102" y="3284984"/>
            <a:ext cx="2941886" cy="2952328"/>
          </a:xfrm>
          <a:prstGeom prst="rect">
            <a:avLst/>
          </a:prstGeom>
          <a:noFill/>
        </p:spPr>
      </p:pic>
      <p:sp>
        <p:nvSpPr>
          <p:cNvPr id="34" name="ZoneTexte 33"/>
          <p:cNvSpPr txBox="1"/>
          <p:nvPr/>
        </p:nvSpPr>
        <p:spPr>
          <a:xfrm>
            <a:off x="611559" y="1175149"/>
            <a:ext cx="28803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0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ماهي الخطوات المتبعة لإدراج النص الفني؟ </a:t>
            </a:r>
          </a:p>
        </p:txBody>
      </p:sp>
      <p:grpSp>
        <p:nvGrpSpPr>
          <p:cNvPr id="35" name="Groupe 34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36" name="Groupe 35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38" name="Groupe 37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41" name="Groupe 40"/>
                <p:cNvGrpSpPr/>
                <p:nvPr/>
              </p:nvGrpSpPr>
              <p:grpSpPr>
                <a:xfrm>
                  <a:off x="-180528" y="0"/>
                  <a:ext cx="9324528" cy="6957392"/>
                  <a:chOff x="-180528" y="0"/>
                  <a:chExt cx="9324528" cy="6957392"/>
                </a:xfrm>
              </p:grpSpPr>
              <p:grpSp>
                <p:nvGrpSpPr>
                  <p:cNvPr id="44" name="Groupe 18"/>
                  <p:cNvGrpSpPr/>
                  <p:nvPr/>
                </p:nvGrpSpPr>
                <p:grpSpPr>
                  <a:xfrm>
                    <a:off x="0" y="0"/>
                    <a:ext cx="9144000" cy="6885384"/>
                    <a:chOff x="0" y="0"/>
                    <a:chExt cx="9144000" cy="6885384"/>
                  </a:xfrm>
                </p:grpSpPr>
                <p:sp>
                  <p:nvSpPr>
                    <p:cNvPr id="70" name="Rectangle 69"/>
                    <p:cNvSpPr/>
                    <p:nvPr/>
                  </p:nvSpPr>
                  <p:spPr>
                    <a:xfrm rot="10800000" flipV="1">
                      <a:off x="0" y="0"/>
                      <a:ext cx="6983760" cy="620688"/>
                    </a:xfrm>
                    <a:prstGeom prst="rect">
                      <a:avLst/>
                    </a:prstGeom>
                    <a:solidFill>
                      <a:srgbClr val="FF66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grpSp>
                  <p:nvGrpSpPr>
                    <p:cNvPr id="71" name="Groupe 70"/>
                    <p:cNvGrpSpPr/>
                    <p:nvPr/>
                  </p:nvGrpSpPr>
                  <p:grpSpPr>
                    <a:xfrm>
                      <a:off x="0" y="6237312"/>
                      <a:ext cx="9144000" cy="648072"/>
                      <a:chOff x="0" y="6237312"/>
                      <a:chExt cx="9144000" cy="648072"/>
                    </a:xfrm>
                  </p:grpSpPr>
                  <p:sp>
                    <p:nvSpPr>
                      <p:cNvPr id="73" name="Rectangle 5"/>
                      <p:cNvSpPr/>
                      <p:nvPr/>
                    </p:nvSpPr>
                    <p:spPr>
                      <a:xfrm>
                        <a:off x="0" y="6309320"/>
                        <a:ext cx="9144000" cy="576064"/>
                      </a:xfrm>
                      <a:prstGeom prst="rect">
                        <a:avLst/>
                      </a:prstGeom>
                      <a:solidFill>
                        <a:srgbClr val="CC00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  <p:sp>
                    <p:nvSpPr>
                      <p:cNvPr id="74" name="Rectangle 73"/>
                      <p:cNvSpPr/>
                      <p:nvPr/>
                    </p:nvSpPr>
                    <p:spPr>
                      <a:xfrm flipV="1">
                        <a:off x="0" y="6237312"/>
                        <a:ext cx="9144000" cy="72008"/>
                      </a:xfrm>
                      <a:prstGeom prst="rect">
                        <a:avLst/>
                      </a:prstGeom>
                      <a:solidFill>
                        <a:srgbClr val="FF66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</p:grpSp>
                <p:sp>
                  <p:nvSpPr>
                    <p:cNvPr id="72" name="Rectangle 71"/>
                    <p:cNvSpPr/>
                    <p:nvPr/>
                  </p:nvSpPr>
                  <p:spPr>
                    <a:xfrm rot="10800000" flipV="1">
                      <a:off x="7020272" y="0"/>
                      <a:ext cx="2123728" cy="620688"/>
                    </a:xfrm>
                    <a:prstGeom prst="rect">
                      <a:avLst/>
                    </a:prstGeom>
                    <a:solidFill>
                      <a:srgbClr val="CC00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 dirty="0"/>
                    </a:p>
                  </p:txBody>
                </p:sp>
              </p:grpSp>
              <p:pic>
                <p:nvPicPr>
                  <p:cNvPr id="45" name="Image 44" descr="3-2-blogging-transparent-thumb.png"/>
                  <p:cNvPicPr>
                    <a:picLocks noChangeAspect="1"/>
                  </p:cNvPicPr>
                  <p:nvPr/>
                </p:nvPicPr>
                <p:blipFill>
                  <a:blip r:embed="rId4" cstate="print"/>
                  <a:stretch>
                    <a:fillRect/>
                  </a:stretch>
                </p:blipFill>
                <p:spPr>
                  <a:xfrm>
                    <a:off x="2195736" y="6165304"/>
                    <a:ext cx="864096" cy="741369"/>
                  </a:xfrm>
                  <a:prstGeom prst="rect">
                    <a:avLst/>
                  </a:prstGeom>
                </p:spPr>
              </p:pic>
              <p:pic>
                <p:nvPicPr>
                  <p:cNvPr id="46" name="Image 45" descr="12-2-education-png-image-thumb.png"/>
                  <p:cNvPicPr>
                    <a:picLocks noChangeAspect="1"/>
                  </p:cNvPicPr>
                  <p:nvPr/>
                </p:nvPicPr>
                <p:blipFill>
                  <a:blip r:embed="rId5" cstate="print"/>
                  <a:stretch>
                    <a:fillRect/>
                  </a:stretch>
                </p:blipFill>
                <p:spPr>
                  <a:xfrm>
                    <a:off x="8388424" y="5976664"/>
                    <a:ext cx="720080" cy="980728"/>
                  </a:xfrm>
                  <a:prstGeom prst="rect">
                    <a:avLst/>
                  </a:prstGeom>
                </p:spPr>
              </p:pic>
              <p:sp>
                <p:nvSpPr>
                  <p:cNvPr id="67" name="ZoneTexte 66"/>
                  <p:cNvSpPr txBox="1"/>
                  <p:nvPr/>
                </p:nvSpPr>
                <p:spPr>
                  <a:xfrm>
                    <a:off x="5652120" y="6428655"/>
                    <a:ext cx="2808312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متوسطة قلواز </a:t>
                    </a:r>
                    <a:r>
                      <a:rPr lang="ar-DZ" sz="1900" b="1" dirty="0" err="1" smtClean="0">
                        <a:solidFill>
                          <a:schemeClr val="bg1"/>
                        </a:solidFill>
                      </a:rPr>
                      <a:t>موسى </a:t>
                    </a:r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- بوراشد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68" name="ZoneTexte 67"/>
                  <p:cNvSpPr txBox="1"/>
                  <p:nvPr/>
                </p:nvSpPr>
                <p:spPr>
                  <a:xfrm>
                    <a:off x="-180528" y="6396335"/>
                    <a:ext cx="2448272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2000" b="1" dirty="0" smtClean="0">
                        <a:solidFill>
                          <a:schemeClr val="bg1"/>
                        </a:solidFill>
                      </a:rPr>
                      <a:t>تصميم الأستاذ ماحي رضا</a:t>
                    </a:r>
                    <a:endParaRPr lang="fr-FR" sz="20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69" name="ZoneTexte 68"/>
                  <p:cNvSpPr txBox="1"/>
                  <p:nvPr/>
                </p:nvSpPr>
                <p:spPr>
                  <a:xfrm>
                    <a:off x="2987824" y="6428655"/>
                    <a:ext cx="2088232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المستوى:الثاني متوسط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</p:grpSp>
            <p:pic>
              <p:nvPicPr>
                <p:cNvPr id="43" name="Image 42" descr="3d print business.png"/>
                <p:cNvPicPr>
                  <a:picLocks noChangeAspect="1"/>
                </p:cNvPicPr>
                <p:nvPr/>
              </p:nvPicPr>
              <p:blipFill>
                <a:blip r:embed="rId6" cstate="print"/>
                <a:stretch>
                  <a:fillRect/>
                </a:stretch>
              </p:blipFill>
              <p:spPr>
                <a:xfrm>
                  <a:off x="4788024" y="6274668"/>
                  <a:ext cx="1440160" cy="583332"/>
                </a:xfrm>
                <a:prstGeom prst="rect">
                  <a:avLst/>
                </a:prstGeom>
              </p:spPr>
            </p:pic>
          </p:grpSp>
          <p:sp>
            <p:nvSpPr>
              <p:cNvPr id="39" name="ZoneTexte 38"/>
              <p:cNvSpPr txBox="1"/>
              <p:nvPr/>
            </p:nvSpPr>
            <p:spPr>
              <a:xfrm>
                <a:off x="6948264" y="44624"/>
                <a:ext cx="212372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 smtClean="0">
                    <a:solidFill>
                      <a:schemeClr val="bg1"/>
                    </a:solidFill>
                  </a:rPr>
                  <a:t>الحصة </a:t>
                </a:r>
                <a:r>
                  <a:rPr lang="ar-DZ" sz="2800" b="1" dirty="0" err="1" smtClean="0">
                    <a:solidFill>
                      <a:schemeClr val="bg1"/>
                    </a:solidFill>
                  </a:rPr>
                  <a:t>التعلمية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0" name="ZoneTexte 39"/>
              <p:cNvSpPr txBox="1"/>
              <p:nvPr/>
            </p:nvSpPr>
            <p:spPr>
              <a:xfrm>
                <a:off x="2915816" y="44624"/>
                <a:ext cx="208823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 smtClean="0">
                    <a:solidFill>
                      <a:schemeClr val="bg1"/>
                    </a:solidFill>
                  </a:rPr>
                  <a:t>الأشكال والصور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37" name="Image 36" descr="Microsoft_Word_2013_logo.svg.png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27584" y="33236"/>
              <a:ext cx="792087" cy="587452"/>
            </a:xfrm>
            <a:prstGeom prst="rect">
              <a:avLst/>
            </a:prstGeom>
          </p:spPr>
        </p:pic>
      </p:grpSp>
      <p:pic>
        <p:nvPicPr>
          <p:cNvPr id="75" name="Image 74" descr="11-2-animation-png-hd-thumb.pn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 flipH="1">
            <a:off x="6876256" y="3140968"/>
            <a:ext cx="3096344" cy="3096344"/>
          </a:xfrm>
          <a:prstGeom prst="rect">
            <a:avLst/>
          </a:prstGeom>
        </p:spPr>
      </p:pic>
      <p:grpSp>
        <p:nvGrpSpPr>
          <p:cNvPr id="76" name="Group 77"/>
          <p:cNvGrpSpPr/>
          <p:nvPr/>
        </p:nvGrpSpPr>
        <p:grpSpPr>
          <a:xfrm rot="20503916">
            <a:off x="5682900" y="1512744"/>
            <a:ext cx="2304318" cy="3323489"/>
            <a:chOff x="914400" y="1122362"/>
            <a:chExt cx="2080267" cy="3507909"/>
          </a:xfrm>
        </p:grpSpPr>
        <p:sp>
          <p:nvSpPr>
            <p:cNvPr id="77" name="Freeform 6"/>
            <p:cNvSpPr>
              <a:spLocks/>
            </p:cNvSpPr>
            <p:nvPr/>
          </p:nvSpPr>
          <p:spPr bwMode="auto">
            <a:xfrm>
              <a:off x="1259207" y="4208782"/>
              <a:ext cx="1197680" cy="421489"/>
            </a:xfrm>
            <a:custGeom>
              <a:avLst/>
              <a:gdLst/>
              <a:ahLst/>
              <a:cxnLst>
                <a:cxn ang="0">
                  <a:pos x="0" y="35"/>
                </a:cxn>
                <a:cxn ang="0">
                  <a:pos x="433" y="0"/>
                </a:cxn>
                <a:cxn ang="0">
                  <a:pos x="657" y="193"/>
                </a:cxn>
                <a:cxn ang="0">
                  <a:pos x="0" y="35"/>
                </a:cxn>
              </a:cxnLst>
              <a:rect l="0" t="0" r="r" b="b"/>
              <a:pathLst>
                <a:path w="657" h="193">
                  <a:moveTo>
                    <a:pt x="0" y="35"/>
                  </a:moveTo>
                  <a:lnTo>
                    <a:pt x="433" y="0"/>
                  </a:lnTo>
                  <a:lnTo>
                    <a:pt x="657" y="193"/>
                  </a:lnTo>
                  <a:lnTo>
                    <a:pt x="0" y="35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Freeform 7"/>
            <p:cNvSpPr>
              <a:spLocks/>
            </p:cNvSpPr>
            <p:nvPr/>
          </p:nvSpPr>
          <p:spPr bwMode="auto">
            <a:xfrm>
              <a:off x="1265879" y="3815606"/>
              <a:ext cx="1728788" cy="48586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089" y="176"/>
                </a:cxn>
                <a:cxn ang="0">
                  <a:pos x="9" y="265"/>
                </a:cxn>
                <a:cxn ang="0">
                  <a:pos x="0" y="0"/>
                </a:cxn>
              </a:cxnLst>
              <a:rect l="0" t="0" r="r" b="b"/>
              <a:pathLst>
                <a:path w="1089" h="265">
                  <a:moveTo>
                    <a:pt x="0" y="0"/>
                  </a:moveTo>
                  <a:lnTo>
                    <a:pt x="1089" y="176"/>
                  </a:lnTo>
                  <a:lnTo>
                    <a:pt x="9" y="2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Freeform 8"/>
            <p:cNvSpPr>
              <a:spLocks/>
            </p:cNvSpPr>
            <p:nvPr/>
          </p:nvSpPr>
          <p:spPr bwMode="auto">
            <a:xfrm>
              <a:off x="914400" y="1122362"/>
              <a:ext cx="2062163" cy="3013075"/>
            </a:xfrm>
            <a:custGeom>
              <a:avLst/>
              <a:gdLst/>
              <a:ahLst/>
              <a:cxnLst>
                <a:cxn ang="0">
                  <a:pos x="1299" y="1898"/>
                </a:cxn>
                <a:cxn ang="0">
                  <a:pos x="0" y="1689"/>
                </a:cxn>
                <a:cxn ang="0">
                  <a:pos x="0" y="0"/>
                </a:cxn>
                <a:cxn ang="0">
                  <a:pos x="1299" y="0"/>
                </a:cxn>
                <a:cxn ang="0">
                  <a:pos x="1299" y="1898"/>
                </a:cxn>
              </a:cxnLst>
              <a:rect l="0" t="0" r="r" b="b"/>
              <a:pathLst>
                <a:path w="1299" h="1898">
                  <a:moveTo>
                    <a:pt x="1299" y="1898"/>
                  </a:moveTo>
                  <a:lnTo>
                    <a:pt x="0" y="1689"/>
                  </a:lnTo>
                  <a:lnTo>
                    <a:pt x="0" y="0"/>
                  </a:lnTo>
                  <a:lnTo>
                    <a:pt x="1299" y="0"/>
                  </a:lnTo>
                  <a:lnTo>
                    <a:pt x="1299" y="1898"/>
                  </a:lnTo>
                  <a:close/>
                </a:path>
              </a:pathLst>
            </a:custGeom>
            <a:solidFill>
              <a:schemeClr val="accent4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80" name="ZoneTexte 79"/>
          <p:cNvSpPr txBox="1"/>
          <p:nvPr/>
        </p:nvSpPr>
        <p:spPr>
          <a:xfrm rot="20502721">
            <a:off x="5558700" y="1882522"/>
            <a:ext cx="217902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Low" rtl="1"/>
            <a:r>
              <a:rPr lang="ar-DZ" sz="2000" b="1" dirty="0" smtClean="0">
                <a:solidFill>
                  <a:schemeClr val="bg1"/>
                </a:solidFill>
                <a:cs typeface="Times New Roman"/>
              </a:rPr>
              <a:t>قد تحتاج لكتابة عناوين البحوث بطريقة مزخرفة ومنسقة وهذا ما يسمى بالنصوص الفنية في معالج النصوص.</a:t>
            </a:r>
            <a:endParaRPr lang="fr-FR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56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5" dur="175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6" dur="175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7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8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4115"/>
                            </p:stCondLst>
                            <p:childTnLst>
                              <p:par>
                                <p:cTn id="20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615"/>
                            </p:stCondLst>
                            <p:childTnLst>
                              <p:par>
                                <p:cTn id="2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115"/>
                            </p:stCondLst>
                            <p:childTnLst>
                              <p:par>
                                <p:cTn id="2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4" grpId="0"/>
      <p:bldP spid="8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h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20688"/>
            <a:ext cx="9144000" cy="5665812"/>
          </a:xfrm>
          <a:prstGeom prst="rect">
            <a:avLst/>
          </a:prstGeom>
        </p:spPr>
      </p:pic>
      <p:grpSp>
        <p:nvGrpSpPr>
          <p:cNvPr id="5" name="Groupe 4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6" name="Groupe 5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8" name="Groupe 7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11" name="Groupe 18"/>
                <p:cNvGrpSpPr/>
                <p:nvPr/>
              </p:nvGrpSpPr>
              <p:grpSpPr>
                <a:xfrm>
                  <a:off x="0" y="0"/>
                  <a:ext cx="9144000" cy="6885384"/>
                  <a:chOff x="0" y="0"/>
                  <a:chExt cx="9144000" cy="6885384"/>
                </a:xfrm>
              </p:grpSpPr>
              <p:sp>
                <p:nvSpPr>
                  <p:cNvPr id="18" name="Rectangle 17"/>
                  <p:cNvSpPr/>
                  <p:nvPr/>
                </p:nvSpPr>
                <p:spPr>
                  <a:xfrm rot="10800000" flipV="1">
                    <a:off x="0" y="0"/>
                    <a:ext cx="6983760" cy="620688"/>
                  </a:xfrm>
                  <a:prstGeom prst="rect">
                    <a:avLst/>
                  </a:prstGeom>
                  <a:solidFill>
                    <a:srgbClr val="FF6600"/>
                  </a:solidFill>
                  <a:ln>
                    <a:noFill/>
                  </a:ln>
                </p:spPr>
                <p:style>
                  <a:lnRef idx="1">
                    <a:schemeClr val="accent6"/>
                  </a:lnRef>
                  <a:fillRef idx="3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grpSp>
                <p:nvGrpSpPr>
                  <p:cNvPr id="19" name="Groupe 15"/>
                  <p:cNvGrpSpPr/>
                  <p:nvPr/>
                </p:nvGrpSpPr>
                <p:grpSpPr>
                  <a:xfrm>
                    <a:off x="0" y="6237312"/>
                    <a:ext cx="9144000" cy="648072"/>
                    <a:chOff x="0" y="6237312"/>
                    <a:chExt cx="9144000" cy="648072"/>
                  </a:xfrm>
                </p:grpSpPr>
                <p:sp>
                  <p:nvSpPr>
                    <p:cNvPr id="21" name="Rectangle 5"/>
                    <p:cNvSpPr/>
                    <p:nvPr/>
                  </p:nvSpPr>
                  <p:spPr>
                    <a:xfrm>
                      <a:off x="0" y="6309320"/>
                      <a:ext cx="9144000" cy="576064"/>
                    </a:xfrm>
                    <a:prstGeom prst="rect">
                      <a:avLst/>
                    </a:prstGeom>
                    <a:solidFill>
                      <a:srgbClr val="CC0000"/>
                    </a:solidFill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sp>
                  <p:nvSpPr>
                    <p:cNvPr id="22" name="Rectangle 21"/>
                    <p:cNvSpPr/>
                    <p:nvPr/>
                  </p:nvSpPr>
                  <p:spPr>
                    <a:xfrm flipV="1">
                      <a:off x="0" y="6237312"/>
                      <a:ext cx="9144000" cy="72008"/>
                    </a:xfrm>
                    <a:prstGeom prst="rect">
                      <a:avLst/>
                    </a:prstGeom>
                    <a:solidFill>
                      <a:srgbClr val="FF66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</p:grpSp>
              <p:sp>
                <p:nvSpPr>
                  <p:cNvPr id="20" name="Rectangle 19"/>
                  <p:cNvSpPr/>
                  <p:nvPr/>
                </p:nvSpPr>
                <p:spPr>
                  <a:xfrm rot="10800000" flipV="1">
                    <a:off x="7020272" y="0"/>
                    <a:ext cx="2123728" cy="620688"/>
                  </a:xfrm>
                  <a:prstGeom prst="rect">
                    <a:avLst/>
                  </a:prstGeom>
                  <a:solidFill>
                    <a:srgbClr val="CC0000"/>
                  </a:solidFill>
                  <a:ln>
                    <a:noFill/>
                  </a:ln>
                </p:spPr>
                <p:style>
                  <a:lnRef idx="1">
                    <a:schemeClr val="accent6"/>
                  </a:lnRef>
                  <a:fillRef idx="3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dirty="0"/>
                  </a:p>
                </p:txBody>
              </p:sp>
            </p:grpSp>
            <p:pic>
              <p:nvPicPr>
                <p:cNvPr id="12" name="Image 11" descr="3-2-blogging-transparent-thumb.png"/>
                <p:cNvPicPr>
                  <a:picLocks noChangeAspect="1"/>
                </p:cNvPicPr>
                <p:nvPr/>
              </p:nvPicPr>
              <p:blipFill>
                <a:blip r:embed="rId3" cstate="print"/>
                <a:stretch>
                  <a:fillRect/>
                </a:stretch>
              </p:blipFill>
              <p:spPr>
                <a:xfrm>
                  <a:off x="2195736" y="6165304"/>
                  <a:ext cx="864096" cy="741369"/>
                </a:xfrm>
                <a:prstGeom prst="rect">
                  <a:avLst/>
                </a:prstGeom>
              </p:spPr>
            </p:pic>
            <p:pic>
              <p:nvPicPr>
                <p:cNvPr id="13" name="Image 12" descr="12-2-education-png-image-thumb.png"/>
                <p:cNvPicPr>
                  <a:picLocks noChangeAspect="1"/>
                </p:cNvPicPr>
                <p:nvPr/>
              </p:nvPicPr>
              <p:blipFill>
                <a:blip r:embed="rId4" cstate="print"/>
                <a:stretch>
                  <a:fillRect/>
                </a:stretch>
              </p:blipFill>
              <p:spPr>
                <a:xfrm>
                  <a:off x="8388424" y="5976664"/>
                  <a:ext cx="720080" cy="980728"/>
                </a:xfrm>
                <a:prstGeom prst="rect">
                  <a:avLst/>
                </a:prstGeom>
              </p:spPr>
            </p:pic>
            <p:sp>
              <p:nvSpPr>
                <p:cNvPr id="14" name="ZoneTexte 13"/>
                <p:cNvSpPr txBox="1"/>
                <p:nvPr/>
              </p:nvSpPr>
              <p:spPr>
                <a:xfrm>
                  <a:off x="5652120" y="6428655"/>
                  <a:ext cx="2808312" cy="3847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1900" b="1" dirty="0" smtClean="0">
                      <a:solidFill>
                        <a:schemeClr val="bg1"/>
                      </a:solidFill>
                    </a:rPr>
                    <a:t>متوسطة قلواز </a:t>
                  </a:r>
                  <a:r>
                    <a:rPr lang="ar-DZ" sz="1900" b="1" dirty="0" err="1" smtClean="0">
                      <a:solidFill>
                        <a:schemeClr val="bg1"/>
                      </a:solidFill>
                    </a:rPr>
                    <a:t>موسى </a:t>
                  </a:r>
                  <a:r>
                    <a:rPr lang="ar-DZ" sz="1900" b="1" dirty="0" smtClean="0">
                      <a:solidFill>
                        <a:schemeClr val="bg1"/>
                      </a:solidFill>
                    </a:rPr>
                    <a:t>- بوراشد</a:t>
                  </a:r>
                  <a:endParaRPr lang="fr-FR" sz="19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5" name="ZoneTexte 14"/>
                <p:cNvSpPr txBox="1"/>
                <p:nvPr/>
              </p:nvSpPr>
              <p:spPr>
                <a:xfrm>
                  <a:off x="-180528" y="6396335"/>
                  <a:ext cx="244827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2000" b="1" dirty="0" smtClean="0">
                      <a:solidFill>
                        <a:schemeClr val="bg1"/>
                      </a:solidFill>
                    </a:rPr>
                    <a:t>تصميم الأستاذ ماحي رضا</a:t>
                  </a:r>
                  <a:endParaRPr lang="fr-FR" sz="20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6" name="ZoneTexte 15"/>
                <p:cNvSpPr txBox="1"/>
                <p:nvPr/>
              </p:nvSpPr>
              <p:spPr>
                <a:xfrm>
                  <a:off x="2987824" y="6428655"/>
                  <a:ext cx="2088232" cy="3847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1900" b="1" dirty="0" smtClean="0">
                      <a:solidFill>
                        <a:schemeClr val="bg1"/>
                      </a:solidFill>
                    </a:rPr>
                    <a:t>المستوى:الثاني متوسط</a:t>
                  </a:r>
                  <a:endParaRPr lang="fr-FR" sz="1900" b="1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7" name="Image 16" descr="3d print business.png"/>
                <p:cNvPicPr>
                  <a:picLocks noChangeAspect="1"/>
                </p:cNvPicPr>
                <p:nvPr/>
              </p:nvPicPr>
              <p:blipFill>
                <a:blip r:embed="rId5" cstate="print"/>
                <a:stretch>
                  <a:fillRect/>
                </a:stretch>
              </p:blipFill>
              <p:spPr>
                <a:xfrm>
                  <a:off x="4788024" y="6274668"/>
                  <a:ext cx="1440160" cy="583332"/>
                </a:xfrm>
                <a:prstGeom prst="rect">
                  <a:avLst/>
                </a:prstGeom>
              </p:spPr>
            </p:pic>
          </p:grpSp>
          <p:sp>
            <p:nvSpPr>
              <p:cNvPr id="9" name="ZoneTexte 8"/>
              <p:cNvSpPr txBox="1"/>
              <p:nvPr/>
            </p:nvSpPr>
            <p:spPr>
              <a:xfrm>
                <a:off x="6948264" y="44624"/>
                <a:ext cx="212372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 smtClean="0">
                    <a:solidFill>
                      <a:schemeClr val="bg1"/>
                    </a:solidFill>
                  </a:rPr>
                  <a:t>الحصة </a:t>
                </a:r>
                <a:r>
                  <a:rPr lang="ar-DZ" sz="2800" b="1" dirty="0" err="1" smtClean="0">
                    <a:solidFill>
                      <a:schemeClr val="bg1"/>
                    </a:solidFill>
                  </a:rPr>
                  <a:t>التعلمية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0" name="ZoneTexte 9"/>
              <p:cNvSpPr txBox="1"/>
              <p:nvPr/>
            </p:nvSpPr>
            <p:spPr>
              <a:xfrm>
                <a:off x="2843808" y="44624"/>
                <a:ext cx="21602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 smtClean="0">
                    <a:solidFill>
                      <a:schemeClr val="bg1"/>
                    </a:solidFill>
                  </a:rPr>
                  <a:t>الأشكال و الصور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7" name="Image 6" descr="Microsoft_Word_2013_logo.svg.png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27584" y="33236"/>
              <a:ext cx="792087" cy="587452"/>
            </a:xfrm>
            <a:prstGeom prst="rect">
              <a:avLst/>
            </a:prstGeom>
          </p:spPr>
        </p:pic>
      </p:grpSp>
      <p:grpSp>
        <p:nvGrpSpPr>
          <p:cNvPr id="23" name="Group 118"/>
          <p:cNvGrpSpPr/>
          <p:nvPr/>
        </p:nvGrpSpPr>
        <p:grpSpPr>
          <a:xfrm>
            <a:off x="4716015" y="3914087"/>
            <a:ext cx="3730473" cy="523025"/>
            <a:chOff x="780250" y="2392845"/>
            <a:chExt cx="3579580" cy="1114425"/>
          </a:xfrm>
        </p:grpSpPr>
        <p:sp>
          <p:nvSpPr>
            <p:cNvPr id="24" name="Rectangle 23"/>
            <p:cNvSpPr/>
            <p:nvPr/>
          </p:nvSpPr>
          <p:spPr>
            <a:xfrm flipH="1">
              <a:off x="3947080" y="2592870"/>
              <a:ext cx="412750" cy="914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Freeform 120"/>
            <p:cNvSpPr/>
            <p:nvPr/>
          </p:nvSpPr>
          <p:spPr>
            <a:xfrm rot="5400000" flipH="1">
              <a:off x="3527344" y="28128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Rectangle 25"/>
            <p:cNvSpPr/>
            <p:nvPr/>
          </p:nvSpPr>
          <p:spPr>
            <a:xfrm flipH="1">
              <a:off x="780250" y="2592869"/>
              <a:ext cx="2804879" cy="91440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Freeform 122"/>
            <p:cNvSpPr/>
            <p:nvPr/>
          </p:nvSpPr>
          <p:spPr>
            <a:xfrm rot="16200000" flipH="1" flipV="1">
              <a:off x="2887581" y="28128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" name="Rectangle 27"/>
            <p:cNvSpPr/>
            <p:nvPr/>
          </p:nvSpPr>
          <p:spPr>
            <a:xfrm flipH="1">
              <a:off x="3306524" y="2392845"/>
              <a:ext cx="914400" cy="9144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/>
            </a:p>
          </p:txBody>
        </p:sp>
      </p:grpSp>
      <p:sp>
        <p:nvSpPr>
          <p:cNvPr id="29" name="Rectangle 28"/>
          <p:cNvSpPr/>
          <p:nvPr/>
        </p:nvSpPr>
        <p:spPr>
          <a:xfrm>
            <a:off x="7733521" y="3914088"/>
            <a:ext cx="261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b="1" dirty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sp>
        <p:nvSpPr>
          <p:cNvPr id="30" name="Rectangle 29"/>
          <p:cNvSpPr/>
          <p:nvPr/>
        </p:nvSpPr>
        <p:spPr>
          <a:xfrm>
            <a:off x="5148064" y="4020012"/>
            <a:ext cx="213071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DZ" sz="20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نختار شكل النص الفني</a:t>
            </a:r>
            <a:r>
              <a:rPr lang="ar-DZ" sz="2000" b="1" dirty="0" smtClean="0">
                <a:solidFill>
                  <a:schemeClr val="bg1"/>
                </a:solidFill>
                <a:latin typeface="Times New Roman"/>
                <a:ea typeface="Times New Roman"/>
              </a:rPr>
              <a:t>.</a:t>
            </a:r>
            <a:endParaRPr lang="fr-FR" sz="2000" dirty="0">
              <a:solidFill>
                <a:schemeClr val="bg1"/>
              </a:solidFill>
            </a:endParaRPr>
          </a:p>
        </p:txBody>
      </p:sp>
      <p:grpSp>
        <p:nvGrpSpPr>
          <p:cNvPr id="31" name="Group 104"/>
          <p:cNvGrpSpPr/>
          <p:nvPr/>
        </p:nvGrpSpPr>
        <p:grpSpPr>
          <a:xfrm>
            <a:off x="5004049" y="2132856"/>
            <a:ext cx="3439761" cy="527690"/>
            <a:chOff x="1059203" y="1173645"/>
            <a:chExt cx="3300627" cy="1114425"/>
          </a:xfrm>
        </p:grpSpPr>
        <p:sp>
          <p:nvSpPr>
            <p:cNvPr id="32" name="Rectangle 31"/>
            <p:cNvSpPr/>
            <p:nvPr/>
          </p:nvSpPr>
          <p:spPr>
            <a:xfrm flipH="1">
              <a:off x="3947080" y="1373670"/>
              <a:ext cx="412750" cy="91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Freeform 106"/>
            <p:cNvSpPr/>
            <p:nvPr/>
          </p:nvSpPr>
          <p:spPr>
            <a:xfrm rot="5400000" flipH="1">
              <a:off x="3527344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/>
            <p:cNvSpPr/>
            <p:nvPr/>
          </p:nvSpPr>
          <p:spPr>
            <a:xfrm flipH="1">
              <a:off x="1059203" y="1373671"/>
              <a:ext cx="2525927" cy="9143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Freeform 108"/>
            <p:cNvSpPr/>
            <p:nvPr/>
          </p:nvSpPr>
          <p:spPr>
            <a:xfrm rot="16200000" flipH="1" flipV="1">
              <a:off x="2887581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Rectangle 35"/>
            <p:cNvSpPr/>
            <p:nvPr/>
          </p:nvSpPr>
          <p:spPr>
            <a:xfrm flipH="1">
              <a:off x="3306524" y="1173645"/>
              <a:ext cx="914400" cy="9144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/>
            </a:p>
          </p:txBody>
        </p:sp>
      </p:grpSp>
      <p:sp>
        <p:nvSpPr>
          <p:cNvPr id="37" name="Rectangle 36"/>
          <p:cNvSpPr/>
          <p:nvPr/>
        </p:nvSpPr>
        <p:spPr>
          <a:xfrm>
            <a:off x="7668344" y="2142533"/>
            <a:ext cx="261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b="1" dirty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grpSp>
        <p:nvGrpSpPr>
          <p:cNvPr id="38" name="Group 104"/>
          <p:cNvGrpSpPr/>
          <p:nvPr/>
        </p:nvGrpSpPr>
        <p:grpSpPr>
          <a:xfrm>
            <a:off x="4427984" y="3045326"/>
            <a:ext cx="4015824" cy="527690"/>
            <a:chOff x="506440" y="1173645"/>
            <a:chExt cx="3853390" cy="1114425"/>
          </a:xfrm>
        </p:grpSpPr>
        <p:sp>
          <p:nvSpPr>
            <p:cNvPr id="39" name="Rectangle 38"/>
            <p:cNvSpPr/>
            <p:nvPr/>
          </p:nvSpPr>
          <p:spPr>
            <a:xfrm flipH="1">
              <a:off x="3947080" y="1373670"/>
              <a:ext cx="412750" cy="914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Freeform 106"/>
            <p:cNvSpPr/>
            <p:nvPr/>
          </p:nvSpPr>
          <p:spPr>
            <a:xfrm rot="5400000" flipH="1">
              <a:off x="3527344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Rectangle 40"/>
            <p:cNvSpPr/>
            <p:nvPr/>
          </p:nvSpPr>
          <p:spPr>
            <a:xfrm flipH="1">
              <a:off x="506440" y="1373671"/>
              <a:ext cx="3078690" cy="914399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Freeform 108"/>
            <p:cNvSpPr/>
            <p:nvPr/>
          </p:nvSpPr>
          <p:spPr>
            <a:xfrm rot="16200000" flipH="1" flipV="1">
              <a:off x="2887581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Rectangle 42"/>
            <p:cNvSpPr/>
            <p:nvPr/>
          </p:nvSpPr>
          <p:spPr>
            <a:xfrm flipH="1">
              <a:off x="3306524" y="1173645"/>
              <a:ext cx="914400" cy="9144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/>
            </a:p>
          </p:txBody>
        </p:sp>
      </p:grpSp>
      <p:sp>
        <p:nvSpPr>
          <p:cNvPr id="44" name="Rectangle 43"/>
          <p:cNvSpPr/>
          <p:nvPr/>
        </p:nvSpPr>
        <p:spPr>
          <a:xfrm>
            <a:off x="4572000" y="3149272"/>
            <a:ext cx="279961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lang="ar-SA" sz="2000" b="1" dirty="0" smtClean="0">
                <a:solidFill>
                  <a:schemeClr val="bg1"/>
                </a:solidFill>
              </a:rPr>
              <a:t> </a:t>
            </a:r>
            <a:r>
              <a:rPr lang="ar-DZ" sz="2000" b="1" dirty="0" smtClean="0">
                <a:solidFill>
                  <a:schemeClr val="bg1"/>
                </a:solidFill>
                <a:latin typeface="Times New Roman"/>
              </a:rPr>
              <a:t>الأداة </a:t>
            </a:r>
            <a:r>
              <a:rPr lang="fr-FR" sz="2000" b="1" dirty="0" smtClean="0">
                <a:solidFill>
                  <a:schemeClr val="bg1"/>
                </a:solidFill>
                <a:latin typeface="Times New Roman"/>
              </a:rPr>
              <a:t>Word art </a:t>
            </a:r>
            <a:r>
              <a:rPr lang="ar-DZ" sz="2000" b="1" dirty="0" smtClean="0">
                <a:solidFill>
                  <a:schemeClr val="bg1"/>
                </a:solidFill>
                <a:latin typeface="Times New Roman"/>
              </a:rPr>
              <a:t>           .</a:t>
            </a:r>
            <a:endParaRPr lang="fr-FR" b="1" dirty="0">
              <a:solidFill>
                <a:schemeClr val="bg1"/>
              </a:solidFill>
              <a:latin typeface="Times New Roman"/>
              <a:ea typeface="Times New Roman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7716899" y="3052016"/>
            <a:ext cx="261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b="1" dirty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sp>
        <p:nvSpPr>
          <p:cNvPr id="46" name="TextBox 68"/>
          <p:cNvSpPr txBox="1"/>
          <p:nvPr/>
        </p:nvSpPr>
        <p:spPr>
          <a:xfrm>
            <a:off x="5220072" y="2276873"/>
            <a:ext cx="2016224" cy="30777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lvl="0" algn="r" rtl="1">
              <a:spcBef>
                <a:spcPct val="20000"/>
              </a:spcBef>
              <a:defRPr/>
            </a:pPr>
            <a:r>
              <a:rPr lang="ar-DZ" sz="2000" b="1" dirty="0" smtClean="0">
                <a:solidFill>
                  <a:schemeClr val="bg1"/>
                </a:solidFill>
              </a:rPr>
              <a:t>التبويب </a:t>
            </a:r>
            <a:r>
              <a:rPr lang="en-US" sz="2000" b="1" dirty="0" smtClean="0">
                <a:solidFill>
                  <a:schemeClr val="bg1"/>
                </a:solidFill>
              </a:rPr>
              <a:t>Insertion</a:t>
            </a:r>
            <a:r>
              <a:rPr lang="ar-DZ" sz="2000" b="1" dirty="0" smtClean="0">
                <a:solidFill>
                  <a:schemeClr val="bg1"/>
                </a:solidFill>
              </a:rPr>
              <a:t>.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47" name="Shape 856"/>
          <p:cNvSpPr/>
          <p:nvPr/>
        </p:nvSpPr>
        <p:spPr>
          <a:xfrm>
            <a:off x="8244408" y="711860"/>
            <a:ext cx="618295" cy="54713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lIns="50800" tIns="50800" rIns="50800" bIns="50800" numCol="1" anchor="ctr">
            <a:noAutofit/>
          </a:bodyPr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48" name="Shape 859"/>
          <p:cNvSpPr/>
          <p:nvPr/>
        </p:nvSpPr>
        <p:spPr>
          <a:xfrm>
            <a:off x="4211960" y="739492"/>
            <a:ext cx="3981010" cy="4764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8" y="0"/>
                </a:moveTo>
                <a:cubicBezTo>
                  <a:pt x="433" y="0"/>
                  <a:pt x="0" y="3963"/>
                  <a:pt x="0" y="8848"/>
                </a:cubicBezTo>
                <a:lnTo>
                  <a:pt x="0" y="12758"/>
                </a:lnTo>
                <a:cubicBezTo>
                  <a:pt x="0" y="17643"/>
                  <a:pt x="433" y="21600"/>
                  <a:pt x="968" y="21600"/>
                </a:cubicBezTo>
                <a:lnTo>
                  <a:pt x="20197" y="21600"/>
                </a:lnTo>
                <a:cubicBezTo>
                  <a:pt x="20704" y="21600"/>
                  <a:pt x="21119" y="18028"/>
                  <a:pt x="21160" y="13486"/>
                </a:cubicBezTo>
                <a:lnTo>
                  <a:pt x="21600" y="10806"/>
                </a:lnTo>
                <a:lnTo>
                  <a:pt x="21160" y="8119"/>
                </a:lnTo>
                <a:cubicBezTo>
                  <a:pt x="21120" y="3575"/>
                  <a:pt x="20704" y="0"/>
                  <a:pt x="20197" y="0"/>
                </a:cubicBezTo>
                <a:lnTo>
                  <a:pt x="968" y="0"/>
                </a:ln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50800" tIns="50800" rIns="50800" bIns="50800" anchor="ctr"/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49" name="ZoneTexte 48"/>
          <p:cNvSpPr txBox="1"/>
          <p:nvPr/>
        </p:nvSpPr>
        <p:spPr>
          <a:xfrm>
            <a:off x="8244408" y="692696"/>
            <a:ext cx="5462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fr-FR" sz="2800" b="1" dirty="0" smtClean="0">
                <a:solidFill>
                  <a:srgbClr val="FFFF00"/>
                </a:solidFill>
              </a:rPr>
              <a:t>5</a:t>
            </a:r>
            <a:r>
              <a:rPr lang="ar-DZ" sz="2800" b="1" dirty="0" smtClean="0">
                <a:solidFill>
                  <a:srgbClr val="FFFF00"/>
                </a:solidFill>
              </a:rPr>
              <a:t>-</a:t>
            </a:r>
            <a:endParaRPr lang="fr-FR" sz="2800" b="1" dirty="0">
              <a:solidFill>
                <a:srgbClr val="FFFF00"/>
              </a:solidFill>
            </a:endParaRPr>
          </a:p>
        </p:txBody>
      </p:sp>
      <p:sp>
        <p:nvSpPr>
          <p:cNvPr id="50" name="ZoneTexte 49"/>
          <p:cNvSpPr txBox="1"/>
          <p:nvPr/>
        </p:nvSpPr>
        <p:spPr>
          <a:xfrm>
            <a:off x="4571999" y="764704"/>
            <a:ext cx="32105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400" b="1" dirty="0" smtClean="0">
                <a:solidFill>
                  <a:srgbClr val="FFFF00"/>
                </a:solidFill>
              </a:rPr>
              <a:t>إدراج نص فني:</a:t>
            </a:r>
            <a:endParaRPr lang="fr-FR" sz="2400" b="1" dirty="0">
              <a:solidFill>
                <a:srgbClr val="FFFF00"/>
              </a:solidFill>
            </a:endParaRPr>
          </a:p>
        </p:txBody>
      </p:sp>
      <p:grpSp>
        <p:nvGrpSpPr>
          <p:cNvPr id="51" name="Group 118"/>
          <p:cNvGrpSpPr/>
          <p:nvPr/>
        </p:nvGrpSpPr>
        <p:grpSpPr>
          <a:xfrm>
            <a:off x="2483767" y="4778183"/>
            <a:ext cx="5962722" cy="523025"/>
            <a:chOff x="-1361708" y="2392845"/>
            <a:chExt cx="5721538" cy="1114425"/>
          </a:xfrm>
        </p:grpSpPr>
        <p:sp>
          <p:nvSpPr>
            <p:cNvPr id="52" name="Rectangle 51"/>
            <p:cNvSpPr/>
            <p:nvPr/>
          </p:nvSpPr>
          <p:spPr>
            <a:xfrm flipH="1">
              <a:off x="3947080" y="2592870"/>
              <a:ext cx="412750" cy="9144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3" name="Freeform 120"/>
            <p:cNvSpPr/>
            <p:nvPr/>
          </p:nvSpPr>
          <p:spPr>
            <a:xfrm rot="5400000" flipH="1">
              <a:off x="3527344" y="28128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4" name="Rectangle 53"/>
            <p:cNvSpPr/>
            <p:nvPr/>
          </p:nvSpPr>
          <p:spPr>
            <a:xfrm flipH="1">
              <a:off x="-1361708" y="2592869"/>
              <a:ext cx="4946832" cy="91440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5" name="Freeform 122"/>
            <p:cNvSpPr/>
            <p:nvPr/>
          </p:nvSpPr>
          <p:spPr>
            <a:xfrm rot="16200000" flipH="1" flipV="1">
              <a:off x="2887581" y="28128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6" name="Rectangle 55"/>
            <p:cNvSpPr/>
            <p:nvPr/>
          </p:nvSpPr>
          <p:spPr>
            <a:xfrm flipH="1">
              <a:off x="3306524" y="2392845"/>
              <a:ext cx="914400" cy="91440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/>
            </a:p>
          </p:txBody>
        </p:sp>
      </p:grpSp>
      <p:sp>
        <p:nvSpPr>
          <p:cNvPr id="57" name="Rectangle 56"/>
          <p:cNvSpPr/>
          <p:nvPr/>
        </p:nvSpPr>
        <p:spPr>
          <a:xfrm>
            <a:off x="7733522" y="4778184"/>
            <a:ext cx="261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b="1" dirty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sp>
        <p:nvSpPr>
          <p:cNvPr id="58" name="Rectangle 57"/>
          <p:cNvSpPr/>
          <p:nvPr/>
        </p:nvSpPr>
        <p:spPr>
          <a:xfrm>
            <a:off x="2627784" y="4884108"/>
            <a:ext cx="468052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ar-DZ" sz="20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نكتب النص الفني في النافذة التي تظهر ثم نضغط  </a:t>
            </a:r>
            <a:r>
              <a:rPr lang="en-US" sz="20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Ok</a:t>
            </a:r>
            <a:r>
              <a:rPr lang="ar-DZ" sz="2000" b="1" dirty="0" smtClean="0">
                <a:solidFill>
                  <a:schemeClr val="bg1"/>
                </a:solidFill>
                <a:latin typeface="Times New Roman"/>
                <a:ea typeface="Times New Roman"/>
              </a:rPr>
              <a:t>.</a:t>
            </a:r>
            <a:endParaRPr lang="fr-FR" sz="2000" dirty="0">
              <a:solidFill>
                <a:schemeClr val="bg1"/>
              </a:solidFill>
            </a:endParaRPr>
          </a:p>
        </p:txBody>
      </p:sp>
      <p:grpSp>
        <p:nvGrpSpPr>
          <p:cNvPr id="59" name="Group 60"/>
          <p:cNvGrpSpPr>
            <a:grpSpLocks/>
          </p:cNvGrpSpPr>
          <p:nvPr/>
        </p:nvGrpSpPr>
        <p:grpSpPr bwMode="auto">
          <a:xfrm flipH="1">
            <a:off x="8310719" y="1582198"/>
            <a:ext cx="192383" cy="190618"/>
            <a:chOff x="2078" y="1680"/>
            <a:chExt cx="1615" cy="1615"/>
          </a:xfrm>
        </p:grpSpPr>
        <p:sp>
          <p:nvSpPr>
            <p:cNvPr id="60" name="Oval 61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1" name="Oval 62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2" name="Oval 63"/>
            <p:cNvSpPr>
              <a:spLocks noChangeArrowheads="1"/>
            </p:cNvSpPr>
            <p:nvPr/>
          </p:nvSpPr>
          <p:spPr bwMode="gray">
            <a:xfrm>
              <a:off x="2251" y="1855"/>
              <a:ext cx="1266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fr-FR">
                <a:latin typeface="Arial" charset="0"/>
                <a:cs typeface="Arial" charset="0"/>
              </a:endParaRPr>
            </a:p>
          </p:txBody>
        </p:sp>
        <p:sp>
          <p:nvSpPr>
            <p:cNvPr id="63" name="Oval 64"/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48BE67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fr-FR"/>
            </a:p>
          </p:txBody>
        </p:sp>
        <p:sp>
          <p:nvSpPr>
            <p:cNvPr id="64" name="Oval 65"/>
            <p:cNvSpPr>
              <a:spLocks noChangeArrowheads="1"/>
            </p:cNvSpPr>
            <p:nvPr/>
          </p:nvSpPr>
          <p:spPr bwMode="gray">
            <a:xfrm>
              <a:off x="2331" y="1936"/>
              <a:ext cx="1099" cy="110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fr-FR">
                <a:latin typeface="Arial" charset="0"/>
                <a:cs typeface="Arial" charset="0"/>
              </a:endParaRPr>
            </a:p>
          </p:txBody>
        </p:sp>
        <p:sp>
          <p:nvSpPr>
            <p:cNvPr id="65" name="Oval 66"/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48BE67"/>
                </a:gs>
                <a:gs pos="100000">
                  <a:srgbClr val="235C32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fr-FR"/>
            </a:p>
          </p:txBody>
        </p:sp>
      </p:grpSp>
      <p:sp>
        <p:nvSpPr>
          <p:cNvPr id="66" name="Rectangle 65"/>
          <p:cNvSpPr/>
          <p:nvPr/>
        </p:nvSpPr>
        <p:spPr>
          <a:xfrm>
            <a:off x="6259569" y="1470556"/>
            <a:ext cx="1984839" cy="4462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DZ" sz="2300" b="1" dirty="0">
                <a:solidFill>
                  <a:schemeClr val="bg1"/>
                </a:solidFill>
                <a:ea typeface="Times New Roman"/>
                <a:cs typeface="Times New Roman"/>
              </a:rPr>
              <a:t>ننقر بالترتيب </a:t>
            </a:r>
            <a:r>
              <a:rPr lang="ar-DZ" sz="23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على:</a:t>
            </a:r>
            <a:endParaRPr lang="fr-FR" sz="2300" dirty="0">
              <a:solidFill>
                <a:schemeClr val="bg1"/>
              </a:solidFill>
            </a:endParaRPr>
          </a:p>
        </p:txBody>
      </p:sp>
      <p:pic>
        <p:nvPicPr>
          <p:cNvPr id="67" name="Image 66"/>
          <p:cNvPicPr/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5114992" y="3212976"/>
            <a:ext cx="393112" cy="3143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034243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3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3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800"/>
                            </p:stCondLst>
                            <p:childTnLst>
                              <p:par>
                                <p:cTn id="1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300"/>
                            </p:stCondLst>
                            <p:childTnLst>
                              <p:par>
                                <p:cTn id="1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3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"/>
                            </p:stCondLst>
                            <p:childTnLst>
                              <p:par>
                                <p:cTn id="8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7" grpId="0"/>
      <p:bldP spid="44" grpId="0"/>
      <p:bldP spid="45" grpId="0"/>
      <p:bldP spid="46" grpId="0"/>
      <p:bldP spid="47" grpId="0" animBg="1"/>
      <p:bldP spid="48" grpId="0" animBg="1"/>
      <p:bldP spid="49" grpId="0"/>
      <p:bldP spid="50" grpId="0"/>
      <p:bldP spid="57" grpId="0"/>
      <p:bldP spid="58" grpId="0"/>
      <p:bldP spid="66" grpId="0"/>
    </p:bld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22348</TotalTime>
  <Words>955</Words>
  <Application>Microsoft Office PowerPoint</Application>
  <PresentationFormat>Affichage à l'écran (4:3)</PresentationFormat>
  <Paragraphs>223</Paragraphs>
  <Slides>19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0" baseType="lpstr"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CEM KALOUAZ MOUSSA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RIDHA MAHI</dc:creator>
  <cp:lastModifiedBy>RIDHA MAHI</cp:lastModifiedBy>
  <cp:revision>656</cp:revision>
  <dcterms:created xsi:type="dcterms:W3CDTF">2017-08-13T13:54:07Z</dcterms:created>
  <dcterms:modified xsi:type="dcterms:W3CDTF">2017-11-07T19:34:07Z</dcterms:modified>
</cp:coreProperties>
</file>