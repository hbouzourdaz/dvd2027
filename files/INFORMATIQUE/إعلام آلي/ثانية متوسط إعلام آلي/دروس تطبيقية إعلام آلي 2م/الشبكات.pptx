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6" r:id="rId8"/>
    <p:sldId id="265" r:id="rId9"/>
    <p:sldId id="277" r:id="rId10"/>
    <p:sldId id="267" r:id="rId11"/>
    <p:sldId id="269" r:id="rId12"/>
    <p:sldId id="270" r:id="rId13"/>
    <p:sldId id="278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3728" autoAdjust="0"/>
  </p:normalViewPr>
  <p:slideViewPr>
    <p:cSldViewPr>
      <p:cViewPr varScale="1">
        <p:scale>
          <a:sx n="70" d="100"/>
          <a:sy n="70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17/01/2018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660232" y="2348880"/>
            <a:ext cx="3456384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313453" y="1103772"/>
            <a:ext cx="2577601" cy="322289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239204" y="1130863"/>
            <a:ext cx="25206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>
                <a:solidFill>
                  <a:schemeClr val="bg1"/>
                </a:solidFill>
              </a:rPr>
              <a:t>مدير شركة لديه عدة حواسيب في الشركة أراد استعمال  طريقة لكي يستطيع إرسال معلومات إلى كل عامل لديه حاسوب في مكتبه وكل عامل يستطيع إرسال ما قام به </a:t>
            </a:r>
            <a:r>
              <a:rPr lang="ar-DZ" sz="2200" b="1" dirty="0" smtClean="0">
                <a:solidFill>
                  <a:schemeClr val="bg1"/>
                </a:solidFill>
              </a:rPr>
              <a:t>للمدير.</a:t>
            </a:r>
            <a:endParaRPr lang="ar-DZ" sz="2200" b="1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971600" y="1612831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كيف  يمكنه ذلك  بواسطة الحاسوب فقط؟</a:t>
            </a: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0" name="Groupe 8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2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4" name="Rectangle 5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8" name="Rectangle 5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6" name="Rectangle 5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9" name="Image 48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50" name="Image 49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5796136" y="6351711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0" name="ZoneTexte 7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1" name="ZoneTexte 80"/>
                  <p:cNvSpPr txBox="1"/>
                  <p:nvPr/>
                </p:nvSpPr>
                <p:spPr>
                  <a:xfrm>
                    <a:off x="2915816" y="6381328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83" name="Image 82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16016" y="6309320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28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78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28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28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78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0" y="620689"/>
            <a:ext cx="9144000" cy="5688631"/>
            <a:chOff x="0" y="620689"/>
            <a:chExt cx="9144000" cy="5688631"/>
          </a:xfrm>
        </p:grpSpPr>
        <p:pic>
          <p:nvPicPr>
            <p:cNvPr id="3" name="Picture 2" descr="C:\Users\RIDHA\Downloads\صور المعلوماتية\2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20689"/>
              <a:ext cx="9144000" cy="56886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4786806" y="1628800"/>
              <a:ext cx="3345759" cy="259228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788024" y="1707898"/>
            <a:ext cx="3346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400" b="1" dirty="0">
                <a:solidFill>
                  <a:srgbClr val="FFFF00"/>
                </a:solidFill>
              </a:rPr>
              <a:t> </a:t>
            </a:r>
            <a:r>
              <a:rPr lang="ar-DZ" sz="2400" b="1" dirty="0" smtClean="0">
                <a:solidFill>
                  <a:schemeClr val="bg1"/>
                </a:solidFill>
              </a:rPr>
              <a:t>الشبكات </a:t>
            </a:r>
            <a:r>
              <a:rPr lang="en-US" sz="2400" b="1" dirty="0" smtClean="0">
                <a:solidFill>
                  <a:schemeClr val="bg1"/>
                </a:solidFill>
              </a:rPr>
              <a:t>R</a:t>
            </a:r>
            <a:r>
              <a:rPr lang="fr-FR" sz="2400" b="1" dirty="0" err="1" smtClean="0">
                <a:solidFill>
                  <a:schemeClr val="bg1"/>
                </a:solidFill>
              </a:rPr>
              <a:t>éseaux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754642" y="2564904"/>
            <a:ext cx="3413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400" b="1" dirty="0" smtClean="0">
                <a:solidFill>
                  <a:schemeClr val="bg1"/>
                </a:solidFill>
              </a:rPr>
              <a:t>مفهوم الشبك</a:t>
            </a:r>
            <a:r>
              <a:rPr lang="ar-DZ" sz="2400" b="1" dirty="0">
                <a:solidFill>
                  <a:schemeClr val="bg1"/>
                </a:solidFill>
              </a:rPr>
              <a:t>ة</a:t>
            </a:r>
            <a:r>
              <a:rPr lang="ar-DZ" sz="2400" b="1" dirty="0" smtClean="0">
                <a:solidFill>
                  <a:schemeClr val="bg1"/>
                </a:solidFill>
              </a:rPr>
              <a:t> و أنواعها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788023" y="3356992"/>
            <a:ext cx="334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400" b="1">
                <a:solidFill>
                  <a:schemeClr val="bg1"/>
                </a:solidFill>
              </a:rPr>
              <a:t>مفهوم </a:t>
            </a:r>
            <a:r>
              <a:rPr lang="ar-DZ" sz="2400" b="1" smtClean="0">
                <a:solidFill>
                  <a:schemeClr val="bg1"/>
                </a:solidFill>
              </a:rPr>
              <a:t>الشبكة </a:t>
            </a:r>
            <a:r>
              <a:rPr lang="ar-DZ" sz="2400" b="1" dirty="0">
                <a:solidFill>
                  <a:schemeClr val="bg1"/>
                </a:solidFill>
              </a:rPr>
              <a:t>و </a:t>
            </a:r>
            <a:r>
              <a:rPr lang="ar-DZ" sz="2400" b="1" dirty="0" smtClean="0">
                <a:solidFill>
                  <a:schemeClr val="bg1"/>
                </a:solidFill>
              </a:rPr>
              <a:t>أنواعها</a:t>
            </a:r>
            <a:endParaRPr lang="fr-FR" sz="2400" b="1" dirty="0">
              <a:solidFill>
                <a:srgbClr val="FF0000"/>
              </a:solidFill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4" name="Groupe 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5" name="Groupe 14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8" name="Groupe 17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1" name="Rectangle 2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9" name="Rectangle 1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0" name="Image 9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1" name="Image 10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" name="ZoneTexte 12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ZoneTexte 13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6" name="Image 5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64696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0" name="ZoneTexte 2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ZoneTexte 3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pic>
        <p:nvPicPr>
          <p:cNvPr id="36" name="Picture 2" descr="C:\Users\RIDHA\Downloads\صور المعلوماتية\2-2-networking-png-image-thumb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54" y="1016732"/>
            <a:ext cx="2023245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6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2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4400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5313" y="205316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104287" y="1943880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572000" y="1964926"/>
            <a:ext cx="2520280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092281" y="1988840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788024" y="1988840"/>
            <a:ext cx="221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مفهوم الشبكة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5664126" y="2636912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2786723" y="2657958"/>
            <a:ext cx="2865398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5630458" y="265795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2987824" y="2701035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الهدف من استعمال الشبكة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4290119" y="3269204"/>
            <a:ext cx="497905" cy="496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1641333" y="3290250"/>
            <a:ext cx="264263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4283968" y="332218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1743119" y="330114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أنواع الشبكات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-27384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-27384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ZoneTexte 38"/>
            <p:cNvSpPr txBox="1"/>
            <p:nvPr/>
          </p:nvSpPr>
          <p:spPr>
            <a:xfrm>
              <a:off x="2915816" y="25460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40" name="Image 3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-5753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1652090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ماذا نقصد بالشبكة في المعلوماتية؟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ZoneTexte 32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:\Users\RIDHA\Downloads\صور المعلوماتية\9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8051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مفهوم الشبكة: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 flipH="1" flipV="1">
            <a:off x="395536" y="1700808"/>
            <a:ext cx="7950606" cy="100811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39552" y="1805915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هي مجموعة من أجهزة الحواسيب المتصلة مع بعضها البعض باستعمال عدة وسائط ( كابل،بطاقة الشبكة...) </a:t>
            </a:r>
            <a:r>
              <a:rPr lang="ar-SA" sz="2400" b="1" dirty="0">
                <a:solidFill>
                  <a:schemeClr val="bg1"/>
                </a:solidFill>
              </a:rPr>
              <a:t>. 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3" name="Nuage 12"/>
          <p:cNvSpPr/>
          <p:nvPr/>
        </p:nvSpPr>
        <p:spPr>
          <a:xfrm>
            <a:off x="179512" y="2852936"/>
            <a:ext cx="8820471" cy="3312368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/>
          <p:cNvGrpSpPr/>
          <p:nvPr/>
        </p:nvGrpSpPr>
        <p:grpSpPr>
          <a:xfrm>
            <a:off x="827585" y="3068961"/>
            <a:ext cx="8026286" cy="2808311"/>
            <a:chOff x="773578" y="2708920"/>
            <a:chExt cx="6372708" cy="2880320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578" y="2708920"/>
              <a:ext cx="6372708" cy="2702582"/>
            </a:xfrm>
            <a:prstGeom prst="rect">
              <a:avLst/>
            </a:prstGeom>
          </p:spPr>
        </p:pic>
        <p:grpSp>
          <p:nvGrpSpPr>
            <p:cNvPr id="31" name="Groupe 30"/>
            <p:cNvGrpSpPr/>
            <p:nvPr/>
          </p:nvGrpSpPr>
          <p:grpSpPr>
            <a:xfrm>
              <a:off x="2555776" y="5094631"/>
              <a:ext cx="954816" cy="494609"/>
              <a:chOff x="2393048" y="4971713"/>
              <a:chExt cx="954816" cy="494609"/>
            </a:xfrm>
          </p:grpSpPr>
          <p:cxnSp>
            <p:nvCxnSpPr>
              <p:cNvPr id="17" name="Connecteur en arc 16"/>
              <p:cNvCxnSpPr/>
              <p:nvPr/>
            </p:nvCxnSpPr>
            <p:spPr>
              <a:xfrm flipV="1">
                <a:off x="3059832" y="5147007"/>
                <a:ext cx="288032" cy="247307"/>
              </a:xfrm>
              <a:prstGeom prst="curvedConnector3">
                <a:avLst>
                  <a:gd name="adj1" fmla="val -1159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74" name="Picture 2" descr="C:\Users\RIDHA\Downloads\صور المعلوماتية\الطابعة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393048" y="4971713"/>
                <a:ext cx="735416" cy="4946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مفهوم الشبكة و أنواعها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7" name="Groupe 36"/>
            <p:cNvGrpSpPr/>
            <p:nvPr/>
          </p:nvGrpSpPr>
          <p:grpSpPr>
            <a:xfrm>
              <a:off x="395536" y="13411"/>
              <a:ext cx="2520279" cy="585646"/>
              <a:chOff x="773578" y="2708920"/>
              <a:chExt cx="6372708" cy="2880320"/>
            </a:xfrm>
          </p:grpSpPr>
          <p:pic>
            <p:nvPicPr>
              <p:cNvPr id="38" name="Image 3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3578" y="2708920"/>
                <a:ext cx="6372708" cy="2702582"/>
              </a:xfrm>
              <a:prstGeom prst="rect">
                <a:avLst/>
              </a:prstGeom>
            </p:spPr>
          </p:pic>
          <p:grpSp>
            <p:nvGrpSpPr>
              <p:cNvPr id="39" name="Groupe 38"/>
              <p:cNvGrpSpPr/>
              <p:nvPr/>
            </p:nvGrpSpPr>
            <p:grpSpPr>
              <a:xfrm>
                <a:off x="2555776" y="5094631"/>
                <a:ext cx="954816" cy="494609"/>
                <a:chOff x="2393048" y="4971713"/>
                <a:chExt cx="954816" cy="494609"/>
              </a:xfrm>
            </p:grpSpPr>
            <p:cxnSp>
              <p:nvCxnSpPr>
                <p:cNvPr id="40" name="Connecteur en arc 39"/>
                <p:cNvCxnSpPr/>
                <p:nvPr/>
              </p:nvCxnSpPr>
              <p:spPr>
                <a:xfrm flipV="1">
                  <a:off x="3059832" y="5147007"/>
                  <a:ext cx="288032" cy="247307"/>
                </a:xfrm>
                <a:prstGeom prst="curvedConnector3">
                  <a:avLst>
                    <a:gd name="adj1" fmla="val -11598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1" name="Picture 2" descr="C:\Users\RIDHA\Downloads\صور المعلوماتية\الطابعة.png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2393048" y="4971713"/>
                  <a:ext cx="735416" cy="4946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23728" y="1282393"/>
            <a:ext cx="5544616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2051720" y="1917993"/>
            <a:ext cx="547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الهدف من استعمال  صاحب مقهى الإنترنت للشبكة؟ 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ZoneTexte 27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sp>
        <p:nvSpPr>
          <p:cNvPr id="34" name="ZoneTexte 33"/>
          <p:cNvSpPr txBox="1"/>
          <p:nvPr/>
        </p:nvSpPr>
        <p:spPr>
          <a:xfrm>
            <a:off x="2590092" y="2375906"/>
            <a:ext cx="39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إذا ماهو الهدف من استعمال  للشبكة؟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8" descr="C:\Users\RIDHA\Downloads\صور المعلوماتية\9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8051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04"/>
          <p:cNvGrpSpPr/>
          <p:nvPr/>
        </p:nvGrpSpPr>
        <p:grpSpPr>
          <a:xfrm>
            <a:off x="1043607" y="2212588"/>
            <a:ext cx="7425510" cy="712356"/>
            <a:chOff x="-3110801" y="1173645"/>
            <a:chExt cx="7470631" cy="1114425"/>
          </a:xfrm>
        </p:grpSpPr>
        <p:sp>
          <p:nvSpPr>
            <p:cNvPr id="76" name="Rectangle 75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-3110801" y="1373670"/>
              <a:ext cx="6695925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1043607" y="3165738"/>
            <a:ext cx="7416825" cy="695310"/>
            <a:chOff x="-3528122" y="2392845"/>
            <a:chExt cx="7887952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-3528122" y="2592870"/>
              <a:ext cx="7113252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6" name="Group 132"/>
          <p:cNvGrpSpPr/>
          <p:nvPr/>
        </p:nvGrpSpPr>
        <p:grpSpPr>
          <a:xfrm>
            <a:off x="1043607" y="4077072"/>
            <a:ext cx="7421992" cy="720080"/>
            <a:chOff x="-3522647" y="3612045"/>
            <a:chExt cx="7882477" cy="1114425"/>
          </a:xfrm>
        </p:grpSpPr>
        <p:sp>
          <p:nvSpPr>
            <p:cNvPr id="97" name="Rectangle 9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-3522647" y="3812070"/>
              <a:ext cx="7107779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7724743" y="22768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738688" y="326468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7738391" y="422151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1386185" y="3356992"/>
            <a:ext cx="5966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المشاركة في الملحقات( الطباعة، الأقراص بأنواعها ....) .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692696"/>
            <a:ext cx="36724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الهدف من استعمال الشبكة:</a:t>
            </a:r>
            <a:endParaRPr lang="fr-FR" sz="2600" b="1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3893" y="737192"/>
            <a:ext cx="3482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تستعمل الشبكة لعدة أسباب منها: 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12" name="TextBox 68"/>
          <p:cNvSpPr txBox="1"/>
          <p:nvPr/>
        </p:nvSpPr>
        <p:spPr>
          <a:xfrm>
            <a:off x="2411761" y="2445084"/>
            <a:ext cx="485326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400" b="1" dirty="0" smtClean="0">
                <a:solidFill>
                  <a:schemeClr val="bg1"/>
                </a:solidFill>
              </a:rPr>
              <a:t>مشاركة المعلومات (ملفات، برامج...).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95736" y="4233706"/>
            <a:ext cx="50720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الاتصال والتواصل بين مستعملي الشبكة.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53336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2" name="ZoneTexte 51"/>
            <p:cNvSpPr txBox="1"/>
            <p:nvPr/>
          </p:nvSpPr>
          <p:spPr>
            <a:xfrm>
              <a:off x="2915816" y="44624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54" name="Image 5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grpSp>
        <p:nvGrpSpPr>
          <p:cNvPr id="55" name="Group 132"/>
          <p:cNvGrpSpPr/>
          <p:nvPr/>
        </p:nvGrpSpPr>
        <p:grpSpPr>
          <a:xfrm>
            <a:off x="1043608" y="5085184"/>
            <a:ext cx="7421992" cy="720080"/>
            <a:chOff x="-3522647" y="3612045"/>
            <a:chExt cx="7882477" cy="1114425"/>
          </a:xfrm>
        </p:grpSpPr>
        <p:sp>
          <p:nvSpPr>
            <p:cNvPr id="56" name="Rectangle 55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 flipH="1">
              <a:off x="-3522647" y="3812070"/>
              <a:ext cx="7107779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7738392" y="522962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2915815" y="5241818"/>
            <a:ext cx="43519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العمل الجماعي والتسلية الجماعية.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1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1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1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6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89" grpId="0" animBg="1"/>
      <p:bldP spid="90" grpId="0" animBg="1"/>
      <p:bldP spid="91" grpId="0"/>
      <p:bldP spid="92" grpId="0"/>
      <p:bldP spid="2" grpId="0"/>
      <p:bldP spid="112" grpId="0"/>
      <p:bldP spid="4" grpId="0"/>
      <p:bldP spid="62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1268760"/>
            <a:ext cx="4176464" cy="1728192"/>
          </a:xfrm>
          <a:prstGeom prst="cloudCallout">
            <a:avLst>
              <a:gd name="adj1" fmla="val -30751"/>
              <a:gd name="adj2" fmla="val 8842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347531" y="1850381"/>
            <a:ext cx="3675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أنواع </a:t>
            </a:r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الشبكات التي تعرفها؟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58" name="Shape 856"/>
          <p:cNvSpPr/>
          <p:nvPr/>
        </p:nvSpPr>
        <p:spPr>
          <a:xfrm>
            <a:off x="8244408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Shape 859"/>
          <p:cNvSpPr/>
          <p:nvPr/>
        </p:nvSpPr>
        <p:spPr>
          <a:xfrm>
            <a:off x="5220072" y="720328"/>
            <a:ext cx="297289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ZoneTexte 59"/>
          <p:cNvSpPr txBox="1"/>
          <p:nvPr/>
        </p:nvSpPr>
        <p:spPr>
          <a:xfrm>
            <a:off x="8285910" y="720328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5586958" y="745540"/>
            <a:ext cx="2513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أنواع الشبكات: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2454610" y="1524845"/>
            <a:ext cx="6264696" cy="576064"/>
            <a:chOff x="1712020" y="2348880"/>
            <a:chExt cx="6264696" cy="576064"/>
          </a:xfrm>
        </p:grpSpPr>
        <p:grpSp>
          <p:nvGrpSpPr>
            <p:cNvPr id="72" name="Groupe 58"/>
            <p:cNvGrpSpPr/>
            <p:nvPr/>
          </p:nvGrpSpPr>
          <p:grpSpPr>
            <a:xfrm>
              <a:off x="1712020" y="2348880"/>
              <a:ext cx="6264696" cy="504056"/>
              <a:chOff x="1712020" y="2852936"/>
              <a:chExt cx="6264696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1712020" y="3008511"/>
                <a:ext cx="626469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أ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1928044" y="2494057"/>
              <a:ext cx="538026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الشبكة الشخصية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PAN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 (</a:t>
              </a:r>
              <a:r>
                <a:rPr lang="en-US" sz="2200" b="1" dirty="0" smtClean="0">
                  <a:solidFill>
                    <a:srgbClr val="FFFF00"/>
                  </a:solidFill>
                </a:rPr>
                <a:t>P</a:t>
              </a:r>
              <a:r>
                <a:rPr lang="fr-FR" sz="2200" b="1" dirty="0" err="1" smtClean="0">
                  <a:solidFill>
                    <a:srgbClr val="FFFF00"/>
                  </a:solidFill>
                </a:rPr>
                <a:t>arsonal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 Area Network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):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02" name="Nuage 101"/>
          <p:cNvSpPr/>
          <p:nvPr/>
        </p:nvSpPr>
        <p:spPr>
          <a:xfrm rot="215672">
            <a:off x="1448151" y="3437767"/>
            <a:ext cx="6408712" cy="271171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98" name="Picture 2" descr="C:\Users\RIDHA\Downloads\صور المعلوماتية\2-2-networking-png-image-thum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17908"/>
            <a:ext cx="4464496" cy="318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Rectangle à coins arrondis 103"/>
          <p:cNvSpPr/>
          <p:nvPr/>
        </p:nvSpPr>
        <p:spPr>
          <a:xfrm flipH="1" flipV="1">
            <a:off x="395536" y="2492896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/>
          <p:cNvSpPr/>
          <p:nvPr/>
        </p:nvSpPr>
        <p:spPr>
          <a:xfrm>
            <a:off x="539552" y="2636912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هي شبكة تستعمل في البيت و تربط الأجهزة القريبة من بعضها البعض. 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ZoneTexte 37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58" grpId="0" animBg="1"/>
      <p:bldP spid="59" grpId="0" animBg="1"/>
      <p:bldP spid="60" grpId="0"/>
      <p:bldP spid="61" grpId="0"/>
      <p:bldP spid="1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29" name="Groupe 28"/>
          <p:cNvGrpSpPr/>
          <p:nvPr/>
        </p:nvGrpSpPr>
        <p:grpSpPr>
          <a:xfrm>
            <a:off x="2843808" y="836712"/>
            <a:ext cx="5875498" cy="576064"/>
            <a:chOff x="2101218" y="2348880"/>
            <a:chExt cx="5875498" cy="576064"/>
          </a:xfrm>
        </p:grpSpPr>
        <p:grpSp>
          <p:nvGrpSpPr>
            <p:cNvPr id="31" name="Groupe 58"/>
            <p:cNvGrpSpPr/>
            <p:nvPr/>
          </p:nvGrpSpPr>
          <p:grpSpPr>
            <a:xfrm>
              <a:off x="2101218" y="2348880"/>
              <a:ext cx="5875498" cy="504056"/>
              <a:chOff x="2101218" y="2852936"/>
              <a:chExt cx="5875498" cy="576064"/>
            </a:xfrm>
          </p:grpSpPr>
          <p:sp>
            <p:nvSpPr>
              <p:cNvPr id="34" name="Notched Right Arrow 54"/>
              <p:cNvSpPr/>
              <p:nvPr/>
            </p:nvSpPr>
            <p:spPr>
              <a:xfrm flipH="1">
                <a:off x="2101218" y="3008511"/>
                <a:ext cx="587549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36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33" name="ZoneTexte 32"/>
            <p:cNvSpPr txBox="1"/>
            <p:nvPr/>
          </p:nvSpPr>
          <p:spPr>
            <a:xfrm>
              <a:off x="2533266" y="2494057"/>
              <a:ext cx="47750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الشبكة المحلية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LAN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 (</a:t>
              </a:r>
              <a:r>
                <a:rPr lang="en-US" sz="2200" b="1" dirty="0" smtClean="0">
                  <a:solidFill>
                    <a:srgbClr val="FFFF00"/>
                  </a:solidFill>
                </a:rPr>
                <a:t>Local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Area Network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):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8" name="Nuage 37"/>
          <p:cNvSpPr/>
          <p:nvPr/>
        </p:nvSpPr>
        <p:spPr>
          <a:xfrm rot="215672">
            <a:off x="1431672" y="2749116"/>
            <a:ext cx="6408712" cy="3237425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à coins arrondis 38"/>
          <p:cNvSpPr/>
          <p:nvPr/>
        </p:nvSpPr>
        <p:spPr>
          <a:xfrm flipH="1" flipV="1">
            <a:off x="395536" y="1804763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/>
          <p:cNvSpPr/>
          <p:nvPr/>
        </p:nvSpPr>
        <p:spPr>
          <a:xfrm>
            <a:off x="539552" y="1844824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هي شبكة محدودة النطاق تكون موزعة داخل بناية أو بنايات متجاورة ونجد هذه الشبكات في الشركات والمؤسسات الخاصة والحكومية... الخ.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1" name="Groupe 40"/>
          <p:cNvGrpSpPr/>
          <p:nvPr/>
        </p:nvGrpSpPr>
        <p:grpSpPr>
          <a:xfrm>
            <a:off x="3359397" y="3140968"/>
            <a:ext cx="3289301" cy="2520280"/>
            <a:chOff x="0" y="173532"/>
            <a:chExt cx="3289852" cy="3036807"/>
          </a:xfrm>
        </p:grpSpPr>
        <p:sp>
          <p:nvSpPr>
            <p:cNvPr id="42" name="Rectangle 41"/>
            <p:cNvSpPr/>
            <p:nvPr/>
          </p:nvSpPr>
          <p:spPr>
            <a:xfrm>
              <a:off x="556591" y="173532"/>
              <a:ext cx="1677670" cy="3575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>
                <a:lnSpc>
                  <a:spcPct val="115000"/>
                </a:lnSpc>
                <a:spcAft>
                  <a:spcPts val="1000"/>
                </a:spcAft>
              </a:pPr>
              <a:r>
                <a:rPr lang="ar-DZ" sz="1600" b="1" dirty="0">
                  <a:solidFill>
                    <a:srgbClr val="000000"/>
                  </a:solidFill>
                  <a:effectLst/>
                  <a:ea typeface="Calibri"/>
                  <a:cs typeface="Arial"/>
                </a:rPr>
                <a:t>الشبكة المحلية </a:t>
              </a:r>
              <a:r>
                <a:rPr lang="en-US" sz="1600" b="1" dirty="0">
                  <a:solidFill>
                    <a:srgbClr val="000000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>
                  <a:solidFill>
                    <a:srgbClr val="000000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100" dirty="0">
                <a:effectLst/>
                <a:ea typeface="Calibri"/>
                <a:cs typeface="Arial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 dirty="0">
                  <a:effectLst/>
                  <a:ea typeface="Calibri"/>
                  <a:cs typeface="Arial"/>
                </a:rPr>
                <a:t> </a:t>
              </a:r>
            </a:p>
          </p:txBody>
        </p:sp>
        <p:pic>
          <p:nvPicPr>
            <p:cNvPr id="43" name="صورة 5" descr="corp_wlan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8417"/>
              <a:ext cx="3289852" cy="2951922"/>
            </a:xfrm>
            <a:prstGeom prst="rect">
              <a:avLst/>
            </a:prstGeom>
          </p:spPr>
        </p:pic>
      </p:grp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ZoneTexte 43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8" name="Groupe 57"/>
          <p:cNvGrpSpPr/>
          <p:nvPr/>
        </p:nvGrpSpPr>
        <p:grpSpPr>
          <a:xfrm>
            <a:off x="1907704" y="836712"/>
            <a:ext cx="6811602" cy="576064"/>
            <a:chOff x="1165114" y="2348880"/>
            <a:chExt cx="6811602" cy="576064"/>
          </a:xfrm>
        </p:grpSpPr>
        <p:grpSp>
          <p:nvGrpSpPr>
            <p:cNvPr id="59" name="Groupe 58"/>
            <p:cNvGrpSpPr/>
            <p:nvPr/>
          </p:nvGrpSpPr>
          <p:grpSpPr>
            <a:xfrm>
              <a:off x="1165114" y="2348880"/>
              <a:ext cx="6811602" cy="504056"/>
              <a:chOff x="1165114" y="2852936"/>
              <a:chExt cx="6811602" cy="576064"/>
            </a:xfrm>
          </p:grpSpPr>
          <p:sp>
            <p:nvSpPr>
              <p:cNvPr id="61" name="Notched Right Arrow 54"/>
              <p:cNvSpPr/>
              <p:nvPr/>
            </p:nvSpPr>
            <p:spPr>
              <a:xfrm flipH="1">
                <a:off x="1165114" y="3008511"/>
                <a:ext cx="6811602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3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ج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0" name="ZoneTexte 59"/>
            <p:cNvSpPr txBox="1"/>
            <p:nvPr/>
          </p:nvSpPr>
          <p:spPr>
            <a:xfrm>
              <a:off x="1381138" y="2494057"/>
              <a:ext cx="59271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الشبكة 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الإقليمية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MAN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(</a:t>
              </a:r>
              <a:r>
                <a:rPr lang="fr-FR" sz="2200" b="1" dirty="0" err="1" smtClean="0">
                  <a:solidFill>
                    <a:srgbClr val="FFFF00"/>
                  </a:solidFill>
                </a:rPr>
                <a:t>Metropolitan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 </a:t>
              </a:r>
              <a:r>
                <a:rPr lang="fr-FR" sz="2200" b="1" dirty="0">
                  <a:solidFill>
                    <a:srgbClr val="FFFF00"/>
                  </a:solidFill>
                </a:rPr>
                <a:t>Area Network):</a:t>
              </a:r>
            </a:p>
          </p:txBody>
        </p:sp>
      </p:grpSp>
      <p:sp>
        <p:nvSpPr>
          <p:cNvPr id="65" name="Nuage 64"/>
          <p:cNvSpPr/>
          <p:nvPr/>
        </p:nvSpPr>
        <p:spPr>
          <a:xfrm rot="215672">
            <a:off x="1431672" y="2749116"/>
            <a:ext cx="6408712" cy="3237425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à coins arrondis 65"/>
          <p:cNvSpPr/>
          <p:nvPr/>
        </p:nvSpPr>
        <p:spPr>
          <a:xfrm flipH="1" flipV="1">
            <a:off x="395536" y="1804763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539552" y="1844824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هي شبكة تستخدم في تغطية مناطق جغرافية </a:t>
            </a:r>
            <a:r>
              <a:rPr lang="ar-DZ" sz="2400" b="1" dirty="0" smtClean="0">
                <a:solidFill>
                  <a:schemeClr val="bg1"/>
                </a:solidFill>
              </a:rPr>
              <a:t>كبيرة مثل </a:t>
            </a:r>
            <a:r>
              <a:rPr lang="ar-DZ" sz="2400" b="1" dirty="0">
                <a:solidFill>
                  <a:schemeClr val="bg1"/>
                </a:solidFill>
              </a:rPr>
              <a:t>مدينة باستعمال الألياف البصرية </a:t>
            </a:r>
            <a:r>
              <a:rPr lang="ar-DZ" sz="2400" b="1" dirty="0" smtClean="0">
                <a:solidFill>
                  <a:schemeClr val="bg1"/>
                </a:solidFill>
              </a:rPr>
              <a:t>كوسيط </a:t>
            </a:r>
            <a:r>
              <a:rPr lang="ar-DZ" sz="2400" b="1" dirty="0">
                <a:solidFill>
                  <a:schemeClr val="bg1"/>
                </a:solidFill>
              </a:rPr>
              <a:t>للربط.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2" name="ZoneTexte 41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43" name="Image 4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grpSp>
        <p:nvGrpSpPr>
          <p:cNvPr id="57" name="Groupe 56"/>
          <p:cNvGrpSpPr/>
          <p:nvPr/>
        </p:nvGrpSpPr>
        <p:grpSpPr>
          <a:xfrm>
            <a:off x="1763688" y="2697168"/>
            <a:ext cx="5760641" cy="3059659"/>
            <a:chOff x="1763688" y="2697168"/>
            <a:chExt cx="5760641" cy="3059659"/>
          </a:xfrm>
        </p:grpSpPr>
        <p:pic>
          <p:nvPicPr>
            <p:cNvPr id="68" name="Image 67" descr="J:\صور\images_city_downtown_buildings_1600_clr.png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2697168"/>
              <a:ext cx="5760641" cy="3059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5781557" y="4114438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572000" y="4502771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261216" y="3405691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588516" y="3200203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107920" y="3634423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091787" y="3284984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5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5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5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987824" y="4619406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6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4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123728" y="4650411"/>
              <a:ext cx="742832" cy="506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>
                <a:lnSpc>
                  <a:spcPct val="115000"/>
                </a:lnSpc>
                <a:spcAft>
                  <a:spcPts val="1000"/>
                </a:spcAft>
              </a:pPr>
              <a:r>
                <a:rPr lang="en-US" sz="15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L</a:t>
              </a:r>
              <a:r>
                <a:rPr lang="fr-FR" sz="1500" b="1" dirty="0" smtClean="0">
                  <a:solidFill>
                    <a:schemeClr val="tx1"/>
                  </a:solidFill>
                  <a:effectLst/>
                  <a:latin typeface="Times New Roman"/>
                  <a:ea typeface="Calibri"/>
                  <a:cs typeface="Arial"/>
                </a:rPr>
                <a:t>AN</a:t>
              </a:r>
              <a:endParaRPr lang="fr-FR" sz="1500" b="1" dirty="0">
                <a:solidFill>
                  <a:schemeClr val="tx1"/>
                </a:solidFill>
                <a:effectLst/>
                <a:ea typeface="Calibri"/>
                <a:cs typeface="Arial"/>
              </a:endParaRPr>
            </a:p>
          </p:txBody>
        </p:sp>
        <p:cxnSp>
          <p:nvCxnSpPr>
            <p:cNvPr id="5" name="Connecteur en arc 4"/>
            <p:cNvCxnSpPr/>
            <p:nvPr/>
          </p:nvCxnSpPr>
          <p:spPr>
            <a:xfrm rot="16200000" flipH="1">
              <a:off x="4193277" y="3472277"/>
              <a:ext cx="253390" cy="216024"/>
            </a:xfrm>
            <a:prstGeom prst="curvedConnector3">
              <a:avLst/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en arc 47"/>
            <p:cNvCxnSpPr/>
            <p:nvPr/>
          </p:nvCxnSpPr>
          <p:spPr>
            <a:xfrm rot="5400000">
              <a:off x="3568139" y="3546585"/>
              <a:ext cx="265558" cy="22480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en arc 54"/>
            <p:cNvCxnSpPr/>
            <p:nvPr/>
          </p:nvCxnSpPr>
          <p:spPr>
            <a:xfrm rot="10800000" flipV="1">
              <a:off x="4860034" y="3591397"/>
              <a:ext cx="454799" cy="90389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en arc 68"/>
            <p:cNvCxnSpPr/>
            <p:nvPr/>
          </p:nvCxnSpPr>
          <p:spPr>
            <a:xfrm rot="5400000">
              <a:off x="3043045" y="4324414"/>
              <a:ext cx="751096" cy="112402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en arc 77"/>
            <p:cNvCxnSpPr/>
            <p:nvPr/>
          </p:nvCxnSpPr>
          <p:spPr>
            <a:xfrm rot="10800000" flipV="1">
              <a:off x="2699793" y="4872796"/>
              <a:ext cx="454798" cy="53158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en arc 78"/>
            <p:cNvCxnSpPr/>
            <p:nvPr/>
          </p:nvCxnSpPr>
          <p:spPr>
            <a:xfrm rot="10800000" flipV="1">
              <a:off x="3635897" y="4756160"/>
              <a:ext cx="1127498" cy="116635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en arc 79"/>
            <p:cNvCxnSpPr/>
            <p:nvPr/>
          </p:nvCxnSpPr>
          <p:spPr>
            <a:xfrm rot="10800000" flipV="1">
              <a:off x="5220073" y="4386958"/>
              <a:ext cx="707903" cy="369202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en arc 80"/>
            <p:cNvCxnSpPr/>
            <p:nvPr/>
          </p:nvCxnSpPr>
          <p:spPr>
            <a:xfrm rot="16200000" flipV="1">
              <a:off x="5435737" y="3774879"/>
              <a:ext cx="630528" cy="35395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en arc 82"/>
            <p:cNvCxnSpPr/>
            <p:nvPr/>
          </p:nvCxnSpPr>
          <p:spPr>
            <a:xfrm rot="5400000" flipH="1" flipV="1">
              <a:off x="4663323" y="3916686"/>
              <a:ext cx="1013819" cy="453632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en arc 84"/>
            <p:cNvCxnSpPr/>
            <p:nvPr/>
          </p:nvCxnSpPr>
          <p:spPr>
            <a:xfrm flipV="1">
              <a:off x="3491882" y="3742344"/>
              <a:ext cx="1080118" cy="1013819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CC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8" name="Groupe 57"/>
          <p:cNvGrpSpPr/>
          <p:nvPr/>
        </p:nvGrpSpPr>
        <p:grpSpPr>
          <a:xfrm>
            <a:off x="1907704" y="836712"/>
            <a:ext cx="6811602" cy="576064"/>
            <a:chOff x="1165114" y="2348880"/>
            <a:chExt cx="6811602" cy="576064"/>
          </a:xfrm>
        </p:grpSpPr>
        <p:grpSp>
          <p:nvGrpSpPr>
            <p:cNvPr id="59" name="Groupe 58"/>
            <p:cNvGrpSpPr/>
            <p:nvPr/>
          </p:nvGrpSpPr>
          <p:grpSpPr>
            <a:xfrm>
              <a:off x="1165114" y="2348880"/>
              <a:ext cx="6811602" cy="504056"/>
              <a:chOff x="1165114" y="2852936"/>
              <a:chExt cx="6811602" cy="576064"/>
            </a:xfrm>
          </p:grpSpPr>
          <p:sp>
            <p:nvSpPr>
              <p:cNvPr id="61" name="Notched Right Arrow 54"/>
              <p:cNvSpPr/>
              <p:nvPr/>
            </p:nvSpPr>
            <p:spPr>
              <a:xfrm flipH="1">
                <a:off x="1165114" y="3008511"/>
                <a:ext cx="6811602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2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3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ج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0" name="ZoneTexte 59"/>
            <p:cNvSpPr txBox="1"/>
            <p:nvPr/>
          </p:nvSpPr>
          <p:spPr>
            <a:xfrm>
              <a:off x="1381138" y="2494057"/>
              <a:ext cx="59271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شبكة المناطق 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الواسعة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 WAN 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 </a:t>
              </a:r>
              <a:r>
                <a:rPr lang="fr-FR" sz="2200" b="1" dirty="0">
                  <a:solidFill>
                    <a:srgbClr val="FFFF00"/>
                  </a:solidFill>
                </a:rPr>
                <a:t>(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Wide </a:t>
              </a:r>
              <a:r>
                <a:rPr lang="fr-FR" sz="2200" b="1" dirty="0">
                  <a:solidFill>
                    <a:srgbClr val="FFFF00"/>
                  </a:solidFill>
                </a:rPr>
                <a:t>Area Network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)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65" name="Nuage 64"/>
          <p:cNvSpPr/>
          <p:nvPr/>
        </p:nvSpPr>
        <p:spPr>
          <a:xfrm rot="10983590">
            <a:off x="100377" y="2444764"/>
            <a:ext cx="8976098" cy="3963102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6" name="Rectangle à coins arrondis 65"/>
          <p:cNvSpPr/>
          <p:nvPr/>
        </p:nvSpPr>
        <p:spPr>
          <a:xfrm flipH="1" flipV="1">
            <a:off x="395536" y="1804763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39552" y="1844824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ar-DZ" sz="2400" b="1" dirty="0">
                <a:solidFill>
                  <a:prstClr val="white"/>
                </a:solidFill>
              </a:rPr>
              <a:t>هي شبكة واسعة النطاق تغطي مناطق جغرافية  واسعة جدا بحيث تستعمل في ربط الدول و القارات مع بعضها البعض.</a:t>
            </a:r>
            <a:endParaRPr lang="fr-FR" sz="2400" dirty="0">
              <a:solidFill>
                <a:prstClr val="white"/>
              </a:solidFill>
              <a:latin typeface="Times New Roman"/>
              <a:ea typeface="Times New Roman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>
                        <a:solidFill>
                          <a:prstClr val="white"/>
                        </a:solidFill>
                      </a:endParaRPr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prstClr val="white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prstClr val="white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prstClr val="white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prstClr val="white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prstClr val="white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prstClr val="white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prstClr val="white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prstClr val="white"/>
                    </a:solidFill>
                  </a:rPr>
                  <a:t>التعلمية</a:t>
                </a:r>
                <a:endParaRPr lang="fr-FR" sz="2800" b="1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" name="ZoneTexte 41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prstClr val="white"/>
                  </a:solidFill>
                </a:rPr>
                <a:t>مفهوم الشبكة و أنواعها</a:t>
              </a:r>
              <a:endParaRPr lang="fr-FR" sz="2800" b="1" dirty="0">
                <a:solidFill>
                  <a:prstClr val="white"/>
                </a:solidFill>
              </a:endParaRPr>
            </a:p>
          </p:txBody>
        </p:sp>
        <p:pic>
          <p:nvPicPr>
            <p:cNvPr id="43" name="Image 4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grpSp>
        <p:nvGrpSpPr>
          <p:cNvPr id="19" name="Groupe 18"/>
          <p:cNvGrpSpPr/>
          <p:nvPr/>
        </p:nvGrpSpPr>
        <p:grpSpPr>
          <a:xfrm>
            <a:off x="1619672" y="2888849"/>
            <a:ext cx="5976664" cy="3132439"/>
            <a:chOff x="1763688" y="2844225"/>
            <a:chExt cx="5688632" cy="3132439"/>
          </a:xfrm>
        </p:grpSpPr>
        <p:pic>
          <p:nvPicPr>
            <p:cNvPr id="100" name="Picture 2" descr="J:\صور\system-1527685_960_720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2968990"/>
              <a:ext cx="5688632" cy="3007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/>
            <p:cNvSpPr/>
            <p:nvPr/>
          </p:nvSpPr>
          <p:spPr>
            <a:xfrm>
              <a:off x="3923928" y="2844225"/>
              <a:ext cx="107593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/>
              <a:r>
                <a:rPr lang="fr-FR" sz="3200" b="1" spc="50" dirty="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WAN</a:t>
              </a:r>
              <a:endParaRPr lang="fr-F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705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32602</TotalTime>
  <Words>506</Words>
  <Application>Microsoft Office PowerPoint</Application>
  <PresentationFormat>Affichage à l'écran (4:3)</PresentationFormat>
  <Paragraphs>117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Administrateur</cp:lastModifiedBy>
  <cp:revision>688</cp:revision>
  <dcterms:created xsi:type="dcterms:W3CDTF">2017-08-13T13:54:07Z</dcterms:created>
  <dcterms:modified xsi:type="dcterms:W3CDTF">2018-01-17T08:56:11Z</dcterms:modified>
</cp:coreProperties>
</file>