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62" r:id="rId3"/>
  </p:sldMasterIdLst>
  <p:notesMasterIdLst>
    <p:notesMasterId r:id="rId24"/>
  </p:notesMasterIdLst>
  <p:sldIdLst>
    <p:sldId id="317" r:id="rId4"/>
    <p:sldId id="256" r:id="rId5"/>
    <p:sldId id="321" r:id="rId6"/>
    <p:sldId id="306" r:id="rId7"/>
    <p:sldId id="307" r:id="rId8"/>
    <p:sldId id="304" r:id="rId9"/>
    <p:sldId id="316" r:id="rId10"/>
    <p:sldId id="303" r:id="rId11"/>
    <p:sldId id="308" r:id="rId12"/>
    <p:sldId id="315" r:id="rId13"/>
    <p:sldId id="325" r:id="rId14"/>
    <p:sldId id="323" r:id="rId15"/>
    <p:sldId id="324" r:id="rId16"/>
    <p:sldId id="309" r:id="rId17"/>
    <p:sldId id="310" r:id="rId18"/>
    <p:sldId id="311" r:id="rId19"/>
    <p:sldId id="314" r:id="rId20"/>
    <p:sldId id="313" r:id="rId21"/>
    <p:sldId id="319" r:id="rId22"/>
    <p:sldId id="305" r:id="rId23"/>
  </p:sldIdLst>
  <p:sldSz cx="9144000" cy="6858000" type="screen4x3"/>
  <p:notesSz cx="7102475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22F2AD"/>
    <a:srgbClr val="FFFFFF"/>
    <a:srgbClr val="FFFF66"/>
    <a:srgbClr val="3333CC"/>
    <a:srgbClr val="6600FF"/>
    <a:srgbClr val="66FF66"/>
    <a:srgbClr val="00FF00"/>
    <a:srgbClr val="B5DFE7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434" autoAdjust="0"/>
  </p:normalViewPr>
  <p:slideViewPr>
    <p:cSldViewPr>
      <p:cViewPr varScale="1">
        <p:scale>
          <a:sx n="70" d="100"/>
          <a:sy n="70" d="100"/>
        </p:scale>
        <p:origin x="82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904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fld id="{2CBDBBD3-AD4E-402D-850E-65A538830889}" type="datetimeFigureOut">
              <a:rPr lang="zh-CN" altLang="fr-FR"/>
              <a:pPr>
                <a:defRPr/>
              </a:pPr>
              <a:t>2017/1/18</a:t>
            </a:fld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93775" y="768350"/>
            <a:ext cx="511492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3250" cy="4605338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8163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66" tIns="49533" rIns="99066" bIns="49533" numCol="1" anchor="b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300" smtClean="0"/>
            </a:lvl1pPr>
          </a:lstStyle>
          <a:p>
            <a:pPr>
              <a:defRPr/>
            </a:pPr>
            <a:fld id="{65595049-696F-4906-BD22-EE8694DBBC64}" type="slidenum">
              <a:rPr lang="zh-CN" altLang="en-US"/>
              <a:pPr>
                <a:defRPr/>
              </a:pPr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945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595049-696F-4906-BD22-EE8694DBBC64}" type="slidenum">
              <a:rPr lang="zh-CN" alt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60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33C8F2-4D49-483C-9774-727885762A55}" type="slidenum">
              <a:rPr lang="fr-FR" sz="13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fr-FR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87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003E1F-73B8-45E6-8B41-8CF9E2CD3944}" type="slidenum">
              <a:rPr lang="fr-FR" sz="13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fr-FR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932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595049-696F-4906-BD22-EE8694DBBC64}" type="slidenum">
              <a:rPr lang="zh-CN" alt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56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74B672-FDEA-4936-85F6-1782898543B4}" type="slidenum">
              <a:rPr lang="fr-FR" sz="13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fr-FR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566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BA4585-D1FE-4613-91A6-97404B37DCCE}" type="slidenum">
              <a:rPr lang="fr-FR" sz="1300"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fr-FR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287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595049-696F-4906-BD22-EE8694DBBC64}" type="slidenum">
              <a:rPr lang="zh-CN" alt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44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67A150-12CE-4FF9-A986-327EEF030552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A78A3-0954-4323-91EF-45D7392A82D6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1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BE3F1-845F-4B43-B413-11D57BD95268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18C1-9809-481D-97BB-35070F31D4AE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07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F4405B-5CE6-4F8F-9D42-574C5DA768E1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A5B2E-8A8B-4555-B57D-C65C401B4D19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259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95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95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5CF42-2224-4E68-9D84-DBA8AA61E793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09CDB-3102-48FE-8C57-C1E3D24114D5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00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F36E7D-D00E-49F4-9E19-21767B8EAF6A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42FB7-003D-4264-BB88-63DF7F57F103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953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9CC86-0D4C-42C3-9976-03ADA2CE1548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B3EF9-4799-48D4-B1F2-2A377AB0674C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79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EE6BA-1C93-4DE5-9AD6-694BB8671A75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1751B-775B-4103-A4E3-F9765A494CC7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17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BD3FF7-1A40-4604-BE22-172708DBFE12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AAC689-A4C1-408E-A6A9-8ACE1F51E1B3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24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D8A88D-8999-4B9C-92C6-E224C64561EB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42376B-BDB5-47AD-9C40-0C88F97B018D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014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0D0FA-6402-4997-8933-5ACD69E578EE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33B75-514A-43B7-87F9-E9EC390E116C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074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15113" y="187325"/>
            <a:ext cx="2071687" cy="583406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5288" y="187325"/>
            <a:ext cx="6067425" cy="58340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E62135-D517-4AC3-8F86-AF26B8A1D7AA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71EB3-14DA-4FDB-A6F2-217219522981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8134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EF600-85EB-44BA-8B12-D3E1A98C422F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F68DE-6AF0-46CD-8998-70458A383E56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023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46C55-AD1B-4D8B-801C-4E54A75EADA7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CE85B-576B-4A3B-95CE-5F6BBA67E825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895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CC8FB-1B3F-4931-8307-2273E872C758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1473AF-EFF3-4069-8215-EFC5693D3ACA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489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495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49542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99E13-3FE9-444C-8165-2D5146FB2AB9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C2F69C-A323-49BE-8DF3-6811ACC1BE13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688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5F87EC-8F81-4225-8A87-2340243B0827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8EFEA-4430-43BC-BF0C-97A4A27C38EC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358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C8035B-A2F8-4D8E-BBA0-A0D10697F586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3331B-8159-4FEE-BC4D-D8850595471B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050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9A9A8B-DC48-4B17-B945-20E98F836E5B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8CC5F-D3E0-4214-B9F2-9454218A54BE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2013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0624E-C802-4838-9E79-5437E66985BC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EC65C-5376-427F-A90D-B32606236C72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8890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A20EA-2E53-4C89-A6F0-8CE1A04D105C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E0542-74B1-49B2-85B3-6E31B6541003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497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0ED1CF-C8AF-406C-9872-D5A2BF949076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27AAE-4E77-4C6F-B2F0-239724A72066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603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15113" y="187325"/>
            <a:ext cx="2071687" cy="583406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5288" y="187325"/>
            <a:ext cx="6067425" cy="583406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49641-CD14-4999-935D-7A05BE2838F4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2E1CC-C7D9-49D8-9E07-6B51A75D6BB4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7720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A4C9F-07EF-469A-9E4F-3D4F01522482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0B6415-B262-46DB-99BA-8223BE4481B4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1762235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A7F7B9-6CE8-4506-AB3F-887F7A799BF6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42DB0-5367-4968-920E-27EC04556C0C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18064170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28149E-7B60-4061-8C55-F20CC2E58BC6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86C0B-82E9-42DF-B4C9-5423DE0830F3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150595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348D3-D1A8-4E79-898B-F073935B12FA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B5FAD-4A78-41E9-B018-F29AECCEE56C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5580169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C0300-2A24-40A4-9023-3D225F426E37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5767E-AC7C-4711-ADF0-1A1B62AF7CE3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2283147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2B6BB-3E24-4D49-886C-9064F085D973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34B09-4209-46FD-B21E-F4BC7FDEA068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4350343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3531C3-9F15-456D-A271-032923F54761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0DF5B-0451-405B-89CF-D5DF3AD527EA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47044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FE4CE-E6FF-408A-A86C-2CB1275A01BB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857B41-DC13-4B8F-8031-A3F6C09DD5D5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37307976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96371-34F7-45AA-BE0D-9EF2391B86F4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24F820-3D0D-4896-9A2C-8E63424865CE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7400897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33B55-D898-4046-AEA1-17B6E486E197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DEDB0-44D4-4906-9E1C-1A27289081D5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1880456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30359-B49D-4EA0-9369-0849ED1C482E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AA3E8E-4C8F-4B86-B8EA-7C3C6E49C732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  <p:extLst>
      <p:ext uri="{BB962C8B-B14F-4D97-AF65-F5344CB8AC3E}">
        <p14:creationId xmlns:p14="http://schemas.microsoft.com/office/powerpoint/2010/main" val="299693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7325"/>
            <a:ext cx="82296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9542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B03ACF8C-07B4-46A4-83D9-9691B79AC73B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C2EF4AE-9F56-426D-A6AC-E6C4080D99FD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87325"/>
            <a:ext cx="82296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9542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2052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FB3D8D7-0EAF-4A0B-BC4E-9FABE6239628}" type="datetimeFigureOut">
              <a:rPr lang="zh-CN" altLang="fr-FR"/>
              <a:pPr>
                <a:defRPr/>
              </a:pPr>
              <a:t>2017/1/18</a:t>
            </a:fld>
            <a:endParaRPr lang="zh-CN" altLang="en-US"/>
          </a:p>
        </p:txBody>
      </p:sp>
      <p:sp>
        <p:nvSpPr>
          <p:cNvPr id="2053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4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9D0C253-B96B-4D92-974B-2DF89B2E785F}" type="slidenum">
              <a:rPr lang="zh-CN" altLang="en-US"/>
              <a:pPr>
                <a:defRPr/>
              </a:pPr>
              <a:t>‹N°›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alibri" pitchFamily="34" charset="0"/>
          <a:ea typeface="SimHei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u"/>
        <a:defRPr sz="16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1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»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8DE6FFF1-2EBE-485D-BFAA-F65B54FF809F}" type="datetimeFigureOut">
              <a:rPr lang="zh-CN" altLang="fr-FR"/>
              <a:pPr>
                <a:defRPr/>
              </a:pPr>
              <a:t>2017/1/18</a:t>
            </a:fld>
            <a:endParaRPr lang="fr-FR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fr-FR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anose="020B0604020202020204" pitchFamily="34" charset="0"/>
              <a:buNone/>
              <a:defRPr sz="1400" smtClean="0"/>
            </a:lvl1pPr>
          </a:lstStyle>
          <a:p>
            <a:pPr>
              <a:defRPr/>
            </a:pPr>
            <a:fld id="{B1A75625-44E1-4999-9D41-0C3963B647F1}" type="slidenum">
              <a:rPr lang="fr-FR" altLang="zh-CN"/>
              <a:pPr>
                <a:defRPr/>
              </a:pPr>
              <a:t>‹N°›</a:t>
            </a:fld>
            <a:endParaRPr lang="fr-FR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gif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microsoft.com/office/2007/relationships/hdphoto" Target="../media/hdphoto1.wdp"/><Relationship Id="rId7" Type="http://schemas.openxmlformats.org/officeDocument/2006/relationships/slide" Target="slide1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slide" Target="slide6.xml"/><Relationship Id="rId11" Type="http://schemas.openxmlformats.org/officeDocument/2006/relationships/slide" Target="slide13.xml"/><Relationship Id="rId5" Type="http://schemas.openxmlformats.org/officeDocument/2006/relationships/slide" Target="slide5.xml"/><Relationship Id="rId10" Type="http://schemas.openxmlformats.org/officeDocument/2006/relationships/slide" Target="slide3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slide" Target="slide2.xml"/><Relationship Id="rId4" Type="http://schemas.openxmlformats.org/officeDocument/2006/relationships/slide" Target="slide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slide" Target="slide2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&#1575;&#1604;&#1602;&#1585;&#1575;&#1585;%20297-06%20&#1575;&#1604;&#1605;&#1593;&#1583;&#1604;%20&#1608;&#1575;&#1604;&#1605;&#1578;&#1605;&#1605;%20&#1604;&#1604;&#1602;&#1585;&#1575;&#1585;%20176-91%20&#1575;&#1604;&#1605;&#1581;&#1583;&#1583;%20&#1604;&#1605;&#1607;&#1575;&#1605;%20&#1605;&#1583;&#1610;&#1585;%20&#1605;&#1572;&#1587;&#1587;&#1577;%20&#1575;&#1604;&#1578;&#1593;&#1604;&#1610;&#1605;%20&#1575;&#1604;&#1579;&#1575;&#1606;&#1608;&#1610;.docx" TargetMode="External"/><Relationship Id="rId3" Type="http://schemas.openxmlformats.org/officeDocument/2006/relationships/hyperlink" Target="&#1575;&#1604;&#1602;&#1575;&#1606;&#1608;&#1606;%20&#1575;&#1604;&#1578;&#1608;&#1580;&#1610;&#1607;&#1610;%2004-08.pdf" TargetMode="External"/><Relationship Id="rId7" Type="http://schemas.openxmlformats.org/officeDocument/2006/relationships/hyperlink" Target="&#1602;&#1585;&#1575;&#1585;%20829%20&#1605;&#1572;&#1585;&#1582;%20&#1601;&#1610;%2013&#1606;&#1608;&#1601;&#1605;&#1576;&#1585;%201991.docx" TargetMode="External"/><Relationship Id="rId2" Type="http://schemas.openxmlformats.org/officeDocument/2006/relationships/hyperlink" Target="&#1602;&#1575;&#1606;&#1608;&#1606;%20&#1585;&#1602;&#1605;%2090-21%20&#1610;&#1578;&#1593;&#1604;&#1602;%20&#1576;&#1575;&#1604;&#1605;&#1581;&#1575;&#1587;&#1576;&#1577;%20&#1575;&#1604;&#1593;&#1605;&#1608;&#1605;&#1610;&#1577;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&#1602;&#1585;&#1575;&#1585;%20&#1610;&#1581;&#1583;&#1583;%20&#1605;&#1607;&#1575;&#1605;%20&#1605;&#1583;&#1610;&#1585;%20&#1605;&#1572;&#1587;&#1587;&#1577;%20&#1575;&#1604;&#1578;&#1593;&#1604;&#1610;&#1605;%20&#1575;&#1604;&#1579;&#1575;&#1606;&#1608;&#1610;.docx" TargetMode="External"/><Relationship Id="rId5" Type="http://schemas.openxmlformats.org/officeDocument/2006/relationships/hyperlink" Target="&#1575;&#1604;&#1602;&#1575;&#1606;&#1608;&#1606;%20&#1575;&#1604;&#1582;&#1575;&#1589;%20&#1576;&#1605;&#1608;&#1592;&#1601;&#1610;%20&#1575;&#1604;&#1578;&#1585;&#1576;&#1610;&#1577;%2008-315.pdf" TargetMode="External"/><Relationship Id="rId10" Type="http://schemas.openxmlformats.org/officeDocument/2006/relationships/hyperlink" Target="A2012034.pdf" TargetMode="External"/><Relationship Id="rId4" Type="http://schemas.openxmlformats.org/officeDocument/2006/relationships/hyperlink" Target="&#1602;&#1575;&#1606;&#1608;&#1606;%20&#1575;&#1604;&#1608;&#1592;&#1610;&#1601;&#1577;%20&#1575;&#1604;&#1593;&#1605;&#1608;&#1605;&#1610;&#1577;06-03.pdf" TargetMode="External"/><Relationship Id="rId9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395535" y="481608"/>
            <a:ext cx="8514715" cy="1200329"/>
          </a:xfrm>
          <a:prstGeom prst="rect">
            <a:avLst/>
          </a:prstGeom>
          <a:pattFill prst="pct5">
            <a:fgClr>
              <a:schemeClr val="dk2"/>
            </a:fgClr>
            <a:bgClr>
              <a:schemeClr val="bg1"/>
            </a:bgClr>
          </a:pattFill>
          <a:ln w="0" cap="rnd" cmpd="sng" algn="ctr">
            <a:solidFill>
              <a:sysClr val="windowText" lastClr="000000"/>
            </a:solidFill>
            <a:prstDash val="solid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bliqueTopLeft"/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 wrap="square" anchor="ctr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الجمهورية الجزائرية الديمقراطية الشعبية</a:t>
            </a:r>
            <a:endParaRPr kumimoji="0" lang="fr-FR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وزارة</a:t>
            </a:r>
            <a:r>
              <a:rPr kumimoji="0" lang="ar-DZ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 التربية الوطنية</a:t>
            </a:r>
            <a:endParaRPr kumimoji="0" lang="fr-FR" sz="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420721" y="1693779"/>
            <a:ext cx="8489530" cy="2539152"/>
          </a:xfrm>
          <a:prstGeom prst="rect">
            <a:avLst/>
          </a:prstGeom>
          <a:pattFill prst="pct20">
            <a:fgClr>
              <a:schemeClr val="dk2"/>
            </a:fgClr>
            <a:bgClr>
              <a:schemeClr val="bg1"/>
            </a:bgClr>
          </a:pattFill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 rtl="1" eaLnBrk="1" hangingPunct="1">
              <a:defRPr/>
            </a:pPr>
            <a:r>
              <a:rPr lang="fr-FR" sz="6600" b="1" dirty="0">
                <a:solidFill>
                  <a:srgbClr val="FF0000"/>
                </a:solidFill>
                <a:latin typeface="Arial" pitchFamily="34" charset="0"/>
                <a:ea typeface="Calibri" pitchFamily="34" charset="0"/>
                <a:cs typeface="الشهيد محمد الدره" pitchFamily="2" charset="-78"/>
              </a:rPr>
              <a:t> </a:t>
            </a:r>
            <a:r>
              <a:rPr lang="ar-SA" sz="6600" b="1" dirty="0">
                <a:solidFill>
                  <a:schemeClr val="tx1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ملتقى تكويني  </a:t>
            </a:r>
            <a:endParaRPr lang="ar-DZ" sz="6600" b="1" dirty="0">
              <a:solidFill>
                <a:schemeClr val="tx1"/>
              </a:solidFill>
              <a:latin typeface="Sakkal Majalla" panose="02000000000000000000" pitchFamily="2" charset="-78"/>
              <a:ea typeface="Calibri" pitchFamily="34" charset="0"/>
              <a:cs typeface="Sakkal Majalla" panose="02000000000000000000" pitchFamily="2" charset="-78"/>
            </a:endParaRPr>
          </a:p>
          <a:p>
            <a:pPr algn="ctr" rtl="1" eaLnBrk="1" hangingPunct="1">
              <a:defRPr/>
            </a:pPr>
            <a:r>
              <a:rPr lang="ar-DZ" sz="4800" b="1" dirty="0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دور ومهام المدير </a:t>
            </a:r>
            <a:r>
              <a:rPr lang="ar-DZ" sz="4800" b="1" dirty="0" err="1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والمسيرالمالي</a:t>
            </a:r>
            <a:r>
              <a:rPr lang="ar-DZ" sz="4800" b="1" dirty="0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                                    </a:t>
            </a:r>
            <a:r>
              <a:rPr lang="ar-SA" sz="4800" b="1" dirty="0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في </a:t>
            </a:r>
            <a:r>
              <a:rPr lang="ar-SA" sz="4800" b="1" dirty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المؤسسة التربوية</a:t>
            </a:r>
            <a:endParaRPr lang="ar-DZ" sz="4800" b="1" dirty="0">
              <a:solidFill>
                <a:srgbClr val="FF0000"/>
              </a:solidFill>
              <a:latin typeface="Sakkal Majalla" panose="02000000000000000000" pitchFamily="2" charset="-78"/>
              <a:ea typeface="Calibri" pitchFamily="34" charset="0"/>
              <a:cs typeface="Sakkal Majalla" panose="02000000000000000000" pitchFamily="2" charset="-78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6071662"/>
            <a:ext cx="4279763" cy="762066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solidFill>
              <a:schemeClr val="tx2"/>
            </a:solidFill>
          </a:ln>
        </p:spPr>
      </p:pic>
      <p:pic>
        <p:nvPicPr>
          <p:cNvPr id="5" name="Picture 6" descr="DrapeauALG"/>
          <p:cNvPicPr>
            <a:picLocks noChangeAspect="1" noChangeArrowheads="1" noCrop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0720" y="481608"/>
            <a:ext cx="1342968" cy="116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20720" y="4269867"/>
            <a:ext cx="8491459" cy="1754326"/>
          </a:xfrm>
          <a:prstGeom prst="rect">
            <a:avLst/>
          </a:prstGeom>
          <a:pattFill prst="pct5">
            <a:fgClr>
              <a:schemeClr val="dk2"/>
            </a:fgClr>
            <a:bgClr>
              <a:schemeClr val="bg1"/>
            </a:bgClr>
          </a:pattFill>
          <a:ln w="19050" cap="flat" cmpd="sng" algn="ctr">
            <a:solidFill>
              <a:sysClr val="windowText" lastClr="000000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 wrap="square" anchor="ctr"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ar-DZ" sz="6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لفائدة مديري </a:t>
            </a:r>
            <a:r>
              <a:rPr lang="ar-DZ" sz="6000" b="1" kern="0" dirty="0">
                <a:solidFill>
                  <a:prstClr val="black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ومقتصدي</a:t>
            </a:r>
            <a:endParaRPr lang="fr-FR" sz="1200" b="1" kern="0" dirty="0">
              <a:solidFill>
                <a:prstClr val="black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3600" b="1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 </a:t>
            </a:r>
            <a:r>
              <a:rPr kumimoji="0" lang="ar-DZ" sz="4800" b="1" i="0" u="none" strike="noStrike" kern="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الثانويات</a:t>
            </a:r>
            <a:endParaRPr kumimoji="0" lang="fr-FR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56440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6"/>
          <p:cNvSpPr txBox="1">
            <a:spLocks noChangeArrowheads="1"/>
          </p:cNvSpPr>
          <p:nvPr/>
        </p:nvSpPr>
        <p:spPr bwMode="auto">
          <a:xfrm>
            <a:off x="6300192" y="6081798"/>
            <a:ext cx="2663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800" b="1" i="1">
              <a:solidFill>
                <a:srgbClr val="0D0D0D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4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522146" y="2391300"/>
            <a:ext cx="5000660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r" defTabSz="919163" rtl="1" eaLnBrk="1" fontAlgn="auto" hangingPunct="1">
              <a:spcAft>
                <a:spcPts val="0"/>
              </a:spcAft>
            </a:pPr>
            <a:r>
              <a:rPr lang="ar-DZ" sz="2800" b="1" kern="0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مهام المدير ومهام المقتصد   </a:t>
            </a:r>
            <a:endParaRPr lang="fr-FR" sz="2800" b="1" kern="0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518108" y="3994317"/>
            <a:ext cx="5000660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r" defTabSz="919163" rtl="1" eaLnBrk="1" fontAlgn="auto" hangingPunct="1">
              <a:spcAft>
                <a:spcPts val="0"/>
              </a:spcAft>
            </a:pPr>
            <a:r>
              <a:rPr lang="ar-DZ" sz="2800" b="1" kern="0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إجـــراءات </a:t>
            </a:r>
            <a:r>
              <a:rPr lang="ar-SA" sz="2800" b="1" kern="0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تنفيذ الميزانية</a:t>
            </a:r>
            <a:endParaRPr lang="fr-FR" sz="2800" b="1" kern="0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2501818" y="3255928"/>
            <a:ext cx="5000660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r" defTabSz="919163" rtl="1" eaLnBrk="1" fontAlgn="auto" hangingPunct="1">
              <a:spcAft>
                <a:spcPts val="0"/>
              </a:spcAft>
            </a:pPr>
            <a:r>
              <a:rPr lang="ar-DZ" sz="2800" b="1" kern="0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الأعوان </a:t>
            </a:r>
            <a:r>
              <a:rPr lang="ar-DZ" sz="2800" b="1" kern="0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المكلفون بتنفيذ الميزانية</a:t>
            </a:r>
            <a:endParaRPr lang="fr-FR" sz="2800" b="1" kern="0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47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2518108" y="4924700"/>
            <a:ext cx="5000660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r" defTabSz="919163" rtl="1" eaLnBrk="1" fontAlgn="auto" hangingPunct="1">
              <a:spcAft>
                <a:spcPts val="0"/>
              </a:spcAft>
            </a:pPr>
            <a:r>
              <a:rPr lang="ar-DZ" sz="2800" b="1" kern="0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الإشكاليات المسجلة خلال التسيير</a:t>
            </a:r>
            <a:endParaRPr lang="fr-FR" sz="2800" b="1" kern="0" dirty="0" err="1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7"/>
          <p:cNvSpPr>
            <a:spLocks noChangeArrowheads="1"/>
          </p:cNvSpPr>
          <p:nvPr/>
        </p:nvSpPr>
        <p:spPr bwMode="auto">
          <a:xfrm>
            <a:off x="1428728" y="49390"/>
            <a:ext cx="5786478" cy="1569660"/>
          </a:xfrm>
          <a:prstGeom prst="rect">
            <a:avLst/>
          </a:prstGeom>
          <a:blipFill>
            <a:blip r:embed="rId8"/>
            <a:tile tx="0" ty="0" sx="100000" sy="100000" flip="none" algn="tl"/>
          </a:blipFill>
          <a:ln>
            <a:noFill/>
          </a:ln>
          <a:effectLst/>
          <a:scene3d>
            <a:camera prst="orthographicFront"/>
            <a:lightRig rig="threePt" dir="t"/>
          </a:scene3d>
          <a:sp3d extrusionH="342900">
            <a:bevelT w="152400" h="133350" prst="angle"/>
            <a:bevelB w="596900" h="800100"/>
          </a:sp3d>
          <a:extLst/>
        </p:spPr>
        <p:txBody>
          <a:bodyPr anchor="ctr">
            <a:spAutoFit/>
          </a:bodyPr>
          <a:lstStyle/>
          <a:p>
            <a:pPr lvl="0" algn="ctr" rtl="1" eaLnBrk="1" hangingPunct="1">
              <a:defRPr/>
            </a:pPr>
            <a:r>
              <a:rPr lang="ar-DZ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دور ومهام المدير </a:t>
            </a:r>
            <a:r>
              <a:rPr lang="ar-DZ" sz="48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و </a:t>
            </a:r>
            <a:r>
              <a:rPr lang="ar-DZ" sz="4800" b="1" dirty="0" err="1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المسيرالمالي</a:t>
            </a:r>
            <a:r>
              <a:rPr lang="ar-DZ" sz="48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                                    </a:t>
            </a:r>
            <a:r>
              <a:rPr lang="ar-SA" sz="48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في المؤسسة التربوية</a:t>
            </a:r>
            <a:endParaRPr lang="ar-DZ" sz="48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Sakkal Majalla" panose="02000000000000000000" pitchFamily="2" charset="-78"/>
              <a:ea typeface="Calibri" pitchFamily="34" charset="0"/>
              <a:cs typeface="Sakkal Majalla" panose="02000000000000000000" pitchFamily="2" charset="-78"/>
            </a:endParaRPr>
          </a:p>
        </p:txBody>
      </p:sp>
      <p:sp>
        <p:nvSpPr>
          <p:cNvPr id="8" name="Rectangle 47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6732240" y="5785735"/>
            <a:ext cx="1544276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defPPr>
              <a:defRPr lang="zh-CN"/>
            </a:defPPr>
            <a:lvl1pPr algn="r" defTabSz="919163" rtl="1" eaLnBrk="1" fontAlgn="auto" hangingPunct="1">
              <a:spcAft>
                <a:spcPts val="0"/>
              </a:spcAft>
              <a:defRPr sz="2800" b="1" ker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ar-DZ" dirty="0"/>
              <a:t>الخاتـــمة</a:t>
            </a:r>
            <a:endParaRPr lang="fr-FR" dirty="0" err="1"/>
          </a:p>
        </p:txBody>
      </p:sp>
      <p:sp>
        <p:nvSpPr>
          <p:cNvPr id="9" name="Rectangle 47">
            <a:hlinkClick r:id="rId10" action="ppaction://hlinksldjump"/>
          </p:cNvPr>
          <p:cNvSpPr txBox="1">
            <a:spLocks noChangeArrowheads="1"/>
          </p:cNvSpPr>
          <p:nvPr/>
        </p:nvSpPr>
        <p:spPr bwMode="auto">
          <a:xfrm>
            <a:off x="6732240" y="1678358"/>
            <a:ext cx="1544276" cy="52322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defPPr>
              <a:defRPr lang="zh-CN"/>
            </a:defPPr>
            <a:lvl1pPr marL="0" marR="0" lvl="0" indent="0" algn="r" defTabSz="919163" rtl="1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buFontTx/>
              <a:buNone/>
              <a:tabLst/>
              <a:defRPr kumimoji="0" sz="2800" b="1" i="0" u="none" strike="noStrike" kern="0" cap="none" spc="0" normalizeH="0" baseline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r>
              <a:rPr lang="ar-DZ" dirty="0"/>
              <a:t>مقدمة</a:t>
            </a:r>
            <a:endParaRPr lang="fr-FR" dirty="0" err="1"/>
          </a:p>
        </p:txBody>
      </p:sp>
      <p:sp>
        <p:nvSpPr>
          <p:cNvPr id="10" name="AutoShape 7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26334" y="6081798"/>
            <a:ext cx="1204788" cy="549045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المراجع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 txBox="1">
            <a:spLocks/>
          </p:cNvSpPr>
          <p:nvPr/>
        </p:nvSpPr>
        <p:spPr>
          <a:xfrm>
            <a:off x="0" y="692696"/>
            <a:ext cx="9144000" cy="6048375"/>
          </a:xfrm>
          <a:prstGeom prst="rect">
            <a:avLst/>
          </a:prstGeom>
          <a:solidFill>
            <a:schemeClr val="tx2">
              <a:lumMod val="20000"/>
              <a:lumOff val="80000"/>
              <a:alpha val="76000"/>
            </a:schemeClr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r" rtl="1" eaLnBrk="1" hangingPunct="1">
              <a:spcBef>
                <a:spcPct val="0"/>
              </a:spcBef>
              <a:defRPr/>
            </a:pPr>
            <a:r>
              <a:rPr lang="ar-DZ" sz="2400" b="1" kern="0" dirty="0" smtClean="0"/>
              <a:t>إن ما يكتسيه التسيير المالي والمادي من اهمية بالغة و تأثير مباشر على السير الحسن للمؤسسة ، ادى الى اختيار هذا الموضوع الحساس والمتعلق بـــ: </a:t>
            </a:r>
            <a:r>
              <a:rPr lang="ar-DZ" sz="2400" b="1" kern="0" dirty="0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</a:rPr>
              <a:t>دور ومهام المدير </a:t>
            </a:r>
            <a:r>
              <a:rPr lang="ar-DZ" sz="2400" b="1" kern="0" dirty="0" err="1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</a:rPr>
              <a:t>والمسيرالمالي</a:t>
            </a:r>
            <a:r>
              <a:rPr lang="ar-DZ" sz="2400" b="1" kern="0" dirty="0" smtClean="0">
                <a:solidFill>
                  <a:srgbClr val="FF0000"/>
                </a:solidFill>
                <a:latin typeface="Sakkal Majalla" panose="02000000000000000000" pitchFamily="2" charset="-78"/>
                <a:ea typeface="Calibri" pitchFamily="34" charset="0"/>
              </a:rPr>
              <a:t> </a:t>
            </a:r>
            <a:r>
              <a:rPr lang="ar-DZ" sz="2400" b="1" kern="0" dirty="0" smtClean="0">
                <a:solidFill>
                  <a:srgbClr val="FF0000"/>
                </a:solidFill>
              </a:rPr>
              <a:t>في المؤسسة التربوية  </a:t>
            </a:r>
            <a:r>
              <a:rPr lang="ar-DZ" sz="2400" b="1" kern="0" dirty="0" smtClean="0"/>
              <a:t>قصد تحديد الصلاحيات و رفع اللبس القائم عن تداخلها ، لأن هذه القضية قد سادها الغموض وسوء الفهم مما ادى الى التأثير السلبي على السير الحسن للمؤسسات التربوية .</a:t>
            </a:r>
          </a:p>
          <a:p>
            <a:pPr algn="r" rtl="1" eaLnBrk="1" hangingPunct="1">
              <a:spcBef>
                <a:spcPct val="0"/>
              </a:spcBef>
              <a:defRPr/>
            </a:pPr>
            <a:endParaRPr lang="ar-DZ" sz="2400" b="1" kern="0" dirty="0" smtClean="0"/>
          </a:p>
          <a:p>
            <a:pPr algn="r" rtl="1" eaLnBrk="1" hangingPunct="1">
              <a:spcBef>
                <a:spcPct val="0"/>
              </a:spcBef>
              <a:defRPr/>
            </a:pPr>
            <a:r>
              <a:rPr lang="ar-DZ" sz="2400" b="1" kern="0" dirty="0" smtClean="0"/>
              <a:t>إن الطبيعة القانونية المزدوجة لصلاحيات المدير و المقتصد تفرض عملية الرقابة المتبادلة فيما بينهما و المتمثلة في الرقابة الإدارية للمدير على المقتصد باعتباره يعمل تحت سلطته و إشرافه و الرقابة المحاسبية للمحاسب العمومي على مساءلة الآمر بالصرف وفق ما ينص عليه القانون.</a:t>
            </a:r>
          </a:p>
          <a:p>
            <a:pPr algn="r" rtl="1" eaLnBrk="1" hangingPunct="1">
              <a:spcBef>
                <a:spcPct val="0"/>
              </a:spcBef>
              <a:defRPr/>
            </a:pPr>
            <a:endParaRPr lang="ar-DZ" sz="2400" b="1" kern="0" dirty="0" smtClean="0"/>
          </a:p>
          <a:p>
            <a:pPr algn="r" rtl="1" eaLnBrk="1" hangingPunct="1">
              <a:spcBef>
                <a:spcPct val="0"/>
              </a:spcBef>
              <a:defRPr/>
            </a:pPr>
            <a:r>
              <a:rPr lang="ar-DZ" sz="2400" b="1" kern="0" dirty="0" smtClean="0"/>
              <a:t>إن هذه العملية تبدو متناقضة في ظاهرها ولكنها في حقيقة الامر  متكاملة كونها تصب في وعاء واحد وهو التكفل بالإجراءات القانونية من  حيث الإيرادات والنفقات و توظيفها لصالح العملية التربوية .</a:t>
            </a:r>
            <a:endParaRPr lang="fr-FR" b="1" kern="0" dirty="0" smtClean="0"/>
          </a:p>
        </p:txBody>
      </p:sp>
      <p:sp>
        <p:nvSpPr>
          <p:cNvPr id="4" name="Rectangle 4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455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AutoShape 45"/>
          <p:cNvSpPr>
            <a:spLocks noChangeArrowheads="1"/>
          </p:cNvSpPr>
          <p:nvPr/>
        </p:nvSpPr>
        <p:spPr bwMode="auto">
          <a:xfrm>
            <a:off x="4406299" y="747645"/>
            <a:ext cx="2179638" cy="94613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ar-DZ" sz="1600" b="1" u="sng" dirty="0">
                <a:hlinkClick r:id="rId3" action="ppaction://hlinksldjump"/>
              </a:rPr>
              <a:t>القرار 176  المؤرخ في 02/03/1991 </a:t>
            </a:r>
            <a:r>
              <a:rPr lang="ar-DZ" sz="1600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و القرار 297 المعدل والمتمم للقرار </a:t>
            </a:r>
            <a:r>
              <a:rPr lang="ar-DZ" sz="1600" b="1" u="sng" dirty="0"/>
              <a:t>176 </a:t>
            </a: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sz="1600" b="1" u="sng" dirty="0"/>
          </a:p>
        </p:txBody>
      </p:sp>
      <p:sp>
        <p:nvSpPr>
          <p:cNvPr id="64" name="AutoShape 45"/>
          <p:cNvSpPr>
            <a:spLocks noChangeArrowheads="1"/>
          </p:cNvSpPr>
          <p:nvPr/>
        </p:nvSpPr>
        <p:spPr bwMode="auto">
          <a:xfrm>
            <a:off x="2252199" y="720250"/>
            <a:ext cx="2071687" cy="95137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chemeClr val="tx1"/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1600" b="1" u="sng" dirty="0" smtClean="0">
                <a:hlinkClick r:id="rId4" action="ppaction://hlinksldjump"/>
              </a:rPr>
              <a:t>القرار829</a:t>
            </a:r>
            <a:r>
              <a:rPr lang="ar-DZ" sz="1400" b="1" dirty="0" smtClean="0">
                <a:hlinkClick r:id="rId4" action="ppaction://hlinksldjump"/>
              </a:rPr>
              <a:t> </a:t>
            </a:r>
            <a:r>
              <a:rPr lang="ar-DZ" sz="1400" b="1" dirty="0">
                <a:hlinkClick r:id="rId4" action="ppaction://hlinksldjump"/>
              </a:rPr>
              <a:t>المؤرخ في : </a:t>
            </a:r>
            <a:r>
              <a:rPr lang="ar-DZ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hlinkClick r:id="rId4" action="ppaction://hlinksldjump"/>
              </a:rPr>
              <a:t>13/11/</a:t>
            </a:r>
            <a:r>
              <a:rPr lang="ar-DZ" sz="1400" b="1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1991</a:t>
            </a:r>
            <a:endParaRPr lang="en-US" sz="900" b="1" dirty="0">
              <a:solidFill>
                <a:schemeClr val="accent2">
                  <a:lumMod val="60000"/>
                  <a:lumOff val="4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50" name="Line 42"/>
          <p:cNvSpPr>
            <a:spLocks noChangeShapeType="1"/>
          </p:cNvSpPr>
          <p:nvPr/>
        </p:nvSpPr>
        <p:spPr bwMode="auto">
          <a:xfrm flipV="1">
            <a:off x="1643063" y="642938"/>
            <a:ext cx="5500687" cy="71437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51" name="Line 40"/>
          <p:cNvSpPr>
            <a:spLocks noChangeShapeType="1"/>
          </p:cNvSpPr>
          <p:nvPr/>
        </p:nvSpPr>
        <p:spPr bwMode="auto">
          <a:xfrm>
            <a:off x="7143750" y="642938"/>
            <a:ext cx="0" cy="2746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0" name="Rectangle 44"/>
          <p:cNvSpPr>
            <a:spLocks noChangeArrowheads="1"/>
          </p:cNvSpPr>
          <p:nvPr/>
        </p:nvSpPr>
        <p:spPr bwMode="auto">
          <a:xfrm>
            <a:off x="6843485" y="930356"/>
            <a:ext cx="1357322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الإدارية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155" name="Line 34"/>
          <p:cNvSpPr>
            <a:spLocks noChangeShapeType="1"/>
          </p:cNvSpPr>
          <p:nvPr/>
        </p:nvSpPr>
        <p:spPr bwMode="auto">
          <a:xfrm>
            <a:off x="1328710" y="3760478"/>
            <a:ext cx="0" cy="1277446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56" name="Line 31"/>
          <p:cNvSpPr>
            <a:spLocks noChangeShapeType="1"/>
          </p:cNvSpPr>
          <p:nvPr/>
        </p:nvSpPr>
        <p:spPr bwMode="auto">
          <a:xfrm>
            <a:off x="7429500" y="3979863"/>
            <a:ext cx="0" cy="116365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57" name="Line 30"/>
          <p:cNvSpPr>
            <a:spLocks noChangeShapeType="1"/>
          </p:cNvSpPr>
          <p:nvPr/>
        </p:nvSpPr>
        <p:spPr bwMode="auto">
          <a:xfrm>
            <a:off x="7429500" y="2541485"/>
            <a:ext cx="0" cy="793853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58" name="Line 29"/>
          <p:cNvSpPr>
            <a:spLocks noChangeShapeType="1"/>
          </p:cNvSpPr>
          <p:nvPr/>
        </p:nvSpPr>
        <p:spPr bwMode="auto">
          <a:xfrm>
            <a:off x="7429500" y="1357313"/>
            <a:ext cx="0" cy="666728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23" name="AutoShape 26"/>
          <p:cNvSpPr>
            <a:spLocks noChangeArrowheads="1"/>
          </p:cNvSpPr>
          <p:nvPr/>
        </p:nvSpPr>
        <p:spPr bwMode="auto">
          <a:xfrm>
            <a:off x="6715140" y="5143512"/>
            <a:ext cx="1371600" cy="4572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المالية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4562215" y="5129195"/>
            <a:ext cx="1421435" cy="719138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1200" b="1" dirty="0"/>
              <a:t>المادة 26 من القرار </a:t>
            </a:r>
            <a:endParaRPr lang="ar-DZ" sz="1200" b="1" dirty="0" smtClean="0"/>
          </a:p>
          <a:p>
            <a:pPr algn="ctr" eaLnBrk="1" hangingPunct="1">
              <a:defRPr/>
            </a:pPr>
            <a:r>
              <a:rPr lang="ar-DZ" sz="1200" b="1" dirty="0" smtClean="0"/>
              <a:t> 176  </a:t>
            </a:r>
          </a:p>
          <a:p>
            <a:pPr algn="ctr" eaLnBrk="1" hangingPunct="1">
              <a:defRPr/>
            </a:pPr>
            <a:r>
              <a:rPr lang="ar-SA" sz="12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القانون </a:t>
            </a:r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166" name="Line 15"/>
          <p:cNvSpPr>
            <a:spLocks noChangeShapeType="1"/>
          </p:cNvSpPr>
          <p:nvPr/>
        </p:nvSpPr>
        <p:spPr bwMode="auto">
          <a:xfrm flipH="1" flipV="1">
            <a:off x="6072253" y="5529274"/>
            <a:ext cx="642885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6167" name="Rectangle 53"/>
          <p:cNvSpPr>
            <a:spLocks noChangeArrowheads="1"/>
          </p:cNvSpPr>
          <p:nvPr/>
        </p:nvSpPr>
        <p:spPr bwMode="auto">
          <a:xfrm>
            <a:off x="8789988" y="727075"/>
            <a:ext cx="3540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fr-FR" sz="24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spcBef>
                <a:spcPct val="0"/>
              </a:spcBef>
              <a:buFontTx/>
              <a:buNone/>
            </a:pPr>
            <a:r>
              <a:rPr lang="fr-FR" sz="24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fr-FR" sz="16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5" name="Rectangle 44"/>
          <p:cNvSpPr>
            <a:spLocks noChangeArrowheads="1"/>
          </p:cNvSpPr>
          <p:nvPr/>
        </p:nvSpPr>
        <p:spPr bwMode="auto">
          <a:xfrm>
            <a:off x="785786" y="1214422"/>
            <a:ext cx="142876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الإدارية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7" name="AutoShape 28"/>
          <p:cNvSpPr>
            <a:spLocks noChangeArrowheads="1"/>
          </p:cNvSpPr>
          <p:nvPr/>
        </p:nvSpPr>
        <p:spPr bwMode="auto">
          <a:xfrm>
            <a:off x="785786" y="3214686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التربوية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58" name="AutoShape 27"/>
          <p:cNvSpPr>
            <a:spLocks noChangeArrowheads="1"/>
          </p:cNvSpPr>
          <p:nvPr/>
        </p:nvSpPr>
        <p:spPr bwMode="auto">
          <a:xfrm>
            <a:off x="642910" y="5072074"/>
            <a:ext cx="1371600" cy="45720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المالية</a:t>
            </a:r>
            <a:endParaRPr lang="en-US" dirty="0">
              <a:cs typeface="Arial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fr-FR" b="1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179" name="Line 40"/>
          <p:cNvSpPr>
            <a:spLocks noChangeShapeType="1"/>
          </p:cNvSpPr>
          <p:nvPr/>
        </p:nvSpPr>
        <p:spPr bwMode="auto">
          <a:xfrm>
            <a:off x="1500166" y="859684"/>
            <a:ext cx="0" cy="3547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5" name="Rectangle 20"/>
          <p:cNvSpPr>
            <a:spLocks noChangeArrowheads="1"/>
          </p:cNvSpPr>
          <p:nvPr/>
        </p:nvSpPr>
        <p:spPr bwMode="auto">
          <a:xfrm>
            <a:off x="2497116" y="5148583"/>
            <a:ext cx="1238498" cy="697027"/>
          </a:xfrm>
          <a:prstGeom prst="rect">
            <a:avLst/>
          </a:prstGeom>
          <a:solidFill>
            <a:srgbClr val="FFFF00"/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1200" b="1" dirty="0"/>
              <a:t>المادة </a:t>
            </a:r>
            <a:r>
              <a:rPr lang="ar-DZ" sz="1200" b="1" dirty="0" smtClean="0"/>
              <a:t>13 </a:t>
            </a:r>
            <a:r>
              <a:rPr lang="ar-DZ" sz="1200" b="1" dirty="0"/>
              <a:t>من القرار </a:t>
            </a:r>
          </a:p>
          <a:p>
            <a:pPr algn="ctr" eaLnBrk="1" hangingPunct="1">
              <a:defRPr/>
            </a:pPr>
            <a:r>
              <a:rPr lang="ar-DZ" sz="1200" b="1" dirty="0"/>
              <a:t> </a:t>
            </a:r>
            <a:r>
              <a:rPr lang="ar-DZ" sz="1200" b="1" dirty="0" smtClean="0"/>
              <a:t>829 </a:t>
            </a:r>
            <a:endParaRPr lang="ar-DZ" sz="1200" b="1" dirty="0" smtClean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sz="1200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القانون </a:t>
            </a:r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184" name="Line 34"/>
          <p:cNvSpPr>
            <a:spLocks noChangeShapeType="1"/>
          </p:cNvSpPr>
          <p:nvPr/>
        </p:nvSpPr>
        <p:spPr bwMode="auto">
          <a:xfrm>
            <a:off x="1328710" y="2217414"/>
            <a:ext cx="0" cy="997272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6" name="Rectangle 47"/>
          <p:cNvSpPr>
            <a:spLocks noChangeArrowheads="1"/>
          </p:cNvSpPr>
          <p:nvPr/>
        </p:nvSpPr>
        <p:spPr bwMode="auto">
          <a:xfrm>
            <a:off x="2075632" y="-58863"/>
            <a:ext cx="4929222" cy="646331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spAutoFit/>
          </a:bodyPr>
          <a:lstStyle/>
          <a:p>
            <a:pPr marL="571500" indent="-571500" algn="ctr" rtl="1" eaLnBrk="1" hangingPunct="1">
              <a:buFont typeface="+mj-lt"/>
              <a:buAutoNum type="romanUcPeriod"/>
              <a:defRPr/>
            </a:pPr>
            <a:r>
              <a:rPr lang="ar-DZ" sz="3600" b="1" dirty="0">
                <a:solidFill>
                  <a:schemeClr val="bg1"/>
                </a:solidFill>
                <a:latin typeface="Arabic Transparent" panose="020B0604020202020204" pitchFamily="34" charset="0"/>
                <a:ea typeface="Calibri" pitchFamily="34" charset="0"/>
                <a:cs typeface="Arabic Transparent" panose="020B0604020202020204" pitchFamily="34" charset="0"/>
              </a:rPr>
              <a:t>مهام المدير و </a:t>
            </a:r>
            <a:r>
              <a:rPr lang="ar-DZ" sz="3200" b="1" dirty="0">
                <a:solidFill>
                  <a:schemeClr val="bg1"/>
                </a:solidFill>
                <a:latin typeface="Arabic Transparent" panose="020B0604020202020204" pitchFamily="34" charset="0"/>
                <a:ea typeface="Calibri" pitchFamily="34" charset="0"/>
                <a:cs typeface="Arabic Transparent" panose="020B0604020202020204" pitchFamily="34" charset="0"/>
              </a:rPr>
              <a:t>مهام المقتصد</a:t>
            </a:r>
            <a:r>
              <a:rPr lang="ar-DZ" sz="32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abic Transparent" panose="020B0604020202020204" pitchFamily="34" charset="0"/>
                <a:ea typeface="Calibri" pitchFamily="34" charset="0"/>
                <a:cs typeface="Arabic Transparent" panose="020B0604020202020204" pitchFamily="34" charset="0"/>
              </a:rPr>
              <a:t>   </a:t>
            </a:r>
            <a:endParaRPr lang="fr-FR" sz="7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reflection blurRad="12700" stA="28000" endPos="45000" dist="1000" dir="5400000" sy="-100000" algn="bl" rotWithShape="0"/>
              </a:effectLst>
              <a:latin typeface="Arabic Transparent" panose="020B0604020202020204" pitchFamily="34" charset="0"/>
              <a:cs typeface="Arabic Transparent" panose="020B0604020202020204" pitchFamily="34" charset="0"/>
            </a:endParaRPr>
          </a:p>
        </p:txBody>
      </p:sp>
      <p:sp>
        <p:nvSpPr>
          <p:cNvPr id="6186" name="AutoShape 2" descr="Résultat de recherche d'images pour &quot;casquett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fr-FR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AutoShape 28"/>
          <p:cNvSpPr>
            <a:spLocks noChangeArrowheads="1"/>
          </p:cNvSpPr>
          <p:nvPr/>
        </p:nvSpPr>
        <p:spPr bwMode="auto">
          <a:xfrm>
            <a:off x="6861221" y="2024041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ar-DZ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البيداغوجية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AutoShape 27"/>
          <p:cNvSpPr>
            <a:spLocks noChangeArrowheads="1"/>
          </p:cNvSpPr>
          <p:nvPr/>
        </p:nvSpPr>
        <p:spPr bwMode="auto">
          <a:xfrm>
            <a:off x="6858016" y="3429000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التربوية</a:t>
            </a:r>
            <a:endParaRPr lang="en-US" dirty="0">
              <a:cs typeface="Arial" pitchFamily="34" charset="0"/>
            </a:endParaRP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fr-FR" b="1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193" name="Line 19"/>
          <p:cNvSpPr>
            <a:spLocks noChangeShapeType="1"/>
          </p:cNvSpPr>
          <p:nvPr/>
        </p:nvSpPr>
        <p:spPr bwMode="auto">
          <a:xfrm>
            <a:off x="2075632" y="5475303"/>
            <a:ext cx="384993" cy="96822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38" name="Rectangle 46"/>
          <p:cNvSpPr>
            <a:spLocks noChangeArrowheads="1"/>
          </p:cNvSpPr>
          <p:nvPr/>
        </p:nvSpPr>
        <p:spPr bwMode="auto">
          <a:xfrm rot="16200000">
            <a:off x="7581261" y="5080337"/>
            <a:ext cx="2439678" cy="5657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sz="24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الآمر بالصرف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 rot="16200000">
            <a:off x="-903399" y="5093908"/>
            <a:ext cx="2453979" cy="5529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/>
            <a:r>
              <a:rPr lang="ar-SA" sz="2400" b="1">
                <a:latin typeface="Calibri" pitchFamily="34" charset="0"/>
                <a:ea typeface="Calibri" pitchFamily="34" charset="0"/>
                <a:cs typeface="Arial" pitchFamily="34" charset="0"/>
              </a:rPr>
              <a:t>المحاسب العمومي</a:t>
            </a:r>
            <a:r>
              <a:rPr lang="fr-FR" sz="2400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sz="2400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40" name="Rectangle 46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7272114" y="2093914"/>
            <a:ext cx="2973012" cy="611560"/>
          </a:xfrm>
          <a:prstGeom prst="rect">
            <a:avLst/>
          </a:prstGeom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3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reflection blurRad="12700" stA="28000" endPos="45000" dist="1000" dir="5400000" sy="-100000" algn="bl" rotWithShape="0"/>
                </a:effectLst>
                <a:latin typeface="Arabic Transparent" panose="020B0604020202020204" pitchFamily="34" charset="0"/>
                <a:ea typeface="Calibri" pitchFamily="34" charset="0"/>
                <a:cs typeface="Arabic Transparent" panose="020B0604020202020204" pitchFamily="34" charset="0"/>
              </a:rPr>
              <a:t>المدير</a:t>
            </a:r>
            <a:endParaRPr lang="en-US" sz="2400" dirty="0">
              <a:latin typeface="Arabic Transparent" panose="020B0604020202020204" pitchFamily="34" charset="0"/>
              <a:cs typeface="Arabic Transparent" panose="020B0604020202020204" pitchFamily="34" charset="0"/>
            </a:endParaRPr>
          </a:p>
        </p:txBody>
      </p:sp>
      <p:sp>
        <p:nvSpPr>
          <p:cNvPr id="42" name="Rectangle 46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-805532" y="2209968"/>
            <a:ext cx="2286000" cy="580659"/>
          </a:xfrm>
          <a:prstGeom prst="rect">
            <a:avLst/>
          </a:prstGeom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0">
            <a:scrgbClr r="0" g="0" b="0"/>
          </a:lnRef>
          <a:fillRef idx="1001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sz="3200" b="1" dirty="0">
                <a:solidFill>
                  <a:schemeClr val="bg1"/>
                </a:solidFill>
                <a:latin typeface="Sakkal Majalla" panose="02000000000000000000" pitchFamily="2" charset="-78"/>
                <a:ea typeface="Calibri" pitchFamily="34" charset="0"/>
                <a:cs typeface="Sakkal Majalla" panose="02000000000000000000" pitchFamily="2" charset="-78"/>
              </a:rPr>
              <a:t>المقتصد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7" name="Rectangle 4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41" name="Text Box 3"/>
          <p:cNvSpPr txBox="1">
            <a:spLocks noChangeArrowheads="1"/>
          </p:cNvSpPr>
          <p:nvPr/>
        </p:nvSpPr>
        <p:spPr bwMode="auto">
          <a:xfrm>
            <a:off x="97855" y="830913"/>
            <a:ext cx="9079253" cy="5904473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>
            <a:headEnd/>
            <a:tailEnd/>
          </a:ln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z="57150" extrusionH="63500" contourW="152400">
            <a:bevelT w="190500" h="69850"/>
            <a:bevelB w="228600" h="165100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flatTx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DZ" sz="5400" b="1" dirty="0" smtClean="0">
                <a:solidFill>
                  <a:srgbClr val="3333CC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 </a:t>
            </a: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DZ" sz="5400" b="1" dirty="0" smtClean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يمارس </a:t>
            </a:r>
            <a:r>
              <a:rPr lang="ar-DZ" sz="5400" b="1" dirty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المدير بصفته موظفا </a:t>
            </a:r>
            <a:r>
              <a:rPr lang="ar-DZ" sz="5400" b="1" dirty="0" smtClean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موكلا من الدولة </a:t>
            </a:r>
            <a:r>
              <a:rPr lang="ar-DZ" sz="5400" b="1" dirty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سلطته على جميع الموظفين </a:t>
            </a:r>
            <a:r>
              <a:rPr lang="ar-DZ" sz="5400" b="1" dirty="0" smtClean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     و الأعوان في </a:t>
            </a:r>
            <a:r>
              <a:rPr lang="ar-DZ" sz="5400" b="1" dirty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المؤسسة مهما كانت مناصبهم </a:t>
            </a:r>
            <a:r>
              <a:rPr lang="ar-DZ" sz="5400" b="1" dirty="0" smtClean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ورتبهم و </a:t>
            </a:r>
            <a:r>
              <a:rPr lang="ar-DZ" sz="5400" b="1" dirty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يكون مسؤولا على حفظ النظام و أمن الأشخاص و الحفاظ على </a:t>
            </a:r>
            <a:r>
              <a:rPr lang="ar-DZ" sz="5400" b="1" dirty="0" smtClean="0">
                <a:solidFill>
                  <a:srgbClr val="FF0000"/>
                </a:solidFill>
                <a:latin typeface="Arabic Transparent" panose="020B0604020202020204" pitchFamily="34" charset="0"/>
                <a:cs typeface="Arabic Transparent" panose="020B0604020202020204" pitchFamily="34" charset="0"/>
              </a:rPr>
              <a:t>الممتلكات.</a:t>
            </a:r>
            <a:endParaRPr lang="fr-FR" sz="5400" b="1" dirty="0">
              <a:solidFill>
                <a:srgbClr val="FF0000"/>
              </a:solidFill>
              <a:latin typeface="Arabic Transparent" panose="020B0604020202020204" pitchFamily="34" charset="0"/>
              <a:cs typeface="Arabic Transparent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44444E-6 L 1.05261 0.0127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22" y="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4" grpId="0" animBg="1"/>
      <p:bldP spid="39" grpId="0" animBg="1"/>
      <p:bldP spid="41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ChangeArrowheads="1"/>
          </p:cNvSpPr>
          <p:nvPr/>
        </p:nvSpPr>
        <p:spPr bwMode="auto">
          <a:xfrm>
            <a:off x="2760663" y="66546"/>
            <a:ext cx="22860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sz="2400" b="1">
                <a:latin typeface="Calibri" pitchFamily="34" charset="0"/>
                <a:ea typeface="Calibri" pitchFamily="34" charset="0"/>
                <a:cs typeface="Arial" pitchFamily="34" charset="0"/>
              </a:rPr>
              <a:t>الآمر بالصرف</a:t>
            </a:r>
            <a:endParaRPr lang="en-US" sz="1600">
              <a:cs typeface="Arial" pitchFamily="34" charset="0"/>
            </a:endParaRPr>
          </a:p>
        </p:txBody>
      </p:sp>
      <p:sp>
        <p:nvSpPr>
          <p:cNvPr id="5" name="AutoShape 45"/>
          <p:cNvSpPr>
            <a:spLocks noChangeArrowheads="1"/>
          </p:cNvSpPr>
          <p:nvPr/>
        </p:nvSpPr>
        <p:spPr bwMode="auto">
          <a:xfrm>
            <a:off x="2393950" y="857122"/>
            <a:ext cx="2925763" cy="484188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  <a:scene3d>
            <a:camera prst="orthographicFront"/>
            <a:lightRig rig="threePt" dir="t"/>
          </a:scene3d>
          <a:sp3d>
            <a:bevelT prst="angle"/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sz="28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Kabir14 Bold"/>
                <a:ea typeface="Calibri" pitchFamily="34" charset="0"/>
                <a:cs typeface="Arial" pitchFamily="34" charset="0"/>
              </a:rPr>
              <a:t>القرارات</a:t>
            </a:r>
            <a:endParaRPr lang="en-US" sz="1400" b="1" dirty="0">
              <a:solidFill>
                <a:schemeClr val="accent5">
                  <a:lumMod val="20000"/>
                  <a:lumOff val="80000"/>
                </a:schemeClr>
              </a:solidFill>
              <a:cs typeface="Arial" pitchFamily="34" charset="0"/>
            </a:endParaRPr>
          </a:p>
        </p:txBody>
      </p:sp>
      <p:sp>
        <p:nvSpPr>
          <p:cNvPr id="8200" name="Line 42"/>
          <p:cNvSpPr>
            <a:spLocks noChangeShapeType="1"/>
          </p:cNvSpPr>
          <p:nvPr/>
        </p:nvSpPr>
        <p:spPr bwMode="auto">
          <a:xfrm>
            <a:off x="1398588" y="582613"/>
            <a:ext cx="4937125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01" name="Line 41"/>
          <p:cNvSpPr>
            <a:spLocks noChangeShapeType="1"/>
          </p:cNvSpPr>
          <p:nvPr/>
        </p:nvSpPr>
        <p:spPr bwMode="auto">
          <a:xfrm>
            <a:off x="1389063" y="582613"/>
            <a:ext cx="0" cy="2746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02" name="Line 40"/>
          <p:cNvSpPr>
            <a:spLocks noChangeShapeType="1"/>
          </p:cNvSpPr>
          <p:nvPr/>
        </p:nvSpPr>
        <p:spPr bwMode="auto">
          <a:xfrm>
            <a:off x="6326188" y="582613"/>
            <a:ext cx="0" cy="2746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9" name="Rectangle 43"/>
          <p:cNvSpPr>
            <a:spLocks noChangeArrowheads="1"/>
          </p:cNvSpPr>
          <p:nvPr/>
        </p:nvSpPr>
        <p:spPr bwMode="auto">
          <a:xfrm>
            <a:off x="682625" y="857121"/>
            <a:ext cx="1279525" cy="4572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1" hangingPunct="1"/>
            <a:r>
              <a:rPr lang="ar-SA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النفقة</a:t>
            </a:r>
            <a:r>
              <a:rPr lang="fr-FR" b="1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" name="Rectangle 44"/>
          <p:cNvSpPr>
            <a:spLocks noChangeArrowheads="1"/>
          </p:cNvSpPr>
          <p:nvPr/>
        </p:nvSpPr>
        <p:spPr bwMode="auto">
          <a:xfrm>
            <a:off x="5686425" y="857121"/>
            <a:ext cx="1279525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/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الإيراد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1" name="AutoShape 38"/>
          <p:cNvSpPr>
            <a:spLocks noChangeArrowheads="1"/>
          </p:cNvSpPr>
          <p:nvPr/>
        </p:nvSpPr>
        <p:spPr bwMode="auto">
          <a:xfrm>
            <a:off x="692150" y="1819146"/>
            <a:ext cx="1371600" cy="45720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/>
          <a:lstStyle/>
          <a:p>
            <a:pPr algn="ctr" eaLnBrk="1" hangingPunct="1"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الالتزام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sz="1400">
              <a:cs typeface="Arial" pitchFamily="34" charset="0"/>
            </a:endParaRPr>
          </a:p>
        </p:txBody>
      </p:sp>
      <p:sp>
        <p:nvSpPr>
          <p:cNvPr id="12" name="AutoShape 37"/>
          <p:cNvSpPr>
            <a:spLocks noChangeArrowheads="1"/>
          </p:cNvSpPr>
          <p:nvPr/>
        </p:nvSpPr>
        <p:spPr bwMode="auto">
          <a:xfrm>
            <a:off x="714375" y="2781171"/>
            <a:ext cx="1371600" cy="45720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التصفية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" name="AutoShape 36"/>
          <p:cNvSpPr>
            <a:spLocks noChangeArrowheads="1"/>
          </p:cNvSpPr>
          <p:nvPr/>
        </p:nvSpPr>
        <p:spPr bwMode="auto">
          <a:xfrm>
            <a:off x="714375" y="3768596"/>
            <a:ext cx="1371600" cy="45720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الأمر بالدفع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8218" name="Line 35"/>
          <p:cNvSpPr>
            <a:spLocks noChangeShapeType="1"/>
          </p:cNvSpPr>
          <p:nvPr/>
        </p:nvSpPr>
        <p:spPr bwMode="auto">
          <a:xfrm>
            <a:off x="1314450" y="1341438"/>
            <a:ext cx="0" cy="549275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19" name="Line 34"/>
          <p:cNvSpPr>
            <a:spLocks noChangeShapeType="1"/>
          </p:cNvSpPr>
          <p:nvPr/>
        </p:nvSpPr>
        <p:spPr bwMode="auto">
          <a:xfrm>
            <a:off x="1314450" y="2276475"/>
            <a:ext cx="0" cy="549275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20" name="Line 33"/>
          <p:cNvSpPr>
            <a:spLocks noChangeShapeType="1"/>
          </p:cNvSpPr>
          <p:nvPr/>
        </p:nvSpPr>
        <p:spPr bwMode="auto">
          <a:xfrm>
            <a:off x="1314450" y="3284538"/>
            <a:ext cx="0" cy="549275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21" name="Line 32"/>
          <p:cNvSpPr>
            <a:spLocks noChangeShapeType="1"/>
          </p:cNvSpPr>
          <p:nvPr/>
        </p:nvSpPr>
        <p:spPr bwMode="auto">
          <a:xfrm flipV="1">
            <a:off x="2055813" y="2047875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23" name="Line 30"/>
          <p:cNvSpPr>
            <a:spLocks noChangeShapeType="1"/>
          </p:cNvSpPr>
          <p:nvPr/>
        </p:nvSpPr>
        <p:spPr bwMode="auto">
          <a:xfrm>
            <a:off x="6326188" y="2327275"/>
            <a:ext cx="0" cy="5492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24" name="Line 29"/>
          <p:cNvSpPr>
            <a:spLocks noChangeShapeType="1"/>
          </p:cNvSpPr>
          <p:nvPr/>
        </p:nvSpPr>
        <p:spPr bwMode="auto">
          <a:xfrm>
            <a:off x="6326188" y="1268413"/>
            <a:ext cx="0" cy="54768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" name="AutoShape 28"/>
          <p:cNvSpPr>
            <a:spLocks noChangeArrowheads="1"/>
          </p:cNvSpPr>
          <p:nvPr/>
        </p:nvSpPr>
        <p:spPr bwMode="auto">
          <a:xfrm>
            <a:off x="5603875" y="1879471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الإثبات</a:t>
            </a:r>
            <a:endParaRPr lang="en-US" sz="1600">
              <a:cs typeface="Arial" pitchFamily="34" charset="0"/>
            </a:endParaRPr>
          </a:p>
        </p:txBody>
      </p:sp>
      <p:sp>
        <p:nvSpPr>
          <p:cNvPr id="22" name="AutoShape 27"/>
          <p:cNvSpPr>
            <a:spLocks noChangeArrowheads="1"/>
          </p:cNvSpPr>
          <p:nvPr/>
        </p:nvSpPr>
        <p:spPr bwMode="auto">
          <a:xfrm>
            <a:off x="5603875" y="2866896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التصفية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3" name="AutoShape 26"/>
          <p:cNvSpPr>
            <a:spLocks noChangeArrowheads="1"/>
          </p:cNvSpPr>
          <p:nvPr/>
        </p:nvSpPr>
        <p:spPr bwMode="auto">
          <a:xfrm>
            <a:off x="5603875" y="3360658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الأمر بالتحصيل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2403475" y="1727071"/>
            <a:ext cx="1006475" cy="6270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/>
          <a:lstStyle/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المادة :19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من القانون</a:t>
            </a:r>
            <a:r>
              <a:rPr lang="fr-FR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2403475" y="2670046"/>
            <a:ext cx="1006475" cy="6635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/>
          <a:lstStyle/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المادة :20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من القانون 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2403475" y="3673346"/>
            <a:ext cx="1006475" cy="647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  <a:extLst/>
        </p:spPr>
        <p:txBody>
          <a:bodyPr/>
          <a:lstStyle/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المادة :21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من القانون 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4139952" y="1727071"/>
            <a:ext cx="1190873" cy="6270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ar-SA" sz="1200" b="1">
                <a:latin typeface="Calibri" pitchFamily="34" charset="0"/>
                <a:ea typeface="Calibri" pitchFamily="34" charset="0"/>
                <a:cs typeface="Arial" pitchFamily="34" charset="0"/>
              </a:rPr>
              <a:t>المادة :16</a:t>
            </a:r>
            <a:endParaRPr lang="en-US" sz="800">
              <a:cs typeface="Arial" pitchFamily="34" charset="0"/>
            </a:endParaRPr>
          </a:p>
          <a:p>
            <a:pPr algn="ctr">
              <a:defRPr/>
            </a:pPr>
            <a:r>
              <a:rPr lang="ar-SA" sz="1200" b="1">
                <a:latin typeface="Calibri" pitchFamily="34" charset="0"/>
                <a:ea typeface="Calibri" pitchFamily="34" charset="0"/>
                <a:cs typeface="Arial" pitchFamily="34" charset="0"/>
              </a:rPr>
              <a:t>من القانون 90/21</a:t>
            </a:r>
            <a:endParaRPr lang="en-US">
              <a:cs typeface="Arial" pitchFamily="34" charset="0"/>
            </a:endParaRPr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4103976" y="3004214"/>
            <a:ext cx="1190873" cy="65881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 cap="rnd">
            <a:solidFill>
              <a:schemeClr val="tx1"/>
            </a:solidFill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  <p:txBody>
          <a:bodyPr/>
          <a:lstStyle/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المادة :17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  <a:p>
            <a:pPr algn="ctr" eaLnBrk="1" hangingPunct="1"/>
            <a:r>
              <a:rPr lang="ar-SA" sz="12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من القانون 90/21</a:t>
            </a:r>
            <a:endParaRPr lang="en-US" sz="1200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8252" name="Line 19"/>
          <p:cNvSpPr>
            <a:spLocks noChangeShapeType="1"/>
          </p:cNvSpPr>
          <p:nvPr/>
        </p:nvSpPr>
        <p:spPr bwMode="auto">
          <a:xfrm>
            <a:off x="2085975" y="3065463"/>
            <a:ext cx="3175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53" name="Line 18"/>
          <p:cNvSpPr>
            <a:spLocks noChangeShapeType="1"/>
          </p:cNvSpPr>
          <p:nvPr/>
        </p:nvSpPr>
        <p:spPr bwMode="auto">
          <a:xfrm>
            <a:off x="2063750" y="4010025"/>
            <a:ext cx="3397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54" name="Line 17"/>
          <p:cNvSpPr>
            <a:spLocks noChangeShapeType="1"/>
          </p:cNvSpPr>
          <p:nvPr/>
        </p:nvSpPr>
        <p:spPr bwMode="auto">
          <a:xfrm flipH="1">
            <a:off x="5330825" y="2133600"/>
            <a:ext cx="2730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55" name="Line 16"/>
          <p:cNvSpPr>
            <a:spLocks noChangeShapeType="1"/>
          </p:cNvSpPr>
          <p:nvPr/>
        </p:nvSpPr>
        <p:spPr bwMode="auto">
          <a:xfrm flipH="1">
            <a:off x="5339071" y="3333620"/>
            <a:ext cx="273050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8257" name="Line 14"/>
          <p:cNvSpPr>
            <a:spLocks noChangeShapeType="1"/>
          </p:cNvSpPr>
          <p:nvPr/>
        </p:nvSpPr>
        <p:spPr bwMode="auto">
          <a:xfrm>
            <a:off x="1389063" y="4221164"/>
            <a:ext cx="16668" cy="469900"/>
          </a:xfrm>
          <a:prstGeom prst="line">
            <a:avLst/>
          </a:prstGeom>
          <a:noFill/>
          <a:ln w="9525">
            <a:solidFill>
              <a:srgbClr val="7030A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58" name="Line 13"/>
          <p:cNvSpPr>
            <a:spLocks noChangeShapeType="1"/>
          </p:cNvSpPr>
          <p:nvPr/>
        </p:nvSpPr>
        <p:spPr bwMode="auto">
          <a:xfrm flipH="1">
            <a:off x="6299995" y="3871783"/>
            <a:ext cx="9525" cy="801817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8259" name="Line 12"/>
          <p:cNvSpPr>
            <a:spLocks noChangeShapeType="1"/>
          </p:cNvSpPr>
          <p:nvPr/>
        </p:nvSpPr>
        <p:spPr bwMode="auto">
          <a:xfrm>
            <a:off x="1405731" y="4691063"/>
            <a:ext cx="1316037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60" name="Line 11"/>
          <p:cNvSpPr>
            <a:spLocks noChangeShapeType="1"/>
          </p:cNvSpPr>
          <p:nvPr/>
        </p:nvSpPr>
        <p:spPr bwMode="auto">
          <a:xfrm>
            <a:off x="4964113" y="4691063"/>
            <a:ext cx="1371600" cy="0"/>
          </a:xfrm>
          <a:prstGeom prst="line">
            <a:avLst/>
          </a:prstGeom>
          <a:noFill/>
          <a:ln w="28575">
            <a:solidFill>
              <a:srgbClr val="E36C0A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9" name="Rectangle 10"/>
          <p:cNvSpPr>
            <a:spLocks noChangeArrowheads="1"/>
          </p:cNvSpPr>
          <p:nvPr/>
        </p:nvSpPr>
        <p:spPr bwMode="auto">
          <a:xfrm>
            <a:off x="2760663" y="4478338"/>
            <a:ext cx="2193925" cy="425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ar-SA" sz="2000" b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المحاسب العمومي</a:t>
            </a:r>
            <a:r>
              <a:rPr lang="fr-FR" sz="2000" b="1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1400">
              <a:cs typeface="Arial" panose="020B0604020202020204" pitchFamily="34" charset="0"/>
            </a:endParaRPr>
          </a:p>
        </p:txBody>
      </p:sp>
      <p:sp>
        <p:nvSpPr>
          <p:cNvPr id="8262" name="Line 9"/>
          <p:cNvSpPr>
            <a:spLocks noChangeShapeType="1"/>
          </p:cNvSpPr>
          <p:nvPr/>
        </p:nvSpPr>
        <p:spPr bwMode="auto">
          <a:xfrm>
            <a:off x="1398588" y="5465763"/>
            <a:ext cx="1828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63" name="Line 8"/>
          <p:cNvSpPr>
            <a:spLocks noChangeShapeType="1"/>
          </p:cNvSpPr>
          <p:nvPr/>
        </p:nvSpPr>
        <p:spPr bwMode="auto">
          <a:xfrm flipV="1">
            <a:off x="4598988" y="5411788"/>
            <a:ext cx="2493962" cy="539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2" name="AutoShape 7"/>
          <p:cNvSpPr>
            <a:spLocks noChangeArrowheads="1"/>
          </p:cNvSpPr>
          <p:nvPr/>
        </p:nvSpPr>
        <p:spPr bwMode="auto">
          <a:xfrm>
            <a:off x="3246602" y="5229200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0504D"/>
              </a:gs>
              <a:gs pos="100000">
                <a:srgbClr val="622423"/>
              </a:gs>
            </a:gsLst>
            <a:lin ang="27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b="1">
                <a:solidFill>
                  <a:srgbClr val="FDE9D9"/>
                </a:solidFill>
                <a:latin typeface="Calibri" pitchFamily="34" charset="0"/>
                <a:ea typeface="Calibri" pitchFamily="34" charset="0"/>
                <a:cs typeface="Arial" pitchFamily="34" charset="0"/>
              </a:rPr>
              <a:t>التنفيذ</a:t>
            </a:r>
            <a:endParaRPr lang="en-US" sz="1400">
              <a:cs typeface="Arial" pitchFamily="34" charset="0"/>
            </a:endParaRPr>
          </a:p>
        </p:txBody>
      </p:sp>
      <p:sp>
        <p:nvSpPr>
          <p:cNvPr id="8267" name="Line 6"/>
          <p:cNvSpPr>
            <a:spLocks noChangeShapeType="1"/>
          </p:cNvSpPr>
          <p:nvPr/>
        </p:nvSpPr>
        <p:spPr bwMode="auto">
          <a:xfrm>
            <a:off x="1389063" y="5465763"/>
            <a:ext cx="0" cy="5492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68" name="Line 5"/>
          <p:cNvSpPr>
            <a:spLocks noChangeShapeType="1"/>
          </p:cNvSpPr>
          <p:nvPr/>
        </p:nvSpPr>
        <p:spPr bwMode="auto">
          <a:xfrm>
            <a:off x="7092950" y="5411788"/>
            <a:ext cx="9525" cy="4651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5" name="AutoShape 4"/>
          <p:cNvSpPr>
            <a:spLocks noChangeArrowheads="1"/>
          </p:cNvSpPr>
          <p:nvPr/>
        </p:nvSpPr>
        <p:spPr bwMode="auto">
          <a:xfrm>
            <a:off x="714375" y="6021288"/>
            <a:ext cx="1371600" cy="45720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sz="2200" b="1">
                <a:latin typeface="Calibri" pitchFamily="34" charset="0"/>
                <a:ea typeface="Calibri" pitchFamily="34" charset="0"/>
                <a:cs typeface="Arial" pitchFamily="34" charset="0"/>
              </a:rPr>
              <a:t>الدفع</a:t>
            </a:r>
            <a:r>
              <a:rPr lang="fr-FR" sz="2200" b="1"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en-US" sz="2200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46" name="AutoShape 3"/>
          <p:cNvSpPr>
            <a:spLocks noChangeArrowheads="1"/>
          </p:cNvSpPr>
          <p:nvPr/>
        </p:nvSpPr>
        <p:spPr bwMode="auto">
          <a:xfrm>
            <a:off x="6429388" y="6000768"/>
            <a:ext cx="1371600" cy="457200"/>
          </a:xfrm>
          <a:prstGeom prst="roundRect">
            <a:avLst>
              <a:gd name="adj" fmla="val 16667"/>
            </a:avLst>
          </a:prstGeom>
          <a:solidFill>
            <a:srgbClr val="9BBB59"/>
          </a:solidFill>
          <a:ln w="381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sz="2200" b="1">
                <a:latin typeface="Calibri" pitchFamily="34" charset="0"/>
                <a:ea typeface="Calibri" pitchFamily="34" charset="0"/>
                <a:cs typeface="Arial" pitchFamily="34" charset="0"/>
              </a:rPr>
              <a:t>التحصيل</a:t>
            </a:r>
            <a:r>
              <a:rPr lang="fr-FR" sz="2200" b="1">
                <a:latin typeface="Calibri" pitchFamily="34" charset="0"/>
                <a:ea typeface="Calibri" pitchFamily="34" charset="0"/>
                <a:cs typeface="Arial" pitchFamily="34" charset="0"/>
              </a:rPr>
              <a:t>  </a:t>
            </a:r>
            <a:endParaRPr lang="en-US">
              <a:cs typeface="Arial" pitchFamily="34" charset="0"/>
            </a:endParaRPr>
          </a:p>
        </p:txBody>
      </p:sp>
      <p:sp>
        <p:nvSpPr>
          <p:cNvPr id="47" name="Rectangle 1"/>
          <p:cNvSpPr>
            <a:spLocks noChangeArrowheads="1"/>
          </p:cNvSpPr>
          <p:nvPr/>
        </p:nvSpPr>
        <p:spPr bwMode="auto">
          <a:xfrm>
            <a:off x="2479675" y="5910263"/>
            <a:ext cx="1371600" cy="511175"/>
          </a:xfrm>
          <a:prstGeom prst="rect">
            <a:avLst/>
          </a:prstGeom>
          <a:gradFill rotWithShape="0">
            <a:gsLst>
              <a:gs pos="0">
                <a:srgbClr val="95B3D7"/>
              </a:gs>
              <a:gs pos="2000">
                <a:schemeClr val="accent1">
                  <a:lumMod val="20000"/>
                  <a:lumOff val="80000"/>
                </a:schemeClr>
              </a:gs>
              <a:gs pos="100000">
                <a:srgbClr val="95B3D7"/>
              </a:gs>
            </a:gsLst>
            <a:lin ang="5400000" scaled="1"/>
          </a:gradFill>
          <a:ln w="12700" cap="rnd">
            <a:solidFill>
              <a:srgbClr val="4F81BD"/>
            </a:solidFill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/>
          <a:lstStyle/>
          <a:p>
            <a:pPr algn="ctr" eaLnBrk="1" hangingPunct="1"/>
            <a:r>
              <a:rPr lang="ar-SA" sz="1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المادة :22 من القانون 90/21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39"/>
          <p:cNvSpPr>
            <a:spLocks noChangeArrowheads="1"/>
          </p:cNvSpPr>
          <p:nvPr/>
        </p:nvSpPr>
        <p:spPr bwMode="auto">
          <a:xfrm>
            <a:off x="4643438" y="5883275"/>
            <a:ext cx="1377950" cy="511175"/>
          </a:xfrm>
          <a:prstGeom prst="rect">
            <a:avLst/>
          </a:prstGeom>
          <a:gradFill rotWithShape="0">
            <a:gsLst>
              <a:gs pos="0">
                <a:srgbClr val="95B3D7"/>
              </a:gs>
              <a:gs pos="2000">
                <a:schemeClr val="accent1">
                  <a:lumMod val="20000"/>
                  <a:lumOff val="80000"/>
                </a:schemeClr>
              </a:gs>
              <a:gs pos="100000">
                <a:srgbClr val="95B3D7"/>
              </a:gs>
            </a:gsLst>
            <a:lin ang="5400000" scaled="1"/>
          </a:gradFill>
          <a:ln w="12700" cap="rnd">
            <a:solidFill>
              <a:srgbClr val="4F81BD"/>
            </a:solidFill>
            <a:miter lim="800000"/>
            <a:headEnd/>
            <a:tailEnd/>
          </a:ln>
          <a:effectLst>
            <a:outerShdw dist="28398" dir="3806097" algn="ctr" rotWithShape="0">
              <a:srgbClr val="243F60"/>
            </a:outerShdw>
          </a:effectLst>
        </p:spPr>
        <p:txBody>
          <a:bodyPr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ar-SA" sz="1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المادة :18 </a:t>
            </a:r>
            <a:r>
              <a:rPr lang="ar-SA" sz="1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من </a:t>
            </a:r>
            <a:r>
              <a:rPr lang="ar-SA" sz="1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القانون 90/21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280" name="Rectangle 53"/>
          <p:cNvSpPr>
            <a:spLocks noChangeArrowheads="1"/>
          </p:cNvSpPr>
          <p:nvPr/>
        </p:nvSpPr>
        <p:spPr bwMode="auto">
          <a:xfrm>
            <a:off x="8789988" y="727075"/>
            <a:ext cx="354012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Calibri" panose="020F0502020204030204" pitchFamily="34" charset="0"/>
                <a:ea typeface="SimHei" pitchFamily="49" charset="-122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fr-FR" sz="24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 rtl="1">
              <a:spcBef>
                <a:spcPct val="0"/>
              </a:spcBef>
              <a:buFontTx/>
              <a:buNone/>
            </a:pPr>
            <a:r>
              <a:rPr lang="fr-FR" sz="24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endParaRPr lang="fr-FR" sz="16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281" name="Line 15"/>
          <p:cNvSpPr>
            <a:spLocks noChangeShapeType="1"/>
          </p:cNvSpPr>
          <p:nvPr/>
        </p:nvSpPr>
        <p:spPr bwMode="auto">
          <a:xfrm>
            <a:off x="2116138" y="6237288"/>
            <a:ext cx="368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8282" name="Line 15"/>
          <p:cNvSpPr>
            <a:spLocks noChangeShapeType="1"/>
          </p:cNvSpPr>
          <p:nvPr/>
        </p:nvSpPr>
        <p:spPr bwMode="auto">
          <a:xfrm flipH="1">
            <a:off x="6084888" y="6121400"/>
            <a:ext cx="2254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1" name="Rectangle 4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9225758" y="4426734"/>
            <a:ext cx="1598592" cy="9541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/>
        </p:spPr>
        <p:txBody>
          <a:bodyPr wrap="square" anchor="ctr">
            <a:spAutoFit/>
          </a:bodyPr>
          <a:lstStyle/>
          <a:p>
            <a:pPr algn="ctr" rtl="1" eaLnBrk="1" hangingPunct="1">
              <a:defRPr/>
            </a:pPr>
            <a:r>
              <a:rPr lang="ar-DZ" sz="2800" b="1" dirty="0">
                <a:latin typeface="Calibri" pitchFamily="34" charset="0"/>
                <a:cs typeface="Arial" pitchFamily="34" charset="0"/>
              </a:rPr>
              <a:t>نشاط للاستئناس</a:t>
            </a:r>
            <a:endParaRPr lang="fr-FR" sz="600" dirty="0">
              <a:cs typeface="Arial" pitchFamily="34" charset="0"/>
            </a:endParaRPr>
          </a:p>
        </p:txBody>
      </p:sp>
      <p:sp>
        <p:nvSpPr>
          <p:cNvPr id="52" name="Rectangle 4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-1953917" y="4516557"/>
            <a:ext cx="1384785" cy="9541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  <a:extLst/>
        </p:spPr>
        <p:txBody>
          <a:bodyPr wrap="square" anchor="ctr">
            <a:spAutoFit/>
          </a:bodyPr>
          <a:lstStyle/>
          <a:p>
            <a:pPr algn="ctr" rtl="1" eaLnBrk="1" hangingPunct="1">
              <a:defRPr/>
            </a:pPr>
            <a:r>
              <a:rPr lang="ar-DZ" sz="2800" b="1" dirty="0">
                <a:latin typeface="Calibri" pitchFamily="34" charset="0"/>
                <a:cs typeface="Arial" pitchFamily="34" charset="0"/>
              </a:rPr>
              <a:t>نشاط للاستئناس</a:t>
            </a:r>
            <a:endParaRPr lang="fr-FR" sz="600" dirty="0">
              <a:cs typeface="Arial" pitchFamily="34" charset="0"/>
            </a:endParaRPr>
          </a:p>
        </p:txBody>
      </p:sp>
      <p:sp>
        <p:nvSpPr>
          <p:cNvPr id="53" name="Rectangle 4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54" name="Line 41"/>
          <p:cNvSpPr>
            <a:spLocks noChangeShapeType="1"/>
          </p:cNvSpPr>
          <p:nvPr/>
        </p:nvSpPr>
        <p:spPr bwMode="auto">
          <a:xfrm>
            <a:off x="3847273" y="4954563"/>
            <a:ext cx="0" cy="2746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5" name="Rectangle 47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6828564" y="2148976"/>
            <a:ext cx="3820919" cy="523220"/>
          </a:xfrm>
          <a:prstGeom prst="rect">
            <a:avLst/>
          </a:prstGeom>
          <a:gradFill rotWithShape="1">
            <a:gsLst>
              <a:gs pos="0">
                <a:srgbClr val="FFFF00"/>
              </a:gs>
              <a:gs pos="100000">
                <a:srgbClr val="F3F300"/>
              </a:gs>
            </a:gsLst>
            <a:lin ang="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marL="571500" indent="-571500" algn="ctr" defTabSz="919163" rtl="1" eaLnBrk="1" fontAlgn="auto" hangingPunct="1">
              <a:spcAft>
                <a:spcPts val="0"/>
              </a:spcAft>
              <a:buFont typeface="+mj-lt"/>
              <a:buAutoNum type="romanUcPeriod" startAt="3"/>
            </a:pPr>
            <a:r>
              <a:rPr lang="ar-DZ" sz="2800" b="1" kern="0" dirty="0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إجـــراءات </a:t>
            </a:r>
            <a:r>
              <a:rPr lang="ar-SA" sz="2800" b="1" kern="0" dirty="0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تنفيذ الميزانية</a:t>
            </a:r>
            <a:endParaRPr lang="fr-FR" sz="2800" b="1" kern="0" dirty="0">
              <a:solidFill>
                <a:srgbClr val="000066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7" name="AutoShape 22"/>
          <p:cNvSpPr>
            <a:spLocks noChangeArrowheads="1"/>
          </p:cNvSpPr>
          <p:nvPr/>
        </p:nvSpPr>
        <p:spPr bwMode="auto">
          <a:xfrm rot="16200000">
            <a:off x="6740042" y="2751137"/>
            <a:ext cx="2132013" cy="628650"/>
          </a:xfrm>
          <a:prstGeom prst="flowChartAlternateProcess">
            <a:avLst/>
          </a:prstGeom>
          <a:gradFill rotWithShape="1">
            <a:gsLst>
              <a:gs pos="0">
                <a:srgbClr val="FFFF00"/>
              </a:gs>
              <a:gs pos="100000">
                <a:srgbClr val="F3F300"/>
              </a:gs>
            </a:gsLst>
            <a:lin ang="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المرحلة الإدارية</a:t>
            </a:r>
            <a:endParaRPr kumimoji="0" lang="fr-FR" sz="2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8" name="AutoShape 18"/>
          <p:cNvSpPr>
            <a:spLocks noChangeArrowheads="1"/>
          </p:cNvSpPr>
          <p:nvPr/>
        </p:nvSpPr>
        <p:spPr bwMode="auto">
          <a:xfrm rot="16200000">
            <a:off x="7533495" y="5476875"/>
            <a:ext cx="2132012" cy="630238"/>
          </a:xfrm>
          <a:prstGeom prst="flowChartAlternateProcess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/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fontAlgn="auto" hangingPunct="1">
              <a:spcAft>
                <a:spcPts val="0"/>
              </a:spcAft>
            </a:pPr>
            <a:r>
              <a:rPr lang="ar-DZ" sz="2800" b="1" kern="0" dirty="0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المرحلة </a:t>
            </a:r>
            <a:r>
              <a:rPr lang="ar-DZ" sz="2800" b="1" kern="0" dirty="0" err="1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المحسابية</a:t>
            </a:r>
            <a:endParaRPr lang="fr-FR" sz="2800" b="1" kern="0" dirty="0">
              <a:solidFill>
                <a:srgbClr val="000066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6" name="AutoShape 22"/>
          <p:cNvSpPr>
            <a:spLocks noChangeArrowheads="1"/>
          </p:cNvSpPr>
          <p:nvPr/>
        </p:nvSpPr>
        <p:spPr bwMode="auto">
          <a:xfrm rot="16200000">
            <a:off x="-1843158" y="2090084"/>
            <a:ext cx="2132013" cy="628650"/>
          </a:xfrm>
          <a:prstGeom prst="flowChartAlternateProcess">
            <a:avLst/>
          </a:prstGeom>
          <a:gradFill rotWithShape="1">
            <a:gsLst>
              <a:gs pos="0">
                <a:srgbClr val="FFFF00"/>
              </a:gs>
              <a:gs pos="100000">
                <a:srgbClr val="F3F300"/>
              </a:gs>
            </a:gsLst>
            <a:lin ang="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المرحلة الإدارية</a:t>
            </a:r>
            <a:endParaRPr kumimoji="0" lang="fr-FR" sz="2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9" name="AutoShape 18"/>
          <p:cNvSpPr>
            <a:spLocks noChangeArrowheads="1"/>
          </p:cNvSpPr>
          <p:nvPr/>
        </p:nvSpPr>
        <p:spPr bwMode="auto">
          <a:xfrm rot="16200000">
            <a:off x="-1889446" y="5403056"/>
            <a:ext cx="2279650" cy="630238"/>
          </a:xfrm>
          <a:prstGeom prst="flowChartAlternateProcess">
            <a:avLst/>
          </a:prstGeom>
          <a:solidFill>
            <a:srgbClr val="FFFFFF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/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fontAlgn="auto" hangingPunct="1">
              <a:spcAft>
                <a:spcPts val="0"/>
              </a:spcAft>
            </a:pPr>
            <a:r>
              <a:rPr lang="ar-DZ" sz="2800" b="1" kern="0" dirty="0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المرحلة </a:t>
            </a:r>
            <a:r>
              <a:rPr lang="ar-DZ" sz="2800" b="1" kern="0" dirty="0" err="1">
                <a:solidFill>
                  <a:srgbClr val="000066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المحسابية</a:t>
            </a:r>
            <a:endParaRPr lang="fr-FR" sz="2800" b="1" kern="0" dirty="0">
              <a:solidFill>
                <a:srgbClr val="000066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3.7037E-6 L -0.43784 3.7037E-6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9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4.44444E-6 L 0.1198 0.00232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3.7037E-6 L 0.13159 -0.00463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0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7.40741E-7 L 0.32309 -0.00556 " pathEditMode="relative" rAng="0" ptsTypes="AA">
                                      <p:cBhvr>
                                        <p:cTn id="13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46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7" grpId="0" animBg="1"/>
      <p:bldP spid="48" grpId="0" animBg="1"/>
      <p:bldP spid="57" grpId="0" animBg="1"/>
      <p:bldP spid="58" grpId="0" animBg="1"/>
      <p:bldP spid="56" grpId="0" animBg="1"/>
      <p:bldP spid="56" grpId="1" animBg="1"/>
      <p:bldP spid="59" grpId="0" animBg="1"/>
      <p:bldP spid="5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Grp="1" noChangeArrowheads="1"/>
          </p:cNvSpPr>
          <p:nvPr>
            <p:ph type="title"/>
          </p:nvPr>
        </p:nvSpPr>
        <p:spPr>
          <a:xfrm>
            <a:off x="3923928" y="187325"/>
            <a:ext cx="4700960" cy="523220"/>
          </a:xfrm>
          <a:blipFill>
            <a:blip r:embed="rId2"/>
            <a:tile tx="0" ty="0" sx="100000" sy="100000" flip="none" algn="tl"/>
          </a:blipFill>
          <a:ln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  <a:extLst/>
        </p:spPr>
        <p:txBody>
          <a:bodyPr wrap="square">
            <a:spAutoFit/>
          </a:bodyPr>
          <a:lstStyle/>
          <a:p>
            <a:pPr marL="571500" indent="-571500" algn="r" rtl="1">
              <a:buFont typeface="+mj-lt"/>
              <a:buAutoNum type="romanUcPeriod" startAt="3"/>
              <a:defRPr/>
            </a:pPr>
            <a:r>
              <a:rPr lang="ar-DZ" sz="2800" dirty="0" smtClean="0">
                <a:ea typeface="Calibri" pitchFamily="34" charset="0"/>
                <a:cs typeface="Arial" pitchFamily="34" charset="0"/>
              </a:rPr>
              <a:t>الأعوان </a:t>
            </a:r>
            <a:r>
              <a:rPr lang="ar-DZ" sz="2800" dirty="0">
                <a:ea typeface="Calibri" pitchFamily="34" charset="0"/>
                <a:cs typeface="Arial" pitchFamily="34" charset="0"/>
              </a:rPr>
              <a:t>المكلفون بتنفيذ الميزانية</a:t>
            </a:r>
            <a:endParaRPr lang="fr-FR" sz="2800" dirty="0">
              <a:ea typeface="Calibri" pitchFamily="34" charset="0"/>
              <a:cs typeface="Arial" pitchFamily="34" charset="0"/>
            </a:endParaRP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5968949" y="788267"/>
            <a:ext cx="2686040" cy="647691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457200" indent="-457200" algn="r" rtl="1">
              <a:buFont typeface="+mj-lt"/>
              <a:buAutoNum type="arabicPeriod"/>
              <a:defRPr/>
            </a:pPr>
            <a:r>
              <a:rPr lang="ar-SA" sz="2400" b="1" dirty="0">
                <a:ea typeface="Calibri" pitchFamily="34" charset="0"/>
                <a:cs typeface="Arial" pitchFamily="34" charset="0"/>
              </a:rPr>
              <a:t>الآمر بالصرف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6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899246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9512" y="7101408"/>
            <a:ext cx="8763182" cy="144016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ar-DZ" sz="2400" b="1" dirty="0" smtClean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المادة 23من القانون 90- 21</a:t>
            </a:r>
            <a:r>
              <a:rPr lang="ar-DZ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المتعلق بالمحاسبة العمومية تعرف الآمر بالصرف على أنه 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كل شخص يؤهل لتنفيذ العمليات المشار اليها في المواد:16-17-19-20-21 </a:t>
            </a:r>
            <a:endParaRPr lang="ar-DZ" sz="2400" b="1" dirty="0" smtClean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>
              <a:spcBef>
                <a:spcPct val="20000"/>
              </a:spcBef>
              <a:defRPr/>
            </a:pPr>
            <a:r>
              <a:rPr lang="ar-DZ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  </a:t>
            </a:r>
            <a:r>
              <a:rPr lang="ar-DZ" sz="2400" b="1" dirty="0">
                <a:cs typeface="Arial" panose="020B0604020202020204" pitchFamily="34" charset="0"/>
              </a:rPr>
              <a:t>حسب </a:t>
            </a:r>
            <a:r>
              <a:rPr lang="ar-DZ" sz="2400" b="1" dirty="0">
                <a:solidFill>
                  <a:srgbClr val="FF0000"/>
                </a:solidFill>
                <a:cs typeface="Arial" panose="020B0604020202020204" pitchFamily="34" charset="0"/>
              </a:rPr>
              <a:t>المادة 26 من القرار 176</a:t>
            </a:r>
            <a:r>
              <a:rPr lang="ar-DZ" sz="2400" b="1" dirty="0">
                <a:cs typeface="Arial" panose="020B0604020202020204" pitchFamily="34" charset="0"/>
              </a:rPr>
              <a:t> يكون المدير الآمر بالصرف  الوحيد بالمؤسسة</a:t>
            </a:r>
            <a:endParaRPr lang="ar-DZ" sz="24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r">
              <a:spcBef>
                <a:spcPct val="20000"/>
              </a:spcBef>
              <a:defRPr/>
            </a:pPr>
            <a:endParaRPr lang="ar-DZ" sz="2400" b="1" dirty="0" smtClean="0">
              <a:cs typeface="Arial" panose="020B0604020202020204" pitchFamily="34" charset="0"/>
            </a:endParaRPr>
          </a:p>
          <a:p>
            <a:pPr algn="r" rtl="1" eaLnBrk="1" hangingPunct="1">
              <a:buFont typeface="Arial" panose="020B0604020202020204" pitchFamily="34" charset="0"/>
              <a:buNone/>
              <a:defRPr/>
            </a:pPr>
            <a:endParaRPr lang="ar-DZ" sz="2400" dirty="0" smtClean="0">
              <a:cs typeface="Sultan Medium" pitchFamily="2" charset="-78"/>
            </a:endParaRPr>
          </a:p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ar-DZ" sz="2400" dirty="0" smtClean="0">
                <a:cs typeface="Sultan Medium" pitchFamily="2" charset="-78"/>
              </a:rPr>
              <a:t> </a:t>
            </a:r>
            <a:endParaRPr lang="fr-FR" sz="2400" b="1" dirty="0" smtClean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6"/>
          <p:cNvSpPr txBox="1">
            <a:spLocks noChangeArrowheads="1"/>
          </p:cNvSpPr>
          <p:nvPr/>
        </p:nvSpPr>
        <p:spPr bwMode="auto">
          <a:xfrm>
            <a:off x="5934292" y="2974982"/>
            <a:ext cx="2686040" cy="6476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»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algn="r" rtl="1">
              <a:buFont typeface="+mj-lt"/>
              <a:buAutoNum type="arabicPeriod" startAt="2"/>
              <a:defRPr/>
            </a:pPr>
            <a:r>
              <a:rPr lang="ar-DZ" sz="2400" b="1" kern="0" smtClean="0">
                <a:ea typeface="Calibri" pitchFamily="34" charset="0"/>
                <a:cs typeface="Arial" pitchFamily="34" charset="0"/>
              </a:rPr>
              <a:t>المحاسب العمومي</a:t>
            </a:r>
            <a:endParaRPr lang="en-US" sz="1600" kern="0" dirty="0">
              <a:cs typeface="Arial" pitchFamily="34" charset="0"/>
            </a:endParaRPr>
          </a:p>
        </p:txBody>
      </p:sp>
      <p:sp>
        <p:nvSpPr>
          <p:cNvPr id="8" name="Rectangle 46"/>
          <p:cNvSpPr txBox="1">
            <a:spLocks noChangeArrowheads="1"/>
          </p:cNvSpPr>
          <p:nvPr/>
        </p:nvSpPr>
        <p:spPr bwMode="auto">
          <a:xfrm>
            <a:off x="155820" y="3744992"/>
            <a:ext cx="8786874" cy="1849398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>
            <a:defPPr>
              <a:defRPr lang="zh-CN"/>
            </a:defPPr>
            <a:lvl1pPr algn="r" rtl="1" eaLnBrk="1" hangingPunct="1">
              <a:buFont typeface="Arial" panose="020B0604020202020204" pitchFamily="34" charset="0"/>
              <a:buNone/>
              <a:defRPr sz="2400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r>
              <a:rPr lang="ar-DZ" dirty="0"/>
              <a:t>المادة </a:t>
            </a:r>
            <a:r>
              <a:rPr lang="ar-DZ" sz="2800" dirty="0" smtClean="0">
                <a:latin typeface="Algerian" panose="04020705040A02060702" pitchFamily="82" charset="0"/>
              </a:rPr>
              <a:t>33</a:t>
            </a:r>
            <a:r>
              <a:rPr lang="ar-DZ" dirty="0" smtClean="0"/>
              <a:t> من </a:t>
            </a:r>
            <a:r>
              <a:rPr lang="ar-DZ" dirty="0"/>
              <a:t>القانون 90- 21 </a:t>
            </a:r>
            <a:r>
              <a:rPr lang="ar-DZ" dirty="0">
                <a:solidFill>
                  <a:schemeClr val="tx1"/>
                </a:solidFill>
              </a:rPr>
              <a:t>المتعلق بالمحاسبة العمومية تعرف المحاسب العمومي</a:t>
            </a:r>
          </a:p>
          <a:p>
            <a:r>
              <a:rPr lang="ar-SA" dirty="0">
                <a:solidFill>
                  <a:schemeClr val="tx1"/>
                </a:solidFill>
              </a:rPr>
              <a:t>هو الشخص المؤهل لتنفيذ العمليات </a:t>
            </a:r>
            <a:r>
              <a:rPr lang="ar-SA" dirty="0" smtClean="0">
                <a:solidFill>
                  <a:schemeClr val="tx1"/>
                </a:solidFill>
              </a:rPr>
              <a:t>التالية :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ar-SA" dirty="0">
                <a:solidFill>
                  <a:schemeClr val="tx1"/>
                </a:solidFill>
              </a:rPr>
              <a:t>تحصيل الإيرادات و دفع النفقات</a:t>
            </a:r>
            <a:r>
              <a:rPr lang="ar-SA" dirty="0" smtClean="0">
                <a:solidFill>
                  <a:schemeClr val="tx1"/>
                </a:solidFill>
              </a:rPr>
              <a:t>.</a:t>
            </a:r>
            <a:r>
              <a:rPr lang="ar-DZ" dirty="0" smtClean="0">
                <a:solidFill>
                  <a:schemeClr val="tx1"/>
                </a:solidFill>
              </a:rPr>
              <a:t> (م 18 و م22 )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ar-SA" dirty="0">
                <a:solidFill>
                  <a:schemeClr val="tx1"/>
                </a:solidFill>
              </a:rPr>
              <a:t>ضمان حراسة الأموال و القيم و السندات و الأشياء المكلف بها و حفظها.</a:t>
            </a:r>
            <a:endParaRPr lang="fr-FR" dirty="0">
              <a:solidFill>
                <a:schemeClr val="tx1"/>
              </a:solidFill>
            </a:endParaRPr>
          </a:p>
          <a:p>
            <a:r>
              <a:rPr lang="ar-SA" dirty="0">
                <a:solidFill>
                  <a:schemeClr val="tx1"/>
                </a:solidFill>
              </a:rPr>
              <a:t>تداول الأموال و السندات و القيم و الممتلكات و العائدات و المواد.</a:t>
            </a:r>
            <a:endParaRPr lang="fr-FR" dirty="0">
              <a:solidFill>
                <a:schemeClr val="tx1"/>
              </a:solidFill>
            </a:endParaRPr>
          </a:p>
          <a:p>
            <a:endParaRPr lang="ar-DZ" dirty="0"/>
          </a:p>
          <a:p>
            <a:endParaRPr lang="ar-SA" dirty="0"/>
          </a:p>
        </p:txBody>
      </p:sp>
      <p:sp>
        <p:nvSpPr>
          <p:cNvPr id="10" name="Rectangle 9"/>
          <p:cNvSpPr/>
          <p:nvPr/>
        </p:nvSpPr>
        <p:spPr>
          <a:xfrm>
            <a:off x="155820" y="5699514"/>
            <a:ext cx="8851123" cy="1158485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r" rtl="1" eaLnBrk="1" hangingPunct="1">
              <a:buFont typeface="Arial" panose="020B0604020202020204" pitchFamily="34" charset="0"/>
              <a:buNone/>
            </a:pPr>
            <a:r>
              <a:rPr lang="ar-DZ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نريد أن نشير 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إلى مبدأ مهم ورد في </a:t>
            </a:r>
            <a:r>
              <a:rPr lang="ar-DZ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المادتين 55 و 56 من القانون 90-21 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 هو مبدأ التنافي بين وظيفة </a:t>
            </a:r>
            <a:r>
              <a:rPr lang="ar-DZ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الآمر 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بالصرف مع  وظيفة المحاسب العمومي </a:t>
            </a:r>
            <a:r>
              <a:rPr lang="ar-DZ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.كما 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لا يجوز </a:t>
            </a:r>
            <a:r>
              <a:rPr lang="ar-DZ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لأزواج الآمرين بالصرف</a:t>
            </a:r>
            <a:r>
              <a:rPr lang="ar-DZ" sz="2400" b="1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بأي حال من الأحوال أن يكونوا محاسبين معينين لديهم.</a:t>
            </a:r>
            <a:endParaRPr lang="fr-FR" sz="2400" b="1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22"/>
          <p:cNvSpPr>
            <a:spLocks noChangeArrowheads="1"/>
          </p:cNvSpPr>
          <p:nvPr/>
        </p:nvSpPr>
        <p:spPr bwMode="auto">
          <a:xfrm>
            <a:off x="155820" y="210584"/>
            <a:ext cx="3707903" cy="628650"/>
          </a:xfrm>
          <a:prstGeom prst="flowChartAlternateProcess">
            <a:avLst/>
          </a:prstGeom>
          <a:gradFill rotWithShape="1">
            <a:gsLst>
              <a:gs pos="0">
                <a:srgbClr val="FFFF00"/>
              </a:gs>
              <a:gs pos="100000">
                <a:srgbClr val="F3F300"/>
              </a:gs>
            </a:gsLst>
            <a:lin ang="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00"/>
            </a:extrusionClr>
            <a:contourClr>
              <a:srgbClr val="FFFF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المادة 14 من القانون 90 -21</a:t>
            </a:r>
            <a:endParaRPr kumimoji="0" lang="fr-FR" sz="2800" b="1" i="0" u="none" strike="noStrike" kern="0" cap="none" spc="0" normalizeH="0" baseline="0" noProof="0" dirty="0" smtClean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0.31505 L 0.00903 -0.829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2" y="-5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11" grpId="0" animBg="1"/>
      <p:bldP spid="1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7"/>
          <p:cNvSpPr>
            <a:spLocks noGrp="1" noChangeArrowheads="1"/>
          </p:cNvSpPr>
          <p:nvPr>
            <p:ph type="title"/>
          </p:nvPr>
        </p:nvSpPr>
        <p:spPr>
          <a:xfrm>
            <a:off x="3143240" y="187325"/>
            <a:ext cx="5481648" cy="523220"/>
          </a:xfrm>
          <a:blipFill>
            <a:blip r:embed="rId2"/>
            <a:tile tx="0" ty="0" sx="100000" sy="100000" flip="none" algn="tl"/>
          </a:blipFill>
          <a:ln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  <a:extLst/>
        </p:spPr>
        <p:txBody>
          <a:bodyPr>
            <a:spAutoFit/>
          </a:bodyPr>
          <a:lstStyle/>
          <a:p>
            <a:pPr marL="571500" indent="-571500" algn="r" rtl="1">
              <a:buFont typeface="+mj-lt"/>
              <a:buAutoNum type="romanUcPeriod" startAt="3"/>
              <a:defRPr/>
            </a:pPr>
            <a:r>
              <a:rPr lang="ar-DZ" sz="2800" dirty="0" smtClean="0">
                <a:ea typeface="Calibri" pitchFamily="34" charset="0"/>
                <a:cs typeface="Arial" pitchFamily="34" charset="0"/>
              </a:rPr>
              <a:t>الأعوان </a:t>
            </a:r>
            <a:r>
              <a:rPr lang="ar-DZ" sz="2800" dirty="0">
                <a:ea typeface="Calibri" pitchFamily="34" charset="0"/>
                <a:cs typeface="Arial" pitchFamily="34" charset="0"/>
              </a:rPr>
              <a:t>المكلفون بتنفيذ الميزانية</a:t>
            </a:r>
            <a:endParaRPr lang="fr-FR" sz="2800" dirty="0">
              <a:ea typeface="Calibri" pitchFamily="34" charset="0"/>
              <a:cs typeface="Arial" pitchFamily="34" charset="0"/>
            </a:endParaRPr>
          </a:p>
        </p:txBody>
      </p:sp>
      <p:sp>
        <p:nvSpPr>
          <p:cNvPr id="5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6000760" y="857232"/>
            <a:ext cx="2686040" cy="647691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457200" indent="-457200" algn="r" rtl="1">
              <a:buFont typeface="+mj-lt"/>
              <a:buAutoNum type="arabicPeriod" startAt="2"/>
              <a:defRPr/>
            </a:pPr>
            <a:r>
              <a:rPr lang="ar-DZ" sz="2400" b="1" dirty="0" smtClean="0">
                <a:ea typeface="Calibri" pitchFamily="34" charset="0"/>
                <a:cs typeface="Arial" pitchFamily="34" charset="0"/>
              </a:rPr>
              <a:t>المحاسب العمومي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7" name="Rectangle 46"/>
          <p:cNvSpPr txBox="1">
            <a:spLocks noChangeArrowheads="1"/>
          </p:cNvSpPr>
          <p:nvPr/>
        </p:nvSpPr>
        <p:spPr bwMode="auto">
          <a:xfrm>
            <a:off x="214282" y="1651610"/>
            <a:ext cx="8786874" cy="1849398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r">
              <a:spcBef>
                <a:spcPct val="20000"/>
              </a:spcBef>
              <a:defRPr/>
            </a:pPr>
            <a:r>
              <a:rPr lang="ar-DZ" sz="2400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المادة 23من القانون 90- 21 المتعلق بالمحاسبة العمومية تعرف المحاسب العمومي</a:t>
            </a:r>
          </a:p>
          <a:p>
            <a:pPr marL="342900" indent="-342900" algn="r" rtl="1" eaLnBrk="1" hangingPunct="1">
              <a:buFont typeface="Arial" panose="020B0604020202020204" pitchFamily="34" charset="0"/>
              <a:buNone/>
              <a:defRPr/>
            </a:pPr>
            <a:r>
              <a:rPr lang="ar-SA" sz="2400" b="1" dirty="0">
                <a:ea typeface="Calibri" pitchFamily="34" charset="0"/>
                <a:cs typeface="Arial" pitchFamily="34" charset="0"/>
              </a:rPr>
              <a:t>هو الشخص المؤهل لتنفيذ العمليات التالية :</a:t>
            </a:r>
            <a:endParaRPr lang="fr-FR" sz="2400" b="1" dirty="0">
              <a:ea typeface="Calibri" pitchFamily="34" charset="0"/>
              <a:cs typeface="Arial" pitchFamily="34" charset="0"/>
            </a:endParaRPr>
          </a:p>
          <a:p>
            <a:pPr marL="342900" indent="-342900" algn="r" rtl="1" eaLnBrk="1" hangingPunct="1">
              <a:buFont typeface="Arial" panose="020B0604020202020204" pitchFamily="34" charset="0"/>
              <a:buChar char="•"/>
              <a:defRPr/>
            </a:pPr>
            <a:r>
              <a:rPr lang="ar-SA" sz="2400" b="1" dirty="0">
                <a:ea typeface="Calibri" pitchFamily="34" charset="0"/>
                <a:cs typeface="Arial" pitchFamily="34" charset="0"/>
              </a:rPr>
              <a:t>تحصيل الإيرادات و دفع النفقات.</a:t>
            </a:r>
            <a:endParaRPr lang="fr-FR" sz="2400" b="1" dirty="0">
              <a:ea typeface="Calibri" pitchFamily="34" charset="0"/>
              <a:cs typeface="Arial" pitchFamily="34" charset="0"/>
            </a:endParaRPr>
          </a:p>
          <a:p>
            <a:pPr marL="342900" indent="-342900" algn="r" rtl="1" eaLnBrk="1" hangingPunct="1">
              <a:buFont typeface="Arial" panose="020B0604020202020204" pitchFamily="34" charset="0"/>
              <a:buChar char="•"/>
              <a:defRPr/>
            </a:pPr>
            <a:r>
              <a:rPr lang="ar-SA" sz="2400" b="1" dirty="0">
                <a:ea typeface="Calibri" pitchFamily="34" charset="0"/>
                <a:cs typeface="Arial" pitchFamily="34" charset="0"/>
              </a:rPr>
              <a:t>ضمان حراسة الأموال و القيم و السندات و الأشياء المكلف بها و حفظها.</a:t>
            </a:r>
            <a:endParaRPr lang="fr-FR" sz="2400" b="1" dirty="0">
              <a:ea typeface="Calibri" pitchFamily="34" charset="0"/>
              <a:cs typeface="Arial" pitchFamily="34" charset="0"/>
            </a:endParaRPr>
          </a:p>
          <a:p>
            <a:pPr marL="342900" indent="-342900" algn="r" rtl="1" eaLnBrk="1" hangingPunct="1">
              <a:buFont typeface="Arial" panose="020B0604020202020204" pitchFamily="34" charset="0"/>
              <a:buChar char="•"/>
              <a:defRPr/>
            </a:pPr>
            <a:r>
              <a:rPr lang="ar-SA" sz="2400" b="1" dirty="0">
                <a:ea typeface="Calibri" pitchFamily="34" charset="0"/>
                <a:cs typeface="Arial" pitchFamily="34" charset="0"/>
              </a:rPr>
              <a:t>تداول الأموال و السندات و القيم و الممتلكات و العائدات و المواد</a:t>
            </a:r>
            <a:r>
              <a:rPr lang="ar-SA" sz="2400" dirty="0">
                <a:cs typeface="Arial" pitchFamily="34" charset="0"/>
              </a:rPr>
              <a:t>.</a:t>
            </a:r>
            <a:endParaRPr lang="fr-FR" sz="2400" dirty="0">
              <a:cs typeface="Arial" pitchFamily="34" charset="0"/>
            </a:endParaRPr>
          </a:p>
          <a:p>
            <a:pPr marL="342900" indent="-342900" algn="r" rtl="1" eaLnBrk="1" hangingPunct="1">
              <a:buFont typeface="Arial" panose="020B0604020202020204" pitchFamily="34" charset="0"/>
              <a:buNone/>
              <a:defRPr/>
            </a:pPr>
            <a:endParaRPr lang="ar-DZ" sz="2400" dirty="0">
              <a:cs typeface="Sultan Medium" pitchFamily="2" charset="-78"/>
            </a:endParaRPr>
          </a:p>
          <a:p>
            <a:pPr marL="342900" indent="-342900" algn="r" rtl="1" eaLnBrk="1" hangingPunct="1">
              <a:buFont typeface="Arial" panose="020B0604020202020204" pitchFamily="34" charset="0"/>
              <a:buNone/>
              <a:defRPr/>
            </a:pPr>
            <a:endParaRPr lang="ar-SA" sz="2400" dirty="0">
              <a:cs typeface="Sultan Medium" pitchFamily="2" charset="-78"/>
            </a:endParaRPr>
          </a:p>
        </p:txBody>
      </p:sp>
      <p:sp>
        <p:nvSpPr>
          <p:cNvPr id="6" name="Rectangle 4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89802" y="3902013"/>
            <a:ext cx="8786874" cy="108012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ar-DZ" sz="2400" b="1" kern="0" dirty="0">
                <a:latin typeface="Calibri" pitchFamily="34" charset="0"/>
                <a:ea typeface="Calibri" pitchFamily="34" charset="0"/>
                <a:cs typeface="Arial" pitchFamily="34" charset="0"/>
              </a:rPr>
              <a:t>في الأخير نشير إلى مبدأ مهم ورد في المادتين 55 و 56 من القانون 90-21 و هو مبدأ التنافي بين وظيفة الأمر بالصرف مع  وظيفة المحاسب العمومي حيث لا يجوز لأزواج الآمرين بالصرف بأي حال من الأحوال أن يكونوا محاسبين معينين لديهم.</a:t>
            </a:r>
            <a:endParaRPr lang="fr-FR" sz="2400" b="1" kern="0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Grp="1" noChangeArrowheads="1"/>
          </p:cNvSpPr>
          <p:nvPr>
            <p:ph type="title"/>
          </p:nvPr>
        </p:nvSpPr>
        <p:spPr>
          <a:xfrm>
            <a:off x="2643174" y="214290"/>
            <a:ext cx="4124326" cy="649288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>
              <a:defRPr/>
            </a:pPr>
            <a:r>
              <a:rPr lang="ar-DZ" dirty="0" smtClean="0">
                <a:ea typeface="Calibri" pitchFamily="34" charset="0"/>
                <a:cs typeface="Arial" pitchFamily="34" charset="0"/>
              </a:rPr>
              <a:t>الطاولـــــــــــــــــة المشتركة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6" name="Rectangle 4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715536" y="2643182"/>
            <a:ext cx="2900354" cy="1937946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تحديد المبلغ الصحيح للدين (عدد </a:t>
            </a:r>
            <a:r>
              <a:rPr lang="ar-DZ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الوجبات) </a:t>
            </a:r>
            <a:r>
              <a:rPr lang="ar-DZ" sz="2000" b="1" dirty="0">
                <a:latin typeface="antre" pitchFamily="50" charset="0"/>
                <a:ea typeface="Calibri" pitchFamily="34" charset="0"/>
                <a:cs typeface="Arial" pitchFamily="34" charset="0"/>
              </a:rPr>
              <a:t>القائمة الاسمية للمستفيدين ممضاة من طرف الآمر </a:t>
            </a:r>
            <a:r>
              <a:rPr lang="ar-DZ" sz="2000" b="1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بالصرف المنشور رقم :168 بتاريخ 03/04/2014</a:t>
            </a:r>
            <a:endParaRPr lang="en-US" sz="2000" b="1" dirty="0">
              <a:ea typeface="Calibri" pitchFamily="34" charset="0"/>
              <a:cs typeface="Arabic Transparent" pitchFamily="2" charset="-78"/>
            </a:endParaRPr>
          </a:p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ar-DZ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</a:t>
            </a:r>
            <a:r>
              <a:rPr lang="fr-FR" sz="2000" b="1" kern="0" dirty="0" smtClean="0">
                <a:latin typeface="+mn-lt"/>
                <a:ea typeface="Calibri" pitchFamily="34" charset="0"/>
                <a:cs typeface="Arabic Transparent" pitchFamily="2" charset="-78"/>
              </a:rPr>
              <a:t> </a:t>
            </a:r>
            <a:endParaRPr lang="en-US" sz="2000" b="1" kern="0" dirty="0">
              <a:latin typeface="+mn-lt"/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7" name="Rectangle 43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9715536" y="1279409"/>
            <a:ext cx="3063100" cy="992152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ar-DZ" sz="2000" b="1" dirty="0">
                <a:latin typeface="antre" pitchFamily="50" charset="0"/>
                <a:ea typeface="Calibri" pitchFamily="34" charset="0"/>
                <a:cs typeface="Arial" pitchFamily="34" charset="0"/>
              </a:rPr>
              <a:t>القائمة الاسمية </a:t>
            </a:r>
            <a:r>
              <a:rPr lang="ar-DZ" sz="2000" b="1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للمستفيدين ممضاة </a:t>
            </a:r>
            <a:r>
              <a:rPr lang="ar-DZ" sz="2000" b="1" dirty="0">
                <a:latin typeface="antre" pitchFamily="50" charset="0"/>
                <a:ea typeface="Calibri" pitchFamily="34" charset="0"/>
                <a:cs typeface="Arial" pitchFamily="34" charset="0"/>
              </a:rPr>
              <a:t>من طرف </a:t>
            </a:r>
            <a:r>
              <a:rPr lang="ar-DZ" sz="2000" b="1" dirty="0" err="1" smtClean="0">
                <a:latin typeface="antre" pitchFamily="50" charset="0"/>
                <a:ea typeface="Calibri" pitchFamily="34" charset="0"/>
                <a:cs typeface="Arial" pitchFamily="34" charset="0"/>
              </a:rPr>
              <a:t>الآمربالصرف</a:t>
            </a:r>
            <a:r>
              <a:rPr lang="ar-DZ" sz="2000" b="1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ومصادق عليها من الوصاية</a:t>
            </a:r>
            <a:endParaRPr lang="en-US" sz="2000" b="1" dirty="0">
              <a:ea typeface="Calibri" pitchFamily="34" charset="0"/>
              <a:cs typeface="Arabic Transparent" pitchFamily="2" charset="-78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endParaRPr lang="en-US" sz="2000" b="1" dirty="0"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8" name="AutoShape 28"/>
          <p:cNvSpPr>
            <a:spLocks noChangeArrowheads="1"/>
          </p:cNvSpPr>
          <p:nvPr/>
        </p:nvSpPr>
        <p:spPr bwMode="auto">
          <a:xfrm>
            <a:off x="2692908" y="1486972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الإثبات</a:t>
            </a:r>
            <a:endParaRPr lang="en-US" sz="1600">
              <a:cs typeface="Arial" pitchFamily="34" charset="0"/>
            </a:endParaRPr>
          </a:p>
        </p:txBody>
      </p:sp>
      <p:sp>
        <p:nvSpPr>
          <p:cNvPr id="9" name="AutoShape 27"/>
          <p:cNvSpPr>
            <a:spLocks noChangeArrowheads="1"/>
          </p:cNvSpPr>
          <p:nvPr/>
        </p:nvSpPr>
        <p:spPr bwMode="auto">
          <a:xfrm>
            <a:off x="2714612" y="2865311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التصفية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" name="AutoShape 26"/>
          <p:cNvSpPr>
            <a:spLocks noChangeArrowheads="1"/>
          </p:cNvSpPr>
          <p:nvPr/>
        </p:nvSpPr>
        <p:spPr bwMode="auto">
          <a:xfrm>
            <a:off x="2692908" y="3420042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الأمر بالتحصيل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2" name="Rectangle 43"/>
          <p:cNvSpPr txBox="1">
            <a:spLocks noChangeArrowheads="1"/>
          </p:cNvSpPr>
          <p:nvPr/>
        </p:nvSpPr>
        <p:spPr bwMode="auto">
          <a:xfrm>
            <a:off x="9715536" y="4748307"/>
            <a:ext cx="2900354" cy="71438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 الدفــع من طرف المستفيد (</a:t>
            </a:r>
            <a:r>
              <a:rPr lang="ar-DZ" sz="2000" b="1" kern="0" dirty="0" err="1">
                <a:latin typeface="antre" pitchFamily="50" charset="0"/>
                <a:ea typeface="Calibri" pitchFamily="34" charset="0"/>
                <a:cs typeface="Arial" pitchFamily="34" charset="0"/>
              </a:rPr>
              <a:t>ايصال</a:t>
            </a: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 الدفع)</a:t>
            </a:r>
            <a:endParaRPr lang="en-US" sz="2000" b="1" kern="0" dirty="0">
              <a:latin typeface="+mn-lt"/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13" name="AutoShape 26"/>
          <p:cNvSpPr>
            <a:spLocks noChangeArrowheads="1"/>
          </p:cNvSpPr>
          <p:nvPr/>
        </p:nvSpPr>
        <p:spPr bwMode="auto">
          <a:xfrm>
            <a:off x="2714612" y="4876897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التحصيل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341" name="Line 12"/>
          <p:cNvSpPr>
            <a:spLocks noChangeShapeType="1"/>
          </p:cNvSpPr>
          <p:nvPr/>
        </p:nvSpPr>
        <p:spPr bwMode="auto">
          <a:xfrm>
            <a:off x="4086225" y="1700213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42" name="Line 12"/>
          <p:cNvSpPr>
            <a:spLocks noChangeShapeType="1"/>
          </p:cNvSpPr>
          <p:nvPr/>
        </p:nvSpPr>
        <p:spPr bwMode="auto">
          <a:xfrm>
            <a:off x="4086225" y="3093911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43" name="Line 12"/>
          <p:cNvSpPr>
            <a:spLocks noChangeShapeType="1"/>
          </p:cNvSpPr>
          <p:nvPr/>
        </p:nvSpPr>
        <p:spPr bwMode="auto">
          <a:xfrm>
            <a:off x="4064508" y="3648642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344" name="Line 12"/>
          <p:cNvSpPr>
            <a:spLocks noChangeShapeType="1"/>
          </p:cNvSpPr>
          <p:nvPr/>
        </p:nvSpPr>
        <p:spPr bwMode="auto">
          <a:xfrm>
            <a:off x="4215408" y="5105497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28604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5 0.00856 L -0.46111 0.0085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9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5 -0.00046 L -0.46528 0.0145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89" y="7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4.44444E-6 L -0.45729 0.00024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8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6"/>
          <p:cNvSpPr>
            <a:spLocks noGrp="1" noChangeArrowheads="1"/>
          </p:cNvSpPr>
          <p:nvPr>
            <p:ph type="title"/>
          </p:nvPr>
        </p:nvSpPr>
        <p:spPr>
          <a:xfrm>
            <a:off x="2643174" y="31684"/>
            <a:ext cx="4124326" cy="1257274"/>
          </a:xfrm>
          <a:solidFill>
            <a:schemeClr val="accent2">
              <a:lumMod val="20000"/>
              <a:lumOff val="80000"/>
            </a:schemeClr>
          </a:solidFill>
          <a:ln>
            <a:solidFill>
              <a:srgbClr val="00B0F0"/>
            </a:solidFill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>
              <a:defRPr/>
            </a:pPr>
            <a:r>
              <a:rPr lang="ar-DZ" dirty="0" smtClean="0">
                <a:ea typeface="Calibri" pitchFamily="34" charset="0"/>
                <a:cs typeface="Arial" pitchFamily="34" charset="0"/>
              </a:rPr>
              <a:t>الباب 27</a:t>
            </a:r>
            <a:r>
              <a:rPr lang="ar-DZ" dirty="0">
                <a:ea typeface="Calibri" pitchFamily="34" charset="0"/>
                <a:cs typeface="Arial" pitchFamily="34" charset="0"/>
              </a:rPr>
              <a:t/>
            </a:r>
            <a:br>
              <a:rPr lang="ar-DZ" dirty="0">
                <a:ea typeface="Calibri" pitchFamily="34" charset="0"/>
                <a:cs typeface="Arial" pitchFamily="34" charset="0"/>
              </a:rPr>
            </a:br>
            <a:r>
              <a:rPr lang="ar-DZ" dirty="0" smtClean="0">
                <a:ea typeface="Calibri" pitchFamily="34" charset="0"/>
                <a:cs typeface="Arial" pitchFamily="34" charset="0"/>
              </a:rPr>
              <a:t>البند 272</a:t>
            </a:r>
            <a:br>
              <a:rPr lang="ar-DZ" dirty="0" smtClean="0">
                <a:ea typeface="Calibri" pitchFamily="34" charset="0"/>
                <a:cs typeface="Arial" pitchFamily="34" charset="0"/>
              </a:rPr>
            </a:br>
            <a:r>
              <a:rPr lang="ar-DZ" dirty="0" smtClean="0">
                <a:ea typeface="Calibri" pitchFamily="34" charset="0"/>
                <a:cs typeface="Arial" pitchFamily="34" charset="0"/>
              </a:rPr>
              <a:t>تسديد فاتورة القيم </a:t>
            </a:r>
            <a:br>
              <a:rPr lang="ar-DZ" dirty="0" smtClean="0">
                <a:ea typeface="Calibri" pitchFamily="34" charset="0"/>
                <a:cs typeface="Arial" pitchFamily="34" charset="0"/>
              </a:rPr>
            </a:br>
            <a:endParaRPr lang="en-US" sz="1600" dirty="0">
              <a:cs typeface="Arial" pitchFamily="34" charset="0"/>
            </a:endParaRPr>
          </a:p>
        </p:txBody>
      </p:sp>
      <p:sp>
        <p:nvSpPr>
          <p:cNvPr id="5" name="Rectangle 43"/>
          <p:cNvSpPr>
            <a:spLocks noGrp="1" noChangeArrowheads="1"/>
          </p:cNvSpPr>
          <p:nvPr>
            <p:ph type="body" idx="1"/>
          </p:nvPr>
        </p:nvSpPr>
        <p:spPr>
          <a:xfrm>
            <a:off x="9496489" y="3643314"/>
            <a:ext cx="3429024" cy="1143008"/>
          </a:xfrm>
          <a:solidFill>
            <a:srgbClr val="9BBB59"/>
          </a:solidFill>
          <a:ln w="38100"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/>
        </p:spPr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r>
              <a:rPr lang="ar-SA" sz="2800" b="1" dirty="0" smtClean="0"/>
              <a:t>تحرير الحوالة</a:t>
            </a:r>
            <a:r>
              <a:rPr lang="ar-DZ" sz="2800" b="1" dirty="0" smtClean="0"/>
              <a:t> </a:t>
            </a:r>
            <a:r>
              <a:rPr lang="ar-DZ" sz="2800" b="1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المبلغ </a:t>
            </a:r>
            <a:r>
              <a:rPr lang="ar-DZ" sz="2800" b="1" dirty="0" smtClean="0">
                <a:latin typeface="antre" pitchFamily="50" charset="0"/>
                <a:ea typeface="Calibri" pitchFamily="34" charset="0"/>
                <a:cs typeface="Arial" pitchFamily="34" charset="0"/>
                <a:hlinkClick r:id="rId2" action="ppaction://hlinksldjump"/>
              </a:rPr>
              <a:t>الصحيح</a:t>
            </a:r>
            <a:r>
              <a:rPr lang="ar-DZ" sz="2800" b="1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للفاتورة</a:t>
            </a:r>
            <a:r>
              <a:rPr lang="ar-SA" sz="2800" b="1" dirty="0" smtClean="0"/>
              <a:t> </a:t>
            </a:r>
            <a:endParaRPr lang="en-US" sz="2800" b="1" dirty="0"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6" name="Rectangle 43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9501222" y="2428868"/>
            <a:ext cx="3429024" cy="1000132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fr-FR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 </a:t>
            </a: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تحديد المبلغ الصحيح </a:t>
            </a:r>
            <a:r>
              <a:rPr lang="ar-DZ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للتجهيز</a:t>
            </a:r>
            <a:r>
              <a:rPr lang="fr-FR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</a:t>
            </a:r>
            <a:r>
              <a:rPr lang="fr-FR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Bon de Livraison </a:t>
            </a:r>
            <a:r>
              <a:rPr lang="fr-FR" sz="2000" b="1" kern="0" dirty="0">
                <a:latin typeface="antre" pitchFamily="50" charset="0"/>
                <a:ea typeface="Calibri" pitchFamily="34" charset="0"/>
                <a:cs typeface="Arial" pitchFamily="34" charset="0"/>
                <a:hlinkClick r:id="rId3" action="ppaction://hlinksldjump"/>
              </a:rPr>
              <a:t>facture</a:t>
            </a:r>
            <a:endParaRPr lang="ar-DZ" sz="2000" b="1" kern="0" dirty="0">
              <a:latin typeface="antre" pitchFamily="50" charset="0"/>
              <a:ea typeface="Calibri" pitchFamily="34" charset="0"/>
              <a:cs typeface="Arial" pitchFamily="34" charset="0"/>
            </a:endParaRPr>
          </a:p>
          <a:p>
            <a:pPr marL="342900" indent="-342900" algn="ctr">
              <a:spcBef>
                <a:spcPct val="20000"/>
              </a:spcBef>
              <a:buFont typeface="Arial" panose="020B0604020202020204" pitchFamily="34" charset="0"/>
              <a:buNone/>
              <a:defRPr/>
            </a:pP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    </a:t>
            </a:r>
            <a:endParaRPr lang="en-US" sz="2000" b="1" kern="0" dirty="0"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7" name="Rectangle 4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9496489" y="1340768"/>
            <a:ext cx="3429024" cy="945236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تحرير وصل طلب يتضمن </a:t>
            </a:r>
            <a:r>
              <a:rPr lang="ar-DZ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التجهيزات  </a:t>
            </a:r>
            <a:r>
              <a:rPr lang="ar-DZ" sz="2000" b="1" kern="0" dirty="0" err="1" smtClean="0">
                <a:latin typeface="antre" pitchFamily="50" charset="0"/>
                <a:ea typeface="Calibri" pitchFamily="34" charset="0"/>
                <a:cs typeface="Arial" pitchFamily="34" charset="0"/>
              </a:rPr>
              <a:t>المقتناة</a:t>
            </a:r>
            <a:r>
              <a:rPr lang="ar-DZ" sz="20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</a:t>
            </a:r>
            <a:r>
              <a:rPr lang="fr-FR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Bon de commande</a:t>
            </a:r>
            <a:r>
              <a:rPr lang="ar-DZ" sz="20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 ا</a:t>
            </a:r>
            <a:endParaRPr lang="en-US" sz="2000" b="1" kern="0" dirty="0">
              <a:latin typeface="+mn-lt"/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8" name="AutoShape 28"/>
          <p:cNvSpPr>
            <a:spLocks noChangeArrowheads="1"/>
          </p:cNvSpPr>
          <p:nvPr/>
        </p:nvSpPr>
        <p:spPr bwMode="auto">
          <a:xfrm>
            <a:off x="2643174" y="1500174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b="1" dirty="0" err="1">
                <a:latin typeface="Calibri" pitchFamily="34" charset="0"/>
                <a:ea typeface="Calibri" pitchFamily="34" charset="0"/>
                <a:cs typeface="Arial" pitchFamily="34" charset="0"/>
              </a:rPr>
              <a:t>الإلتزام</a:t>
            </a:r>
            <a:endParaRPr lang="en-US" sz="1600" dirty="0">
              <a:cs typeface="Arial" pitchFamily="34" charset="0"/>
            </a:endParaRPr>
          </a:p>
        </p:txBody>
      </p:sp>
      <p:sp>
        <p:nvSpPr>
          <p:cNvPr id="9" name="AutoShape 27"/>
          <p:cNvSpPr>
            <a:spLocks noChangeArrowheads="1"/>
          </p:cNvSpPr>
          <p:nvPr/>
        </p:nvSpPr>
        <p:spPr bwMode="auto">
          <a:xfrm>
            <a:off x="2571736" y="2571744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>
                <a:latin typeface="Calibri" pitchFamily="34" charset="0"/>
                <a:ea typeface="Calibri" pitchFamily="34" charset="0"/>
                <a:cs typeface="Arial" pitchFamily="34" charset="0"/>
              </a:rPr>
              <a:t>التصفية</a:t>
            </a:r>
            <a:r>
              <a:rPr lang="fr-FR" b="1">
                <a:latin typeface="Calibri" pitchFamily="34" charset="0"/>
                <a:ea typeface="Calibri" pitchFamily="34" charset="0"/>
                <a:cs typeface="Arial" pitchFamily="34" charset="0"/>
              </a:rPr>
              <a:t> </a:t>
            </a:r>
            <a:endParaRPr lang="en-US" b="1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0" name="AutoShape 26"/>
          <p:cNvSpPr>
            <a:spLocks noChangeArrowheads="1"/>
          </p:cNvSpPr>
          <p:nvPr/>
        </p:nvSpPr>
        <p:spPr bwMode="auto">
          <a:xfrm>
            <a:off x="2643174" y="4000504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SA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الأمر </a:t>
            </a:r>
            <a:r>
              <a:rPr lang="ar-DZ" b="1" dirty="0">
                <a:latin typeface="Calibri" pitchFamily="34" charset="0"/>
                <a:ea typeface="Calibri" pitchFamily="34" charset="0"/>
                <a:cs typeface="Arial" pitchFamily="34" charset="0"/>
              </a:rPr>
              <a:t>بالدفع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2" name="Rectangle 43"/>
          <p:cNvSpPr txBox="1">
            <a:spLocks noChangeArrowheads="1"/>
          </p:cNvSpPr>
          <p:nvPr/>
        </p:nvSpPr>
        <p:spPr bwMode="auto">
          <a:xfrm>
            <a:off x="9501222" y="5214950"/>
            <a:ext cx="3500462" cy="10715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marL="342900" indent="-342900" algn="ctr">
              <a:spcBef>
                <a:spcPct val="20000"/>
              </a:spcBef>
              <a:buFont typeface="Wingdings" pitchFamily="2" charset="2"/>
              <a:buNone/>
              <a:defRPr/>
            </a:pPr>
            <a:r>
              <a:rPr lang="ar-DZ" sz="28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 </a:t>
            </a:r>
            <a:r>
              <a:rPr lang="ar-DZ" sz="2800" b="1" kern="0" dirty="0">
                <a:latin typeface="antre" pitchFamily="50" charset="0"/>
                <a:ea typeface="Calibri" pitchFamily="34" charset="0"/>
                <a:cs typeface="Arial" pitchFamily="34" charset="0"/>
              </a:rPr>
              <a:t>تحرير </a:t>
            </a:r>
            <a:r>
              <a:rPr lang="ar-DZ" sz="2800" b="1" kern="0" dirty="0" smtClean="0">
                <a:latin typeface="antre" pitchFamily="50" charset="0"/>
                <a:ea typeface="Calibri" pitchFamily="34" charset="0"/>
                <a:cs typeface="Arial" pitchFamily="34" charset="0"/>
              </a:rPr>
              <a:t>الصك وتحويل المبلغ للدائن</a:t>
            </a:r>
            <a:endParaRPr lang="en-US" sz="2000" b="1" kern="0" dirty="0">
              <a:latin typeface="+mn-lt"/>
              <a:ea typeface="Calibri" pitchFamily="34" charset="0"/>
              <a:cs typeface="Arabic Transparent" pitchFamily="2" charset="-78"/>
            </a:endParaRPr>
          </a:p>
        </p:txBody>
      </p:sp>
      <p:sp>
        <p:nvSpPr>
          <p:cNvPr id="13" name="AutoShape 26"/>
          <p:cNvSpPr>
            <a:spLocks noChangeArrowheads="1"/>
          </p:cNvSpPr>
          <p:nvPr/>
        </p:nvSpPr>
        <p:spPr bwMode="auto">
          <a:xfrm>
            <a:off x="2714612" y="5286388"/>
            <a:ext cx="1371600" cy="4572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rtl="1" eaLnBrk="1" hangingPunct="1">
              <a:buFont typeface="Arial" panose="020B0604020202020204" pitchFamily="34" charset="0"/>
              <a:buNone/>
              <a:defRPr/>
            </a:pPr>
            <a:r>
              <a:rPr lang="ar-DZ" b="1" dirty="0">
                <a:latin typeface="Calibri" pitchFamily="34" charset="0"/>
                <a:ea typeface="Calibri" pitchFamily="34" charset="0"/>
                <a:cs typeface="Arial" pitchFamily="34" charset="0"/>
              </a:rPr>
              <a:t>الدفع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4365" name="Line 12"/>
          <p:cNvSpPr>
            <a:spLocks noChangeShapeType="1"/>
          </p:cNvSpPr>
          <p:nvPr/>
        </p:nvSpPr>
        <p:spPr bwMode="auto">
          <a:xfrm>
            <a:off x="4000500" y="1714500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66" name="Line 12"/>
          <p:cNvSpPr>
            <a:spLocks noChangeShapeType="1"/>
          </p:cNvSpPr>
          <p:nvPr/>
        </p:nvSpPr>
        <p:spPr bwMode="auto">
          <a:xfrm>
            <a:off x="4000500" y="2786063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67" name="Line 12"/>
          <p:cNvSpPr>
            <a:spLocks noChangeShapeType="1"/>
          </p:cNvSpPr>
          <p:nvPr/>
        </p:nvSpPr>
        <p:spPr bwMode="auto">
          <a:xfrm>
            <a:off x="4000500" y="4214813"/>
            <a:ext cx="1316038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4368" name="Line 12"/>
          <p:cNvSpPr>
            <a:spLocks noChangeShapeType="1"/>
          </p:cNvSpPr>
          <p:nvPr/>
        </p:nvSpPr>
        <p:spPr bwMode="auto">
          <a:xfrm>
            <a:off x="4071938" y="5500688"/>
            <a:ext cx="1316037" cy="0"/>
          </a:xfrm>
          <a:prstGeom prst="line">
            <a:avLst/>
          </a:prstGeom>
          <a:noFill/>
          <a:ln w="28575">
            <a:solidFill>
              <a:srgbClr val="31849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" name="Rectangle 4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357166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75 0.00857 L -0.44531 0.00857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25 -0.00046 L -0.44948 -0.0004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-0.44253 -3.33333E-6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045E-16 1.11022E-16 L -0.43368 0.0145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84" y="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136 -6.93642E-7 L -0.44774 -0.0080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00" y="-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7"/>
          <p:cNvSpPr>
            <a:spLocks noGrp="1" noChangeArrowheads="1"/>
          </p:cNvSpPr>
          <p:nvPr>
            <p:ph type="title"/>
          </p:nvPr>
        </p:nvSpPr>
        <p:spPr>
          <a:xfrm>
            <a:off x="2588418" y="38738"/>
            <a:ext cx="6267466" cy="523220"/>
          </a:xfrm>
          <a:blipFill>
            <a:blip r:embed="rId2"/>
            <a:tile tx="0" ty="0" sx="100000" sy="100000" flip="none" algn="tl"/>
          </a:blipFill>
          <a:ln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  <a:extLst/>
        </p:spPr>
        <p:txBody>
          <a:bodyPr>
            <a:spAutoFit/>
          </a:bodyPr>
          <a:lstStyle/>
          <a:p>
            <a:pPr marL="571500" indent="-571500" algn="r" rtl="1">
              <a:buFont typeface="+mj-lt"/>
              <a:buAutoNum type="romanUcPeriod" startAt="4"/>
              <a:defRPr/>
            </a:pPr>
            <a:r>
              <a:rPr lang="ar-DZ" sz="2800" dirty="0">
                <a:ea typeface="Calibri" pitchFamily="34" charset="0"/>
                <a:cs typeface="Arial" pitchFamily="34" charset="0"/>
              </a:rPr>
              <a:t>الإشكاليات المسجلة خلال التسيير</a:t>
            </a:r>
            <a:endParaRPr lang="fr-FR" sz="2800" dirty="0" err="1">
              <a:ea typeface="Calibri" pitchFamily="34" charset="0"/>
              <a:cs typeface="Arial" pitchFamily="34" charset="0"/>
            </a:endParaRPr>
          </a:p>
        </p:txBody>
      </p:sp>
      <p:sp>
        <p:nvSpPr>
          <p:cNvPr id="4" name="AutoShape 26"/>
          <p:cNvSpPr>
            <a:spLocks noChangeArrowheads="1"/>
          </p:cNvSpPr>
          <p:nvPr/>
        </p:nvSpPr>
        <p:spPr bwMode="auto">
          <a:xfrm>
            <a:off x="7355088" y="544659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الإشكالية 1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8" name="AutoShape 26"/>
          <p:cNvSpPr>
            <a:spLocks noChangeArrowheads="1"/>
          </p:cNvSpPr>
          <p:nvPr/>
        </p:nvSpPr>
        <p:spPr bwMode="auto">
          <a:xfrm>
            <a:off x="7355088" y="3550100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الإشكالية 2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9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0537" y="220335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10" name="AutoShape 9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84473" y="1124983"/>
            <a:ext cx="8026791" cy="2232248"/>
          </a:xfrm>
          <a:prstGeom prst="flowChartAlternateProcess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  <a:hlinkClick r:id="rId4" action="ppaction://hlinksldjump"/>
              </a:rPr>
              <a:t>في حالة رفض المحاسب دفع نفقة ما لأسباب معينة فماذا يمكن 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  <a:hlinkClick r:id="rId4" action="ppaction://hlinksldjump"/>
              </a:rPr>
              <a:t>للآمر بالصرف </a:t>
            </a:r>
            <a:r>
              <a:rPr lang="ar-DZ" sz="2800" b="1" kern="0" dirty="0" smtClean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  <a:hlinkClick r:id="rId4" action="ppaction://hlinksldjump"/>
              </a:rPr>
              <a:t>عمله؟</a:t>
            </a:r>
            <a:endParaRPr lang="ar-DZ" sz="2800" b="1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ماهو</a:t>
            </a: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العمل </a:t>
            </a:r>
            <a:r>
              <a:rPr lang="ar-DZ" sz="2800" b="1" kern="0" dirty="0" smtClean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الذي </a:t>
            </a: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يقوم به المحاسب في هذه الحالة؟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  <a:hlinkClick r:id="rId4" action="ppaction://hlinksldjump"/>
              </a:rPr>
              <a:t>متى يحق للمحاسب رفض التسخير ؟</a:t>
            </a:r>
            <a:endParaRPr lang="ar-DZ" sz="2800" b="1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2800" b="1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9"/>
          <p:cNvSpPr>
            <a:spLocks noChangeArrowheads="1"/>
          </p:cNvSpPr>
          <p:nvPr/>
        </p:nvSpPr>
        <p:spPr bwMode="auto">
          <a:xfrm>
            <a:off x="384204" y="4305070"/>
            <a:ext cx="8714791" cy="2392307"/>
          </a:xfrm>
          <a:prstGeom prst="flowChartAlternateProcess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منحت إعانة مالية إضافية لتحسين ظروف </a:t>
            </a:r>
            <a:r>
              <a:rPr lang="ar-DZ" sz="2800" b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تمدرس</a:t>
            </a: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التلاميذ وقرر 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مجلس التوجيه و </a:t>
            </a:r>
            <a:r>
              <a:rPr lang="ar-DZ" sz="2800" b="1" kern="0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التسييرصرف</a:t>
            </a: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هذه الإعانة في إعادة طلاء حجرات 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الدراسة بالأغلبية ماعدا السيد المقتصد حيث اقترح صرفها في إصلاح 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المسخن ، أعطى الآمر بالصرف امر بتنفيذ النفقة إلا أن المحاسب العمومي</a:t>
            </a:r>
          </a:p>
          <a:p>
            <a:pPr algn="ctr" defTabSz="919163" rtl="1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800" b="1" kern="0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رفض التسديد ؟ </a:t>
            </a:r>
            <a:endParaRPr lang="en-US" sz="2800" b="1" kern="0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utoShape 26"/>
          <p:cNvSpPr>
            <a:spLocks noChangeArrowheads="1"/>
          </p:cNvSpPr>
          <p:nvPr/>
        </p:nvSpPr>
        <p:spPr bwMode="auto">
          <a:xfrm>
            <a:off x="7337569" y="559106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الإشكالية 3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3" name="AutoShape 9"/>
          <p:cNvSpPr>
            <a:spLocks noChangeArrowheads="1"/>
          </p:cNvSpPr>
          <p:nvPr/>
        </p:nvSpPr>
        <p:spPr bwMode="auto">
          <a:xfrm>
            <a:off x="485055" y="1240459"/>
            <a:ext cx="8505515" cy="2615405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تقدم أساتذة مادة العلوم بطلب للسيد المدير من أجل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إقتناء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تجهيزللمخبر</a:t>
            </a:r>
            <a:endParaRPr lang="ar-DZ" sz="2800" b="1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ولكن المقتصد رفض هذا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الإقتراح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خلال مجلس التنسيق الإداري نظرا 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لعدم توفر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الإعتماد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المالي (بند 272) واقترح عليه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المديرالبند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241 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لتوفر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الإعتماد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وألح المقتصد على عدم قانونية ذلك .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إلا أن السيد الآمر بالصرف تصرف واقتنى التجهيز................؟</a:t>
            </a:r>
            <a:endParaRPr lang="en-US" sz="2800" b="1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26"/>
          <p:cNvSpPr>
            <a:spLocks noChangeArrowheads="1"/>
          </p:cNvSpPr>
          <p:nvPr/>
        </p:nvSpPr>
        <p:spPr bwMode="auto">
          <a:xfrm>
            <a:off x="7573452" y="3740287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الإشكالية </a:t>
            </a:r>
            <a:r>
              <a:rPr lang="ar-DZ" b="1" dirty="0">
                <a:latin typeface="Calibri" pitchFamily="34" charset="0"/>
                <a:ea typeface="Calibri" pitchFamily="34" charset="0"/>
                <a:cs typeface="Arial" pitchFamily="34" charset="0"/>
              </a:rPr>
              <a:t>4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15" name="AutoShape 9"/>
          <p:cNvSpPr>
            <a:spLocks noChangeArrowheads="1"/>
          </p:cNvSpPr>
          <p:nvPr/>
        </p:nvSpPr>
        <p:spPr bwMode="auto">
          <a:xfrm>
            <a:off x="512966" y="4465693"/>
            <a:ext cx="8714791" cy="2392307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تبقى مبلغ مالي في نهاية السنة المالية في البند المخصص للطاقة (231)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اقترح السيد الآمر بالصرف دفع مسبق للمبلغ المتبقي لشركة </a:t>
            </a:r>
            <a:r>
              <a:rPr lang="ar-DZ" sz="2800" b="1" dirty="0" err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سونالغاز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قبل غلق السنة المالية 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(للعمل في أريحية خلال السنة المالية المقبلة)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8" grpId="1" animBg="1"/>
      <p:bldP spid="10" grpId="1" animBg="1"/>
      <p:bldP spid="11" grpId="0" animBg="1"/>
      <p:bldP spid="11" grpId="1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7"/>
          <p:cNvSpPr>
            <a:spLocks noChangeArrowheads="1"/>
          </p:cNvSpPr>
          <p:nvPr/>
        </p:nvSpPr>
        <p:spPr bwMode="auto">
          <a:xfrm>
            <a:off x="1634422" y="908720"/>
            <a:ext cx="6266397" cy="2376264"/>
          </a:xfrm>
          <a:prstGeom prst="flowChartAlternateProcess">
            <a:avLst/>
          </a:prstGeom>
          <a:solidFill>
            <a:srgbClr val="FFCCFF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  <a:contourClr>
              <a:srgbClr val="FF9933"/>
            </a:contourClr>
          </a:sp3d>
          <a:extLst/>
        </p:spPr>
        <p:txBody>
          <a:bodyPr wrap="none" lIns="91959" tIns="45979" rIns="91959" bIns="45979" anchor="ctr">
            <a:flatTx/>
          </a:bodyPr>
          <a:lstStyle>
            <a:lvl1pPr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9163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endParaRPr lang="ar-DZ" sz="2000" b="1" dirty="0" smtClean="0">
              <a:solidFill>
                <a:srgbClr val="000000"/>
              </a:solidFill>
            </a:endParaRPr>
          </a:p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r>
              <a:rPr lang="ar-DZ" sz="2800" b="1" dirty="0" smtClean="0">
                <a:solidFill>
                  <a:srgbClr val="000000"/>
                </a:solidFill>
              </a:rPr>
              <a:t>1- </a:t>
            </a:r>
            <a:r>
              <a:rPr lang="ar-DZ" sz="2800" b="1" dirty="0">
                <a:solidFill>
                  <a:srgbClr val="000000"/>
                </a:solidFill>
              </a:rPr>
              <a:t>الالتزام بالتعليمات والنصوص التشريعية</a:t>
            </a:r>
          </a:p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r>
              <a:rPr lang="ar-DZ" sz="2800" b="1" dirty="0">
                <a:solidFill>
                  <a:srgbClr val="000000"/>
                </a:solidFill>
              </a:rPr>
              <a:t>2- عدم التشبث </a:t>
            </a:r>
            <a:r>
              <a:rPr lang="ar-DZ" sz="2800" b="1" dirty="0" smtClean="0">
                <a:solidFill>
                  <a:srgbClr val="000000"/>
                </a:solidFill>
              </a:rPr>
              <a:t>بالآراء والمواقف الشخصية</a:t>
            </a:r>
          </a:p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r>
              <a:rPr lang="ar-DZ" sz="2800" b="1" dirty="0">
                <a:solidFill>
                  <a:srgbClr val="000000"/>
                </a:solidFill>
              </a:rPr>
              <a:t>3- عدم السعي وراء تحقيق الأغراض الشخصية</a:t>
            </a:r>
            <a:endParaRPr lang="ar-DZ" sz="2800" b="1" dirty="0" smtClean="0">
              <a:solidFill>
                <a:srgbClr val="000000"/>
              </a:solidFill>
            </a:endParaRPr>
          </a:p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r>
              <a:rPr lang="ar-DZ" sz="2800" b="1" dirty="0" smtClean="0">
                <a:solidFill>
                  <a:srgbClr val="000000"/>
                </a:solidFill>
              </a:rPr>
              <a:t>4- </a:t>
            </a:r>
            <a:r>
              <a:rPr lang="ar-DZ" sz="2800" b="1" dirty="0" err="1" smtClean="0">
                <a:solidFill>
                  <a:srgbClr val="000000"/>
                </a:solidFill>
              </a:rPr>
              <a:t>الإلتزام</a:t>
            </a:r>
            <a:r>
              <a:rPr lang="ar-DZ" sz="2800" b="1" dirty="0" smtClean="0">
                <a:solidFill>
                  <a:srgbClr val="000000"/>
                </a:solidFill>
              </a:rPr>
              <a:t> بالأداء السليم لمختلف المهام</a:t>
            </a:r>
            <a:endParaRPr lang="ar-DZ" sz="2800" b="1" dirty="0">
              <a:solidFill>
                <a:srgbClr val="000000"/>
              </a:solidFill>
            </a:endParaRPr>
          </a:p>
          <a:p>
            <a:pPr algn="r" rtl="1" eaLnBrk="1" hangingPunct="1">
              <a:spcBef>
                <a:spcPct val="0"/>
              </a:spcBef>
              <a:buClrTx/>
              <a:buSzTx/>
              <a:buNone/>
            </a:pPr>
            <a:r>
              <a:rPr lang="ar-DZ" sz="2800" b="1" dirty="0">
                <a:solidFill>
                  <a:srgbClr val="000000"/>
                </a:solidFill>
              </a:rPr>
              <a:t>5- تفعيل </a:t>
            </a:r>
            <a:r>
              <a:rPr lang="ar-DZ" sz="2800" b="1" dirty="0" smtClean="0">
                <a:solidFill>
                  <a:srgbClr val="000000"/>
                </a:solidFill>
              </a:rPr>
              <a:t>المجالس و </a:t>
            </a:r>
            <a:r>
              <a:rPr lang="ar-DZ" sz="2800" b="1" dirty="0" err="1">
                <a:solidFill>
                  <a:srgbClr val="000000"/>
                </a:solidFill>
              </a:rPr>
              <a:t>إحترام</a:t>
            </a:r>
            <a:r>
              <a:rPr lang="ar-DZ" sz="2800" b="1" dirty="0">
                <a:solidFill>
                  <a:srgbClr val="000000"/>
                </a:solidFill>
              </a:rPr>
              <a:t> السلم الإداري</a:t>
            </a:r>
            <a:r>
              <a:rPr lang="ar-DZ" sz="2800" b="1" dirty="0" smtClean="0">
                <a:solidFill>
                  <a:srgbClr val="000000"/>
                </a:solidFill>
              </a:rPr>
              <a:t>.</a:t>
            </a:r>
          </a:p>
          <a:p>
            <a:pPr algn="r" rtl="1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" name="AutoShape 47"/>
          <p:cNvSpPr>
            <a:spLocks noChangeArrowheads="1"/>
          </p:cNvSpPr>
          <p:nvPr/>
        </p:nvSpPr>
        <p:spPr bwMode="auto">
          <a:xfrm>
            <a:off x="1619345" y="4437112"/>
            <a:ext cx="6410413" cy="2320441"/>
          </a:xfrm>
          <a:prstGeom prst="flowChartAlternateProcess">
            <a:avLst/>
          </a:prstGeom>
          <a:solidFill>
            <a:srgbClr val="FFCCFF"/>
          </a:soli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  <a:contourClr>
              <a:srgbClr val="FF9933"/>
            </a:contourClr>
          </a:sp3d>
          <a:extLst/>
        </p:spPr>
        <p:txBody>
          <a:bodyPr wrap="none" lIns="91959" tIns="45979" rIns="91959" bIns="45979" anchor="ctr">
            <a:flatTx/>
          </a:bodyPr>
          <a:lstStyle/>
          <a:p>
            <a:pPr algn="r" defTabSz="919163" rtl="1" eaLnBrk="1" hangingPunct="1"/>
            <a:endParaRPr lang="ar-DZ" sz="3200" b="1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r" defTabSz="919163" rtl="1" eaLnBrk="1" hangingPunct="1"/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1- </a:t>
            </a:r>
            <a:r>
              <a:rPr lang="ar-SA" sz="3200" b="1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الأجوا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ء </a:t>
            </a:r>
            <a:r>
              <a:rPr lang="ar-SA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في المؤسسة التربوي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ة ممتازة</a:t>
            </a:r>
          </a:p>
          <a:p>
            <a:pPr algn="r" defTabSz="919163" rtl="1" eaLnBrk="1" hangingPunct="1"/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2- ا</a:t>
            </a:r>
            <a:r>
              <a:rPr lang="ar-SA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لعمل الجماعي الموحد والتفاهم 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بين الجميع</a:t>
            </a:r>
          </a:p>
          <a:p>
            <a:pPr algn="r" defTabSz="919163" rtl="1" eaLnBrk="1" hangingPunct="1"/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3- إحساس </a:t>
            </a:r>
            <a:r>
              <a:rPr lang="ar-SA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بالواجب المهني و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روح</a:t>
            </a:r>
            <a:r>
              <a:rPr lang="ar-SA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العمل.</a:t>
            </a:r>
          </a:p>
          <a:p>
            <a:pPr algn="r" defTabSz="919163" rtl="1" eaLnBrk="1" hangingPunct="1"/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4- </a:t>
            </a:r>
            <a:r>
              <a:rPr lang="ar-SA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الفعالية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و </a:t>
            </a:r>
            <a:r>
              <a:rPr lang="ar-DZ" sz="3200" b="1" dirty="0" err="1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الإنضباط</a:t>
            </a:r>
            <a:r>
              <a:rPr lang="ar-DZ" sz="32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algn="r" defTabSz="919163" rtl="1" eaLnBrk="1" hangingPunct="1"/>
            <a:endParaRPr lang="en-US" sz="3200" b="1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47"/>
          <p:cNvSpPr txBox="1">
            <a:spLocks noChangeArrowheads="1"/>
          </p:cNvSpPr>
          <p:nvPr/>
        </p:nvSpPr>
        <p:spPr bwMode="auto">
          <a:xfrm>
            <a:off x="6853897" y="109293"/>
            <a:ext cx="2093844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bevelT prst="angle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alibri" pitchFamily="34" charset="0"/>
                <a:ea typeface="SimHei" pitchFamily="49" charset="-122"/>
              </a:defRPr>
            </a:lvl9pPr>
          </a:lstStyle>
          <a:p>
            <a:pPr marL="571500" indent="-571500" algn="r" rtl="1">
              <a:buFont typeface="+mj-lt"/>
              <a:buAutoNum type="romanUcPeriod" startAt="5"/>
              <a:defRPr/>
            </a:pPr>
            <a:r>
              <a:rPr lang="ar-DZ" sz="2800" kern="0" dirty="0" smtClean="0">
                <a:ea typeface="Calibri" pitchFamily="34" charset="0"/>
                <a:cs typeface="Arial" pitchFamily="34" charset="0"/>
              </a:rPr>
              <a:t>الخاتـــمة</a:t>
            </a:r>
            <a:endParaRPr lang="fr-FR" sz="2800" kern="0" dirty="0" err="1">
              <a:ea typeface="Calibri" pitchFamily="34" charset="0"/>
              <a:cs typeface="Arial" pitchFamily="34" charset="0"/>
            </a:endParaRPr>
          </a:p>
        </p:txBody>
      </p:sp>
      <p:sp>
        <p:nvSpPr>
          <p:cNvPr id="5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3795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6" name="AutoShape 37"/>
          <p:cNvSpPr>
            <a:spLocks noChangeArrowheads="1"/>
          </p:cNvSpPr>
          <p:nvPr/>
        </p:nvSpPr>
        <p:spPr bwMode="auto">
          <a:xfrm rot="16200000">
            <a:off x="3799575" y="3601614"/>
            <a:ext cx="1356523" cy="720725"/>
          </a:xfrm>
          <a:prstGeom prst="leftArrow">
            <a:avLst>
              <a:gd name="adj1" fmla="val 50000"/>
              <a:gd name="adj2" fmla="val 53855"/>
            </a:avLst>
          </a:prstGeom>
          <a:gradFill rotWithShape="1">
            <a:gsLst>
              <a:gs pos="0">
                <a:srgbClr val="33CCCC"/>
              </a:gs>
              <a:gs pos="100000">
                <a:srgbClr val="33CCCC">
                  <a:gamma/>
                  <a:tint val="5725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CCCC"/>
            </a:extrusionClr>
            <a:contourClr>
              <a:srgbClr val="33CC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169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6" name="AutoShape 6"/>
          <p:cNvSpPr>
            <a:spLocks noChangeArrowheads="1"/>
          </p:cNvSpPr>
          <p:nvPr/>
        </p:nvSpPr>
        <p:spPr bwMode="auto">
          <a:xfrm>
            <a:off x="3123957" y="167017"/>
            <a:ext cx="3508665" cy="753568"/>
          </a:xfrm>
          <a:prstGeom prst="flowChartAlternateProcess">
            <a:avLst/>
          </a:prstGeom>
          <a:solidFill>
            <a:srgbClr val="FF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/>
        </p:spPr>
        <p:txBody>
          <a:bodyPr wrap="none" anchor="ctr">
            <a:flatTx/>
          </a:bodyPr>
          <a:lstStyle/>
          <a:p>
            <a:pPr algn="ctr"/>
            <a:r>
              <a:rPr lang="ar-DZ" sz="2800" b="1" dirty="0">
                <a:cs typeface="Arial" panose="020B0604020202020204" pitchFamily="34" charset="0"/>
              </a:rPr>
              <a:t>مؤسسات التعليم الثانوي</a:t>
            </a:r>
            <a:endParaRPr lang="en-US" sz="2800" b="1" dirty="0">
              <a:cs typeface="Arial" panose="020B0604020202020204" pitchFamily="34" charset="0"/>
            </a:endParaRPr>
          </a:p>
        </p:txBody>
      </p:sp>
      <p:sp>
        <p:nvSpPr>
          <p:cNvPr id="31748" name="AutoShape 7"/>
          <p:cNvSpPr>
            <a:spLocks noChangeArrowheads="1"/>
          </p:cNvSpPr>
          <p:nvPr/>
        </p:nvSpPr>
        <p:spPr bwMode="auto">
          <a:xfrm>
            <a:off x="2051292" y="1106760"/>
            <a:ext cx="5090209" cy="3599972"/>
          </a:xfrm>
          <a:custGeom>
            <a:avLst/>
            <a:gdLst>
              <a:gd name="T0" fmla="*/ 922580667 w 21600"/>
              <a:gd name="T1" fmla="*/ 182557377 h 21600"/>
              <a:gd name="T2" fmla="*/ 461290333 w 21600"/>
              <a:gd name="T3" fmla="*/ 365114624 h 21600"/>
              <a:gd name="T4" fmla="*/ 0 w 21600"/>
              <a:gd name="T5" fmla="*/ 182557377 h 21600"/>
              <a:gd name="T6" fmla="*/ 461290333 w 21600"/>
              <a:gd name="T7" fmla="*/ 0 h 216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2160 w 21600"/>
              <a:gd name="T13" fmla="*/ 8640 h 21600"/>
              <a:gd name="T14" fmla="*/ 19440 w 21600"/>
              <a:gd name="T15" fmla="*/ 1296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6480" y="4320"/>
                </a:lnTo>
                <a:lnTo>
                  <a:pt x="8640" y="4320"/>
                </a:lnTo>
                <a:lnTo>
                  <a:pt x="8640" y="8640"/>
                </a:lnTo>
                <a:lnTo>
                  <a:pt x="4320" y="8640"/>
                </a:lnTo>
                <a:lnTo>
                  <a:pt x="4320" y="6480"/>
                </a:lnTo>
                <a:lnTo>
                  <a:pt x="0" y="10800"/>
                </a:lnTo>
                <a:lnTo>
                  <a:pt x="4320" y="15120"/>
                </a:lnTo>
                <a:lnTo>
                  <a:pt x="4320" y="12960"/>
                </a:lnTo>
                <a:lnTo>
                  <a:pt x="8640" y="12960"/>
                </a:lnTo>
                <a:lnTo>
                  <a:pt x="8640" y="17280"/>
                </a:lnTo>
                <a:lnTo>
                  <a:pt x="6480" y="17280"/>
                </a:lnTo>
                <a:lnTo>
                  <a:pt x="10800" y="21600"/>
                </a:lnTo>
                <a:lnTo>
                  <a:pt x="15120" y="17280"/>
                </a:lnTo>
                <a:lnTo>
                  <a:pt x="12960" y="17280"/>
                </a:lnTo>
                <a:lnTo>
                  <a:pt x="12960" y="12960"/>
                </a:lnTo>
                <a:lnTo>
                  <a:pt x="17280" y="12960"/>
                </a:lnTo>
                <a:lnTo>
                  <a:pt x="17280" y="15120"/>
                </a:lnTo>
                <a:lnTo>
                  <a:pt x="21600" y="10800"/>
                </a:lnTo>
                <a:lnTo>
                  <a:pt x="17280" y="6480"/>
                </a:lnTo>
                <a:lnTo>
                  <a:pt x="17280" y="8640"/>
                </a:lnTo>
                <a:lnTo>
                  <a:pt x="12960" y="8640"/>
                </a:lnTo>
                <a:lnTo>
                  <a:pt x="12960" y="4320"/>
                </a:lnTo>
                <a:lnTo>
                  <a:pt x="15120" y="432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66"/>
          </a:soli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/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ar-DZ" sz="2800" b="1" dirty="0" err="1" smtClean="0">
                <a:latin typeface="Arial" panose="020B0604020202020204" pitchFamily="34" charset="0"/>
              </a:rPr>
              <a:t>إنعكاس</a:t>
            </a:r>
            <a:r>
              <a:rPr lang="ar-DZ" sz="2800" b="1" dirty="0" smtClean="0">
                <a:latin typeface="Arial" panose="020B0604020202020204" pitchFamily="34" charset="0"/>
              </a:rPr>
              <a:t> العلاقة الجيدة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ar-DZ" sz="2800" b="1" dirty="0" smtClean="0">
                <a:latin typeface="Arial" panose="020B0604020202020204" pitchFamily="34" charset="0"/>
              </a:rPr>
              <a:t>على الجماعة التربوية</a:t>
            </a:r>
            <a:endParaRPr lang="fr-FR" sz="2800" b="1" dirty="0">
              <a:latin typeface="Arial" panose="020B0604020202020204" pitchFamily="34" charset="0"/>
            </a:endParaRPr>
          </a:p>
        </p:txBody>
      </p:sp>
      <p:sp>
        <p:nvSpPr>
          <p:cNvPr id="31749" name="AutoShape 8"/>
          <p:cNvSpPr>
            <a:spLocks noChangeArrowheads="1"/>
          </p:cNvSpPr>
          <p:nvPr/>
        </p:nvSpPr>
        <p:spPr bwMode="auto">
          <a:xfrm>
            <a:off x="7468687" y="2392537"/>
            <a:ext cx="1875615" cy="753569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79" tIns="43739" rIns="87479" bIns="43739" anchor="ctr">
            <a:flatTx/>
          </a:bodyPr>
          <a:lstStyle>
            <a:lvl1pPr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9163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ar-DZ" sz="2664" b="1">
                <a:solidFill>
                  <a:srgbClr val="FFFF00"/>
                </a:solidFill>
              </a:rPr>
              <a:t>الآمر بالصرف</a:t>
            </a:r>
            <a:endParaRPr lang="en-US" sz="2664" b="1">
              <a:solidFill>
                <a:srgbClr val="FFFF00"/>
              </a:solidFill>
            </a:endParaRPr>
          </a:p>
        </p:txBody>
      </p:sp>
      <p:sp>
        <p:nvSpPr>
          <p:cNvPr id="31750" name="AutoShape 9"/>
          <p:cNvSpPr>
            <a:spLocks noChangeArrowheads="1"/>
          </p:cNvSpPr>
          <p:nvPr/>
        </p:nvSpPr>
        <p:spPr bwMode="auto">
          <a:xfrm>
            <a:off x="135484" y="2452002"/>
            <a:ext cx="2024565" cy="821525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79" tIns="43739" rIns="87479" bIns="43739" anchor="ctr">
            <a:flatTx/>
          </a:bodyPr>
          <a:lstStyle>
            <a:lvl1pPr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9163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ar-DZ" sz="2664" b="1">
                <a:solidFill>
                  <a:srgbClr val="FFFF00"/>
                </a:solidFill>
              </a:rPr>
              <a:t>المحاسب العمومي</a:t>
            </a:r>
            <a:endParaRPr lang="en-US" sz="2664" b="1">
              <a:solidFill>
                <a:srgbClr val="FFFF00"/>
              </a:solidFill>
            </a:endParaRPr>
          </a:p>
        </p:txBody>
      </p:sp>
      <p:sp>
        <p:nvSpPr>
          <p:cNvPr id="31751" name="AutoShape 11"/>
          <p:cNvSpPr>
            <a:spLocks noChangeArrowheads="1"/>
          </p:cNvSpPr>
          <p:nvPr/>
        </p:nvSpPr>
        <p:spPr bwMode="auto">
          <a:xfrm>
            <a:off x="2927712" y="4882255"/>
            <a:ext cx="2795563" cy="1194010"/>
          </a:xfrm>
          <a:prstGeom prst="downArrowCallout">
            <a:avLst>
              <a:gd name="adj1" fmla="val 85709"/>
              <a:gd name="adj2" fmla="val 85709"/>
              <a:gd name="adj3" fmla="val 16667"/>
              <a:gd name="adj4" fmla="val 66667"/>
            </a:avLst>
          </a:prstGeom>
          <a:gradFill rotWithShape="1">
            <a:gsLst>
              <a:gs pos="0">
                <a:srgbClr val="66FF33"/>
              </a:gs>
              <a:gs pos="100000">
                <a:srgbClr val="7CFF50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ar-DZ" sz="2664" b="1" dirty="0">
                <a:solidFill>
                  <a:srgbClr val="000000"/>
                </a:solidFill>
                <a:latin typeface="Arial" panose="020B0604020202020204" pitchFamily="34" charset="0"/>
              </a:rPr>
              <a:t>التحكم في </a:t>
            </a:r>
            <a:r>
              <a:rPr lang="ar-DZ" sz="2664" b="1" dirty="0" smtClean="0">
                <a:solidFill>
                  <a:srgbClr val="000000"/>
                </a:solidFill>
                <a:latin typeface="Arial" panose="020B0604020202020204" pitchFamily="34" charset="0"/>
              </a:rPr>
              <a:t>آليات </a:t>
            </a:r>
            <a:r>
              <a:rPr lang="ar-DZ" sz="2664" b="1" dirty="0">
                <a:solidFill>
                  <a:srgbClr val="000000"/>
                </a:solidFill>
                <a:latin typeface="Arial" panose="020B0604020202020204" pitchFamily="34" charset="0"/>
              </a:rPr>
              <a:t>التسيير</a:t>
            </a:r>
            <a:endParaRPr lang="fr-FR" sz="2664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2173" name="AutoShape 13"/>
          <p:cNvSpPr>
            <a:spLocks noChangeArrowheads="1"/>
          </p:cNvSpPr>
          <p:nvPr/>
        </p:nvSpPr>
        <p:spPr bwMode="auto">
          <a:xfrm>
            <a:off x="5506879" y="6198977"/>
            <a:ext cx="3404499" cy="632390"/>
          </a:xfrm>
          <a:prstGeom prst="flowChartAlternateProcess">
            <a:avLst/>
          </a:prstGeom>
          <a:gradFill rotWithShape="1">
            <a:gsLst>
              <a:gs pos="0">
                <a:schemeClr val="tx1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7479" tIns="43739" rIns="87479" bIns="4373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3425" b="1" dirty="0" smtClean="0">
                <a:solidFill>
                  <a:srgbClr val="FF0000"/>
                </a:solidFill>
                <a:latin typeface="Tahoma" panose="020B0604030504040204" pitchFamily="34" charset="0"/>
              </a:rPr>
              <a:t>تنشئة </a:t>
            </a:r>
            <a:r>
              <a:rPr lang="ar-DZ" sz="3425" b="1" dirty="0">
                <a:solidFill>
                  <a:srgbClr val="FF0000"/>
                </a:solidFill>
                <a:latin typeface="Tahoma" panose="020B0604030504040204" pitchFamily="34" charset="0"/>
              </a:rPr>
              <a:t>أجيال </a:t>
            </a:r>
            <a:r>
              <a:rPr lang="ar-DZ" sz="3425" b="1" dirty="0" smtClean="0">
                <a:solidFill>
                  <a:srgbClr val="FF0000"/>
                </a:solidFill>
                <a:latin typeface="Tahoma" panose="020B0604030504040204" pitchFamily="34" charset="0"/>
              </a:rPr>
              <a:t>المستقبل</a:t>
            </a:r>
            <a:endParaRPr lang="en-US" sz="3425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AutoShape 39"/>
          <p:cNvSpPr>
            <a:spLocks noChangeArrowheads="1"/>
          </p:cNvSpPr>
          <p:nvPr/>
        </p:nvSpPr>
        <p:spPr bwMode="auto">
          <a:xfrm rot="2967549">
            <a:off x="6306854" y="3540091"/>
            <a:ext cx="1649387" cy="2865019"/>
          </a:xfrm>
          <a:prstGeom prst="curvedLeftArrow">
            <a:avLst>
              <a:gd name="adj1" fmla="val 23244"/>
              <a:gd name="adj2" fmla="val 61544"/>
              <a:gd name="adj3" fmla="val 3571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sz="1800">
              <a:latin typeface="Arial" panose="020B0604020202020204" pitchFamily="34" charset="0"/>
            </a:endParaRPr>
          </a:p>
        </p:txBody>
      </p:sp>
      <p:sp>
        <p:nvSpPr>
          <p:cNvPr id="15" name="AutoShape 33"/>
          <p:cNvSpPr>
            <a:spLocks noChangeArrowheads="1"/>
          </p:cNvSpPr>
          <p:nvPr/>
        </p:nvSpPr>
        <p:spPr bwMode="auto">
          <a:xfrm rot="20435016">
            <a:off x="191415" y="3732953"/>
            <a:ext cx="2308323" cy="2303070"/>
          </a:xfrm>
          <a:prstGeom prst="curvedRightArrow">
            <a:avLst>
              <a:gd name="adj1" fmla="val 17199"/>
              <a:gd name="adj2" fmla="val 94783"/>
              <a:gd name="adj3" fmla="val 23162"/>
            </a:avLst>
          </a:prstGeom>
          <a:solidFill>
            <a:srgbClr val="FF0000"/>
          </a:solidFill>
          <a:ln>
            <a:noFill/>
          </a:ln>
          <a:effectLst>
            <a:prstShdw prst="shdw13" dist="53882" dir="13500000">
              <a:srgbClr val="808080">
                <a:alpha val="50000"/>
              </a:srgbClr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sz="1800">
              <a:latin typeface="Arial" panose="020B0604020202020204" pitchFamily="34" charset="0"/>
            </a:endParaRPr>
          </a:p>
        </p:txBody>
      </p:sp>
      <p:sp>
        <p:nvSpPr>
          <p:cNvPr id="24" name="AutoShape 42"/>
          <p:cNvSpPr>
            <a:spLocks noChangeArrowheads="1"/>
          </p:cNvSpPr>
          <p:nvPr/>
        </p:nvSpPr>
        <p:spPr bwMode="auto">
          <a:xfrm>
            <a:off x="1516507" y="5963248"/>
            <a:ext cx="3605229" cy="1008062"/>
          </a:xfrm>
          <a:prstGeom prst="leftArrow">
            <a:avLst>
              <a:gd name="adj1" fmla="val 50000"/>
              <a:gd name="adj2" fmla="val 92874"/>
            </a:avLst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57255"/>
                  <a:invGamma/>
                </a:scheme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ar-DZ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القانون </a:t>
            </a:r>
            <a:r>
              <a:rPr lang="ar-DZ" sz="2800" b="1" dirty="0" smtClean="0">
                <a:solidFill>
                  <a:srgbClr val="FF0000"/>
                </a:solidFill>
                <a:latin typeface="Tahoma" panose="020B0604030504040204" pitchFamily="34" charset="0"/>
              </a:rPr>
              <a:t>04/08</a:t>
            </a:r>
            <a:r>
              <a:rPr lang="ar-DZ" sz="2800" b="1" dirty="0" smtClean="0">
                <a:solidFill>
                  <a:srgbClr val="000000"/>
                </a:solidFill>
              </a:rPr>
              <a:t> </a:t>
            </a:r>
            <a:endParaRPr lang="fr-FR" sz="2800" b="1" dirty="0">
              <a:solidFill>
                <a:srgbClr val="000000"/>
              </a:solidFill>
            </a:endParaRPr>
          </a:p>
        </p:txBody>
      </p:sp>
      <p:sp>
        <p:nvSpPr>
          <p:cNvPr id="25" name="Rectangle 4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72536" y="41165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pic>
        <p:nvPicPr>
          <p:cNvPr id="16" name="Picture 6" descr="DrapeauALG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4061" y="5602486"/>
            <a:ext cx="1342968" cy="1164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9192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4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468211" y="3387863"/>
            <a:ext cx="8685936" cy="42284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>
                <a:solidFill>
                  <a:srgbClr val="FFFF00"/>
                </a:solidFill>
              </a:rPr>
              <a:t>القانون رقم 90-21 المؤرخ في 15/08/90 المتعلق المحاسبة العمومية</a:t>
            </a:r>
            <a:endParaRPr lang="ar-DZ" sz="2800" b="1" smtClean="0">
              <a:solidFill>
                <a:srgbClr val="FFFF00"/>
              </a:solidFill>
            </a:endParaRPr>
          </a:p>
        </p:txBody>
      </p:sp>
      <p:sp>
        <p:nvSpPr>
          <p:cNvPr id="10" name="Rectangle 25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455766" y="2227587"/>
            <a:ext cx="8688234" cy="350837"/>
          </a:xfrm>
          <a:prstGeom prst="rect">
            <a:avLst/>
          </a:prstGeom>
          <a:gradFill rotWithShape="1">
            <a:gsLst>
              <a:gs pos="0">
                <a:srgbClr val="6666FF"/>
              </a:gs>
              <a:gs pos="100000">
                <a:srgbClr val="6666FF">
                  <a:gamma/>
                  <a:shade val="98431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6666FF"/>
            </a:extrusionClr>
            <a:contourClr>
              <a:srgbClr val="6666FF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DZ" sz="2800" b="1" kern="0" dirty="0">
                <a:solidFill>
                  <a:srgbClr val="FFFF00"/>
                </a:solidFill>
              </a:rPr>
              <a:t>القانون التوجيهي للتربية الوطنية  : 08/04 بتاريخ : 2008/01/23</a:t>
            </a:r>
            <a:endParaRPr kumimoji="0" 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25">
            <a:hlinkClick r:id="rId4" action="ppaction://hlinkfile"/>
          </p:cNvPr>
          <p:cNvSpPr>
            <a:spLocks noChangeArrowheads="1"/>
          </p:cNvSpPr>
          <p:nvPr/>
        </p:nvSpPr>
        <p:spPr bwMode="auto">
          <a:xfrm>
            <a:off x="379620" y="2829149"/>
            <a:ext cx="8721420" cy="350837"/>
          </a:xfrm>
          <a:prstGeom prst="rect">
            <a:avLst/>
          </a:prstGeom>
          <a:gradFill rotWithShape="1">
            <a:gsLst>
              <a:gs pos="0">
                <a:srgbClr val="6666FF"/>
              </a:gs>
              <a:gs pos="100000">
                <a:srgbClr val="6666FF">
                  <a:gamma/>
                  <a:shade val="98431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6666FF"/>
            </a:extrusionClr>
            <a:contourClr>
              <a:srgbClr val="6666FF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DZ" sz="2800" b="1" kern="0" dirty="0">
                <a:solidFill>
                  <a:srgbClr val="FFFF00"/>
                </a:solidFill>
              </a:rPr>
              <a:t>القانون الأساسي العام للوظيفة العمومية : 06/03 بتاريخ : 2006/07/15</a:t>
            </a:r>
          </a:p>
        </p:txBody>
      </p:sp>
      <p:sp>
        <p:nvSpPr>
          <p:cNvPr id="12" name="Rectangle 25">
            <a:hlinkClick r:id="rId5" action="ppaction://hlinkfile"/>
          </p:cNvPr>
          <p:cNvSpPr>
            <a:spLocks noChangeArrowheads="1"/>
          </p:cNvSpPr>
          <p:nvPr/>
        </p:nvSpPr>
        <p:spPr bwMode="auto">
          <a:xfrm>
            <a:off x="377678" y="1111380"/>
            <a:ext cx="8721420" cy="923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 dirty="0">
                <a:solidFill>
                  <a:srgbClr val="FFFF00"/>
                </a:solidFill>
              </a:rPr>
              <a:t>المرسوم التنفيذي المتضمن القانون الأساسي الخاص بالموظفين المنتمين </a:t>
            </a:r>
            <a:endParaRPr lang="ar-DZ" sz="2800" b="1" dirty="0" smtClean="0">
              <a:solidFill>
                <a:srgbClr val="FFFF00"/>
              </a:solidFill>
            </a:endParaRPr>
          </a:p>
          <a:p>
            <a:pPr algn="ctr" rtl="1" eaLnBrk="1" hangingPunct="1">
              <a:defRPr/>
            </a:pPr>
            <a:r>
              <a:rPr lang="ar-DZ" sz="2800" b="1" dirty="0" smtClean="0">
                <a:solidFill>
                  <a:srgbClr val="FFFF00"/>
                </a:solidFill>
              </a:rPr>
              <a:t> </a:t>
            </a:r>
            <a:r>
              <a:rPr lang="ar-DZ" sz="2800" b="1" dirty="0">
                <a:solidFill>
                  <a:srgbClr val="FFFF00"/>
                </a:solidFill>
              </a:rPr>
              <a:t>للأسلاك الخاصة بالتربية </a:t>
            </a:r>
            <a:r>
              <a:rPr lang="ar-DZ" sz="2800" b="1" dirty="0" smtClean="0">
                <a:solidFill>
                  <a:srgbClr val="FFFF00"/>
                </a:solidFill>
              </a:rPr>
              <a:t>الوطنية </a:t>
            </a:r>
            <a:r>
              <a:rPr lang="ar-DZ" sz="2800" b="1" dirty="0">
                <a:solidFill>
                  <a:srgbClr val="FFFF00"/>
                </a:solidFill>
              </a:rPr>
              <a:t>: 315/08 بتاريخ : </a:t>
            </a:r>
            <a:r>
              <a:rPr lang="ar-DZ" sz="2800" b="1" dirty="0" smtClean="0">
                <a:solidFill>
                  <a:srgbClr val="FFFF00"/>
                </a:solidFill>
              </a:rPr>
              <a:t>2008/10/11</a:t>
            </a:r>
            <a:endParaRPr lang="ar-DZ" sz="2800" b="1" dirty="0">
              <a:solidFill>
                <a:srgbClr val="FFFF00"/>
              </a:solidFill>
            </a:endParaRPr>
          </a:p>
        </p:txBody>
      </p:sp>
      <p:sp>
        <p:nvSpPr>
          <p:cNvPr id="13" name="Rectangle 25">
            <a:hlinkClick r:id="rId6" action="ppaction://hlinkfile"/>
          </p:cNvPr>
          <p:cNvSpPr>
            <a:spLocks noChangeArrowheads="1"/>
          </p:cNvSpPr>
          <p:nvPr/>
        </p:nvSpPr>
        <p:spPr bwMode="auto">
          <a:xfrm>
            <a:off x="573352" y="4055725"/>
            <a:ext cx="8551862" cy="3508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 dirty="0">
                <a:solidFill>
                  <a:srgbClr val="FFFF00"/>
                </a:solidFill>
              </a:rPr>
              <a:t>القرار  رقم 176المؤرخ في </a:t>
            </a:r>
            <a:r>
              <a:rPr lang="ar-DZ" sz="2800" b="1" dirty="0" smtClean="0">
                <a:solidFill>
                  <a:srgbClr val="FFFF00"/>
                </a:solidFill>
              </a:rPr>
              <a:t>02/0301991</a:t>
            </a:r>
            <a:endParaRPr lang="en-US" sz="2800" dirty="0" smtClean="0">
              <a:latin typeface="Tahoma" panose="020B0604030504040204" pitchFamily="34" charset="0"/>
            </a:endParaRPr>
          </a:p>
        </p:txBody>
      </p:sp>
      <p:sp>
        <p:nvSpPr>
          <p:cNvPr id="14" name="Rectangle 25">
            <a:hlinkClick r:id="rId7" action="ppaction://hlinkfile"/>
          </p:cNvPr>
          <p:cNvSpPr>
            <a:spLocks noChangeArrowheads="1"/>
          </p:cNvSpPr>
          <p:nvPr/>
        </p:nvSpPr>
        <p:spPr bwMode="auto">
          <a:xfrm>
            <a:off x="619071" y="5192332"/>
            <a:ext cx="8551862" cy="3508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 dirty="0">
                <a:solidFill>
                  <a:srgbClr val="FFFF00"/>
                </a:solidFill>
              </a:rPr>
              <a:t>القرار رقم  829 المؤرخ في 13/11/1991</a:t>
            </a:r>
          </a:p>
        </p:txBody>
      </p:sp>
      <p:sp>
        <p:nvSpPr>
          <p:cNvPr id="15" name="Rectangle 25">
            <a:hlinkClick r:id="rId8" action="ppaction://hlinkfile"/>
          </p:cNvPr>
          <p:cNvSpPr>
            <a:spLocks noChangeArrowheads="1"/>
          </p:cNvSpPr>
          <p:nvPr/>
        </p:nvSpPr>
        <p:spPr bwMode="auto">
          <a:xfrm>
            <a:off x="573352" y="4616355"/>
            <a:ext cx="8551862" cy="3508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 dirty="0">
                <a:solidFill>
                  <a:srgbClr val="FFFF00"/>
                </a:solidFill>
              </a:rPr>
              <a:t>القرار 297 المعدل والمتمم للقرار 176 </a:t>
            </a:r>
          </a:p>
        </p:txBody>
      </p:sp>
      <p:sp>
        <p:nvSpPr>
          <p:cNvPr id="18" name="AutoShape 21"/>
          <p:cNvSpPr>
            <a:spLocks noChangeArrowheads="1"/>
          </p:cNvSpPr>
          <p:nvPr/>
        </p:nvSpPr>
        <p:spPr bwMode="auto">
          <a:xfrm>
            <a:off x="6948264" y="285220"/>
            <a:ext cx="1968500" cy="576262"/>
          </a:xfrm>
          <a:prstGeom prst="flowChartAlternateProcess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defTabSz="914400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ar-DZ" sz="2400" b="1" dirty="0">
                <a:solidFill>
                  <a:srgbClr val="000000"/>
                </a:solidFill>
                <a:latin typeface="Franklin Gothic Book"/>
              </a:rPr>
              <a:t>النصوص المرجعية</a:t>
            </a:r>
            <a:endParaRPr lang="fr-FR" sz="2400" b="1" dirty="0">
              <a:solidFill>
                <a:srgbClr val="000000"/>
              </a:solidFill>
              <a:latin typeface="Franklin Gothic Book"/>
            </a:endParaRPr>
          </a:p>
        </p:txBody>
      </p:sp>
      <p:sp>
        <p:nvSpPr>
          <p:cNvPr id="17" name="Rectangle 44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79512" y="149541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19" name="Rectangle 25">
            <a:hlinkClick r:id="rId10" action="ppaction://hlinkfile"/>
          </p:cNvPr>
          <p:cNvSpPr>
            <a:spLocks noChangeArrowheads="1"/>
          </p:cNvSpPr>
          <p:nvPr/>
        </p:nvSpPr>
        <p:spPr bwMode="auto">
          <a:xfrm>
            <a:off x="573352" y="5788186"/>
            <a:ext cx="8551862" cy="350837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98431"/>
                  <a:invGamma/>
                </a:schemeClr>
              </a:gs>
            </a:gsLst>
            <a:lin ang="2700000" scaled="1"/>
          </a:gradFill>
          <a:ln>
            <a:noFill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accent1">
                      <a:gamma/>
                      <a:shade val="60000"/>
                      <a:invGamma/>
                    </a:schemeClr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60375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916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9538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39913"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2971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7543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2115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668713" algn="r" defTabSz="919163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defRPr/>
            </a:pPr>
            <a:r>
              <a:rPr lang="ar-DZ" sz="2800" b="1" dirty="0">
                <a:solidFill>
                  <a:srgbClr val="FFFF00"/>
                </a:solidFill>
              </a:rPr>
              <a:t>مرسوم  تنفيذي رقم </a:t>
            </a:r>
            <a:r>
              <a:rPr lang="ar-DZ" sz="2800" b="1" dirty="0" smtClean="0">
                <a:solidFill>
                  <a:srgbClr val="FFFF00"/>
                </a:solidFill>
              </a:rPr>
              <a:t>:</a:t>
            </a:r>
            <a:r>
              <a:rPr lang="fr-FR" sz="2800" b="1" dirty="0" smtClean="0">
                <a:solidFill>
                  <a:srgbClr val="FFFF00"/>
                </a:solidFill>
              </a:rPr>
              <a:t>12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r>
              <a:rPr lang="fr-FR" sz="2800" b="1" dirty="0" smtClean="0">
                <a:solidFill>
                  <a:srgbClr val="FFFF00"/>
                </a:solidFill>
              </a:rPr>
              <a:t>240</a:t>
            </a:r>
            <a:r>
              <a:rPr lang="ar-DZ" sz="2800" b="1" dirty="0" smtClean="0">
                <a:solidFill>
                  <a:srgbClr val="FFFF00"/>
                </a:solidFill>
              </a:rPr>
              <a:t> </a:t>
            </a:r>
            <a:r>
              <a:rPr lang="ar-DZ" sz="2800" b="1" dirty="0">
                <a:solidFill>
                  <a:srgbClr val="FFFF00"/>
                </a:solidFill>
              </a:rPr>
              <a:t>مؤرخ في </a:t>
            </a:r>
            <a:r>
              <a:rPr lang="ar-DZ" sz="2800" b="1" dirty="0" smtClean="0">
                <a:solidFill>
                  <a:srgbClr val="FFFF00"/>
                </a:solidFill>
              </a:rPr>
              <a:t>29/05/2012</a:t>
            </a:r>
            <a:endParaRPr lang="ar-DZ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58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1958" y="692696"/>
            <a:ext cx="4525963" cy="6478172"/>
          </a:xfrm>
        </p:spPr>
      </p:pic>
      <p:sp>
        <p:nvSpPr>
          <p:cNvPr id="5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 bwMode="auto">
          <a:xfrm>
            <a:off x="-40003" y="379828"/>
            <a:ext cx="4606792" cy="6644208"/>
          </a:xfrm>
          <a:prstGeom prst="rect">
            <a:avLst/>
          </a:prstGeom>
          <a:solidFill>
            <a:srgbClr val="D2DA7A">
              <a:lumMod val="60000"/>
              <a:lumOff val="4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marR="0" lvl="0" indent="-273050" algn="r" defTabSz="914400" rtl="1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ar-DZ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* وصل الطلب </a:t>
            </a:r>
            <a:r>
              <a:rPr kumimoji="0" lang="fr-FR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</a:rPr>
              <a:t>Bon de commande </a:t>
            </a:r>
            <a:r>
              <a:rPr kumimoji="0" lang="ar-DZ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 </a:t>
            </a:r>
            <a:r>
              <a:rPr kumimoji="0" lang="ar-DZ" sz="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,,,,,,,,,,,,,,,,,,,,,,,,,,,,,,,,,,,,,,,,,,,,,,,,,,,,,,,,,,,,,,</a:t>
            </a:r>
            <a:r>
              <a:rPr kumimoji="0" lang="ar-DZ" sz="2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3 نسخ</a:t>
            </a:r>
          </a:p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+mj-lt"/>
              <a:buAutoNum type="arabicPeriod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يوقع ويختم اولا من طرف الآمر بالصرف</a:t>
            </a:r>
            <a:r>
              <a:rPr kumimoji="0" lang="ar-DZ" sz="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</a:t>
            </a:r>
            <a:r>
              <a:rPr kumimoji="0" lang="ar-DZ" sz="7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,,,,,,,,,,,,,,,,,,,,,,,</a:t>
            </a:r>
            <a:r>
              <a:rPr kumimoji="0" lang="ar-DZ" sz="6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</a:t>
            </a:r>
            <a:r>
              <a:rPr kumimoji="0" lang="ar-DZ" sz="7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  </a:t>
            </a: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ترخيص بالنفقة و التزام لفائدة الممون</a:t>
            </a:r>
          </a:p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+mj-lt"/>
              <a:buAutoNum type="arabicPeriod"/>
              <a:tabLst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ثم </a:t>
            </a:r>
            <a:r>
              <a:rPr kumimoji="0" lang="ar-DZ" sz="2000" b="1" i="0" u="none" strike="noStrike" kern="1200" cap="none" spc="0" normalizeH="0" baseline="0" noProof="0" dirty="0" err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يؤشرمن</a:t>
            </a: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 طرف المحاسب العمومي </a:t>
            </a:r>
            <a:r>
              <a:rPr kumimoji="0" lang="ar-DZ" sz="7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,,,,,,,,,,,,,,,,,,,,,,,,,,,,,, </a:t>
            </a: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إقرارا بشرعية النفقة و توفر الاعتماد المالي لتغطيتها</a:t>
            </a:r>
          </a:p>
          <a:p>
            <a:pPr algn="ctr">
              <a:buClr>
                <a:srgbClr val="727CA3"/>
              </a:buClr>
              <a:buNone/>
              <a:defRPr/>
            </a:pP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نسختان للممون</a:t>
            </a:r>
            <a:r>
              <a:rPr kumimoji="0" lang="ar-DZ" sz="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</a:t>
            </a:r>
            <a:r>
              <a:rPr kumimoji="0" lang="ar-DZ" sz="7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,,,,,,,,,,,,,,,,</a:t>
            </a:r>
            <a:r>
              <a:rPr kumimoji="0" lang="ar-DZ" sz="8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, </a:t>
            </a:r>
            <a:r>
              <a:rPr kumimoji="0" lang="ar-DZ" sz="20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تموين المؤسسة بالسلعة المطلوبة (</a:t>
            </a:r>
            <a:r>
              <a:rPr lang="ar-DZ" sz="2000" b="1" dirty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المدين ملزم بتوفير </a:t>
            </a:r>
            <a:r>
              <a:rPr lang="ar-DZ" sz="20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السلعة) يحتفظ بالأصلية أما </a:t>
            </a:r>
            <a:r>
              <a:rPr lang="ar-DZ" sz="2000" b="1" dirty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النسخة الثانية </a:t>
            </a:r>
            <a:r>
              <a:rPr lang="ar-DZ" sz="20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يعيدها الممون مع الفاتورة ووصل </a:t>
            </a:r>
            <a:r>
              <a:rPr lang="ar-DZ" sz="2000" b="1" dirty="0" err="1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الإستلام</a:t>
            </a:r>
            <a:r>
              <a:rPr lang="ar-DZ" sz="20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 </a:t>
            </a:r>
            <a:r>
              <a:rPr lang="ar-DZ" sz="2000" b="1" dirty="0">
                <a:solidFill>
                  <a:schemeClr val="accent2"/>
                </a:solidFill>
                <a:latin typeface="Gill Sans MT"/>
              </a:rPr>
              <a:t>« </a:t>
            </a:r>
            <a:r>
              <a:rPr lang="ar-DZ" sz="2400" b="1" dirty="0">
                <a:solidFill>
                  <a:schemeClr val="accent2"/>
                </a:solidFill>
                <a:latin typeface="Gill Sans MT"/>
              </a:rPr>
              <a:t>عندها تصبح </a:t>
            </a:r>
            <a:r>
              <a:rPr lang="ar-DZ" sz="2400" b="1" dirty="0" smtClean="0">
                <a:solidFill>
                  <a:schemeClr val="accent2"/>
                </a:solidFill>
                <a:latin typeface="Gill Sans MT"/>
              </a:rPr>
              <a:t>المؤسسة ملتزمة امام المدين» </a:t>
            </a:r>
          </a:p>
          <a:p>
            <a:pPr algn="ctr">
              <a:buClr>
                <a:srgbClr val="727CA3"/>
              </a:buClr>
              <a:buNone/>
              <a:defRPr/>
            </a:pPr>
            <a:endParaRPr kumimoji="0" lang="ar-DZ" sz="2000" b="1" i="0" u="none" strike="noStrike" kern="1200" cap="none" spc="0" normalizeH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cs typeface="Arial" panose="020B0604020202020204" pitchFamily="34" charset="0"/>
            </a:endParaRPr>
          </a:p>
          <a:p>
            <a:pPr marL="0" indent="0" algn="r" rtl="1">
              <a:buClr>
                <a:srgbClr val="727CA3"/>
              </a:buClr>
              <a:buNone/>
              <a:defRPr/>
            </a:pPr>
            <a:r>
              <a:rPr kumimoji="0" lang="ar-DZ" sz="2400" b="1" i="0" u="none" strike="noStrike" kern="1200" cap="none" spc="0" normalizeH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ill Sans MT"/>
                <a:cs typeface="Arial" panose="020B0604020202020204" pitchFamily="34" charset="0"/>
              </a:rPr>
              <a:t>ـ  لا تقبل إلا </a:t>
            </a:r>
            <a:r>
              <a:rPr lang="ar-DZ" sz="24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وصلات الطلب المستخرجة من دفاتر الوصلات </a:t>
            </a:r>
          </a:p>
          <a:p>
            <a:pPr marL="0" indent="0" algn="r" rtl="1">
              <a:buClr>
                <a:srgbClr val="727CA3"/>
              </a:buClr>
              <a:buNone/>
              <a:defRPr/>
            </a:pPr>
            <a:r>
              <a:rPr lang="ar-DZ" sz="24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ــ يجب تحديد نوع السلعة و كميتها، ثمن الوحدة، الباب </a:t>
            </a:r>
            <a:r>
              <a:rPr lang="ar-DZ" sz="2400" b="1" dirty="0" err="1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والبندعند</a:t>
            </a:r>
            <a:r>
              <a:rPr lang="ar-DZ" sz="2400" b="1" dirty="0" smtClean="0">
                <a:solidFill>
                  <a:sysClr val="windowText" lastClr="000000"/>
                </a:solidFill>
                <a:latin typeface="Gill Sans MT"/>
                <a:cs typeface="Arial" panose="020B0604020202020204" pitchFamily="34" charset="0"/>
              </a:rPr>
              <a:t> تحرير وصل الطلب  </a:t>
            </a:r>
            <a:endParaRPr kumimoji="0" lang="ar-DZ" sz="24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ill Sans MT"/>
              <a:cs typeface="Arial" panose="020B0604020202020204" pitchFamily="34" charset="0"/>
            </a:endParaRPr>
          </a:p>
        </p:txBody>
      </p:sp>
      <p:cxnSp>
        <p:nvCxnSpPr>
          <p:cNvPr id="3" name="Connecteur droit avec flèche 2"/>
          <p:cNvCxnSpPr/>
          <p:nvPr/>
        </p:nvCxnSpPr>
        <p:spPr bwMode="auto">
          <a:xfrm>
            <a:off x="-2628800" y="2326568"/>
            <a:ext cx="1944216" cy="453143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 bwMode="auto">
          <a:xfrm>
            <a:off x="-2988840" y="5949280"/>
            <a:ext cx="4238356" cy="324036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 bwMode="auto">
          <a:xfrm>
            <a:off x="-4472884" y="1844824"/>
            <a:ext cx="4149200" cy="864096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020873" y="5013176"/>
            <a:ext cx="1420812" cy="326529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ملاحظة :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4.07407E-6 L 0.7125 -0.1113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625" y="-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3.7037E-6 L 0.80712 -0.4462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347" y="-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4.44444E-6 L 0.88837 0.3016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410" y="15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971600" y="-61166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292229" y="2006233"/>
            <a:ext cx="6643709" cy="30598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08467" y="1879964"/>
            <a:ext cx="6643714" cy="331236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003566" y="1425641"/>
            <a:ext cx="4773734" cy="276660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pic>
      <p:pic>
        <p:nvPicPr>
          <p:cNvPr id="2" name="Imag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34882"/>
            <a:ext cx="2774141" cy="2232248"/>
          </a:xfrm>
          <a:prstGeom prst="rect">
            <a:avLst/>
          </a:prstGeom>
        </p:spPr>
      </p:pic>
      <p:cxnSp>
        <p:nvCxnSpPr>
          <p:cNvPr id="8" name="Connecteur droit avec flèche 7"/>
          <p:cNvCxnSpPr/>
          <p:nvPr/>
        </p:nvCxnSpPr>
        <p:spPr bwMode="auto">
          <a:xfrm>
            <a:off x="1187624" y="3058356"/>
            <a:ext cx="0" cy="188281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03542" y="305164"/>
            <a:ext cx="9309648" cy="6461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1.06076 0.034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038" y="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32" y="421608"/>
            <a:ext cx="4400468" cy="6372652"/>
          </a:xfrm>
        </p:spPr>
      </p:pic>
      <p:sp>
        <p:nvSpPr>
          <p:cNvPr id="5" name="Rectangle 4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5004048" y="-35592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6287"/>
            <a:ext cx="4700141" cy="292387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r" rtl="1" eaLnBrk="1" hangingPunct="1">
              <a:defRPr/>
            </a:pPr>
            <a:r>
              <a:rPr lang="ar-DZ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يقوم الآمر بالصرف بالتدقيق التالي </a:t>
            </a:r>
            <a:r>
              <a:rPr lang="ar-DZ" sz="2400" dirty="0"/>
              <a:t>: </a:t>
            </a:r>
          </a:p>
          <a:p>
            <a:pPr algn="r" rtl="1" eaLnBrk="1" hangingPunct="1">
              <a:defRPr/>
            </a:pPr>
            <a:r>
              <a:rPr lang="ar-DZ" sz="2400" b="1" dirty="0"/>
              <a:t> 1- </a:t>
            </a:r>
            <a:r>
              <a:rPr lang="ar-DZ" b="1" dirty="0"/>
              <a:t>وصل الطلب مؤشر من طرف المحاسب المالي للتأكيد على: عدم</a:t>
            </a:r>
            <a:r>
              <a:rPr lang="ar-DZ" sz="1600" b="1" dirty="0"/>
              <a:t> وجود عائق قانوني ذا خلفية محاسبية للتسديد حسب 21/90</a:t>
            </a:r>
            <a:r>
              <a:rPr lang="ar-DZ" b="1" dirty="0"/>
              <a:t> </a:t>
            </a:r>
          </a:p>
          <a:p>
            <a:pPr algn="r" rtl="1" eaLnBrk="1" hangingPunct="1">
              <a:defRPr/>
            </a:pPr>
            <a:r>
              <a:rPr lang="ar-DZ" b="1" dirty="0"/>
              <a:t>2- كشف الاستلام : موقع من طرف المخزني للتأكيد على :  دخول المواد او تأدية الخدمة وفق ما تم طلبه</a:t>
            </a:r>
          </a:p>
          <a:p>
            <a:pPr algn="r" rtl="1" eaLnBrk="1" hangingPunct="1">
              <a:defRPr/>
            </a:pPr>
            <a:r>
              <a:rPr lang="ar-DZ" b="1" dirty="0"/>
              <a:t>3- الفاتورة : مدى مطابقتها للسلع المذكور في كشف الاستلام والمبلغ المتفق عليه</a:t>
            </a:r>
          </a:p>
          <a:p>
            <a:pPr algn="ctr" rtl="1" eaLnBrk="1" hangingPunct="1">
              <a:defRPr/>
            </a:pPr>
            <a:r>
              <a:rPr lang="ar-DZ" sz="2400" dirty="0"/>
              <a:t> </a:t>
            </a:r>
            <a:r>
              <a:rPr lang="ar-DZ" sz="1600" dirty="0">
                <a:solidFill>
                  <a:srgbClr val="FF0000"/>
                </a:solidFill>
              </a:rPr>
              <a:t>« </a:t>
            </a:r>
            <a:r>
              <a:rPr lang="ar-DZ" sz="2400" dirty="0">
                <a:solidFill>
                  <a:srgbClr val="FF0000"/>
                </a:solidFill>
              </a:rPr>
              <a:t>عندها يمكنه أن يأمر بصرف مبلغ النفقة »</a:t>
            </a:r>
            <a:endParaRPr lang="fr-FR" sz="2400" dirty="0">
              <a:solidFill>
                <a:srgbClr val="FF0000"/>
              </a:solidFill>
            </a:endParaRPr>
          </a:p>
        </p:txBody>
      </p:sp>
      <p:cxnSp>
        <p:nvCxnSpPr>
          <p:cNvPr id="3" name="Connecteur droit avec flèche 2"/>
          <p:cNvCxnSpPr/>
          <p:nvPr/>
        </p:nvCxnSpPr>
        <p:spPr bwMode="auto">
          <a:xfrm>
            <a:off x="-2254269" y="3662754"/>
            <a:ext cx="1785709" cy="990382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85766" y="3070164"/>
            <a:ext cx="4572000" cy="37240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 eaLnBrk="1" hangingPunct="1">
              <a:defRPr/>
            </a:pPr>
            <a:r>
              <a:rPr lang="ar-DZ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يقوم المحاسب العمومي بالتدقيق </a:t>
            </a:r>
            <a:r>
              <a:rPr lang="ar-DZ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التالي :</a:t>
            </a:r>
            <a:r>
              <a:rPr lang="ar-DZ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(المادة 36 من 90/21)</a:t>
            </a:r>
            <a:endParaRPr lang="ar-DZ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r" rtl="1" eaLnBrk="1" hangingPunct="1">
              <a:defRPr/>
            </a:pP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ar-DZ" sz="2000" b="1" dirty="0"/>
              <a:t>1- القوانين الخاصة بالمدفوعات قد طبقت و تم أخذها بعين الاعتبار</a:t>
            </a:r>
          </a:p>
          <a:p>
            <a:pPr algn="r" rtl="1" eaLnBrk="1" hangingPunct="1">
              <a:defRPr/>
            </a:pPr>
            <a:r>
              <a:rPr lang="ar-DZ" sz="2000" b="1" dirty="0"/>
              <a:t>-2- ان جميع الوثائق تثبت ذلك تم تقديمها</a:t>
            </a:r>
          </a:p>
          <a:p>
            <a:pPr algn="r" rtl="1" eaLnBrk="1" hangingPunct="1">
              <a:defRPr/>
            </a:pPr>
            <a:r>
              <a:rPr lang="ar-DZ" sz="2000" b="1" dirty="0"/>
              <a:t>-3- مراقبة الصحة </a:t>
            </a:r>
            <a:r>
              <a:rPr lang="ar-DZ" sz="2000" b="1" dirty="0" smtClean="0"/>
              <a:t>الما</a:t>
            </a:r>
            <a:r>
              <a:rPr lang="ar-DZ" sz="2000" b="1" dirty="0"/>
              <a:t>ل</a:t>
            </a:r>
            <a:r>
              <a:rPr lang="ar-DZ" sz="2000" b="1" dirty="0" smtClean="0"/>
              <a:t>ية </a:t>
            </a:r>
            <a:r>
              <a:rPr lang="ar-DZ" sz="2000" b="1" dirty="0"/>
              <a:t>للفواتير و كل الوثائق المرفقة مع الحوالة </a:t>
            </a:r>
          </a:p>
          <a:p>
            <a:pPr algn="r" rtl="1" eaLnBrk="1" hangingPunct="1">
              <a:defRPr/>
            </a:pPr>
            <a:r>
              <a:rPr lang="ar-DZ" sz="2000" b="1" dirty="0"/>
              <a:t>-4- السهر على مطابقة الباب والبند و الفقرة الخاصة باستلام السلع وتقديم الخدمات </a:t>
            </a:r>
          </a:p>
          <a:p>
            <a:pPr algn="r" rtl="1" eaLnBrk="1" hangingPunct="1">
              <a:defRPr/>
            </a:pPr>
            <a:r>
              <a:rPr lang="ar-DZ" sz="2000" b="1" dirty="0"/>
              <a:t>-5- الاداء الفعلي </a:t>
            </a:r>
            <a:r>
              <a:rPr lang="ar-DZ" sz="2000" b="1" dirty="0" smtClean="0"/>
              <a:t>للنفقة</a:t>
            </a:r>
          </a:p>
          <a:p>
            <a:pPr algn="r" rtl="1" eaLnBrk="1" hangingPunct="1">
              <a:defRPr/>
            </a:pPr>
            <a:r>
              <a:rPr lang="ar-DZ" sz="2000" b="1" dirty="0" smtClean="0"/>
              <a:t>6- توفر </a:t>
            </a:r>
            <a:r>
              <a:rPr lang="ar-DZ" sz="2000" b="1" dirty="0" err="1" smtClean="0"/>
              <a:t>الإعتمادات</a:t>
            </a:r>
            <a:endParaRPr lang="ar-DZ" sz="2000" b="1" dirty="0" smtClean="0">
              <a:solidFill>
                <a:srgbClr val="6600FF"/>
              </a:solidFill>
            </a:endParaRPr>
          </a:p>
          <a:p>
            <a:pPr algn="r" rtl="1" eaLnBrk="1" hangingPunct="1">
              <a:defRPr/>
            </a:pPr>
            <a:r>
              <a:rPr lang="ar-DZ" sz="2000" b="1" dirty="0" smtClean="0">
                <a:solidFill>
                  <a:srgbClr val="6600FF"/>
                </a:solidFill>
              </a:rPr>
              <a:t>                                      </a:t>
            </a:r>
            <a:endParaRPr lang="ar-DZ" sz="2000" b="1" dirty="0">
              <a:solidFill>
                <a:srgbClr val="6600FF"/>
              </a:solidFill>
            </a:endParaRPr>
          </a:p>
        </p:txBody>
      </p:sp>
      <p:cxnSp>
        <p:nvCxnSpPr>
          <p:cNvPr id="7" name="Connecteur droit avec flèche 6"/>
          <p:cNvCxnSpPr/>
          <p:nvPr/>
        </p:nvCxnSpPr>
        <p:spPr bwMode="auto">
          <a:xfrm>
            <a:off x="-2390551" y="4739903"/>
            <a:ext cx="1921991" cy="92134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3361682" y="6513704"/>
            <a:ext cx="1420812" cy="326529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4D4D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9163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ملاحظة :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5766" y="6197859"/>
            <a:ext cx="2876376" cy="642968"/>
          </a:xfrm>
          <a:prstGeom prst="flowChartAlternateProcess">
            <a:avLst/>
          </a:prstGeom>
          <a:gradFill rotWithShape="1">
            <a:gsLst>
              <a:gs pos="0">
                <a:srgbClr val="66FF66"/>
              </a:gs>
              <a:gs pos="100000">
                <a:srgbClr val="A3FFA3"/>
              </a:gs>
            </a:gsLst>
            <a:lin ang="27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66FF66"/>
            </a:extrusionClr>
            <a:contourClr>
              <a:srgbClr val="66FF6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algn="r" defTabSz="919163" rtl="1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algn="r" defTabSz="919163" rtl="1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algn="r" defTabSz="919163" rtl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r" defTabSz="919163" rt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endParaRPr lang="ar-DZ" sz="4000" b="1" dirty="0" smtClean="0">
              <a:solidFill>
                <a:srgbClr val="6600FF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ar-DZ" sz="2400" b="1" dirty="0" smtClean="0">
                <a:solidFill>
                  <a:srgbClr val="6600FF"/>
                </a:solidFill>
              </a:rPr>
              <a:t>يجب </a:t>
            </a:r>
            <a:r>
              <a:rPr lang="ar-DZ" sz="2400" b="1" dirty="0">
                <a:solidFill>
                  <a:srgbClr val="6600FF"/>
                </a:solidFill>
              </a:rPr>
              <a:t>مراعاة اجال صرف </a:t>
            </a:r>
            <a:r>
              <a:rPr lang="ar-DZ" sz="2400" b="1" dirty="0" smtClean="0">
                <a:solidFill>
                  <a:srgbClr val="6600FF"/>
                </a:solidFill>
              </a:rPr>
              <a:t>حقوق</a:t>
            </a:r>
          </a:p>
          <a:p>
            <a:pPr algn="ctr" eaLnBrk="1" hangingPunct="1">
              <a:spcBef>
                <a:spcPct val="0"/>
              </a:spcBef>
              <a:buClrTx/>
              <a:buSzTx/>
              <a:buNone/>
            </a:pPr>
            <a:r>
              <a:rPr lang="ar-DZ" sz="2400" b="1" dirty="0" smtClean="0">
                <a:solidFill>
                  <a:srgbClr val="6600FF"/>
                </a:solidFill>
              </a:rPr>
              <a:t>الممونين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sz="40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1 0.15509 L 0.70868 -0.137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5" y="-1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2 0.1551 L 0.70868 -0.1370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035" y="-1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643702" y="0"/>
            <a:ext cx="2032929" cy="461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rtl="1" eaLnBrk="1" hangingPunct="1">
              <a:buFont typeface="Arial" panose="020B0604020202020204" pitchFamily="34" charset="0"/>
              <a:buNone/>
              <a:defRPr/>
            </a:pPr>
            <a:r>
              <a:rPr lang="ar-DZ" sz="2400" b="1" dirty="0"/>
              <a:t>2/ أنشطة المقتصد</a:t>
            </a:r>
            <a:endParaRPr lang="fr-FR" sz="2400" dirty="0"/>
          </a:p>
        </p:txBody>
      </p:sp>
      <p:sp>
        <p:nvSpPr>
          <p:cNvPr id="6" name="Rectangle 5"/>
          <p:cNvSpPr/>
          <p:nvPr/>
        </p:nvSpPr>
        <p:spPr>
          <a:xfrm>
            <a:off x="6272347" y="581878"/>
            <a:ext cx="2249488" cy="4000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rtl="1" eaLnBrk="1" hangingPunct="1">
              <a:buFont typeface="Arial" panose="020B0604020202020204" pitchFamily="34" charset="0"/>
              <a:buNone/>
              <a:defRPr/>
            </a:pPr>
            <a:r>
              <a:rPr lang="ar-DZ" sz="2000" b="1" dirty="0">
                <a:solidFill>
                  <a:schemeClr val="bg1"/>
                </a:solidFill>
              </a:rPr>
              <a:t>2-1 / الأنشطة الإدارية :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8675" y="981928"/>
            <a:ext cx="7704138" cy="36988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ar-DZ" b="1" dirty="0">
                <a:solidFill>
                  <a:schemeClr val="tx1"/>
                </a:solidFill>
              </a:rPr>
              <a:t>تتمثل الأنشطة الإدارية التي يمارسها المقتصد تحت إشراف و مسؤولية مدير المؤسسة على ما يلي :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24075" y="1472028"/>
            <a:ext cx="6389688" cy="258532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اعداد مشروع ميزانية المؤسسة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تحضير القرارات المعدلة للميزانية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القيام بعمليات التحقيق و التصفية في مجال الايرادات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القيام بعمليات التحقيق </a:t>
            </a:r>
            <a:r>
              <a:rPr lang="ar-DZ" b="1" dirty="0" smtClean="0">
                <a:solidFill>
                  <a:schemeClr val="bg1"/>
                </a:solidFill>
              </a:rPr>
              <a:t>و الالتزام </a:t>
            </a:r>
            <a:r>
              <a:rPr lang="ar-DZ" b="1" dirty="0">
                <a:solidFill>
                  <a:schemeClr val="bg1"/>
                </a:solidFill>
              </a:rPr>
              <a:t>و التصفية  في مجال الصرف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ضمان التموين و متابعة الاستهلاك.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اجراء الجرد العام و الجرد الدائم.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مسك سجل المرتبات</a:t>
            </a:r>
            <a:endParaRPr lang="fr-FR" b="1" dirty="0">
              <a:solidFill>
                <a:schemeClr val="bg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>
                <a:solidFill>
                  <a:schemeClr val="bg1"/>
                </a:solidFill>
              </a:rPr>
              <a:t>إعداد الصفقات و </a:t>
            </a:r>
            <a:r>
              <a:rPr lang="ar-DZ" b="1" dirty="0" smtClean="0">
                <a:solidFill>
                  <a:schemeClr val="bg1"/>
                </a:solidFill>
              </a:rPr>
              <a:t>العقود</a:t>
            </a: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b="1" dirty="0" smtClean="0">
                <a:solidFill>
                  <a:schemeClr val="bg1"/>
                </a:solidFill>
              </a:rPr>
              <a:t>مسك الملغات المالية للموظفين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44606" y="4106632"/>
            <a:ext cx="2232025" cy="40005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rtl="1" eaLnBrk="1" hangingPunct="1">
              <a:buFont typeface="Arial" panose="020B0604020202020204" pitchFamily="34" charset="0"/>
              <a:buNone/>
              <a:defRPr/>
            </a:pPr>
            <a:r>
              <a:rPr lang="fr-FR" sz="2000" b="1" dirty="0">
                <a:solidFill>
                  <a:schemeClr val="bg1"/>
                </a:solidFill>
              </a:rPr>
              <a:t>2</a:t>
            </a:r>
            <a:r>
              <a:rPr lang="ar-DZ" sz="2000" b="1" dirty="0">
                <a:solidFill>
                  <a:schemeClr val="bg1"/>
                </a:solidFill>
              </a:rPr>
              <a:t>-2 / الأنشطة التربوية: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86063" y="4786313"/>
            <a:ext cx="5651500" cy="369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ar-DZ" b="1" dirty="0"/>
              <a:t>تتعلق النشاطات التربوية التي يمارسها المقتصد بمشاركته في يلي :</a:t>
            </a:r>
            <a:endParaRPr lang="fr-FR" dirty="0"/>
          </a:p>
        </p:txBody>
      </p:sp>
      <p:sp>
        <p:nvSpPr>
          <p:cNvPr id="13" name="Rectangle 12"/>
          <p:cNvSpPr/>
          <p:nvPr/>
        </p:nvSpPr>
        <p:spPr>
          <a:xfrm>
            <a:off x="2143125" y="4539877"/>
            <a:ext cx="6370638" cy="22463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تدعيم العلاقات المنسجمة ضمن الجماعات التربوية</a:t>
            </a:r>
            <a:endParaRPr lang="fr-FR" sz="2000" b="1" dirty="0"/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تحسين الشروط التي يجري فيها تمدرس التلاميذ</a:t>
            </a:r>
            <a:endParaRPr lang="fr-FR" sz="2000" b="1" dirty="0"/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تطوير النشاطات التربوية و الاجتماعية </a:t>
            </a:r>
            <a:endParaRPr lang="fr-FR" sz="2000" b="1" dirty="0"/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تفقد الوسط المدرسي و حمايته</a:t>
            </a:r>
            <a:endParaRPr lang="fr-FR" sz="2000" b="1" dirty="0"/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العناية بالحياة في النظامين الداخلي و النصف داخلي</a:t>
            </a:r>
            <a:endParaRPr lang="fr-FR" sz="2000" b="1" dirty="0"/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تطوير العلاقات مع أولياء التلاميذ</a:t>
            </a:r>
          </a:p>
          <a:p>
            <a:pPr marL="285750" indent="-285750" algn="r" rtl="1" eaLnBrk="1" hangingPunct="1">
              <a:buFont typeface="Wingdings" pitchFamily="2" charset="2"/>
              <a:buChar char="ü"/>
              <a:defRPr/>
            </a:pPr>
            <a:r>
              <a:rPr lang="ar-DZ" sz="2000" b="1" dirty="0"/>
              <a:t>تنظيم المصلحة الداخلية و استغلال التقارير</a:t>
            </a:r>
            <a:endParaRPr lang="fr-FR" sz="2000" b="1" dirty="0"/>
          </a:p>
        </p:txBody>
      </p:sp>
      <p:sp>
        <p:nvSpPr>
          <p:cNvPr id="14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457200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00875" y="2500313"/>
            <a:ext cx="1839913" cy="3698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-2الأنشطة التربوية:</a:t>
            </a:r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5750" y="3000375"/>
            <a:ext cx="8501063" cy="923925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يوفر الشروط المعنوية و الأخلاقية و المادية لتسيير أنشطة التلاميذ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يشجع  تطوير الأنشطة الثقافية و الرياضية والاجتماعية و التربوية و يعمل على جعلها مدرسة حقيقية لاكتساب القدرة على ممارسة المسؤولية .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46888" y="3924300"/>
            <a:ext cx="1974850" cy="4000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fr-FR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ar-DZ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-3الأنشطة الادارية:</a:t>
            </a:r>
            <a:endParaRPr lang="fr-F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43688" y="0"/>
            <a:ext cx="2178050" cy="36988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r" rtl="1" eaLnBrk="1" hangingPunct="1">
              <a:buFont typeface="Arial" panose="020B0604020202020204" pitchFamily="34" charset="0"/>
              <a:buNone/>
              <a:defRPr/>
            </a:pPr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r>
              <a:rPr lang="ar-DZ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-1 الأنشطة البيداغوجية:</a:t>
            </a:r>
            <a:endParaRPr lang="fr-FR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57188" y="428625"/>
            <a:ext cx="8501062" cy="2032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تسجيل التلاميذ الجدد وقبولهم في إطار التنظيم الجاري </a:t>
            </a:r>
            <a:r>
              <a:rPr lang="ar-DZ" b="1" dirty="0" err="1">
                <a:solidFill>
                  <a:schemeClr val="tx1"/>
                </a:solidFill>
              </a:rPr>
              <a:t>به</a:t>
            </a:r>
            <a:r>
              <a:rPr lang="ar-DZ" b="1" dirty="0">
                <a:solidFill>
                  <a:schemeClr val="tx1"/>
                </a:solidFill>
              </a:rPr>
              <a:t> العمل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ضبط خدمات الأساتذة </a:t>
            </a:r>
            <a:r>
              <a:rPr lang="ar-DZ" b="1" dirty="0" err="1">
                <a:solidFill>
                  <a:schemeClr val="tx1"/>
                </a:solidFill>
              </a:rPr>
              <a:t>و</a:t>
            </a:r>
            <a:r>
              <a:rPr lang="ar-DZ" b="1" dirty="0">
                <a:solidFill>
                  <a:schemeClr val="tx1"/>
                </a:solidFill>
              </a:rPr>
              <a:t> تنظيمها،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التنظيم العام لأنشطة التلاميذ وجداول </a:t>
            </a:r>
            <a:r>
              <a:rPr lang="ar-DZ" b="1" dirty="0" err="1">
                <a:solidFill>
                  <a:schemeClr val="tx1"/>
                </a:solidFill>
              </a:rPr>
              <a:t>و</a:t>
            </a:r>
            <a:r>
              <a:rPr lang="ar-DZ" b="1" dirty="0">
                <a:solidFill>
                  <a:schemeClr val="tx1"/>
                </a:solidFill>
              </a:rPr>
              <a:t> توقيت الأقسام.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تطبيق التعليمات الرسمية المتعلقة ببرامج التعليم في المؤسسة.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وضع الإجراءات الضرورية لتشكيل الأفواج التربوية قصد تحقيق التنسيق الأفضل والتكييف الأنسب في عمل الأساتذة.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تحضير </a:t>
            </a:r>
            <a:r>
              <a:rPr lang="ar-DZ" b="1" dirty="0" smtClean="0">
                <a:solidFill>
                  <a:schemeClr val="tx1"/>
                </a:solidFill>
              </a:rPr>
              <a:t>وعقد مجالس </a:t>
            </a:r>
            <a:r>
              <a:rPr lang="ar-DZ" b="1" dirty="0">
                <a:solidFill>
                  <a:schemeClr val="tx1"/>
                </a:solidFill>
              </a:rPr>
              <a:t>التعليم و مجالس </a:t>
            </a:r>
            <a:r>
              <a:rPr lang="ar-DZ" b="1" dirty="0" smtClean="0">
                <a:solidFill>
                  <a:schemeClr val="tx1"/>
                </a:solidFill>
              </a:rPr>
              <a:t>الأقسام</a:t>
            </a:r>
            <a:endParaRPr lang="fr-FR" b="1" dirty="0"/>
          </a:p>
        </p:txBody>
      </p:sp>
      <p:sp>
        <p:nvSpPr>
          <p:cNvPr id="11" name="Rectangle 10"/>
          <p:cNvSpPr/>
          <p:nvPr/>
        </p:nvSpPr>
        <p:spPr>
          <a:xfrm>
            <a:off x="339726" y="4356142"/>
            <a:ext cx="8501062" cy="230832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فتح و مسك الملف الشخصي الخاص بكل موظف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تنقيط و تقييم الموظفين الذين هم تحت سلطته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يسهر على احترام آجال إعداد التقارير و الجداول الدورية و إرسالها الى السلطات السلمية.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استقبال البريد الوارد و فتحه و فرزه قبل تسجيله ويحتفظ بالبريد السري.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يؤشر و يوقع على المراسلة الصادرة عن المؤسسة و يراسل مصالح الادارة عن طريق السلطة السلمية.</a:t>
            </a:r>
            <a:endParaRPr lang="fr-FR" b="1" dirty="0">
              <a:solidFill>
                <a:schemeClr val="tx1"/>
              </a:solidFill>
            </a:endParaRP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ضبط كافة الإجراءات الضرورية و التنظيمية من أجل ضمان أمن الأشخاص و التجهيزات داخل المؤسسة و السهر على إقامة التدابير اللازمة و التنظيمية </a:t>
            </a:r>
            <a:r>
              <a:rPr lang="ar-DZ" b="1" dirty="0" err="1">
                <a:solidFill>
                  <a:schemeClr val="tx1"/>
                </a:solidFill>
              </a:rPr>
              <a:t>فى</a:t>
            </a:r>
            <a:r>
              <a:rPr lang="ar-DZ" b="1" dirty="0">
                <a:solidFill>
                  <a:schemeClr val="tx1"/>
                </a:solidFill>
              </a:rPr>
              <a:t> مجال حفظ الصحة و النظافة </a:t>
            </a:r>
            <a:r>
              <a:rPr lang="ar-DZ" b="1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 algn="r" rtl="1" eaLnBrk="1" hangingPunct="1">
              <a:buFont typeface="Wingdings" pitchFamily="2" charset="2"/>
              <a:buChar char="q"/>
              <a:defRPr/>
            </a:pPr>
            <a:r>
              <a:rPr lang="ar-DZ" b="1" dirty="0">
                <a:solidFill>
                  <a:schemeClr val="tx1"/>
                </a:solidFill>
              </a:rPr>
              <a:t>تحضير وعقد </a:t>
            </a:r>
            <a:r>
              <a:rPr lang="ar-DZ" b="1" dirty="0" smtClean="0">
                <a:solidFill>
                  <a:schemeClr val="tx1"/>
                </a:solidFill>
              </a:rPr>
              <a:t>مجالس التنسيق الإداري والتوجيه والتسيير</a:t>
            </a:r>
          </a:p>
        </p:txBody>
      </p:sp>
      <p:sp>
        <p:nvSpPr>
          <p:cNvPr id="12" name="Rectangle 44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357158" y="428604"/>
            <a:ext cx="1279525" cy="428604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6"/>
          <p:cNvSpPr>
            <a:spLocks noChangeArrowheads="1"/>
          </p:cNvSpPr>
          <p:nvPr/>
        </p:nvSpPr>
        <p:spPr bwMode="auto">
          <a:xfrm>
            <a:off x="7092280" y="136945"/>
            <a:ext cx="1500796" cy="44734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B6DDE8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ar-DZ" b="1" dirty="0" smtClean="0">
                <a:latin typeface="Calibri" pitchFamily="34" charset="0"/>
                <a:ea typeface="Calibri" pitchFamily="34" charset="0"/>
                <a:cs typeface="Arial" pitchFamily="34" charset="0"/>
              </a:rPr>
              <a:t>حل الإشكالية 1</a:t>
            </a:r>
            <a:endParaRPr lang="en-US" b="1" dirty="0">
              <a:latin typeface="Calibri" pitchFamily="34" charset="0"/>
              <a:ea typeface="Calibri" pitchFamily="34" charset="0"/>
              <a:cs typeface="Arial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4826209" y="1243185"/>
            <a:ext cx="4804945" cy="2300147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يمكن للآمر بالصرف أن يطلب منه </a:t>
            </a:r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كتابيا</a:t>
            </a: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و تحت مسؤوليته أن يصرف  النظر </a:t>
            </a:r>
            <a:endParaRPr lang="ar-DZ" sz="2800" b="1" dirty="0" smtClean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عن 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هذا الرفض و هذا ما نطلق عليه </a:t>
            </a:r>
            <a:endParaRPr lang="ar-DZ" sz="2800" b="1" dirty="0" smtClean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3600" b="1" dirty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cs typeface="Arial" panose="020B0604020202020204" pitchFamily="34" charset="0"/>
              </a:rPr>
              <a:t>(</a:t>
            </a:r>
            <a:r>
              <a:rPr lang="ar-DZ" sz="3600" b="1" dirty="0" smtClean="0">
                <a:solidFill>
                  <a:schemeClr val="bg1">
                    <a:lumMod val="95000"/>
                  </a:schemeClr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التسخير)</a:t>
            </a:r>
            <a:endParaRPr lang="fr-FR" sz="3600" b="1" dirty="0">
              <a:solidFill>
                <a:schemeClr val="bg1">
                  <a:lumMod val="95000"/>
                </a:schemeClr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176291" y="3543332"/>
            <a:ext cx="4915464" cy="3314667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وبعد الامتثال للتسخير تبرأ ذمة </a:t>
            </a:r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المحاسب </a:t>
            </a: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من المسؤولية الشخصية و المالية. </a:t>
            </a: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وعليه 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إرسال تقرير مفصل  مصحوبا بنسخة </a:t>
            </a:r>
            <a:endParaRPr lang="ar-DZ" sz="2800" b="1" dirty="0" smtClean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من 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وثائق المحاسبة الى الوزير المكلف </a:t>
            </a:r>
            <a:endParaRPr lang="ar-DZ" sz="2800" b="1" dirty="0" smtClean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بالمالية خلال 15 عشر يوما حسب الشروط </a:t>
            </a: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و </a:t>
            </a:r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الكيفيات المحددة عن طريق التنظيم.</a:t>
            </a:r>
          </a:p>
        </p:txBody>
      </p:sp>
      <p:sp>
        <p:nvSpPr>
          <p:cNvPr id="8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357166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sp>
        <p:nvSpPr>
          <p:cNvPr id="9" name="AutoShape 40"/>
          <p:cNvSpPr>
            <a:spLocks noChangeArrowheads="1"/>
          </p:cNvSpPr>
          <p:nvPr/>
        </p:nvSpPr>
        <p:spPr bwMode="auto">
          <a:xfrm>
            <a:off x="1148920" y="642138"/>
            <a:ext cx="1971675" cy="503237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9163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ar-DZ" sz="2800" b="1">
                <a:solidFill>
                  <a:srgbClr val="FFFF00"/>
                </a:solidFill>
              </a:rPr>
              <a:t>الآمر بالصرف</a:t>
            </a:r>
            <a:endParaRPr lang="en-US" sz="2800" b="1">
              <a:solidFill>
                <a:srgbClr val="FFFF00"/>
              </a:solidFill>
            </a:endParaRPr>
          </a:p>
        </p:txBody>
      </p:sp>
      <p:sp>
        <p:nvSpPr>
          <p:cNvPr id="10" name="AutoShape 47"/>
          <p:cNvSpPr>
            <a:spLocks noChangeArrowheads="1"/>
          </p:cNvSpPr>
          <p:nvPr/>
        </p:nvSpPr>
        <p:spPr bwMode="auto">
          <a:xfrm>
            <a:off x="1279525" y="1432961"/>
            <a:ext cx="1060228" cy="976312"/>
          </a:xfrm>
          <a:prstGeom prst="downArrow">
            <a:avLst>
              <a:gd name="adj1" fmla="val 50000"/>
              <a:gd name="adj2" fmla="val 25000"/>
            </a:avLst>
          </a:prstGeom>
          <a:blipFill>
            <a:blip r:embed="rId4"/>
            <a:tile tx="0" ty="0" sx="100000" sy="100000" flip="none" algn="tl"/>
          </a:blip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accent1"/>
            </a:extrusionClr>
            <a:contourClr>
              <a:schemeClr val="accent1"/>
            </a:contourClr>
          </a:sp3d>
          <a:extLst/>
        </p:spPr>
        <p:txBody>
          <a:bodyPr wrap="none" anchor="ctr">
            <a:flatTx/>
          </a:bodyPr>
          <a:lstStyle/>
          <a:p>
            <a:pPr algn="ctr">
              <a:defRPr/>
            </a:pPr>
            <a:r>
              <a:rPr lang="ar-DZ" sz="2400" b="1" dirty="0" smtClean="0">
                <a:solidFill>
                  <a:srgbClr val="FF0000"/>
                </a:solidFill>
              </a:rPr>
              <a:t>الأمر</a:t>
            </a:r>
            <a:endParaRPr lang="ar-DZ" sz="2400" b="1" dirty="0">
              <a:solidFill>
                <a:srgbClr val="FF0000"/>
              </a:solidFill>
            </a:endParaRPr>
          </a:p>
          <a:p>
            <a:pPr algn="ctr">
              <a:defRPr/>
            </a:pPr>
            <a:r>
              <a:rPr lang="ar-DZ" sz="2400" b="1" dirty="0">
                <a:solidFill>
                  <a:srgbClr val="FF0000"/>
                </a:solidFill>
              </a:rPr>
              <a:t>كتابيا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11" name="AutoShape 32"/>
          <p:cNvSpPr>
            <a:spLocks noChangeArrowheads="1"/>
          </p:cNvSpPr>
          <p:nvPr/>
        </p:nvSpPr>
        <p:spPr bwMode="auto">
          <a:xfrm>
            <a:off x="1221041" y="2608140"/>
            <a:ext cx="1800225" cy="503237"/>
          </a:xfrm>
          <a:prstGeom prst="flowChartAlternateProcess">
            <a:avLst/>
          </a:prstGeom>
          <a:gradFill rotWithShape="1">
            <a:gsLst>
              <a:gs pos="0">
                <a:srgbClr val="FF9933"/>
              </a:gs>
              <a:gs pos="100000">
                <a:srgbClr val="FFB56A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  <a:contourClr>
              <a:srgbClr val="FF9933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defTabSz="919163">
              <a:spcBef>
                <a:spcPct val="20000"/>
              </a:spcBef>
              <a:buClr>
                <a:schemeClr val="hlink"/>
              </a:buClr>
              <a:buSzPct val="120000"/>
              <a:buChar char="•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defTabSz="919163">
              <a:spcBef>
                <a:spcPct val="20000"/>
              </a:spcBef>
              <a:buFont typeface="Tahoma" panose="020B0604030504040204" pitchFamily="34" charset="0"/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defTabSz="919163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ar-DZ" sz="2800" b="1">
                <a:solidFill>
                  <a:srgbClr val="000000"/>
                </a:solidFill>
              </a:rPr>
              <a:t>التسخير</a:t>
            </a:r>
            <a:endParaRPr lang="en-US" sz="2800" b="1">
              <a:solidFill>
                <a:srgbClr val="000000"/>
              </a:solidFill>
            </a:endParaRPr>
          </a:p>
        </p:txBody>
      </p:sp>
      <p:sp>
        <p:nvSpPr>
          <p:cNvPr id="12" name="AutoShape 36"/>
          <p:cNvSpPr>
            <a:spLocks noChangeArrowheads="1"/>
          </p:cNvSpPr>
          <p:nvPr/>
        </p:nvSpPr>
        <p:spPr bwMode="auto">
          <a:xfrm>
            <a:off x="1279525" y="3368800"/>
            <a:ext cx="1800225" cy="503238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الامتثال</a:t>
            </a:r>
            <a:endParaRPr lang="en-US" sz="2800" b="1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37"/>
          <p:cNvSpPr>
            <a:spLocks noChangeArrowheads="1"/>
          </p:cNvSpPr>
          <p:nvPr/>
        </p:nvSpPr>
        <p:spPr bwMode="auto">
          <a:xfrm rot="16200000">
            <a:off x="1235646" y="4956653"/>
            <a:ext cx="1378539" cy="720725"/>
          </a:xfrm>
          <a:prstGeom prst="leftArrow">
            <a:avLst>
              <a:gd name="adj1" fmla="val 50000"/>
              <a:gd name="adj2" fmla="val 53855"/>
            </a:avLst>
          </a:prstGeom>
          <a:gradFill rotWithShape="1">
            <a:gsLst>
              <a:gs pos="0">
                <a:srgbClr val="33CCCC"/>
              </a:gs>
              <a:gs pos="100000">
                <a:srgbClr val="33CCCC">
                  <a:gamma/>
                  <a:tint val="57255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33CCCC"/>
            </a:extrusionClr>
            <a:contourClr>
              <a:srgbClr val="33CC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rPr>
              <a:t>تقرير</a:t>
            </a:r>
            <a:endParaRPr kumimoji="0" lang="fr-FR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15" name="AutoShape 39"/>
          <p:cNvSpPr>
            <a:spLocks noChangeArrowheads="1"/>
          </p:cNvSpPr>
          <p:nvPr/>
        </p:nvSpPr>
        <p:spPr bwMode="auto">
          <a:xfrm>
            <a:off x="2267744" y="6065838"/>
            <a:ext cx="1667238" cy="792162"/>
          </a:xfrm>
          <a:prstGeom prst="flowChartAlternateProcess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9163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وزير المالية</a:t>
            </a:r>
            <a:endParaRPr kumimoji="0" lang="en-US" sz="28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39"/>
          <p:cNvSpPr>
            <a:spLocks noChangeArrowheads="1"/>
          </p:cNvSpPr>
          <p:nvPr/>
        </p:nvSpPr>
        <p:spPr bwMode="auto">
          <a:xfrm>
            <a:off x="187273" y="6010047"/>
            <a:ext cx="1504408" cy="792162"/>
          </a:xfrm>
          <a:prstGeom prst="flowChartAlternateProcess">
            <a:avLst/>
          </a:prstGeom>
          <a:gradFill rotWithShape="1">
            <a:gsLst>
              <a:gs pos="0">
                <a:srgbClr val="FFFFFF"/>
              </a:gs>
              <a:gs pos="100000">
                <a:srgbClr val="FFFFFF">
                  <a:gamma/>
                  <a:tint val="0"/>
                  <a:invGamma/>
                </a:srgbClr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FFFF"/>
            </a:extrusionClr>
            <a:contourClr>
              <a:srgbClr val="FFFFFF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>
            <a:lvl1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defTabSz="91916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defTabSz="9191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9163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DZ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cs typeface="Arial" panose="020B0604020202020204" pitchFamily="34" charset="0"/>
              </a:rPr>
              <a:t>الوصاية</a:t>
            </a:r>
            <a:endParaRPr kumimoji="0" lang="en-US" sz="28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-5377366" y="1143149"/>
            <a:ext cx="5196838" cy="5509200"/>
          </a:xfrm>
          <a:prstGeom prst="rect">
            <a:avLst/>
          </a:prstGeom>
          <a:solidFill>
            <a:srgbClr val="D2DA7A">
              <a:lumMod val="40000"/>
              <a:lumOff val="60000"/>
            </a:srgbClr>
          </a:solidFill>
          <a:ln w="19050" cap="flat" cmpd="sng" algn="ctr">
            <a:solidFill>
              <a:sysClr val="windowText" lastClr="000000"/>
            </a:solidFill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/>
        </p:spPr>
        <p:txBody>
          <a:bodyPr wrap="square" anchor="ctr">
            <a:spAutoFit/>
          </a:bodyPr>
          <a:lstStyle/>
          <a:p>
            <a:pPr marR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ar-DZ" sz="3200" b="1" dirty="0" smtClean="0"/>
              <a:t>م  47 و48 من القانون </a:t>
            </a:r>
            <a:r>
              <a:rPr lang="ar-DZ" sz="3200" b="1" dirty="0"/>
              <a:t>:</a:t>
            </a:r>
            <a:r>
              <a:rPr lang="ar-DZ" sz="3200" b="1" dirty="0" smtClean="0"/>
              <a:t> 90/21 يحق </a:t>
            </a:r>
            <a:r>
              <a:rPr lang="ar-DZ" sz="3200" b="1" dirty="0"/>
              <a:t>للمحاسب رفض التسخير اذا كان الرفض معللا بما يلي:</a:t>
            </a:r>
          </a:p>
          <a:p>
            <a:pPr marL="285750" indent="-285750" algn="r" rtl="1">
              <a:buFont typeface="Wingdings" pitchFamily="2" charset="2"/>
              <a:buChar char="v"/>
            </a:pPr>
            <a:r>
              <a:rPr lang="ar-DZ" sz="3200" b="1" dirty="0">
                <a:solidFill>
                  <a:srgbClr val="002060"/>
                </a:solidFill>
              </a:rPr>
              <a:t>عدم توفر الاعتمادات المالية </a:t>
            </a:r>
            <a:endParaRPr lang="ar-DZ" sz="3200" b="1" dirty="0" smtClean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r>
              <a:rPr lang="ar-DZ" sz="3200" b="1" dirty="0" smtClean="0">
                <a:solidFill>
                  <a:srgbClr val="002060"/>
                </a:solidFill>
              </a:rPr>
              <a:t>عدم </a:t>
            </a:r>
            <a:r>
              <a:rPr lang="ar-DZ" sz="3200" b="1" dirty="0">
                <a:solidFill>
                  <a:srgbClr val="002060"/>
                </a:solidFill>
              </a:rPr>
              <a:t>توفر أموال </a:t>
            </a:r>
            <a:r>
              <a:rPr lang="ar-DZ" sz="3200" b="1" dirty="0" smtClean="0">
                <a:solidFill>
                  <a:srgbClr val="002060"/>
                </a:solidFill>
              </a:rPr>
              <a:t>بالخزينة</a:t>
            </a:r>
            <a:endParaRPr lang="fr-FR" sz="3200" b="1" dirty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r>
              <a:rPr lang="ar-DZ" sz="3200" b="1" dirty="0">
                <a:solidFill>
                  <a:srgbClr val="002060"/>
                </a:solidFill>
              </a:rPr>
              <a:t>انعدام إثبات أداء الخدمة</a:t>
            </a:r>
            <a:endParaRPr lang="fr-FR" sz="3200" b="1" dirty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r>
              <a:rPr lang="ar-DZ" sz="3200" b="1" dirty="0">
                <a:solidFill>
                  <a:srgbClr val="002060"/>
                </a:solidFill>
              </a:rPr>
              <a:t>طابع النفقة غير </a:t>
            </a:r>
            <a:r>
              <a:rPr lang="ar-DZ" sz="3200" b="1" dirty="0" err="1">
                <a:solidFill>
                  <a:srgbClr val="002060"/>
                </a:solidFill>
              </a:rPr>
              <a:t>الإبرائي</a:t>
            </a:r>
            <a:r>
              <a:rPr lang="ar-DZ" sz="3200" b="1" dirty="0" smtClean="0">
                <a:solidFill>
                  <a:srgbClr val="002060"/>
                </a:solidFill>
              </a:rPr>
              <a:t>.</a:t>
            </a:r>
          </a:p>
          <a:p>
            <a:pPr marL="285750" indent="-285750" algn="r" rtl="1">
              <a:buFont typeface="Wingdings" pitchFamily="2" charset="2"/>
              <a:buChar char="v"/>
            </a:pPr>
            <a:endParaRPr lang="ar-DZ" sz="3200" b="1" dirty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endParaRPr lang="ar-DZ" sz="3200" b="1" dirty="0" smtClean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endParaRPr lang="ar-DZ" sz="3200" b="1" dirty="0" smtClean="0">
              <a:solidFill>
                <a:srgbClr val="002060"/>
              </a:solidFill>
            </a:endParaRPr>
          </a:p>
          <a:p>
            <a:pPr marL="285750" indent="-285750" algn="r" rtl="1">
              <a:buFont typeface="Wingdings" pitchFamily="2" charset="2"/>
              <a:buChar char="v"/>
            </a:pPr>
            <a:endParaRPr lang="ar-DZ" sz="3200" b="1" dirty="0">
              <a:solidFill>
                <a:srgbClr val="002060"/>
              </a:solidFill>
            </a:endParaRPr>
          </a:p>
        </p:txBody>
      </p:sp>
      <p:sp>
        <p:nvSpPr>
          <p:cNvPr id="18" name="AutoShape 9"/>
          <p:cNvSpPr>
            <a:spLocks noChangeArrowheads="1"/>
          </p:cNvSpPr>
          <p:nvPr/>
        </p:nvSpPr>
        <p:spPr bwMode="auto">
          <a:xfrm>
            <a:off x="4293210" y="745152"/>
            <a:ext cx="4789123" cy="1455226"/>
          </a:xfrm>
          <a:prstGeom prst="flowChartAlternateProcess">
            <a:avLst/>
          </a:prstGeom>
          <a:gradFill rotWithShape="1">
            <a:gsLst>
              <a:gs pos="0">
                <a:srgbClr val="FF0000"/>
              </a:gs>
              <a:gs pos="100000">
                <a:srgbClr val="FF5555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0000"/>
            </a:extrusionClr>
            <a:contourClr>
              <a:srgbClr val="FF0000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endParaRPr lang="ar-DZ" sz="2800" b="1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دراسة تبرير رفض المحاسب العمومي </a:t>
            </a:r>
          </a:p>
          <a:p>
            <a:pPr algn="ctr" defTabSz="919163" rtl="1" eaLnBrk="1" hangingPunct="1"/>
            <a:r>
              <a:rPr lang="ar-DZ" sz="2800" b="1" dirty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  وتحل الإشكالية في إطارها القانوني </a:t>
            </a:r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داخل </a:t>
            </a:r>
          </a:p>
          <a:p>
            <a:pPr algn="ctr" defTabSz="919163" rtl="1" eaLnBrk="1" hangingPunct="1"/>
            <a:r>
              <a:rPr lang="ar-DZ" sz="2800" b="1" dirty="0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   المؤسسة التربوية وإذا </a:t>
            </a:r>
            <a:r>
              <a:rPr lang="ar-DZ" sz="2800" b="1" dirty="0" err="1" smtClean="0">
                <a:solidFill>
                  <a:srgbClr val="FFFF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تعذرذلك</a:t>
            </a:r>
            <a:endParaRPr lang="ar-DZ" sz="2800" b="1" dirty="0" smtClean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  <a:p>
            <a:pPr algn="ctr" defTabSz="919163" rtl="1" eaLnBrk="1" hangingPunct="1"/>
            <a:endParaRPr lang="en-US" sz="2800" b="1" dirty="0">
              <a:solidFill>
                <a:srgbClr val="FFFF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9" name="AutoShape 36"/>
          <p:cNvSpPr>
            <a:spLocks noChangeArrowheads="1"/>
          </p:cNvSpPr>
          <p:nvPr/>
        </p:nvSpPr>
        <p:spPr bwMode="auto">
          <a:xfrm>
            <a:off x="1301138" y="4028494"/>
            <a:ext cx="1800225" cy="503238"/>
          </a:xfrm>
          <a:prstGeom prst="flowChartAlternateProcess">
            <a:avLst/>
          </a:prstGeom>
          <a:gradFill rotWithShape="1">
            <a:gsLst>
              <a:gs pos="0">
                <a:srgbClr val="FF9933"/>
              </a:gs>
              <a:gs pos="100000">
                <a:srgbClr val="FFB56A"/>
              </a:gs>
            </a:gsLst>
            <a:lin ang="5400000" scaled="1"/>
          </a:gradFill>
          <a:ln w="9525">
            <a:miter lim="800000"/>
            <a:headEnd/>
            <a:tailEnd/>
          </a:ln>
          <a:effectLst/>
          <a:scene3d>
            <a:camera prst="legacyObliqueTopLeft"/>
            <a:lightRig rig="legacyFlat3" dir="t"/>
          </a:scene3d>
          <a:sp3d extrusionH="430200" prstMaterial="legacyMatte">
            <a:bevelT w="13500" h="13500" prst="angle"/>
            <a:bevelB w="13500" h="13500" prst="angle"/>
            <a:extrusionClr>
              <a:srgbClr val="FF9933"/>
            </a:extrusionClr>
            <a:contourClr>
              <a:srgbClr val="FF9933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959" tIns="45979" rIns="91959" bIns="45979" anchor="ctr">
            <a:flatTx/>
          </a:bodyPr>
          <a:lstStyle/>
          <a:p>
            <a:pPr algn="ctr" defTabSz="919163" rtl="1" eaLnBrk="1" hangingPunct="1"/>
            <a:r>
              <a:rPr lang="ar-DZ" sz="2800" b="1" dirty="0">
                <a:solidFill>
                  <a:srgbClr val="000000"/>
                </a:solidFill>
                <a:latin typeface="Tahoma" panose="020B0604030504040204" pitchFamily="34" charset="0"/>
                <a:cs typeface="Arial" panose="020B0604020202020204" pitchFamily="34" charset="0"/>
              </a:rPr>
              <a:t>تبرأ ذمته</a:t>
            </a:r>
            <a:endParaRPr lang="fr-FR" sz="2800" b="1" dirty="0">
              <a:solidFill>
                <a:srgbClr val="000000"/>
              </a:solidFill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9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57986 -0.0055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9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98542 -0.0280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271" y="-141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96296E-6 L 1.00851 -0.0013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41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8" grpId="1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4500563" y="1485900"/>
            <a:ext cx="4176712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6000" b="1" i="1">
                <a:solidFill>
                  <a:schemeClr val="folHlink"/>
                </a:solidFill>
                <a:ea typeface="Microsoft YaHei" panose="020B0503020204020204" pitchFamily="34" charset="-122"/>
              </a:rPr>
              <a:t>Thank You</a:t>
            </a:r>
          </a:p>
        </p:txBody>
      </p:sp>
      <p:sp>
        <p:nvSpPr>
          <p:cNvPr id="22533" name="TextBox 6"/>
          <p:cNvSpPr>
            <a:spLocks noChangeArrowheads="1"/>
          </p:cNvSpPr>
          <p:nvPr/>
        </p:nvSpPr>
        <p:spPr bwMode="auto">
          <a:xfrm>
            <a:off x="755650" y="5157788"/>
            <a:ext cx="269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800">
                <a:solidFill>
                  <a:schemeClr val="bg1"/>
                </a:solidFill>
                <a:latin typeface="Mistral" panose="03090702030407020403" pitchFamily="66" charset="0"/>
                <a:sym typeface="Mistral" panose="03090702030407020403" pitchFamily="66" charset="0"/>
              </a:rPr>
              <a:t>Make Presentation much more fun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6229350" y="6238875"/>
            <a:ext cx="2732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zh-CN" sz="1800" b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http://www.ksosoft.com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480644" y="1377085"/>
            <a:ext cx="6500836" cy="4460998"/>
          </a:xfrm>
          <a:prstGeom prst="rect">
            <a:avLst/>
          </a:prstGeom>
        </p:spPr>
      </p:pic>
      <p:sp>
        <p:nvSpPr>
          <p:cNvPr id="8" name="Rectangle 4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0" y="0"/>
            <a:ext cx="1279525" cy="357166"/>
          </a:xfrm>
          <a:prstGeom prst="rect">
            <a:avLst/>
          </a:prstGeom>
          <a:solidFill>
            <a:srgbClr val="9BBB59"/>
          </a:solidFill>
          <a:ln w="38100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 eaLnBrk="1" hangingPunct="1">
              <a:defRPr/>
            </a:pPr>
            <a:r>
              <a:rPr lang="ar-DZ" sz="2000" b="1" dirty="0">
                <a:ea typeface="Calibri" pitchFamily="34" charset="0"/>
                <a:cs typeface="Arabic Transparent" pitchFamily="2" charset="-78"/>
              </a:rPr>
              <a:t>العودة</a:t>
            </a:r>
            <a:endParaRPr lang="en-US" dirty="0"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1248107" y="1424748"/>
            <a:ext cx="6816250" cy="46810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 3">
      <a:dk1>
        <a:srgbClr val="000000"/>
      </a:dk1>
      <a:lt1>
        <a:srgbClr val="FFFFFF"/>
      </a:lt1>
      <a:dk2>
        <a:srgbClr val="FF9933"/>
      </a:dk2>
      <a:lt2>
        <a:srgbClr val="DCDCDC"/>
      </a:lt2>
      <a:accent1>
        <a:srgbClr val="0066CC"/>
      </a:accent1>
      <a:accent2>
        <a:srgbClr val="003366"/>
      </a:accent2>
      <a:accent3>
        <a:srgbClr val="FFFFFF"/>
      </a:accent3>
      <a:accent4>
        <a:srgbClr val="000000"/>
      </a:accent4>
      <a:accent5>
        <a:srgbClr val="AAB8E2"/>
      </a:accent5>
      <a:accent6>
        <a:srgbClr val="002D5C"/>
      </a:accent6>
      <a:hlink>
        <a:srgbClr val="0099FF"/>
      </a:hlink>
      <a:folHlink>
        <a:srgbClr val="0066FF"/>
      </a:folHlink>
    </a:clrScheme>
    <a:fontScheme name="Office 主题">
      <a:majorFont>
        <a:latin typeface="Calibri"/>
        <a:ea typeface="SimHei"/>
        <a:cs typeface=""/>
      </a:majorFont>
      <a:minorFont>
        <a:latin typeface="Calibri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E73B05"/>
        </a:dk2>
        <a:lt2>
          <a:srgbClr val="DCDCDC"/>
        </a:lt2>
        <a:accent1>
          <a:srgbClr val="B40000"/>
        </a:accent1>
        <a:accent2>
          <a:srgbClr val="1A63BC"/>
        </a:accent2>
        <a:accent3>
          <a:srgbClr val="FFFFFF"/>
        </a:accent3>
        <a:accent4>
          <a:srgbClr val="000000"/>
        </a:accent4>
        <a:accent5>
          <a:srgbClr val="D6AAAA"/>
        </a:accent5>
        <a:accent6>
          <a:srgbClr val="1659AA"/>
        </a:accent6>
        <a:hlink>
          <a:srgbClr val="47721C"/>
        </a:hlink>
        <a:folHlink>
          <a:srgbClr val="E283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E8AC04"/>
        </a:dk2>
        <a:lt2>
          <a:srgbClr val="DCDCDC"/>
        </a:lt2>
        <a:accent1>
          <a:srgbClr val="053275"/>
        </a:accent1>
        <a:accent2>
          <a:srgbClr val="1759A9"/>
        </a:accent2>
        <a:accent3>
          <a:srgbClr val="FFFFFF"/>
        </a:accent3>
        <a:accent4>
          <a:srgbClr val="000000"/>
        </a:accent4>
        <a:accent5>
          <a:srgbClr val="AAADBD"/>
        </a:accent5>
        <a:accent6>
          <a:srgbClr val="145099"/>
        </a:accent6>
        <a:hlink>
          <a:srgbClr val="0077DA"/>
        </a:hlink>
        <a:folHlink>
          <a:srgbClr val="53A9F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FF9933"/>
        </a:dk2>
        <a:lt2>
          <a:srgbClr val="DCDCDC"/>
        </a:lt2>
        <a:accent1>
          <a:srgbClr val="0066CC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002D5C"/>
        </a:accent6>
        <a:hlink>
          <a:srgbClr val="0099FF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1_Office 主题 3">
      <a:dk1>
        <a:srgbClr val="000000"/>
      </a:dk1>
      <a:lt1>
        <a:srgbClr val="FFFFFF"/>
      </a:lt1>
      <a:dk2>
        <a:srgbClr val="FF9933"/>
      </a:dk2>
      <a:lt2>
        <a:srgbClr val="DCDCDC"/>
      </a:lt2>
      <a:accent1>
        <a:srgbClr val="0066CC"/>
      </a:accent1>
      <a:accent2>
        <a:srgbClr val="003366"/>
      </a:accent2>
      <a:accent3>
        <a:srgbClr val="FFFFFF"/>
      </a:accent3>
      <a:accent4>
        <a:srgbClr val="000000"/>
      </a:accent4>
      <a:accent5>
        <a:srgbClr val="AAB8E2"/>
      </a:accent5>
      <a:accent6>
        <a:srgbClr val="002D5C"/>
      </a:accent6>
      <a:hlink>
        <a:srgbClr val="0099FF"/>
      </a:hlink>
      <a:folHlink>
        <a:srgbClr val="0066FF"/>
      </a:folHlink>
    </a:clrScheme>
    <a:fontScheme name="1_Office 主题">
      <a:majorFont>
        <a:latin typeface="Calibri"/>
        <a:ea typeface="SimHei"/>
        <a:cs typeface=""/>
      </a:majorFont>
      <a:minorFont>
        <a:latin typeface="Calibri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E73B05"/>
        </a:dk2>
        <a:lt2>
          <a:srgbClr val="DCDCDC"/>
        </a:lt2>
        <a:accent1>
          <a:srgbClr val="B40000"/>
        </a:accent1>
        <a:accent2>
          <a:srgbClr val="1A63BC"/>
        </a:accent2>
        <a:accent3>
          <a:srgbClr val="FFFFFF"/>
        </a:accent3>
        <a:accent4>
          <a:srgbClr val="000000"/>
        </a:accent4>
        <a:accent5>
          <a:srgbClr val="D6AAAA"/>
        </a:accent5>
        <a:accent6>
          <a:srgbClr val="1659AA"/>
        </a:accent6>
        <a:hlink>
          <a:srgbClr val="47721C"/>
        </a:hlink>
        <a:folHlink>
          <a:srgbClr val="E2830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2">
        <a:dk1>
          <a:srgbClr val="000000"/>
        </a:dk1>
        <a:lt1>
          <a:srgbClr val="FFFFFF"/>
        </a:lt1>
        <a:dk2>
          <a:srgbClr val="E8AC04"/>
        </a:dk2>
        <a:lt2>
          <a:srgbClr val="DCDCDC"/>
        </a:lt2>
        <a:accent1>
          <a:srgbClr val="053275"/>
        </a:accent1>
        <a:accent2>
          <a:srgbClr val="1759A9"/>
        </a:accent2>
        <a:accent3>
          <a:srgbClr val="FFFFFF"/>
        </a:accent3>
        <a:accent4>
          <a:srgbClr val="000000"/>
        </a:accent4>
        <a:accent5>
          <a:srgbClr val="AAADBD"/>
        </a:accent5>
        <a:accent6>
          <a:srgbClr val="145099"/>
        </a:accent6>
        <a:hlink>
          <a:srgbClr val="0077DA"/>
        </a:hlink>
        <a:folHlink>
          <a:srgbClr val="53A9F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ffice 主题 3">
        <a:dk1>
          <a:srgbClr val="000000"/>
        </a:dk1>
        <a:lt1>
          <a:srgbClr val="FFFFFF"/>
        </a:lt1>
        <a:dk2>
          <a:srgbClr val="FF9933"/>
        </a:dk2>
        <a:lt2>
          <a:srgbClr val="DCDCDC"/>
        </a:lt2>
        <a:accent1>
          <a:srgbClr val="0066CC"/>
        </a:accent1>
        <a:accent2>
          <a:srgbClr val="003366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002D5C"/>
        </a:accent6>
        <a:hlink>
          <a:srgbClr val="0099FF"/>
        </a:hlink>
        <a:folHlink>
          <a:srgbClr val="0066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2360</TotalTime>
  <Pages>0</Pages>
  <Words>1765</Words>
  <Characters>0</Characters>
  <Application>Microsoft Office PowerPoint</Application>
  <DocSecurity>0</DocSecurity>
  <PresentationFormat>Affichage à l'écran (4:3)</PresentationFormat>
  <Lines>0</Lines>
  <Paragraphs>298</Paragraphs>
  <Slides>20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19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20</vt:i4>
      </vt:variant>
    </vt:vector>
  </HeadingPairs>
  <TitlesOfParts>
    <vt:vector size="42" baseType="lpstr">
      <vt:lpstr>Arial Unicode MS</vt:lpstr>
      <vt:lpstr>Microsoft YaHei</vt:lpstr>
      <vt:lpstr>宋体</vt:lpstr>
      <vt:lpstr>Algerian</vt:lpstr>
      <vt:lpstr>antre</vt:lpstr>
      <vt:lpstr>Arabic Transparent</vt:lpstr>
      <vt:lpstr>Arial</vt:lpstr>
      <vt:lpstr>Calibri</vt:lpstr>
      <vt:lpstr>Franklin Gothic Book</vt:lpstr>
      <vt:lpstr>Gill Sans MT</vt:lpstr>
      <vt:lpstr>Kabir14 Bold</vt:lpstr>
      <vt:lpstr>Mistral</vt:lpstr>
      <vt:lpstr>Sakkal Majalla</vt:lpstr>
      <vt:lpstr>SimHei</vt:lpstr>
      <vt:lpstr>Sultan Medium</vt:lpstr>
      <vt:lpstr>Tahoma</vt:lpstr>
      <vt:lpstr>Wingdings</vt:lpstr>
      <vt:lpstr>Wingdings 3</vt:lpstr>
      <vt:lpstr>الشهيد محمد الدره</vt:lpstr>
      <vt:lpstr>Office 主题</vt:lpstr>
      <vt:lpstr>1_Office 主题</vt:lpstr>
      <vt:lpstr>默认设计模板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الأعوان المكلفون بتنفيذ الميزانية</vt:lpstr>
      <vt:lpstr>الأعوان المكلفون بتنفيذ الميزانية</vt:lpstr>
      <vt:lpstr>الطاولـــــــــــــــــة المشتركة</vt:lpstr>
      <vt:lpstr>الباب 27 البند 272 تسديد فاتورة القيم  </vt:lpstr>
      <vt:lpstr>الإشكاليات المسجلة خلال التسيير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www.ruideppt.net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صلاحيات الآمر بالصرف والمحاسب العمومي</dc:title>
  <dc:creator>زغيشي يوسف</dc:creator>
  <cp:lastModifiedBy>lycee lamir salhi ar</cp:lastModifiedBy>
  <cp:revision>571</cp:revision>
  <dcterms:created xsi:type="dcterms:W3CDTF">2013-09-29T03:46:21Z</dcterms:created>
  <dcterms:modified xsi:type="dcterms:W3CDTF">2017-01-18T06:13:05Z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1033-9.1.0.4056</vt:lpwstr>
  </property>
</Properties>
</file>