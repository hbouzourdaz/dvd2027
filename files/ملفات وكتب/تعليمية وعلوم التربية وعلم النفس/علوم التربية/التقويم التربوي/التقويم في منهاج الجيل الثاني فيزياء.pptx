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9"/>
  </p:notesMasterIdLst>
  <p:sldIdLst>
    <p:sldId id="281" r:id="rId2"/>
    <p:sldId id="256" r:id="rId3"/>
    <p:sldId id="260" r:id="rId4"/>
    <p:sldId id="257" r:id="rId5"/>
    <p:sldId id="269" r:id="rId6"/>
    <p:sldId id="282" r:id="rId7"/>
    <p:sldId id="261" r:id="rId8"/>
    <p:sldId id="283" r:id="rId9"/>
    <p:sldId id="259" r:id="rId10"/>
    <p:sldId id="263" r:id="rId11"/>
    <p:sldId id="264" r:id="rId12"/>
    <p:sldId id="265" r:id="rId13"/>
    <p:sldId id="266" r:id="rId14"/>
    <p:sldId id="280" r:id="rId15"/>
    <p:sldId id="278" r:id="rId16"/>
    <p:sldId id="271" r:id="rId17"/>
    <p:sldId id="272" r:id="rId18"/>
    <p:sldId id="273" r:id="rId19"/>
    <p:sldId id="274" r:id="rId20"/>
    <p:sldId id="275" r:id="rId21"/>
    <p:sldId id="276" r:id="rId22"/>
    <p:sldId id="290" r:id="rId23"/>
    <p:sldId id="286" r:id="rId24"/>
    <p:sldId id="287" r:id="rId25"/>
    <p:sldId id="288" r:id="rId26"/>
    <p:sldId id="289" r:id="rId27"/>
    <p:sldId id="284" r:id="rId2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022"/>
    <a:srgbClr val="AE987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88454" autoAdjust="0"/>
  </p:normalViewPr>
  <p:slideViewPr>
    <p:cSldViewPr>
      <p:cViewPr>
        <p:scale>
          <a:sx n="60" d="100"/>
          <a:sy n="60" d="100"/>
        </p:scale>
        <p:origin x="-3084" y="-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985C8FB-A633-4EB3-9E16-6E2EB4DA5713}" type="datetimeFigureOut">
              <a:rPr lang="ar-DZ" smtClean="0"/>
              <a:pPr/>
              <a:t>27-06-1437</a:t>
            </a:fld>
            <a:endParaRPr lang="ar-DZ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DZ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DZ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884825-00FB-42D0-B3C5-C031EFAC0D8E}" type="slidenum">
              <a:rPr lang="ar-DZ" smtClean="0"/>
              <a:pPr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1735473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DZ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84825-00FB-42D0-B3C5-C031EFAC0D8E}" type="slidenum">
              <a:rPr lang="ar-DZ" smtClean="0"/>
              <a:pPr/>
              <a:t>5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1268589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DZ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84825-00FB-42D0-B3C5-C031EFAC0D8E}" type="slidenum">
              <a:rPr lang="ar-DZ" smtClean="0"/>
              <a:pPr/>
              <a:t>6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2095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DZ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84825-00FB-42D0-B3C5-C031EFAC0D8E}" type="slidenum">
              <a:rPr lang="ar-DZ" smtClean="0"/>
              <a:pPr/>
              <a:t>7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2251959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DZ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84825-00FB-42D0-B3C5-C031EFAC0D8E}" type="slidenum">
              <a:rPr lang="ar-DZ" smtClean="0"/>
              <a:pPr/>
              <a:t>9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394843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7000">
              <a:schemeClr val="accent3">
                <a:lumMod val="7000"/>
                <a:lumOff val="93000"/>
              </a:schemeClr>
            </a:gs>
            <a:gs pos="0">
              <a:srgbClr val="DDEBCF"/>
            </a:gs>
            <a:gs pos="22000">
              <a:schemeClr val="accent3">
                <a:lumMod val="40000"/>
                <a:lumOff val="60000"/>
              </a:schemeClr>
            </a:gs>
            <a:gs pos="2000">
              <a:srgbClr val="156B1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05/04/2016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r" defTabSz="914400" rtl="1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r" defTabSz="914400" rtl="1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r" defTabSz="914400" rtl="1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r" defTabSz="914400" rtl="1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r" defTabSz="914400" rtl="1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r" defTabSz="914400" rtl="1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defTabSz="914400" rtl="1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r" defTabSz="914400" rtl="1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r" defTabSz="914400" rtl="1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11560" y="548680"/>
            <a:ext cx="8208912" cy="1261884"/>
          </a:xfrm>
          <a:prstGeom prst="rect">
            <a:avLst/>
          </a:prstGeom>
          <a:noFill/>
        </p:spPr>
        <p:txBody>
          <a:bodyPr wrap="square" rtlCol="1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rtl="1"/>
            <a:r>
              <a:rPr lang="ar-DZ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اللجنة الوطنية للمناهج</a:t>
            </a:r>
            <a:endParaRPr lang="ar-DZ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 rtl="1"/>
            <a:endParaRPr lang="ar-DZ" sz="24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 rtl="1"/>
            <a:r>
              <a:rPr lang="ar-DZ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المجموعة المتخصصة لمادة العلوم الفيزيائية والتكنولوجيا</a:t>
            </a:r>
            <a:endParaRPr lang="ar-DZ" sz="2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814955" y="2564904"/>
            <a:ext cx="5616624" cy="2246769"/>
          </a:xfrm>
          <a:prstGeom prst="rect">
            <a:avLst/>
          </a:prstGeom>
          <a:noFill/>
        </p:spPr>
        <p:txBody>
          <a:bodyPr wrap="square" rtlCol="1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rtl="1"/>
            <a:r>
              <a:rPr lang="ar-DZ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FS_Cairo" pitchFamily="2" charset="-78"/>
              </a:rPr>
              <a:t>الملتقى التكويني </a:t>
            </a:r>
          </a:p>
          <a:p>
            <a:pPr algn="ctr" rtl="1"/>
            <a:r>
              <a:rPr lang="ar-DZ" sz="6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FS_Cairo" pitchFamily="2" charset="-78"/>
              </a:rPr>
              <a:t>حول التقويم</a:t>
            </a:r>
          </a:p>
          <a:p>
            <a:pPr algn="ctr" rtl="1"/>
            <a:r>
              <a:rPr lang="ar-DZ" sz="4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FS_Cairo" pitchFamily="2" charset="-78"/>
              </a:rPr>
              <a:t> </a:t>
            </a:r>
            <a:r>
              <a:rPr lang="ar-DZ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FS_Cairo" pitchFamily="2" charset="-78"/>
              </a:rPr>
              <a:t>في مناهج الجيل الثاني</a:t>
            </a:r>
            <a:endParaRPr lang="ar-DZ" sz="4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cs typeface="FS_Cairo" pitchFamily="2" charset="-78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722207" y="5733256"/>
            <a:ext cx="580212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DZ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تيارت : 13الى15 مارس2016 </a:t>
            </a:r>
            <a:endParaRPr lang="ar-DZ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593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809215" y="2276872"/>
            <a:ext cx="5544616" cy="218521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sz="48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Hesham Bold" pitchFamily="2" charset="-78"/>
              </a:rPr>
              <a:t>التقــويم التكــويني </a:t>
            </a:r>
            <a:endParaRPr lang="ar-DZ" sz="48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cs typeface="Hesham Bold" pitchFamily="2" charset="-78"/>
            </a:endParaRPr>
          </a:p>
          <a:p>
            <a:r>
              <a:rPr lang="ar-DZ" sz="4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أو </a:t>
            </a:r>
            <a:endParaRPr lang="ar-DZ" sz="4400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  <a:p>
            <a:r>
              <a:rPr lang="ar-DZ" sz="44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التقويم </a:t>
            </a:r>
            <a:r>
              <a:rPr lang="ar-DZ" sz="4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في خدمة التعلم</a:t>
            </a:r>
          </a:p>
        </p:txBody>
      </p:sp>
    </p:spTree>
    <p:extLst>
      <p:ext uri="{BB962C8B-B14F-4D97-AF65-F5344CB8AC3E}">
        <p14:creationId xmlns:p14="http://schemas.microsoft.com/office/powerpoint/2010/main" xmlns="" val="3529188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:wipe dir="r"/>
      </p:transition>
    </mc:Choice>
    <mc:Fallback>
      <p:transition spd="slow"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53091" y="410354"/>
            <a:ext cx="3384376" cy="58477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dirty="0"/>
              <a:t>التقويم عموما ...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132999" y="2924944"/>
            <a:ext cx="7300356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3200" dirty="0" smtClean="0"/>
              <a:t>«</a:t>
            </a:r>
            <a:r>
              <a:rPr lang="ar-DZ" sz="3200" dirty="0"/>
              <a:t> </a:t>
            </a:r>
            <a:r>
              <a:rPr lang="ar-DZ" sz="3200" dirty="0" smtClean="0"/>
              <a:t>...  هو جمع </a:t>
            </a:r>
            <a:r>
              <a:rPr lang="ar-DZ" sz="3200" b="1" dirty="0" smtClean="0"/>
              <a:t>معلومات</a:t>
            </a:r>
            <a:r>
              <a:rPr lang="ar-DZ" sz="3200" dirty="0" smtClean="0"/>
              <a:t>  كافية ووجيهة تتصف بالصدق والثبات </a:t>
            </a:r>
            <a:r>
              <a:rPr lang="ar-DZ" sz="3200" b="1" dirty="0" smtClean="0"/>
              <a:t>وتحديد التطابق </a:t>
            </a:r>
            <a:r>
              <a:rPr lang="ar-DZ" sz="3200" dirty="0" smtClean="0"/>
              <a:t>بين مجموع المعلومات وجملة من </a:t>
            </a:r>
            <a:r>
              <a:rPr lang="ar-DZ" sz="3200" b="1" dirty="0" smtClean="0"/>
              <a:t>المعايير</a:t>
            </a:r>
            <a:r>
              <a:rPr lang="ar-DZ" sz="3200" dirty="0" smtClean="0"/>
              <a:t> الملائمة للأهداف التي تم تحديدها سلفا من </a:t>
            </a:r>
            <a:r>
              <a:rPr lang="ar-DZ" sz="3200" b="1" dirty="0" smtClean="0"/>
              <a:t>أجل اتخاذ قرار </a:t>
            </a:r>
            <a:r>
              <a:rPr lang="ar-DZ" sz="3200" dirty="0" smtClean="0"/>
              <a:t>ملائم»</a:t>
            </a:r>
          </a:p>
          <a:p>
            <a:pPr algn="ctr"/>
            <a:r>
              <a:rPr lang="ar-DZ" sz="3200" dirty="0" smtClean="0"/>
              <a:t>                                               (</a:t>
            </a:r>
            <a:r>
              <a:rPr lang="ar-DZ" sz="2400" dirty="0" smtClean="0"/>
              <a:t>ج.م. </a:t>
            </a:r>
            <a:r>
              <a:rPr lang="ar-DZ" sz="2400" dirty="0" err="1" smtClean="0"/>
              <a:t>ديكيتيلي</a:t>
            </a:r>
            <a:r>
              <a:rPr lang="ar-DZ" sz="3200" dirty="0"/>
              <a:t>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880972" y="1988840"/>
            <a:ext cx="780441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3200" b="1" dirty="0" smtClean="0"/>
              <a:t>هو ملاحظة واقع ما من أجل إعطاء قيمة (</a:t>
            </a:r>
            <a:r>
              <a:rPr lang="ar-DZ" sz="2800" dirty="0" smtClean="0"/>
              <a:t>نوعية أو كمية</a:t>
            </a:r>
            <a:r>
              <a:rPr lang="ar-DZ" sz="3200" b="1" dirty="0" smtClean="0"/>
              <a:t>)</a:t>
            </a:r>
            <a:endParaRPr lang="ar-DZ" sz="3200" b="1" dirty="0"/>
          </a:p>
        </p:txBody>
      </p:sp>
    </p:spTree>
    <p:extLst>
      <p:ext uri="{BB962C8B-B14F-4D97-AF65-F5344CB8AC3E}">
        <p14:creationId xmlns:p14="http://schemas.microsoft.com/office/powerpoint/2010/main" xmlns="" val="3377756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/>
          <p:cNvSpPr txBox="1"/>
          <p:nvPr/>
        </p:nvSpPr>
        <p:spPr>
          <a:xfrm>
            <a:off x="5738102" y="3123523"/>
            <a:ext cx="1224137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2800" b="1" dirty="0" smtClean="0">
                <a:solidFill>
                  <a:schemeClr val="tx1"/>
                </a:solidFill>
              </a:rPr>
              <a:t>الواقع</a:t>
            </a:r>
            <a:endParaRPr lang="ar-DZ" sz="2800" b="1" dirty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413374" y="3186491"/>
            <a:ext cx="1710409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r>
              <a:rPr lang="ar-DZ" sz="2800" b="1" dirty="0">
                <a:solidFill>
                  <a:schemeClr val="tx1"/>
                </a:solidFill>
              </a:rPr>
              <a:t>ما هو منتظر</a:t>
            </a:r>
          </a:p>
        </p:txBody>
      </p:sp>
      <p:sp>
        <p:nvSpPr>
          <p:cNvPr id="15" name="Double flèche horizontale 14"/>
          <p:cNvSpPr/>
          <p:nvPr/>
        </p:nvSpPr>
        <p:spPr>
          <a:xfrm>
            <a:off x="4128719" y="3123524"/>
            <a:ext cx="1457943" cy="57606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400" b="1" dirty="0" smtClean="0"/>
              <a:t>مجابهة</a:t>
            </a:r>
            <a:endParaRPr lang="ar-DZ" b="1" dirty="0"/>
          </a:p>
        </p:txBody>
      </p:sp>
      <p:sp>
        <p:nvSpPr>
          <p:cNvPr id="16" name="Flèche vers le bas 15"/>
          <p:cNvSpPr/>
          <p:nvPr/>
        </p:nvSpPr>
        <p:spPr>
          <a:xfrm>
            <a:off x="4607903" y="3709711"/>
            <a:ext cx="499574" cy="772924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7" name="ZoneTexte 16"/>
          <p:cNvSpPr txBox="1"/>
          <p:nvPr/>
        </p:nvSpPr>
        <p:spPr>
          <a:xfrm>
            <a:off x="3042201" y="4702457"/>
            <a:ext cx="351489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DZ" sz="2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الحكم  ثم اتخاذ القرار </a:t>
            </a:r>
            <a:r>
              <a:rPr lang="ar-DZ" sz="2800" b="1" dirty="0" smtClean="0">
                <a:solidFill>
                  <a:srgbClr val="00B050"/>
                </a:solidFill>
              </a:rPr>
              <a:t>بـ ...</a:t>
            </a:r>
            <a:endParaRPr lang="ar-DZ" sz="2800" b="1" dirty="0">
              <a:solidFill>
                <a:srgbClr val="00B05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1450141" y="332656"/>
            <a:ext cx="6315523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sz="3600" dirty="0"/>
              <a:t>التقويم في الحقل التربوي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953435" y="1628800"/>
            <a:ext cx="607494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2800" dirty="0" smtClean="0"/>
              <a:t>التقويم التربوي أداة في خدمة الفعل التربوي</a:t>
            </a:r>
          </a:p>
        </p:txBody>
      </p:sp>
      <p:sp>
        <p:nvSpPr>
          <p:cNvPr id="2" name="Légende à une bordure 1 1"/>
          <p:cNvSpPr/>
          <p:nvPr/>
        </p:nvSpPr>
        <p:spPr>
          <a:xfrm flipH="1">
            <a:off x="287522" y="2636912"/>
            <a:ext cx="1512169" cy="1291879"/>
          </a:xfrm>
          <a:prstGeom prst="accentCallout1">
            <a:avLst>
              <a:gd name="adj1" fmla="val 52867"/>
              <a:gd name="adj2" fmla="val -8333"/>
              <a:gd name="adj3" fmla="val 53571"/>
              <a:gd name="adj4" fmla="val -43637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DZ" sz="2800" b="1" dirty="0">
                <a:solidFill>
                  <a:schemeClr val="tx1"/>
                </a:solidFill>
              </a:rPr>
              <a:t>معايير التقييم</a:t>
            </a:r>
          </a:p>
          <a:p>
            <a:pPr algn="ctr" rtl="1"/>
            <a:endParaRPr lang="ar-DZ" sz="2800" b="1" dirty="0">
              <a:solidFill>
                <a:schemeClr val="tx1"/>
              </a:solidFill>
            </a:endParaRPr>
          </a:p>
        </p:txBody>
      </p:sp>
      <p:sp>
        <p:nvSpPr>
          <p:cNvPr id="26" name="Légende à une bordure 1 25"/>
          <p:cNvSpPr/>
          <p:nvPr/>
        </p:nvSpPr>
        <p:spPr>
          <a:xfrm>
            <a:off x="7378071" y="2636912"/>
            <a:ext cx="1512169" cy="1265457"/>
          </a:xfrm>
          <a:prstGeom prst="accentCallout1">
            <a:avLst>
              <a:gd name="adj1" fmla="val 52867"/>
              <a:gd name="adj2" fmla="val -8333"/>
              <a:gd name="adj3" fmla="val 53571"/>
              <a:gd name="adj4" fmla="val -4363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3200" b="1" dirty="0" smtClean="0"/>
              <a:t>/</a:t>
            </a:r>
            <a:r>
              <a:rPr lang="ar-DZ" sz="3200" b="1" dirty="0" smtClean="0"/>
              <a:t>القياس</a:t>
            </a:r>
          </a:p>
          <a:p>
            <a:pPr algn="ctr"/>
            <a:r>
              <a:rPr lang="ar-DZ" sz="3200" b="1" dirty="0" smtClean="0"/>
              <a:t>المعلومات</a:t>
            </a:r>
            <a:endParaRPr lang="ar-DZ" sz="2400" b="1" dirty="0"/>
          </a:p>
          <a:p>
            <a:pPr algn="ctr"/>
            <a:endParaRPr lang="ar-DZ" sz="2400" b="1" dirty="0"/>
          </a:p>
        </p:txBody>
      </p:sp>
      <p:sp>
        <p:nvSpPr>
          <p:cNvPr id="3" name="Légende encadrée 2 2"/>
          <p:cNvSpPr/>
          <p:nvPr/>
        </p:nvSpPr>
        <p:spPr>
          <a:xfrm>
            <a:off x="7378071" y="4964068"/>
            <a:ext cx="1544108" cy="1561276"/>
          </a:xfrm>
          <a:prstGeom prst="borderCallout2">
            <a:avLst>
              <a:gd name="adj1" fmla="val 47520"/>
              <a:gd name="adj2" fmla="val 1017"/>
              <a:gd name="adj3" fmla="val 48547"/>
              <a:gd name="adj4" fmla="val -39523"/>
              <a:gd name="adj5" fmla="val 13879"/>
              <a:gd name="adj6" fmla="val -17006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DZ" sz="2400" b="1" dirty="0"/>
              <a:t>تقديم مساعدة </a:t>
            </a:r>
          </a:p>
          <a:p>
            <a:pPr algn="ctr" rtl="1"/>
            <a:r>
              <a:rPr lang="ar-DZ" sz="2400" b="1" dirty="0"/>
              <a:t>لمرافقة </a:t>
            </a:r>
            <a:r>
              <a:rPr lang="ar-DZ" sz="2400" b="1" dirty="0" smtClean="0"/>
              <a:t>التعلمات</a:t>
            </a:r>
            <a:endParaRPr lang="ar-DZ" sz="2400" b="1" dirty="0"/>
          </a:p>
        </p:txBody>
      </p:sp>
      <p:sp>
        <p:nvSpPr>
          <p:cNvPr id="27" name="Légende encadrée 2 26"/>
          <p:cNvSpPr/>
          <p:nvPr/>
        </p:nvSpPr>
        <p:spPr>
          <a:xfrm flipH="1">
            <a:off x="325405" y="5225678"/>
            <a:ext cx="1474286" cy="1299666"/>
          </a:xfrm>
          <a:prstGeom prst="borderCallout2">
            <a:avLst>
              <a:gd name="adj1" fmla="val 47139"/>
              <a:gd name="adj2" fmla="val -3981"/>
              <a:gd name="adj3" fmla="val 45905"/>
              <a:gd name="adj4" fmla="val -62368"/>
              <a:gd name="adj5" fmla="val -592"/>
              <a:gd name="adj6" fmla="val -19574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-DZ" sz="2400" b="1" dirty="0" smtClean="0"/>
              <a:t>الإشهاد </a:t>
            </a:r>
            <a:endParaRPr lang="ar-DZ" sz="2400" b="1" dirty="0"/>
          </a:p>
          <a:p>
            <a:pPr algn="ctr" rtl="1"/>
            <a:r>
              <a:rPr lang="ar-DZ" sz="2400" b="1" dirty="0"/>
              <a:t>بحدوث </a:t>
            </a:r>
            <a:r>
              <a:rPr lang="ar-DZ" sz="2400" b="1" dirty="0" smtClean="0"/>
              <a:t>التعلم</a:t>
            </a:r>
            <a:endParaRPr lang="ar-DZ" sz="2400" b="1" dirty="0"/>
          </a:p>
          <a:p>
            <a:pPr algn="ctr"/>
            <a:endParaRPr lang="ar-DZ" sz="2400" dirty="0"/>
          </a:p>
        </p:txBody>
      </p:sp>
    </p:spTree>
    <p:extLst>
      <p:ext uri="{BB962C8B-B14F-4D97-AF65-F5344CB8AC3E}">
        <p14:creationId xmlns:p14="http://schemas.microsoft.com/office/powerpoint/2010/main" xmlns="" val="22499592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39755242"/>
              </p:ext>
            </p:extLst>
          </p:nvPr>
        </p:nvGraphicFramePr>
        <p:xfrm>
          <a:off x="395536" y="1542688"/>
          <a:ext cx="8496944" cy="518160"/>
        </p:xfrm>
        <a:graphic>
          <a:graphicData uri="http://schemas.openxmlformats.org/drawingml/2006/table">
            <a:tbl>
              <a:tblPr rtl="1"/>
              <a:tblGrid>
                <a:gridCol w="3998912"/>
                <a:gridCol w="4498032"/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DZ" sz="2800" dirty="0" smtClean="0"/>
                        <a:t>التقويم في المقاربة التقليدية</a:t>
                      </a:r>
                      <a:endParaRPr lang="ar-DZ" sz="2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dirty="0" smtClean="0"/>
                        <a:t>التقويم في المقاربة بالكفاءات</a:t>
                      </a:r>
                      <a:endParaRPr lang="ar-DZ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32267755"/>
              </p:ext>
            </p:extLst>
          </p:nvPr>
        </p:nvGraphicFramePr>
        <p:xfrm>
          <a:off x="467544" y="2801456"/>
          <a:ext cx="8280920" cy="32918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3850695"/>
                <a:gridCol w="4430225"/>
              </a:tblGrid>
              <a:tr h="2664296">
                <a:tc>
                  <a:txBody>
                    <a:bodyPr/>
                    <a:lstStyle/>
                    <a:p>
                      <a:pPr marL="546100" indent="-193675" algn="r" rtl="1">
                        <a:buFont typeface="Wingdings" pitchFamily="2" charset="2"/>
                        <a:buChar char="ß"/>
                      </a:pPr>
                      <a:endParaRPr lang="ar-DZ" sz="2400" b="1" dirty="0" smtClean="0"/>
                    </a:p>
                    <a:p>
                      <a:pPr marL="546100" indent="-193675" algn="r" rtl="1">
                        <a:buFont typeface="Wingdings" pitchFamily="2" charset="2"/>
                        <a:buChar char="ß"/>
                      </a:pPr>
                      <a:r>
                        <a:rPr lang="ar-DZ" sz="2400" b="1" dirty="0" smtClean="0"/>
                        <a:t>وظيفة رقابية</a:t>
                      </a:r>
                    </a:p>
                    <a:p>
                      <a:pPr marL="546100" indent="-193675" algn="r" rtl="1">
                        <a:buFont typeface="Wingdings" pitchFamily="2" charset="2"/>
                        <a:buChar char="ß"/>
                      </a:pPr>
                      <a:r>
                        <a:rPr lang="ar-DZ" sz="2400" b="1" dirty="0" smtClean="0"/>
                        <a:t>المرجعية هي المعارف </a:t>
                      </a:r>
                      <a:r>
                        <a:rPr lang="ar-DZ" sz="2400" dirty="0" smtClean="0"/>
                        <a:t>: اكتساب المعارف (تقييم الاسترجاع)</a:t>
                      </a:r>
                      <a:endParaRPr lang="ar-DZ" sz="2400" baseline="0" dirty="0" smtClean="0"/>
                    </a:p>
                    <a:p>
                      <a:pPr marL="546100" indent="-193675" algn="r" rtl="1">
                        <a:buFont typeface="Wingdings" pitchFamily="2" charset="2"/>
                        <a:buChar char="ß"/>
                      </a:pPr>
                      <a:r>
                        <a:rPr lang="ar-DZ" sz="2400" baseline="0" dirty="0" smtClean="0"/>
                        <a:t>نظرة سلبية للخطأ: علامة عجز</a:t>
                      </a:r>
                    </a:p>
                    <a:p>
                      <a:pPr marL="546100" indent="-193675" algn="r" rtl="1">
                        <a:buFont typeface="Wingdings" pitchFamily="2" charset="2"/>
                        <a:buChar char="ß"/>
                      </a:pPr>
                      <a:r>
                        <a:rPr lang="ar-DZ" sz="2400" baseline="0" dirty="0" smtClean="0"/>
                        <a:t>غياب التقويم الذاتي</a:t>
                      </a:r>
                    </a:p>
                    <a:p>
                      <a:pPr marL="546100" indent="-193675" algn="r" rtl="1">
                        <a:buFont typeface="Wingdings" pitchFamily="2" charset="2"/>
                        <a:buChar char="ß"/>
                      </a:pPr>
                      <a:r>
                        <a:rPr lang="ar-DZ" sz="2400" baseline="0" dirty="0" smtClean="0"/>
                        <a:t>غياب المعالجة </a:t>
                      </a:r>
                    </a:p>
                    <a:p>
                      <a:pPr marL="285750" indent="-285750" algn="r" rtl="1">
                        <a:buFont typeface="Wingdings" pitchFamily="2" charset="2"/>
                        <a:buChar char="ß"/>
                      </a:pPr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25463" indent="-342900" algn="r" rtl="1">
                        <a:buFont typeface="Wingdings" pitchFamily="2" charset="2"/>
                        <a:buChar char="ß"/>
                        <a:tabLst>
                          <a:tab pos="631825" algn="l"/>
                        </a:tabLst>
                      </a:pPr>
                      <a:endParaRPr lang="ar-DZ" sz="2400" b="1" dirty="0" smtClean="0"/>
                    </a:p>
                    <a:p>
                      <a:pPr marL="358775" indent="-182563" algn="r" rtl="1">
                        <a:buFont typeface="Wingdings" pitchFamily="2" charset="2"/>
                        <a:buChar char="ß"/>
                        <a:tabLst>
                          <a:tab pos="352425" algn="l"/>
                        </a:tabLst>
                      </a:pPr>
                      <a:r>
                        <a:rPr lang="ar-DZ" sz="2400" b="1" dirty="0" smtClean="0"/>
                        <a:t>وظيفية تعديلية</a:t>
                      </a:r>
                    </a:p>
                    <a:p>
                      <a:pPr marL="358775" indent="-182563" algn="r" rtl="1">
                        <a:buFont typeface="Wingdings" pitchFamily="2" charset="2"/>
                        <a:buChar char="ß"/>
                        <a:tabLst>
                          <a:tab pos="176213" algn="l"/>
                        </a:tabLst>
                      </a:pPr>
                      <a:r>
                        <a:rPr lang="ar-DZ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المرجعية</a:t>
                      </a:r>
                      <a:r>
                        <a:rPr lang="ar-DZ" sz="2400" b="1" dirty="0" smtClean="0"/>
                        <a:t> هي الكفاءة</a:t>
                      </a:r>
                      <a:r>
                        <a:rPr lang="ar-DZ" sz="2400" dirty="0" smtClean="0"/>
                        <a:t>: (تقيم الموارد والكفاءة في وضعية دالة)</a:t>
                      </a:r>
                    </a:p>
                    <a:p>
                      <a:pPr marL="358775" indent="-182563" algn="r" rtl="1">
                        <a:buFont typeface="Wingdings" pitchFamily="2" charset="2"/>
                        <a:buChar char="ß"/>
                      </a:pPr>
                      <a:r>
                        <a:rPr lang="ar-DZ" sz="2400" dirty="0" smtClean="0"/>
                        <a:t>نظرة إيجابية للخطأ: </a:t>
                      </a:r>
                      <a:r>
                        <a:rPr lang="ar-DZ" sz="2000" dirty="0" smtClean="0"/>
                        <a:t>مؤشر لصعوبة ظرفية</a:t>
                      </a:r>
                    </a:p>
                    <a:p>
                      <a:pPr marL="358775" indent="-182563" algn="r" rtl="1">
                        <a:buFont typeface="Wingdings" pitchFamily="2" charset="2"/>
                        <a:buChar char="ß"/>
                      </a:pPr>
                      <a:r>
                        <a:rPr lang="ar-DZ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التقويم الذاتي – التقويم البيني </a:t>
                      </a:r>
                    </a:p>
                    <a:p>
                      <a:pPr marL="358775" indent="-182563" algn="r" rtl="1">
                        <a:buFont typeface="Wingdings" pitchFamily="2" charset="2"/>
                        <a:buChar char="ß"/>
                      </a:pPr>
                      <a:r>
                        <a:rPr lang="ar-DZ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المعالجة</a:t>
                      </a:r>
                      <a:r>
                        <a:rPr lang="ar-DZ" sz="2400" dirty="0" smtClean="0"/>
                        <a:t> </a:t>
                      </a:r>
                      <a:r>
                        <a:rPr lang="ar-DZ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البيداغوجية</a:t>
                      </a:r>
                      <a:endParaRPr lang="ar-DZ" sz="2400" dirty="0" smtClean="0"/>
                    </a:p>
                    <a:p>
                      <a:pPr algn="r" rtl="1"/>
                      <a:endParaRPr lang="ar-DZ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86898944"/>
              </p:ext>
            </p:extLst>
          </p:nvPr>
        </p:nvGraphicFramePr>
        <p:xfrm>
          <a:off x="323528" y="2118752"/>
          <a:ext cx="8352928" cy="518160"/>
        </p:xfrm>
        <a:graphic>
          <a:graphicData uri="http://schemas.openxmlformats.org/drawingml/2006/table">
            <a:tbl>
              <a:tblPr rtl="1"/>
              <a:tblGrid>
                <a:gridCol w="3782888"/>
                <a:gridCol w="4570040"/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DZ" sz="2800" dirty="0" smtClean="0"/>
                        <a:t>من الوظيفة الادارية ...</a:t>
                      </a:r>
                      <a:endParaRPr lang="ar-DZ" sz="2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800" dirty="0" smtClean="0"/>
                        <a:t>... الى الوظيفة التربوية</a:t>
                      </a:r>
                      <a:endParaRPr lang="ar-DZ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1619672" y="190381"/>
            <a:ext cx="576064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sz="3600" dirty="0"/>
              <a:t>إشكالية التقويم</a:t>
            </a:r>
          </a:p>
        </p:txBody>
      </p:sp>
    </p:spTree>
    <p:extLst>
      <p:ext uri="{BB962C8B-B14F-4D97-AF65-F5344CB8AC3E}">
        <p14:creationId xmlns:p14="http://schemas.microsoft.com/office/powerpoint/2010/main" xmlns="" val="35661576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87778" y="383659"/>
            <a:ext cx="525658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6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dirty="0" smtClean="0">
                <a:effectLst/>
              </a:rPr>
              <a:t>إدماج مسار </a:t>
            </a:r>
            <a:r>
              <a:rPr lang="ar-DZ" dirty="0" smtClean="0"/>
              <a:t>التقويم</a:t>
            </a:r>
            <a:r>
              <a:rPr lang="ar-DZ" dirty="0" smtClean="0">
                <a:effectLst/>
              </a:rPr>
              <a:t> ومسار </a:t>
            </a:r>
            <a:r>
              <a:rPr lang="ar-DZ" dirty="0" smtClean="0"/>
              <a:t>التعلم</a:t>
            </a:r>
            <a:endParaRPr lang="ar-DZ" dirty="0"/>
          </a:p>
        </p:txBody>
      </p:sp>
      <p:grpSp>
        <p:nvGrpSpPr>
          <p:cNvPr id="15" name="Groupe 14"/>
          <p:cNvGrpSpPr/>
          <p:nvPr/>
        </p:nvGrpSpPr>
        <p:grpSpPr>
          <a:xfrm>
            <a:off x="4721777" y="2591301"/>
            <a:ext cx="1435460" cy="3718019"/>
            <a:chOff x="6372200" y="2617748"/>
            <a:chExt cx="2304256" cy="3718019"/>
          </a:xfrm>
        </p:grpSpPr>
        <p:sp>
          <p:nvSpPr>
            <p:cNvPr id="5" name="ZoneTexte 4"/>
            <p:cNvSpPr txBox="1"/>
            <p:nvPr/>
          </p:nvSpPr>
          <p:spPr>
            <a:xfrm>
              <a:off x="6372200" y="2617748"/>
              <a:ext cx="2304256" cy="707886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2000" b="1" dirty="0" smtClean="0"/>
                <a:t>الكفاءة الختامية1</a:t>
              </a:r>
              <a:endParaRPr lang="ar-DZ" sz="2000" b="1" dirty="0"/>
            </a:p>
          </p:txBody>
        </p:sp>
        <p:sp>
          <p:nvSpPr>
            <p:cNvPr id="9" name="Cadre 8"/>
            <p:cNvSpPr/>
            <p:nvPr/>
          </p:nvSpPr>
          <p:spPr>
            <a:xfrm>
              <a:off x="6678234" y="3618627"/>
              <a:ext cx="1692188" cy="2717140"/>
            </a:xfrm>
            <a:prstGeom prst="frame">
              <a:avLst>
                <a:gd name="adj1" fmla="val 6289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vert270" rtlCol="1" anchor="ctr"/>
            <a:lstStyle/>
            <a:p>
              <a:pPr algn="ctr"/>
              <a:r>
                <a:rPr lang="ar-DZ" sz="2800" dirty="0" smtClean="0">
                  <a:solidFill>
                    <a:schemeClr val="tx1"/>
                  </a:solidFill>
                </a:rPr>
                <a:t>مقطع تعلمي1</a:t>
              </a:r>
              <a:endParaRPr lang="ar-DZ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3060893" y="2591301"/>
            <a:ext cx="1562726" cy="3718019"/>
            <a:chOff x="3686454" y="2591301"/>
            <a:chExt cx="2304256" cy="3718019"/>
          </a:xfrm>
        </p:grpSpPr>
        <p:sp>
          <p:nvSpPr>
            <p:cNvPr id="4" name="ZoneTexte 3"/>
            <p:cNvSpPr txBox="1"/>
            <p:nvPr/>
          </p:nvSpPr>
          <p:spPr>
            <a:xfrm>
              <a:off x="3686454" y="2591301"/>
              <a:ext cx="2304256" cy="707886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2000" b="1" dirty="0" smtClean="0"/>
                <a:t>الكفاءة الختامية2</a:t>
              </a:r>
              <a:endParaRPr lang="ar-DZ" sz="2000" b="1" dirty="0"/>
            </a:p>
          </p:txBody>
        </p:sp>
        <p:sp>
          <p:nvSpPr>
            <p:cNvPr id="10" name="Cadre 9"/>
            <p:cNvSpPr/>
            <p:nvPr/>
          </p:nvSpPr>
          <p:spPr>
            <a:xfrm>
              <a:off x="3992489" y="3592180"/>
              <a:ext cx="1692188" cy="2717140"/>
            </a:xfrm>
            <a:prstGeom prst="frame">
              <a:avLst>
                <a:gd name="adj1" fmla="val 6289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vert270" rtlCol="1" anchor="ctr"/>
            <a:lstStyle/>
            <a:p>
              <a:pPr algn="ctr"/>
              <a:r>
                <a:rPr lang="ar-DZ" sz="2800" dirty="0">
                  <a:solidFill>
                    <a:schemeClr val="tx1"/>
                  </a:solidFill>
                </a:rPr>
                <a:t>مقطع تعلمي </a:t>
              </a:r>
              <a:r>
                <a:rPr lang="ar-DZ" sz="2800" dirty="0" smtClean="0">
                  <a:solidFill>
                    <a:schemeClr val="tx1"/>
                  </a:solidFill>
                </a:rPr>
                <a:t>2</a:t>
              </a:r>
              <a:endParaRPr lang="fr-FR" sz="2800" dirty="0">
                <a:solidFill>
                  <a:schemeClr val="tx1"/>
                </a:solidFill>
              </a:endParaRPr>
            </a:p>
            <a:p>
              <a:pPr algn="ctr"/>
              <a:endParaRPr lang="ar-DZ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e 13"/>
          <p:cNvGrpSpPr/>
          <p:nvPr/>
        </p:nvGrpSpPr>
        <p:grpSpPr>
          <a:xfrm>
            <a:off x="1475656" y="2591301"/>
            <a:ext cx="1438038" cy="3646011"/>
            <a:chOff x="1115616" y="2564904"/>
            <a:chExt cx="2304256" cy="3646011"/>
          </a:xfrm>
        </p:grpSpPr>
        <p:sp>
          <p:nvSpPr>
            <p:cNvPr id="6" name="ZoneTexte 5"/>
            <p:cNvSpPr txBox="1"/>
            <p:nvPr/>
          </p:nvSpPr>
          <p:spPr>
            <a:xfrm>
              <a:off x="1115616" y="2564904"/>
              <a:ext cx="2304256" cy="707886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2000" b="1" dirty="0" smtClean="0"/>
                <a:t>الكفاءة الختامية3</a:t>
              </a:r>
              <a:endParaRPr lang="ar-DZ" sz="2000" b="1" dirty="0"/>
            </a:p>
          </p:txBody>
        </p:sp>
        <p:sp>
          <p:nvSpPr>
            <p:cNvPr id="11" name="Cadre 10"/>
            <p:cNvSpPr/>
            <p:nvPr/>
          </p:nvSpPr>
          <p:spPr>
            <a:xfrm>
              <a:off x="1421651" y="3493775"/>
              <a:ext cx="1692188" cy="2717140"/>
            </a:xfrm>
            <a:prstGeom prst="frame">
              <a:avLst>
                <a:gd name="adj1" fmla="val 6289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vert270" rtlCol="1" anchor="ctr"/>
            <a:lstStyle/>
            <a:p>
              <a:pPr algn="ctr"/>
              <a:r>
                <a:rPr lang="ar-DZ" sz="2800" dirty="0">
                  <a:solidFill>
                    <a:schemeClr val="tx1"/>
                  </a:solidFill>
                </a:rPr>
                <a:t>مقطع تعلمي 3</a:t>
              </a:r>
              <a:endParaRPr lang="fr-FR" sz="2800" dirty="0">
                <a:solidFill>
                  <a:schemeClr val="tx1"/>
                </a:solidFill>
              </a:endParaRPr>
            </a:p>
            <a:p>
              <a:pPr algn="ctr"/>
              <a:endParaRPr lang="ar-DZ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Flèche vers le haut 21"/>
          <p:cNvSpPr/>
          <p:nvPr/>
        </p:nvSpPr>
        <p:spPr>
          <a:xfrm>
            <a:off x="107504" y="1814407"/>
            <a:ext cx="1008112" cy="4422905"/>
          </a:xfrm>
          <a:prstGeom prst="upArrow">
            <a:avLst/>
          </a:prstGeom>
          <a:gradFill>
            <a:gsLst>
              <a:gs pos="56000">
                <a:srgbClr val="538022"/>
              </a:gs>
              <a:gs pos="9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ar-DZ" sz="3200" dirty="0" smtClean="0">
                <a:ln>
                  <a:solidFill>
                    <a:srgbClr val="FFFF0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بناء </a:t>
            </a:r>
            <a:r>
              <a:rPr lang="ar-DZ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التعلمات</a:t>
            </a:r>
          </a:p>
        </p:txBody>
      </p:sp>
      <p:sp>
        <p:nvSpPr>
          <p:cNvPr id="23" name="Flèche vers le haut 22"/>
          <p:cNvSpPr/>
          <p:nvPr/>
        </p:nvSpPr>
        <p:spPr>
          <a:xfrm>
            <a:off x="8214302" y="1816363"/>
            <a:ext cx="1008112" cy="4422905"/>
          </a:xfrm>
          <a:prstGeom prst="upArrow">
            <a:avLst/>
          </a:prstGeom>
          <a:gradFill>
            <a:gsLst>
              <a:gs pos="81000">
                <a:srgbClr val="E4E2D1"/>
              </a:gs>
              <a:gs pos="0">
                <a:srgbClr val="002060"/>
              </a:gs>
              <a:gs pos="9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ar-DZ" sz="3200" dirty="0">
                <a:ln>
                  <a:solidFill>
                    <a:srgbClr val="FFFF0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تقويم</a:t>
            </a:r>
            <a:r>
              <a:rPr lang="ar-DZ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التعلمات</a:t>
            </a:r>
          </a:p>
        </p:txBody>
      </p:sp>
      <p:cxnSp>
        <p:nvCxnSpPr>
          <p:cNvPr id="26" name="Connecteur droit 25"/>
          <p:cNvCxnSpPr/>
          <p:nvPr/>
        </p:nvCxnSpPr>
        <p:spPr>
          <a:xfrm>
            <a:off x="107504" y="1814407"/>
            <a:ext cx="871296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/>
          <p:cNvSpPr txBox="1"/>
          <p:nvPr/>
        </p:nvSpPr>
        <p:spPr>
          <a:xfrm>
            <a:off x="2798140" y="1576341"/>
            <a:ext cx="2088232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ar-DZ" sz="2800" b="1" dirty="0" smtClean="0"/>
              <a:t>الكفاءة الشاملة</a:t>
            </a:r>
            <a:endParaRPr lang="ar-DZ" sz="2800" b="1" dirty="0"/>
          </a:p>
        </p:txBody>
      </p:sp>
      <p:sp>
        <p:nvSpPr>
          <p:cNvPr id="28" name="Rectangle avec flèche vers la gauche 27"/>
          <p:cNvSpPr/>
          <p:nvPr/>
        </p:nvSpPr>
        <p:spPr>
          <a:xfrm>
            <a:off x="6157237" y="1412776"/>
            <a:ext cx="1943155" cy="774881"/>
          </a:xfrm>
          <a:prstGeom prst="leftArrowCallout">
            <a:avLst>
              <a:gd name="adj1" fmla="val 0"/>
              <a:gd name="adj2" fmla="val 25000"/>
              <a:gd name="adj3" fmla="val 25000"/>
              <a:gd name="adj4" fmla="val 82015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400" b="1" dirty="0" smtClean="0"/>
              <a:t>تقويم إشهادي</a:t>
            </a:r>
            <a:endParaRPr lang="ar-DZ" sz="2400" b="1" dirty="0"/>
          </a:p>
        </p:txBody>
      </p:sp>
      <p:sp>
        <p:nvSpPr>
          <p:cNvPr id="29" name="Rectangle avec flèche vers la gauche 28"/>
          <p:cNvSpPr/>
          <p:nvPr/>
        </p:nvSpPr>
        <p:spPr>
          <a:xfrm>
            <a:off x="6257431" y="2596953"/>
            <a:ext cx="1943155" cy="774881"/>
          </a:xfrm>
          <a:prstGeom prst="leftArrowCallout">
            <a:avLst>
              <a:gd name="adj1" fmla="val 0"/>
              <a:gd name="adj2" fmla="val 25000"/>
              <a:gd name="adj3" fmla="val 25000"/>
              <a:gd name="adj4" fmla="val 82015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400" b="1" dirty="0" smtClean="0"/>
              <a:t>تقويم إشهادي</a:t>
            </a:r>
            <a:endParaRPr lang="ar-DZ" sz="2400" b="1" dirty="0"/>
          </a:p>
        </p:txBody>
      </p:sp>
      <p:sp>
        <p:nvSpPr>
          <p:cNvPr id="30" name="Rectangle avec flèche vers la gauche 29"/>
          <p:cNvSpPr/>
          <p:nvPr/>
        </p:nvSpPr>
        <p:spPr>
          <a:xfrm>
            <a:off x="6257431" y="3520172"/>
            <a:ext cx="1956872" cy="2789147"/>
          </a:xfrm>
          <a:prstGeom prst="leftArrowCallout">
            <a:avLst>
              <a:gd name="adj1" fmla="val 0"/>
              <a:gd name="adj2" fmla="val 9650"/>
              <a:gd name="adj3" fmla="val 14165"/>
              <a:gd name="adj4" fmla="val 82015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400" b="1" dirty="0" smtClean="0"/>
              <a:t>تقويم تكويني</a:t>
            </a:r>
            <a:endParaRPr lang="ar-DZ" sz="2400" b="1" dirty="0"/>
          </a:p>
        </p:txBody>
      </p:sp>
      <p:cxnSp>
        <p:nvCxnSpPr>
          <p:cNvPr id="32" name="Connecteur droit avec flèche 31"/>
          <p:cNvCxnSpPr>
            <a:stCxn id="6" idx="0"/>
          </p:cNvCxnSpPr>
          <p:nvPr/>
        </p:nvCxnSpPr>
        <p:spPr>
          <a:xfrm flipV="1">
            <a:off x="2194675" y="2099561"/>
            <a:ext cx="1647581" cy="4917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4" idx="0"/>
          </p:cNvCxnSpPr>
          <p:nvPr/>
        </p:nvCxnSpPr>
        <p:spPr>
          <a:xfrm flipV="1">
            <a:off x="3842256" y="2099561"/>
            <a:ext cx="0" cy="4917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>
            <a:endCxn id="3" idx="2"/>
          </p:cNvCxnSpPr>
          <p:nvPr/>
        </p:nvCxnSpPr>
        <p:spPr>
          <a:xfrm flipH="1" flipV="1">
            <a:off x="3842256" y="2099561"/>
            <a:ext cx="1598340" cy="4917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3833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000781" y="1559915"/>
            <a:ext cx="6805478" cy="52322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marL="176212" algn="r" rtl="1"/>
            <a:r>
              <a:rPr lang="ar-DZ" sz="2800" dirty="0" smtClean="0"/>
              <a:t>بإدماج الممارسة التقويمية في المسار التعلمي للتلميذ ...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972992" y="301911"/>
            <a:ext cx="7272808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sz="3600" dirty="0"/>
              <a:t>من أجل تقويم في  في خدمة التعلم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058198" y="2924944"/>
            <a:ext cx="7517067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33412" indent="-457200" algn="r" rtl="1">
              <a:buFont typeface="Wingdings 3" pitchFamily="18" charset="2"/>
              <a:buChar char="t"/>
            </a:pPr>
            <a:r>
              <a:rPr lang="ar-DZ" sz="2800" b="1" dirty="0" smtClean="0"/>
              <a:t> </a:t>
            </a:r>
            <a:r>
              <a:rPr lang="ar-DZ" sz="2800" dirty="0" smtClean="0"/>
              <a:t>هو فعل يصاحب  بناء </a:t>
            </a:r>
            <a:r>
              <a:rPr lang="ar-DZ" sz="2800" dirty="0" smtClean="0"/>
              <a:t>التعلّمات </a:t>
            </a:r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ويساير</a:t>
            </a:r>
            <a:r>
              <a:rPr lang="ar-DZ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2800" dirty="0" smtClean="0"/>
              <a:t>العملية  التعلمية (</a:t>
            </a:r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الوظيفة التكوينية</a:t>
            </a:r>
            <a:r>
              <a:rPr lang="ar-DZ" sz="2800" dirty="0" err="1" smtClean="0"/>
              <a:t>) .</a:t>
            </a:r>
            <a:endParaRPr lang="ar-DZ" sz="2800" dirty="0" smtClean="0"/>
          </a:p>
          <a:p>
            <a:pPr marL="633412" indent="-457200" algn="r" rtl="1">
              <a:buFont typeface="Wingdings 3" pitchFamily="18" charset="2"/>
              <a:buChar char="t"/>
            </a:pPr>
            <a:r>
              <a:rPr lang="ar-DZ" sz="2800" dirty="0" smtClean="0"/>
              <a:t>يقدم معلومات  حول </a:t>
            </a:r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تطور</a:t>
            </a:r>
            <a:r>
              <a:rPr lang="ar-DZ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2800" dirty="0" smtClean="0"/>
              <a:t>ونمو </a:t>
            </a:r>
            <a:r>
              <a:rPr lang="ar-DZ" sz="2800" dirty="0" err="1" smtClean="0"/>
              <a:t>المكتسبات </a:t>
            </a:r>
            <a:r>
              <a:rPr lang="ar-DZ" sz="2800" dirty="0" err="1" smtClean="0"/>
              <a:t>.</a:t>
            </a:r>
            <a:endParaRPr lang="ar-DZ" sz="2800" dirty="0" smtClean="0"/>
          </a:p>
          <a:p>
            <a:pPr marL="633412" indent="-457200" algn="r" rtl="1">
              <a:buFont typeface="Wingdings 3" pitchFamily="18" charset="2"/>
              <a:buChar char="t"/>
            </a:pPr>
            <a:r>
              <a:rPr lang="ar-DZ" sz="2800" dirty="0" smtClean="0"/>
              <a:t>يهدف الى </a:t>
            </a:r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مساعدة المتعلم </a:t>
            </a:r>
            <a:r>
              <a:rPr lang="ar-DZ" sz="2800" dirty="0" smtClean="0"/>
              <a:t>للتقدم في مساره </a:t>
            </a:r>
            <a:r>
              <a:rPr lang="ar-DZ" sz="2800" dirty="0" err="1" smtClean="0"/>
              <a:t>التعلمي .</a:t>
            </a:r>
            <a:endParaRPr lang="ar-DZ" sz="2800" dirty="0" smtClean="0"/>
          </a:p>
          <a:p>
            <a:pPr marL="633412" indent="-457200" algn="r" rtl="1">
              <a:buFont typeface="Wingdings 3" pitchFamily="18" charset="2"/>
              <a:buChar char="t"/>
            </a:pPr>
            <a:r>
              <a:rPr lang="ar-DZ" sz="2800" dirty="0" smtClean="0"/>
              <a:t>يقوم بإجراء </a:t>
            </a:r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التعديل</a:t>
            </a:r>
            <a:r>
              <a:rPr lang="ar-DZ" sz="2800" dirty="0" smtClean="0"/>
              <a:t> </a:t>
            </a:r>
            <a:r>
              <a:rPr lang="ar-DZ" sz="2800" dirty="0" err="1" smtClean="0"/>
              <a:t>والتصحيح .</a:t>
            </a:r>
            <a:endParaRPr lang="ar-DZ" sz="2800" dirty="0" smtClean="0"/>
          </a:p>
          <a:p>
            <a:pPr marL="633412" indent="-457200" algn="r" rtl="1">
              <a:buFont typeface="Wingdings 3" pitchFamily="18" charset="2"/>
              <a:buChar char="t"/>
            </a:pPr>
            <a:r>
              <a:rPr lang="ar-DZ" sz="2800" dirty="0" smtClean="0"/>
              <a:t>يساعد ويشجع إجراء </a:t>
            </a:r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التقويم الذاتي </a:t>
            </a:r>
            <a:r>
              <a:rPr lang="ar-DZ" sz="2800" dirty="0" smtClean="0"/>
              <a:t>والتقويم </a:t>
            </a:r>
            <a:r>
              <a:rPr lang="ar-DZ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التعاوني .</a:t>
            </a:r>
            <a:endParaRPr lang="ar-DZ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33412" indent="-457200" algn="r" rtl="1">
              <a:buFont typeface="Wingdings 3" pitchFamily="18" charset="2"/>
              <a:buChar char="t"/>
            </a:pPr>
            <a:r>
              <a:rPr lang="ar-DZ" sz="2800" dirty="0"/>
              <a:t>يقدم معلومات للمعلم حول </a:t>
            </a:r>
            <a:r>
              <a:rPr lang="ar-DZ" sz="2800" b="1" dirty="0"/>
              <a:t>نجاعة طريقته </a:t>
            </a:r>
            <a:r>
              <a:rPr lang="ar-DZ" sz="2800" dirty="0"/>
              <a:t>البيداغوجية </a:t>
            </a:r>
            <a:r>
              <a:rPr lang="ar-DZ" sz="2800" dirty="0" err="1" smtClean="0"/>
              <a:t>ويصححها .</a:t>
            </a:r>
            <a:endParaRPr lang="ar-DZ" sz="2800" dirty="0"/>
          </a:p>
        </p:txBody>
      </p:sp>
      <p:sp>
        <p:nvSpPr>
          <p:cNvPr id="2" name="Rectangle 1"/>
          <p:cNvSpPr/>
          <p:nvPr/>
        </p:nvSpPr>
        <p:spPr>
          <a:xfrm>
            <a:off x="1058198" y="2111448"/>
            <a:ext cx="6748061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176212" lvl="0" algn="ctr" rtl="1"/>
            <a:r>
              <a:rPr lang="ar-DZ" sz="2800" b="1" dirty="0" smtClean="0">
                <a:solidFill>
                  <a:prstClr val="black"/>
                </a:solidFill>
              </a:rPr>
              <a:t> ... التقويم التكويني</a:t>
            </a:r>
            <a:endParaRPr lang="ar-DZ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9926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87778" y="383659"/>
            <a:ext cx="525658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6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dirty="0" smtClean="0">
                <a:effectLst/>
              </a:rPr>
              <a:t>ماذا نقوم؟</a:t>
            </a:r>
            <a:endParaRPr lang="ar-DZ" dirty="0"/>
          </a:p>
        </p:txBody>
      </p:sp>
      <p:grpSp>
        <p:nvGrpSpPr>
          <p:cNvPr id="10" name="Groupe 9"/>
          <p:cNvGrpSpPr/>
          <p:nvPr/>
        </p:nvGrpSpPr>
        <p:grpSpPr>
          <a:xfrm>
            <a:off x="4571508" y="1767375"/>
            <a:ext cx="4032448" cy="4027563"/>
            <a:chOff x="4956130" y="2347197"/>
            <a:chExt cx="4032448" cy="4027563"/>
          </a:xfrm>
        </p:grpSpPr>
        <p:sp>
          <p:nvSpPr>
            <p:cNvPr id="3" name="ZoneTexte 2"/>
            <p:cNvSpPr txBox="1"/>
            <p:nvPr/>
          </p:nvSpPr>
          <p:spPr>
            <a:xfrm>
              <a:off x="5820226" y="2347197"/>
              <a:ext cx="2304256" cy="584775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3200" dirty="0" smtClean="0"/>
                <a:t>المنتوج</a:t>
              </a:r>
              <a:endParaRPr lang="ar-DZ" sz="3200" dirty="0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4956130" y="3576149"/>
              <a:ext cx="4032448" cy="156966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3200" dirty="0" smtClean="0"/>
                <a:t>المعارف</a:t>
              </a:r>
            </a:p>
            <a:p>
              <a:pPr algn="ctr" rtl="1"/>
              <a:r>
                <a:rPr lang="ar-DZ" sz="3200" dirty="0" smtClean="0"/>
                <a:t>الكفاءات العرضية</a:t>
              </a:r>
            </a:p>
            <a:p>
              <a:pPr algn="ctr" rtl="1"/>
              <a:r>
                <a:rPr lang="ar-DZ" sz="3200" dirty="0" smtClean="0"/>
                <a:t>القيم والمواقف</a:t>
              </a:r>
              <a:endParaRPr lang="ar-DZ" sz="3200" dirty="0"/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5820226" y="5789985"/>
              <a:ext cx="2304256" cy="58477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3200" dirty="0" smtClean="0"/>
                <a:t>(معايير النجاح)</a:t>
              </a:r>
              <a:endParaRPr lang="ar-DZ" sz="3200" dirty="0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683568" y="1756561"/>
            <a:ext cx="3263205" cy="4027563"/>
            <a:chOff x="251519" y="2347198"/>
            <a:chExt cx="3263205" cy="4027563"/>
          </a:xfrm>
        </p:grpSpPr>
        <p:sp>
          <p:nvSpPr>
            <p:cNvPr id="4" name="ZoneTexte 3"/>
            <p:cNvSpPr txBox="1"/>
            <p:nvPr/>
          </p:nvSpPr>
          <p:spPr>
            <a:xfrm>
              <a:off x="730993" y="2347198"/>
              <a:ext cx="2304256" cy="584775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3200" dirty="0" smtClean="0"/>
                <a:t>السيرورة</a:t>
              </a:r>
              <a:endParaRPr lang="ar-DZ" sz="3200" dirty="0"/>
            </a:p>
          </p:txBody>
        </p:sp>
        <p:sp>
          <p:nvSpPr>
            <p:cNvPr id="6" name="ZoneTexte 5"/>
            <p:cNvSpPr txBox="1"/>
            <p:nvPr/>
          </p:nvSpPr>
          <p:spPr>
            <a:xfrm>
              <a:off x="251519" y="3822371"/>
              <a:ext cx="3263205" cy="107721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3200" dirty="0" smtClean="0"/>
                <a:t>الاستراتيجيات</a:t>
              </a:r>
            </a:p>
            <a:p>
              <a:pPr algn="ctr" rtl="1"/>
              <a:r>
                <a:rPr lang="ar-DZ" sz="3200" dirty="0" smtClean="0"/>
                <a:t>مسعى حل المشكلات</a:t>
              </a:r>
              <a:endParaRPr lang="ar-DZ" sz="3200" dirty="0"/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730993" y="5789986"/>
              <a:ext cx="2304256" cy="58477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ar-DZ" sz="3200" dirty="0" smtClean="0"/>
                <a:t>(معايير الانجاز)</a:t>
              </a:r>
              <a:endParaRPr lang="ar-DZ" sz="3200" dirty="0"/>
            </a:p>
          </p:txBody>
        </p:sp>
      </p:grpSp>
      <p:cxnSp>
        <p:nvCxnSpPr>
          <p:cNvPr id="23" name="Connecteur en angle 22"/>
          <p:cNvCxnSpPr/>
          <p:nvPr/>
        </p:nvCxnSpPr>
        <p:spPr>
          <a:xfrm>
            <a:off x="3933083" y="1029990"/>
            <a:ext cx="1502521" cy="11042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en angle 31"/>
          <p:cNvCxnSpPr/>
          <p:nvPr/>
        </p:nvCxnSpPr>
        <p:spPr>
          <a:xfrm rot="10800000" flipV="1">
            <a:off x="3467298" y="1029990"/>
            <a:ext cx="1464742" cy="102977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5897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650214" y="260648"/>
            <a:ext cx="4608512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التعديل في التقويم التكويني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846276" y="4633972"/>
            <a:ext cx="2016224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التعديل التفاعلي</a:t>
            </a:r>
            <a:endParaRPr lang="ar-DZ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836912" y="4595663"/>
            <a:ext cx="2183959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التعديل المقصود</a:t>
            </a:r>
            <a:endParaRPr lang="ar-DZ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787587" y="4595663"/>
            <a:ext cx="2016224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ar-DZ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التعديل الذاتي</a:t>
            </a:r>
            <a:endParaRPr lang="ar-DZ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837493" y="2118335"/>
            <a:ext cx="2016224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DZ" sz="2800" dirty="0" smtClean="0"/>
              <a:t>الاستجابة الى </a:t>
            </a:r>
            <a:r>
              <a:rPr lang="ar-DZ" sz="2800" b="1" dirty="0" smtClean="0"/>
              <a:t>الحاجات التي </a:t>
            </a:r>
            <a:r>
              <a:rPr lang="ar-DZ" sz="2800" b="1" dirty="0" err="1" smtClean="0"/>
              <a:t>تبرز </a:t>
            </a:r>
            <a:r>
              <a:rPr lang="ar-DZ" sz="2800" b="1" dirty="0" smtClean="0"/>
              <a:t>، </a:t>
            </a:r>
            <a:r>
              <a:rPr lang="ar-DZ" sz="2800" dirty="0" smtClean="0"/>
              <a:t>وتقديم </a:t>
            </a:r>
            <a:r>
              <a:rPr lang="ar-DZ" sz="2800" dirty="0" smtClean="0"/>
              <a:t>التصويب في </a:t>
            </a:r>
            <a:r>
              <a:rPr lang="ar-DZ" sz="2800" dirty="0" err="1" smtClean="0"/>
              <a:t>حينه .</a:t>
            </a:r>
            <a:endParaRPr lang="ar-DZ" sz="2800" dirty="0"/>
          </a:p>
        </p:txBody>
      </p:sp>
      <p:sp>
        <p:nvSpPr>
          <p:cNvPr id="7" name="ZoneTexte 6"/>
          <p:cNvSpPr txBox="1"/>
          <p:nvPr/>
        </p:nvSpPr>
        <p:spPr>
          <a:xfrm>
            <a:off x="3836912" y="2118335"/>
            <a:ext cx="2484276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ترصد أخطاء بعينها  </a:t>
            </a:r>
            <a:r>
              <a:rPr lang="ar-DZ" sz="2800" b="1" dirty="0" smtClean="0"/>
              <a:t>متوقعة</a:t>
            </a:r>
            <a:r>
              <a:rPr lang="ar-DZ" sz="2800" dirty="0" smtClean="0"/>
              <a:t> من خلال الملاحظة </a:t>
            </a:r>
            <a:r>
              <a:rPr lang="ar-DZ" sz="2800" dirty="0" smtClean="0"/>
              <a:t>المقصودة </a:t>
            </a:r>
            <a:r>
              <a:rPr lang="ar-DZ" sz="2800" dirty="0" smtClean="0"/>
              <a:t> </a:t>
            </a:r>
            <a:r>
              <a:rPr lang="ar-DZ" sz="2800" dirty="0" smtClean="0"/>
              <a:t> </a:t>
            </a:r>
            <a:r>
              <a:rPr lang="ar-DZ" sz="2800" dirty="0" smtClean="0"/>
              <a:t>والقيام بالتصويبات المناسبة</a:t>
            </a:r>
            <a:endParaRPr lang="ar-DZ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615915" y="2118335"/>
            <a:ext cx="2232248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الكشف </a:t>
            </a:r>
            <a:r>
              <a:rPr lang="ar-DZ" sz="2800" b="1" dirty="0" smtClean="0"/>
              <a:t>عن عدم ملاءمة الطريقة </a:t>
            </a:r>
            <a:r>
              <a:rPr lang="ar-DZ" sz="2800" dirty="0" smtClean="0"/>
              <a:t>لإعادة </a:t>
            </a:r>
            <a:r>
              <a:rPr lang="ar-DZ" sz="2800" dirty="0" smtClean="0"/>
              <a:t>النظر </a:t>
            </a:r>
            <a:r>
              <a:rPr lang="ar-DZ" sz="2800" dirty="0" smtClean="0"/>
              <a:t>فيها </a:t>
            </a:r>
            <a:r>
              <a:rPr lang="ar-DZ" sz="2800" dirty="0" smtClean="0"/>
              <a:t>بما يلائم المتعلم</a:t>
            </a:r>
            <a:endParaRPr lang="ar-DZ" sz="2800" dirty="0"/>
          </a:p>
        </p:txBody>
      </p:sp>
      <p:sp>
        <p:nvSpPr>
          <p:cNvPr id="10" name="ZoneTexte 9"/>
          <p:cNvSpPr txBox="1"/>
          <p:nvPr/>
        </p:nvSpPr>
        <p:spPr>
          <a:xfrm>
            <a:off x="901733" y="1196752"/>
            <a:ext cx="7772581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أخذ </a:t>
            </a:r>
            <a:r>
              <a:rPr lang="ar-DZ" sz="2800" b="1" dirty="0" smtClean="0"/>
              <a:t>معلومات</a:t>
            </a:r>
            <a:r>
              <a:rPr lang="ar-DZ" sz="2800" dirty="0" smtClean="0"/>
              <a:t>  بالملاحظة المستمرة أثناء النشاط التعلمي من أجل ...</a:t>
            </a:r>
            <a:endParaRPr lang="ar-DZ" sz="2800" dirty="0"/>
          </a:p>
        </p:txBody>
      </p:sp>
      <p:sp>
        <p:nvSpPr>
          <p:cNvPr id="11" name="Accolade ouvrante 10"/>
          <p:cNvSpPr/>
          <p:nvPr/>
        </p:nvSpPr>
        <p:spPr>
          <a:xfrm rot="16200000">
            <a:off x="6085084" y="3005867"/>
            <a:ext cx="576063" cy="4961202"/>
          </a:xfrm>
          <a:prstGeom prst="leftBrace">
            <a:avLst>
              <a:gd name="adj1" fmla="val 66813"/>
              <a:gd name="adj2" fmla="val 496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2" name="ZoneTexte 11"/>
          <p:cNvSpPr txBox="1"/>
          <p:nvPr/>
        </p:nvSpPr>
        <p:spPr>
          <a:xfrm>
            <a:off x="5079050" y="5790871"/>
            <a:ext cx="256985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DZ" sz="2800" b="1" dirty="0" smtClean="0"/>
              <a:t>في خدمة المتعلم</a:t>
            </a:r>
            <a:endParaRPr lang="ar-DZ" sz="2800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787587" y="5713258"/>
            <a:ext cx="256985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DZ" sz="2800" b="1" dirty="0" smtClean="0"/>
              <a:t>في خدمة المعلم</a:t>
            </a:r>
            <a:endParaRPr lang="ar-DZ" sz="2800" b="1" dirty="0"/>
          </a:p>
        </p:txBody>
      </p:sp>
      <p:sp>
        <p:nvSpPr>
          <p:cNvPr id="14" name="Accolade ouvrante 13"/>
          <p:cNvSpPr/>
          <p:nvPr/>
        </p:nvSpPr>
        <p:spPr>
          <a:xfrm rot="16200000">
            <a:off x="1413194" y="4476236"/>
            <a:ext cx="576063" cy="1897980"/>
          </a:xfrm>
          <a:prstGeom prst="leftBrace">
            <a:avLst>
              <a:gd name="adj1" fmla="val 27826"/>
              <a:gd name="adj2" fmla="val 488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3128311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622793" y="2276872"/>
            <a:ext cx="5544616" cy="2185214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>
            <a:defPPr>
              <a:defRPr lang="fr-FR"/>
            </a:defPPr>
            <a:lvl1pPr algn="ctr" rtl="1"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ar-DZ" sz="4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Hesham Bold" pitchFamily="2" charset="-78"/>
              </a:rPr>
              <a:t>تطبيق</a:t>
            </a:r>
            <a:endParaRPr lang="ar-DZ" sz="440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r>
              <a:rPr lang="ar-DZ" sz="44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التقويم  التكويني وتنفيذ المقطع التعلمي</a:t>
            </a:r>
            <a:endParaRPr lang="ar-DZ" sz="44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0793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7620" y="2780928"/>
            <a:ext cx="3862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buClr>
                <a:srgbClr val="FF0000"/>
              </a:buClr>
              <a:buFont typeface="Wingdings 3" pitchFamily="18" charset="2"/>
              <a:buChar char="t"/>
            </a:pPr>
            <a:r>
              <a:rPr lang="ar-DZ" sz="2400" b="1" dirty="0"/>
              <a:t>وجاهة </a:t>
            </a:r>
            <a:r>
              <a:rPr lang="ar-DZ" sz="2400" b="1" dirty="0" smtClean="0"/>
              <a:t>المنتوج (</a:t>
            </a:r>
            <a:r>
              <a:rPr lang="ar-DZ" sz="2400" dirty="0" smtClean="0"/>
              <a:t>بعد أداء المهمة)</a:t>
            </a:r>
            <a:endParaRPr lang="ar-DZ" sz="2400" dirty="0"/>
          </a:p>
        </p:txBody>
      </p:sp>
      <p:sp>
        <p:nvSpPr>
          <p:cNvPr id="3" name="Rectangle 2"/>
          <p:cNvSpPr/>
          <p:nvPr/>
        </p:nvSpPr>
        <p:spPr>
          <a:xfrm>
            <a:off x="1108209" y="260648"/>
            <a:ext cx="7299023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1"/>
            <a:r>
              <a:rPr lang="ar-DZ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المعايير والمؤشرات </a:t>
            </a:r>
            <a:r>
              <a:rPr lang="ar-DZ" sz="3200" b="1" dirty="0" smtClean="0"/>
              <a:t>لبناء </a:t>
            </a:r>
            <a:r>
              <a:rPr lang="ar-DZ" sz="3200" b="1" dirty="0"/>
              <a:t>خطة </a:t>
            </a:r>
            <a:r>
              <a:rPr lang="ar-DZ" sz="3200" b="1" dirty="0" smtClean="0"/>
              <a:t>للتقويم التكويني</a:t>
            </a:r>
            <a:endParaRPr lang="ar-DZ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1115616" y="3261703"/>
            <a:ext cx="3384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buClr>
                <a:srgbClr val="FF0000"/>
              </a:buClr>
              <a:buFont typeface="Wingdings 3" pitchFamily="18" charset="2"/>
              <a:buChar char="t"/>
            </a:pPr>
            <a:r>
              <a:rPr lang="ar-DZ" sz="2400" b="1" dirty="0"/>
              <a:t>التحكم في الموارد المعرفية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5496" y="3813803"/>
            <a:ext cx="4464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buClr>
                <a:srgbClr val="FF0000"/>
              </a:buClr>
              <a:buFont typeface="Wingdings 3" pitchFamily="18" charset="2"/>
              <a:buChar char="t"/>
            </a:pPr>
            <a:r>
              <a:rPr lang="ar-DZ" sz="2400" b="1" dirty="0"/>
              <a:t>توظيف الموارد والكفاءات العرضية 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616" y="4327282"/>
            <a:ext cx="3384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buClr>
                <a:srgbClr val="FF0000"/>
              </a:buClr>
              <a:buFont typeface="Wingdings 3" pitchFamily="18" charset="2"/>
              <a:buChar char="t"/>
            </a:pPr>
            <a:r>
              <a:rPr lang="ar-DZ" sz="2400" b="1" dirty="0"/>
              <a:t>ترسيخ القيم والمواقف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0536" y="1467543"/>
            <a:ext cx="1853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DZ" sz="2800" b="1" dirty="0" smtClean="0"/>
              <a:t>ماذا نلاحظ؟</a:t>
            </a:r>
            <a:endParaRPr lang="ar-DZ" sz="2800" dirty="0"/>
          </a:p>
        </p:txBody>
      </p:sp>
      <p:sp>
        <p:nvSpPr>
          <p:cNvPr id="8" name="Rectangle 7"/>
          <p:cNvSpPr/>
          <p:nvPr/>
        </p:nvSpPr>
        <p:spPr>
          <a:xfrm>
            <a:off x="0" y="1124744"/>
            <a:ext cx="4644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rtl="1">
              <a:buClr>
                <a:schemeClr val="accent1">
                  <a:lumMod val="75000"/>
                </a:schemeClr>
              </a:buClr>
              <a:buFont typeface="Wingdings 3" pitchFamily="18" charset="2"/>
              <a:buChar char="t"/>
            </a:pPr>
            <a:r>
              <a:rPr lang="ar-DZ" sz="2800" b="1" dirty="0" smtClean="0"/>
              <a:t>منتوج التلميذ  </a:t>
            </a:r>
            <a:r>
              <a:rPr lang="ar-DZ" sz="2800" b="1" dirty="0"/>
              <a:t>(</a:t>
            </a:r>
            <a:r>
              <a:rPr lang="ar-DZ" sz="2000" b="1" dirty="0"/>
              <a:t>الأثر الكتابي، الشفوي، </a:t>
            </a:r>
            <a:r>
              <a:rPr lang="ar-DZ" sz="2000" b="1" dirty="0" smtClean="0"/>
              <a:t>)</a:t>
            </a:r>
            <a:endParaRPr lang="ar-DZ" sz="2800" dirty="0"/>
          </a:p>
        </p:txBody>
      </p:sp>
      <p:sp>
        <p:nvSpPr>
          <p:cNvPr id="9" name="Rectangle 8"/>
          <p:cNvSpPr/>
          <p:nvPr/>
        </p:nvSpPr>
        <p:spPr>
          <a:xfrm>
            <a:off x="7110536" y="3592563"/>
            <a:ext cx="1853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DZ" sz="2800" b="1" dirty="0" smtClean="0"/>
              <a:t>وفــــــق</a:t>
            </a:r>
            <a:endParaRPr lang="ar-DZ" sz="2800" dirty="0"/>
          </a:p>
        </p:txBody>
      </p:sp>
      <p:sp>
        <p:nvSpPr>
          <p:cNvPr id="10" name="Accolade fermante 9"/>
          <p:cNvSpPr/>
          <p:nvPr/>
        </p:nvSpPr>
        <p:spPr>
          <a:xfrm>
            <a:off x="4602302" y="2780928"/>
            <a:ext cx="322674" cy="2008020"/>
          </a:xfrm>
          <a:prstGeom prst="rightBrace">
            <a:avLst>
              <a:gd name="adj1" fmla="val 60316"/>
              <a:gd name="adj2" fmla="val 494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2" name="Flèche gauche 11"/>
          <p:cNvSpPr/>
          <p:nvPr/>
        </p:nvSpPr>
        <p:spPr>
          <a:xfrm>
            <a:off x="5844752" y="1647964"/>
            <a:ext cx="753074" cy="261610"/>
          </a:xfrm>
          <a:prstGeom prst="leftArrow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3" name="ZoneTexte 12"/>
          <p:cNvSpPr txBox="1"/>
          <p:nvPr/>
        </p:nvSpPr>
        <p:spPr>
          <a:xfrm>
            <a:off x="4738941" y="3307884"/>
            <a:ext cx="1110601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1"/>
            <a:r>
              <a:rPr lang="ar-DZ" sz="28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4 معايير</a:t>
            </a:r>
            <a:endParaRPr lang="ar-DZ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Flèche gauche 13"/>
          <p:cNvSpPr/>
          <p:nvPr/>
        </p:nvSpPr>
        <p:spPr>
          <a:xfrm>
            <a:off x="5844752" y="3723368"/>
            <a:ext cx="753074" cy="26161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5" name="Rectangle 14"/>
          <p:cNvSpPr/>
          <p:nvPr/>
        </p:nvSpPr>
        <p:spPr>
          <a:xfrm>
            <a:off x="648298" y="1810342"/>
            <a:ext cx="39957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6588" indent="-457200" algn="r" rtl="1">
              <a:buClr>
                <a:schemeClr val="accent1">
                  <a:lumMod val="75000"/>
                </a:schemeClr>
              </a:buClr>
              <a:buFont typeface="Wingdings 3" pitchFamily="18" charset="2"/>
              <a:buChar char="t"/>
            </a:pPr>
            <a:r>
              <a:rPr lang="ar-DZ" sz="2800" b="1" dirty="0" smtClean="0"/>
              <a:t>نشاط التلميذ  (</a:t>
            </a:r>
            <a:r>
              <a:rPr lang="ar-DZ" sz="2000" b="1" dirty="0"/>
              <a:t>السلوك</a:t>
            </a:r>
            <a:r>
              <a:rPr lang="ar-DZ" sz="2800" b="1" dirty="0" smtClean="0"/>
              <a:t> </a:t>
            </a:r>
            <a:r>
              <a:rPr lang="ar-DZ" sz="2000" b="1" dirty="0" smtClean="0"/>
              <a:t>القابل للملاحظة)</a:t>
            </a:r>
            <a:endParaRPr lang="ar-DZ" sz="2800" dirty="0"/>
          </a:p>
        </p:txBody>
      </p:sp>
      <p:sp>
        <p:nvSpPr>
          <p:cNvPr id="16" name="Accolade fermante 15"/>
          <p:cNvSpPr/>
          <p:nvPr/>
        </p:nvSpPr>
        <p:spPr>
          <a:xfrm>
            <a:off x="4427984" y="1124744"/>
            <a:ext cx="348637" cy="1208818"/>
          </a:xfrm>
          <a:prstGeom prst="rightBrace">
            <a:avLst>
              <a:gd name="adj1" fmla="val 60316"/>
              <a:gd name="adj2" fmla="val 494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17" name="Rectangle 16"/>
          <p:cNvSpPr/>
          <p:nvPr/>
        </p:nvSpPr>
        <p:spPr>
          <a:xfrm>
            <a:off x="7110536" y="5661248"/>
            <a:ext cx="1853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DZ" sz="2800" b="1" dirty="0" smtClean="0"/>
              <a:t>للحصول على</a:t>
            </a:r>
            <a:endParaRPr lang="ar-DZ" sz="2800" dirty="0"/>
          </a:p>
        </p:txBody>
      </p:sp>
      <p:sp>
        <p:nvSpPr>
          <p:cNvPr id="18" name="Rectangle 17"/>
          <p:cNvSpPr/>
          <p:nvPr/>
        </p:nvSpPr>
        <p:spPr>
          <a:xfrm>
            <a:off x="251520" y="5661248"/>
            <a:ext cx="4248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buClr>
                <a:srgbClr val="00B050"/>
              </a:buClr>
              <a:buFont typeface="Wingdings 3" pitchFamily="18" charset="2"/>
              <a:buChar char="t"/>
            </a:pPr>
            <a:r>
              <a:rPr lang="ar-DZ" sz="2400" b="1" dirty="0" smtClean="0"/>
              <a:t>مجموعة من المؤشرات الدالة على حدوث التعلم أو التعثر</a:t>
            </a:r>
            <a:endParaRPr lang="ar-DZ" sz="2400" b="1" dirty="0"/>
          </a:p>
        </p:txBody>
      </p:sp>
      <p:sp>
        <p:nvSpPr>
          <p:cNvPr id="19" name="Flèche gauche 18"/>
          <p:cNvSpPr/>
          <p:nvPr/>
        </p:nvSpPr>
        <p:spPr>
          <a:xfrm>
            <a:off x="5844752" y="5815136"/>
            <a:ext cx="753074" cy="261610"/>
          </a:xfrm>
          <a:prstGeom prst="leftArrow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896017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15816" y="476672"/>
            <a:ext cx="378042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ar-DZ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ملاحظة وجمع المعلومات</a:t>
            </a:r>
            <a:endParaRPr lang="ar-DZ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555776" y="1628800"/>
            <a:ext cx="345638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b="1" dirty="0" smtClean="0"/>
              <a:t>تحليل نتائج الملاحظة</a:t>
            </a:r>
            <a:endParaRPr lang="ar-DZ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5782563" y="2901646"/>
            <a:ext cx="237626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b="1" dirty="0" smtClean="0"/>
              <a:t>إجراء تعديل فوري</a:t>
            </a:r>
            <a:endParaRPr lang="ar-DZ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870485" y="2882721"/>
            <a:ext cx="259228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b="1" dirty="0" smtClean="0"/>
              <a:t>تأجيل إجراء التعديل</a:t>
            </a:r>
            <a:endParaRPr lang="ar-DZ" sz="28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350515" y="3860467"/>
            <a:ext cx="324036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دعم وتقديم مساعدة (</a:t>
            </a:r>
            <a:r>
              <a:rPr lang="ar-DZ" sz="2400" dirty="0" smtClean="0"/>
              <a:t>للتلميذ</a:t>
            </a:r>
            <a:r>
              <a:rPr lang="ar-DZ" sz="2800" dirty="0" smtClean="0"/>
              <a:t>)</a:t>
            </a:r>
            <a:endParaRPr lang="ar-DZ" sz="2800" dirty="0"/>
          </a:p>
        </p:txBody>
      </p:sp>
      <p:sp>
        <p:nvSpPr>
          <p:cNvPr id="7" name="ZoneTexte 6"/>
          <p:cNvSpPr txBox="1"/>
          <p:nvPr/>
        </p:nvSpPr>
        <p:spPr>
          <a:xfrm>
            <a:off x="5134491" y="5266711"/>
            <a:ext cx="367240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تغيير وتكييف الطريقة (</a:t>
            </a:r>
            <a:r>
              <a:rPr lang="ar-DZ" sz="2400" dirty="0" smtClean="0"/>
              <a:t>للأستاذ</a:t>
            </a:r>
            <a:r>
              <a:rPr lang="ar-DZ" sz="2800" dirty="0" smtClean="0"/>
              <a:t>)</a:t>
            </a:r>
            <a:endParaRPr lang="ar-DZ" sz="2800" dirty="0"/>
          </a:p>
        </p:txBody>
      </p:sp>
      <p:sp>
        <p:nvSpPr>
          <p:cNvPr id="8" name="ZoneTexte 7"/>
          <p:cNvSpPr txBox="1"/>
          <p:nvPr/>
        </p:nvSpPr>
        <p:spPr>
          <a:xfrm>
            <a:off x="611560" y="3645024"/>
            <a:ext cx="3024336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تحديد </a:t>
            </a:r>
            <a:r>
              <a:rPr lang="ar-DZ" sz="2800" dirty="0"/>
              <a:t>و</a:t>
            </a:r>
            <a:r>
              <a:rPr lang="ar-DZ" sz="2800" dirty="0" smtClean="0"/>
              <a:t>تدوين مواطن الصعوبة</a:t>
            </a:r>
            <a:endParaRPr lang="ar-DZ" sz="2800" dirty="0"/>
          </a:p>
        </p:txBody>
      </p:sp>
      <p:sp>
        <p:nvSpPr>
          <p:cNvPr id="19" name="Flèche à angle droit 18"/>
          <p:cNvSpPr/>
          <p:nvPr/>
        </p:nvSpPr>
        <p:spPr>
          <a:xfrm flipV="1">
            <a:off x="6156176" y="1890409"/>
            <a:ext cx="1080120" cy="768551"/>
          </a:xfrm>
          <a:prstGeom prst="bentUpArrow">
            <a:avLst>
              <a:gd name="adj1" fmla="val 8301"/>
              <a:gd name="adj2" fmla="val 25000"/>
              <a:gd name="adj3" fmla="val 145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20" name="Flèche à angle droit 19"/>
          <p:cNvSpPr/>
          <p:nvPr/>
        </p:nvSpPr>
        <p:spPr>
          <a:xfrm flipH="1" flipV="1">
            <a:off x="2166629" y="1890409"/>
            <a:ext cx="1080120" cy="768551"/>
          </a:xfrm>
          <a:prstGeom prst="bentUpArrow">
            <a:avLst>
              <a:gd name="adj1" fmla="val 8301"/>
              <a:gd name="adj2" fmla="val 25000"/>
              <a:gd name="adj3" fmla="val 145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21" name="ZoneTexte 20"/>
          <p:cNvSpPr txBox="1"/>
          <p:nvPr/>
        </p:nvSpPr>
        <p:spPr>
          <a:xfrm>
            <a:off x="539552" y="4842738"/>
            <a:ext cx="324036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2800" dirty="0" smtClean="0"/>
              <a:t>تبويب الصعوبات لبرمجة لاحقة (فئات الحاجة)</a:t>
            </a:r>
            <a:endParaRPr lang="ar-DZ" sz="2800" dirty="0"/>
          </a:p>
        </p:txBody>
      </p:sp>
    </p:spTree>
    <p:extLst>
      <p:ext uri="{BB962C8B-B14F-4D97-AF65-F5344CB8AC3E}">
        <p14:creationId xmlns:p14="http://schemas.microsoft.com/office/powerpoint/2010/main" xmlns="" val="3374443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39752" y="404662"/>
            <a:ext cx="4536504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ar-DZ" sz="3200" b="1" dirty="0" smtClean="0"/>
              <a:t>شبكة التقويم التكويني (</a:t>
            </a:r>
            <a:r>
              <a:rPr lang="ar-DZ" sz="3200" b="1" dirty="0" smtClean="0">
                <a:solidFill>
                  <a:schemeClr val="bg1"/>
                </a:solidFill>
              </a:rPr>
              <a:t>نموذج</a:t>
            </a:r>
            <a:r>
              <a:rPr lang="ar-DZ" sz="3200" b="1" dirty="0" smtClean="0"/>
              <a:t>)</a:t>
            </a:r>
            <a:endParaRPr lang="ar-DZ" sz="3200" b="1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58447989"/>
              </p:ext>
            </p:extLst>
          </p:nvPr>
        </p:nvGraphicFramePr>
        <p:xfrm>
          <a:off x="395536" y="2492896"/>
          <a:ext cx="8568950" cy="3931920"/>
        </p:xfrm>
        <a:graphic>
          <a:graphicData uri="http://schemas.openxmlformats.org/drawingml/2006/table">
            <a:tbl>
              <a:tblPr rtl="1" firstRow="1" bandRow="1">
                <a:tableStyleId>{1FECB4D8-DB02-4DC6-A0A2-4F2EBAE1DC90}</a:tableStyleId>
              </a:tblPr>
              <a:tblGrid>
                <a:gridCol w="2314267"/>
                <a:gridCol w="1262225"/>
                <a:gridCol w="1564878"/>
                <a:gridCol w="1829918"/>
                <a:gridCol w="1597662"/>
              </a:tblGrid>
              <a:tr h="336245">
                <a:tc>
                  <a:txBody>
                    <a:bodyPr/>
                    <a:lstStyle/>
                    <a:p>
                      <a:pPr algn="ctr" rtl="1"/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وضعية التعلم </a:t>
                      </a:r>
                      <a:r>
                        <a:rPr lang="ar-DZ" sz="2400" dirty="0" smtClean="0">
                          <a:solidFill>
                            <a:srgbClr val="538022"/>
                          </a:solidFill>
                          <a:sym typeface="Wingdings 2"/>
                        </a:rPr>
                        <a:t></a:t>
                      </a:r>
                      <a:endParaRPr lang="ar-DZ" sz="2400" b="1" dirty="0">
                        <a:solidFill>
                          <a:srgbClr val="5380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6245">
                <a:tc>
                  <a:txBody>
                    <a:bodyPr/>
                    <a:lstStyle/>
                    <a:p>
                      <a:pPr algn="ctr" rtl="1"/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وضعية التعلم</a:t>
                      </a:r>
                      <a:r>
                        <a:rPr lang="ar-DZ" sz="2400" dirty="0" smtClean="0">
                          <a:solidFill>
                            <a:srgbClr val="538022"/>
                          </a:solidFill>
                          <a:sym typeface="Wingdings 2"/>
                        </a:rPr>
                        <a:t></a:t>
                      </a:r>
                      <a:endParaRPr lang="ar-DZ" sz="2400" b="1" dirty="0">
                        <a:solidFill>
                          <a:srgbClr val="5380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6245">
                <a:tc>
                  <a:txBody>
                    <a:bodyPr/>
                    <a:lstStyle/>
                    <a:p>
                      <a:pPr algn="ctr" rtl="1"/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...</a:t>
                      </a:r>
                      <a:endParaRPr lang="ar-DZ" sz="2400" b="1" dirty="0">
                        <a:solidFill>
                          <a:srgbClr val="5380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624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...</a:t>
                      </a:r>
                      <a:endParaRPr lang="ar-DZ" sz="2400" b="1" dirty="0" smtClean="0">
                        <a:solidFill>
                          <a:srgbClr val="5380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6245">
                <a:tc>
                  <a:txBody>
                    <a:bodyPr/>
                    <a:lstStyle/>
                    <a:p>
                      <a:pPr algn="ctr" rtl="1"/>
                      <a:endParaRPr lang="ar-DZ" sz="2400" b="1" dirty="0">
                        <a:solidFill>
                          <a:srgbClr val="5380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624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وضعية إدماج التعلمات</a:t>
                      </a:r>
                      <a:endParaRPr lang="ar-DZ" sz="2400" b="1" dirty="0" smtClean="0">
                        <a:solidFill>
                          <a:srgbClr val="5380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7972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وضعية </a:t>
                      </a:r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التقويم </a:t>
                      </a:r>
                      <a:r>
                        <a:rPr lang="ar-DZ" sz="2400" dirty="0" smtClean="0">
                          <a:solidFill>
                            <a:srgbClr val="538022"/>
                          </a:solidFill>
                        </a:rPr>
                        <a:t>المرحلي</a:t>
                      </a:r>
                      <a:endParaRPr lang="ar-DZ" sz="2400" b="1" dirty="0" smtClean="0">
                        <a:solidFill>
                          <a:srgbClr val="5380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4489406"/>
              </p:ext>
            </p:extLst>
          </p:nvPr>
        </p:nvGraphicFramePr>
        <p:xfrm>
          <a:off x="359026" y="1268760"/>
          <a:ext cx="8784974" cy="1121664"/>
        </p:xfrm>
        <a:graphic>
          <a:graphicData uri="http://schemas.openxmlformats.org/drawingml/2006/table">
            <a:tbl>
              <a:tblPr rtl="1"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2498136"/>
                <a:gridCol w="1203754"/>
                <a:gridCol w="1631988"/>
                <a:gridCol w="1784462"/>
                <a:gridCol w="1666634"/>
              </a:tblGrid>
              <a:tr h="258444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سير المقطع التعلمي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معايير ومؤشرات التقويم التكويني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695022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وجاهة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التحكم في الموارد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المعرفية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توظيف الموارد </a:t>
                      </a:r>
                      <a:r>
                        <a:rPr lang="ar-DZ" sz="20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2" action="ppaction://hlinksldjump"/>
                        </a:rPr>
                        <a:t>والكفاءات </a:t>
                      </a:r>
                      <a:r>
                        <a:rPr lang="ar-DZ" sz="2000" b="1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2" action="ppaction://hlinksldjump"/>
                        </a:rPr>
                        <a:t>العرضية</a:t>
                      </a:r>
                      <a:endParaRPr lang="en-US" sz="16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ترسيخ </a:t>
                      </a: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3" action="ppaction://hlinksldjump"/>
                        </a:rPr>
                        <a:t>القيم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3" action="ppaction://hlinksldjump"/>
                        </a:rPr>
                        <a:t>والمواقف</a:t>
                      </a:r>
                      <a:endParaRPr lang="en-US" sz="16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03761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08767128"/>
              </p:ext>
            </p:extLst>
          </p:nvPr>
        </p:nvGraphicFramePr>
        <p:xfrm>
          <a:off x="179512" y="188640"/>
          <a:ext cx="8784974" cy="1121664"/>
        </p:xfrm>
        <a:graphic>
          <a:graphicData uri="http://schemas.openxmlformats.org/drawingml/2006/table">
            <a:tbl>
              <a:tblPr rtl="1"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755444"/>
                <a:gridCol w="1755444"/>
                <a:gridCol w="1637394"/>
                <a:gridCol w="1970058"/>
                <a:gridCol w="1666634"/>
              </a:tblGrid>
              <a:tr h="258444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سير المقطع التعلمي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معايير ومؤشرات التقويم التكويني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695022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وجاهة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التحكم في الموارد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المعرفية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توظيف الموارد والكفاءات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العرضية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ترسيخ القيم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والمواقف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72567657"/>
              </p:ext>
            </p:extLst>
          </p:nvPr>
        </p:nvGraphicFramePr>
        <p:xfrm>
          <a:off x="179512" y="1412776"/>
          <a:ext cx="8784976" cy="5362956"/>
        </p:xfrm>
        <a:graphic>
          <a:graphicData uri="http://schemas.openxmlformats.org/drawingml/2006/table">
            <a:tbl>
              <a:tblPr rtl="1" firstRow="1" firstCol="1" bandRow="1">
                <a:tableStyleId>{3B4B98B0-60AC-42C2-AFA5-B58CD77FA1E5}</a:tableStyleId>
              </a:tblPr>
              <a:tblGrid>
                <a:gridCol w="1794974"/>
                <a:gridCol w="1688766"/>
                <a:gridCol w="1648793"/>
                <a:gridCol w="2002818"/>
                <a:gridCol w="1649625"/>
              </a:tblGrid>
              <a:tr h="5256584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"/>
                        <a:tabLst>
                          <a:tab pos="165100" algn="l"/>
                        </a:tabLst>
                      </a:pPr>
                      <a:r>
                        <a:rPr lang="ar-DZ" sz="2400" u="sng" dirty="0">
                          <a:solidFill>
                            <a:srgbClr val="538022"/>
                          </a:solidFill>
                          <a:effectLst/>
                        </a:rPr>
                        <a:t>وضعية تعلمية جزئية </a:t>
                      </a:r>
                      <a:r>
                        <a:rPr lang="en-US" sz="2400" u="sng" dirty="0">
                          <a:solidFill>
                            <a:srgbClr val="538022"/>
                          </a:solidFill>
                          <a:effectLst/>
                          <a:sym typeface="Wingdings 2"/>
                        </a:rPr>
                        <a:t></a:t>
                      </a:r>
                      <a:r>
                        <a:rPr lang="ar-DZ" sz="2400" u="sng" dirty="0">
                          <a:solidFill>
                            <a:srgbClr val="538022"/>
                          </a:solidFill>
                          <a:effectLst/>
                        </a:rPr>
                        <a:t>: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7493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65100" algn="l"/>
                        </a:tabLs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[</a:t>
                      </a: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  <a:hlinkClick r:id="rId2" action="ppaction://hlinksldjump"/>
                        </a:rPr>
                        <a:t>الدارة الكهربائية </a:t>
                      </a:r>
                      <a:r>
                        <a:rPr lang="ar-DZ" sz="2400" dirty="0" smtClean="0">
                          <a:solidFill>
                            <a:srgbClr val="538022"/>
                          </a:solidFill>
                          <a:effectLst/>
                          <a:hlinkClick r:id="rId2" action="ppaction://hlinksldjump"/>
                        </a:rPr>
                        <a:t>البسيطة</a:t>
                      </a:r>
                      <a:r>
                        <a:rPr lang="ar-DZ" sz="2400" dirty="0" smtClean="0">
                          <a:solidFill>
                            <a:srgbClr val="538022"/>
                          </a:solidFill>
                          <a:effectLst/>
                        </a:rPr>
                        <a:t>]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7493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65100" algn="l"/>
                        </a:tabLs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"تحقيق دارة محرك"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solidFill>
                            <a:srgbClr val="538022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يفهم التعليمة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يختار العناصر الأساسية لصنع دارة تشغيل المحرك من مصباح الجيب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يستخدم العناصر المختارة في تركيب ما يمثل دارة كهربائية لتشغيل المحرك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يشغل دارة تشغيل المحرك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يحل المشكلات المرتبطة بالتماس </a:t>
                      </a:r>
                      <a:r>
                        <a:rPr lang="ar-DZ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الكهربائي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dirty="0">
                          <a:effectLst/>
                        </a:rPr>
                        <a:t>يعرف العناصر الأساسية في دارة كهربائية بسيطة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dirty="0">
                          <a:effectLst/>
                        </a:rPr>
                        <a:t>يتعرف على قطبي المولد (بطارية) 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dirty="0">
                          <a:effectLst/>
                        </a:rPr>
                        <a:t>يعرف كيفية تركيب  دارة كهربائية بسيطة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dirty="0">
                          <a:effectLst/>
                        </a:rPr>
                        <a:t>يعرف دور المولد</a:t>
                      </a:r>
                      <a:endParaRPr lang="en-US" sz="1600" b="0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600" b="0" dirty="0">
                          <a:effectLst/>
                        </a:rPr>
                        <a:t>يشرح شروط تشغيل دارة كهربائية بسيطة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600" b="0" dirty="0">
                          <a:effectLst/>
                        </a:rPr>
                        <a:t>يركب دارة كهربائية لتشغيل عناصر بسيطة عمليا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600" b="0" dirty="0">
                          <a:effectLst/>
                        </a:rPr>
                        <a:t>يحل مشكلات ربط عناصر والتحكم في دارة كهربائية بسيطة</a:t>
                      </a:r>
                      <a:r>
                        <a:rPr lang="ar-DZ" sz="1800" b="0" dirty="0">
                          <a:effectLst/>
                        </a:rPr>
                        <a:t> 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b="0" dirty="0">
                          <a:effectLst/>
                        </a:rPr>
                        <a:t>يشغل دارة كهربائية بكيفية صحيحة (دارة المصباح، دارة المحرك</a:t>
                      </a:r>
                      <a:r>
                        <a:rPr lang="ar-DZ" sz="1600" b="0" dirty="0">
                          <a:effectLst/>
                        </a:rPr>
                        <a:t>)</a:t>
                      </a:r>
                      <a:endParaRPr lang="en-US" sz="16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600" b="0" dirty="0">
                          <a:solidFill>
                            <a:schemeClr val="tx1"/>
                          </a:solidFill>
                          <a:effectLst/>
                        </a:rPr>
                        <a:t> يمارس الفضول العلمي والفكر النقدي، فيلاحظ ويستكشف ويستدل منطقيا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b="0" dirty="0">
                          <a:effectLst/>
                        </a:rPr>
                        <a:t>تترسخ لديه  اللغة الوطنية كلغة للاتصال والتعبير العلمي  </a:t>
                      </a:r>
                      <a:endParaRPr lang="en-US" sz="2000" b="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b="0" dirty="0">
                          <a:effectLst/>
                        </a:rPr>
                        <a:t>يطّلع على التراث العالمي ويستفيد منه ويعزز القيم الوطنية والعالمية، ويُقبل على استخدام تكنولوجيات العصر</a:t>
                      </a:r>
                      <a:endParaRPr lang="en-US" sz="2000" b="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66725834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66593573"/>
              </p:ext>
            </p:extLst>
          </p:nvPr>
        </p:nvGraphicFramePr>
        <p:xfrm>
          <a:off x="205498" y="1227598"/>
          <a:ext cx="8686982" cy="5608320"/>
        </p:xfrm>
        <a:graphic>
          <a:graphicData uri="http://schemas.openxmlformats.org/drawingml/2006/table">
            <a:tbl>
              <a:tblPr rtl="1" firstRow="1" firstCol="1" bandRow="1">
                <a:tableStyleId>{5940675A-B579-460E-94D1-54222C63F5DA}</a:tableStyleId>
              </a:tblPr>
              <a:tblGrid>
                <a:gridCol w="1562044"/>
                <a:gridCol w="1836030"/>
                <a:gridCol w="1608249"/>
                <a:gridCol w="1953569"/>
                <a:gridCol w="1727090"/>
              </a:tblGrid>
              <a:tr h="5544616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"/>
                        <a:tabLst>
                          <a:tab pos="165100" algn="l"/>
                        </a:tabLst>
                      </a:pPr>
                      <a:r>
                        <a:rPr lang="ar-DZ" sz="2400" u="sng" dirty="0">
                          <a:solidFill>
                            <a:srgbClr val="538022"/>
                          </a:solidFill>
                          <a:effectLst/>
                        </a:rPr>
                        <a:t>وضعية تعلمية جزئية </a:t>
                      </a:r>
                      <a:r>
                        <a:rPr lang="en-US" sz="2400" u="sng" dirty="0">
                          <a:solidFill>
                            <a:srgbClr val="538022"/>
                          </a:solidFill>
                          <a:effectLst/>
                          <a:sym typeface="Wingdings 2"/>
                        </a:rPr>
                        <a:t></a:t>
                      </a:r>
                      <a:r>
                        <a:rPr lang="ar-DZ" sz="2400" u="sng" dirty="0">
                          <a:solidFill>
                            <a:srgbClr val="538022"/>
                          </a:solidFill>
                          <a:effectLst/>
                        </a:rPr>
                        <a:t>: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7493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65100" algn="l"/>
                        </a:tabLs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[الناقل والعازل الكهربائي]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7493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65100" algn="l"/>
                        </a:tabLs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"اختبار الناقلية الكهربائية"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solidFill>
                            <a:srgbClr val="538022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يفهم التعليمة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ينتقي الأجسام الملائمة للاختبار من أدوات الاستعمال البسيط 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يركب دارة كهربائية بسيطة تسمح بإدراج العينة المختارة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يشغل الدارة لويحكم على خاصية الناقلية</a:t>
                      </a:r>
                      <a:endParaRPr lang="en-US" sz="16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يستخدم جدول لحوصلة النتائج من الشكل (ينقل / </a:t>
                      </a:r>
                      <a:r>
                        <a:rPr lang="ar-DZ" sz="1800" dirty="0" err="1">
                          <a:effectLst/>
                        </a:rPr>
                        <a:t>لاينقل</a:t>
                      </a:r>
                      <a:r>
                        <a:rPr lang="ar-DZ" sz="1800" dirty="0">
                          <a:effectLst/>
                        </a:rPr>
                        <a:t>)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 يعرف المواد الناقلة للكهرباء والعازلة لها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يعطي أمثلة عن أجسام مألوفة ناقلة للكهرباء وأخرى عازلة لها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يعرف أن مكونات تتضمن أجزاء مسؤولة عن النقل الكهربائي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يستخدم الأجسام الناقلة والعازلة للكهرباء استخداما صحيحا في الدارة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يجري عمليا اختبار الناقلية الكهربائية</a:t>
                      </a:r>
                      <a:r>
                        <a:rPr lang="ar-DZ" sz="1800" dirty="0">
                          <a:effectLst/>
                        </a:rPr>
                        <a:t> 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solidFill>
                            <a:schemeClr val="tx1"/>
                          </a:solidFill>
                          <a:effectLst/>
                        </a:rPr>
                        <a:t>يمارس</a:t>
                      </a:r>
                      <a:r>
                        <a:rPr lang="ar-DZ" sz="1800" dirty="0">
                          <a:solidFill>
                            <a:schemeClr val="tx1"/>
                          </a:solidFill>
                          <a:effectLst/>
                        </a:rPr>
                        <a:t> الفضول العلمي والفكر النقدي، فيلاحظ ويستكشف ويستدل منطقيا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32715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تترسخ لديه  اللغة الوطنية كلغة للاتصال والتعبير العلمي 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يطّلع على التراث العالمي ويستفيد منه ويعزز القيم الوطنية والعالمية، ويُقبل على استخدام تكنولوجيات العصر</a:t>
                      </a:r>
                      <a:endParaRPr lang="en-US" sz="1800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55336056"/>
              </p:ext>
            </p:extLst>
          </p:nvPr>
        </p:nvGraphicFramePr>
        <p:xfrm>
          <a:off x="179514" y="116632"/>
          <a:ext cx="8784974" cy="1121664"/>
        </p:xfrm>
        <a:graphic>
          <a:graphicData uri="http://schemas.openxmlformats.org/drawingml/2006/table">
            <a:tbl>
              <a:tblPr rtl="1"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755444"/>
                <a:gridCol w="1755444"/>
                <a:gridCol w="1637394"/>
                <a:gridCol w="1970058"/>
                <a:gridCol w="1666634"/>
              </a:tblGrid>
              <a:tr h="258444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سير المقطع التعلمي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معايير ومؤشرات التقويم التكويني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695022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وجاهة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التحكم في الموارد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المعرفية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توظيف الموارد </a:t>
                      </a:r>
                      <a:r>
                        <a:rPr lang="ar-DZ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والكفاءات </a:t>
                      </a:r>
                      <a:r>
                        <a:rPr lang="ar-DZ" sz="20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العرضية</a:t>
                      </a:r>
                      <a:endPara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ترسيخ القيم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والمواقف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06416806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37824204"/>
              </p:ext>
            </p:extLst>
          </p:nvPr>
        </p:nvGraphicFramePr>
        <p:xfrm>
          <a:off x="147060" y="1268760"/>
          <a:ext cx="8889436" cy="5993892"/>
        </p:xfrm>
        <a:graphic>
          <a:graphicData uri="http://schemas.openxmlformats.org/drawingml/2006/table">
            <a:tbl>
              <a:tblPr rtl="1" firstRow="1" firstCol="1" bandRow="1">
                <a:tableStyleId>{5940675A-B579-460E-94D1-54222C63F5DA}</a:tableStyleId>
              </a:tblPr>
              <a:tblGrid>
                <a:gridCol w="1647273"/>
                <a:gridCol w="1936209"/>
                <a:gridCol w="1696000"/>
                <a:gridCol w="2060160"/>
                <a:gridCol w="1549794"/>
              </a:tblGrid>
              <a:tr h="5976664">
                <a:tc>
                  <a:txBody>
                    <a:bodyPr/>
                    <a:lstStyle/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  <a:tabLst>
                          <a:tab pos="165100" algn="l"/>
                        </a:tabLst>
                      </a:pPr>
                      <a:r>
                        <a:rPr lang="ar-DZ" sz="2400" kern="1200" dirty="0">
                          <a:solidFill>
                            <a:srgbClr val="538022"/>
                          </a:solidFill>
                          <a:effectLst/>
                        </a:rPr>
                        <a:t>وضعية تعلمية جزئية </a:t>
                      </a:r>
                      <a:r>
                        <a:rPr lang="en-US" sz="2400" kern="1200" dirty="0">
                          <a:solidFill>
                            <a:srgbClr val="538022"/>
                          </a:solidFill>
                          <a:effectLst/>
                          <a:sym typeface="Wingdings"/>
                        </a:rPr>
                        <a:t></a:t>
                      </a:r>
                      <a:r>
                        <a:rPr lang="ar-DZ" sz="2400" kern="1200" dirty="0">
                          <a:solidFill>
                            <a:srgbClr val="538022"/>
                          </a:solidFill>
                          <a:effectLst/>
                        </a:rPr>
                        <a:t>:</a:t>
                      </a:r>
                      <a:endParaRPr lang="en-US" sz="2400" kern="12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  <a:tabLst>
                          <a:tab pos="165100" algn="l"/>
                        </a:tabLst>
                      </a:pPr>
                      <a:r>
                        <a:rPr lang="ar-DZ" sz="2400" kern="1200" dirty="0">
                          <a:solidFill>
                            <a:srgbClr val="538022"/>
                          </a:solidFill>
                          <a:effectLst/>
                        </a:rPr>
                        <a:t>[ الدارة ذهاب وإياب]</a:t>
                      </a:r>
                      <a:endParaRPr lang="en-US" sz="2400" kern="12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  <a:tabLst>
                          <a:tab pos="165100" algn="l"/>
                        </a:tabLst>
                      </a:pPr>
                      <a:r>
                        <a:rPr lang="ar-DZ" sz="2400" kern="1200" dirty="0">
                          <a:solidFill>
                            <a:srgbClr val="538022"/>
                          </a:solidFill>
                          <a:effectLst/>
                        </a:rPr>
                        <a:t>" كيف نتحكم في إضاءة مصباح من مكانين؟"</a:t>
                      </a:r>
                      <a:endParaRPr lang="en-US" sz="2400" kern="1200" dirty="0">
                        <a:solidFill>
                          <a:srgbClr val="53802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يفهم التعليمة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يعطي مخططا يمثل تصورا لكيفية التحكم في إضاءة مصباح منزلي من مكانين متباعدين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يطور التمثيل باستخدام الرموز النظامية (تعطى له رمز القاطعة ثلاثية المرابط)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يركب الدارة باستخدام الأدوات الملائمة ويختبر تشغيلها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يجري التعديلات الضرورية للتشغيل الصحيح 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يتعرف على رمز القاطعة ثلاثية المرابط ويميزها عن القاطعة البسيطة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يعرف المخطط النظري والعملي لدرة "ذهاب وإياب" 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يعرف مبدأ تشغيل الانارة ذهاب وإياب في المنزل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يعرف جدول الحقيقة لتشغيل دارة كهربائية </a:t>
                      </a:r>
                      <a:r>
                        <a:rPr lang="ar-DZ" sz="1800" kern="1200" dirty="0" err="1">
                          <a:effectLst/>
                        </a:rPr>
                        <a:t>للانارة</a:t>
                      </a:r>
                      <a:r>
                        <a:rPr lang="ar-DZ" sz="1800" kern="1200" dirty="0">
                          <a:effectLst/>
                        </a:rPr>
                        <a:t> "ذهاب وإياب"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يشرح مبدأ عمل الدارة "ذهاب وإياب"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يركب عمليا الدارة "ذهاب وإياب"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ينشئ ويقرأ جدول الحقيقة الخاص بتشغيل دارة بسيطة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يحل مشكلات مرتبطة بهذا النوع من الانارة (خللا في التشغيل أو الربط)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ينمذج وضعيات للتفسير والتنبؤ و حل مشكلات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يستعمل أشكال مختلفة للتعبير، منها اللغة العلمية باستخدام الترميز العالمي والمخططات </a:t>
                      </a:r>
                      <a:r>
                        <a:rPr lang="ar-DZ" sz="1800" kern="1200" dirty="0" smtClean="0">
                          <a:effectLst/>
                        </a:rPr>
                        <a:t>والبيانات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تترسخ لديه  اللغة الوطنية كلغة للاتصال والتعبير العلمي </a:t>
                      </a:r>
                      <a:endParaRPr lang="en-US" sz="1800" kern="1200" dirty="0"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kern="1200" dirty="0">
                          <a:effectLst/>
                        </a:rPr>
                        <a:t>يطّلع على التراث العالمي ويستفيد منه ويعزز القيم الوطنية والعالمية، ويُقبل على استخدام تكنولوجيات العصر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44768356"/>
              </p:ext>
            </p:extLst>
          </p:nvPr>
        </p:nvGraphicFramePr>
        <p:xfrm>
          <a:off x="179514" y="116632"/>
          <a:ext cx="8784974" cy="1121664"/>
        </p:xfrm>
        <a:graphic>
          <a:graphicData uri="http://schemas.openxmlformats.org/drawingml/2006/table">
            <a:tbl>
              <a:tblPr rtl="1"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755444"/>
                <a:gridCol w="1755444"/>
                <a:gridCol w="1637394"/>
                <a:gridCol w="1970058"/>
                <a:gridCol w="1666634"/>
              </a:tblGrid>
              <a:tr h="258444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سير المقطع التعلمي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معايير ومؤشرات التقويم التكويني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695022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وجاهة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التحكم في الموارد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المعرفية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توظيف الموارد والكفاءات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العرضية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ترسيخ القيم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والمواقف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01763774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18948965"/>
              </p:ext>
            </p:extLst>
          </p:nvPr>
        </p:nvGraphicFramePr>
        <p:xfrm>
          <a:off x="251520" y="1237148"/>
          <a:ext cx="8712968" cy="5616624"/>
        </p:xfrm>
        <a:graphic>
          <a:graphicData uri="http://schemas.openxmlformats.org/drawingml/2006/table">
            <a:tbl>
              <a:tblPr rtl="1" firstRow="1" firstCol="1" bandRow="1">
                <a:tableStyleId>{2D5ABB26-0587-4C30-8999-92F81FD0307C}</a:tableStyleId>
              </a:tblPr>
              <a:tblGrid>
                <a:gridCol w="1588297"/>
                <a:gridCol w="1866888"/>
                <a:gridCol w="1635279"/>
                <a:gridCol w="1986401"/>
                <a:gridCol w="1636103"/>
              </a:tblGrid>
              <a:tr h="5616624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"/>
                        <a:tabLst>
                          <a:tab pos="165100" algn="l"/>
                        </a:tabLs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وضعية إدماج التعلمات</a:t>
                      </a:r>
                      <a:endParaRPr lang="en-US" sz="2400" dirty="0">
                        <a:solidFill>
                          <a:srgbClr val="538022"/>
                        </a:solidFill>
                        <a:effectLst/>
                      </a:endParaRPr>
                    </a:p>
                    <a:p>
                      <a:pPr marL="7493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65100" algn="l"/>
                        </a:tabLs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" تحقيق دارات كهربائية وتشغيلها"</a:t>
                      </a:r>
                      <a:endParaRPr lang="en-US" sz="24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يفهم الوضعية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يستخدم العناصر المعطاة في الجدول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يمثل للدارة الكهربائية في الحالات المختلفة بكيفية صحيحة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يختار الوضعية التي تحقق الشرط المعطى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يعلل الحادثة (انطفاء المصباح) في الحالة المختارة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400" dirty="0">
                          <a:effectLst/>
                        </a:rPr>
                        <a:t>يعرف الدارة الكهربائية في الربط على التسلسل والتفرع والربط المختلط</a:t>
                      </a:r>
                      <a:endParaRPr lang="en-US" sz="20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400" dirty="0">
                          <a:effectLst/>
                        </a:rPr>
                        <a:t>يمثل للدارات السابقة</a:t>
                      </a:r>
                      <a:endParaRPr lang="en-US" sz="20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ينجز مخططا كهربائيا وفق مواصفات تشغيل معينة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يشرح تشغيل الدارة (إضاءة المصابيح) من مخطط من إنشائه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يعالج وضعية خلل ناجم  "احتراق" منصهرة بجاهز كهربائي منزلي، بكيفية صحيحة  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 dirty="0">
                          <a:effectLst/>
                        </a:rPr>
                        <a:t>ينمذج وضعيات للتفسير والتنبؤ و حل مشكلات.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ترسيخ اللغة الوطنية كلغة للاتصال والتعبير العلمي 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1800" dirty="0">
                          <a:effectLst/>
                        </a:rPr>
                        <a:t>يطّلع على التراث العالمي ويستفيد منه ويعزز القيم الوطنية والعالمية، ويُقبل على استخدام تكنولوجيات العصر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86297309"/>
              </p:ext>
            </p:extLst>
          </p:nvPr>
        </p:nvGraphicFramePr>
        <p:xfrm>
          <a:off x="179514" y="116632"/>
          <a:ext cx="8784974" cy="1121664"/>
        </p:xfrm>
        <a:graphic>
          <a:graphicData uri="http://schemas.openxmlformats.org/drawingml/2006/table">
            <a:tbl>
              <a:tblPr rtl="1"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755444"/>
                <a:gridCol w="1755444"/>
                <a:gridCol w="1637394"/>
                <a:gridCol w="1970058"/>
                <a:gridCol w="1666634"/>
              </a:tblGrid>
              <a:tr h="258444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سير المقطع التعلمي</a:t>
                      </a:r>
                      <a:endParaRPr lang="en-US" sz="20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معايير ومؤشرات التقويم التكويني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695022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وجاهة </a:t>
                      </a:r>
                      <a:r>
                        <a:rPr lang="ar-DZ" sz="2000" b="1" kern="12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endParaRPr lang="en-US" sz="2000" b="1" kern="12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التحكم في الموارد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المعرفية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توظيف الموارد والكفاءات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العرضية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ترسيخ القيم </a:t>
                      </a:r>
                      <a:r>
                        <a:rPr lang="ar-DZ" sz="2000" b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والمواقف</a:t>
                      </a:r>
                      <a:endParaRPr lang="en-US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77961491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3688" y="147990"/>
            <a:ext cx="5889754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rtl="1"/>
            <a:r>
              <a:rPr lang="ar-DZ" sz="3200" b="1" dirty="0" smtClean="0"/>
              <a:t>نتائج </a:t>
            </a:r>
            <a:r>
              <a:rPr lang="ar-DZ" sz="3200" b="1" dirty="0" smtClean="0"/>
              <a:t>التقويم </a:t>
            </a:r>
            <a:r>
              <a:rPr lang="ar-DZ" sz="3200" b="1" dirty="0"/>
              <a:t>التكويني لفوج التلاميذ </a:t>
            </a:r>
            <a:r>
              <a:rPr lang="ar-DZ" sz="3200" dirty="0"/>
              <a:t>(القسم)</a:t>
            </a:r>
            <a:endParaRPr lang="en-US" sz="32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8950329"/>
              </p:ext>
            </p:extLst>
          </p:nvPr>
        </p:nvGraphicFramePr>
        <p:xfrm>
          <a:off x="323528" y="1026309"/>
          <a:ext cx="8568950" cy="5818626"/>
        </p:xfrm>
        <a:graphic>
          <a:graphicData uri="http://schemas.openxmlformats.org/drawingml/2006/table">
            <a:tbl>
              <a:tblPr rtl="1" firstRow="1" firstCol="1" bandRow="1">
                <a:tableStyleId>{775DCB02-9BB8-47FD-8907-85C794F793BA}</a:tableStyleId>
              </a:tblPr>
              <a:tblGrid>
                <a:gridCol w="1779762"/>
                <a:gridCol w="633495"/>
                <a:gridCol w="634105"/>
                <a:gridCol w="777379"/>
                <a:gridCol w="723528"/>
                <a:gridCol w="749492"/>
                <a:gridCol w="892696"/>
                <a:gridCol w="2378493"/>
              </a:tblGrid>
              <a:tr h="448665"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rgbClr val="538022"/>
                          </a:solidFill>
                          <a:effectLst/>
                        </a:rPr>
                        <a:t>اللقب والاسم</a:t>
                      </a:r>
                      <a:endParaRPr lang="en-US" sz="14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معايير مؤشرات التقويم</a:t>
                      </a:r>
                      <a:endParaRPr lang="en-US" sz="16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448665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التحكم في الموارد المعرفية</a:t>
                      </a:r>
                      <a:endParaRPr lang="en-US" sz="1400" b="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توظيف الموارد والكفاءات العرضية</a:t>
                      </a:r>
                      <a:endParaRPr lang="en-US" sz="1400" b="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القيم </a:t>
                      </a:r>
                      <a:r>
                        <a:rPr lang="ar-DZ" sz="2400" b="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والمواقف</a:t>
                      </a:r>
                      <a:endParaRPr lang="en-US" sz="1400" b="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448665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>
                          <a:effectLst/>
                        </a:rPr>
                        <a:t>.......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</a:tr>
              <a:tr h="44866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.... 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>
                          <a:effectLst/>
                        </a:rPr>
                        <a:t>.......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</a:tr>
              <a:tr h="44866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.... 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2000">
                          <a:effectLst/>
                        </a:rPr>
                        <a:t>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</a:tr>
              <a:tr h="44866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.... 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</a:tr>
              <a:tr h="44866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.... 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</a:tr>
              <a:tr h="44866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.... 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</a:tr>
              <a:tr h="448665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.... ....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</a:tr>
              <a:tr h="448665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</a:tr>
              <a:tr h="448665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/>
                </a:tc>
              </a:tr>
              <a:tr h="448665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74930" algn="l"/>
                          <a:tab pos="254635" algn="l"/>
                        </a:tabLs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3242" marR="63242" marT="0" marB="0" anchor="ctr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05338153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9912" y="404664"/>
            <a:ext cx="1867819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rtl="1"/>
            <a:r>
              <a:rPr lang="ar-DZ" sz="3200" b="1" dirty="0">
                <a:solidFill>
                  <a:schemeClr val="dk1"/>
                </a:solidFill>
              </a:rPr>
              <a:t>تحليل </a:t>
            </a:r>
            <a:r>
              <a:rPr lang="ar-DZ" sz="3200" b="1" dirty="0" smtClean="0">
                <a:solidFill>
                  <a:schemeClr val="dk1"/>
                </a:solidFill>
              </a:rPr>
              <a:t>النتائج</a:t>
            </a:r>
            <a:endParaRPr lang="en-US" sz="3200" b="1" dirty="0">
              <a:solidFill>
                <a:schemeClr val="dk1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3036909"/>
              </p:ext>
            </p:extLst>
          </p:nvPr>
        </p:nvGraphicFramePr>
        <p:xfrm>
          <a:off x="426368" y="1412775"/>
          <a:ext cx="8291264" cy="5360578"/>
        </p:xfrm>
        <a:graphic>
          <a:graphicData uri="http://schemas.openxmlformats.org/drawingml/2006/table">
            <a:tbl>
              <a:tblPr rtl="1" firstRow="1" firstCol="1" bandRow="1">
                <a:tableStyleId>{ED083AE6-46FA-4A59-8FB0-9F97EB10719F}</a:tableStyleId>
              </a:tblPr>
              <a:tblGrid>
                <a:gridCol w="1760646"/>
                <a:gridCol w="1042596"/>
                <a:gridCol w="1766122"/>
                <a:gridCol w="1283770"/>
                <a:gridCol w="2438130"/>
              </a:tblGrid>
              <a:tr h="487930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solidFill>
                            <a:srgbClr val="538022"/>
                          </a:solidFill>
                          <a:effectLst/>
                        </a:rPr>
                        <a:t>الصعوبة </a:t>
                      </a:r>
                      <a:r>
                        <a:rPr lang="ar-DZ" sz="3200" dirty="0" smtClean="0">
                          <a:solidFill>
                            <a:srgbClr val="538022"/>
                          </a:solidFill>
                          <a:effectLst/>
                        </a:rPr>
                        <a:t>السائدة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طبيعتها</a:t>
                      </a:r>
                      <a:endParaRPr lang="en-US" sz="16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التعليل </a:t>
                      </a:r>
                      <a:r>
                        <a:rPr lang="ar-DZ" sz="2800" dirty="0" smtClean="0">
                          <a:solidFill>
                            <a:srgbClr val="538022"/>
                          </a:solidFill>
                          <a:effectLst/>
                        </a:rPr>
                        <a:t>المفترض</a:t>
                      </a:r>
                      <a:endParaRPr lang="en-US" sz="16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</a:tr>
              <a:tr h="1296799"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التحكم في الموارد</a:t>
                      </a:r>
                      <a:endParaRPr lang="en-US" sz="20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توظيف الموارد والكفاءات العرضية</a:t>
                      </a:r>
                      <a:endParaRPr lang="en-US" sz="20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القيم والمواقف</a:t>
                      </a:r>
                      <a:endParaRPr lang="en-US" sz="20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1890555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 smtClean="0">
                          <a:effectLst/>
                        </a:rPr>
                        <a:t>".........."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3200" dirty="0" smtClean="0">
                          <a:effectLst/>
                        </a:rPr>
                        <a:t>............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3200" dirty="0" smtClean="0">
                          <a:effectLst/>
                        </a:rPr>
                        <a:t>...........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100"/>
                        <a:buFont typeface="Wingdings 3"/>
                        <a:buChar char=""/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</a:tr>
              <a:tr h="551103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"......"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</a:tr>
              <a:tr h="551103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/>
                </a:tc>
              </a:tr>
              <a:tr h="551103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8686" marR="58686" marT="0" marB="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95298411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256" y="203756"/>
            <a:ext cx="4060727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rtl="1"/>
            <a:r>
              <a:rPr lang="ar-DZ" sz="3200" b="1" dirty="0">
                <a:solidFill>
                  <a:schemeClr val="dk1"/>
                </a:solidFill>
              </a:rPr>
              <a:t>المعالجة البيداغوجية- التعديل</a:t>
            </a: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27872832"/>
              </p:ext>
            </p:extLst>
          </p:nvPr>
        </p:nvGraphicFramePr>
        <p:xfrm>
          <a:off x="147053" y="1071546"/>
          <a:ext cx="8782665" cy="5572140"/>
        </p:xfrm>
        <a:graphic>
          <a:graphicData uri="http://schemas.openxmlformats.org/drawingml/2006/table">
            <a:tbl>
              <a:tblPr rtl="1" firstRow="1" firstCol="1" bandRow="1">
                <a:tableStyleId>{72833802-FEF1-4C79-8D5D-14CF1EAF98D9}</a:tableStyleId>
              </a:tblPr>
              <a:tblGrid>
                <a:gridCol w="1624147"/>
                <a:gridCol w="1820795"/>
                <a:gridCol w="1722471"/>
                <a:gridCol w="1807626"/>
                <a:gridCol w="1807626"/>
              </a:tblGrid>
              <a:tr h="587273">
                <a:tc rowSpan="2"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 smtClean="0">
                          <a:solidFill>
                            <a:srgbClr val="538022"/>
                          </a:solidFill>
                          <a:effectLst/>
                        </a:rPr>
                        <a:t>الفئة المستهدفة (فوج)</a:t>
                      </a:r>
                      <a:endParaRPr lang="en-US" sz="1600" dirty="0" smtClean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 smtClean="0">
                          <a:solidFill>
                            <a:sysClr val="windowText" lastClr="000000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قائمة التلاميذ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dirty="0">
                          <a:solidFill>
                            <a:srgbClr val="538022"/>
                          </a:solidFill>
                          <a:effectLst/>
                        </a:rPr>
                        <a:t>الوضعيات العلاجية في ...</a:t>
                      </a:r>
                      <a:endParaRPr lang="en-US" sz="1800" dirty="0">
                        <a:solidFill>
                          <a:srgbClr val="53802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</a:tr>
              <a:tr h="151013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D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التحكم في الموارد </a:t>
                      </a:r>
                      <a:endParaRPr lang="en-US" sz="16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توظيف الموارد والكفاءات العرضية</a:t>
                      </a:r>
                      <a:endParaRPr lang="en-US" sz="1600" b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القيم والمواقف (السلوك) (2)</a:t>
                      </a:r>
                      <a:endParaRPr lang="en-US" sz="16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2095452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 smtClean="0">
                          <a:solidFill>
                            <a:sysClr val="windowText" lastClr="000000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254635" algn="l"/>
                        </a:tabLst>
                      </a:pPr>
                      <a:r>
                        <a:rPr lang="ar-DZ" sz="2000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.......</a:t>
                      </a:r>
                      <a:endParaRPr lang="en-US" sz="2000" kern="12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342900" lvl="0" indent="-342900" algn="r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254635" algn="l"/>
                        </a:tabLst>
                      </a:pPr>
                      <a:r>
                        <a:rPr lang="ar-DZ" sz="2000" kern="12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.......</a:t>
                      </a:r>
                      <a:endParaRPr lang="en-US" sz="2000" kern="12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وضعية</a:t>
                      </a:r>
                      <a:r>
                        <a:rPr lang="ar-DZ" sz="2400" baseline="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علاجية 1</a:t>
                      </a:r>
                      <a:endParaRPr lang="en-US" sz="16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9284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dirty="0" smtClean="0">
                          <a:solidFill>
                            <a:sysClr val="windowText" lastClr="000000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2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254635" algn="l"/>
                        </a:tabLst>
                      </a:pPr>
                      <a:r>
                        <a:rPr lang="ar-D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.......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  <a:tabLst>
                          <a:tab pos="254635" algn="l"/>
                        </a:tabLst>
                      </a:pPr>
                      <a:r>
                        <a:rPr lang="ar-D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.......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="1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وضعية</a:t>
                      </a:r>
                      <a:r>
                        <a:rPr lang="ar-DZ" sz="2000" b="1" baseline="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علاجية 2</a:t>
                      </a:r>
                      <a:endParaRPr lang="en-US" sz="1400" b="1" dirty="0" smtClean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66003399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123728" y="3170585"/>
            <a:ext cx="4968552" cy="923330"/>
          </a:xfrm>
          <a:prstGeom prst="rect">
            <a:avLst/>
          </a:prstGeom>
          <a:noFill/>
        </p:spPr>
        <p:txBody>
          <a:bodyPr wrap="square" rtlCol="1">
            <a:spAutoFit/>
            <a:scene3d>
              <a:camera prst="perspectiveLeft"/>
              <a:lightRig rig="threePt" dir="t"/>
            </a:scene3d>
          </a:bodyPr>
          <a:lstStyle/>
          <a:p>
            <a:pPr algn="ctr"/>
            <a:r>
              <a:rPr lang="ar-DZ" sz="5400" b="1" dirty="0" smtClean="0">
                <a:ln w="38100">
                  <a:solidFill>
                    <a:srgbClr val="538022"/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Al-Hadith1" pitchFamily="2" charset="-78"/>
              </a:rPr>
              <a:t>انتهى</a:t>
            </a:r>
            <a:endParaRPr lang="ar-DZ" sz="5400" b="1" dirty="0">
              <a:ln w="38100">
                <a:solidFill>
                  <a:srgbClr val="538022"/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-Hadith1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9290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1760" y="2123564"/>
            <a:ext cx="54726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r>
              <a:rPr lang="ar-DZ" sz="3200" dirty="0"/>
              <a:t>لديك مصباح الجيب وتريد استخدامه لتشغيل محرك كهربائي صغير للعبة.</a:t>
            </a:r>
            <a:endParaRPr lang="en-US" sz="3200" dirty="0"/>
          </a:p>
          <a:p>
            <a:r>
              <a:rPr lang="ar-DZ" sz="3200" dirty="0"/>
              <a:t>المطلوب تحقيق دارة  لتشغيل المحرك</a:t>
            </a:r>
          </a:p>
        </p:txBody>
      </p:sp>
      <p:sp>
        <p:nvSpPr>
          <p:cNvPr id="3" name="Rectangle 2"/>
          <p:cNvSpPr/>
          <p:nvPr/>
        </p:nvSpPr>
        <p:spPr>
          <a:xfrm>
            <a:off x="1763688" y="1600344"/>
            <a:ext cx="66704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rtl="1"/>
            <a:r>
              <a:rPr lang="ar-DZ" sz="2800" b="1" u="sng" dirty="0"/>
              <a:t>وضعية تعلمية جزئية</a:t>
            </a:r>
            <a:r>
              <a:rPr lang="fr-FR" sz="2800" b="1" u="sng" dirty="0">
                <a:sym typeface="Wingdings"/>
              </a:rPr>
              <a:t></a:t>
            </a:r>
            <a:r>
              <a:rPr lang="ar-DZ" sz="2800" b="1" u="sng" dirty="0"/>
              <a:t>[</a:t>
            </a:r>
            <a:r>
              <a:rPr lang="ar-DZ" sz="2800" u="sng" dirty="0"/>
              <a:t>مفهوم الدارة الكهربائية البسيطة</a:t>
            </a:r>
            <a:r>
              <a:rPr lang="ar-DZ" sz="2800" b="1" u="sng" dirty="0"/>
              <a:t>]</a:t>
            </a:r>
            <a:endParaRPr lang="en-US" sz="2800" dirty="0"/>
          </a:p>
        </p:txBody>
      </p:sp>
      <p:sp>
        <p:nvSpPr>
          <p:cNvPr id="4" name="Flèche droite rayée 3">
            <a:hlinkClick r:id="rId2" action="ppaction://hlinksldjump"/>
          </p:cNvPr>
          <p:cNvSpPr/>
          <p:nvPr/>
        </p:nvSpPr>
        <p:spPr>
          <a:xfrm rot="16200000">
            <a:off x="8172400" y="260648"/>
            <a:ext cx="864096" cy="648072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72212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77581641"/>
              </p:ext>
            </p:extLst>
          </p:nvPr>
        </p:nvGraphicFramePr>
        <p:xfrm>
          <a:off x="0" y="0"/>
          <a:ext cx="9140733" cy="7170806"/>
        </p:xfrm>
        <a:graphic>
          <a:graphicData uri="http://schemas.openxmlformats.org/drawingml/2006/table">
            <a:tbl>
              <a:tblPr rtl="1" firstRow="1" firstCol="1" bandRow="1"/>
              <a:tblGrid>
                <a:gridCol w="2537157"/>
                <a:gridCol w="6603576"/>
              </a:tblGrid>
              <a:tr h="7170806">
                <a:tc>
                  <a:txBody>
                    <a:bodyPr/>
                    <a:lstStyle/>
                    <a:p>
                      <a:pPr marR="18034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  <a:ea typeface="Calibri"/>
                          <a:cs typeface="Arial"/>
                        </a:rPr>
                        <a:t>يتبع مسعى علميا أو مسعى حل المشكلات</a:t>
                      </a:r>
                      <a:endParaRPr 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  <a:tabLst>
                          <a:tab pos="201295" algn="l"/>
                        </a:tabLst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يثير التساؤلات عند ما يوضع أمام وضعية مشكل- تحمل تحديا معرفيا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  <a:tabLst>
                          <a:tab pos="201295" algn="l"/>
                        </a:tabLst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يستخرج معطيات وجيهة من ملاحظة ظاهرة علمية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  <a:tabLst>
                          <a:tab pos="201295" algn="l"/>
                        </a:tabLst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يصيغ فرضيات وجيهة لمشكل مطروح أو تفسير ظاهرة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  <a:tabLst>
                          <a:tab pos="201295" algn="l"/>
                        </a:tabLst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يقترح بروتوكولا (تجريبيا أو استراتيجية بحث)  له ارتباط بالفرضية المقدمة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  <a:tabLst>
                          <a:tab pos="201295" algn="l"/>
                        </a:tabLst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يساهم في تصور لبروتوكول </a:t>
                      </a:r>
                      <a:r>
                        <a:rPr lang="ar-DZ" sz="2000" dirty="0">
                          <a:effectLst/>
                          <a:latin typeface="Calibri"/>
                          <a:ea typeface="Calibri"/>
                          <a:cs typeface="Arial"/>
                        </a:rPr>
                        <a:t>تجريبي</a:t>
                      </a: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 باقتراح أدوات وطريقة عمل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  <a:tabLst>
                          <a:tab pos="201295" algn="l"/>
                        </a:tabLst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ينجز تركيبا تجريبيا من خلال مخطط عملي معطى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يستخدم جداول بسيطة لحوصلة نتائج تجريبية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يقدم تفسيرا لنتائج تجريبية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يقدم تعليلا لنتيجة ما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يبني مخططا من معطيات تجريبية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يقدم ما يمثل مصادقة لفرضية أو يفندها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يعبر عن مشاهدة تجريبية أو نتيجة بلغة سليمة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يترجم قانونا حرفيا بعلاقة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يميز بين الظاهرة الواقعية والافتراضية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274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21006894"/>
              </p:ext>
            </p:extLst>
          </p:nvPr>
        </p:nvGraphicFramePr>
        <p:xfrm>
          <a:off x="0" y="0"/>
          <a:ext cx="9144000" cy="7098580"/>
        </p:xfrm>
        <a:graphic>
          <a:graphicData uri="http://schemas.openxmlformats.org/drawingml/2006/table">
            <a:tbl>
              <a:tblPr rtl="1" firstRow="1" firstCol="1" bandRow="1"/>
              <a:tblGrid>
                <a:gridCol w="2595424"/>
                <a:gridCol w="6548576"/>
              </a:tblGrid>
              <a:tr h="7098580">
                <a:tc>
                  <a:txBody>
                    <a:bodyPr/>
                    <a:lstStyle/>
                    <a:p>
                      <a:pPr marR="18034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استخدام المعلومة (معالجة، تبليغ)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يقرأ ويفهم التعليمة المعطاة له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يستخرج المعلومات الوجيهة من نص أو سند (وثيقة مكتوبة، مصورة، مخططة،...الخ)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يعبر كتابيا وشفويا بشكل سليم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يستخدم  التعبير العلمي في جوابه (شفويا وكتابيا)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يبني استدلالا منطقيا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يربط المقدار بوحدته المناسبة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2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يستخدم أداة مناسبة من تكنولوجيات الاعلام والاتصال لمعالجة المعلومة (تحرير نص، استخدام آلة حاسبة، ...)</a:t>
                      </a:r>
                      <a:endParaRPr lang="en-US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26902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25860866"/>
              </p:ext>
            </p:extLst>
          </p:nvPr>
        </p:nvGraphicFramePr>
        <p:xfrm>
          <a:off x="-12994" y="71414"/>
          <a:ext cx="9156993" cy="6669360"/>
        </p:xfrm>
        <a:graphic>
          <a:graphicData uri="http://schemas.openxmlformats.org/drawingml/2006/table">
            <a:tbl>
              <a:tblPr rtl="1" firstRow="1" firstCol="1" bandRow="1"/>
              <a:tblGrid>
                <a:gridCol w="2599111"/>
                <a:gridCol w="6557882"/>
              </a:tblGrid>
              <a:tr h="6669360">
                <a:tc>
                  <a:txBody>
                    <a:bodyPr/>
                    <a:lstStyle/>
                    <a:p>
                      <a:pPr marR="18034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4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  <a:ea typeface="Calibri"/>
                          <a:cs typeface="Arial"/>
                        </a:rPr>
                        <a:t>احترام قواعد الأمن والسلامة</a:t>
                      </a:r>
                      <a:endParaRPr lang="en-US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يحدد مصادر الخطر عند التعامل مع المادة والأدوات المخبرية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 smtClean="0">
                          <a:effectLst/>
                          <a:latin typeface="Calibri"/>
                          <a:ea typeface="Calibri"/>
                          <a:cs typeface="Arial"/>
                        </a:rPr>
                        <a:t>يعبر عن بعض قواعد </a:t>
                      </a: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الأمن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يحترم قواعد الأمن المخبري 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يحافظ على صحته وصحة غيره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يحافظ على المحيط الذي يشتغل فيه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...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030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88913984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rtl="1" firstRow="1" firstCol="1" bandRow="1"/>
              <a:tblGrid>
                <a:gridCol w="2595424"/>
                <a:gridCol w="6548576"/>
              </a:tblGrid>
              <a:tr h="6858000">
                <a:tc>
                  <a:txBody>
                    <a:bodyPr/>
                    <a:lstStyle/>
                    <a:p>
                      <a:pPr marR="18034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4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  <a:ea typeface="Calibri"/>
                          <a:cs typeface="Arial"/>
                        </a:rPr>
                        <a:t>يتعاون مع الآخرين</a:t>
                      </a:r>
                      <a:endParaRPr lang="en-US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يستمع للآخرين 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يستقبل آراء الآخرين ويحترمها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 يحترم المهمة المطلوبة حسب ما هو متفق مع الآخرين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marR="18034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900"/>
                        <a:buFont typeface="Wingdings 3"/>
                        <a:buChar char=""/>
                      </a:pPr>
                      <a:r>
                        <a:rPr lang="ar-DZ" sz="36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يساهم في تحسين المنتوج المشترك مع الآخرين (إنجاز مهمة، بحث، مشروع،...)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lèche droite rayée 2">
            <a:hlinkClick r:id="rId2" action="ppaction://hlinksldjump"/>
          </p:cNvPr>
          <p:cNvSpPr/>
          <p:nvPr/>
        </p:nvSpPr>
        <p:spPr>
          <a:xfrm rot="16200000">
            <a:off x="7812360" y="332656"/>
            <a:ext cx="792088" cy="504056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248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14974898"/>
              </p:ext>
            </p:extLst>
          </p:nvPr>
        </p:nvGraphicFramePr>
        <p:xfrm>
          <a:off x="669709" y="1484784"/>
          <a:ext cx="7825734" cy="4906117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6774806"/>
                <a:gridCol w="1050928"/>
              </a:tblGrid>
              <a:tr h="504056">
                <a:tc>
                  <a:txBody>
                    <a:bodyPr/>
                    <a:lstStyle/>
                    <a:p>
                      <a:pPr algn="ct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المؤشرات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kern="1200" dirty="0">
                          <a:effectLst/>
                        </a:rPr>
                        <a:t>السلم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864096">
                <a:tc>
                  <a:txBody>
                    <a:bodyPr/>
                    <a:lstStyle/>
                    <a:p>
                      <a:pPr algn="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يشارك</a:t>
                      </a:r>
                      <a:r>
                        <a:rPr lang="ar-SA" sz="2400" kern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ar-SA" sz="2400" kern="1200" dirty="0">
                          <a:effectLst/>
                        </a:rPr>
                        <a:t>المتعلم بحيوية في الأنشطة الصفية، فإنّه غالبا ما </a:t>
                      </a: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يأخذ المبادرة</a:t>
                      </a:r>
                      <a:r>
                        <a:rPr lang="ar-SA" sz="2400" kern="1200" dirty="0">
                          <a:effectLst/>
                        </a:rPr>
                        <a:t>. التزامه  له </a:t>
                      </a: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تأثير مضاعف على المتعلمين </a:t>
                      </a:r>
                      <a:r>
                        <a:rPr lang="ar-SA" sz="2400" kern="1200" dirty="0">
                          <a:effectLst/>
                        </a:rPr>
                        <a:t>الأخرين.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4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 anchor="ctr">
                    <a:noFill/>
                  </a:tcPr>
                </a:tc>
              </a:tr>
              <a:tr h="931512">
                <a:tc>
                  <a:txBody>
                    <a:bodyPr/>
                    <a:lstStyle/>
                    <a:p>
                      <a:pPr algn="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يشارك</a:t>
                      </a:r>
                      <a:r>
                        <a:rPr lang="ar-SA" sz="2400" kern="1200" dirty="0">
                          <a:effectLst/>
                        </a:rPr>
                        <a:t> المتعلم بحيوية في الأنشطة الصفية، فإنه </a:t>
                      </a: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كثير الانتباه واليقظة</a:t>
                      </a:r>
                      <a:r>
                        <a:rPr lang="ar-SA" sz="2400" kern="1200" dirty="0">
                          <a:effectLst/>
                        </a:rPr>
                        <a:t>، يأخذ بعض </a:t>
                      </a: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المبادرة</a:t>
                      </a:r>
                      <a:r>
                        <a:rPr lang="ar-SA" sz="2400" kern="1200" dirty="0">
                          <a:effectLst/>
                        </a:rPr>
                        <a:t>، ولكن </a:t>
                      </a:r>
                      <a:r>
                        <a:rPr lang="ar-SA" sz="2400" b="1" kern="1200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يتعاون</a:t>
                      </a:r>
                      <a:r>
                        <a:rPr lang="ar-SA" sz="2400" kern="1200" dirty="0">
                          <a:effectLst/>
                        </a:rPr>
                        <a:t> عندما يطلب منه ذلك.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3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 anchor="ctr">
                    <a:noFill/>
                  </a:tcPr>
                </a:tc>
              </a:tr>
              <a:tr h="132942">
                <a:tc>
                  <a:txBody>
                    <a:bodyPr/>
                    <a:lstStyle/>
                    <a:p>
                      <a:pPr algn="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المتعلم </a:t>
                      </a:r>
                      <a:r>
                        <a:rPr lang="ar-SA" sz="2400" b="1" kern="1200" dirty="0"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منتبه ويقظ  </a:t>
                      </a:r>
                      <a:r>
                        <a:rPr lang="ar-SA" sz="2400" kern="1200" dirty="0">
                          <a:effectLst/>
                        </a:rPr>
                        <a:t>ولكنه </a:t>
                      </a:r>
                      <a:r>
                        <a:rPr lang="ar-SA" sz="2400" b="1" kern="1200" dirty="0">
                          <a:solidFill>
                            <a:srgbClr val="92D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يشارك في الأنشطة عندما يطلب ذلك</a:t>
                      </a:r>
                      <a:r>
                        <a:rPr lang="ar-SA" sz="2400" kern="1200" dirty="0">
                          <a:effectLst/>
                        </a:rPr>
                        <a:t>.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2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 anchor="ctr">
                    <a:noFill/>
                  </a:tcPr>
                </a:tc>
              </a:tr>
              <a:tr h="151985">
                <a:tc>
                  <a:txBody>
                    <a:bodyPr/>
                    <a:lstStyle/>
                    <a:p>
                      <a:pPr algn="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يظهر على المتعلم أنّه </a:t>
                      </a:r>
                      <a:r>
                        <a:rPr lang="ar-SA" sz="2400" b="1" kern="1200" dirty="0">
                          <a:solidFill>
                            <a:srgbClr val="AE987A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قليل الانتباه </a:t>
                      </a:r>
                      <a:r>
                        <a:rPr lang="ar-SA" sz="2400" kern="1200" dirty="0">
                          <a:effectLst/>
                        </a:rPr>
                        <a:t>والدافعية في القسم </a:t>
                      </a:r>
                      <a:r>
                        <a:rPr lang="ar-SA" sz="2400" b="1" kern="1200" dirty="0">
                          <a:solidFill>
                            <a:srgbClr val="AE987A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ويندفع قليلا </a:t>
                      </a:r>
                      <a:r>
                        <a:rPr lang="ar-SA" sz="2400" kern="1200" dirty="0">
                          <a:effectLst/>
                        </a:rPr>
                        <a:t>في المشاركة عندما يطلب منه ذلك.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1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 anchor="ctr">
                    <a:noFill/>
                  </a:tcPr>
                </a:tc>
              </a:tr>
              <a:tr h="1083925">
                <a:tc>
                  <a:txBody>
                    <a:bodyPr/>
                    <a:lstStyle/>
                    <a:p>
                      <a:pPr algn="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ليس لديه الرغبة  للمشاركة</a:t>
                      </a:r>
                      <a:r>
                        <a:rPr lang="ar-SA" sz="2400" kern="1200" dirty="0">
                          <a:effectLst/>
                        </a:rPr>
                        <a:t> في النشاطات بالقسم. له </a:t>
                      </a:r>
                      <a:r>
                        <a:rPr lang="ar-SA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موقف سلبي لا</a:t>
                      </a:r>
                      <a:r>
                        <a:rPr lang="ar-SA" sz="2400" kern="1200" dirty="0">
                          <a:effectLst/>
                        </a:rPr>
                        <a:t> </a:t>
                      </a:r>
                      <a:r>
                        <a:rPr lang="ar-SA" sz="2400" b="1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يشجع الآخرين </a:t>
                      </a:r>
                      <a:r>
                        <a:rPr lang="ar-SA" sz="2400" kern="1200" dirty="0">
                          <a:effectLst/>
                        </a:rPr>
                        <a:t>على العمل معه</a:t>
                      </a:r>
                      <a:r>
                        <a:rPr lang="ar-SA" sz="2400" kern="1200" dirty="0" smtClean="0">
                          <a:effectLst/>
                        </a:rPr>
                        <a:t>.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400" kern="1200" dirty="0">
                          <a:effectLst/>
                        </a:rPr>
                        <a:t>0</a:t>
                      </a:r>
                      <a:endParaRPr lang="en-US" sz="3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047256" y="203756"/>
            <a:ext cx="2975495" cy="10772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rtl="1"/>
            <a:r>
              <a:rPr lang="ar-DZ" sz="3200" b="1" dirty="0" smtClean="0">
                <a:solidFill>
                  <a:schemeClr val="dk1"/>
                </a:solidFill>
              </a:rPr>
              <a:t>تقييم القيم والمواقف </a:t>
            </a:r>
          </a:p>
          <a:p>
            <a:pPr algn="ctr" rtl="1"/>
            <a:r>
              <a:rPr lang="ar-DZ" sz="3200" dirty="0" smtClean="0">
                <a:ln w="18415" cmpd="sng">
                  <a:solidFill>
                    <a:schemeClr val="tx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مثال</a:t>
            </a:r>
            <a:r>
              <a:rPr lang="ar-DZ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: الالتزام</a:t>
            </a:r>
            <a:endParaRPr lang="ar-DZ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Flèche vers le haut 4"/>
          <p:cNvSpPr/>
          <p:nvPr/>
        </p:nvSpPr>
        <p:spPr>
          <a:xfrm>
            <a:off x="0" y="2132856"/>
            <a:ext cx="877955" cy="3888432"/>
          </a:xfrm>
          <a:prstGeom prst="upArrow">
            <a:avLst/>
          </a:prstGeom>
          <a:gradFill>
            <a:gsLst>
              <a:gs pos="7083">
                <a:srgbClr val="00B050"/>
              </a:gs>
              <a:gs pos="45000">
                <a:srgbClr val="92D050"/>
              </a:gs>
              <a:gs pos="100000">
                <a:srgbClr val="FB211E"/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sp>
        <p:nvSpPr>
          <p:cNvPr id="3" name="Flèche droite rayée 2">
            <a:hlinkClick r:id="rId2" action="ppaction://hlinksldjump"/>
          </p:cNvPr>
          <p:cNvSpPr/>
          <p:nvPr/>
        </p:nvSpPr>
        <p:spPr>
          <a:xfrm rot="16200000">
            <a:off x="8244408" y="384248"/>
            <a:ext cx="899592" cy="538609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</p:spTree>
    <p:extLst>
      <p:ext uri="{BB962C8B-B14F-4D97-AF65-F5344CB8AC3E}">
        <p14:creationId xmlns:p14="http://schemas.microsoft.com/office/powerpoint/2010/main" xmlns="" val="133588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ème1">
  <a:themeElements>
    <a:clrScheme name="Contiguïté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tiguïté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</Template>
  <TotalTime>1335</TotalTime>
  <Words>1631</Words>
  <Application>Microsoft Office PowerPoint</Application>
  <PresentationFormat>Affichage à l'écran (4:3)</PresentationFormat>
  <Paragraphs>414</Paragraphs>
  <Slides>27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Thème1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B.Aek</dc:creator>
  <cp:lastModifiedBy>aissa</cp:lastModifiedBy>
  <cp:revision>148</cp:revision>
  <dcterms:created xsi:type="dcterms:W3CDTF">2016-02-22T08:52:40Z</dcterms:created>
  <dcterms:modified xsi:type="dcterms:W3CDTF">2016-04-05T07:32:23Z</dcterms:modified>
</cp:coreProperties>
</file>