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459" r:id="rId2"/>
    <p:sldId id="382" r:id="rId3"/>
    <p:sldId id="388" r:id="rId4"/>
    <p:sldId id="460" r:id="rId5"/>
    <p:sldId id="415" r:id="rId6"/>
    <p:sldId id="416" r:id="rId7"/>
    <p:sldId id="505" r:id="rId8"/>
    <p:sldId id="482" r:id="rId9"/>
    <p:sldId id="463" r:id="rId10"/>
    <p:sldId id="499" r:id="rId11"/>
    <p:sldId id="506" r:id="rId12"/>
    <p:sldId id="497" r:id="rId13"/>
    <p:sldId id="498" r:id="rId14"/>
    <p:sldId id="500" r:id="rId15"/>
    <p:sldId id="507" r:id="rId16"/>
    <p:sldId id="422" r:id="rId17"/>
    <p:sldId id="502" r:id="rId18"/>
    <p:sldId id="503" r:id="rId19"/>
    <p:sldId id="508" r:id="rId20"/>
    <p:sldId id="492" r:id="rId21"/>
    <p:sldId id="504" r:id="rId22"/>
    <p:sldId id="509" r:id="rId23"/>
    <p:sldId id="494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B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9" autoAdjust="0"/>
    <p:restoredTop sz="87106" autoAdjust="0"/>
  </p:normalViewPr>
  <p:slideViewPr>
    <p:cSldViewPr>
      <p:cViewPr varScale="1">
        <p:scale>
          <a:sx n="80" d="100"/>
          <a:sy n="80" d="100"/>
        </p:scale>
        <p:origin x="-124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87FE-0F3E-4A04-A23C-3D4654F67010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83891-557C-4A99-A13D-8B03C753E80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1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83891-557C-4A99-A13D-8B03C753E80C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2339752" y="1124744"/>
            <a:ext cx="4680520" cy="64807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مديرية التربية لولاية :...........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772816"/>
            <a:ext cx="9144000" cy="508518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البطاقة التقنية </a:t>
            </a:r>
            <a:endParaRPr lang="fr-FR" sz="28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المؤسسة 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مفتشية العلوم الفيزيائية المقاطعة رقم :.............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المادة : العلوم الفيزيائية والتكنولوجية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المستـــــــــوى :.................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الأستـــــــــاذ(ة) :................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السنة الدراسية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التوقيت :.....................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رقم المذكرة :....................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835696" y="0"/>
            <a:ext cx="5400600" cy="1124744"/>
          </a:xfrm>
          <a:prstGeom prst="roundRect">
            <a:avLst/>
          </a:prstGeom>
          <a:solidFill>
            <a:srgbClr val="1ADC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الجمهورية الجزائرية الديمقراطية الشعبية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وزارة التربية الوطنية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6" name="Image 5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260648"/>
            <a:ext cx="2056234" cy="1728192"/>
          </a:xfrm>
          <a:prstGeom prst="rect">
            <a:avLst/>
          </a:prstGeom>
        </p:spPr>
      </p:pic>
      <p:pic>
        <p:nvPicPr>
          <p:cNvPr id="7" name="Image 6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7766" y="0"/>
            <a:ext cx="2056234" cy="1728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88394_1647892958860509_1097082149435299476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00FF00"/>
          </a:solidFill>
        </p:spPr>
      </p:pic>
      <p:sp>
        <p:nvSpPr>
          <p:cNvPr id="3" name="Ruban courbé vers le bas 2"/>
          <p:cNvSpPr/>
          <p:nvPr/>
        </p:nvSpPr>
        <p:spPr>
          <a:xfrm>
            <a:off x="395536" y="0"/>
            <a:ext cx="8568952" cy="1124744"/>
          </a:xfrm>
          <a:prstGeom prst="ellipseRibbon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وزارة التربية الوطنية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مديرية التربية لولاية :.................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e bas 7"/>
          <p:cNvSpPr/>
          <p:nvPr/>
        </p:nvSpPr>
        <p:spPr>
          <a:xfrm>
            <a:off x="7127776" y="1124744"/>
            <a:ext cx="2016224" cy="720080"/>
          </a:xfrm>
          <a:prstGeom prst="downArrowCallou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المادة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" name="Rectangle avec flèche vers le bas 8"/>
          <p:cNvSpPr/>
          <p:nvPr/>
        </p:nvSpPr>
        <p:spPr>
          <a:xfrm>
            <a:off x="4644008" y="1124744"/>
            <a:ext cx="2016224" cy="720080"/>
          </a:xfrm>
          <a:prstGeom prst="down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الميدان </a:t>
            </a:r>
            <a:endParaRPr lang="fr-FR" dirty="0"/>
          </a:p>
        </p:txBody>
      </p:sp>
      <p:sp>
        <p:nvSpPr>
          <p:cNvPr id="10" name="Rectangle avec flèche vers le bas 9"/>
          <p:cNvSpPr/>
          <p:nvPr/>
        </p:nvSpPr>
        <p:spPr>
          <a:xfrm>
            <a:off x="2483768" y="1124744"/>
            <a:ext cx="2016224" cy="720080"/>
          </a:xfrm>
          <a:prstGeom prst="down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err="1" smtClean="0"/>
              <a:t>ا</a:t>
            </a:r>
            <a:r>
              <a:rPr lang="ar-DZ" sz="2000" b="1" dirty="0" err="1" smtClean="0">
                <a:solidFill>
                  <a:schemeClr val="bg1"/>
                </a:solidFill>
              </a:rPr>
              <a:t>المقطع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التعلمي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e bas 10"/>
          <p:cNvSpPr/>
          <p:nvPr/>
        </p:nvSpPr>
        <p:spPr>
          <a:xfrm>
            <a:off x="0" y="1052736"/>
            <a:ext cx="2016224" cy="720080"/>
          </a:xfrm>
          <a:prstGeom prst="downArrowCallou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المورد المعرفي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7271792" y="1844824"/>
            <a:ext cx="1872208" cy="864096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علوم فيزيائية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وتكنولوجية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4788024" y="1844824"/>
            <a:ext cx="1872208" cy="86409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....................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2483768" y="1844824"/>
            <a:ext cx="1872208" cy="86409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....................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79512" y="1700808"/>
            <a:ext cx="1872208" cy="86409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539552" y="2780928"/>
            <a:ext cx="6696744" cy="136815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0" y="4293096"/>
            <a:ext cx="7164288" cy="2564904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800" b="1" dirty="0" smtClean="0">
              <a:solidFill>
                <a:schemeClr val="bg1"/>
              </a:solidFill>
            </a:endParaRPr>
          </a:p>
        </p:txBody>
      </p:sp>
      <p:sp>
        <p:nvSpPr>
          <p:cNvPr id="18" name="Rectangle avec flèche vers la gauche 17"/>
          <p:cNvSpPr/>
          <p:nvPr/>
        </p:nvSpPr>
        <p:spPr>
          <a:xfrm>
            <a:off x="7524328" y="2996952"/>
            <a:ext cx="1619672" cy="936104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الكفاءة الختامية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9" name="Rectangle avec flèche vers la gauche 18"/>
          <p:cNvSpPr/>
          <p:nvPr/>
        </p:nvSpPr>
        <p:spPr>
          <a:xfrm>
            <a:off x="7557640" y="4554630"/>
            <a:ext cx="1619672" cy="936104"/>
          </a:xfrm>
          <a:prstGeom prst="leftArrowCallou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مركبات الكفاءة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179512" y="260648"/>
            <a:ext cx="6840760" cy="244827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dirty="0" smtClean="0">
                <a:solidFill>
                  <a:schemeClr val="bg1"/>
                </a:solidFill>
              </a:rPr>
              <a:t> </a:t>
            </a:r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11560" y="5013176"/>
            <a:ext cx="6624736" cy="136815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1043608" y="3068960"/>
            <a:ext cx="6336704" cy="165618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020272" y="692696"/>
            <a:ext cx="2123728" cy="1368152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المعايير والمؤشرات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 avec flèche vers la gauche 11"/>
          <p:cNvSpPr/>
          <p:nvPr/>
        </p:nvSpPr>
        <p:spPr>
          <a:xfrm>
            <a:off x="7380312" y="2924944"/>
            <a:ext cx="1763688" cy="1368152"/>
          </a:xfrm>
          <a:prstGeom prst="leftArrow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>
                <a:solidFill>
                  <a:prstClr val="black"/>
                </a:solidFill>
              </a:rPr>
              <a:t>الوسائل </a:t>
            </a:r>
            <a:r>
              <a:rPr lang="ar-DZ" sz="2400" b="1" smtClean="0">
                <a:solidFill>
                  <a:prstClr val="black"/>
                </a:solidFill>
              </a:rPr>
              <a:t>التعليمية </a:t>
            </a:r>
            <a:r>
              <a:rPr lang="ar-DZ" sz="2000" b="1" smtClean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avec flèche vers la gauche 12"/>
          <p:cNvSpPr/>
          <p:nvPr/>
        </p:nvSpPr>
        <p:spPr>
          <a:xfrm>
            <a:off x="7236296" y="5013176"/>
            <a:ext cx="1907704" cy="1368152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العقبات 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الواجب 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تخطيها 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88640"/>
            <a:ext cx="8229600" cy="864096"/>
          </a:xfrm>
          <a:solidFill>
            <a:srgbClr val="92D050"/>
          </a:solidFill>
        </p:spPr>
        <p:txBody>
          <a:bodyPr/>
          <a:lstStyle/>
          <a:p>
            <a:r>
              <a:rPr lang="ar-DZ" dirty="0" smtClean="0">
                <a:solidFill>
                  <a:srgbClr val="FF0000"/>
                </a:solidFill>
                <a:cs typeface="AF_Najed" pitchFamily="2" charset="-78"/>
              </a:rPr>
              <a:t>خطة سير الحصة التعليمية </a:t>
            </a:r>
            <a:endParaRPr lang="fr-FR" dirty="0">
              <a:solidFill>
                <a:srgbClr val="FF0000"/>
              </a:solidFill>
              <a:cs typeface="AF_Najed" pitchFamily="2" charset="-78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96752"/>
            <a:ext cx="9036496" cy="5472608"/>
          </a:xfrm>
        </p:spPr>
        <p:txBody>
          <a:bodyPr/>
          <a:lstStyle/>
          <a:p>
            <a:endParaRPr lang="fr-FR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38943"/>
              </p:ext>
            </p:extLst>
          </p:nvPr>
        </p:nvGraphicFramePr>
        <p:xfrm>
          <a:off x="179512" y="1397000"/>
          <a:ext cx="8856984" cy="5213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1800200"/>
                <a:gridCol w="4392488"/>
                <a:gridCol w="1584176"/>
              </a:tblGrid>
              <a:tr h="879872">
                <a:tc>
                  <a:txBody>
                    <a:bodyPr/>
                    <a:lstStyle/>
                    <a:p>
                      <a:pPr algn="r"/>
                      <a:r>
                        <a:rPr lang="ar-DZ" sz="2000" dirty="0" smtClean="0">
                          <a:solidFill>
                            <a:srgbClr val="FF0000"/>
                          </a:solidFill>
                        </a:rPr>
                        <a:t>الملاحظات  </a:t>
                      </a:r>
                      <a:endParaRPr lang="fr-FR" sz="2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8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</a:rPr>
                        <a:t>نشاط المتعلم </a:t>
                      </a:r>
                      <a:endParaRPr lang="fr-FR" sz="28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800" dirty="0" smtClean="0">
                          <a:solidFill>
                            <a:srgbClr val="FF0000"/>
                          </a:solidFill>
                        </a:rPr>
                        <a:t>نشاط الأستــــــــــاذ</a:t>
                      </a:r>
                      <a:endParaRPr lang="fr-FR" sz="2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800" dirty="0" smtClean="0">
                          <a:solidFill>
                            <a:srgbClr val="0070C0"/>
                          </a:solidFill>
                        </a:rPr>
                        <a:t>الخطوات</a:t>
                      </a:r>
                      <a:r>
                        <a:rPr lang="ar-DZ" sz="2800" baseline="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ar-DZ" sz="2800" dirty="0" smtClean="0">
                          <a:solidFill>
                            <a:srgbClr val="0070C0"/>
                          </a:solidFill>
                        </a:rPr>
                        <a:t> </a:t>
                      </a:r>
                      <a:endParaRPr lang="fr-FR" sz="28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866725"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الوضعية الجزئية</a:t>
                      </a:r>
                      <a:r>
                        <a:rPr lang="ar-DZ" b="1" baseline="0" dirty="0" smtClean="0"/>
                        <a:t> رقم :..</a:t>
                      </a:r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866725"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 النشاط التجريبي رقم :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866725"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/>
                      </a:r>
                      <a:br>
                        <a:rPr lang="ar-DZ" b="1" dirty="0" smtClean="0"/>
                      </a:br>
                      <a:endParaRPr lang="fr-FR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النشاط التجريبي</a:t>
                      </a:r>
                      <a:r>
                        <a:rPr lang="ar-DZ" b="1" baseline="0" dirty="0" smtClean="0"/>
                        <a:t> ر</a:t>
                      </a:r>
                      <a:r>
                        <a:rPr lang="ar-DZ" b="1" dirty="0" smtClean="0"/>
                        <a:t>قم :..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866725"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إرساء الموارد المعرفية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866725"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التقويم التكويني</a:t>
                      </a:r>
                      <a:r>
                        <a:rPr lang="ar-DZ" b="1" baseline="0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24528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5576" y="149824"/>
            <a:ext cx="7920880" cy="1406968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cs typeface="Alawi Naskh" pitchFamily="2" charset="-78"/>
              </a:rPr>
              <a:t>خـــــطة  سيــــــــــر الحصــــــــة التعليــــــــــمية</a:t>
            </a:r>
            <a:r>
              <a:rPr lang="ar-DZ" sz="2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cs typeface="Alawi Naskh" pitchFamily="2" charset="-78"/>
              </a:rPr>
              <a:t> </a:t>
            </a:r>
            <a:endParaRPr lang="fr-FR" sz="2000" b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cs typeface="Alawi Naskh" pitchFamily="2" charset="-78"/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444208" y="2708920"/>
            <a:ext cx="2808312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الوضعية الجزئية رقم :</a:t>
            </a:r>
            <a:endParaRPr lang="fr-FR" sz="20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81854" y="1772816"/>
            <a:ext cx="6120680" cy="467047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000" b="1" u="sng" dirty="0" smtClean="0">
                <a:solidFill>
                  <a:schemeClr val="bg1"/>
                </a:solidFill>
              </a:rPr>
              <a:t>نص الوضعية </a:t>
            </a:r>
            <a:r>
              <a:rPr lang="ar-DZ" sz="2000" b="1" dirty="0" smtClean="0">
                <a:solidFill>
                  <a:schemeClr val="bg1"/>
                </a:solidFill>
              </a:rPr>
              <a:t>: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084168" y="908720"/>
            <a:ext cx="2880320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نشــــاط الأســتاذ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236568" y="3789040"/>
            <a:ext cx="2880320" cy="1800200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نشــــــاط المتعــــــلم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88641"/>
            <a:ext cx="5472608" cy="30963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95536" y="3717032"/>
            <a:ext cx="5688632" cy="30243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72974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  <a:cs typeface="Alawi Naskh" pitchFamily="2" charset="-78"/>
              </a:rPr>
              <a:t>الملاحظات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3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72974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النشاط التجريبي رقم :01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ar-DZ" sz="2000" b="1" u="sng" dirty="0" smtClean="0">
                <a:solidFill>
                  <a:schemeClr val="bg1"/>
                </a:solidFill>
              </a:rPr>
              <a:t>نص التجربة </a:t>
            </a:r>
            <a:r>
              <a:rPr lang="ar-DZ" sz="2000" b="1" dirty="0" smtClean="0">
                <a:solidFill>
                  <a:schemeClr val="bg1"/>
                </a:solidFill>
              </a:rPr>
              <a:t>: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372200" y="2204864"/>
            <a:ext cx="2664296" cy="1656184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الرسم التوضيحي للتجربة رقم :01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116632"/>
            <a:ext cx="6192688" cy="655272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084168" y="908720"/>
            <a:ext cx="2880320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نشــــاط الأســتاذ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236568" y="3789040"/>
            <a:ext cx="2880320" cy="1800200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نشــــــاط المتعــــــلم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88641"/>
            <a:ext cx="5472608" cy="30963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95536" y="3717032"/>
            <a:ext cx="5688632" cy="30243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3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53668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  <a:cs typeface="Alawi Naskh" pitchFamily="2" charset="-78"/>
              </a:rPr>
              <a:t>الملاحظـــات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3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72974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prstClr val="black"/>
                </a:solidFill>
              </a:rPr>
              <a:t>النشاط التجريبي رقم :02</a:t>
            </a:r>
            <a:endParaRPr lang="fr-FR" sz="2000" b="1" dirty="0" smtClean="0">
              <a:solidFill>
                <a:prstClr val="black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ar-DZ" sz="2000" b="1" u="sng" dirty="0" smtClean="0">
                <a:solidFill>
                  <a:prstClr val="black"/>
                </a:solidFill>
              </a:rPr>
              <a:t>نص التجربة </a:t>
            </a:r>
            <a:r>
              <a:rPr lang="ar-DZ" sz="2000" b="1" dirty="0" smtClean="0">
                <a:solidFill>
                  <a:prstClr val="black"/>
                </a:solidFill>
              </a:rPr>
              <a:t>:</a:t>
            </a:r>
            <a:endParaRPr lang="fr-FR" sz="2000" b="1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93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372200" y="2204864"/>
            <a:ext cx="2664296" cy="1656184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الرسم التوضيحي للتجربة رقم :02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116632"/>
            <a:ext cx="6192688" cy="655272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4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084168" y="908720"/>
            <a:ext cx="2880320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نشــــاط الأســتاذ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236568" y="3789040"/>
            <a:ext cx="2880320" cy="1872208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نشــــــاط المتعــــــلم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88641"/>
            <a:ext cx="5472608" cy="30963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43136" y="3645024"/>
            <a:ext cx="5841032" cy="30963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3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53668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  <a:cs typeface="Alawi Naskh" pitchFamily="2" charset="-78"/>
              </a:rPr>
              <a:t>الملاحظـــات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38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156176" y="1988840"/>
            <a:ext cx="2880320" cy="182994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إرساء الموارد المعرفية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رقم :01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260648"/>
            <a:ext cx="6048672" cy="6048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156176" y="1988840"/>
            <a:ext cx="2880320" cy="182994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إرساء الموارد المعرفية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رقم :02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107504" y="260648"/>
            <a:ext cx="6048672" cy="604867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6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084168" y="908720"/>
            <a:ext cx="2880320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نشــــاط الأســتاذ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236568" y="3789040"/>
            <a:ext cx="2880320" cy="1872208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نشــــــاط المتعــــــلم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88641"/>
            <a:ext cx="5472608" cy="30963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43136" y="3645024"/>
            <a:ext cx="5841032" cy="30963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53668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  <a:cs typeface="Alawi Naskh" pitchFamily="2" charset="-78"/>
              </a:rPr>
              <a:t>الملاحظـــات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38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084168" y="2420888"/>
            <a:ext cx="2952328" cy="1656184"/>
          </a:xfrm>
          <a:prstGeom prst="leftArrow">
            <a:avLst>
              <a:gd name="adj1" fmla="val 50000"/>
              <a:gd name="adj2" fmla="val 5068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التقويم التكويني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79512" y="260648"/>
            <a:ext cx="5832648" cy="633670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3" name="Flèche gauche 2"/>
          <p:cNvSpPr/>
          <p:nvPr/>
        </p:nvSpPr>
        <p:spPr>
          <a:xfrm>
            <a:off x="6084168" y="908720"/>
            <a:ext cx="2880320" cy="180020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نشــــاط الأســتاذ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4" name="Flèche gauche 3"/>
          <p:cNvSpPr/>
          <p:nvPr/>
        </p:nvSpPr>
        <p:spPr>
          <a:xfrm>
            <a:off x="6236568" y="3789040"/>
            <a:ext cx="2880320" cy="1872208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نشــــــاط المتعــــــلم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95536" y="188641"/>
            <a:ext cx="5472608" cy="30963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43136" y="3645024"/>
            <a:ext cx="5841032" cy="30963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Flèche gauche 3"/>
          <p:cNvSpPr/>
          <p:nvPr/>
        </p:nvSpPr>
        <p:spPr>
          <a:xfrm>
            <a:off x="6253668" y="2132856"/>
            <a:ext cx="2763522" cy="1728193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  <a:cs typeface="Alawi Naskh" pitchFamily="2" charset="-78"/>
              </a:rPr>
              <a:t>الملاحظـــات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24302" y="116632"/>
            <a:ext cx="6048672" cy="648072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38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59632" y="332656"/>
            <a:ext cx="6336704" cy="1008112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4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itchFamily="34" charset="0"/>
                <a:cs typeface="Alawi Naskh" pitchFamily="2" charset="-78"/>
              </a:rPr>
              <a:t>الخــــــــــــــــــــــاتمــــة</a:t>
            </a:r>
            <a:r>
              <a:rPr lang="ar-DZ" sz="2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7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solidFill>
          <a:schemeClr val="accent4">
            <a:lumMod val="75000"/>
          </a:schemeClr>
        </a:solidFill>
      </a:spPr>
      <a:bodyPr rtlCol="0" anchor="ctr"/>
      <a:lstStyle>
        <a:defPPr algn="ctr">
          <a:defRPr sz="20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1335</TotalTime>
  <Words>186</Words>
  <Application>Microsoft Office PowerPoint</Application>
  <PresentationFormat>Affichage à l'écran (4:3)</PresentationFormat>
  <Paragraphs>79</Paragraphs>
  <Slides>23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Apex</vt:lpstr>
      <vt:lpstr>Présentation PowerPoint</vt:lpstr>
      <vt:lpstr>Présentation PowerPoint</vt:lpstr>
      <vt:lpstr>Présentation PowerPoint</vt:lpstr>
      <vt:lpstr>خطة سير الحصة التعليمية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الجمهورية الجزائرية الديمقراطية الشعبية  وزارة التربية الوظنية   </dc:title>
  <dc:creator>HMI</dc:creator>
  <cp:lastModifiedBy>djelloul</cp:lastModifiedBy>
  <cp:revision>811</cp:revision>
  <dcterms:created xsi:type="dcterms:W3CDTF">2016-05-13T17:44:12Z</dcterms:created>
  <dcterms:modified xsi:type="dcterms:W3CDTF">2018-07-18T13:54:17Z</dcterms:modified>
</cp:coreProperties>
</file>