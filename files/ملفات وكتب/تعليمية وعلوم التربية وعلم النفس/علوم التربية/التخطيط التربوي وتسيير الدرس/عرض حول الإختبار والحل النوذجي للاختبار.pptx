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459" r:id="rId2"/>
    <p:sldId id="382" r:id="rId3"/>
    <p:sldId id="414" r:id="rId4"/>
    <p:sldId id="415" r:id="rId5"/>
    <p:sldId id="416" r:id="rId6"/>
    <p:sldId id="463" r:id="rId7"/>
    <p:sldId id="422" r:id="rId8"/>
    <p:sldId id="423" r:id="rId9"/>
    <p:sldId id="492" r:id="rId10"/>
    <p:sldId id="496" r:id="rId11"/>
    <p:sldId id="497" r:id="rId12"/>
    <p:sldId id="498" r:id="rId13"/>
    <p:sldId id="499" r:id="rId14"/>
    <p:sldId id="440" r:id="rId15"/>
    <p:sldId id="447" r:id="rId16"/>
    <p:sldId id="500" r:id="rId17"/>
    <p:sldId id="489" r:id="rId18"/>
    <p:sldId id="501" r:id="rId19"/>
    <p:sldId id="494" r:id="rId20"/>
    <p:sldId id="473" r:id="rId21"/>
    <p:sldId id="502" r:id="rId22"/>
    <p:sldId id="495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1EB2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06" autoAdjust="0"/>
  </p:normalViewPr>
  <p:slideViewPr>
    <p:cSldViewPr>
      <p:cViewPr varScale="1">
        <p:scale>
          <a:sx n="80" d="100"/>
          <a:sy n="80" d="100"/>
        </p:scale>
        <p:origin x="-12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87FE-0F3E-4A04-A23C-3D4654F67010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83891-557C-4A99-A13D-8B03C753E80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1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83891-557C-4A99-A13D-8B03C753E80C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F4FDA02-104D-40C7-AFB1-F62EE64A57A7}" type="datetimeFigureOut">
              <a:rPr lang="fr-FR" smtClean="0"/>
              <a:pPr/>
              <a:t>19/07/2018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1_16_f3f0_5d482b7f4d78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2339752" y="1124744"/>
            <a:ext cx="4680520" cy="6480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مديرية التربية لولاية :...........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1772816"/>
            <a:ext cx="9144000" cy="508518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البطاقة التقنية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مفتشية العلوم الفيزيائية المقاطعة رقم :.............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المادة : العلوم الفيزيائية والتكنولوجية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المؤسسة :...................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المستوى الدراسي :.............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الأستـــــــــاذ(ة) :................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السنة الدراسية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التوقيت :.....................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 رقم المذكرة :....................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835696" y="0"/>
            <a:ext cx="5400600" cy="112474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الجمهورية الجزائرية الديمقراطية الشعبية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وزارة التربية الوطنية 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6" name="Image 5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512" y="260648"/>
            <a:ext cx="2056234" cy="1728192"/>
          </a:xfrm>
          <a:prstGeom prst="rect">
            <a:avLst/>
          </a:prstGeom>
        </p:spPr>
      </p:pic>
      <p:pic>
        <p:nvPicPr>
          <p:cNvPr id="7" name="Image 6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87766" y="0"/>
            <a:ext cx="2056234" cy="17281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4088394_1647892958860509_1097082149435299476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00FF00"/>
          </a:solidFill>
        </p:spPr>
      </p:pic>
      <p:sp>
        <p:nvSpPr>
          <p:cNvPr id="4" name="Rectangle 3"/>
          <p:cNvSpPr/>
          <p:nvPr/>
        </p:nvSpPr>
        <p:spPr>
          <a:xfrm>
            <a:off x="1691680" y="260648"/>
            <a:ext cx="5832648" cy="7920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rgbClr val="FF0000"/>
                </a:solidFill>
                <a:cs typeface="Alawi Naskh" pitchFamily="2" charset="-78"/>
              </a:rPr>
              <a:t>الجمهــورية الجزائرية الديمقراطية الشعبية </a:t>
            </a:r>
            <a:endParaRPr lang="fr-FR" sz="2800" b="1" dirty="0">
              <a:solidFill>
                <a:srgbClr val="FF0000"/>
              </a:solidFill>
              <a:cs typeface="Alawi Naskh" pitchFamily="2" charset="-78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915816" y="1196752"/>
            <a:ext cx="3456384" cy="64807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rgbClr val="C00000"/>
                </a:solidFill>
                <a:latin typeface="Arial Unicode MS" pitchFamily="34" charset="-128"/>
                <a:ea typeface="Arial Unicode MS" pitchFamily="34" charset="-128"/>
              </a:rPr>
              <a:t>وزارة التربية الوطنية</a:t>
            </a:r>
            <a:r>
              <a:rPr lang="ar-DZ" b="1" dirty="0" smtClean="0">
                <a:solidFill>
                  <a:srgbClr val="C00000"/>
                </a:solidFill>
              </a:rPr>
              <a:t> 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2915816" y="2132690"/>
            <a:ext cx="3456384" cy="64807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rgbClr val="0070C0"/>
                </a:solidFill>
                <a:cs typeface="Alawi Naskh" pitchFamily="2" charset="-78"/>
              </a:rPr>
              <a:t>مديرية التربية لولاية :...........</a:t>
            </a:r>
            <a:endParaRPr lang="fr-FR" sz="2000" b="1" dirty="0">
              <a:solidFill>
                <a:srgbClr val="0070C0"/>
              </a:solidFill>
              <a:cs typeface="Alawi Naskh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36096" y="3356992"/>
            <a:ext cx="3600400" cy="50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المؤسسة:...................................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5536" y="3454318"/>
            <a:ext cx="2952328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السنة الدراسية :......................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5536" y="4293096"/>
            <a:ext cx="2952328" cy="5040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التوقيت : ........................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4659" y="5229200"/>
            <a:ext cx="2952328" cy="5040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الأستاذ(ة) :.....................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39921" y="4149080"/>
            <a:ext cx="295232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المستوى:..........................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890822" y="5949280"/>
            <a:ext cx="5993545" cy="7920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  <a:cs typeface="Alawi Naskh" pitchFamily="2" charset="-78"/>
              </a:rPr>
              <a:t>اختبار الفصل ..............في مادة العلوم الفيزيائية والتكنولوجية </a:t>
            </a:r>
            <a:endParaRPr lang="fr-FR" sz="2000" b="1" dirty="0">
              <a:solidFill>
                <a:schemeClr val="bg1"/>
              </a:solidFill>
              <a:cs typeface="Alawi Naskh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20" grpId="0" animBg="1"/>
      <p:bldP spid="7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1_16_f3f0_5d482b7f4d78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Rectangle à coins arrondis 13"/>
          <p:cNvSpPr/>
          <p:nvPr/>
        </p:nvSpPr>
        <p:spPr>
          <a:xfrm>
            <a:off x="5831670" y="128654"/>
            <a:ext cx="2520280" cy="57606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</a:rPr>
              <a:t>الجزء الأول ( 12ن )</a:t>
            </a:r>
            <a:endParaRPr lang="fr-FR" sz="2000" b="1" dirty="0">
              <a:solidFill>
                <a:schemeClr val="bg1"/>
              </a:solidFill>
              <a:latin typeface="Arial Unicode MS" pitchFamily="34" charset="-128"/>
              <a:ea typeface="Arial Unicode MS" pitchFamily="34" charset="-128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5796136" y="836712"/>
            <a:ext cx="2592288" cy="50405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التمرين الأول ( 06 ن)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179512" y="1556792"/>
            <a:ext cx="8712968" cy="51845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6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24528" cy="6858000"/>
          </a:xfrm>
          <a:prstGeom prst="rect">
            <a:avLst/>
          </a:prstGeom>
        </p:spPr>
      </p:pic>
      <p:sp>
        <p:nvSpPr>
          <p:cNvPr id="2" name="Flèche gauche 1"/>
          <p:cNvSpPr/>
          <p:nvPr/>
        </p:nvSpPr>
        <p:spPr>
          <a:xfrm>
            <a:off x="7164288" y="2852936"/>
            <a:ext cx="2088232" cy="144016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الوثيقة 01</a:t>
            </a:r>
            <a:r>
              <a:rPr lang="ar-DZ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179512" y="260648"/>
            <a:ext cx="6912768" cy="648072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796136" y="188640"/>
            <a:ext cx="2952328" cy="5760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  <a:latin typeface="Andalus" pitchFamily="18" charset="-78"/>
              </a:rPr>
              <a:t>التمرين الثاني (06 ن)</a:t>
            </a:r>
            <a:endParaRPr lang="fr-FR" sz="2400" b="1" dirty="0">
              <a:solidFill>
                <a:schemeClr val="bg1"/>
              </a:solidFill>
              <a:latin typeface="Andalus" pitchFamily="18" charset="-78"/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251520" y="908720"/>
            <a:ext cx="8568952" cy="57606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3263268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4" name="Flèche gauche 13"/>
          <p:cNvSpPr/>
          <p:nvPr/>
        </p:nvSpPr>
        <p:spPr>
          <a:xfrm>
            <a:off x="7020272" y="2717070"/>
            <a:ext cx="2123728" cy="10081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الوثيقة 02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323528" y="368660"/>
            <a:ext cx="6480720" cy="61206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800px-Keukenhof-Szmur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6164560" y="116632"/>
            <a:ext cx="2736304" cy="576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الجزء الثاني ( 08 ن ) </a:t>
            </a:r>
            <a:endParaRPr lang="fr-FR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6173320" y="764704"/>
            <a:ext cx="2736304" cy="57606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الوضعية الإدماجية </a:t>
            </a:r>
            <a:r>
              <a:rPr lang="ar-DZ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(08 ن) </a:t>
            </a:r>
            <a:endParaRPr lang="fr-FR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07504" y="1484784"/>
            <a:ext cx="8928992" cy="51845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035dreamscit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7164288" y="2420888"/>
            <a:ext cx="1979712" cy="1008111"/>
          </a:xfrm>
          <a:prstGeom prst="lef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الوثيقة (03)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07504" y="260648"/>
            <a:ext cx="6984776" cy="659735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035dreamscit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971600" y="1844824"/>
            <a:ext cx="7488832" cy="10801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الاجابة النموذجية وسلالم التنقيط </a:t>
            </a:r>
            <a:endParaRPr lang="fr-FR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5292080" y="3789040"/>
            <a:ext cx="3672408" cy="6480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الاجابة النموذجية وسلالم التنقيط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51520" y="3860547"/>
            <a:ext cx="3816424" cy="64807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 smtClean="0">
                <a:solidFill>
                  <a:schemeClr val="bg1"/>
                </a:solidFill>
              </a:rPr>
              <a:t>اختبار الفصل ..................</a:t>
            </a:r>
            <a:endParaRPr lang="fr-F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329706"/>
              </p:ext>
            </p:extLst>
          </p:nvPr>
        </p:nvGraphicFramePr>
        <p:xfrm>
          <a:off x="395537" y="332656"/>
          <a:ext cx="8280919" cy="6315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80119"/>
                <a:gridCol w="1296144"/>
                <a:gridCol w="5904656"/>
              </a:tblGrid>
              <a:tr h="289560">
                <a:tc gridSpan="2">
                  <a:txBody>
                    <a:bodyPr/>
                    <a:lstStyle/>
                    <a:p>
                      <a:pPr algn="ctr"/>
                      <a:r>
                        <a:rPr lang="ar-DZ" sz="2400" b="1" dirty="0" smtClean="0">
                          <a:solidFill>
                            <a:schemeClr val="bg1"/>
                          </a:solidFill>
                        </a:rPr>
                        <a:t>العلامة</a:t>
                      </a:r>
                      <a:r>
                        <a:rPr lang="ar-DZ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3200" b="1" dirty="0" smtClean="0">
                          <a:solidFill>
                            <a:schemeClr val="bg1"/>
                          </a:solidFill>
                        </a:rPr>
                        <a:t>عناصر الاجابة </a:t>
                      </a:r>
                      <a:endParaRPr lang="fr-FR" sz="3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المجموع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المجزأة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5492428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b="1" u="sng" dirty="0" smtClean="0"/>
                        <a:t>الجزء الأول </a:t>
                      </a:r>
                      <a:r>
                        <a:rPr lang="ar-DZ" b="1" u="none" dirty="0" smtClean="0"/>
                        <a:t>:  (12 ن) </a:t>
                      </a:r>
                    </a:p>
                    <a:p>
                      <a:pPr algn="r"/>
                      <a:r>
                        <a:rPr lang="ar-DZ" b="1" u="sng" dirty="0" smtClean="0"/>
                        <a:t>التمرين الأول :</a:t>
                      </a:r>
                      <a:r>
                        <a:rPr lang="ar-DZ" b="1" u="none" dirty="0" smtClean="0"/>
                        <a:t>  ( 06 ن) </a:t>
                      </a:r>
                      <a:endParaRPr lang="ar-DZ" b="1" u="sng" dirty="0" smtClean="0"/>
                    </a:p>
                    <a:p>
                      <a:pPr algn="r"/>
                      <a:endParaRPr lang="ar-DZ" b="1" u="none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r"/>
                      <a:endParaRPr lang="ar-DZ" b="1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9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241057"/>
              </p:ext>
            </p:extLst>
          </p:nvPr>
        </p:nvGraphicFramePr>
        <p:xfrm>
          <a:off x="395537" y="332656"/>
          <a:ext cx="8280919" cy="6315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80119"/>
                <a:gridCol w="1296144"/>
                <a:gridCol w="5904656"/>
              </a:tblGrid>
              <a:tr h="289560">
                <a:tc gridSpan="2">
                  <a:txBody>
                    <a:bodyPr/>
                    <a:lstStyle/>
                    <a:p>
                      <a:pPr algn="ctr"/>
                      <a:r>
                        <a:rPr lang="ar-DZ" sz="2400" b="1" dirty="0" smtClean="0">
                          <a:solidFill>
                            <a:schemeClr val="bg1"/>
                          </a:solidFill>
                        </a:rPr>
                        <a:t>العلامة</a:t>
                      </a:r>
                      <a:r>
                        <a:rPr lang="ar-DZ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3200" b="1" dirty="0" smtClean="0">
                          <a:solidFill>
                            <a:schemeClr val="bg1"/>
                          </a:solidFill>
                        </a:rPr>
                        <a:t>عناصر الاجابة </a:t>
                      </a:r>
                      <a:endParaRPr lang="fr-FR" sz="3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المجموع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المجزأة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5492428">
                <a:tc>
                  <a:txBody>
                    <a:bodyPr/>
                    <a:lstStyle/>
                    <a:p>
                      <a:pPr algn="ctr"/>
                      <a:endParaRPr lang="fr-F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b="1" u="sng" dirty="0" smtClean="0"/>
                    </a:p>
                    <a:p>
                      <a:pPr algn="r"/>
                      <a:endParaRPr lang="ar-DZ" b="1" u="none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r"/>
                      <a:endParaRPr lang="ar-DZ" b="1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9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230095"/>
              </p:ext>
            </p:extLst>
          </p:nvPr>
        </p:nvGraphicFramePr>
        <p:xfrm>
          <a:off x="395537" y="332656"/>
          <a:ext cx="8280919" cy="6315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80119"/>
                <a:gridCol w="1296144"/>
                <a:gridCol w="5904656"/>
              </a:tblGrid>
              <a:tr h="289560">
                <a:tc gridSpan="2">
                  <a:txBody>
                    <a:bodyPr/>
                    <a:lstStyle/>
                    <a:p>
                      <a:pPr algn="ctr"/>
                      <a:r>
                        <a:rPr lang="ar-DZ" sz="2400" b="1" dirty="0" smtClean="0">
                          <a:solidFill>
                            <a:schemeClr val="bg1"/>
                          </a:solidFill>
                        </a:rPr>
                        <a:t>العلامة</a:t>
                      </a:r>
                      <a:r>
                        <a:rPr lang="ar-DZ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3200" b="1" dirty="0" smtClean="0">
                          <a:solidFill>
                            <a:schemeClr val="bg1"/>
                          </a:solidFill>
                        </a:rPr>
                        <a:t>عناصر الاجابة </a:t>
                      </a:r>
                      <a:endParaRPr lang="fr-FR" sz="3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المجموع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المجزأة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5492428">
                <a:tc>
                  <a:txBody>
                    <a:bodyPr/>
                    <a:lstStyle/>
                    <a:p>
                      <a:pPr algn="ctr"/>
                      <a:endParaRPr lang="fr-F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u="sng" dirty="0" smtClean="0"/>
                        <a:t>التمرين</a:t>
                      </a:r>
                      <a:r>
                        <a:rPr lang="ar-DZ" b="1" u="sng" baseline="0" dirty="0" smtClean="0"/>
                        <a:t> الثاني :</a:t>
                      </a:r>
                      <a:r>
                        <a:rPr lang="ar-DZ" b="1" u="none" baseline="0" dirty="0" smtClean="0"/>
                        <a:t> ( 06 ن) </a:t>
                      </a:r>
                      <a:endParaRPr lang="ar-DZ" b="1" u="sng" dirty="0" smtClean="0"/>
                    </a:p>
                    <a:p>
                      <a:pPr algn="r"/>
                      <a:endParaRPr lang="ar-DZ" b="1" u="none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r"/>
                      <a:endParaRPr lang="ar-DZ" b="1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9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4323"/>
              </p:ext>
            </p:extLst>
          </p:nvPr>
        </p:nvGraphicFramePr>
        <p:xfrm>
          <a:off x="395537" y="332656"/>
          <a:ext cx="8280919" cy="6315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80119"/>
                <a:gridCol w="1296144"/>
                <a:gridCol w="5904656"/>
              </a:tblGrid>
              <a:tr h="289560">
                <a:tc gridSpan="2">
                  <a:txBody>
                    <a:bodyPr/>
                    <a:lstStyle/>
                    <a:p>
                      <a:pPr algn="ctr"/>
                      <a:r>
                        <a:rPr lang="ar-DZ" sz="2400" b="1" dirty="0" smtClean="0">
                          <a:solidFill>
                            <a:schemeClr val="bg1"/>
                          </a:solidFill>
                        </a:rPr>
                        <a:t>العلامة</a:t>
                      </a:r>
                      <a:r>
                        <a:rPr lang="ar-DZ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3200" b="1" dirty="0" smtClean="0">
                          <a:solidFill>
                            <a:schemeClr val="bg1"/>
                          </a:solidFill>
                        </a:rPr>
                        <a:t>عناصر الاجابة </a:t>
                      </a:r>
                      <a:endParaRPr lang="fr-FR" sz="3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المجموع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المجزأة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5492428">
                <a:tc>
                  <a:txBody>
                    <a:bodyPr/>
                    <a:lstStyle/>
                    <a:p>
                      <a:pPr algn="ctr"/>
                      <a:endParaRPr lang="fr-FR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b="1" u="sng" dirty="0" smtClean="0"/>
                    </a:p>
                    <a:p>
                      <a:pPr algn="r"/>
                      <a:endParaRPr lang="ar-DZ" b="1" u="none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r"/>
                      <a:endParaRPr lang="ar-DZ" b="1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08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1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7624" y="1268760"/>
            <a:ext cx="6768752" cy="9361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حــــل الوضعية الإدماجية 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4860032" y="3853573"/>
            <a:ext cx="4176464" cy="6480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تابع للإجابة النموذجية وسلالم التنقيط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79512" y="3873866"/>
            <a:ext cx="3600400" cy="64807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اختبـــار الفصــل .............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125335"/>
              </p:ext>
            </p:extLst>
          </p:nvPr>
        </p:nvGraphicFramePr>
        <p:xfrm>
          <a:off x="251520" y="404664"/>
          <a:ext cx="8568952" cy="58826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7494"/>
                <a:gridCol w="1052327"/>
                <a:gridCol w="6389131"/>
              </a:tblGrid>
              <a:tr h="3708412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800" u="sng" dirty="0" smtClean="0"/>
                        <a:t>حل الوضعية :</a:t>
                      </a:r>
                    </a:p>
                    <a:p>
                      <a:pPr algn="r"/>
                      <a:endParaRPr lang="ar-DZ" sz="2800" u="none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035dreamscit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764416"/>
              </p:ext>
            </p:extLst>
          </p:nvPr>
        </p:nvGraphicFramePr>
        <p:xfrm>
          <a:off x="323528" y="404663"/>
          <a:ext cx="8496943" cy="6126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27135"/>
                <a:gridCol w="902330"/>
                <a:gridCol w="6767478"/>
              </a:tblGrid>
              <a:tr h="608757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ar-DZ" dirty="0" smtClean="0"/>
                    </a:p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18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455031"/>
              </p:ext>
            </p:extLst>
          </p:nvPr>
        </p:nvGraphicFramePr>
        <p:xfrm>
          <a:off x="251520" y="332656"/>
          <a:ext cx="8712968" cy="62396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19168"/>
                <a:gridCol w="1117047"/>
                <a:gridCol w="6776753"/>
              </a:tblGrid>
              <a:tr h="6239624"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950034"/>
              </p:ext>
            </p:extLst>
          </p:nvPr>
        </p:nvGraphicFramePr>
        <p:xfrm>
          <a:off x="251520" y="404664"/>
          <a:ext cx="8568952" cy="58826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27494"/>
                <a:gridCol w="1052327"/>
                <a:gridCol w="6389131"/>
              </a:tblGrid>
              <a:tr h="3708412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ar-DZ" sz="2800" u="sng" dirty="0" smtClean="0"/>
                    </a:p>
                    <a:p>
                      <a:pPr algn="r"/>
                      <a:endParaRPr lang="ar-DZ" sz="2800" u="none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ar-DZ" dirty="0" smtClean="0"/>
                    </a:p>
                    <a:p>
                      <a:pPr algn="ctr"/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00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035dreamscit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899592" y="2420888"/>
            <a:ext cx="7560840" cy="15121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ar-DZ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شبكة التقويم للوضعية الإدماجية </a:t>
            </a:r>
            <a:endParaRPr lang="fr-FR" sz="4800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674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791"/>
            <a:ext cx="9144000" cy="6858000"/>
          </a:xfrm>
          <a:prstGeom prst="rect">
            <a:avLst/>
          </a:prstGeom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359230"/>
              </p:ext>
            </p:extLst>
          </p:nvPr>
        </p:nvGraphicFramePr>
        <p:xfrm>
          <a:off x="143507" y="338449"/>
          <a:ext cx="8856985" cy="640033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771397"/>
                <a:gridCol w="1771397"/>
                <a:gridCol w="1771397"/>
                <a:gridCol w="1771397"/>
                <a:gridCol w="1771397"/>
              </a:tblGrid>
              <a:tr h="426255">
                <a:tc grid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العلامة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المؤشرات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السؤال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المعايير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/>
                        <a:t>المجموع </a:t>
                      </a:r>
                      <a:endParaRPr lang="fr-F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/>
                        <a:t>المجزأة </a:t>
                      </a:r>
                      <a:endParaRPr lang="fr-FR" sz="20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الترجمة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السليمة</a:t>
                      </a:r>
                      <a:r>
                        <a:rPr lang="ar-DZ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ar-DZ" b="1" baseline="0" dirty="0" smtClean="0">
                          <a:solidFill>
                            <a:schemeClr val="bg1"/>
                          </a:solidFill>
                        </a:rPr>
                        <a:t>للوضعية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الاستعمال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السليم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لأدوات 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المادة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انسجام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الإجابة</a:t>
                      </a:r>
                      <a:r>
                        <a:rPr lang="ar-DZ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الاتقان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74202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791"/>
            <a:ext cx="9144000" cy="6858000"/>
          </a:xfrm>
          <a:prstGeom prst="rect">
            <a:avLst/>
          </a:prstGeom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261836"/>
              </p:ext>
            </p:extLst>
          </p:nvPr>
        </p:nvGraphicFramePr>
        <p:xfrm>
          <a:off x="143507" y="338449"/>
          <a:ext cx="8856985" cy="640033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771397"/>
                <a:gridCol w="1771397"/>
                <a:gridCol w="1771397"/>
                <a:gridCol w="1771397"/>
                <a:gridCol w="1771397"/>
              </a:tblGrid>
              <a:tr h="426255">
                <a:tc grid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العلامة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المؤشرات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السؤال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المعايير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/>
                        <a:t>المجموع </a:t>
                      </a:r>
                      <a:endParaRPr lang="fr-F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/>
                        <a:t>المجزأة </a:t>
                      </a:r>
                      <a:endParaRPr lang="fr-FR" sz="20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الترجمة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السليمة</a:t>
                      </a:r>
                      <a:r>
                        <a:rPr lang="ar-DZ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ar-DZ" b="1" baseline="0" dirty="0" smtClean="0">
                          <a:solidFill>
                            <a:schemeClr val="bg1"/>
                          </a:solidFill>
                        </a:rPr>
                        <a:t>للوضعية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الاستعمال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السليم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لأدوات 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المادة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انسجام</a:t>
                      </a: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الإجابة</a:t>
                      </a:r>
                      <a:r>
                        <a:rPr lang="ar-DZ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1032114">
                <a:tc>
                  <a:txBody>
                    <a:bodyPr/>
                    <a:lstStyle/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ar-DZ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ar-DZ" b="1" dirty="0" smtClean="0">
                          <a:solidFill>
                            <a:schemeClr val="bg1"/>
                          </a:solidFill>
                        </a:rPr>
                        <a:t>الاتقان 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9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035dreamscit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3588" y="260648"/>
            <a:ext cx="7416824" cy="864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50800" algn="tl" rotWithShape="0">
                    <a:srgbClr val="000000"/>
                  </a:outerShdw>
                </a:effectLst>
                <a:cs typeface="Alawi Naskh" pitchFamily="2" charset="-78"/>
              </a:rPr>
              <a:t>الخــــــــــــــاتمــــة </a:t>
            </a:r>
            <a:endParaRPr lang="fr-FR" sz="4800" dirty="0">
              <a:solidFill>
                <a:srgbClr val="FF0000"/>
              </a:solidFill>
              <a:cs typeface="Alawi Naskh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9674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1369</TotalTime>
  <Words>214</Words>
  <Application>Microsoft Office PowerPoint</Application>
  <PresentationFormat>Affichage à l'écran (4:3)</PresentationFormat>
  <Paragraphs>240</Paragraphs>
  <Slides>22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Apex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الجمهورية الجزائرية الديمقراطية الشعبية  وزارة التربية الوظنية   </dc:title>
  <dc:creator>HMI</dc:creator>
  <cp:lastModifiedBy>djelloul</cp:lastModifiedBy>
  <cp:revision>815</cp:revision>
  <dcterms:created xsi:type="dcterms:W3CDTF">2016-05-13T17:44:12Z</dcterms:created>
  <dcterms:modified xsi:type="dcterms:W3CDTF">2018-07-19T06:39:57Z</dcterms:modified>
</cp:coreProperties>
</file>