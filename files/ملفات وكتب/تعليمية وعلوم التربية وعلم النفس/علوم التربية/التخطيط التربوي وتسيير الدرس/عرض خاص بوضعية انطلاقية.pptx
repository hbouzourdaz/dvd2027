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459" r:id="rId2"/>
    <p:sldId id="382" r:id="rId3"/>
    <p:sldId id="495" r:id="rId4"/>
    <p:sldId id="383" r:id="rId5"/>
    <p:sldId id="385" r:id="rId6"/>
    <p:sldId id="414" r:id="rId7"/>
    <p:sldId id="415" r:id="rId8"/>
    <p:sldId id="416" r:id="rId9"/>
    <p:sldId id="463" r:id="rId10"/>
    <p:sldId id="422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1EB2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106" autoAdjust="0"/>
  </p:normalViewPr>
  <p:slideViewPr>
    <p:cSldViewPr>
      <p:cViewPr varScale="1">
        <p:scale>
          <a:sx n="80" d="100"/>
          <a:sy n="80" d="100"/>
        </p:scale>
        <p:origin x="-127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87FE-0F3E-4A04-A23C-3D4654F67010}" type="datetimeFigureOut">
              <a:rPr lang="fr-FR" smtClean="0"/>
              <a:pPr/>
              <a:t>18/07/2018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583891-557C-4A99-A13D-8B03C753E80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6147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583891-557C-4A99-A13D-8B03C753E80C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18/07/2018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18/07/2018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18/07/2018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18/07/2018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18/07/2018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18/07/2018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18/07/2018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18/07/2018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fr-FR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Cliquez sur l'icône pour ajouter une image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18/07/2018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18/07/2018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FDA02-104D-40C7-AFB1-F62EE64A57A7}" type="datetimeFigureOut">
              <a:rPr lang="fr-FR" smtClean="0"/>
              <a:pPr/>
              <a:t>18/07/2018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8F4FDA02-104D-40C7-AFB1-F62EE64A57A7}" type="datetimeFigureOut">
              <a:rPr lang="fr-FR" smtClean="0"/>
              <a:pPr/>
              <a:t>18/07/2018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F2BD9E52-BD52-4042-A962-B17B31F5D61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net_11_16_f3f0_5d482b7f4d78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à coins arrondis 2"/>
          <p:cNvSpPr/>
          <p:nvPr/>
        </p:nvSpPr>
        <p:spPr>
          <a:xfrm>
            <a:off x="2339752" y="1124744"/>
            <a:ext cx="4680520" cy="6480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مديرية التربية لولاية :........... 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0" y="1772816"/>
            <a:ext cx="9144000" cy="5085184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البطاقة التقنية </a:t>
            </a:r>
            <a:endParaRPr lang="fr-FR" sz="2800" b="1" dirty="0" smtClean="0">
              <a:solidFill>
                <a:schemeClr val="bg1"/>
              </a:solidFill>
            </a:endParaRP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المؤسسة :....................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مفتشية العلوم الفيزيائية المقاطعة رقم :.............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المادة : العلوم الفيزيائية والتكنولوجية 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 المستوى الدراسي :....................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الأستـــــــــاذ(ة) :................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السنة الدراسية :....................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التوقيت :.....................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 رقم المذكرة :....................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1835696" y="0"/>
            <a:ext cx="5400600" cy="11247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الجمهورية الجزائرية الديمقراطية الشعبية </a:t>
            </a:r>
          </a:p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وزارة التربية الوطنية 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6" name="Image 5" descr="image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79512" y="260648"/>
            <a:ext cx="2056234" cy="1728192"/>
          </a:xfrm>
          <a:prstGeom prst="rect">
            <a:avLst/>
          </a:prstGeom>
        </p:spPr>
      </p:pic>
      <p:pic>
        <p:nvPicPr>
          <p:cNvPr id="7" name="Image 6" descr="image.g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87766" y="0"/>
            <a:ext cx="2056234" cy="17281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14088394_1647892958860509_1097082149435299476_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3312" y="0"/>
            <a:ext cx="9144000" cy="6858000"/>
          </a:xfrm>
          <a:prstGeom prst="rect">
            <a:avLst/>
          </a:prstGeom>
          <a:solidFill>
            <a:srgbClr val="00FF00"/>
          </a:solidFill>
        </p:spPr>
      </p:pic>
      <p:sp>
        <p:nvSpPr>
          <p:cNvPr id="3" name="Ruban courbé vers le bas 2"/>
          <p:cNvSpPr/>
          <p:nvPr/>
        </p:nvSpPr>
        <p:spPr>
          <a:xfrm>
            <a:off x="395536" y="0"/>
            <a:ext cx="8568952" cy="1124744"/>
          </a:xfrm>
          <a:prstGeom prst="ellipseRibbo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وزارة التربية الوطنية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مديرية التربية لولاية :.................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8" name="Rectangle avec flèche vers le bas 7"/>
          <p:cNvSpPr/>
          <p:nvPr/>
        </p:nvSpPr>
        <p:spPr>
          <a:xfrm>
            <a:off x="7127776" y="1124744"/>
            <a:ext cx="2016224" cy="720080"/>
          </a:xfrm>
          <a:prstGeom prst="downArrowCallou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المادة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0" name="Rectangle avec flèche vers le bas 9"/>
          <p:cNvSpPr/>
          <p:nvPr/>
        </p:nvSpPr>
        <p:spPr>
          <a:xfrm>
            <a:off x="3545632" y="1124744"/>
            <a:ext cx="2016224" cy="720080"/>
          </a:xfrm>
          <a:prstGeom prst="downArrowCallou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dirty="0" err="1" smtClean="0"/>
              <a:t>ا</a:t>
            </a:r>
            <a:r>
              <a:rPr lang="ar-DZ" sz="2000" b="1" dirty="0" err="1" smtClean="0">
                <a:solidFill>
                  <a:schemeClr val="bg1"/>
                </a:solidFill>
              </a:rPr>
              <a:t>الميدان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1" name="Rectangle avec flèche vers le bas 10"/>
          <p:cNvSpPr/>
          <p:nvPr/>
        </p:nvSpPr>
        <p:spPr>
          <a:xfrm>
            <a:off x="360758" y="1003704"/>
            <a:ext cx="2016224" cy="720080"/>
          </a:xfrm>
          <a:prstGeom prst="downArrowCallou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smtClean="0">
                <a:solidFill>
                  <a:schemeClr val="bg1"/>
                </a:solidFill>
              </a:rPr>
              <a:t>الحصة  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2" name="Rectangle à coins arrondis 11"/>
          <p:cNvSpPr/>
          <p:nvPr/>
        </p:nvSpPr>
        <p:spPr>
          <a:xfrm>
            <a:off x="7271792" y="1844824"/>
            <a:ext cx="1872208" cy="864096"/>
          </a:xfrm>
          <a:prstGeom prst="round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علوم فيزيائية </a:t>
            </a:r>
          </a:p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وتكنولوجية 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4" name="Rectangle à coins arrondis 13"/>
          <p:cNvSpPr/>
          <p:nvPr/>
        </p:nvSpPr>
        <p:spPr>
          <a:xfrm>
            <a:off x="3203848" y="1844824"/>
            <a:ext cx="2736304" cy="86409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....................  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5" name="Rectangle à coins arrondis 14"/>
          <p:cNvSpPr/>
          <p:nvPr/>
        </p:nvSpPr>
        <p:spPr>
          <a:xfrm>
            <a:off x="184140" y="1776209"/>
            <a:ext cx="2448272" cy="86409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الوضعية </a:t>
            </a:r>
            <a:r>
              <a:rPr lang="ar-DZ" sz="2000" b="1" dirty="0" err="1" smtClean="0">
                <a:solidFill>
                  <a:schemeClr val="bg1"/>
                </a:solidFill>
              </a:rPr>
              <a:t>الإنطلاقية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6" name="Rectangle à coins arrondis 15"/>
          <p:cNvSpPr/>
          <p:nvPr/>
        </p:nvSpPr>
        <p:spPr>
          <a:xfrm>
            <a:off x="395536" y="2780928"/>
            <a:ext cx="6840760" cy="194421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17" name="Rectangle à coins arrondis 16"/>
          <p:cNvSpPr/>
          <p:nvPr/>
        </p:nvSpPr>
        <p:spPr>
          <a:xfrm>
            <a:off x="107504" y="5022682"/>
            <a:ext cx="7164288" cy="166621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ar-DZ" sz="2800" b="1" dirty="0" smtClean="0">
              <a:solidFill>
                <a:schemeClr val="bg1"/>
              </a:solidFill>
            </a:endParaRPr>
          </a:p>
        </p:txBody>
      </p:sp>
      <p:sp>
        <p:nvSpPr>
          <p:cNvPr id="18" name="Rectangle avec flèche vers la gauche 17"/>
          <p:cNvSpPr/>
          <p:nvPr/>
        </p:nvSpPr>
        <p:spPr>
          <a:xfrm>
            <a:off x="7524328" y="2996952"/>
            <a:ext cx="1619672" cy="936104"/>
          </a:xfrm>
          <a:prstGeom prst="left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الكفاءة </a:t>
            </a:r>
            <a:r>
              <a:rPr lang="ar-DZ" sz="2400" b="1" dirty="0" smtClean="0">
                <a:solidFill>
                  <a:schemeClr val="bg1"/>
                </a:solidFill>
              </a:rPr>
              <a:t>الشاملة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9" name="Rectangle avec flèche vers la gauche 18"/>
          <p:cNvSpPr/>
          <p:nvPr/>
        </p:nvSpPr>
        <p:spPr>
          <a:xfrm>
            <a:off x="7524328" y="5022682"/>
            <a:ext cx="1619672" cy="936104"/>
          </a:xfrm>
          <a:prstGeom prst="leftArrowCallou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الكفاءة</a:t>
            </a:r>
          </a:p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الختامية </a:t>
            </a:r>
            <a:endParaRPr lang="fr-FR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Rectangle à coins arrondis 6"/>
          <p:cNvSpPr/>
          <p:nvPr/>
        </p:nvSpPr>
        <p:spPr>
          <a:xfrm>
            <a:off x="179512" y="260648"/>
            <a:ext cx="6840760" cy="2448272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DZ" b="1" dirty="0" smtClean="0">
                <a:solidFill>
                  <a:schemeClr val="bg1"/>
                </a:solidFill>
              </a:rPr>
              <a:t> </a:t>
            </a:r>
            <a:r>
              <a:rPr lang="ar-DZ" b="1" dirty="0" err="1" smtClean="0">
                <a:solidFill>
                  <a:schemeClr val="bg1"/>
                </a:solidFill>
              </a:rPr>
              <a:t>-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9" name="Rectangle à coins arrondis 8"/>
          <p:cNvSpPr/>
          <p:nvPr/>
        </p:nvSpPr>
        <p:spPr>
          <a:xfrm>
            <a:off x="611560" y="5013176"/>
            <a:ext cx="6624736" cy="1368152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b="1" dirty="0" err="1" smtClean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" name="Rectangle à coins arrondis 9"/>
          <p:cNvSpPr/>
          <p:nvPr/>
        </p:nvSpPr>
        <p:spPr>
          <a:xfrm>
            <a:off x="431540" y="2924944"/>
            <a:ext cx="6588732" cy="18002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 avec flèche vers la gauche 10"/>
          <p:cNvSpPr/>
          <p:nvPr/>
        </p:nvSpPr>
        <p:spPr>
          <a:xfrm>
            <a:off x="7020272" y="692696"/>
            <a:ext cx="2123728" cy="1368152"/>
          </a:xfrm>
          <a:prstGeom prst="left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ar-DZ" sz="2400" b="1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مركبات </a:t>
            </a:r>
          </a:p>
          <a:p>
            <a:pPr algn="ctr"/>
            <a:r>
              <a:rPr lang="ar-DZ" sz="2400" b="1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الكفاءة </a:t>
            </a:r>
            <a:endParaRPr lang="fr-FR" sz="2400" b="1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  <p:sp>
        <p:nvSpPr>
          <p:cNvPr id="12" name="Rectangle avec flèche vers la gauche 11"/>
          <p:cNvSpPr/>
          <p:nvPr/>
        </p:nvSpPr>
        <p:spPr>
          <a:xfrm>
            <a:off x="7092280" y="2924944"/>
            <a:ext cx="2051720" cy="1368152"/>
          </a:xfrm>
          <a:prstGeom prst="leftArrowCallou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ar-DZ" sz="24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 </a:t>
            </a:r>
            <a:r>
              <a:rPr lang="ar-DZ" sz="24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المعايير</a:t>
            </a:r>
          </a:p>
          <a:p>
            <a:pPr algn="ctr"/>
            <a:r>
              <a:rPr lang="ar-DZ" sz="24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والمؤشرات </a:t>
            </a:r>
            <a:endParaRPr lang="ar-DZ" sz="2400" b="1" cap="all" dirty="0" smtClean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13" name="Rectangle avec flèche vers la gauche 12"/>
          <p:cNvSpPr/>
          <p:nvPr/>
        </p:nvSpPr>
        <p:spPr>
          <a:xfrm>
            <a:off x="7236296" y="5013176"/>
            <a:ext cx="1907704" cy="1368152"/>
          </a:xfrm>
          <a:prstGeom prst="leftArrowCallou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ar-DZ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المراجع </a:t>
            </a:r>
            <a:endParaRPr lang="fr-FR" sz="2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2598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fonds-ecran-bahamas-13-768x57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uban courbé vers le bas 2"/>
          <p:cNvSpPr/>
          <p:nvPr/>
        </p:nvSpPr>
        <p:spPr>
          <a:xfrm>
            <a:off x="395536" y="0"/>
            <a:ext cx="8568952" cy="1124744"/>
          </a:xfrm>
          <a:prstGeom prst="ellipseRibbon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ar-DZ" sz="2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cs typeface="Alawi Naskh" pitchFamily="2" charset="-78"/>
              </a:rPr>
              <a:t>خطــــة سيــــــــر الحصــــة التعلمية </a:t>
            </a:r>
            <a:endParaRPr lang="fr-FR" sz="2000" b="1" dirty="0">
              <a:solidFill>
                <a:srgbClr val="FF0000"/>
              </a:solidFill>
              <a:cs typeface="Alawi Naskh" pitchFamily="2" charset="-78"/>
            </a:endParaRP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999733"/>
              </p:ext>
            </p:extLst>
          </p:nvPr>
        </p:nvGraphicFramePr>
        <p:xfrm>
          <a:off x="0" y="1124744"/>
          <a:ext cx="9108504" cy="5733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7624"/>
                <a:gridCol w="1296144"/>
                <a:gridCol w="5400600"/>
                <a:gridCol w="1224136"/>
              </a:tblGrid>
              <a:tr h="733517">
                <a:tc>
                  <a:txBody>
                    <a:bodyPr/>
                    <a:lstStyle/>
                    <a:p>
                      <a:pPr algn="r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 الملاحظات </a:t>
                      </a: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 نشاط التلميذ  </a:t>
                      </a: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نشاط الأستـــــــــــاذ      </a:t>
                      </a: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 الخطوات  </a:t>
                      </a:r>
                      <a:br>
                        <a:rPr lang="ar-DZ" sz="2000" b="1" dirty="0" smtClean="0">
                          <a:solidFill>
                            <a:schemeClr val="bg1"/>
                          </a:solidFill>
                        </a:rPr>
                      </a:b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4999739">
                <a:tc>
                  <a:txBody>
                    <a:bodyPr/>
                    <a:lstStyle/>
                    <a:p>
                      <a:r>
                        <a:rPr lang="ar-DZ" sz="2000" b="1" dirty="0" smtClean="0"/>
                        <a:t> </a:t>
                      </a:r>
                      <a:endParaRPr lang="fr-FR" sz="2000" b="1" dirty="0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ar-DZ" sz="2000" b="1" dirty="0" smtClean="0"/>
                    </a:p>
                    <a:p>
                      <a:pPr algn="r"/>
                      <a:endParaRPr lang="ar-DZ" sz="2000" b="1" dirty="0" smtClean="0"/>
                    </a:p>
                    <a:p>
                      <a:pPr algn="r"/>
                      <a:endParaRPr lang="ar-DZ" sz="2000" b="1" dirty="0" smtClean="0"/>
                    </a:p>
                    <a:p>
                      <a:pPr algn="r"/>
                      <a:r>
                        <a:rPr lang="ar-DZ" sz="2000" b="1" dirty="0" smtClean="0"/>
                        <a:t>*يقرؤون الوضعية جيدا </a:t>
                      </a:r>
                      <a:br>
                        <a:rPr lang="ar-DZ" sz="2000" b="1" dirty="0" smtClean="0"/>
                      </a:br>
                      <a:r>
                        <a:rPr lang="ar-DZ" sz="2000" b="1" dirty="0" smtClean="0"/>
                        <a:t>*يطرحون فرضيات مختلفة بعمل الافواج </a:t>
                      </a:r>
                      <a:br>
                        <a:rPr lang="ar-DZ" sz="2000" b="1" dirty="0" smtClean="0"/>
                      </a:br>
                      <a:endParaRPr lang="fr-FR" sz="2000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DZ" sz="2400" b="1" u="sng" dirty="0" smtClean="0"/>
                        <a:t>نص الوضعية </a:t>
                      </a:r>
                      <a:r>
                        <a:rPr lang="ar-DZ" sz="2400" b="1" u="sng" dirty="0" smtClean="0"/>
                        <a:t> </a:t>
                      </a:r>
                      <a:r>
                        <a:rPr lang="ar-DZ" sz="2400" b="1" dirty="0" smtClean="0"/>
                        <a:t/>
                      </a:r>
                      <a:br>
                        <a:rPr lang="ar-DZ" sz="2400" b="1" dirty="0" smtClean="0"/>
                      </a:br>
                      <a:r>
                        <a:rPr lang="ar-DZ" sz="2400" b="1" dirty="0" smtClean="0"/>
                        <a:t> </a:t>
                      </a:r>
                      <a:endParaRPr lang="fr-FR" sz="240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ar-DZ" sz="2000" b="1" dirty="0" smtClean="0"/>
                    </a:p>
                    <a:p>
                      <a:pPr algn="r"/>
                      <a:endParaRPr lang="ar-DZ" sz="2000" b="1" dirty="0" smtClean="0"/>
                    </a:p>
                    <a:p>
                      <a:pPr algn="r"/>
                      <a:endParaRPr lang="ar-DZ" sz="2000" b="1" dirty="0" smtClean="0"/>
                    </a:p>
                    <a:p>
                      <a:pPr algn="r"/>
                      <a:r>
                        <a:rPr lang="ar-DZ" sz="2000" b="1" dirty="0" smtClean="0"/>
                        <a:t>  </a:t>
                      </a:r>
                    </a:p>
                    <a:p>
                      <a:pPr algn="r"/>
                      <a:r>
                        <a:rPr lang="ar-DZ" sz="2000" b="1" dirty="0" smtClean="0"/>
                        <a:t>الوضعية الانطلاقية </a:t>
                      </a:r>
                      <a:br>
                        <a:rPr lang="ar-DZ" sz="2000" b="1" dirty="0" smtClean="0"/>
                      </a:br>
                      <a:endParaRPr lang="fr-FR" sz="20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14034684_1647892392193899_2319202528601807845_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065308"/>
              </p:ext>
            </p:extLst>
          </p:nvPr>
        </p:nvGraphicFramePr>
        <p:xfrm>
          <a:off x="0" y="44625"/>
          <a:ext cx="8892480" cy="6813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616"/>
                <a:gridCol w="1584176"/>
                <a:gridCol w="5112568"/>
                <a:gridCol w="1080120"/>
              </a:tblGrid>
              <a:tr h="6813376">
                <a:tc>
                  <a:txBody>
                    <a:bodyPr/>
                    <a:lstStyle/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r>
                        <a:rPr lang="ar-DZ" sz="20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*يقومون بجمع الفرضيات و تسجيلها في السبورة لكل </a:t>
                      </a:r>
                      <a:r>
                        <a:rPr lang="ar-DZ" sz="2000" b="1" dirty="0" err="1" smtClean="0">
                          <a:solidFill>
                            <a:schemeClr val="bg1"/>
                          </a:solidFill>
                        </a:rPr>
                        <a:t>فوج </a:t>
                      </a:r>
                      <a:br>
                        <a:rPr lang="ar-DZ" sz="2000" b="1" dirty="0" err="1" smtClean="0">
                          <a:solidFill>
                            <a:schemeClr val="bg1"/>
                          </a:solidFill>
                        </a:rPr>
                      </a:br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*يحاولون تحديد المشاكل المطروحة في </a:t>
                      </a:r>
                      <a:r>
                        <a:rPr lang="ar-DZ" sz="2000" b="1" dirty="0" err="1" smtClean="0">
                          <a:solidFill>
                            <a:schemeClr val="bg1"/>
                          </a:solidFill>
                        </a:rPr>
                        <a:t>الوضعية </a:t>
                      </a:r>
                      <a:br>
                        <a:rPr lang="ar-DZ" sz="2000" b="1" dirty="0" err="1" smtClean="0">
                          <a:solidFill>
                            <a:schemeClr val="bg1"/>
                          </a:solidFill>
                        </a:rPr>
                      </a:br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*تسجيل الفرضيات في كراس النشاطات لحلها في نهاية الميدان</a:t>
                      </a:r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جمع التصورات المطروحة </a:t>
                      </a:r>
                      <a:br>
                        <a:rPr lang="ar-DZ" sz="2000" b="1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تحديد المشاكل  المطروحة في الوضعية</a:t>
                      </a:r>
                      <a:r>
                        <a:rPr lang="ar-DZ" sz="2000" b="1" dirty="0" smtClean="0"/>
                        <a:t> </a:t>
                      </a:r>
                      <a:br>
                        <a:rPr lang="ar-DZ" sz="2000" b="1" dirty="0" smtClean="0"/>
                      </a:br>
                      <a:endParaRPr lang="ar-DZ" sz="2000" dirty="0" smtClean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fr-FR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net_11_16_f3f0_5d482b7f4d78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608" y="332656"/>
            <a:ext cx="6912768" cy="136815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cs typeface="Alawi Naskh" pitchFamily="2" charset="-78"/>
              </a:rPr>
              <a:t>خطــــوات سير الحصـــة التعلميـــــــة </a:t>
            </a:r>
            <a:endParaRPr lang="fr-FR" sz="3200" dirty="0">
              <a:cs typeface="Alawi Naskh" pitchFamily="2" charset="-78"/>
            </a:endParaRPr>
          </a:p>
        </p:txBody>
      </p:sp>
      <p:sp>
        <p:nvSpPr>
          <p:cNvPr id="15" name="Flèche gauche 14"/>
          <p:cNvSpPr/>
          <p:nvPr/>
        </p:nvSpPr>
        <p:spPr>
          <a:xfrm>
            <a:off x="6907124" y="3068960"/>
            <a:ext cx="2248660" cy="1872208"/>
          </a:xfrm>
          <a:prstGeom prst="leftArrow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الوضعية </a:t>
            </a:r>
          </a:p>
          <a:p>
            <a:pPr algn="ctr"/>
            <a:r>
              <a:rPr lang="ar-DZ" sz="2800" b="1" cap="all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الإنطلاقية</a:t>
            </a:r>
            <a:r>
              <a:rPr lang="ar-DZ" sz="20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endParaRPr lang="fr-FR" sz="2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107504" y="1884664"/>
            <a:ext cx="6799620" cy="4784696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000" b="1" u="sng" dirty="0" smtClean="0">
                <a:solidFill>
                  <a:schemeClr val="bg1"/>
                </a:solidFill>
              </a:rPr>
              <a:t>نص الوضعية </a:t>
            </a:r>
          </a:p>
          <a:p>
            <a:pPr algn="ctr"/>
            <a:endParaRPr lang="ar-DZ" sz="2000" b="1" u="sng" dirty="0">
              <a:solidFill>
                <a:schemeClr val="bg1"/>
              </a:solidFill>
            </a:endParaRPr>
          </a:p>
          <a:p>
            <a:pPr algn="ctr"/>
            <a:endParaRPr lang="ar-DZ" sz="2000" b="1" u="sng" dirty="0" smtClean="0">
              <a:solidFill>
                <a:schemeClr val="bg1"/>
              </a:solidFill>
            </a:endParaRPr>
          </a:p>
          <a:p>
            <a:pPr algn="ctr"/>
            <a:endParaRPr lang="ar-DZ" sz="2000" b="1" u="sng" dirty="0">
              <a:solidFill>
                <a:schemeClr val="bg1"/>
              </a:solidFill>
            </a:endParaRPr>
          </a:p>
          <a:p>
            <a:pPr algn="ctr"/>
            <a:endParaRPr lang="ar-DZ" sz="2000" b="1" u="sng" dirty="0" smtClean="0">
              <a:solidFill>
                <a:schemeClr val="bg1"/>
              </a:solidFill>
            </a:endParaRPr>
          </a:p>
          <a:p>
            <a:pPr algn="ctr"/>
            <a:endParaRPr lang="ar-DZ" sz="2000" b="1" u="sng" dirty="0">
              <a:solidFill>
                <a:schemeClr val="bg1"/>
              </a:solidFill>
            </a:endParaRPr>
          </a:p>
          <a:p>
            <a:pPr algn="ctr"/>
            <a:endParaRPr lang="ar-DZ" sz="2000" b="1" u="sng" dirty="0" smtClean="0">
              <a:solidFill>
                <a:schemeClr val="bg1"/>
              </a:solidFill>
            </a:endParaRPr>
          </a:p>
          <a:p>
            <a:pPr algn="ctr"/>
            <a:endParaRPr lang="ar-DZ" sz="2000" b="1" u="sng" dirty="0">
              <a:solidFill>
                <a:schemeClr val="bg1"/>
              </a:solidFill>
            </a:endParaRPr>
          </a:p>
          <a:p>
            <a:pPr algn="ctr"/>
            <a:endParaRPr lang="ar-DZ" sz="2000" b="1" u="sng" dirty="0" smtClean="0">
              <a:solidFill>
                <a:schemeClr val="bg1"/>
              </a:solidFill>
            </a:endParaRPr>
          </a:p>
          <a:p>
            <a:pPr algn="ctr"/>
            <a:endParaRPr lang="ar-DZ" sz="2000" b="1" u="sng" dirty="0">
              <a:solidFill>
                <a:schemeClr val="bg1"/>
              </a:solidFill>
            </a:endParaRPr>
          </a:p>
          <a:p>
            <a:pPr algn="ctr"/>
            <a:endParaRPr lang="ar-DZ" sz="2000" b="1" u="sng" dirty="0" smtClean="0">
              <a:solidFill>
                <a:schemeClr val="bg1"/>
              </a:solidFill>
            </a:endParaRPr>
          </a:p>
          <a:p>
            <a:pPr algn="ctr"/>
            <a:endParaRPr lang="fr-FR" sz="2000" b="1" u="sng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61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391" y="0"/>
            <a:ext cx="9324528" cy="6858000"/>
          </a:xfrm>
          <a:prstGeom prst="rect">
            <a:avLst/>
          </a:prstGeom>
        </p:spPr>
      </p:pic>
      <p:sp>
        <p:nvSpPr>
          <p:cNvPr id="2" name="Flèche gauche 1"/>
          <p:cNvSpPr/>
          <p:nvPr/>
        </p:nvSpPr>
        <p:spPr>
          <a:xfrm>
            <a:off x="6366816" y="1268760"/>
            <a:ext cx="2952328" cy="2376264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أسئلــــة </a:t>
            </a:r>
          </a:p>
          <a:p>
            <a:pPr algn="ctr"/>
            <a:r>
              <a:rPr lang="ar-DZ" sz="28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الوضعية </a:t>
            </a:r>
            <a:r>
              <a:rPr lang="ar-DZ" sz="2800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الانطلاقية</a:t>
            </a:r>
            <a:r>
              <a:rPr lang="ar-DZ" sz="28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 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4" name="Hexagone 3"/>
          <p:cNvSpPr/>
          <p:nvPr/>
        </p:nvSpPr>
        <p:spPr>
          <a:xfrm>
            <a:off x="0" y="238999"/>
            <a:ext cx="6624737" cy="5638918"/>
          </a:xfrm>
          <a:prstGeom prst="hexagon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DZ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com_139004717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  <p:sp>
        <p:nvSpPr>
          <p:cNvPr id="14" name="Flèche gauche 13"/>
          <p:cNvSpPr/>
          <p:nvPr/>
        </p:nvSpPr>
        <p:spPr>
          <a:xfrm>
            <a:off x="6599121" y="836712"/>
            <a:ext cx="2520280" cy="1512168"/>
          </a:xfrm>
          <a:prstGeom prst="lef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rgbClr val="FF0000"/>
                </a:solidFill>
              </a:rPr>
              <a:t>نشـــــاط </a:t>
            </a:r>
          </a:p>
          <a:p>
            <a:pPr algn="ctr"/>
            <a:r>
              <a:rPr lang="ar-DZ" sz="2400" b="1" dirty="0" smtClean="0">
                <a:solidFill>
                  <a:srgbClr val="FF0000"/>
                </a:solidFill>
              </a:rPr>
              <a:t>الأستــــــــــاذ</a:t>
            </a:r>
            <a:r>
              <a:rPr lang="ar-DZ" sz="2000" b="1" dirty="0" smtClean="0">
                <a:solidFill>
                  <a:srgbClr val="FF0000"/>
                </a:solidFill>
              </a:rPr>
              <a:t> </a:t>
            </a:r>
            <a:endParaRPr lang="fr-FR" sz="2000" b="1" dirty="0">
              <a:solidFill>
                <a:srgbClr val="FF0000"/>
              </a:solidFill>
            </a:endParaRPr>
          </a:p>
        </p:txBody>
      </p:sp>
      <p:sp>
        <p:nvSpPr>
          <p:cNvPr id="15" name="Flèche gauche 14"/>
          <p:cNvSpPr/>
          <p:nvPr/>
        </p:nvSpPr>
        <p:spPr>
          <a:xfrm>
            <a:off x="6599121" y="3717032"/>
            <a:ext cx="2520280" cy="1512168"/>
          </a:xfrm>
          <a:prstGeom prst="lef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نشـــاط</a:t>
            </a:r>
          </a:p>
          <a:p>
            <a:pPr algn="ctr"/>
            <a:r>
              <a:rPr lang="ar-DZ" sz="2400" b="1" dirty="0" smtClean="0">
                <a:solidFill>
                  <a:schemeClr val="bg1"/>
                </a:solidFill>
              </a:rPr>
              <a:t>المتعـــــلم 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16" name="Organigramme : Alternative 15"/>
          <p:cNvSpPr/>
          <p:nvPr/>
        </p:nvSpPr>
        <p:spPr>
          <a:xfrm>
            <a:off x="539552" y="260648"/>
            <a:ext cx="5760640" cy="2880320"/>
          </a:xfrm>
          <a:prstGeom prst="flowChartAlternateProcess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Organigramme : Alternative 16"/>
          <p:cNvSpPr/>
          <p:nvPr/>
        </p:nvSpPr>
        <p:spPr>
          <a:xfrm>
            <a:off x="558766" y="3284984"/>
            <a:ext cx="5760640" cy="3096344"/>
          </a:xfrm>
          <a:prstGeom prst="flowChartAlternateProcess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3dlat.com_1393263268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  <p:sp>
        <p:nvSpPr>
          <p:cNvPr id="14" name="Flèche gauche 13"/>
          <p:cNvSpPr/>
          <p:nvPr/>
        </p:nvSpPr>
        <p:spPr>
          <a:xfrm>
            <a:off x="5781145" y="1592796"/>
            <a:ext cx="3168352" cy="1512168"/>
          </a:xfrm>
          <a:prstGeom prst="leftArrow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2800" b="1" dirty="0" smtClean="0">
                <a:solidFill>
                  <a:schemeClr val="bg1"/>
                </a:solidFill>
              </a:rPr>
              <a:t>المـــلاحظـــــات 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15" name="Hexagone 14"/>
          <p:cNvSpPr/>
          <p:nvPr/>
        </p:nvSpPr>
        <p:spPr>
          <a:xfrm>
            <a:off x="323528" y="692696"/>
            <a:ext cx="5976664" cy="5616624"/>
          </a:xfrm>
          <a:prstGeom prst="hexago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800px-Keukenhof-Szmurl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Ruban vers le bas 14"/>
          <p:cNvSpPr/>
          <p:nvPr/>
        </p:nvSpPr>
        <p:spPr>
          <a:xfrm>
            <a:off x="1259632" y="375833"/>
            <a:ext cx="6264696" cy="1468991"/>
          </a:xfrm>
          <a:prstGeom prst="ribbon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sz="36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الخـــاتمـــــــــة </a:t>
            </a:r>
            <a:endParaRPr lang="fr-FR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1323</TotalTime>
  <Words>118</Words>
  <Application>Microsoft Office PowerPoint</Application>
  <PresentationFormat>Affichage à l'écran (4:3)</PresentationFormat>
  <Paragraphs>102</Paragraphs>
  <Slides>10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Apex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الجمهورية الجزائرية الديمقراطية الشعبية  وزارة التربية الوظنية   </dc:title>
  <dc:creator>HMI</dc:creator>
  <cp:lastModifiedBy>djelloul</cp:lastModifiedBy>
  <cp:revision>807</cp:revision>
  <dcterms:created xsi:type="dcterms:W3CDTF">2016-05-13T17:44:12Z</dcterms:created>
  <dcterms:modified xsi:type="dcterms:W3CDTF">2018-07-18T16:28:15Z</dcterms:modified>
</cp:coreProperties>
</file>