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14"/>
  </p:notesMasterIdLst>
  <p:sldIdLst>
    <p:sldId id="316" r:id="rId2"/>
    <p:sldId id="332" r:id="rId3"/>
    <p:sldId id="320" r:id="rId4"/>
    <p:sldId id="330" r:id="rId5"/>
    <p:sldId id="317" r:id="rId6"/>
    <p:sldId id="326" r:id="rId7"/>
    <p:sldId id="331" r:id="rId8"/>
    <p:sldId id="323" r:id="rId9"/>
    <p:sldId id="305" r:id="rId10"/>
    <p:sldId id="311" r:id="rId11"/>
    <p:sldId id="324" r:id="rId12"/>
    <p:sldId id="327" r:id="rId13"/>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FF99"/>
  </p:clrMru>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F606853-7671-496A-8E4F-DF71F8EC918B}" styleName="Style foncé 1 - Accentuation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Style moyen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483" autoAdjust="0"/>
    <p:restoredTop sz="95341" autoAdjust="0"/>
  </p:normalViewPr>
  <p:slideViewPr>
    <p:cSldViewPr>
      <p:cViewPr>
        <p:scale>
          <a:sx n="80" d="100"/>
          <a:sy n="80" d="100"/>
        </p:scale>
        <p:origin x="-1086" y="1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EB4F101E-BE38-45DF-8FEB-409D0C963108}" type="datetimeFigureOut">
              <a:rPr lang="fr-FR"/>
              <a:pPr>
                <a:defRPr/>
              </a:pPr>
              <a:t>11/02/2016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smtClean="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cs typeface="Arial" charset="0"/>
              </a:defRPr>
            </a:lvl1pPr>
          </a:lstStyle>
          <a:p>
            <a:pPr>
              <a:defRPr/>
            </a:pPr>
            <a:fld id="{E7A603D0-14A9-46E4-A735-8070611F93F0}" type="slidenum">
              <a:rPr lang="fr-FR"/>
              <a:pPr>
                <a:defRPr/>
              </a:pPr>
              <a:t>‹N°›</a:t>
            </a:fld>
            <a:endParaRPr lang="fr-F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lvl1pPr>
              <a:defRPr/>
            </a:lvl1pPr>
          </a:lstStyle>
          <a:p>
            <a:pPr>
              <a:defRPr/>
            </a:pPr>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CDAAFF80-574F-49B0-B54C-E1A64701455A}" type="slidenum">
              <a:rPr lang="fr-FR"/>
              <a:pPr>
                <a:defRPr/>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lvl1pPr>
              <a:defRPr/>
            </a:lvl1pPr>
          </a:lstStyle>
          <a:p>
            <a:pPr>
              <a:defRPr/>
            </a:pPr>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A881F11F-CA9B-4E89-8CF7-06DBE4669630}" type="slidenum">
              <a:rPr lang="fr-FR"/>
              <a:pPr>
                <a:defRPr/>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lvl1pPr>
              <a:defRPr/>
            </a:lvl1pPr>
          </a:lstStyle>
          <a:p>
            <a:pPr>
              <a:defRPr/>
            </a:pPr>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B4D57957-BDE0-46F1-BA9F-FB6D63DC2DA0}" type="slidenum">
              <a:rPr lang="fr-FR"/>
              <a:pPr>
                <a:defRPr/>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3"/>
          <p:cNvSpPr>
            <a:spLocks noGrp="1"/>
          </p:cNvSpPr>
          <p:nvPr>
            <p:ph type="dt" sz="half" idx="10"/>
          </p:nvPr>
        </p:nvSpPr>
        <p:spPr/>
        <p:txBody>
          <a:bodyPr/>
          <a:lstStyle>
            <a:lvl1pPr>
              <a:defRPr/>
            </a:lvl1pPr>
          </a:lstStyle>
          <a:p>
            <a:pPr>
              <a:defRPr/>
            </a:pPr>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9345D5C8-DEA5-4E23-91E3-1CCFBB36FC54}" type="slidenum">
              <a:rPr lang="fr-FR"/>
              <a:pPr>
                <a:defRPr/>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3"/>
          <p:cNvSpPr>
            <a:spLocks noGrp="1"/>
          </p:cNvSpPr>
          <p:nvPr>
            <p:ph type="dt" sz="half" idx="10"/>
          </p:nvPr>
        </p:nvSpPr>
        <p:spPr/>
        <p:txBody>
          <a:bodyPr/>
          <a:lstStyle>
            <a:lvl1pPr>
              <a:defRPr/>
            </a:lvl1pPr>
          </a:lstStyle>
          <a:p>
            <a:pPr>
              <a:defRPr/>
            </a:pPr>
            <a:endParaRPr lang="fr-FR"/>
          </a:p>
        </p:txBody>
      </p:sp>
      <p:sp>
        <p:nvSpPr>
          <p:cNvPr id="8" name="Espace réservé du pied de page 4"/>
          <p:cNvSpPr>
            <a:spLocks noGrp="1"/>
          </p:cNvSpPr>
          <p:nvPr>
            <p:ph type="ftr" sz="quarter" idx="11"/>
          </p:nvPr>
        </p:nvSpPr>
        <p:spPr/>
        <p:txBody>
          <a:bodyPr/>
          <a:lstStyle>
            <a:lvl1pPr>
              <a:defRPr/>
            </a:lvl1pPr>
          </a:lstStyle>
          <a:p>
            <a:pPr>
              <a:defRPr/>
            </a:pPr>
            <a:endParaRPr lang="fr-FR"/>
          </a:p>
        </p:txBody>
      </p:sp>
      <p:sp>
        <p:nvSpPr>
          <p:cNvPr id="9" name="Espace réservé du numéro de diapositive 5"/>
          <p:cNvSpPr>
            <a:spLocks noGrp="1"/>
          </p:cNvSpPr>
          <p:nvPr>
            <p:ph type="sldNum" sz="quarter" idx="12"/>
          </p:nvPr>
        </p:nvSpPr>
        <p:spPr/>
        <p:txBody>
          <a:bodyPr/>
          <a:lstStyle>
            <a:lvl1pPr>
              <a:defRPr/>
            </a:lvl1pPr>
          </a:lstStyle>
          <a:p>
            <a:pPr>
              <a:defRPr/>
            </a:pPr>
            <a:fld id="{4A0C6A2D-B38A-49D9-9497-214E822EEF99}" type="slidenum">
              <a:rPr lang="fr-FR"/>
              <a:pPr>
                <a:defRPr/>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3"/>
          <p:cNvSpPr>
            <a:spLocks noGrp="1"/>
          </p:cNvSpPr>
          <p:nvPr>
            <p:ph type="dt" sz="half" idx="10"/>
          </p:nvPr>
        </p:nvSpPr>
        <p:spPr/>
        <p:txBody>
          <a:bodyPr/>
          <a:lstStyle>
            <a:lvl1pPr>
              <a:defRPr/>
            </a:lvl1pPr>
          </a:lstStyle>
          <a:p>
            <a:pPr>
              <a:defRPr/>
            </a:pPr>
            <a:endParaRPr lang="fr-FR"/>
          </a:p>
        </p:txBody>
      </p:sp>
      <p:sp>
        <p:nvSpPr>
          <p:cNvPr id="4" name="Espace réservé du pied de page 4"/>
          <p:cNvSpPr>
            <a:spLocks noGrp="1"/>
          </p:cNvSpPr>
          <p:nvPr>
            <p:ph type="ftr" sz="quarter" idx="11"/>
          </p:nvPr>
        </p:nvSpPr>
        <p:spPr/>
        <p:txBody>
          <a:bodyPr/>
          <a:lstStyle>
            <a:lvl1pPr>
              <a:defRPr/>
            </a:lvl1pPr>
          </a:lstStyle>
          <a:p>
            <a:pPr>
              <a:defRPr/>
            </a:pPr>
            <a:endParaRPr lang="fr-FR"/>
          </a:p>
        </p:txBody>
      </p:sp>
      <p:sp>
        <p:nvSpPr>
          <p:cNvPr id="5" name="Espace réservé du numéro de diapositive 5"/>
          <p:cNvSpPr>
            <a:spLocks noGrp="1"/>
          </p:cNvSpPr>
          <p:nvPr>
            <p:ph type="sldNum" sz="quarter" idx="12"/>
          </p:nvPr>
        </p:nvSpPr>
        <p:spPr/>
        <p:txBody>
          <a:bodyPr/>
          <a:lstStyle>
            <a:lvl1pPr>
              <a:defRPr/>
            </a:lvl1pPr>
          </a:lstStyle>
          <a:p>
            <a:pPr>
              <a:defRPr/>
            </a:pPr>
            <a:fld id="{434027E0-BAD2-40FD-9FC5-FFD9E76D5E36}" type="slidenum">
              <a:rPr lang="fr-FR"/>
              <a:pPr>
                <a:defRPr/>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endParaRPr lang="fr-FR"/>
          </a:p>
        </p:txBody>
      </p:sp>
      <p:sp>
        <p:nvSpPr>
          <p:cNvPr id="3" name="Espace réservé du pied de page 4"/>
          <p:cNvSpPr>
            <a:spLocks noGrp="1"/>
          </p:cNvSpPr>
          <p:nvPr>
            <p:ph type="ftr" sz="quarter" idx="11"/>
          </p:nvPr>
        </p:nvSpPr>
        <p:spPr/>
        <p:txBody>
          <a:bodyPr/>
          <a:lstStyle>
            <a:lvl1pPr>
              <a:defRPr/>
            </a:lvl1pPr>
          </a:lstStyle>
          <a:p>
            <a:pPr>
              <a:defRPr/>
            </a:pPr>
            <a:endParaRPr lang="fr-FR"/>
          </a:p>
        </p:txBody>
      </p:sp>
      <p:sp>
        <p:nvSpPr>
          <p:cNvPr id="4" name="Espace réservé du numéro de diapositive 5"/>
          <p:cNvSpPr>
            <a:spLocks noGrp="1"/>
          </p:cNvSpPr>
          <p:nvPr>
            <p:ph type="sldNum" sz="quarter" idx="12"/>
          </p:nvPr>
        </p:nvSpPr>
        <p:spPr/>
        <p:txBody>
          <a:bodyPr/>
          <a:lstStyle>
            <a:lvl1pPr>
              <a:defRPr/>
            </a:lvl1pPr>
          </a:lstStyle>
          <a:p>
            <a:pPr>
              <a:defRPr/>
            </a:pPr>
            <a:fld id="{F593ED3E-B11C-4143-AE68-D7076FDCF664}" type="slidenum">
              <a:rPr lang="fr-FR"/>
              <a:pPr>
                <a:defRPr/>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3"/>
          <p:cNvSpPr>
            <a:spLocks noGrp="1"/>
          </p:cNvSpPr>
          <p:nvPr>
            <p:ph type="dt" sz="half" idx="10"/>
          </p:nvPr>
        </p:nvSpPr>
        <p:spPr/>
        <p:txBody>
          <a:bodyPr/>
          <a:lstStyle>
            <a:lvl1pPr>
              <a:defRPr/>
            </a:lvl1pPr>
          </a:lstStyle>
          <a:p>
            <a:pPr>
              <a:defRPr/>
            </a:pPr>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1B640B53-B9A4-49CC-B2EB-9163C2855C74}" type="slidenum">
              <a:rPr lang="fr-FR"/>
              <a:pPr>
                <a:defRPr/>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3"/>
          <p:cNvSpPr>
            <a:spLocks noGrp="1"/>
          </p:cNvSpPr>
          <p:nvPr>
            <p:ph type="dt" sz="half" idx="10"/>
          </p:nvPr>
        </p:nvSpPr>
        <p:spPr/>
        <p:txBody>
          <a:bodyPr/>
          <a:lstStyle>
            <a:lvl1pPr>
              <a:defRPr/>
            </a:lvl1pPr>
          </a:lstStyle>
          <a:p>
            <a:pPr>
              <a:defRPr/>
            </a:pPr>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F28EC1C1-7CD1-4520-A848-DCC16925253B}" type="slidenum">
              <a:rPr lang="fr-FR"/>
              <a:pPr>
                <a:defRPr/>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lvl1pPr>
              <a:defRPr/>
            </a:lvl1pPr>
          </a:lstStyle>
          <a:p>
            <a:pPr>
              <a:defRPr/>
            </a:pPr>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E2F74583-F238-4F79-972B-A20C24BF38BF}" type="slidenum">
              <a:rPr lang="fr-FR"/>
              <a:pPr>
                <a:defRPr/>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lvl1pPr>
              <a:defRPr/>
            </a:lvl1pPr>
          </a:lstStyle>
          <a:p>
            <a:pPr>
              <a:defRPr/>
            </a:pPr>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3EE4A7CB-BF90-4F51-80E3-617AD1139B18}" type="slidenum">
              <a:rPr lang="fr-FR"/>
              <a:pPr>
                <a:defRPr/>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E4405600-E453-4000-9A5B-B8B0C581C032}" type="slidenum">
              <a:rPr lang="fr-FR"/>
              <a:pPr>
                <a:defRPr/>
              </a:pPr>
              <a:t>‹N°›</a:t>
            </a:fld>
            <a:endParaRPr lang="fr-FR"/>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chemin horizontal 3"/>
          <p:cNvSpPr/>
          <p:nvPr/>
        </p:nvSpPr>
        <p:spPr>
          <a:xfrm>
            <a:off x="323850" y="692150"/>
            <a:ext cx="8569325" cy="5400675"/>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fr-FR" dirty="0"/>
          </a:p>
        </p:txBody>
      </p:sp>
      <p:sp>
        <p:nvSpPr>
          <p:cNvPr id="5" name="ZoneTexte 4"/>
          <p:cNvSpPr txBox="1"/>
          <p:nvPr/>
        </p:nvSpPr>
        <p:spPr>
          <a:xfrm>
            <a:off x="1428728" y="214290"/>
            <a:ext cx="6048672" cy="646331"/>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rtlCol="1">
            <a:spAutoFit/>
          </a:bodyPr>
          <a:lstStyle/>
          <a:p>
            <a:pPr algn="ctr" rtl="1"/>
            <a:r>
              <a:rPr lang="ar-DZ" dirty="0" smtClean="0">
                <a:cs typeface="Al-Mothnna" pitchFamily="2" charset="-78"/>
              </a:rPr>
              <a:t>وزارة التربية الوطنية</a:t>
            </a:r>
          </a:p>
          <a:p>
            <a:pPr algn="ctr" rtl="1"/>
            <a:r>
              <a:rPr lang="ar-DZ" dirty="0" smtClean="0">
                <a:cs typeface="Al-Mothnna" pitchFamily="2" charset="-78"/>
              </a:rPr>
              <a:t>اللجنة الوطنية للمناهج</a:t>
            </a:r>
          </a:p>
        </p:txBody>
      </p:sp>
      <p:sp>
        <p:nvSpPr>
          <p:cNvPr id="6" name="ZoneTexte 5"/>
          <p:cNvSpPr txBox="1"/>
          <p:nvPr/>
        </p:nvSpPr>
        <p:spPr>
          <a:xfrm>
            <a:off x="1714480" y="2500306"/>
            <a:ext cx="6429420" cy="707886"/>
          </a:xfrm>
          <a:prstGeom prst="rect">
            <a:avLst/>
          </a:prstGeom>
          <a:noFill/>
        </p:spPr>
        <p:txBody>
          <a:bodyPr wrap="square" rtlCol="0">
            <a:spAutoFit/>
          </a:bodyPr>
          <a:lstStyle/>
          <a:p>
            <a:pPr algn="ctr"/>
            <a:endParaRPr lang="ar-DZ" sz="4000" b="1"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endParaRPr>
          </a:p>
        </p:txBody>
      </p:sp>
      <p:sp>
        <p:nvSpPr>
          <p:cNvPr id="8" name="ZoneTexte 7"/>
          <p:cNvSpPr txBox="1"/>
          <p:nvPr/>
        </p:nvSpPr>
        <p:spPr>
          <a:xfrm>
            <a:off x="785786" y="6215082"/>
            <a:ext cx="4608512" cy="36933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rtlCol="1">
            <a:spAutoFit/>
          </a:bodyPr>
          <a:lstStyle>
            <a:defPPr>
              <a:defRPr lang="fr-FR"/>
            </a:defPPr>
            <a:lvl1pPr algn="ctr" rtl="1">
              <a:defRPr>
                <a:solidFill>
                  <a:schemeClr val="dk1"/>
                </a:solidFill>
                <a:cs typeface="Al-Mothnna" pitchFamily="2" charset="-7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r"/>
            <a:r>
              <a:rPr lang="ar-DZ" dirty="0" smtClean="0">
                <a:solidFill>
                  <a:schemeClr val="accent1">
                    <a:lumMod val="50000"/>
                  </a:schemeClr>
                </a:solidFill>
              </a:rPr>
              <a:t>الجزائر24-11-2014</a:t>
            </a:r>
            <a:endParaRPr lang="ar-DZ" dirty="0">
              <a:solidFill>
                <a:schemeClr val="accent1">
                  <a:lumMod val="50000"/>
                </a:schemeClr>
              </a:solidFill>
            </a:endParaRPr>
          </a:p>
        </p:txBody>
      </p:sp>
      <p:sp>
        <p:nvSpPr>
          <p:cNvPr id="7" name="ZoneTexte 6"/>
          <p:cNvSpPr txBox="1"/>
          <p:nvPr/>
        </p:nvSpPr>
        <p:spPr>
          <a:xfrm>
            <a:off x="1714480" y="2786058"/>
            <a:ext cx="6286544" cy="954107"/>
          </a:xfrm>
          <a:prstGeom prst="rect">
            <a:avLst/>
          </a:prstGeom>
          <a:noFill/>
        </p:spPr>
        <p:txBody>
          <a:bodyPr wrap="square" rtlCol="0">
            <a:spAutoFit/>
          </a:bodyPr>
          <a:lstStyle/>
          <a:p>
            <a:r>
              <a:rPr lang="ar-DZ" sz="2800" b="1" dirty="0" smtClean="0"/>
              <a:t>المفاهيم  القاعدية المتداولة في مناهج الجيل الثاني</a:t>
            </a:r>
            <a:endParaRPr lang="fr-FR" sz="2800" b="1" dirty="0" smtClean="0"/>
          </a:p>
          <a:p>
            <a:endParaRPr lang="fr-FR" sz="2800" b="1" dirty="0"/>
          </a:p>
        </p:txBody>
      </p:sp>
    </p:spTree>
    <p:extLst>
      <p:ext uri="{BB962C8B-B14F-4D97-AF65-F5344CB8AC3E}">
        <p14:creationId xmlns="" xmlns:p14="http://schemas.microsoft.com/office/powerpoint/2010/main" val="3564269738"/>
      </p:ext>
    </p:extLst>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DZ" sz="4000" b="1" dirty="0" smtClean="0">
                <a:solidFill>
                  <a:srgbClr val="0070C0"/>
                </a:solidFill>
              </a:rPr>
              <a:t>ملمح التخرج</a:t>
            </a:r>
            <a:r>
              <a:rPr lang="fr-FR" b="1" dirty="0" smtClean="0">
                <a:solidFill>
                  <a:srgbClr val="002060"/>
                </a:solidFill>
              </a:rPr>
              <a:t/>
            </a:r>
            <a:br>
              <a:rPr lang="fr-FR" b="1" dirty="0" smtClean="0">
                <a:solidFill>
                  <a:srgbClr val="002060"/>
                </a:solidFill>
              </a:rPr>
            </a:br>
            <a:endParaRPr lang="fr-FR" dirty="0"/>
          </a:p>
        </p:txBody>
      </p:sp>
      <p:sp>
        <p:nvSpPr>
          <p:cNvPr id="4" name="Espace réservé du contenu 3"/>
          <p:cNvSpPr>
            <a:spLocks noGrp="1"/>
          </p:cNvSpPr>
          <p:nvPr>
            <p:ph idx="1"/>
          </p:nvPr>
        </p:nvSpPr>
        <p:spPr>
          <a:xfrm>
            <a:off x="214282" y="928671"/>
            <a:ext cx="8715436" cy="1996273"/>
          </a:xfrm>
          <a:prstGeom prst="roundRect">
            <a:avLst>
              <a:gd name="adj" fmla="val 33971"/>
            </a:avLst>
          </a:prstGeom>
        </p:spPr>
        <p:style>
          <a:lnRef idx="1">
            <a:schemeClr val="accent3"/>
          </a:lnRef>
          <a:fillRef idx="2">
            <a:schemeClr val="accent3"/>
          </a:fillRef>
          <a:effectRef idx="1">
            <a:schemeClr val="accent3"/>
          </a:effectRef>
          <a:fontRef idx="minor">
            <a:schemeClr val="dk1"/>
          </a:fontRef>
        </p:style>
        <p:txBody>
          <a:bodyPr rtlCol="0" anchor="ctr"/>
          <a:lstStyle/>
          <a:p>
            <a:pPr lvl="0" algn="r" rtl="1">
              <a:buNone/>
            </a:pPr>
            <a:r>
              <a:rPr lang="ar-DZ" sz="2400" b="1" dirty="0" smtClean="0"/>
              <a:t>يترجم غايات المدرسة الجزائرية، وملمح المواطن الجزائري الذي على المدرسة تكوينه،</a:t>
            </a:r>
            <a:r>
              <a:rPr lang="ar-SA" sz="2400" b="1" dirty="0" smtClean="0"/>
              <a:t> ويعرّف عادة على شكل معارف، ومهارات وسلوكات</a:t>
            </a:r>
            <a:r>
              <a:rPr lang="ar-DZ" sz="2400" b="1" dirty="0" smtClean="0"/>
              <a:t>، </a:t>
            </a:r>
            <a:r>
              <a:rPr lang="ar-SA" sz="2400" b="1" dirty="0" smtClean="0"/>
              <a:t>وجاءت ملامح التخرج في مقدمات البرامج كأهداف بعيدة المدى أو كمشروع تربوي مدرسي تعاقدي</a:t>
            </a:r>
            <a:endParaRPr lang="ar-DZ" sz="2400" b="1" dirty="0" smtClean="0"/>
          </a:p>
        </p:txBody>
      </p:sp>
      <p:sp>
        <p:nvSpPr>
          <p:cNvPr id="10" name="ZoneTexte 9"/>
          <p:cNvSpPr txBox="1"/>
          <p:nvPr/>
        </p:nvSpPr>
        <p:spPr>
          <a:xfrm>
            <a:off x="1071538" y="3645024"/>
            <a:ext cx="7358114" cy="1328023"/>
          </a:xfrm>
          <a:prstGeom prst="round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r"/>
            <a:r>
              <a:rPr lang="ar-DZ" sz="2400" b="1" dirty="0" smtClean="0"/>
              <a:t>تزويد المتعلم بكفاءات تمكّنه مـن المشاركة النشيطـة في الحيــاة الاجتماعيــة،والتكيّــف مـع التغيّــرات،وأن يكـون ابن زمانـه، قـادرا على مواجهة التقلّبات</a:t>
            </a:r>
            <a:endParaRPr lang="fr-FR" sz="2400" b="1" dirty="0" smtClean="0"/>
          </a:p>
        </p:txBody>
      </p:sp>
      <p:sp>
        <p:nvSpPr>
          <p:cNvPr id="11" name="ZoneTexte 10"/>
          <p:cNvSpPr txBox="1"/>
          <p:nvPr/>
        </p:nvSpPr>
        <p:spPr>
          <a:xfrm>
            <a:off x="3071802" y="2996952"/>
            <a:ext cx="3071834" cy="707886"/>
          </a:xfrm>
          <a:prstGeom prst="rect">
            <a:avLst/>
          </a:prstGeom>
          <a:noFill/>
        </p:spPr>
        <p:txBody>
          <a:bodyPr wrap="square" rtlCol="0">
            <a:spAutoFit/>
          </a:bodyPr>
          <a:lstStyle/>
          <a:p>
            <a:pPr algn="ctr"/>
            <a:r>
              <a:rPr lang="ar-DZ" sz="4000" b="1" dirty="0" smtClean="0">
                <a:solidFill>
                  <a:srgbClr val="0070C0"/>
                </a:solidFill>
                <a:latin typeface="+mj-lt"/>
                <a:ea typeface="+mj-ea"/>
                <a:cs typeface="+mj-cs"/>
              </a:rPr>
              <a:t>مثال</a:t>
            </a:r>
            <a:r>
              <a:rPr lang="ar-DZ" sz="3200" dirty="0" smtClean="0">
                <a:solidFill>
                  <a:srgbClr val="00B0F0"/>
                </a:solidFill>
              </a:rPr>
              <a:t>    </a:t>
            </a:r>
            <a:endParaRPr lang="fr-FR" sz="3200" dirty="0">
              <a:solidFill>
                <a:srgbClr val="00B0F0"/>
              </a:solidFill>
            </a:endParaRPr>
          </a:p>
        </p:txBody>
      </p:sp>
      <p:sp>
        <p:nvSpPr>
          <p:cNvPr id="12" name="Bande diagonale 11"/>
          <p:cNvSpPr/>
          <p:nvPr/>
        </p:nvSpPr>
        <p:spPr>
          <a:xfrm>
            <a:off x="1357290" y="5085184"/>
            <a:ext cx="928694" cy="1214446"/>
          </a:xfrm>
          <a:prstGeom prst="diagStri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Bande diagonale 12"/>
          <p:cNvSpPr/>
          <p:nvPr/>
        </p:nvSpPr>
        <p:spPr>
          <a:xfrm flipV="1">
            <a:off x="7215206" y="5085184"/>
            <a:ext cx="1000132" cy="1071570"/>
          </a:xfrm>
          <a:prstGeom prst="diagStri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6" name="ZoneTexte 15"/>
          <p:cNvSpPr txBox="1"/>
          <p:nvPr/>
        </p:nvSpPr>
        <p:spPr>
          <a:xfrm>
            <a:off x="2786050" y="5301208"/>
            <a:ext cx="3357586" cy="646331"/>
          </a:xfrm>
          <a:prstGeom prst="rect">
            <a:avLst/>
          </a:prstGeom>
          <a:noFill/>
        </p:spPr>
        <p:txBody>
          <a:bodyPr wrap="square" rtlCol="0">
            <a:spAutoFit/>
          </a:bodyPr>
          <a:lstStyle/>
          <a:p>
            <a:r>
              <a:rPr lang="ar-DZ" sz="3600" b="1" dirty="0" smtClean="0">
                <a:solidFill>
                  <a:srgbClr val="0070C0"/>
                </a:solidFill>
                <a:latin typeface="+mj-lt"/>
                <a:ea typeface="+mj-ea"/>
                <a:cs typeface="+mj-cs"/>
              </a:rPr>
              <a:t>كفاءات شاملة  </a:t>
            </a:r>
            <a:r>
              <a:rPr lang="ar-DZ" sz="1600" dirty="0" smtClean="0"/>
              <a:t>            </a:t>
            </a:r>
            <a:endParaRPr lang="fr-FR" sz="1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DZ" dirty="0" smtClean="0">
                <a:solidFill>
                  <a:schemeClr val="tx2"/>
                </a:solidFill>
              </a:rPr>
              <a:t>الكفاءة الشاملة</a:t>
            </a:r>
            <a:endParaRPr lang="fr-FR" dirty="0">
              <a:solidFill>
                <a:schemeClr val="tx2"/>
              </a:solidFill>
            </a:endParaRPr>
          </a:p>
        </p:txBody>
      </p:sp>
      <p:sp>
        <p:nvSpPr>
          <p:cNvPr id="3" name="Espace réservé du contenu 2"/>
          <p:cNvSpPr>
            <a:spLocks noGrp="1"/>
          </p:cNvSpPr>
          <p:nvPr>
            <p:ph idx="1"/>
          </p:nvPr>
        </p:nvSpPr>
        <p:spPr/>
        <p:txBody>
          <a:bodyPr/>
          <a:lstStyle/>
          <a:p>
            <a:pPr algn="r" rtl="1">
              <a:buNone/>
            </a:pPr>
            <a:r>
              <a:rPr lang="ar-DZ" b="1" dirty="0" smtClean="0"/>
              <a:t> </a:t>
            </a:r>
            <a:endParaRPr lang="fr-FR" dirty="0"/>
          </a:p>
        </p:txBody>
      </p:sp>
      <p:sp>
        <p:nvSpPr>
          <p:cNvPr id="5" name="ZoneTexte 4"/>
          <p:cNvSpPr txBox="1"/>
          <p:nvPr/>
        </p:nvSpPr>
        <p:spPr>
          <a:xfrm>
            <a:off x="857224" y="1928802"/>
            <a:ext cx="7715304" cy="1328023"/>
          </a:xfrm>
          <a:prstGeom prst="round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r" rtl="1"/>
            <a:r>
              <a:rPr lang="ar-DZ" sz="2400" b="1" dirty="0" smtClean="0"/>
              <a:t>هدف نسعى إلى تحقيقه في مادّة دراسية، في نهاية فترة دراسية محدّدة وفق نظام المسار الدراسي. لذا نجد كفاءة شاملة في نهاية المرحلة، وكفاءة شاملة في نهاية كلّ طور، وكفاءة شاملة في نهاية كلّ سنة</a:t>
            </a:r>
            <a:endParaRPr lang="fr-FR" sz="2400" b="1" dirty="0" smtClean="0">
              <a:solidFill>
                <a:srgbClr val="0070C0"/>
              </a:solidFill>
            </a:endParaRPr>
          </a:p>
        </p:txBody>
      </p:sp>
      <p:sp>
        <p:nvSpPr>
          <p:cNvPr id="7" name="ZoneTexte 6"/>
          <p:cNvSpPr txBox="1"/>
          <p:nvPr/>
        </p:nvSpPr>
        <p:spPr>
          <a:xfrm>
            <a:off x="3071802" y="3429000"/>
            <a:ext cx="3071834" cy="707886"/>
          </a:xfrm>
          <a:prstGeom prst="rect">
            <a:avLst/>
          </a:prstGeom>
          <a:noFill/>
        </p:spPr>
        <p:txBody>
          <a:bodyPr wrap="square" rtlCol="0">
            <a:spAutoFit/>
          </a:bodyPr>
          <a:lstStyle/>
          <a:p>
            <a:pPr algn="ctr"/>
            <a:r>
              <a:rPr lang="ar-DZ" sz="4000" b="1" dirty="0" smtClean="0">
                <a:solidFill>
                  <a:srgbClr val="0070C0"/>
                </a:solidFill>
                <a:latin typeface="+mj-lt"/>
                <a:ea typeface="+mj-ea"/>
                <a:cs typeface="+mj-cs"/>
              </a:rPr>
              <a:t>مثال</a:t>
            </a:r>
            <a:r>
              <a:rPr lang="ar-DZ" sz="3200" dirty="0" smtClean="0">
                <a:solidFill>
                  <a:srgbClr val="00B0F0"/>
                </a:solidFill>
              </a:rPr>
              <a:t>    </a:t>
            </a:r>
            <a:endParaRPr lang="fr-FR" sz="3200" dirty="0">
              <a:solidFill>
                <a:srgbClr val="00B0F0"/>
              </a:solidFill>
            </a:endParaRPr>
          </a:p>
        </p:txBody>
      </p:sp>
      <p:sp>
        <p:nvSpPr>
          <p:cNvPr id="8" name="ZoneTexte 7"/>
          <p:cNvSpPr txBox="1"/>
          <p:nvPr/>
        </p:nvSpPr>
        <p:spPr>
          <a:xfrm>
            <a:off x="928662" y="4429132"/>
            <a:ext cx="7715304" cy="1328023"/>
          </a:xfrm>
          <a:prstGeom prst="round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r" rtl="1">
              <a:defRPr/>
            </a:pPr>
            <a:r>
              <a:rPr lang="ar-DZ" sz="2400" b="1" dirty="0" smtClean="0"/>
              <a:t>في نهاية السنة الرابعة من التعليم المتوسط يقترح المتعلم حلولا مؤسسة علميا استجابة لمشاكل متعلقة بالصحة </a:t>
            </a:r>
            <a:r>
              <a:rPr lang="ar-DZ" sz="2400" b="1" dirty="0" err="1" smtClean="0"/>
              <a:t>و</a:t>
            </a:r>
            <a:r>
              <a:rPr lang="ar-DZ" sz="2400" b="1" dirty="0" smtClean="0"/>
              <a:t> يشارك في حوارات مفتوحة حول المسائل الراهنة في المجال العلمي.</a:t>
            </a:r>
            <a:endParaRPr lang="ar-DZ" sz="24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357158" y="785794"/>
            <a:ext cx="8429684" cy="1328023"/>
          </a:xfrm>
          <a:prstGeom prst="round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lvl="0" algn="r" rtl="1">
              <a:buNone/>
            </a:pPr>
            <a:r>
              <a:rPr lang="ar-DZ" sz="2400" b="1" dirty="0" smtClean="0"/>
              <a:t>هي كفاءة مرتبطة بميدان من الميادين المهيكلة للمادّة، وتعبّر بصيغة التصرّف (التحكّم في الموارد، حسن استعمالها وإدماجها وتحويلها)، عمّا هو منتظر من التلميذ في نهاية فترة دراسية لميدان من الميادين المهيكلة للمادّة</a:t>
            </a:r>
            <a:r>
              <a:rPr lang="ar-DZ" sz="2000" b="1" dirty="0" smtClean="0"/>
              <a:t>. </a:t>
            </a:r>
            <a:endParaRPr lang="fr-FR" sz="2000" b="1" dirty="0"/>
          </a:p>
        </p:txBody>
      </p:sp>
      <p:sp>
        <p:nvSpPr>
          <p:cNvPr id="6" name="ZoneTexte 5"/>
          <p:cNvSpPr txBox="1"/>
          <p:nvPr/>
        </p:nvSpPr>
        <p:spPr>
          <a:xfrm>
            <a:off x="6804248" y="4581128"/>
            <a:ext cx="2179050" cy="584775"/>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r" rtl="1"/>
            <a:r>
              <a:rPr lang="ar-DZ" sz="3200" b="1" dirty="0" smtClean="0"/>
              <a:t>التحكّم</a:t>
            </a:r>
            <a:r>
              <a:rPr lang="ar-DZ" sz="2000" dirty="0" smtClean="0"/>
              <a:t> </a:t>
            </a:r>
            <a:r>
              <a:rPr lang="ar-DZ" sz="2400" dirty="0" smtClean="0"/>
              <a:t>في الموارد</a:t>
            </a:r>
            <a:endParaRPr lang="fr-FR" sz="2000" b="1" dirty="0" smtClean="0">
              <a:solidFill>
                <a:prstClr val="black"/>
              </a:solidFill>
              <a:cs typeface="Arial" pitchFamily="34" charset="0"/>
            </a:endParaRPr>
          </a:p>
        </p:txBody>
      </p:sp>
      <p:sp>
        <p:nvSpPr>
          <p:cNvPr id="7" name="ZoneTexte 6"/>
          <p:cNvSpPr txBox="1"/>
          <p:nvPr/>
        </p:nvSpPr>
        <p:spPr>
          <a:xfrm>
            <a:off x="2857488" y="4286256"/>
            <a:ext cx="3635896" cy="1077218"/>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rtl="1">
              <a:buNone/>
            </a:pPr>
            <a:r>
              <a:rPr lang="ar-DZ" sz="2000" dirty="0" smtClean="0"/>
              <a:t>توظيف مجموعة من </a:t>
            </a:r>
            <a:r>
              <a:rPr lang="ar-DZ" sz="2400" b="1" dirty="0" smtClean="0"/>
              <a:t>القيم </a:t>
            </a:r>
            <a:r>
              <a:rPr lang="ar-DZ" sz="2400" b="1" dirty="0" err="1" smtClean="0"/>
              <a:t>و</a:t>
            </a:r>
            <a:r>
              <a:rPr lang="ar-DZ" sz="2400" b="1" dirty="0" smtClean="0"/>
              <a:t> المواقف </a:t>
            </a:r>
            <a:r>
              <a:rPr lang="ar-DZ" sz="2000" dirty="0" err="1" smtClean="0"/>
              <a:t>و</a:t>
            </a:r>
            <a:r>
              <a:rPr lang="ar-DZ" sz="2000" dirty="0" smtClean="0"/>
              <a:t> </a:t>
            </a:r>
            <a:r>
              <a:rPr lang="ar-DZ" sz="2000" b="1" dirty="0" smtClean="0"/>
              <a:t>الكفاءات</a:t>
            </a:r>
            <a:r>
              <a:rPr lang="ar-DZ" sz="2000" dirty="0" smtClean="0"/>
              <a:t> </a:t>
            </a:r>
            <a:r>
              <a:rPr lang="ar-DZ" sz="2000" b="1" dirty="0" smtClean="0"/>
              <a:t>العرضية </a:t>
            </a:r>
            <a:r>
              <a:rPr lang="ar-DZ" sz="2000" dirty="0" smtClean="0"/>
              <a:t>(المساعي العقلية والمنهجية المشتركة     بين مختلف المواد)</a:t>
            </a:r>
            <a:endParaRPr lang="fr-FR" sz="2000" dirty="0"/>
          </a:p>
        </p:txBody>
      </p:sp>
      <p:sp>
        <p:nvSpPr>
          <p:cNvPr id="15" name="Bande diagonale 14"/>
          <p:cNvSpPr/>
          <p:nvPr/>
        </p:nvSpPr>
        <p:spPr>
          <a:xfrm rot="16984227">
            <a:off x="7360792" y="2426715"/>
            <a:ext cx="1145706" cy="1447732"/>
          </a:xfrm>
          <a:prstGeom prst="diagStripe">
            <a:avLst>
              <a:gd name="adj" fmla="val 612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7" name="Bande diagonale 16"/>
          <p:cNvSpPr/>
          <p:nvPr/>
        </p:nvSpPr>
        <p:spPr>
          <a:xfrm rot="4998076" flipH="1">
            <a:off x="834571" y="2675031"/>
            <a:ext cx="1261473" cy="1507939"/>
          </a:xfrm>
          <a:prstGeom prst="diagStripe">
            <a:avLst>
              <a:gd name="adj" fmla="val 663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9" name="Rectangle 18"/>
          <p:cNvSpPr/>
          <p:nvPr/>
        </p:nvSpPr>
        <p:spPr>
          <a:xfrm>
            <a:off x="2143108" y="142852"/>
            <a:ext cx="4172165" cy="646331"/>
          </a:xfrm>
          <a:prstGeom prst="rect">
            <a:avLst/>
          </a:prstGeom>
        </p:spPr>
        <p:txBody>
          <a:bodyPr wrap="square">
            <a:spAutoFit/>
          </a:bodyPr>
          <a:lstStyle/>
          <a:p>
            <a:pPr algn="ctr">
              <a:spcBef>
                <a:spcPct val="0"/>
              </a:spcBef>
            </a:pPr>
            <a:r>
              <a:rPr lang="ar-DZ" sz="3600" b="1" dirty="0" smtClean="0">
                <a:solidFill>
                  <a:srgbClr val="0070C0"/>
                </a:solidFill>
                <a:latin typeface="+mj-lt"/>
                <a:ea typeface="+mj-ea"/>
                <a:cs typeface="+mj-cs"/>
              </a:rPr>
              <a:t>الكفاءة الختامية </a:t>
            </a:r>
            <a:endParaRPr lang="fr-FR" sz="3600" b="1" dirty="0" smtClean="0">
              <a:solidFill>
                <a:srgbClr val="0070C0"/>
              </a:solidFill>
              <a:latin typeface="+mj-lt"/>
              <a:ea typeface="+mj-ea"/>
              <a:cs typeface="+mj-cs"/>
            </a:endParaRPr>
          </a:p>
        </p:txBody>
      </p:sp>
      <p:sp>
        <p:nvSpPr>
          <p:cNvPr id="20" name="Titre 1"/>
          <p:cNvSpPr txBox="1">
            <a:spLocks/>
          </p:cNvSpPr>
          <p:nvPr/>
        </p:nvSpPr>
        <p:spPr>
          <a:xfrm>
            <a:off x="571472" y="2214554"/>
            <a:ext cx="8229600" cy="571504"/>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ar-DZ" sz="3600" b="1" i="0" u="none" strike="noStrike" kern="1200" cap="none" spc="0" normalizeH="0" baseline="0" noProof="0" dirty="0" smtClean="0">
                <a:ln>
                  <a:noFill/>
                </a:ln>
                <a:solidFill>
                  <a:srgbClr val="0070C0"/>
                </a:solidFill>
                <a:effectLst/>
                <a:uLnTx/>
                <a:uFillTx/>
                <a:latin typeface="+mj-lt"/>
                <a:ea typeface="+mj-ea"/>
                <a:cs typeface="+mj-cs"/>
              </a:rPr>
              <a:t>مركبات الكفاءة</a:t>
            </a:r>
            <a:endParaRPr kumimoji="0" lang="fr-FR" sz="3600" b="1" i="0" u="none" strike="noStrike" kern="1200" cap="none" spc="0" normalizeH="0" baseline="0" noProof="0" dirty="0">
              <a:ln>
                <a:noFill/>
              </a:ln>
              <a:solidFill>
                <a:srgbClr val="0070C0"/>
              </a:solidFill>
              <a:effectLst/>
              <a:uLnTx/>
              <a:uFillTx/>
              <a:latin typeface="+mj-lt"/>
              <a:ea typeface="+mj-ea"/>
              <a:cs typeface="+mj-cs"/>
            </a:endParaRPr>
          </a:p>
        </p:txBody>
      </p:sp>
      <p:sp>
        <p:nvSpPr>
          <p:cNvPr id="22" name="ZoneTexte 21"/>
          <p:cNvSpPr txBox="1"/>
          <p:nvPr/>
        </p:nvSpPr>
        <p:spPr>
          <a:xfrm>
            <a:off x="142844" y="4572008"/>
            <a:ext cx="2179050" cy="523220"/>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r" rtl="1"/>
            <a:r>
              <a:rPr lang="ar-DZ" sz="2800" b="1" dirty="0" smtClean="0"/>
              <a:t>استعمال</a:t>
            </a:r>
            <a:r>
              <a:rPr lang="ar-DZ" sz="2000" dirty="0" smtClean="0"/>
              <a:t> </a:t>
            </a:r>
            <a:r>
              <a:rPr lang="ar-DZ" sz="2800" dirty="0" smtClean="0"/>
              <a:t>الموارد</a:t>
            </a:r>
            <a:endParaRPr lang="fr-FR" sz="2800" b="1" dirty="0" smtClean="0">
              <a:solidFill>
                <a:prstClr val="black"/>
              </a:solidFill>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amond(in)">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algn="r" rtl="1">
              <a:buNone/>
            </a:pPr>
            <a:r>
              <a:rPr lang="ar-DZ" dirty="0" smtClean="0"/>
              <a:t>. </a:t>
            </a:r>
            <a:endParaRPr lang="fr-FR" dirty="0" smtClean="0"/>
          </a:p>
          <a:p>
            <a:endParaRPr lang="fr-FR" dirty="0"/>
          </a:p>
        </p:txBody>
      </p:sp>
      <p:sp>
        <p:nvSpPr>
          <p:cNvPr id="4" name="Titre 1"/>
          <p:cNvSpPr>
            <a:spLocks noGrp="1"/>
          </p:cNvSpPr>
          <p:nvPr>
            <p:ph type="title"/>
          </p:nvPr>
        </p:nvSpPr>
        <p:spPr>
          <a:xfrm>
            <a:off x="571472" y="410364"/>
            <a:ext cx="8229600" cy="714380"/>
          </a:xfrm>
        </p:spPr>
        <p:txBody>
          <a:bodyPr/>
          <a:lstStyle/>
          <a:p>
            <a:pPr algn="ctr"/>
            <a:r>
              <a:rPr lang="ar-DZ" sz="3200" b="1" dirty="0" smtClean="0">
                <a:solidFill>
                  <a:srgbClr val="0070C0"/>
                </a:solidFill>
              </a:rPr>
              <a:t>المصفوفة المفاهيمية</a:t>
            </a:r>
            <a:endParaRPr lang="fr-FR" sz="3200" b="1" dirty="0">
              <a:solidFill>
                <a:srgbClr val="0070C0"/>
              </a:solidFill>
            </a:endParaRPr>
          </a:p>
        </p:txBody>
      </p:sp>
      <p:sp>
        <p:nvSpPr>
          <p:cNvPr id="6" name="Espace réservé du contenu 3"/>
          <p:cNvSpPr txBox="1">
            <a:spLocks/>
          </p:cNvSpPr>
          <p:nvPr/>
        </p:nvSpPr>
        <p:spPr bwMode="auto">
          <a:xfrm>
            <a:off x="0" y="1217272"/>
            <a:ext cx="8715436" cy="1563656"/>
          </a:xfrm>
          <a:prstGeom prst="roundRect">
            <a:avLst>
              <a:gd name="adj" fmla="val 33971"/>
            </a:avLst>
          </a:prstGeom>
          <a:ln w="9525" cap="flat" cmpd="sng" algn="ctr">
            <a:solidFill>
              <a:schemeClr val="accent3">
                <a:shade val="95000"/>
                <a:satMod val="105000"/>
              </a:schemeClr>
            </a:solidFill>
            <a:prstDash val="solid"/>
            <a:miter lim="800000"/>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r" rtl="1">
              <a:buNone/>
            </a:pPr>
            <a:r>
              <a:rPr lang="ar-DZ" sz="2400" dirty="0" smtClean="0"/>
              <a:t>تحدد  مفاهيم المادة التي لها تأثير إدماجي وتظهر الانسجام الأفقي والعمودي</a:t>
            </a:r>
          </a:p>
          <a:p>
            <a:pPr algn="r" rtl="1">
              <a:buNone/>
            </a:pPr>
            <a:r>
              <a:rPr lang="ar-DZ" sz="2400" dirty="0" smtClean="0"/>
              <a:t>لمضامين المادة</a:t>
            </a:r>
          </a:p>
          <a:p>
            <a:pPr algn="r" rtl="1">
              <a:buNone/>
            </a:pPr>
            <a:r>
              <a:rPr lang="ar-DZ" sz="2400" dirty="0" smtClean="0"/>
              <a:t>. ويتطلّب هذا العمل التوفيق بين تدرّج المضامين المعرفية التي تستلزمها مركّبات الكفاءة الختـامية والهيكلة الخاصّة بالمادّة ضمن ميادين</a:t>
            </a:r>
            <a:endParaRPr kumimoji="0" lang="ar-DZ" sz="2400" b="1" i="0" u="none" strike="noStrike" kern="1200" cap="none" spc="0" normalizeH="0" baseline="0" noProof="0" dirty="0" smtClean="0">
              <a:ln>
                <a:noFill/>
              </a:ln>
              <a:solidFill>
                <a:schemeClr val="dk1"/>
              </a:solidFill>
              <a:effectLst/>
              <a:uLnTx/>
              <a:uFillTx/>
              <a:latin typeface="+mn-lt"/>
              <a:ea typeface="+mn-ea"/>
              <a:cs typeface="+mn-cs"/>
            </a:endParaRPr>
          </a:p>
        </p:txBody>
      </p:sp>
      <p:sp>
        <p:nvSpPr>
          <p:cNvPr id="7" name="Rectangle 6"/>
          <p:cNvSpPr/>
          <p:nvPr/>
        </p:nvSpPr>
        <p:spPr>
          <a:xfrm>
            <a:off x="1571604" y="5000636"/>
            <a:ext cx="6215106" cy="369332"/>
          </a:xfrm>
          <a:prstGeom prst="rect">
            <a:avLst/>
          </a:prstGeom>
        </p:spPr>
        <p:txBody>
          <a:bodyPr wrap="square">
            <a:spAutoFit/>
          </a:bodyPr>
          <a:lstStyle/>
          <a:p>
            <a:pPr lvl="0" algn="r" rtl="1">
              <a:buNone/>
            </a:pPr>
            <a:r>
              <a:rPr lang="ar-DZ" dirty="0" smtClean="0"/>
              <a:t>.</a:t>
            </a:r>
            <a:endParaRPr lang="fr-FR" dirty="0"/>
          </a:p>
        </p:txBody>
      </p:sp>
      <p:graphicFrame>
        <p:nvGraphicFramePr>
          <p:cNvPr id="10" name="Tableau 9"/>
          <p:cNvGraphicFramePr>
            <a:graphicFrameLocks noGrp="1"/>
          </p:cNvGraphicFramePr>
          <p:nvPr/>
        </p:nvGraphicFramePr>
        <p:xfrm>
          <a:off x="251520" y="2852936"/>
          <a:ext cx="8352927" cy="3650103"/>
        </p:xfrm>
        <a:graphic>
          <a:graphicData uri="http://schemas.openxmlformats.org/drawingml/2006/table">
            <a:tbl>
              <a:tblPr firstRow="1" bandRow="1">
                <a:tableStyleId>{5C22544A-7EE6-4342-B048-85BDC9FD1C3A}</a:tableStyleId>
              </a:tblPr>
              <a:tblGrid>
                <a:gridCol w="2740823"/>
                <a:gridCol w="2349277"/>
                <a:gridCol w="2055618"/>
                <a:gridCol w="1207209"/>
              </a:tblGrid>
              <a:tr h="485635">
                <a:tc gridSpan="4">
                  <a:txBody>
                    <a:bodyPr/>
                    <a:lstStyle/>
                    <a:p>
                      <a:pPr algn="ctr" rtl="1"/>
                      <a:r>
                        <a:rPr lang="ar-DZ" sz="2800" dirty="0" smtClean="0">
                          <a:solidFill>
                            <a:schemeClr val="tx1"/>
                          </a:solidFill>
                        </a:rPr>
                        <a:t>مثـــــــــال</a:t>
                      </a:r>
                      <a:endParaRPr lang="fr-FR" sz="2800" dirty="0">
                        <a:solidFill>
                          <a:schemeClr val="tx1"/>
                        </a:solidFill>
                      </a:endParaRPr>
                    </a:p>
                  </a:txBody>
                  <a:tcPr/>
                </a:tc>
                <a:tc hMerge="1">
                  <a:txBody>
                    <a:bodyPr/>
                    <a:lstStyle/>
                    <a:p>
                      <a:endParaRPr lang="fr-FR" dirty="0"/>
                    </a:p>
                  </a:txBody>
                  <a:tcPr/>
                </a:tc>
                <a:tc hMerge="1">
                  <a:txBody>
                    <a:bodyPr/>
                    <a:lstStyle/>
                    <a:p>
                      <a:endParaRPr lang="fr-FR"/>
                    </a:p>
                  </a:txBody>
                  <a:tcPr/>
                </a:tc>
                <a:tc hMerge="1">
                  <a:txBody>
                    <a:bodyPr/>
                    <a:lstStyle/>
                    <a:p>
                      <a:endParaRPr lang="fr-FR" dirty="0"/>
                    </a:p>
                  </a:txBody>
                  <a:tcPr/>
                </a:tc>
              </a:tr>
              <a:tr h="589204">
                <a:tc>
                  <a:txBody>
                    <a:bodyPr/>
                    <a:lstStyle/>
                    <a:p>
                      <a:pPr algn="ctr" rtl="1"/>
                      <a:r>
                        <a:rPr lang="ar-DZ" sz="1800" b="1" kern="1200" dirty="0" smtClean="0">
                          <a:solidFill>
                            <a:schemeClr val="tx1"/>
                          </a:solidFill>
                          <a:latin typeface="+mn-lt"/>
                          <a:ea typeface="+mn-ea"/>
                          <a:cs typeface="+mn-cs"/>
                        </a:rPr>
                        <a:t>الإنسان والبيئة</a:t>
                      </a:r>
                      <a:endParaRPr lang="fr-FR" dirty="0">
                        <a:solidFill>
                          <a:schemeClr val="tx1"/>
                        </a:solidFill>
                      </a:endParaRPr>
                    </a:p>
                  </a:txBody>
                  <a:tcPr/>
                </a:tc>
                <a:tc gridSpan="2">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sz="1800" b="1" kern="1200" dirty="0" smtClean="0">
                          <a:solidFill>
                            <a:schemeClr val="tx1"/>
                          </a:solidFill>
                          <a:latin typeface="+mn-lt"/>
                          <a:ea typeface="+mn-ea"/>
                          <a:cs typeface="+mn-cs"/>
                        </a:rPr>
                        <a:t>الإنسان والصحة</a:t>
                      </a:r>
                      <a:endParaRPr lang="fr-FR" dirty="0" smtClean="0">
                        <a:solidFill>
                          <a:schemeClr val="tx1"/>
                        </a:solidFill>
                      </a:endParaRPr>
                    </a:p>
                    <a:p>
                      <a:endParaRPr lang="fr-FR" dirty="0">
                        <a:solidFill>
                          <a:schemeClr val="tx1"/>
                        </a:solidFill>
                      </a:endParaRPr>
                    </a:p>
                  </a:txBody>
                  <a:tcPr/>
                </a:tc>
                <a:tc hMerge="1">
                  <a:txBody>
                    <a:bodyPr/>
                    <a:lstStyle/>
                    <a:p>
                      <a:endParaRPr lang="fr-FR" dirty="0"/>
                    </a:p>
                  </a:txBody>
                  <a:tcPr/>
                </a:tc>
                <a:tc>
                  <a:txBody>
                    <a:bodyPr/>
                    <a:lstStyle/>
                    <a:p>
                      <a:pPr algn="ctr" rtl="1"/>
                      <a:r>
                        <a:rPr lang="ar-DZ" sz="1800" b="1" kern="1200" dirty="0" smtClean="0">
                          <a:solidFill>
                            <a:schemeClr val="tx1"/>
                          </a:solidFill>
                          <a:latin typeface="+mn-lt"/>
                          <a:ea typeface="+mn-ea"/>
                          <a:cs typeface="+mn-cs"/>
                        </a:rPr>
                        <a:t>الميدان</a:t>
                      </a:r>
                      <a:endParaRPr lang="fr-FR" dirty="0">
                        <a:solidFill>
                          <a:schemeClr val="tx1"/>
                        </a:solidFill>
                      </a:endParaRPr>
                    </a:p>
                  </a:txBody>
                  <a:tcPr/>
                </a:tc>
              </a:tr>
              <a:tr h="58920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ar-SA" sz="1800" kern="1200" dirty="0" smtClean="0">
                          <a:solidFill>
                            <a:schemeClr val="dk1"/>
                          </a:solidFill>
                          <a:latin typeface="+mn-lt"/>
                          <a:ea typeface="+mn-ea"/>
                          <a:cs typeface="+mn-cs"/>
                        </a:rPr>
                        <a:t>البعد البيئي</a:t>
                      </a:r>
                      <a:endParaRPr lang="fr-FR" sz="1800" kern="1200" dirty="0" smtClean="0">
                        <a:solidFill>
                          <a:schemeClr val="dk1"/>
                        </a:solidFill>
                        <a:latin typeface="+mn-lt"/>
                        <a:ea typeface="+mn-ea"/>
                        <a:cs typeface="+mn-cs"/>
                      </a:endParaRPr>
                    </a:p>
                    <a:p>
                      <a:pPr algn="ctr"/>
                      <a:endParaRPr lang="fr-FR"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ar-SA" sz="1800" kern="1200" dirty="0" smtClean="0">
                          <a:solidFill>
                            <a:schemeClr val="dk1"/>
                          </a:solidFill>
                          <a:latin typeface="+mn-lt"/>
                          <a:ea typeface="+mn-ea"/>
                          <a:cs typeface="+mn-cs"/>
                        </a:rPr>
                        <a:t>البعد البيولوجي</a:t>
                      </a:r>
                      <a:endParaRPr lang="fr-FR" sz="1800" kern="1200" dirty="0" smtClean="0">
                        <a:solidFill>
                          <a:schemeClr val="dk1"/>
                        </a:solidFill>
                        <a:latin typeface="+mn-lt"/>
                        <a:ea typeface="+mn-ea"/>
                        <a:cs typeface="+mn-cs"/>
                      </a:endParaRPr>
                    </a:p>
                    <a:p>
                      <a:pPr algn="r"/>
                      <a:endParaRPr lang="fr-FR" dirty="0"/>
                    </a:p>
                  </a:txBody>
                  <a:tcPr/>
                </a:tc>
                <a:tc>
                  <a:txBody>
                    <a:bodyPr/>
                    <a:lstStyle/>
                    <a:p>
                      <a:pPr rtl="1"/>
                      <a:r>
                        <a:rPr lang="ar-SA" sz="1800" kern="1200" dirty="0" smtClean="0">
                          <a:solidFill>
                            <a:schemeClr val="dk1"/>
                          </a:solidFill>
                          <a:latin typeface="+mn-lt"/>
                          <a:ea typeface="+mn-ea"/>
                          <a:cs typeface="+mn-cs"/>
                        </a:rPr>
                        <a:t>البعد الصحي</a:t>
                      </a:r>
                      <a:endParaRPr lang="fr-FR" sz="1800" kern="1200" dirty="0">
                        <a:solidFill>
                          <a:schemeClr val="dk1"/>
                        </a:solidFill>
                        <a:latin typeface="+mn-lt"/>
                        <a:ea typeface="+mn-ea"/>
                        <a:cs typeface="+mn-cs"/>
                      </a:endParaRPr>
                    </a:p>
                  </a:txBody>
                  <a:tcPr/>
                </a:tc>
                <a:tc>
                  <a:txBody>
                    <a:bodyPr/>
                    <a:lstStyle/>
                    <a:p>
                      <a:r>
                        <a:rPr lang="ar-SA" sz="1800" b="1" kern="1200" dirty="0" smtClean="0">
                          <a:solidFill>
                            <a:schemeClr val="dk1"/>
                          </a:solidFill>
                          <a:latin typeface="+mn-lt"/>
                          <a:ea typeface="+mn-ea"/>
                          <a:cs typeface="+mn-cs"/>
                        </a:rPr>
                        <a:t>أبعاد المنهاج</a:t>
                      </a:r>
                      <a:endParaRPr lang="fr-FR" dirty="0"/>
                    </a:p>
                  </a:txBody>
                  <a:tcPr/>
                </a:tc>
              </a:tr>
              <a:tr h="1851783">
                <a:tc>
                  <a:txBody>
                    <a:bodyPr/>
                    <a:lstStyle/>
                    <a:p>
                      <a:pPr algn="r" rtl="1"/>
                      <a:r>
                        <a:rPr lang="ar-DZ" sz="1800" b="1" u="sng" kern="1200" dirty="0" smtClean="0">
                          <a:solidFill>
                            <a:schemeClr val="dk1"/>
                          </a:solidFill>
                          <a:latin typeface="+mn-lt"/>
                          <a:ea typeface="+mn-ea"/>
                          <a:cs typeface="+mn-cs"/>
                        </a:rPr>
                        <a:t>مدخل للنظام البيئي</a:t>
                      </a:r>
                      <a:r>
                        <a:rPr lang="ar-DZ" sz="1800" b="1" kern="1200" dirty="0" smtClean="0">
                          <a:solidFill>
                            <a:schemeClr val="dk1"/>
                          </a:solidFill>
                          <a:latin typeface="+mn-lt"/>
                          <a:ea typeface="+mn-ea"/>
                          <a:cs typeface="+mn-cs"/>
                        </a:rPr>
                        <a:t> </a:t>
                      </a:r>
                      <a:r>
                        <a:rPr lang="ar-DZ" sz="1800" u="sng" kern="1200" dirty="0" smtClean="0">
                          <a:solidFill>
                            <a:schemeClr val="dk1"/>
                          </a:solidFill>
                          <a:latin typeface="+mn-lt"/>
                          <a:ea typeface="+mn-ea"/>
                          <a:cs typeface="+mn-cs"/>
                        </a:rPr>
                        <a:t>المظاهر الكبرى  للحياة الحيوانية والنباتية:</a:t>
                      </a:r>
                      <a:endParaRPr lang="fr-FR" sz="1800" kern="1200" dirty="0" smtClean="0">
                        <a:solidFill>
                          <a:schemeClr val="dk1"/>
                        </a:solidFill>
                        <a:latin typeface="+mn-lt"/>
                        <a:ea typeface="+mn-ea"/>
                        <a:cs typeface="+mn-cs"/>
                      </a:endParaRPr>
                    </a:p>
                    <a:p>
                      <a:pPr lvl="0" algn="r" rtl="1"/>
                      <a:r>
                        <a:rPr lang="ar-DZ" sz="1800" kern="1200" dirty="0" smtClean="0">
                          <a:solidFill>
                            <a:schemeClr val="dk1"/>
                          </a:solidFill>
                          <a:latin typeface="+mn-lt"/>
                          <a:ea typeface="+mn-ea"/>
                          <a:cs typeface="+mn-cs"/>
                        </a:rPr>
                        <a:t>التنوع عند الحيوانات</a:t>
                      </a:r>
                      <a:endParaRPr lang="fr-FR" sz="1800" kern="1200" dirty="0" smtClean="0">
                        <a:solidFill>
                          <a:schemeClr val="dk1"/>
                        </a:solidFill>
                        <a:latin typeface="+mn-lt"/>
                        <a:ea typeface="+mn-ea"/>
                        <a:cs typeface="+mn-cs"/>
                      </a:endParaRPr>
                    </a:p>
                    <a:p>
                      <a:pPr lvl="0" algn="r" rtl="1"/>
                      <a:r>
                        <a:rPr lang="ar-DZ" sz="1800" kern="1200" dirty="0" smtClean="0">
                          <a:solidFill>
                            <a:schemeClr val="dk1"/>
                          </a:solidFill>
                          <a:latin typeface="+mn-lt"/>
                          <a:ea typeface="+mn-ea"/>
                          <a:cs typeface="+mn-cs"/>
                        </a:rPr>
                        <a:t>التنوع عند النباتات</a:t>
                      </a:r>
                      <a:endParaRPr lang="fr-FR" sz="1800" kern="1200" dirty="0" smtClean="0">
                        <a:solidFill>
                          <a:schemeClr val="dk1"/>
                        </a:solidFill>
                        <a:latin typeface="+mn-lt"/>
                        <a:ea typeface="+mn-ea"/>
                        <a:cs typeface="+mn-cs"/>
                      </a:endParaRPr>
                    </a:p>
                    <a:p>
                      <a:endParaRPr lang="fr-FR" dirty="0"/>
                    </a:p>
                  </a:txBody>
                  <a:tcPr/>
                </a:tc>
                <a:tc>
                  <a:txBody>
                    <a:bodyPr/>
                    <a:lstStyle/>
                    <a:p>
                      <a:pPr algn="r" rtl="1"/>
                      <a:r>
                        <a:rPr lang="ar-SA" sz="1800" b="1" u="sng" kern="1200" dirty="0" smtClean="0">
                          <a:solidFill>
                            <a:schemeClr val="dk1"/>
                          </a:solidFill>
                          <a:latin typeface="+mn-lt"/>
                          <a:ea typeface="+mn-ea"/>
                          <a:cs typeface="+mn-cs"/>
                        </a:rPr>
                        <a:t>مقاربة أولية لمفهوم الوظيفة</a:t>
                      </a:r>
                      <a:endParaRPr lang="fr-FR" sz="1800" kern="1200" dirty="0" smtClean="0">
                        <a:solidFill>
                          <a:schemeClr val="dk1"/>
                        </a:solidFill>
                        <a:latin typeface="+mn-lt"/>
                        <a:ea typeface="+mn-ea"/>
                        <a:cs typeface="+mn-cs"/>
                      </a:endParaRPr>
                    </a:p>
                    <a:p>
                      <a:pPr algn="r"/>
                      <a:r>
                        <a:rPr lang="ar-DZ" sz="1800" kern="1200" dirty="0" smtClean="0">
                          <a:solidFill>
                            <a:schemeClr val="dk1"/>
                          </a:solidFill>
                          <a:latin typeface="+mn-lt"/>
                          <a:ea typeface="+mn-ea"/>
                          <a:cs typeface="+mn-cs"/>
                        </a:rPr>
                        <a:t>التغيرات الجسمية الدالة على حدوث بعض الوظائف الحيوية</a:t>
                      </a:r>
                      <a:endParaRPr lang="fr-FR" dirty="0" smtClean="0"/>
                    </a:p>
                    <a:p>
                      <a:pPr algn="r" rtl="1"/>
                      <a:endParaRPr lang="fr-FR" sz="1800" kern="1200" dirty="0">
                        <a:solidFill>
                          <a:schemeClr val="dk1"/>
                        </a:solidFill>
                        <a:latin typeface="+mn-lt"/>
                        <a:ea typeface="+mn-ea"/>
                        <a:cs typeface="+mn-cs"/>
                      </a:endParaRPr>
                    </a:p>
                  </a:txBody>
                  <a:tcPr/>
                </a:tc>
                <a:tc>
                  <a:txBody>
                    <a:bodyPr/>
                    <a:lstStyle/>
                    <a:p>
                      <a:pPr algn="r"/>
                      <a:r>
                        <a:rPr lang="ar-SA" sz="1800" b="1" u="sng" kern="1200" dirty="0" smtClean="0">
                          <a:solidFill>
                            <a:schemeClr val="dk1"/>
                          </a:solidFill>
                          <a:latin typeface="+mn-lt"/>
                          <a:ea typeface="+mn-ea"/>
                          <a:cs typeface="+mn-cs"/>
                        </a:rPr>
                        <a:t>القواعد الصحية </a:t>
                      </a:r>
                      <a:r>
                        <a:rPr lang="ar-DZ" sz="1800" kern="1200" dirty="0" smtClean="0">
                          <a:solidFill>
                            <a:schemeClr val="dk1"/>
                          </a:solidFill>
                          <a:latin typeface="+mn-lt"/>
                          <a:ea typeface="+mn-ea"/>
                          <a:cs typeface="+mn-cs"/>
                        </a:rPr>
                        <a:t>الغذاء السليم، النظافة، اللعب، الراحة والنوم</a:t>
                      </a:r>
                      <a:endParaRPr lang="fr-FR" dirty="0"/>
                    </a:p>
                  </a:txBody>
                  <a:tcPr/>
                </a:tc>
                <a:tc>
                  <a:txBody>
                    <a:bodyPr/>
                    <a:lstStyle/>
                    <a:p>
                      <a:r>
                        <a:rPr lang="ar-SA" sz="1800" b="1" kern="1200" dirty="0" smtClean="0">
                          <a:solidFill>
                            <a:schemeClr val="dk1"/>
                          </a:solidFill>
                          <a:latin typeface="+mn-lt"/>
                          <a:ea typeface="+mn-ea"/>
                          <a:cs typeface="+mn-cs"/>
                        </a:rPr>
                        <a:t>الطور الأول</a:t>
                      </a:r>
                      <a:endParaRPr lang="fr-FR" dirty="0"/>
                    </a:p>
                  </a:txBody>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txBox="1">
            <a:spLocks noGrp="1"/>
          </p:cNvSpPr>
          <p:nvPr>
            <p:ph type="title"/>
          </p:nvPr>
        </p:nvSpPr>
        <p:spPr>
          <a:prstGeom prst="rect">
            <a:avLst/>
          </a:prstGeom>
          <a:noFill/>
        </p:spPr>
        <p:txBody>
          <a:bodyPr wrap="square" rtlCol="0">
            <a:spAutoFit/>
          </a:bodyPr>
          <a:lstStyle/>
          <a:p>
            <a:pPr algn="ctr"/>
            <a:r>
              <a:rPr lang="ar-DZ" sz="3600" b="1" dirty="0" smtClean="0">
                <a:solidFill>
                  <a:srgbClr val="0070C0"/>
                </a:solidFill>
              </a:rPr>
              <a:t>الميدان</a:t>
            </a:r>
            <a:r>
              <a:rPr lang="ar-DZ" sz="2600" dirty="0" smtClean="0">
                <a:solidFill>
                  <a:srgbClr val="0070C0"/>
                </a:solidFill>
              </a:rPr>
              <a:t> </a:t>
            </a:r>
            <a:r>
              <a:rPr lang="ar-DZ" dirty="0" smtClean="0"/>
              <a:t> </a:t>
            </a:r>
            <a:endParaRPr lang="fr-FR" dirty="0"/>
          </a:p>
        </p:txBody>
      </p:sp>
      <p:sp>
        <p:nvSpPr>
          <p:cNvPr id="5" name="Espace réservé du contenu 3"/>
          <p:cNvSpPr txBox="1">
            <a:spLocks noGrp="1"/>
          </p:cNvSpPr>
          <p:nvPr>
            <p:ph idx="1"/>
          </p:nvPr>
        </p:nvSpPr>
        <p:spPr bwMode="auto">
          <a:xfrm>
            <a:off x="457200" y="1600201"/>
            <a:ext cx="8229600" cy="3268960"/>
          </a:xfrm>
          <a:prstGeom prst="roundRect">
            <a:avLst>
              <a:gd name="adj" fmla="val 33971"/>
            </a:avLst>
          </a:prstGeom>
          <a:ln w="9525" cap="flat" cmpd="sng" algn="ctr">
            <a:solidFill>
              <a:schemeClr val="accent3">
                <a:shade val="95000"/>
                <a:satMod val="105000"/>
              </a:schemeClr>
            </a:solidFill>
            <a:prstDash val="solid"/>
            <a:miter lim="800000"/>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r" rtl="1">
              <a:buNone/>
            </a:pPr>
            <a:r>
              <a:rPr lang="ar-DZ" sz="2400" dirty="0" smtClean="0"/>
              <a:t>الجزء المهيكل والمنظّم للمادّة قصد التعلّم. وعدد الميادين في المادّة يحدّد عدد الكفاءات الختامية ويضمن هذا الإجراء التكفل الكلّي بمعارف المادّة في ملامح التخرّج</a:t>
            </a:r>
            <a:endParaRPr kumimoji="0" lang="ar-DZ" sz="2400" b="1" i="0" u="none" strike="noStrike" kern="1200" cap="none" spc="0" normalizeH="0" baseline="0" noProof="0" dirty="0" smtClean="0">
              <a:ln>
                <a:noFill/>
              </a:ln>
              <a:solidFill>
                <a:schemeClr val="dk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620688"/>
            <a:ext cx="8229600" cy="1143000"/>
          </a:xfrm>
        </p:spPr>
        <p:txBody>
          <a:bodyPr/>
          <a:lstStyle/>
          <a:p>
            <a:pPr algn="ctr"/>
            <a:r>
              <a:rPr lang="ar-DZ" b="1" dirty="0"/>
              <a:t>مخطط التعلم السنوي</a:t>
            </a:r>
            <a:endParaRPr lang="fr-FR" dirty="0"/>
          </a:p>
        </p:txBody>
      </p:sp>
      <p:sp>
        <p:nvSpPr>
          <p:cNvPr id="3" name="Espace réservé du contenu 2"/>
          <p:cNvSpPr>
            <a:spLocks noGrp="1"/>
          </p:cNvSpPr>
          <p:nvPr>
            <p:ph idx="1"/>
          </p:nvPr>
        </p:nvSpPr>
        <p:spPr>
          <a:xfrm>
            <a:off x="457200" y="1935480"/>
            <a:ext cx="8329642" cy="4389120"/>
          </a:xfrm>
        </p:spPr>
        <p:txBody>
          <a:bodyPr>
            <a:normAutofit/>
          </a:bodyPr>
          <a:lstStyle/>
          <a:p>
            <a:pPr algn="r" rtl="1"/>
            <a:r>
              <a:rPr lang="ar-SA" dirty="0" smtClean="0"/>
              <a:t>وهو المخطط الذي يتحدد فيه الخطوط العريضة  لما يتم برمجته خلال سنة دراسية. </a:t>
            </a:r>
            <a:r>
              <a:rPr lang="ar-DZ" dirty="0" smtClean="0"/>
              <a:t> </a:t>
            </a:r>
            <a:r>
              <a:rPr lang="ar-SA" dirty="0" smtClean="0"/>
              <a:t>يكون بشكل جدول يتضمن</a:t>
            </a:r>
            <a:r>
              <a:rPr lang="ar-DZ" dirty="0" smtClean="0"/>
              <a:t>  </a:t>
            </a:r>
            <a:r>
              <a:rPr lang="ar-SA" dirty="0" smtClean="0"/>
              <a:t>السيرورة العامة لتنفيذ المنهاج انطلاق</a:t>
            </a:r>
            <a:r>
              <a:rPr lang="ar-DZ" dirty="0" smtClean="0"/>
              <a:t>ا من:</a:t>
            </a:r>
            <a:endParaRPr lang="fr-FR" dirty="0" smtClean="0"/>
          </a:p>
          <a:p>
            <a:endParaRPr lang="fr-FR" dirty="0"/>
          </a:p>
        </p:txBody>
      </p:sp>
      <p:graphicFrame>
        <p:nvGraphicFramePr>
          <p:cNvPr id="4" name="Tableau 3"/>
          <p:cNvGraphicFramePr>
            <a:graphicFrameLocks noGrp="1"/>
          </p:cNvGraphicFramePr>
          <p:nvPr/>
        </p:nvGraphicFramePr>
        <p:xfrm>
          <a:off x="214281" y="3714752"/>
          <a:ext cx="8643998" cy="1357322"/>
        </p:xfrm>
        <a:graphic>
          <a:graphicData uri="http://schemas.openxmlformats.org/drawingml/2006/table">
            <a:tbl>
              <a:tblPr firstRow="1" bandRow="1">
                <a:tableStyleId>{5C22544A-7EE6-4342-B048-85BDC9FD1C3A}</a:tableStyleId>
              </a:tblPr>
              <a:tblGrid>
                <a:gridCol w="939230"/>
                <a:gridCol w="939230"/>
                <a:gridCol w="939230"/>
                <a:gridCol w="939230"/>
                <a:gridCol w="939230"/>
                <a:gridCol w="939230"/>
                <a:gridCol w="939230"/>
                <a:gridCol w="1283571"/>
                <a:gridCol w="785817"/>
              </a:tblGrid>
              <a:tr h="13573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ar-SA" dirty="0" smtClean="0"/>
                        <a:t>معالجة بيداغوجية</a:t>
                      </a:r>
                      <a:endParaRPr lang="fr-FR" dirty="0" smtClean="0"/>
                    </a:p>
                    <a:p>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ar-SA" dirty="0" smtClean="0"/>
                        <a:t>وضعية التقويم</a:t>
                      </a:r>
                      <a:endParaRPr lang="fr-FR" dirty="0" smtClean="0"/>
                    </a:p>
                    <a:p>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ar-SA" dirty="0" smtClean="0"/>
                        <a:t>وضعية إدماج المركبات</a:t>
                      </a:r>
                      <a:endParaRPr lang="fr-FR" dirty="0" smtClean="0"/>
                    </a:p>
                    <a:p>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ar-SA" dirty="0" smtClean="0"/>
                        <a:t>وضعيات تعلم الإدماج</a:t>
                      </a:r>
                      <a:endParaRPr lang="fr-FR" dirty="0" smtClean="0"/>
                    </a:p>
                    <a:p>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ar-SA" dirty="0" smtClean="0"/>
                        <a:t>وضعيات </a:t>
                      </a: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ar-SA" dirty="0" smtClean="0"/>
                        <a:t>تعلم</a:t>
                      </a:r>
                      <a:r>
                        <a:rPr lang="ar-DZ" dirty="0" smtClean="0"/>
                        <a:t> الموارد</a:t>
                      </a:r>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ar-SA" dirty="0" smtClean="0"/>
                        <a:t>الوضعية المشكلة الانطلاقية</a:t>
                      </a:r>
                      <a:endParaRPr lang="fr-FR" dirty="0" smtClean="0"/>
                    </a:p>
                    <a:p>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ar-SA" dirty="0" smtClean="0"/>
                        <a:t>مركبات الكفاءة</a:t>
                      </a:r>
                      <a:endParaRPr lang="fr-FR" dirty="0" smtClean="0"/>
                    </a:p>
                    <a:p>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ar-SA" dirty="0" smtClean="0"/>
                        <a:t>الكفاءة الختامية</a:t>
                      </a:r>
                      <a:endParaRPr lang="fr-FR" dirty="0" smtClean="0"/>
                    </a:p>
                    <a:p>
                      <a:endParaRPr lang="fr-FR" dirty="0"/>
                    </a:p>
                  </a:txBody>
                  <a:tcPr/>
                </a:tc>
                <a:tc>
                  <a:txBody>
                    <a:bodyPr/>
                    <a:lstStyle/>
                    <a:p>
                      <a:r>
                        <a:rPr lang="ar-DZ" dirty="0" smtClean="0"/>
                        <a:t>الميدان</a:t>
                      </a:r>
                      <a:endParaRPr lang="fr-FR" dirty="0"/>
                    </a:p>
                  </a:txBody>
                  <a:tcPr/>
                </a:tc>
              </a:tr>
            </a:tbl>
          </a:graphicData>
        </a:graphic>
      </p:graphicFrame>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33388" y="188913"/>
            <a:ext cx="8229600" cy="575791"/>
          </a:xfrm>
        </p:spPr>
        <p:style>
          <a:lnRef idx="1">
            <a:schemeClr val="accent3"/>
          </a:lnRef>
          <a:fillRef idx="2">
            <a:schemeClr val="accent3"/>
          </a:fillRef>
          <a:effectRef idx="1">
            <a:schemeClr val="accent3"/>
          </a:effectRef>
          <a:fontRef idx="minor">
            <a:schemeClr val="dk1"/>
          </a:fontRef>
        </p:style>
        <p:txBody>
          <a:bodyPr rtlCol="0">
            <a:normAutofit fontScale="90000"/>
          </a:bodyPr>
          <a:lstStyle/>
          <a:p>
            <a:pPr rtl="1" eaLnBrk="1" fontAlgn="auto" hangingPunct="1">
              <a:spcAft>
                <a:spcPts val="0"/>
              </a:spcAft>
              <a:defRPr/>
            </a:pPr>
            <a:r>
              <a:rPr lang="fr-FR" sz="3600" b="1" dirty="0" smtClean="0"/>
              <a:t/>
            </a:r>
            <a:br>
              <a:rPr lang="fr-FR" sz="3600" b="1" dirty="0" smtClean="0"/>
            </a:br>
            <a:r>
              <a:rPr lang="ar-DZ" sz="3600" b="1" dirty="0" smtClean="0"/>
              <a:t>الوضعية  المشكلة الشاملة</a:t>
            </a:r>
            <a:r>
              <a:rPr lang="fr-FR" dirty="0" smtClean="0"/>
              <a:t/>
            </a:r>
            <a:br>
              <a:rPr lang="fr-FR" dirty="0" smtClean="0"/>
            </a:br>
            <a:endParaRPr lang="fr-FR" dirty="0" smtClean="0"/>
          </a:p>
        </p:txBody>
      </p:sp>
      <p:sp>
        <p:nvSpPr>
          <p:cNvPr id="4" name="ZoneTexte 3"/>
          <p:cNvSpPr txBox="1"/>
          <p:nvPr/>
        </p:nvSpPr>
        <p:spPr>
          <a:xfrm>
            <a:off x="827583" y="1052513"/>
            <a:ext cx="7992889"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r" rtl="1">
              <a:defRPr/>
            </a:pPr>
            <a:r>
              <a:rPr lang="ar-DZ" dirty="0" smtClean="0"/>
              <a:t>هي الوضعية التي تثير التساؤل حول الانطلاق في ميدان من الميادين و بالتالي تغطي  كفاءة ختامية </a:t>
            </a:r>
            <a:endParaRPr lang="fr-FR" dirty="0"/>
          </a:p>
        </p:txBody>
      </p:sp>
      <p:sp>
        <p:nvSpPr>
          <p:cNvPr id="15" name="Flèche vers le haut 14"/>
          <p:cNvSpPr/>
          <p:nvPr/>
        </p:nvSpPr>
        <p:spPr>
          <a:xfrm rot="10800000">
            <a:off x="4357686" y="1700808"/>
            <a:ext cx="360363" cy="5762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18" name="ZoneTexte 17"/>
          <p:cNvSpPr txBox="1">
            <a:spLocks noChangeArrowheads="1"/>
          </p:cNvSpPr>
          <p:nvPr/>
        </p:nvSpPr>
        <p:spPr bwMode="auto">
          <a:xfrm>
            <a:off x="2483768" y="2564904"/>
            <a:ext cx="4032449" cy="40011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pPr algn="ctr" rtl="1"/>
            <a:r>
              <a:rPr lang="ar-DZ" sz="2000" b="1" dirty="0" smtClean="0"/>
              <a:t>وضعية تعلم الموارد</a:t>
            </a:r>
            <a:endParaRPr lang="fr-FR" sz="2000" dirty="0"/>
          </a:p>
        </p:txBody>
      </p:sp>
      <p:sp>
        <p:nvSpPr>
          <p:cNvPr id="8" name="Espace réservé du contenu 3"/>
          <p:cNvSpPr txBox="1">
            <a:spLocks/>
          </p:cNvSpPr>
          <p:nvPr/>
        </p:nvSpPr>
        <p:spPr bwMode="auto">
          <a:xfrm>
            <a:off x="142844" y="3284984"/>
            <a:ext cx="8715436" cy="1944216"/>
          </a:xfrm>
          <a:prstGeom prst="roundRect">
            <a:avLst>
              <a:gd name="adj" fmla="val 33971"/>
            </a:avLst>
          </a:prstGeom>
          <a:ln w="9525" cap="flat" cmpd="sng" algn="ctr">
            <a:solidFill>
              <a:schemeClr val="accent3">
                <a:shade val="95000"/>
                <a:satMod val="105000"/>
              </a:schemeClr>
            </a:solidFill>
            <a:prstDash val="solid"/>
            <a:miter lim="800000"/>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342900" indent="-342900" algn="r" rtl="1" eaLnBrk="0" hangingPunct="0">
              <a:spcBef>
                <a:spcPct val="20000"/>
              </a:spcBef>
            </a:pPr>
            <a:r>
              <a:rPr lang="ar-DZ" sz="2400" dirty="0" smtClean="0"/>
              <a:t>وضعية مشكلة </a:t>
            </a:r>
            <a:r>
              <a:rPr lang="ar-DZ" sz="2400" dirty="0" err="1" smtClean="0"/>
              <a:t>تعلّمية</a:t>
            </a:r>
            <a:r>
              <a:rPr lang="ar-DZ" sz="2400" dirty="0" smtClean="0"/>
              <a:t> ذات دلالة، وترتبط بواقع التلميذ وتدعوه إلى التساؤل. واستعمالها </a:t>
            </a:r>
            <a:r>
              <a:rPr lang="ar-DZ" sz="2400" b="1" dirty="0" smtClean="0"/>
              <a:t>المبني على النشاط </a:t>
            </a:r>
            <a:r>
              <a:rPr lang="ar-DZ" sz="2400" dirty="0" smtClean="0"/>
              <a:t>يعطي الفرصة للتلميذ لشرح مسعاه، وشرح أفكاره، وتبرير اختياراته  وإيجاد حل للمشكل المطروح الذي يقوده إلى إرساء الموارد</a:t>
            </a:r>
            <a:endParaRPr lang="fr-FR" sz="2400" dirty="0" smtClean="0"/>
          </a:p>
          <a:p>
            <a:pPr marL="342900" marR="0" lvl="0" indent="-342900" algn="r" defTabSz="914400" rtl="1" eaLnBrk="0" fontAlgn="base" latinLnBrk="0" hangingPunct="0">
              <a:lnSpc>
                <a:spcPct val="100000"/>
              </a:lnSpc>
              <a:spcBef>
                <a:spcPct val="20000"/>
              </a:spcBef>
              <a:spcAft>
                <a:spcPct val="0"/>
              </a:spcAft>
              <a:buClrTx/>
              <a:buSzTx/>
              <a:buFont typeface="Arial" charset="0"/>
              <a:buNone/>
              <a:tabLst/>
              <a:defRPr/>
            </a:pPr>
            <a:endParaRPr kumimoji="0" lang="ar-DZ" sz="2400" b="1" i="0" u="none" strike="noStrike" kern="1200" cap="none" spc="0" normalizeH="0" baseline="0" noProof="0" dirty="0" smtClean="0">
              <a:ln>
                <a:noFill/>
              </a:ln>
              <a:solidFill>
                <a:schemeClr val="dk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8313" y="260350"/>
            <a:ext cx="8229600" cy="490538"/>
          </a:xfrm>
          <a:ln/>
        </p:spPr>
        <p:style>
          <a:lnRef idx="1">
            <a:schemeClr val="accent3"/>
          </a:lnRef>
          <a:fillRef idx="2">
            <a:schemeClr val="accent3"/>
          </a:fillRef>
          <a:effectRef idx="1">
            <a:schemeClr val="accent3"/>
          </a:effectRef>
          <a:fontRef idx="minor">
            <a:schemeClr val="dk1"/>
          </a:fontRef>
        </p:style>
        <p:txBody>
          <a:bodyPr rtlCol="0">
            <a:normAutofit fontScale="90000"/>
          </a:bodyPr>
          <a:lstStyle/>
          <a:p>
            <a:pPr rtl="1" eaLnBrk="1" fontAlgn="auto" hangingPunct="1">
              <a:spcAft>
                <a:spcPts val="0"/>
              </a:spcAft>
              <a:defRPr/>
            </a:pPr>
            <a:r>
              <a:rPr lang="ar-DZ" sz="3600" b="1" dirty="0" smtClean="0"/>
              <a:t>وضعيات تعلم الإدماج</a:t>
            </a:r>
            <a:endParaRPr lang="fr-FR" sz="3600" dirty="0" smtClean="0"/>
          </a:p>
        </p:txBody>
      </p:sp>
      <p:sp>
        <p:nvSpPr>
          <p:cNvPr id="6" name="Espace réservé du contenu 3"/>
          <p:cNvSpPr txBox="1">
            <a:spLocks/>
          </p:cNvSpPr>
          <p:nvPr/>
        </p:nvSpPr>
        <p:spPr bwMode="auto">
          <a:xfrm>
            <a:off x="285720" y="1857364"/>
            <a:ext cx="8715436" cy="2857520"/>
          </a:xfrm>
          <a:prstGeom prst="roundRect">
            <a:avLst>
              <a:gd name="adj" fmla="val 33971"/>
            </a:avLst>
          </a:prstGeom>
          <a:ln w="9525" cap="flat" cmpd="sng" algn="ctr">
            <a:solidFill>
              <a:schemeClr val="accent3">
                <a:shade val="95000"/>
                <a:satMod val="105000"/>
              </a:schemeClr>
            </a:solidFill>
            <a:prstDash val="solid"/>
            <a:miter lim="800000"/>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342900" marR="0" lvl="0" indent="-342900" algn="r" defTabSz="914400" rtl="1" eaLnBrk="0" fontAlgn="base" latinLnBrk="0" hangingPunct="0">
              <a:lnSpc>
                <a:spcPct val="100000"/>
              </a:lnSpc>
              <a:spcBef>
                <a:spcPct val="20000"/>
              </a:spcBef>
              <a:spcAft>
                <a:spcPct val="0"/>
              </a:spcAft>
              <a:buClrTx/>
              <a:buSzTx/>
              <a:buFont typeface="Arial" charset="0"/>
              <a:buNone/>
              <a:tabLst/>
              <a:defRPr/>
            </a:pPr>
            <a:endParaRPr kumimoji="0" lang="ar-DZ" sz="2400" b="1" i="0" u="none" strike="noStrike" kern="1200" cap="none" spc="0" normalizeH="0" baseline="0" noProof="0" dirty="0" smtClean="0">
              <a:ln>
                <a:noFill/>
              </a:ln>
              <a:solidFill>
                <a:schemeClr val="dk1"/>
              </a:solidFill>
              <a:effectLst/>
              <a:uLnTx/>
              <a:uFillTx/>
              <a:latin typeface="+mn-lt"/>
              <a:ea typeface="+mn-ea"/>
              <a:cs typeface="+mn-cs"/>
            </a:endParaRPr>
          </a:p>
          <a:p>
            <a:pPr marL="342900" lvl="0" indent="-342900" algn="r" rtl="1" eaLnBrk="0" hangingPunct="0">
              <a:spcBef>
                <a:spcPct val="20000"/>
              </a:spcBef>
            </a:pPr>
            <a:r>
              <a:rPr lang="ar-DZ" sz="2400" dirty="0" smtClean="0"/>
              <a:t>هي وضعية مشكلة مركّبة،تتيح  الفرصة للمتعلم للتدرب على إدماج الموارد  (كفاءات عرضية ومادّية، معارف تقريرية، إجرائية، شرطية، مواقف وتصرّفات) من أجل ربط المعارف التي كانت مجزأة في البداية</a:t>
            </a:r>
            <a:endParaRPr kumimoji="0" lang="ar-DZ" sz="2400" b="1" i="0" u="none" strike="noStrike" kern="1200" cap="none" spc="0" normalizeH="0" baseline="0" noProof="0" dirty="0" smtClean="0">
              <a:ln>
                <a:noFill/>
              </a:ln>
              <a:solidFill>
                <a:schemeClr val="dk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i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260648"/>
            <a:ext cx="8229600" cy="785818"/>
          </a:xfrm>
        </p:spPr>
        <p:txBody>
          <a:bodyPr>
            <a:normAutofit/>
          </a:bodyPr>
          <a:lstStyle/>
          <a:p>
            <a:pPr algn="ctr"/>
            <a:r>
              <a:rPr lang="ar-DZ" sz="3600" b="1" dirty="0" smtClean="0">
                <a:solidFill>
                  <a:srgbClr val="0070C0"/>
                </a:solidFill>
              </a:rPr>
              <a:t>المحاور المشتركة</a:t>
            </a:r>
            <a:r>
              <a:rPr lang="ar-DZ" sz="3600" dirty="0" smtClean="0">
                <a:solidFill>
                  <a:srgbClr val="0070C0"/>
                </a:solidFill>
              </a:rPr>
              <a:t> </a:t>
            </a:r>
            <a:endParaRPr lang="fr-FR" sz="3600" dirty="0">
              <a:solidFill>
                <a:srgbClr val="0070C0"/>
              </a:solidFill>
            </a:endParaRPr>
          </a:p>
        </p:txBody>
      </p:sp>
      <p:sp>
        <p:nvSpPr>
          <p:cNvPr id="4" name="Espace réservé du contenu 3"/>
          <p:cNvSpPr txBox="1">
            <a:spLocks/>
          </p:cNvSpPr>
          <p:nvPr/>
        </p:nvSpPr>
        <p:spPr bwMode="auto">
          <a:xfrm>
            <a:off x="285720" y="1071546"/>
            <a:ext cx="8715436" cy="1709382"/>
          </a:xfrm>
          <a:prstGeom prst="roundRect">
            <a:avLst>
              <a:gd name="adj" fmla="val 33971"/>
            </a:avLst>
          </a:prstGeom>
          <a:ln w="9525" cap="flat" cmpd="sng" algn="ctr">
            <a:solidFill>
              <a:schemeClr val="accent3">
                <a:shade val="95000"/>
                <a:satMod val="105000"/>
              </a:schemeClr>
            </a:solidFill>
            <a:prstDash val="solid"/>
            <a:miter lim="800000"/>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r" rtl="1">
              <a:buNone/>
            </a:pPr>
            <a:r>
              <a:rPr lang="ar-DZ" sz="2400" dirty="0" smtClean="0"/>
              <a:t>إنّ الهدف من هذه المحاور المشتركة هو:</a:t>
            </a:r>
            <a:endParaRPr lang="fr-FR" sz="2400" dirty="0" smtClean="0"/>
          </a:p>
          <a:p>
            <a:pPr algn="r" rtl="1">
              <a:buNone/>
            </a:pPr>
            <a:r>
              <a:rPr lang="ar-DZ" sz="2400" dirty="0" smtClean="0"/>
              <a:t>إدراج موضوعات ذات بعد عالمي من  أجل تنمية القيم التي تعطيها معنى نفعيا وأخلاقيا. فكلّ مادّة تأخذ من هذه المحاور العامّة المواضيع </a:t>
            </a:r>
            <a:r>
              <a:rPr lang="ar-DZ" sz="2400" dirty="0" err="1" smtClean="0"/>
              <a:t>المناسبة.</a:t>
            </a:r>
            <a:r>
              <a:rPr lang="ar-DZ" sz="2400" dirty="0" smtClean="0"/>
              <a:t> </a:t>
            </a:r>
            <a:endParaRPr kumimoji="0" lang="ar-DZ" sz="2400" b="1" i="0" u="none" strike="noStrike" kern="1200" cap="none" spc="0" normalizeH="0" baseline="0" noProof="0" dirty="0" smtClean="0">
              <a:ln>
                <a:noFill/>
              </a:ln>
              <a:solidFill>
                <a:schemeClr val="dk1"/>
              </a:solidFill>
              <a:effectLst/>
              <a:uLnTx/>
              <a:uFillTx/>
              <a:latin typeface="+mn-lt"/>
              <a:ea typeface="+mn-ea"/>
              <a:cs typeface="+mn-cs"/>
            </a:endParaRPr>
          </a:p>
        </p:txBody>
      </p:sp>
      <p:graphicFrame>
        <p:nvGraphicFramePr>
          <p:cNvPr id="5" name="Tableau 4"/>
          <p:cNvGraphicFramePr>
            <a:graphicFrameLocks noGrp="1"/>
          </p:cNvGraphicFramePr>
          <p:nvPr/>
        </p:nvGraphicFramePr>
        <p:xfrm>
          <a:off x="323528" y="2852936"/>
          <a:ext cx="8640960" cy="2377440"/>
        </p:xfrm>
        <a:graphic>
          <a:graphicData uri="http://schemas.openxmlformats.org/drawingml/2006/table">
            <a:tbl>
              <a:tblPr firstRow="1" bandRow="1">
                <a:tableStyleId>{5C22544A-7EE6-4342-B048-85BDC9FD1C3A}</a:tableStyleId>
              </a:tblPr>
              <a:tblGrid>
                <a:gridCol w="2880320"/>
                <a:gridCol w="2880320"/>
                <a:gridCol w="2880320"/>
              </a:tblGrid>
              <a:tr h="370840">
                <a:tc>
                  <a:txBody>
                    <a:bodyPr/>
                    <a:lstStyle/>
                    <a:p>
                      <a:pPr algn="ctr" rtl="1"/>
                      <a:r>
                        <a:rPr lang="ar-DZ" sz="1800" b="1" kern="1200" dirty="0" smtClean="0">
                          <a:solidFill>
                            <a:schemeClr val="tx1"/>
                          </a:solidFill>
                          <a:latin typeface="+mn-lt"/>
                          <a:ea typeface="+mn-ea"/>
                          <a:cs typeface="+mn-cs"/>
                        </a:rPr>
                        <a:t>زاوية تناول الموضوع في مادة علوم الطبيعة والحياة</a:t>
                      </a:r>
                      <a:endParaRPr lang="fr-FR" dirty="0">
                        <a:solidFill>
                          <a:schemeClr val="tx1"/>
                        </a:solidFill>
                      </a:endParaRPr>
                    </a:p>
                  </a:txBody>
                  <a:tcPr/>
                </a:tc>
                <a:tc>
                  <a:txBody>
                    <a:bodyPr/>
                    <a:lstStyle/>
                    <a:p>
                      <a:pPr algn="ctr"/>
                      <a:r>
                        <a:rPr lang="ar-DZ" sz="1800" b="1" kern="1200" dirty="0" smtClean="0">
                          <a:solidFill>
                            <a:schemeClr val="tx1"/>
                          </a:solidFill>
                          <a:latin typeface="+mn-lt"/>
                          <a:ea typeface="+mn-ea"/>
                          <a:cs typeface="+mn-cs"/>
                        </a:rPr>
                        <a:t>المواضيع المشتركة بين المواد</a:t>
                      </a:r>
                      <a:endParaRPr lang="fr-FR" dirty="0">
                        <a:solidFill>
                          <a:schemeClr val="tx1"/>
                        </a:solidFill>
                      </a:endParaRPr>
                    </a:p>
                  </a:txBody>
                  <a:tcPr/>
                </a:tc>
                <a:tc>
                  <a:txBody>
                    <a:bodyPr/>
                    <a:lstStyle/>
                    <a:p>
                      <a:pPr algn="ctr" rtl="1"/>
                      <a:r>
                        <a:rPr lang="ar-DZ" sz="1800" b="1" kern="1200" dirty="0" smtClean="0">
                          <a:solidFill>
                            <a:schemeClr val="tx1"/>
                          </a:solidFill>
                          <a:latin typeface="+mn-lt"/>
                          <a:ea typeface="+mn-ea"/>
                          <a:cs typeface="+mn-cs"/>
                        </a:rPr>
                        <a:t>القيم والكفاءات العرضية</a:t>
                      </a:r>
                      <a:endParaRPr lang="fr-FR" sz="1800" b="1" kern="1200" dirty="0">
                        <a:solidFill>
                          <a:schemeClr val="tx1"/>
                        </a:solidFill>
                        <a:latin typeface="+mn-lt"/>
                        <a:ea typeface="+mn-ea"/>
                        <a:cs typeface="+mn-cs"/>
                      </a:endParaRPr>
                    </a:p>
                  </a:txBody>
                  <a:tcPr/>
                </a:tc>
              </a:tr>
              <a:tr h="3200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ar-DZ" sz="1800" b="1" kern="1200" dirty="0" smtClean="0">
                          <a:solidFill>
                            <a:schemeClr val="dk1"/>
                          </a:solidFill>
                          <a:latin typeface="+mn-lt"/>
                          <a:ea typeface="+mn-ea"/>
                          <a:cs typeface="+mn-cs"/>
                        </a:rPr>
                        <a:t>التلوث</a:t>
                      </a:r>
                      <a:endParaRPr lang="fr-FR" dirty="0"/>
                    </a:p>
                  </a:txBody>
                  <a:tcPr>
                    <a:lnB w="12700" cap="flat" cmpd="sng" algn="ctr">
                      <a:solidFill>
                        <a:schemeClr val="tx1"/>
                      </a:solidFill>
                      <a:prstDash val="solid"/>
                      <a:round/>
                      <a:headEnd type="none" w="med" len="med"/>
                      <a:tailEnd type="none" w="med" len="med"/>
                    </a:lnB>
                  </a:tcPr>
                </a:tc>
                <a:tc rowSpan="2">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ar-DZ" sz="1800" b="1" kern="1200" dirty="0" smtClean="0">
                          <a:solidFill>
                            <a:schemeClr val="dk1"/>
                          </a:solidFill>
                          <a:latin typeface="+mn-lt"/>
                          <a:ea typeface="+mn-ea"/>
                          <a:cs typeface="+mn-cs"/>
                        </a:rPr>
                        <a:t>التنمية المستدامة</a:t>
                      </a:r>
                      <a:endParaRPr lang="fr-FR" sz="1800" kern="1200" dirty="0" smtClean="0">
                        <a:solidFill>
                          <a:schemeClr val="dk1"/>
                        </a:solidFill>
                        <a:latin typeface="+mn-lt"/>
                        <a:ea typeface="+mn-ea"/>
                        <a:cs typeface="+mn-cs"/>
                      </a:endParaRPr>
                    </a:p>
                    <a:p>
                      <a:endParaRPr lang="fr-FR" dirty="0"/>
                    </a:p>
                  </a:txBody>
                  <a:tcPr>
                    <a:lnB w="12700" cap="flat" cmpd="sng" algn="ctr">
                      <a:solidFill>
                        <a:schemeClr val="tx1"/>
                      </a:solidFill>
                      <a:prstDash val="solid"/>
                      <a:round/>
                      <a:headEnd type="none" w="med" len="med"/>
                      <a:tailEnd type="none" w="med" len="med"/>
                    </a:lnB>
                  </a:tcPr>
                </a:tc>
                <a:tc rowSpan="3">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ar-DZ" sz="1800" b="1" kern="1200" dirty="0" smtClean="0">
                          <a:solidFill>
                            <a:schemeClr val="dk1"/>
                          </a:solidFill>
                          <a:latin typeface="+mn-lt"/>
                          <a:ea typeface="+mn-ea"/>
                          <a:cs typeface="+mn-cs"/>
                        </a:rPr>
                        <a:t>التحلي بمواطنة بناءة وبصلات اجتماعية متينة</a:t>
                      </a:r>
                      <a:endParaRPr lang="fr-FR" sz="1800" kern="1200" dirty="0" smtClean="0">
                        <a:solidFill>
                          <a:schemeClr val="dk1"/>
                        </a:solidFill>
                        <a:latin typeface="+mn-lt"/>
                        <a:ea typeface="+mn-ea"/>
                        <a:cs typeface="+mn-cs"/>
                      </a:endParaRPr>
                    </a:p>
                    <a:p>
                      <a:endParaRPr lang="fr-FR" dirty="0"/>
                    </a:p>
                  </a:txBody>
                  <a:tcPr/>
                </a:tc>
              </a:tr>
              <a:tr h="3200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ar-DZ" sz="1800" b="1" kern="1200" dirty="0" smtClean="0">
                          <a:solidFill>
                            <a:schemeClr val="dk1"/>
                          </a:solidFill>
                          <a:latin typeface="+mn-lt"/>
                          <a:ea typeface="+mn-ea"/>
                          <a:cs typeface="+mn-cs"/>
                        </a:rPr>
                        <a:t>الاستغلال العقلاني للثروات الطبيعية</a:t>
                      </a:r>
                      <a:endParaRPr lang="fr-FR" sz="1800" kern="1200" dirty="0" smtClean="0">
                        <a:solidFill>
                          <a:schemeClr val="dk1"/>
                        </a:solidFill>
                        <a:latin typeface="+mn-lt"/>
                        <a:ea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fr-FR" sz="1800" kern="1200" dirty="0" smtClean="0">
                        <a:solidFill>
                          <a:schemeClr val="dk1"/>
                        </a:solidFill>
                        <a:latin typeface="+mn-lt"/>
                        <a:ea typeface="+mn-ea"/>
                        <a:cs typeface="+mn-cs"/>
                      </a:endParaRPr>
                    </a:p>
                    <a:p>
                      <a:endParaRPr lang="fr-FR"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r" rtl="1"/>
                      <a:endParaRPr lang="fr-FR" sz="1800" kern="1200" dirty="0">
                        <a:solidFill>
                          <a:schemeClr val="dk1"/>
                        </a:solidFill>
                        <a:latin typeface="+mn-lt"/>
                        <a:ea typeface="+mn-ea"/>
                        <a:cs typeface="+mn-cs"/>
                      </a:endParaRPr>
                    </a:p>
                  </a:txBody>
                  <a:tcPr>
                    <a:lnT w="12700" cap="flat" cmpd="sng" algn="ctr">
                      <a:solidFill>
                        <a:schemeClr val="tx1"/>
                      </a:solidFill>
                      <a:prstDash val="solid"/>
                      <a:round/>
                      <a:headEnd type="none" w="med" len="med"/>
                      <a:tailEnd type="none" w="med" len="med"/>
                    </a:lnT>
                  </a:tcPr>
                </a:tc>
                <a:tc vMerge="1">
                  <a:txBody>
                    <a:bodyPr/>
                    <a:lstStyle/>
                    <a:p>
                      <a:endParaRPr lang="fr-FR"/>
                    </a:p>
                  </a:txBody>
                  <a:tcPr/>
                </a:tc>
              </a:tr>
              <a:tr h="457200">
                <a:tc>
                  <a:txBody>
                    <a:bodyPr/>
                    <a:lstStyle/>
                    <a:p>
                      <a:pPr algn="r"/>
                      <a:endParaRPr lang="fr-FR" dirty="0"/>
                    </a:p>
                  </a:txBody>
                  <a:tcPr>
                    <a:lnT w="12700" cap="flat" cmpd="sng" algn="ctr">
                      <a:solidFill>
                        <a:schemeClr val="tx1"/>
                      </a:solidFill>
                      <a:prstDash val="solid"/>
                      <a:round/>
                      <a:headEnd type="none" w="med" len="med"/>
                      <a:tailEnd type="none" w="med" len="med"/>
                    </a:lnT>
                  </a:tcPr>
                </a:tc>
                <a:tc>
                  <a:txBody>
                    <a:bodyPr/>
                    <a:lstStyle/>
                    <a:p>
                      <a:endParaRPr lang="fr-FR" dirty="0"/>
                    </a:p>
                  </a:txBody>
                  <a:tcPr>
                    <a:lnT w="12700" cap="flat" cmpd="sng" algn="ctr">
                      <a:solidFill>
                        <a:schemeClr val="tx1"/>
                      </a:solidFill>
                      <a:prstDash val="solid"/>
                      <a:round/>
                      <a:headEnd type="none" w="med" len="med"/>
                      <a:tailEnd type="none" w="med" len="med"/>
                    </a:lnT>
                  </a:tcPr>
                </a:tc>
                <a:tc vMerge="1">
                  <a:txBody>
                    <a:bodyPr/>
                    <a:lstStyle/>
                    <a:p>
                      <a:endParaRPr lang="fr-FR"/>
                    </a:p>
                  </a:txBody>
                  <a:tcPr/>
                </a:tc>
              </a:tr>
            </a:tbl>
          </a:graphicData>
        </a:graphic>
      </p:graphicFrame>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DZ" b="1" dirty="0" smtClean="0">
                <a:solidFill>
                  <a:schemeClr val="tx2"/>
                </a:solidFill>
              </a:rPr>
              <a:t>عائلة الوضعيات</a:t>
            </a:r>
            <a:r>
              <a:rPr lang="ar-DZ" dirty="0" smtClean="0">
                <a:solidFill>
                  <a:schemeClr val="tx2"/>
                </a:solidFill>
              </a:rPr>
              <a:t> </a:t>
            </a:r>
            <a:endParaRPr lang="fr-FR" dirty="0">
              <a:solidFill>
                <a:schemeClr val="tx2"/>
              </a:solidFill>
            </a:endParaRPr>
          </a:p>
        </p:txBody>
      </p:sp>
      <p:sp>
        <p:nvSpPr>
          <p:cNvPr id="4" name="Espace réservé du contenu 3"/>
          <p:cNvSpPr txBox="1">
            <a:spLocks/>
          </p:cNvSpPr>
          <p:nvPr/>
        </p:nvSpPr>
        <p:spPr bwMode="auto">
          <a:xfrm>
            <a:off x="214282" y="1857364"/>
            <a:ext cx="8715436" cy="2428891"/>
          </a:xfrm>
          <a:prstGeom prst="roundRect">
            <a:avLst>
              <a:gd name="adj" fmla="val 33971"/>
            </a:avLst>
          </a:prstGeom>
          <a:ln w="9525" cap="flat" cmpd="sng" algn="ctr">
            <a:solidFill>
              <a:schemeClr val="accent3">
                <a:shade val="95000"/>
                <a:satMod val="105000"/>
              </a:schemeClr>
            </a:solidFill>
            <a:prstDash val="solid"/>
            <a:miter lim="800000"/>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marL="342900" marR="0" lvl="0" indent="-342900" algn="r" defTabSz="914400" rtl="1" eaLnBrk="0" fontAlgn="base" latinLnBrk="0" hangingPunct="0">
              <a:lnSpc>
                <a:spcPct val="100000"/>
              </a:lnSpc>
              <a:spcBef>
                <a:spcPct val="20000"/>
              </a:spcBef>
              <a:spcAft>
                <a:spcPct val="0"/>
              </a:spcAft>
              <a:buClrTx/>
              <a:buSzTx/>
              <a:buFont typeface="Arial" charset="0"/>
              <a:buNone/>
              <a:tabLst/>
              <a:defRPr/>
            </a:pPr>
            <a:endParaRPr kumimoji="0" lang="ar-DZ" sz="2400" b="1" i="0" u="none" strike="noStrike" kern="1200" cap="none" spc="0" normalizeH="0" baseline="0" noProof="0" dirty="0" smtClean="0">
              <a:ln>
                <a:noFill/>
              </a:ln>
              <a:solidFill>
                <a:schemeClr val="dk1"/>
              </a:solidFill>
              <a:effectLst/>
              <a:uLnTx/>
              <a:uFillTx/>
              <a:latin typeface="+mn-lt"/>
              <a:ea typeface="+mn-ea"/>
              <a:cs typeface="+mn-cs"/>
            </a:endParaRPr>
          </a:p>
          <a:p>
            <a:pPr marL="342900" indent="-342900" algn="r" rtl="1" eaLnBrk="0" hangingPunct="0">
              <a:spcBef>
                <a:spcPct val="20000"/>
              </a:spcBef>
            </a:pPr>
            <a:r>
              <a:rPr lang="ar-DZ" sz="2400" dirty="0" smtClean="0"/>
              <a:t>نقصد </a:t>
            </a:r>
            <a:r>
              <a:rPr lang="ar-DZ" sz="2400" dirty="0" err="1" smtClean="0"/>
              <a:t>بها</a:t>
            </a:r>
            <a:r>
              <a:rPr lang="ar-DZ" sz="2400" dirty="0" smtClean="0"/>
              <a:t> مجموعة من الوضعيات لها نفس درجة التعقّد، وترتبط كلّها بنفس الكفاءات. وتُجمع الكفاءات في عائلات من الوضعيات حسب المعالم التي تكوّن الثوابت: العمل المطلوب، الموضوع، نوع السند المقدّم والموارد (معارف، مهارات، </a:t>
            </a:r>
            <a:r>
              <a:rPr lang="ar-DZ" sz="2400" dirty="0" err="1" smtClean="0"/>
              <a:t>سلوكات</a:t>
            </a:r>
            <a:r>
              <a:rPr lang="ar-DZ" sz="2400" dirty="0" smtClean="0"/>
              <a:t>) التي ينبغي تجنيدها (مسعى أو طريقة أو مسار مشترك ...)</a:t>
            </a:r>
            <a:endParaRPr lang="fr-FR" sz="2400" dirty="0" smtClean="0"/>
          </a:p>
          <a:p>
            <a:pPr marL="342900" lvl="0" indent="-342900" algn="r" rtl="1" eaLnBrk="0" hangingPunct="0">
              <a:spcBef>
                <a:spcPct val="20000"/>
              </a:spcBef>
            </a:pPr>
            <a:endParaRPr kumimoji="0" lang="ar-DZ" sz="2400" b="1" i="0" u="none" strike="noStrike" kern="1200" cap="none" spc="0" normalizeH="0" baseline="0" noProof="0" dirty="0" smtClean="0">
              <a:ln>
                <a:noFill/>
              </a:ln>
              <a:solidFill>
                <a:schemeClr val="dk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9886</TotalTime>
  <Words>588</Words>
  <Application>Microsoft Office PowerPoint</Application>
  <PresentationFormat>Affichage à l'écran (4:3)</PresentationFormat>
  <Paragraphs>75</Paragraphs>
  <Slides>12</Slides>
  <Notes>0</Notes>
  <HiddenSlides>0</HiddenSlides>
  <MMClips>0</MMClips>
  <ScaleCrop>false</ScaleCrop>
  <HeadingPairs>
    <vt:vector size="4" baseType="variant">
      <vt:variant>
        <vt:lpstr>Thème</vt:lpstr>
      </vt:variant>
      <vt:variant>
        <vt:i4>1</vt:i4>
      </vt:variant>
      <vt:variant>
        <vt:lpstr>Titres des diapositives</vt:lpstr>
      </vt:variant>
      <vt:variant>
        <vt:i4>12</vt:i4>
      </vt:variant>
    </vt:vector>
  </HeadingPairs>
  <TitlesOfParts>
    <vt:vector size="13" baseType="lpstr">
      <vt:lpstr>Thème Office</vt:lpstr>
      <vt:lpstr>Diapositive 1</vt:lpstr>
      <vt:lpstr>Diapositive 2</vt:lpstr>
      <vt:lpstr>ملمح التخرج </vt:lpstr>
      <vt:lpstr>الكفاءة الشاملة</vt:lpstr>
      <vt:lpstr>Diapositive 5</vt:lpstr>
      <vt:lpstr>المصفوفة المفاهيمية</vt:lpstr>
      <vt:lpstr>الميدان  </vt:lpstr>
      <vt:lpstr>مخطط التعلم السنوي</vt:lpstr>
      <vt:lpstr> الوضعية  المشكلة الشاملة </vt:lpstr>
      <vt:lpstr>وضعيات تعلم الإدماج</vt:lpstr>
      <vt:lpstr>المحاور المشتركة </vt:lpstr>
      <vt:lpstr>عائلة الوضعيات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الجدول المشترك بين المواد للتعليم الثانوي</dc:title>
  <dc:creator>ouarsenis.com</dc:creator>
  <cp:lastModifiedBy>ouarsenis.com</cp:lastModifiedBy>
  <cp:revision>514</cp:revision>
  <dcterms:created xsi:type="dcterms:W3CDTF">2012-04-22T08:03:27Z</dcterms:created>
  <dcterms:modified xsi:type="dcterms:W3CDTF">2016-02-11T18:58:19Z</dcterms:modified>
</cp:coreProperties>
</file>