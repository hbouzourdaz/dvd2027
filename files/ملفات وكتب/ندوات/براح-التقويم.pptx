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53" r:id="rId2"/>
    <p:sldId id="366" r:id="rId3"/>
    <p:sldId id="373" r:id="rId4"/>
    <p:sldId id="370" r:id="rId5"/>
    <p:sldId id="369" r:id="rId6"/>
    <p:sldId id="371" r:id="rId7"/>
    <p:sldId id="372" r:id="rId8"/>
    <p:sldId id="375" r:id="rId9"/>
    <p:sldId id="376" r:id="rId10"/>
    <p:sldId id="332" r:id="rId11"/>
    <p:sldId id="407" r:id="rId12"/>
    <p:sldId id="364" r:id="rId13"/>
    <p:sldId id="336" r:id="rId14"/>
    <p:sldId id="337" r:id="rId15"/>
    <p:sldId id="363" r:id="rId16"/>
    <p:sldId id="365" r:id="rId17"/>
    <p:sldId id="402" r:id="rId18"/>
    <p:sldId id="403" r:id="rId19"/>
    <p:sldId id="405" r:id="rId20"/>
    <p:sldId id="406" r:id="rId21"/>
    <p:sldId id="404" r:id="rId22"/>
    <p:sldId id="394" r:id="rId23"/>
    <p:sldId id="395" r:id="rId24"/>
    <p:sldId id="358" r:id="rId25"/>
    <p:sldId id="377" r:id="rId26"/>
    <p:sldId id="283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8926" autoAdjust="0"/>
    <p:restoredTop sz="89601" autoAdjust="0"/>
  </p:normalViewPr>
  <p:slideViewPr>
    <p:cSldViewPr>
      <p:cViewPr varScale="1">
        <p:scale>
          <a:sx n="74" d="100"/>
          <a:sy n="74" d="100"/>
        </p:scale>
        <p:origin x="6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642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AC245-F274-4FCB-B138-B6399FF20173}" type="datetimeFigureOut">
              <a:rPr lang="fr-FR" smtClean="0"/>
              <a:pPr/>
              <a:t>02/08/2020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01FBA-870A-4585-AB58-FF3ED4B3A81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513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813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01FBA-870A-4585-AB58-FF3ED4B3A81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689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2F3F0-6400-4555-BDCD-671FE8298CB2}" type="datetime1">
              <a:rPr lang="fr-FR" smtClean="0"/>
              <a:t>02/08/2020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8E45F-08F0-4920-9D90-DC767D54FD96}" type="datetime1">
              <a:rPr lang="fr-FR" smtClean="0"/>
              <a:t>02/08/2020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796A6-0137-4E40-862F-2BD1EA74A6B9}" type="datetime1">
              <a:rPr lang="fr-FR" smtClean="0"/>
              <a:t>02/08/2020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BACAB-B388-4CA0-A151-2BA61CA0CBBD}" type="datetime1">
              <a:rPr lang="fr-FR" smtClean="0"/>
              <a:t>02/08/2020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B65F-450A-4669-AA96-1C7A5027B2C2}" type="datetime1">
              <a:rPr lang="fr-FR" smtClean="0"/>
              <a:t>02/08/2020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4A2E9-ED19-4BC3-8EA6-993357CCD113}" type="datetime1">
              <a:rPr lang="fr-FR" smtClean="0"/>
              <a:t>02/08/2020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89F28-5B8F-42D0-A0FD-1B012A726643}" type="datetime1">
              <a:rPr lang="fr-FR" smtClean="0"/>
              <a:t>02/08/2020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14974-E7D4-44AD-A7D2-70F63A385D3B}" type="datetime1">
              <a:rPr lang="fr-FR" smtClean="0"/>
              <a:t>02/08/2020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90579-2C60-4658-A1CC-EA7CF0964EB5}" type="datetime1">
              <a:rPr lang="fr-FR" smtClean="0"/>
              <a:t>02/08/2020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BEB6E-AF24-421A-99CA-A92D5394D11E}" type="datetime1">
              <a:rPr lang="fr-FR" smtClean="0"/>
              <a:t>02/08/2020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3AFC7-C358-4948-B78D-DDF6F4FD78F3}" type="datetime1">
              <a:rPr lang="fr-FR" smtClean="0"/>
              <a:t>02/08/2020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0996-0A3E-4D40-8788-BDD0C4C06141}" type="datetime1">
              <a:rPr lang="fr-FR" smtClean="0"/>
              <a:t>02/08/2020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5576" y="908720"/>
            <a:ext cx="7772400" cy="115197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ar-DZ" sz="3600" b="1" dirty="0" smtClean="0">
                <a:solidFill>
                  <a:srgbClr val="0070C0"/>
                </a:solidFill>
              </a:rPr>
              <a:t/>
            </a:r>
            <a:br>
              <a:rPr lang="ar-DZ" sz="3600" b="1" dirty="0" smtClean="0">
                <a:solidFill>
                  <a:srgbClr val="0070C0"/>
                </a:solidFill>
              </a:rPr>
            </a:br>
            <a:r>
              <a:rPr lang="ar-DZ" b="1" dirty="0" smtClean="0">
                <a:solidFill>
                  <a:srgbClr val="0070C0"/>
                </a:solidFill>
              </a:rPr>
              <a:t>وزارة التربية الوطنية</a:t>
            </a:r>
            <a:r>
              <a:rPr lang="ar-DZ" sz="3600" b="1" dirty="0" smtClean="0">
                <a:solidFill>
                  <a:srgbClr val="0070C0"/>
                </a:solidFill>
              </a:rPr>
              <a:t/>
            </a:r>
            <a:br>
              <a:rPr lang="ar-DZ" sz="3600" b="1" dirty="0" smtClean="0">
                <a:solidFill>
                  <a:srgbClr val="0070C0"/>
                </a:solidFill>
              </a:rPr>
            </a:br>
            <a:r>
              <a:rPr lang="ar-DZ" b="1" dirty="0" smtClean="0">
                <a:solidFill>
                  <a:srgbClr val="0070C0"/>
                </a:solidFill>
              </a:rPr>
              <a:t>اللجنة الوطنية للمناهج</a:t>
            </a:r>
            <a:r>
              <a:rPr lang="ar-DZ" sz="3600" b="1" dirty="0" smtClean="0">
                <a:solidFill>
                  <a:srgbClr val="0070C0"/>
                </a:solidFill>
              </a:rPr>
              <a:t/>
            </a:r>
            <a:br>
              <a:rPr lang="ar-DZ" sz="3600" b="1" dirty="0" smtClean="0">
                <a:solidFill>
                  <a:srgbClr val="0070C0"/>
                </a:solidFill>
              </a:rPr>
            </a:br>
            <a:r>
              <a:rPr lang="ar-DZ" sz="3600" b="1" dirty="0" smtClean="0">
                <a:solidFill>
                  <a:srgbClr val="0070C0"/>
                </a:solidFill>
              </a:rPr>
              <a:t/>
            </a:r>
            <a:br>
              <a:rPr lang="ar-DZ" sz="3600" b="1" dirty="0" smtClean="0">
                <a:solidFill>
                  <a:srgbClr val="0070C0"/>
                </a:solidFill>
              </a:rPr>
            </a:b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3568" y="2204864"/>
            <a:ext cx="7751762" cy="3456384"/>
          </a:xfrm>
        </p:spPr>
        <p:txBody>
          <a:bodyPr>
            <a:normAutofit fontScale="70000" lnSpcReduction="20000"/>
          </a:bodyPr>
          <a:lstStyle/>
          <a:p>
            <a:pPr rtl="1">
              <a:buFont typeface="Wingdings" pitchFamily="2" charset="2"/>
              <a:buNone/>
              <a:defRPr/>
            </a:pPr>
            <a:endParaRPr lang="ar-DZ" sz="4400" dirty="0" smtClean="0">
              <a:latin typeface="Times New Roman" pitchFamily="18" charset="0"/>
            </a:endParaRPr>
          </a:p>
          <a:p>
            <a:pPr rtl="1">
              <a:buFont typeface="Wingdings" pitchFamily="2" charset="2"/>
              <a:buNone/>
              <a:defRPr/>
            </a:pPr>
            <a:r>
              <a:rPr lang="ar-DZ" sz="5800" b="1" dirty="0" smtClean="0">
                <a:solidFill>
                  <a:schemeClr val="tx1"/>
                </a:solidFill>
                <a:latin typeface="Times New Roman" pitchFamily="18" charset="0"/>
              </a:rPr>
              <a:t>كيفية تطبيق التقويم في مناهج الجيل الثاني</a:t>
            </a:r>
          </a:p>
          <a:p>
            <a:pPr rtl="1">
              <a:buFont typeface="Wingdings" pitchFamily="2" charset="2"/>
              <a:buNone/>
              <a:defRPr/>
            </a:pPr>
            <a:r>
              <a:rPr lang="ar-DZ" sz="4600" b="1" dirty="0" smtClean="0">
                <a:solidFill>
                  <a:srgbClr val="FF0000"/>
                </a:solidFill>
                <a:latin typeface="Times New Roman" pitchFamily="18" charset="0"/>
              </a:rPr>
              <a:t>(من طرف الأستاذ عبد العزيز براح </a:t>
            </a:r>
          </a:p>
          <a:p>
            <a:pPr rtl="1">
              <a:buFont typeface="Wingdings" pitchFamily="2" charset="2"/>
              <a:buNone/>
              <a:defRPr/>
            </a:pPr>
            <a:r>
              <a:rPr lang="ar-DZ" sz="4600" b="1" dirty="0" smtClean="0">
                <a:solidFill>
                  <a:srgbClr val="FF0000"/>
                </a:solidFill>
                <a:latin typeface="Times New Roman" pitchFamily="18" charset="0"/>
              </a:rPr>
              <a:t>أستاذ تعليمية الفيزياء في المدرسة العليا للأساتذة القبة</a:t>
            </a:r>
          </a:p>
          <a:p>
            <a:pPr rtl="1">
              <a:buFont typeface="Wingdings" pitchFamily="2" charset="2"/>
              <a:buNone/>
              <a:defRPr/>
            </a:pPr>
            <a:r>
              <a:rPr lang="ar-DZ" sz="4600" b="1" dirty="0" smtClean="0">
                <a:solidFill>
                  <a:srgbClr val="FF0000"/>
                </a:solidFill>
                <a:latin typeface="Times New Roman" pitchFamily="18" charset="0"/>
              </a:rPr>
              <a:t>عضو اللجنة الوطنية للمناهج</a:t>
            </a:r>
            <a:r>
              <a:rPr lang="ar-DZ" sz="4600" b="1" dirty="0" err="1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r>
              <a:rPr lang="ar-DZ" sz="4600" b="1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</a:t>
            </a:fld>
            <a:endParaRPr lang="fr-BE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911225" y="0"/>
            <a:ext cx="7772400" cy="685800"/>
          </a:xfrm>
        </p:spPr>
        <p:txBody>
          <a:bodyPr/>
          <a:lstStyle/>
          <a:p>
            <a:pPr algn="ctr" rtl="1">
              <a:defRPr/>
            </a:pPr>
            <a:r>
              <a:rPr lang="ar-DZ" sz="3600" b="1" dirty="0" err="1" smtClean="0"/>
              <a:t>اقتراح </a:t>
            </a:r>
            <a:r>
              <a:rPr lang="ar-DZ" sz="3600" b="1" dirty="0" smtClean="0"/>
              <a:t>”مقطع“ حول التقويم في </a:t>
            </a:r>
            <a:r>
              <a:rPr lang="fr-FR" sz="2400" b="1" dirty="0" smtClean="0"/>
              <a:t>P2G</a:t>
            </a:r>
            <a:endParaRPr lang="fr-FR" b="1" kern="1200" dirty="0">
              <a:latin typeface="Arial" charset="0"/>
              <a:ea typeface="+mn-ea"/>
              <a:cs typeface="+mn-cs"/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293688" y="717550"/>
            <a:ext cx="8431212" cy="5303838"/>
          </a:xfrm>
        </p:spPr>
        <p:txBody>
          <a:bodyPr>
            <a:normAutofit fontScale="92500" lnSpcReduction="20000"/>
          </a:bodyPr>
          <a:lstStyle/>
          <a:p>
            <a:pPr algn="r" rtl="1">
              <a:spcBef>
                <a:spcPts val="0"/>
              </a:spcBef>
              <a:buNone/>
              <a:defRPr/>
            </a:pPr>
            <a:r>
              <a:rPr lang="ar-DZ" sz="6000" b="1" u="sng" dirty="0" smtClean="0">
                <a:solidFill>
                  <a:srgbClr val="C00000"/>
                </a:solidFill>
              </a:rPr>
              <a:t>1.الوضعية </a:t>
            </a:r>
            <a:r>
              <a:rPr lang="ar-DZ" sz="6000" b="1" u="sng" dirty="0" err="1" smtClean="0">
                <a:solidFill>
                  <a:srgbClr val="C00000"/>
                </a:solidFill>
              </a:rPr>
              <a:t>المشكلة </a:t>
            </a:r>
            <a:r>
              <a:rPr lang="ar-DZ" sz="6000" b="1" u="sng" dirty="0" smtClean="0">
                <a:solidFill>
                  <a:srgbClr val="C00000"/>
                </a:solidFill>
              </a:rPr>
              <a:t>”الأم“ حول التقويم.</a:t>
            </a:r>
            <a:endParaRPr lang="ar-DZ" sz="4000" b="1" dirty="0" smtClean="0">
              <a:solidFill>
                <a:srgbClr val="7030A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4200" dirty="0" smtClean="0">
              <a:solidFill>
                <a:srgbClr val="0070C0"/>
              </a:solidFill>
            </a:endParaRPr>
          </a:p>
          <a:p>
            <a:pPr algn="r" rtl="1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ar-DZ" sz="4000" b="1" dirty="0" smtClean="0">
                <a:solidFill>
                  <a:srgbClr val="0070C0"/>
                </a:solidFill>
              </a:rPr>
              <a:t>في نهاية السنة الدراسية يجب على الفرقة التربوية تحديد مستوى تحقيق الكفاءة </a:t>
            </a:r>
            <a:r>
              <a:rPr lang="ar-DZ" sz="3400" b="1" dirty="0" smtClean="0">
                <a:solidFill>
                  <a:srgbClr val="0070C0"/>
                </a:solidFill>
              </a:rPr>
              <a:t>الشاملة</a:t>
            </a:r>
            <a:r>
              <a:rPr lang="ar-DZ" sz="2900" b="1" dirty="0" smtClean="0">
                <a:solidFill>
                  <a:srgbClr val="0070C0"/>
                </a:solidFill>
              </a:rPr>
              <a:t> عند المتعلم مع </a:t>
            </a:r>
            <a:r>
              <a:rPr lang="ar-DZ" sz="4000" b="1" dirty="0" smtClean="0">
                <a:solidFill>
                  <a:srgbClr val="0070C0"/>
                </a:solidFill>
              </a:rPr>
              <a:t>ابراز درجة </a:t>
            </a:r>
            <a:r>
              <a:rPr lang="ar-DZ" sz="3400" b="1" dirty="0" smtClean="0">
                <a:solidFill>
                  <a:srgbClr val="0070C0"/>
                </a:solidFill>
              </a:rPr>
              <a:t>نمو عناصرها أي الكفاءات الختامية في مختلف الميادين وبكل مركباتها (المعرفية،المنهجية والسلوكية) ثم أخذ القرار المبرر حول انتقال المتعلم الى السنة التالية.</a:t>
            </a:r>
          </a:p>
          <a:p>
            <a:pPr algn="r" rtl="1">
              <a:spcBef>
                <a:spcPts val="0"/>
              </a:spcBef>
              <a:buFont typeface="Wingdings" pitchFamily="2" charset="2"/>
              <a:buChar char="Ø"/>
              <a:defRPr/>
            </a:pPr>
            <a:r>
              <a:rPr lang="ar-DZ" sz="3400" b="1" dirty="0" smtClean="0">
                <a:solidFill>
                  <a:srgbClr val="0070C0"/>
                </a:solidFill>
              </a:rPr>
              <a:t>حدد ما هي مختلف المراحل والوسائل التي تسمح للمعلم لبلوغ الهدف في أحسن الظروف التربوية.</a:t>
            </a:r>
          </a:p>
          <a:p>
            <a:pPr lvl="1" algn="r" rtl="1">
              <a:spcBef>
                <a:spcPts val="0"/>
              </a:spcBef>
              <a:buFont typeface="Wingdings" pitchFamily="2" charset="2"/>
              <a:buChar char="Ø"/>
              <a:defRPr/>
            </a:pPr>
            <a:endParaRPr lang="ar-DZ" sz="3000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buNone/>
              <a:defRPr/>
            </a:pPr>
            <a:endParaRPr lang="fr-FR" sz="5100" b="1" u="sng" dirty="0" smtClean="0">
              <a:solidFill>
                <a:srgbClr val="C00000"/>
              </a:solidFill>
            </a:endParaRPr>
          </a:p>
          <a:p>
            <a:pPr algn="r" rtl="1">
              <a:buNone/>
              <a:defRPr/>
            </a:pPr>
            <a:endParaRPr lang="ar-DZ" sz="2600" b="1" dirty="0" smtClean="0"/>
          </a:p>
          <a:p>
            <a:pPr algn="r" rtl="1">
              <a:buNone/>
              <a:defRPr/>
            </a:pPr>
            <a:endParaRPr lang="ar-DZ" dirty="0" smtClean="0">
              <a:solidFill>
                <a:srgbClr val="C00000"/>
              </a:solidFill>
            </a:endParaRPr>
          </a:p>
          <a:p>
            <a:pPr algn="r" rtl="1">
              <a:defRPr/>
            </a:pPr>
            <a:endParaRPr lang="ar-DZ" dirty="0" smtClean="0">
              <a:solidFill>
                <a:srgbClr val="C00000"/>
              </a:solidFill>
            </a:endParaRPr>
          </a:p>
          <a:p>
            <a:pPr algn="r" rtl="1">
              <a:defRPr/>
            </a:pPr>
            <a:endParaRPr lang="fr-FR" dirty="0" smtClean="0">
              <a:solidFill>
                <a:srgbClr val="C00000"/>
              </a:solidFill>
            </a:endParaRPr>
          </a:p>
          <a:p>
            <a:pPr algn="r" rtl="1">
              <a:buFont typeface="Wingdings" pitchFamily="2" charset="2"/>
              <a:buNone/>
              <a:defRPr/>
            </a:pPr>
            <a:endParaRPr lang="ar-DZ" dirty="0" smtClean="0">
              <a:solidFill>
                <a:schemeClr val="bg2"/>
              </a:solidFill>
            </a:endParaRPr>
          </a:p>
          <a:p>
            <a:pPr algn="r" rtl="1">
              <a:defRPr/>
            </a:pPr>
            <a:endParaRPr lang="fr-FR" dirty="0" smtClean="0">
              <a:solidFill>
                <a:schemeClr val="bg2"/>
              </a:solidFill>
            </a:endParaRPr>
          </a:p>
          <a:p>
            <a:pPr algn="r" rtl="1">
              <a:defRPr/>
            </a:pPr>
            <a:endParaRPr lang="fr-FR" sz="4400" dirty="0" err="1" smtClean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ar-DZ" b="1" dirty="0" smtClean="0">
                <a:solidFill>
                  <a:srgbClr val="C00000"/>
                </a:solidFill>
              </a:rPr>
              <a:t>التقويم في المقاربة بالكفاءات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5733256"/>
          </a:xfrm>
        </p:spPr>
        <p:txBody>
          <a:bodyPr>
            <a:normAutofit/>
          </a:bodyPr>
          <a:lstStyle/>
          <a:p>
            <a:pPr algn="r" rtl="1">
              <a:buFont typeface="Wingdings" pitchFamily="2" charset="2"/>
              <a:buChar char="§"/>
            </a:pPr>
            <a:r>
              <a:rPr lang="ar-SA" b="1" dirty="0" smtClean="0">
                <a:solidFill>
                  <a:srgbClr val="C00000"/>
                </a:solidFill>
              </a:rPr>
              <a:t>نظام التقويم </a:t>
            </a:r>
            <a:r>
              <a:rPr lang="ar-DZ" b="1" dirty="0" smtClean="0">
                <a:solidFill>
                  <a:srgbClr val="C00000"/>
                </a:solidFill>
              </a:rPr>
              <a:t>في المقاربة بالكفاءات ذو ثلاث </a:t>
            </a:r>
            <a:r>
              <a:rPr lang="ar-DZ" b="1" dirty="0" err="1" smtClean="0">
                <a:solidFill>
                  <a:srgbClr val="C00000"/>
                </a:solidFill>
              </a:rPr>
              <a:t>مركبات :</a:t>
            </a:r>
            <a:endParaRPr lang="ar-DZ" b="1" dirty="0" smtClean="0"/>
          </a:p>
          <a:p>
            <a:pPr lvl="1" algn="r" rtl="1">
              <a:buFont typeface="Wingdings" pitchFamily="2" charset="2"/>
              <a:buChar char="v"/>
            </a:pPr>
            <a:r>
              <a:rPr lang="ar-DZ" b="1" dirty="0" err="1" smtClean="0">
                <a:solidFill>
                  <a:srgbClr val="0070C0"/>
                </a:solidFill>
              </a:rPr>
              <a:t>التشخيصي</a:t>
            </a:r>
            <a:r>
              <a:rPr lang="ar-DZ" b="1" dirty="0" err="1" smtClean="0"/>
              <a:t>،</a:t>
            </a:r>
            <a:endParaRPr lang="ar-DZ" b="1" dirty="0" smtClean="0"/>
          </a:p>
          <a:p>
            <a:pPr lvl="1" algn="r" rtl="1">
              <a:buFont typeface="Wingdings" pitchFamily="2" charset="2"/>
              <a:buChar char="v"/>
            </a:pPr>
            <a:r>
              <a:rPr lang="ar-DZ" b="1" dirty="0" smtClean="0"/>
              <a:t> </a:t>
            </a:r>
            <a:r>
              <a:rPr lang="ar-DZ" b="1" dirty="0" err="1" smtClean="0">
                <a:solidFill>
                  <a:srgbClr val="C00000"/>
                </a:solidFill>
              </a:rPr>
              <a:t>التكويني</a:t>
            </a:r>
            <a:r>
              <a:rPr lang="ar-DZ" b="1" dirty="0" err="1" smtClean="0"/>
              <a:t>،</a:t>
            </a:r>
            <a:r>
              <a:rPr lang="ar-DZ" b="1" dirty="0" smtClean="0"/>
              <a:t> 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b="1" dirty="0" smtClean="0">
                <a:solidFill>
                  <a:srgbClr val="002060"/>
                </a:solidFill>
              </a:rPr>
              <a:t>الإشهادي أو النهائي</a:t>
            </a:r>
            <a:endParaRPr lang="fr-FR" b="1" dirty="0" smtClean="0">
              <a:solidFill>
                <a:srgbClr val="00206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2800" b="1" dirty="0" smtClean="0"/>
              <a:t>ارتباط متين بين أنماط التعلّم وأنماط التقويم.</a:t>
            </a:r>
            <a:endParaRPr lang="ar-DZ" sz="1900" b="1" dirty="0" smtClean="0">
              <a:solidFill>
                <a:srgbClr val="C0000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2400" b="1" dirty="0" smtClean="0">
                <a:solidFill>
                  <a:srgbClr val="C00000"/>
                </a:solidFill>
              </a:rPr>
              <a:t>و</a:t>
            </a:r>
            <a:r>
              <a:rPr lang="ar-SA" sz="2400" b="1" dirty="0" smtClean="0">
                <a:solidFill>
                  <a:srgbClr val="C00000"/>
                </a:solidFill>
              </a:rPr>
              <a:t>نظام التقويم </a:t>
            </a:r>
            <a:r>
              <a:rPr lang="ar-DZ" sz="2400" b="1" dirty="0" smtClean="0">
                <a:solidFill>
                  <a:srgbClr val="C00000"/>
                </a:solidFill>
              </a:rPr>
              <a:t>في المقاربة بالكفاءات ذو ثلاثة أبعاد </a:t>
            </a:r>
            <a:r>
              <a:rPr lang="ar-SA" sz="2400" b="1" dirty="0" err="1" smtClean="0">
                <a:solidFill>
                  <a:srgbClr val="C00000"/>
                </a:solidFill>
              </a:rPr>
              <a:t>:</a:t>
            </a:r>
            <a:endParaRPr lang="fr-FR" sz="2400" b="1" dirty="0" smtClean="0">
              <a:solidFill>
                <a:srgbClr val="C00000"/>
              </a:solidFill>
            </a:endParaRPr>
          </a:p>
          <a:p>
            <a:pPr lvl="1" algn="r" rtl="1">
              <a:buFont typeface="Wingdings" pitchFamily="2" charset="2"/>
              <a:buChar char="v"/>
            </a:pPr>
            <a:r>
              <a:rPr lang="ar-SA" sz="2400" b="1" dirty="0" smtClean="0">
                <a:solidFill>
                  <a:srgbClr val="C00000"/>
                </a:solidFill>
              </a:rPr>
              <a:t>تقويم مدى اكتساب الموارد </a:t>
            </a:r>
            <a:r>
              <a:rPr lang="fr-FR" sz="2400" b="1" dirty="0" smtClean="0">
                <a:solidFill>
                  <a:srgbClr val="C00000"/>
                </a:solidFill>
              </a:rPr>
              <a:t>)</a:t>
            </a:r>
            <a:r>
              <a:rPr lang="ar-DZ" sz="2400" b="1" dirty="0" smtClean="0">
                <a:solidFill>
                  <a:srgbClr val="C00000"/>
                </a:solidFill>
              </a:rPr>
              <a:t>تقويم تكويني </a:t>
            </a:r>
            <a:r>
              <a:rPr lang="ar-DZ" sz="2400" b="1" dirty="0" err="1" smtClean="0">
                <a:solidFill>
                  <a:srgbClr val="C00000"/>
                </a:solidFill>
              </a:rPr>
              <a:t>اثناء</a:t>
            </a:r>
            <a:r>
              <a:rPr lang="ar-DZ" sz="2400" b="1" dirty="0" smtClean="0">
                <a:solidFill>
                  <a:srgbClr val="C00000"/>
                </a:solidFill>
              </a:rPr>
              <a:t>  -و-جزئية)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sz="2400" b="1" dirty="0" smtClean="0">
                <a:solidFill>
                  <a:srgbClr val="C00000"/>
                </a:solidFill>
              </a:rPr>
              <a:t>ت</a:t>
            </a:r>
            <a:r>
              <a:rPr lang="ar-SA" sz="2400" b="1" dirty="0" smtClean="0">
                <a:solidFill>
                  <a:srgbClr val="C00000"/>
                </a:solidFill>
              </a:rPr>
              <a:t>قويم الكفاءات العرضية</a:t>
            </a:r>
            <a:r>
              <a:rPr lang="ar-DZ" sz="2400" b="1" dirty="0" smtClean="0">
                <a:solidFill>
                  <a:srgbClr val="C00000"/>
                </a:solidFill>
              </a:rPr>
              <a:t> و</a:t>
            </a:r>
            <a:r>
              <a:rPr lang="ar-SA" sz="2400" b="1" dirty="0" smtClean="0">
                <a:solidFill>
                  <a:srgbClr val="C00000"/>
                </a:solidFill>
              </a:rPr>
              <a:t>مدى </a:t>
            </a:r>
            <a:r>
              <a:rPr lang="ar-DZ" sz="2400" b="1" dirty="0" smtClean="0">
                <a:solidFill>
                  <a:srgbClr val="C00000"/>
                </a:solidFill>
              </a:rPr>
              <a:t>ا</a:t>
            </a:r>
            <a:r>
              <a:rPr lang="ar-SA" sz="2400" b="1" dirty="0" smtClean="0">
                <a:solidFill>
                  <a:srgbClr val="C00000"/>
                </a:solidFill>
              </a:rPr>
              <a:t>لتحكّم في</a:t>
            </a:r>
            <a:r>
              <a:rPr lang="ar-DZ" sz="2400" b="1" dirty="0" smtClean="0">
                <a:solidFill>
                  <a:srgbClr val="C00000"/>
                </a:solidFill>
              </a:rPr>
              <a:t> توظيف الموارد السابقة( كل  م)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SA" sz="2400" b="1" dirty="0" smtClean="0">
                <a:solidFill>
                  <a:srgbClr val="C00000"/>
                </a:solidFill>
              </a:rPr>
              <a:t>تقويم</a:t>
            </a:r>
            <a:r>
              <a:rPr lang="ar-DZ" sz="2400" b="1" dirty="0" smtClean="0">
                <a:solidFill>
                  <a:srgbClr val="C00000"/>
                </a:solidFill>
              </a:rPr>
              <a:t> </a:t>
            </a:r>
            <a:r>
              <a:rPr lang="ar-SA" sz="2400" b="1" dirty="0" smtClean="0">
                <a:solidFill>
                  <a:srgbClr val="C00000"/>
                </a:solidFill>
              </a:rPr>
              <a:t>مدى اكتساب </a:t>
            </a:r>
            <a:r>
              <a:rPr lang="ar-DZ" sz="2400" b="1" dirty="0" smtClean="0">
                <a:solidFill>
                  <a:srgbClr val="C00000"/>
                </a:solidFill>
              </a:rPr>
              <a:t> ونمو </a:t>
            </a:r>
            <a:r>
              <a:rPr lang="ar-DZ" sz="2400" b="1" dirty="0" err="1" smtClean="0">
                <a:solidFill>
                  <a:srgbClr val="C00000"/>
                </a:solidFill>
              </a:rPr>
              <a:t>سلوكات</a:t>
            </a:r>
            <a:r>
              <a:rPr lang="ar-DZ" sz="2400" b="1" dirty="0" smtClean="0">
                <a:solidFill>
                  <a:srgbClr val="C00000"/>
                </a:solidFill>
              </a:rPr>
              <a:t> بناءة وقيم .(</a:t>
            </a:r>
            <a:r>
              <a:rPr lang="ar-DZ" sz="2400" b="1" dirty="0" err="1" smtClean="0">
                <a:solidFill>
                  <a:srgbClr val="C00000"/>
                </a:solidFill>
              </a:rPr>
              <a:t>اد</a:t>
            </a:r>
            <a:r>
              <a:rPr lang="ar-DZ" sz="2400" b="1" dirty="0" smtClean="0">
                <a:solidFill>
                  <a:srgbClr val="C00000"/>
                </a:solidFill>
              </a:rPr>
              <a:t>)و (و  الأم)</a:t>
            </a:r>
          </a:p>
          <a:p>
            <a:pPr lvl="1" algn="r" rtl="1">
              <a:buNone/>
            </a:pPr>
            <a:endParaRPr lang="fr-FR" sz="2400" b="1" dirty="0" smtClean="0">
              <a:solidFill>
                <a:srgbClr val="C00000"/>
              </a:solidFill>
            </a:endParaRPr>
          </a:p>
          <a:p>
            <a:pPr algn="r" rtl="1">
              <a:lnSpc>
                <a:spcPct val="90000"/>
              </a:lnSpc>
            </a:pPr>
            <a:endParaRPr lang="fr-FR" sz="2400" b="1" dirty="0" smtClean="0">
              <a:solidFill>
                <a:srgbClr val="002060"/>
              </a:solidFill>
            </a:endParaRPr>
          </a:p>
          <a:p>
            <a:pPr algn="r" rtl="1"/>
            <a:endParaRPr lang="fr-FR" sz="2000" b="1" dirty="0" smtClean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pPr rtl="1"/>
            <a:r>
              <a:rPr lang="fr-FR" dirty="0" smtClean="0"/>
              <a:t> </a:t>
            </a:r>
            <a:r>
              <a:rPr lang="ar-DZ" b="1" dirty="0" smtClean="0"/>
              <a:t>أهم تطورات</a:t>
            </a:r>
            <a:r>
              <a:rPr lang="en-US" b="1" dirty="0" smtClean="0"/>
              <a:t> </a:t>
            </a:r>
            <a:r>
              <a:rPr lang="ar-DZ" b="1" dirty="0" smtClean="0"/>
              <a:t>مناهج الجيل الثاني</a:t>
            </a:r>
            <a:endParaRPr lang="fr-FR" b="1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467544" y="980728"/>
            <a:ext cx="4040188" cy="639762"/>
          </a:xfrm>
        </p:spPr>
        <p:txBody>
          <a:bodyPr>
            <a:normAutofit/>
          </a:bodyPr>
          <a:lstStyle/>
          <a:p>
            <a:pPr algn="ctr"/>
            <a:r>
              <a:rPr lang="fr-FR" sz="2800" dirty="0" smtClean="0">
                <a:solidFill>
                  <a:srgbClr val="C00000"/>
                </a:solidFill>
              </a:rPr>
              <a:t>P2G</a:t>
            </a:r>
            <a:r>
              <a:rPr lang="ar-DZ" sz="2800" dirty="0" smtClean="0">
                <a:solidFill>
                  <a:srgbClr val="C00000"/>
                </a:solidFill>
              </a:rPr>
              <a:t> مناهج الجيل الثاني </a:t>
            </a:r>
            <a:endParaRPr lang="fr-FR" sz="2800" dirty="0">
              <a:solidFill>
                <a:srgbClr val="C00000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2"/>
          </p:nvPr>
        </p:nvSpPr>
        <p:spPr>
          <a:xfrm>
            <a:off x="251520" y="1628800"/>
            <a:ext cx="4184204" cy="4608512"/>
          </a:xfrm>
        </p:spPr>
        <p:txBody>
          <a:bodyPr>
            <a:normAutofit fontScale="40000" lnSpcReduction="20000"/>
          </a:bodyPr>
          <a:lstStyle/>
          <a:p>
            <a:pPr algn="r" rtl="1"/>
            <a:r>
              <a:rPr lang="ar-DZ" sz="5500" b="1" u="sng" dirty="0" smtClean="0"/>
              <a:t>1 المقاربة بالكفاءات</a:t>
            </a:r>
          </a:p>
          <a:p>
            <a:pPr algn="r" rtl="1"/>
            <a:r>
              <a:rPr lang="ar-DZ" sz="4500" b="1" dirty="0" smtClean="0">
                <a:solidFill>
                  <a:srgbClr val="C00000"/>
                </a:solidFill>
              </a:rPr>
              <a:t>الكفاءة الشاملة هدف كل </a:t>
            </a:r>
            <a:r>
              <a:rPr lang="ar-DZ" sz="4500" b="1" dirty="0" err="1" smtClean="0">
                <a:solidFill>
                  <a:srgbClr val="C00000"/>
                </a:solidFill>
              </a:rPr>
              <a:t>التعلمات</a:t>
            </a:r>
            <a:endParaRPr lang="ar-DZ" sz="4500" b="1" dirty="0" smtClean="0">
              <a:solidFill>
                <a:srgbClr val="C00000"/>
              </a:solidFill>
            </a:endParaRPr>
          </a:p>
          <a:p>
            <a:pPr algn="r" rtl="1"/>
            <a:r>
              <a:rPr lang="ar-DZ" sz="4500" b="1" dirty="0" smtClean="0"/>
              <a:t>التركيز  في </a:t>
            </a:r>
            <a:r>
              <a:rPr lang="ar-DZ" sz="4500" b="1" dirty="0" err="1" smtClean="0"/>
              <a:t>التعلمات</a:t>
            </a:r>
            <a:r>
              <a:rPr lang="ar-DZ" sz="4500" b="1" dirty="0" smtClean="0"/>
              <a:t> على كل مركبات الكفاءات وخاصة </a:t>
            </a:r>
            <a:r>
              <a:rPr lang="ar-DZ" sz="4500" b="1" dirty="0" smtClean="0">
                <a:solidFill>
                  <a:srgbClr val="FF0000"/>
                </a:solidFill>
              </a:rPr>
              <a:t>الكفاءات العرضية والقيم </a:t>
            </a:r>
            <a:r>
              <a:rPr lang="ar-DZ" sz="4500" b="1" dirty="0" err="1" smtClean="0">
                <a:solidFill>
                  <a:srgbClr val="FF0000"/>
                </a:solidFill>
              </a:rPr>
              <a:t>والسلوكات</a:t>
            </a:r>
            <a:endParaRPr lang="ar-DZ" sz="4500" b="1" dirty="0" smtClean="0">
              <a:solidFill>
                <a:srgbClr val="FF0000"/>
              </a:solidFill>
            </a:endParaRPr>
          </a:p>
          <a:p>
            <a:pPr algn="r" rtl="1"/>
            <a:r>
              <a:rPr lang="fr-FR" sz="5500" b="1" u="sng" dirty="0" smtClean="0"/>
              <a:t>2</a:t>
            </a:r>
            <a:r>
              <a:rPr lang="ar-DZ" sz="5500" b="1" u="sng" dirty="0" smtClean="0"/>
              <a:t> النشاطات </a:t>
            </a:r>
            <a:r>
              <a:rPr lang="ar-DZ" sz="5500" b="1" u="sng" dirty="0" err="1" smtClean="0"/>
              <a:t>التعلمية</a:t>
            </a:r>
            <a:r>
              <a:rPr lang="ar-DZ" sz="5500" b="1" u="sng" dirty="0" smtClean="0"/>
              <a:t> </a:t>
            </a:r>
            <a:endParaRPr lang="fr-FR" sz="5500" b="1" u="sng" dirty="0" smtClean="0"/>
          </a:p>
          <a:p>
            <a:pPr algn="r" rtl="1"/>
            <a:r>
              <a:rPr lang="ar-DZ" sz="4500" b="1" dirty="0" smtClean="0"/>
              <a:t>نشاطات </a:t>
            </a:r>
            <a:r>
              <a:rPr lang="ar-DZ" sz="4500" b="1" dirty="0" err="1" smtClean="0"/>
              <a:t>تعلمية</a:t>
            </a:r>
            <a:r>
              <a:rPr lang="ar-DZ" sz="4500" b="1" dirty="0" smtClean="0"/>
              <a:t> نحو التحكم في </a:t>
            </a:r>
            <a:r>
              <a:rPr lang="ar-DZ" sz="4500" b="1" dirty="0" err="1" smtClean="0"/>
              <a:t>المفاهيم </a:t>
            </a:r>
            <a:r>
              <a:rPr lang="ar-DZ" sz="4500" b="1" dirty="0" smtClean="0"/>
              <a:t>+ </a:t>
            </a:r>
            <a:r>
              <a:rPr lang="ar-DZ" sz="4500" b="1" dirty="0" smtClean="0">
                <a:solidFill>
                  <a:srgbClr val="FF0000"/>
                </a:solidFill>
              </a:rPr>
              <a:t>توظيف الموارد </a:t>
            </a:r>
            <a:r>
              <a:rPr lang="ar-DZ" sz="4500" b="1" dirty="0" err="1" smtClean="0">
                <a:solidFill>
                  <a:srgbClr val="FF0000"/>
                </a:solidFill>
              </a:rPr>
              <a:t>المعرفية </a:t>
            </a:r>
            <a:r>
              <a:rPr lang="ar-DZ" sz="4500" b="1" dirty="0" smtClean="0">
                <a:solidFill>
                  <a:srgbClr val="FF0000"/>
                </a:solidFill>
              </a:rPr>
              <a:t>+تعلم الإدماج ونمو القيم </a:t>
            </a:r>
            <a:r>
              <a:rPr lang="ar-DZ" sz="4500" b="1" dirty="0" err="1" smtClean="0">
                <a:solidFill>
                  <a:srgbClr val="FF0000"/>
                </a:solidFill>
              </a:rPr>
              <a:t>والسلوكات</a:t>
            </a:r>
            <a:r>
              <a:rPr lang="ar-DZ" sz="4500" b="1" dirty="0" smtClean="0">
                <a:solidFill>
                  <a:srgbClr val="FF0000"/>
                </a:solidFill>
              </a:rPr>
              <a:t> </a:t>
            </a:r>
          </a:p>
          <a:p>
            <a:pPr algn="r" rtl="1"/>
            <a:r>
              <a:rPr lang="ar-DZ" sz="5500" b="1" u="sng" dirty="0" smtClean="0"/>
              <a:t>3 التقويم</a:t>
            </a:r>
          </a:p>
          <a:p>
            <a:pPr algn="r" rtl="1">
              <a:spcBef>
                <a:spcPts val="0"/>
              </a:spcBef>
            </a:pPr>
            <a:r>
              <a:rPr lang="ar-DZ" sz="4500" b="1" dirty="0" smtClean="0"/>
              <a:t>يشمل التقويم المعارف والمساعي ونمو القيم </a:t>
            </a:r>
            <a:r>
              <a:rPr lang="ar-DZ" sz="4500" b="1" dirty="0" err="1" smtClean="0"/>
              <a:t>والسلوكات،</a:t>
            </a:r>
            <a:endParaRPr lang="ar-DZ" sz="4500" b="1" dirty="0" smtClean="0"/>
          </a:p>
          <a:p>
            <a:pPr algn="r" rtl="1">
              <a:spcBef>
                <a:spcPts val="0"/>
              </a:spcBef>
            </a:pPr>
            <a:r>
              <a:rPr lang="ar-DZ" sz="4500" b="1" dirty="0" smtClean="0"/>
              <a:t>التقويم</a:t>
            </a:r>
            <a:r>
              <a:rPr lang="ar-DZ" sz="4500" dirty="0" smtClean="0"/>
              <a:t> </a:t>
            </a:r>
            <a:r>
              <a:rPr lang="ar-DZ" sz="4500" b="1" dirty="0" smtClean="0"/>
              <a:t>التكويني جزءا لا يتجزّأ من مسار التعلّم.</a:t>
            </a:r>
          </a:p>
          <a:p>
            <a:pPr algn="r" rtl="1">
              <a:spcBef>
                <a:spcPts val="0"/>
              </a:spcBef>
            </a:pPr>
            <a:r>
              <a:rPr lang="ar-DZ" sz="4500" b="1" dirty="0" smtClean="0">
                <a:solidFill>
                  <a:srgbClr val="002060"/>
                </a:solidFill>
              </a:rPr>
              <a:t>تأسيس التقويم الذاتي والتقويم من </a:t>
            </a:r>
            <a:r>
              <a:rPr lang="ar-DZ" sz="4500" b="1" dirty="0" err="1" smtClean="0">
                <a:solidFill>
                  <a:srgbClr val="002060"/>
                </a:solidFill>
              </a:rPr>
              <a:t>الفوج .</a:t>
            </a:r>
            <a:endParaRPr lang="ar-DZ" sz="4500" b="1" dirty="0" smtClean="0"/>
          </a:p>
          <a:p>
            <a:pPr algn="r" rtl="1">
              <a:spcBef>
                <a:spcPts val="0"/>
              </a:spcBef>
            </a:pPr>
            <a:r>
              <a:rPr lang="ar-DZ" sz="4500" b="1" dirty="0" smtClean="0">
                <a:solidFill>
                  <a:srgbClr val="FF0000"/>
                </a:solidFill>
              </a:rPr>
              <a:t>تأسيس المعالجة </a:t>
            </a:r>
            <a:r>
              <a:rPr lang="ar-DZ" sz="4500" b="1" dirty="0" err="1" smtClean="0">
                <a:solidFill>
                  <a:srgbClr val="FF0000"/>
                </a:solidFill>
              </a:rPr>
              <a:t>البيداغوجية</a:t>
            </a:r>
            <a:r>
              <a:rPr lang="ar-DZ" sz="4500" b="1" dirty="0" smtClean="0">
                <a:solidFill>
                  <a:srgbClr val="FF0000"/>
                </a:solidFill>
              </a:rPr>
              <a:t> في التعلم</a:t>
            </a:r>
          </a:p>
          <a:p>
            <a:pPr algn="r" rtl="1">
              <a:spcBef>
                <a:spcPts val="0"/>
              </a:spcBef>
              <a:buNone/>
            </a:pPr>
            <a:r>
              <a:rPr lang="ar-DZ" sz="4500" b="1" dirty="0" smtClean="0">
                <a:solidFill>
                  <a:srgbClr val="FF0000"/>
                </a:solidFill>
              </a:rPr>
              <a:t>      التي تمكّن المتعلّم من تجاوز الصعوبات التي تعترض تعلّمه</a:t>
            </a:r>
          </a:p>
          <a:p>
            <a:pPr algn="r" rtl="1">
              <a:spcBef>
                <a:spcPts val="0"/>
              </a:spcBef>
            </a:pPr>
            <a:r>
              <a:rPr lang="ar-DZ" sz="4500" b="1" dirty="0" smtClean="0"/>
              <a:t>وتيرة فصلية معقولة </a:t>
            </a:r>
            <a:r>
              <a:rPr lang="ar-DZ" sz="4500" b="1" dirty="0" err="1" smtClean="0"/>
              <a:t>للتقويم .</a:t>
            </a:r>
            <a:endParaRPr lang="ar-DZ" sz="4500" b="1" dirty="0" smtClean="0"/>
          </a:p>
          <a:p>
            <a:pPr algn="r" rtl="1"/>
            <a:endParaRPr lang="fr-FR" b="1" u="sng" dirty="0" smtClean="0"/>
          </a:p>
          <a:p>
            <a:pPr algn="r" rtl="1"/>
            <a:endParaRPr lang="fr-FR" dirty="0" smtClean="0">
              <a:solidFill>
                <a:srgbClr val="FF0000"/>
              </a:solidFill>
            </a:endParaRPr>
          </a:p>
          <a:p>
            <a:pPr algn="r" rtl="1"/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3"/>
          </p:nvPr>
        </p:nvSpPr>
        <p:spPr>
          <a:xfrm>
            <a:off x="4644008" y="908720"/>
            <a:ext cx="4041775" cy="639762"/>
          </a:xfrm>
        </p:spPr>
        <p:txBody>
          <a:bodyPr>
            <a:normAutofit/>
          </a:bodyPr>
          <a:lstStyle/>
          <a:p>
            <a:pPr algn="ctr"/>
            <a:r>
              <a:rPr lang="fr-FR" sz="2800" dirty="0" smtClean="0">
                <a:solidFill>
                  <a:srgbClr val="C00000"/>
                </a:solidFill>
              </a:rPr>
              <a:t>P1G</a:t>
            </a:r>
            <a:r>
              <a:rPr lang="ar-DZ" sz="2800" dirty="0" smtClean="0">
                <a:solidFill>
                  <a:srgbClr val="C00000"/>
                </a:solidFill>
              </a:rPr>
              <a:t>مناهج الجيل الأول </a:t>
            </a:r>
            <a:endParaRPr lang="fr-FR" sz="2800" dirty="0">
              <a:solidFill>
                <a:srgbClr val="C00000"/>
              </a:solidFill>
            </a:endParaRPr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4"/>
          </p:nvPr>
        </p:nvSpPr>
        <p:spPr>
          <a:xfrm>
            <a:off x="4427984" y="1556792"/>
            <a:ext cx="4401815" cy="4608512"/>
          </a:xfrm>
        </p:spPr>
        <p:txBody>
          <a:bodyPr>
            <a:normAutofit fontScale="77500" lnSpcReduction="20000"/>
          </a:bodyPr>
          <a:lstStyle/>
          <a:p>
            <a:pPr algn="r" rtl="1"/>
            <a:r>
              <a:rPr lang="ar-DZ" sz="2800" b="1" u="sng" dirty="0" smtClean="0"/>
              <a:t>1 المقاربة بالكفاءات</a:t>
            </a:r>
          </a:p>
          <a:p>
            <a:pPr algn="r" rtl="1"/>
            <a:r>
              <a:rPr lang="ar-DZ" sz="2800" b="1" dirty="0" smtClean="0">
                <a:solidFill>
                  <a:srgbClr val="C00000"/>
                </a:solidFill>
              </a:rPr>
              <a:t>غياب الكفاءة الشاملة</a:t>
            </a:r>
          </a:p>
          <a:p>
            <a:pPr algn="r" rtl="1"/>
            <a:r>
              <a:rPr lang="ar-DZ" b="1" dirty="0" smtClean="0"/>
              <a:t>وجود مبدئي مع نقص في التطبيق الفعال في </a:t>
            </a:r>
            <a:r>
              <a:rPr lang="ar-DZ" b="1" dirty="0" err="1" smtClean="0"/>
              <a:t>التعلمات</a:t>
            </a:r>
            <a:r>
              <a:rPr lang="ar-DZ" b="1" dirty="0" smtClean="0"/>
              <a:t> </a:t>
            </a:r>
            <a:r>
              <a:rPr lang="ar-DZ" b="1" dirty="0" err="1" smtClean="0"/>
              <a:t>.</a:t>
            </a:r>
            <a:r>
              <a:rPr lang="ar-DZ" b="1" dirty="0" smtClean="0"/>
              <a:t> التركيز على الكفاءات المتعلقة بالمادة ومعارفها مع نقص في الكفاءات العرضية والقيم </a:t>
            </a:r>
            <a:r>
              <a:rPr lang="ar-DZ" b="1" dirty="0" err="1" smtClean="0"/>
              <a:t>والسلوكات.</a:t>
            </a:r>
            <a:endParaRPr lang="ar-DZ" b="1" dirty="0" smtClean="0"/>
          </a:p>
          <a:p>
            <a:pPr algn="r" rtl="1"/>
            <a:r>
              <a:rPr lang="ar-DZ" b="1" dirty="0" smtClean="0"/>
              <a:t>2</a:t>
            </a:r>
            <a:r>
              <a:rPr lang="ar-DZ" dirty="0" smtClean="0">
                <a:solidFill>
                  <a:srgbClr val="C00000"/>
                </a:solidFill>
              </a:rPr>
              <a:t> </a:t>
            </a:r>
            <a:r>
              <a:rPr lang="ar-DZ" sz="2800" b="1" u="sng" dirty="0" smtClean="0"/>
              <a:t>النشاطات </a:t>
            </a:r>
            <a:r>
              <a:rPr lang="ar-DZ" sz="2800" b="1" u="sng" dirty="0" err="1" smtClean="0"/>
              <a:t>التعلمية</a:t>
            </a:r>
            <a:r>
              <a:rPr lang="ar-DZ" sz="2800" b="1" u="sng" dirty="0" smtClean="0"/>
              <a:t> </a:t>
            </a:r>
            <a:endParaRPr lang="fr-FR" sz="2800" b="1" u="sng" dirty="0" smtClean="0"/>
          </a:p>
          <a:p>
            <a:pPr algn="r" rtl="1"/>
            <a:r>
              <a:rPr lang="ar-DZ" b="1" dirty="0" smtClean="0"/>
              <a:t>نشاطات تعلميه موجهة نحو التحكم في </a:t>
            </a:r>
            <a:r>
              <a:rPr lang="ar-DZ" b="1" dirty="0" err="1" smtClean="0"/>
              <a:t>المفاهيم .</a:t>
            </a:r>
            <a:endParaRPr lang="fr-FR" b="1" dirty="0" smtClean="0"/>
          </a:p>
          <a:p>
            <a:pPr algn="r" rtl="1"/>
            <a:r>
              <a:rPr lang="ar-DZ" sz="2800" b="1" u="sng" dirty="0" smtClean="0"/>
              <a:t>3 التقويم</a:t>
            </a:r>
          </a:p>
          <a:p>
            <a:pPr algn="r" rtl="1"/>
            <a:r>
              <a:rPr lang="ar-DZ" b="1" dirty="0" err="1" smtClean="0"/>
              <a:t>.</a:t>
            </a:r>
            <a:r>
              <a:rPr lang="ar-DZ" b="1" dirty="0" smtClean="0"/>
              <a:t> التركيز على تقييم الكفاءات المتعلقة بالمادة ومعارفها.</a:t>
            </a:r>
          </a:p>
          <a:p>
            <a:pPr algn="r" rtl="1"/>
            <a:r>
              <a:rPr lang="ar-DZ" b="1" dirty="0" smtClean="0"/>
              <a:t>تطبيق ناقص </a:t>
            </a:r>
            <a:r>
              <a:rPr lang="ar-DZ" b="1" dirty="0" err="1" smtClean="0"/>
              <a:t>للتقوبم</a:t>
            </a:r>
            <a:r>
              <a:rPr lang="ar-DZ" b="1" dirty="0" smtClean="0"/>
              <a:t> التكويني.</a:t>
            </a:r>
          </a:p>
          <a:p>
            <a:pPr algn="r" rtl="1"/>
            <a:r>
              <a:rPr lang="ar-DZ" b="1" dirty="0" smtClean="0">
                <a:solidFill>
                  <a:srgbClr val="002060"/>
                </a:solidFill>
              </a:rPr>
              <a:t>غياب التقويم الذاتي والتقويم من الفوج </a:t>
            </a:r>
            <a:endParaRPr lang="ar-DZ" b="1" dirty="0" smtClean="0"/>
          </a:p>
          <a:p>
            <a:pPr algn="r" rtl="1"/>
            <a:r>
              <a:rPr lang="ar-DZ" b="1" dirty="0" smtClean="0">
                <a:solidFill>
                  <a:srgbClr val="FF0000"/>
                </a:solidFill>
              </a:rPr>
              <a:t>غياب المعالجة </a:t>
            </a:r>
            <a:r>
              <a:rPr lang="ar-DZ" b="1" dirty="0" err="1" smtClean="0">
                <a:solidFill>
                  <a:srgbClr val="FF0000"/>
                </a:solidFill>
              </a:rPr>
              <a:t>البيداغوجية</a:t>
            </a:r>
            <a:r>
              <a:rPr lang="ar-DZ" b="1" dirty="0" smtClean="0">
                <a:solidFill>
                  <a:srgbClr val="FF0000"/>
                </a:solidFill>
              </a:rPr>
              <a:t> الفعالة</a:t>
            </a:r>
          </a:p>
          <a:p>
            <a:pPr algn="r" rtl="1"/>
            <a:r>
              <a:rPr lang="ar-DZ" b="1" dirty="0" smtClean="0"/>
              <a:t>مبالغة في حصص التقويم على حساب التعلم.</a:t>
            </a:r>
          </a:p>
          <a:p>
            <a:pPr algn="r" rtl="1"/>
            <a:endParaRPr lang="fr-FR" b="1" dirty="0" smtClean="0"/>
          </a:p>
          <a:p>
            <a:pPr algn="r" rtl="1"/>
            <a:endParaRPr lang="fr-FR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2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2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2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2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2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2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2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2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2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2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2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2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2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2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78098"/>
          </a:xfrm>
        </p:spPr>
        <p:txBody>
          <a:bodyPr>
            <a:normAutofit/>
          </a:bodyPr>
          <a:lstStyle/>
          <a:p>
            <a:pPr rtl="1"/>
            <a:r>
              <a:rPr lang="ar-DZ" b="1" dirty="0" smtClean="0">
                <a:solidFill>
                  <a:srgbClr val="C00000"/>
                </a:solidFill>
              </a:rPr>
              <a:t>المرحلة النهائية:التقويم</a:t>
            </a:r>
            <a:r>
              <a:rPr lang="ar-DZ" b="1" dirty="0" smtClean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C00000"/>
                </a:solidFill>
              </a:rPr>
              <a:t>الإشهادي أو النهائي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71600" y="836712"/>
            <a:ext cx="7848872" cy="5472608"/>
          </a:xfrm>
        </p:spPr>
        <p:txBody>
          <a:bodyPr>
            <a:normAutofit fontScale="85000" lnSpcReduction="10000"/>
          </a:bodyPr>
          <a:lstStyle/>
          <a:p>
            <a:pPr algn="r" rtl="1"/>
            <a:r>
              <a:rPr lang="ar-DZ" sz="3300" b="1" u="sng" dirty="0" smtClean="0"/>
              <a:t>:</a:t>
            </a:r>
            <a:r>
              <a:rPr lang="ar-DZ" sz="3300" b="1" u="sng" dirty="0" smtClean="0"/>
              <a:t>مميزاته:</a:t>
            </a:r>
            <a:endParaRPr lang="ar-DZ" sz="3300" b="1" u="sng" dirty="0" smtClean="0"/>
          </a:p>
          <a:p>
            <a:pPr algn="r" rtl="1"/>
            <a:r>
              <a:rPr lang="ar-DZ" sz="2600" b="1" dirty="0" smtClean="0">
                <a:solidFill>
                  <a:srgbClr val="C00000"/>
                </a:solidFill>
              </a:rPr>
              <a:t>يجرى التقويم الإشهادي في نهاية التعلّم، ويهدف إلى تحضير قرار إداري رسمي تتّخذه المنظومة المدرسية تجاه التلميذ، سواء بالترقية أو الترتيب، أو غير ذلك.</a:t>
            </a:r>
          </a:p>
          <a:p>
            <a:pPr algn="r" rtl="1"/>
            <a:r>
              <a:rPr lang="ar-DZ" sz="2000" b="1" dirty="0" smtClean="0"/>
              <a:t> </a:t>
            </a:r>
            <a:r>
              <a:rPr lang="ar-DZ" sz="2600" b="1" dirty="0" smtClean="0">
                <a:solidFill>
                  <a:srgbClr val="0070C0"/>
                </a:solidFill>
              </a:rPr>
              <a:t>يهدف إلى تقديم حصيلة تطوّر الكفاءة الشاملة (مجموع الكفاءات الختامية )-المحدّدة في منهاج السنة أو المرحلة</a:t>
            </a:r>
            <a:endParaRPr lang="ar-DZ" sz="2000" b="1" dirty="0" smtClean="0"/>
          </a:p>
          <a:p>
            <a:pPr algn="r" rtl="1"/>
            <a:r>
              <a:rPr lang="ar-DZ" sz="2400" b="1" dirty="0" smtClean="0"/>
              <a:t>يهتمّ من جهة أخرى بتقويم المسار والإستراتيجية المستعملة لبلوغ الهدف المنشود من الكفاءة </a:t>
            </a:r>
            <a:r>
              <a:rPr lang="ar-DZ" sz="2400" b="1" dirty="0" err="1" smtClean="0"/>
              <a:t>الشاملة.</a:t>
            </a:r>
            <a:r>
              <a:rPr lang="ar-DZ" sz="2400" b="1" dirty="0" smtClean="0"/>
              <a:t> </a:t>
            </a:r>
          </a:p>
          <a:p>
            <a:pPr algn="r" rtl="1"/>
            <a:r>
              <a:rPr lang="ar-DZ" sz="2400" b="1" dirty="0" smtClean="0">
                <a:solidFill>
                  <a:srgbClr val="C00000"/>
                </a:solidFill>
              </a:rPr>
              <a:t>يعتمد التقويم</a:t>
            </a:r>
            <a:r>
              <a:rPr lang="ar-DZ" sz="2400" b="1" dirty="0" smtClean="0">
                <a:solidFill>
                  <a:srgbClr val="FF0000"/>
                </a:solidFill>
              </a:rPr>
              <a:t> </a:t>
            </a:r>
            <a:r>
              <a:rPr lang="ar-DZ" sz="2400" b="1" dirty="0" smtClean="0">
                <a:solidFill>
                  <a:srgbClr val="C00000"/>
                </a:solidFill>
              </a:rPr>
              <a:t>الإشهادي على العناصر </a:t>
            </a:r>
            <a:r>
              <a:rPr lang="ar-DZ" sz="2400" b="1" dirty="0" err="1" smtClean="0">
                <a:solidFill>
                  <a:srgbClr val="C00000"/>
                </a:solidFill>
              </a:rPr>
              <a:t>التالية:</a:t>
            </a:r>
            <a:endParaRPr lang="ar-DZ" sz="2400" b="1" dirty="0" smtClean="0">
              <a:solidFill>
                <a:srgbClr val="C0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b="1" dirty="0" smtClean="0"/>
              <a:t>”الاختبار الفصلي النهائي“ بمعامل 2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b="1" dirty="0" smtClean="0"/>
              <a:t>”الاختبار الفصلي 2“ بمعامل 1.5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b="1" dirty="0" smtClean="0"/>
              <a:t>”الاختبار </a:t>
            </a:r>
            <a:r>
              <a:rPr lang="ar-DZ" b="1" dirty="0" err="1" smtClean="0"/>
              <a:t>الفصلي1</a:t>
            </a:r>
            <a:r>
              <a:rPr lang="ar-DZ" b="1" dirty="0" smtClean="0"/>
              <a:t> ” بمعامل 1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b="1" dirty="0" smtClean="0"/>
              <a:t>عناصر من التقويم </a:t>
            </a:r>
            <a:r>
              <a:rPr lang="ar-DZ" b="1" dirty="0" err="1" smtClean="0"/>
              <a:t>التكويني .</a:t>
            </a:r>
            <a:r>
              <a:rPr lang="ar-DZ" b="1" dirty="0" smtClean="0"/>
              <a:t>( مثل التعبير </a:t>
            </a:r>
            <a:r>
              <a:rPr lang="ar-DZ" b="1" dirty="0" err="1" smtClean="0"/>
              <a:t>الشفهي </a:t>
            </a:r>
            <a:r>
              <a:rPr lang="ar-DZ" b="1" dirty="0" smtClean="0"/>
              <a:t>، الأعمال </a:t>
            </a:r>
            <a:r>
              <a:rPr lang="ar-DZ" b="1" dirty="0" err="1" smtClean="0"/>
              <a:t>التطبيقية....)</a:t>
            </a:r>
            <a:endParaRPr lang="ar-DZ" b="1" dirty="0" smtClean="0"/>
          </a:p>
          <a:p>
            <a:pPr lvl="2" algn="r" rtl="1">
              <a:buFont typeface="Wingdings" pitchFamily="2" charset="2"/>
              <a:buChar char="v"/>
            </a:pPr>
            <a:r>
              <a:rPr lang="ar-DZ" b="1" dirty="0" smtClean="0"/>
              <a:t>عناصر من المعالجة التربوية.</a:t>
            </a:r>
          </a:p>
          <a:p>
            <a:pPr algn="r" rtl="1"/>
            <a:r>
              <a:rPr lang="ar-DZ" sz="2400" b="1" dirty="0" smtClean="0"/>
              <a:t>تتم متابعة نمو الكفاءة عند المتعلم بوسائل متكاملة </a:t>
            </a:r>
            <a:r>
              <a:rPr lang="ar-DZ" sz="2400" b="1" dirty="0" err="1" smtClean="0"/>
              <a:t>ك</a:t>
            </a:r>
            <a:r>
              <a:rPr lang="ar-DZ" sz="2400" b="1" dirty="0" smtClean="0"/>
              <a:t> ”دفتر متابعة نمو الكفاءات ”</a:t>
            </a:r>
          </a:p>
          <a:p>
            <a:pPr algn="r" rtl="1"/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 smtClean="0">
              <a:solidFill>
                <a:srgbClr val="C00000"/>
              </a:solidFill>
            </a:endParaRPr>
          </a:p>
          <a:p>
            <a:pPr algn="r" rtl="1"/>
            <a:endParaRPr lang="ar-DZ" sz="2800" b="1" dirty="0" smtClean="0"/>
          </a:p>
          <a:p>
            <a:pPr algn="r" rtl="1"/>
            <a:endParaRPr lang="ar-DZ" sz="2800" b="1" dirty="0" smtClean="0"/>
          </a:p>
          <a:p>
            <a:pPr algn="r" rtl="1"/>
            <a:endParaRPr lang="fr-FR" sz="2800" b="1" dirty="0" smtClean="0"/>
          </a:p>
          <a:p>
            <a:pPr algn="r" rtl="1"/>
            <a:endParaRPr lang="fr-FR" sz="2000" b="1" dirty="0" smtClean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78098"/>
          </a:xfrm>
        </p:spPr>
        <p:txBody>
          <a:bodyPr>
            <a:normAutofit/>
          </a:bodyPr>
          <a:lstStyle/>
          <a:p>
            <a:pPr rtl="1"/>
            <a:r>
              <a:rPr lang="ar-DZ" b="1" dirty="0" smtClean="0">
                <a:solidFill>
                  <a:srgbClr val="C00000"/>
                </a:solidFill>
              </a:rPr>
              <a:t>المرحلة النهائية:التقويم</a:t>
            </a:r>
            <a:r>
              <a:rPr lang="ar-DZ" b="1" dirty="0" smtClean="0">
                <a:solidFill>
                  <a:srgbClr val="FF0000"/>
                </a:solidFill>
              </a:rPr>
              <a:t> </a:t>
            </a:r>
            <a:r>
              <a:rPr lang="ar-DZ" b="1" dirty="0" smtClean="0">
                <a:solidFill>
                  <a:srgbClr val="C00000"/>
                </a:solidFill>
              </a:rPr>
              <a:t>الإشهادي أو النهائي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88024" y="836712"/>
            <a:ext cx="4032448" cy="5472608"/>
          </a:xfrm>
          <a:ln w="28575"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algn="r" rtl="1">
              <a:buNone/>
            </a:pPr>
            <a:r>
              <a:rPr lang="ar-DZ" sz="3600" b="1" u="sng" dirty="0" smtClean="0"/>
              <a:t>الاختبار النهائي عنصر رئيسي في التقويم </a:t>
            </a:r>
            <a:r>
              <a:rPr lang="ar-DZ" sz="3600" b="1" u="sng" dirty="0" err="1" smtClean="0"/>
              <a:t>الاشهادي</a:t>
            </a:r>
            <a:r>
              <a:rPr lang="ar-DZ" sz="3600" b="1" u="sng" dirty="0" smtClean="0"/>
              <a:t> او النهائي</a:t>
            </a:r>
            <a:endParaRPr lang="fr-FR" sz="3600" b="1" dirty="0" smtClean="0"/>
          </a:p>
          <a:p>
            <a:pPr algn="r" rtl="1"/>
            <a:r>
              <a:rPr lang="ar-DZ" sz="3600" b="1" dirty="0" smtClean="0">
                <a:solidFill>
                  <a:srgbClr val="C00000"/>
                </a:solidFill>
                <a:ea typeface="Calibri"/>
              </a:rPr>
              <a:t>ربط متين بالكفاءة الشاملة للسنة والكفاءات الختامية للميادين.</a:t>
            </a:r>
          </a:p>
          <a:p>
            <a:pPr algn="r" rtl="1"/>
            <a:r>
              <a:rPr lang="ar-DZ" sz="3600" b="1" dirty="0" smtClean="0">
                <a:ea typeface="Calibri"/>
              </a:rPr>
              <a:t>عدم حصره </a:t>
            </a:r>
            <a:r>
              <a:rPr lang="ar-DZ" sz="3600" b="1" dirty="0" err="1" smtClean="0">
                <a:ea typeface="Calibri"/>
              </a:rPr>
              <a:t>على </a:t>
            </a:r>
            <a:r>
              <a:rPr lang="ar-DZ" sz="3600" b="1" dirty="0" smtClean="0">
                <a:ea typeface="Calibri"/>
              </a:rPr>
              <a:t>”الحفظ“ بل </a:t>
            </a:r>
            <a:r>
              <a:rPr lang="ar-DZ" sz="3600" b="1" dirty="0" smtClean="0"/>
              <a:t>يجب ادراج الكفاءات العرضية والقيم بجانب الكفاءات المعرفية في وضعيات التقويم </a:t>
            </a:r>
            <a:r>
              <a:rPr lang="ar-DZ" sz="3600" b="1" dirty="0" err="1" smtClean="0"/>
              <a:t>النهائي .</a:t>
            </a:r>
            <a:endParaRPr lang="ar-DZ" sz="3600" b="1" dirty="0" smtClean="0"/>
          </a:p>
          <a:p>
            <a:pPr algn="r" rtl="1"/>
            <a:r>
              <a:rPr lang="ar-DZ" sz="3600" b="1" dirty="0" smtClean="0">
                <a:solidFill>
                  <a:srgbClr val="C00000"/>
                </a:solidFill>
              </a:rPr>
              <a:t>تؤثر طبيعة وأسلوب وضعيات التقويم النهائي جذريا على </a:t>
            </a:r>
            <a:r>
              <a:rPr lang="ar-DZ" sz="3600" b="1" dirty="0" err="1" smtClean="0">
                <a:solidFill>
                  <a:srgbClr val="C00000"/>
                </a:solidFill>
              </a:rPr>
              <a:t>التعلمات</a:t>
            </a:r>
            <a:r>
              <a:rPr lang="ar-DZ" sz="3600" b="1" dirty="0" smtClean="0">
                <a:solidFill>
                  <a:srgbClr val="C00000"/>
                </a:solidFill>
              </a:rPr>
              <a:t> السنوية.</a:t>
            </a:r>
            <a:endParaRPr lang="ar-DZ" sz="3300" b="1" u="sng" dirty="0" smtClean="0"/>
          </a:p>
          <a:p>
            <a:pPr algn="r" rtl="1"/>
            <a:endParaRPr lang="ar-DZ" sz="2400" b="1" dirty="0" smtClean="0"/>
          </a:p>
          <a:p>
            <a:pPr algn="r" rtl="1"/>
            <a:endParaRPr lang="ar-DZ" sz="2400" b="1" dirty="0" smtClean="0"/>
          </a:p>
          <a:p>
            <a:pPr algn="r" rtl="1"/>
            <a:endParaRPr lang="ar-DZ" b="1" dirty="0" smtClean="0"/>
          </a:p>
          <a:p>
            <a:pPr algn="r" rtl="1"/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 smtClean="0">
              <a:solidFill>
                <a:srgbClr val="C00000"/>
              </a:solidFill>
            </a:endParaRPr>
          </a:p>
          <a:p>
            <a:pPr algn="r" rtl="1"/>
            <a:endParaRPr lang="ar-DZ" sz="2800" b="1" dirty="0" smtClean="0"/>
          </a:p>
          <a:p>
            <a:pPr algn="r" rtl="1"/>
            <a:endParaRPr lang="ar-DZ" sz="2800" b="1" dirty="0" smtClean="0"/>
          </a:p>
          <a:p>
            <a:pPr algn="r" rtl="1"/>
            <a:endParaRPr lang="fr-FR" sz="2800" b="1" dirty="0" smtClean="0"/>
          </a:p>
          <a:p>
            <a:pPr algn="r" rtl="1"/>
            <a:endParaRPr lang="fr-FR" sz="2000" b="1" dirty="0" smtClean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251520" y="764704"/>
            <a:ext cx="4608512" cy="547260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ct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ar-DZ" sz="36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الاختبار </a:t>
            </a:r>
            <a:r>
              <a:rPr kumimoji="0" lang="ar-DZ" sz="3600" b="1" i="0" u="sng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النهائي</a:t>
            </a:r>
            <a:r>
              <a:rPr kumimoji="0" lang="ar-DZ" sz="36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(التنظيم)</a:t>
            </a:r>
            <a:endParaRPr kumimoji="0" lang="fr-FR" sz="3600" b="1" i="0" u="none" strike="noStrike" kern="1200" cap="none" spc="0" normalizeH="0" baseline="0" noProof="0" dirty="0" smtClean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يشرف مدير المؤسسة على تنظيم التقويم النهائي.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الاختبار“ النهائي مشترك لكل أقسام المؤسسة من نفس السنة التربوية.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يقترح 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موضوع 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”الاختبار“ النهائي من طرف كل الفرقة التربوية لكل اٌقسام السنة المعنية.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يصحح 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”الاختبار“ النهائي  من طرف معلمي الأقسام المعنية على أساس تصحيح نموذجي  مشترك وشبكة بمعايير ومؤشرات التقييم والتنقيط.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يصحح كل 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معلم 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”الاختبار“ النهائي لأقسام 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اخرى 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(التوزيع بالقرعة) ما عدا قسمه.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78098"/>
          </a:xfrm>
        </p:spPr>
        <p:txBody>
          <a:bodyPr>
            <a:normAutofit/>
          </a:bodyPr>
          <a:lstStyle/>
          <a:p>
            <a:pPr rtl="1"/>
            <a:r>
              <a:rPr lang="ar-DZ" b="1" dirty="0" smtClean="0"/>
              <a:t>التقويمان الفصليان </a:t>
            </a:r>
            <a:r>
              <a:rPr lang="ar-DZ" b="1" dirty="0" err="1" smtClean="0"/>
              <a:t>2و1</a:t>
            </a:r>
            <a:r>
              <a:rPr lang="ar-DZ" b="1" dirty="0" smtClean="0"/>
              <a:t> 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88024" y="1052736"/>
            <a:ext cx="4032448" cy="5256584"/>
          </a:xfrm>
          <a:ln w="1905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r" rtl="1"/>
            <a:r>
              <a:rPr lang="ar-DZ" sz="2400" b="1" dirty="0" smtClean="0">
                <a:solidFill>
                  <a:srgbClr val="0070C0"/>
                </a:solidFill>
              </a:rPr>
              <a:t>يهدفان  إلى تقديم تطوّر الكفاءة الشاملة والكفاءات الختامية المحدّدة  ومركباتها في منهاج السنة.</a:t>
            </a:r>
          </a:p>
          <a:p>
            <a:pPr algn="r" rtl="1"/>
            <a:r>
              <a:rPr lang="ar-DZ" sz="2400" b="1" dirty="0" smtClean="0">
                <a:ea typeface="Calibri"/>
              </a:rPr>
              <a:t>يعتمدان على تعلم المقاطع وفق المخطط السنوي </a:t>
            </a:r>
            <a:r>
              <a:rPr lang="ar-DZ" sz="2400" b="1" dirty="0" err="1" smtClean="0">
                <a:ea typeface="Calibri"/>
              </a:rPr>
              <a:t>للتعلمات</a:t>
            </a:r>
            <a:r>
              <a:rPr lang="ar-DZ" sz="2400" b="1" dirty="0" smtClean="0">
                <a:ea typeface="Calibri"/>
              </a:rPr>
              <a:t> </a:t>
            </a:r>
            <a:endParaRPr lang="ar-DZ" sz="2400" b="1" dirty="0" smtClean="0"/>
          </a:p>
          <a:p>
            <a:pPr algn="r" rtl="1"/>
            <a:r>
              <a:rPr lang="ar-DZ" sz="2400" b="1" dirty="0" smtClean="0">
                <a:solidFill>
                  <a:srgbClr val="C00000"/>
                </a:solidFill>
                <a:ea typeface="Calibri"/>
              </a:rPr>
              <a:t>يحتوي التقويم الفصلي </a:t>
            </a:r>
            <a:r>
              <a:rPr lang="ar-DZ" sz="2400" b="1" dirty="0" err="1" smtClean="0">
                <a:solidFill>
                  <a:srgbClr val="C00000"/>
                </a:solidFill>
                <a:ea typeface="Calibri"/>
              </a:rPr>
              <a:t>على :</a:t>
            </a:r>
            <a:endParaRPr lang="ar-DZ" sz="2400" b="1" dirty="0" smtClean="0">
              <a:solidFill>
                <a:srgbClr val="C00000"/>
              </a:solidFill>
              <a:ea typeface="Calibri"/>
            </a:endParaRPr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 smtClean="0"/>
              <a:t>”الاختبار الفصلي 2“ بمعامل 1.5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 smtClean="0"/>
              <a:t>”الاختبار </a:t>
            </a:r>
            <a:r>
              <a:rPr lang="ar-DZ" sz="2200" b="1" dirty="0" err="1" smtClean="0"/>
              <a:t>الفصلي1</a:t>
            </a:r>
            <a:r>
              <a:rPr lang="ar-DZ" sz="2200" b="1" dirty="0" smtClean="0"/>
              <a:t> ” بمعامل 1</a:t>
            </a:r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 smtClean="0"/>
              <a:t>عناصر من التقويم </a:t>
            </a:r>
            <a:r>
              <a:rPr lang="ar-DZ" sz="2200" b="1" dirty="0" err="1" smtClean="0"/>
              <a:t>التكويني .</a:t>
            </a:r>
            <a:endParaRPr lang="ar-DZ" sz="2200" b="1" dirty="0" smtClean="0"/>
          </a:p>
          <a:p>
            <a:pPr lvl="1" algn="r" rtl="1">
              <a:buFont typeface="Wingdings" pitchFamily="2" charset="2"/>
              <a:buChar char="v"/>
            </a:pPr>
            <a:r>
              <a:rPr lang="ar-DZ" sz="2200" b="1" dirty="0" smtClean="0"/>
              <a:t>عناصر من المعالجة التربوية</a:t>
            </a:r>
            <a:r>
              <a:rPr lang="ar-DZ" b="1" dirty="0" smtClean="0"/>
              <a:t>.</a:t>
            </a:r>
          </a:p>
          <a:p>
            <a:pPr algn="r" rtl="1">
              <a:buFont typeface="Courier New" pitchFamily="49" charset="0"/>
              <a:buChar char="o"/>
            </a:pPr>
            <a:r>
              <a:rPr lang="ar-DZ" sz="2400" b="1" dirty="0" smtClean="0">
                <a:ea typeface="Calibri"/>
              </a:rPr>
              <a:t>يتم اجراء معالجة تربوية بعد </a:t>
            </a:r>
            <a:r>
              <a:rPr lang="ar-DZ" sz="2400" b="1" dirty="0" err="1" smtClean="0">
                <a:ea typeface="Calibri"/>
              </a:rPr>
              <a:t>كل </a:t>
            </a:r>
            <a:r>
              <a:rPr lang="ar-DZ" sz="2400" b="1" dirty="0" smtClean="0">
                <a:ea typeface="Calibri"/>
              </a:rPr>
              <a:t>” اختبار فصلي“ لكل متعلم له ملاحظات من </a:t>
            </a:r>
            <a:r>
              <a:rPr lang="ar-DZ" sz="2400" b="1" dirty="0" err="1" smtClean="0">
                <a:ea typeface="Calibri"/>
              </a:rPr>
              <a:t>نوع </a:t>
            </a:r>
            <a:r>
              <a:rPr lang="ar-DZ" sz="2400" b="1" dirty="0" smtClean="0">
                <a:ea typeface="Calibri"/>
              </a:rPr>
              <a:t>” غير </a:t>
            </a:r>
            <a:r>
              <a:rPr lang="ar-DZ" sz="2400" b="1" dirty="0" err="1" smtClean="0">
                <a:ea typeface="Calibri"/>
              </a:rPr>
              <a:t>مرضي“</a:t>
            </a:r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sz="2400" b="1" dirty="0" smtClean="0"/>
          </a:p>
          <a:p>
            <a:pPr algn="r" rtl="1"/>
            <a:endParaRPr lang="ar-DZ" sz="2400" b="1" dirty="0" smtClean="0"/>
          </a:p>
          <a:p>
            <a:pPr algn="r" rtl="1"/>
            <a:endParaRPr lang="ar-DZ" b="1" dirty="0" smtClean="0"/>
          </a:p>
          <a:p>
            <a:pPr algn="r" rtl="1"/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 smtClean="0">
              <a:solidFill>
                <a:srgbClr val="C00000"/>
              </a:solidFill>
              <a:ea typeface="Calibri"/>
            </a:endParaRPr>
          </a:p>
          <a:p>
            <a:pPr algn="r" rtl="1"/>
            <a:endParaRPr lang="ar-DZ" b="1" dirty="0" smtClean="0">
              <a:solidFill>
                <a:srgbClr val="C00000"/>
              </a:solidFill>
            </a:endParaRPr>
          </a:p>
          <a:p>
            <a:pPr algn="r" rtl="1"/>
            <a:endParaRPr lang="ar-DZ" sz="2800" b="1" dirty="0" smtClean="0"/>
          </a:p>
          <a:p>
            <a:pPr algn="r" rtl="1"/>
            <a:endParaRPr lang="ar-DZ" sz="2800" b="1" dirty="0" smtClean="0"/>
          </a:p>
          <a:p>
            <a:pPr algn="r" rtl="1"/>
            <a:endParaRPr lang="fr-FR" sz="2800" b="1" dirty="0" smtClean="0"/>
          </a:p>
          <a:p>
            <a:pPr algn="r" rtl="1"/>
            <a:endParaRPr lang="fr-FR" sz="2000" b="1" dirty="0" smtClean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179512" y="1052736"/>
            <a:ext cx="4680520" cy="518457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التقويمان الفصليان 1 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و2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تحت مسؤولية معلم القسم بالتنسيق مع الفرقة 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التربوية 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ar-DZ" sz="2400" b="1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ar-DZ" sz="2400" b="1" dirty="0" err="1" smtClean="0">
                <a:solidFill>
                  <a:schemeClr val="accent1">
                    <a:lumMod val="50000"/>
                  </a:schemeClr>
                </a:solidFill>
              </a:rPr>
              <a:t>مواضيع </a:t>
            </a:r>
            <a:r>
              <a:rPr lang="ar-DZ" sz="2400" b="1" dirty="0" smtClean="0">
                <a:solidFill>
                  <a:schemeClr val="accent1">
                    <a:lumMod val="50000"/>
                  </a:schemeClr>
                </a:solidFill>
              </a:rPr>
              <a:t>”الاختبارات الفصلية 1 </a:t>
            </a:r>
            <a:r>
              <a:rPr lang="ar-DZ" sz="2400" b="1" dirty="0" err="1" smtClean="0">
                <a:solidFill>
                  <a:schemeClr val="accent1">
                    <a:lumMod val="50000"/>
                  </a:schemeClr>
                </a:solidFill>
              </a:rPr>
              <a:t>و2</a:t>
            </a:r>
            <a:r>
              <a:rPr lang="ar-DZ" sz="2400" b="1" dirty="0" smtClean="0">
                <a:solidFill>
                  <a:schemeClr val="accent1">
                    <a:lumMod val="50000"/>
                  </a:schemeClr>
                </a:solidFill>
              </a:rPr>
              <a:t>“ المقترحة من طرف معلم القسم مرتبطة بوتيرة تعلم المقاطع وفق المخطط السنوي </a:t>
            </a:r>
            <a:r>
              <a:rPr lang="ar-DZ" sz="2400" b="1" dirty="0" err="1" smtClean="0">
                <a:solidFill>
                  <a:schemeClr val="accent1">
                    <a:lumMod val="50000"/>
                  </a:schemeClr>
                </a:solidFill>
              </a:rPr>
              <a:t>للتعلمات.</a:t>
            </a:r>
            <a:r>
              <a:rPr lang="ar-DZ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kumimoji="0" lang="ar-DZ" sz="2400" b="1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يصحح 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ar-DZ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الاختبارالفصلي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“من طرف معلم</a:t>
            </a:r>
            <a:r>
              <a:rPr kumimoji="0" lang="ar-DZ" sz="24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ar-DZ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القسم على أساس تصحيح نموذجي  وشبكة بمعايير ومؤشرات التقييم والتنقيط.</a:t>
            </a:r>
          </a:p>
          <a:p>
            <a:pPr marL="342900" lvl="0" indent="-342900" algn="r" rtl="1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يصادق المعلم </a:t>
            </a:r>
            <a:r>
              <a:rPr kumimoji="0" lang="ar-DZ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على </a:t>
            </a: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كشف النقاط“ الفصلي وعلى </a:t>
            </a:r>
            <a:r>
              <a:rPr lang="ar-DZ" sz="2000" b="1" dirty="0" smtClean="0"/>
              <a:t>”دفتر متابعة نمو </a:t>
            </a:r>
            <a:r>
              <a:rPr lang="ar-DZ" sz="2000" b="1" dirty="0" err="1" smtClean="0"/>
              <a:t>الكفاءات ”</a:t>
            </a:r>
            <a:r>
              <a:rPr lang="ar-DZ" sz="2000" b="1" dirty="0" smtClean="0"/>
              <a:t> </a:t>
            </a:r>
            <a:endParaRPr kumimoji="0" lang="ar-DZ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algn="r" rtl="1">
              <a:spcBef>
                <a:spcPts val="0"/>
              </a:spcBef>
              <a:buNone/>
              <a:defRPr/>
            </a:pPr>
            <a:r>
              <a:rPr lang="ar-DZ" sz="1700" b="1" dirty="0" smtClean="0"/>
              <a:t>يأخذ</a:t>
            </a:r>
            <a:r>
              <a:rPr lang="ar-DZ" sz="1700" b="1" dirty="0" smtClean="0">
                <a:solidFill>
                  <a:srgbClr val="7030A0"/>
                </a:solidFill>
              </a:rPr>
              <a:t> ا</a:t>
            </a:r>
            <a:r>
              <a:rPr lang="ar-DZ" sz="1700" b="1" dirty="0" smtClean="0"/>
              <a:t>جراءات مساعدة لحث المتعلمين على </a:t>
            </a:r>
            <a:r>
              <a:rPr lang="ar-DZ" sz="1700" b="1" dirty="0" err="1" smtClean="0"/>
              <a:t>احسن</a:t>
            </a:r>
            <a:r>
              <a:rPr lang="ar-DZ" sz="1700" b="1" dirty="0" smtClean="0"/>
              <a:t> تكوين:</a:t>
            </a:r>
          </a:p>
          <a:p>
            <a:pPr lvl="1" algn="r" rtl="1">
              <a:spcBef>
                <a:spcPts val="0"/>
              </a:spcBef>
              <a:buFont typeface="Wingdings" pitchFamily="2" charset="2"/>
              <a:buChar char="v"/>
              <a:defRPr/>
            </a:pPr>
            <a:endParaRPr lang="ar-DZ" sz="1700" b="1" dirty="0" smtClean="0"/>
          </a:p>
          <a:p>
            <a:pPr lvl="1" algn="r" rtl="1"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ar-DZ" sz="1700" b="1" dirty="0" smtClean="0"/>
              <a:t>تعليق فصلي في لوحة شرفية لصور3 تلاميذ متفوقين.</a:t>
            </a:r>
          </a:p>
          <a:p>
            <a:pPr lvl="1" algn="r" rtl="1">
              <a:spcBef>
                <a:spcPts val="0"/>
              </a:spcBef>
              <a:buFont typeface="Wingdings" pitchFamily="2" charset="2"/>
              <a:buChar char="v"/>
              <a:defRPr/>
            </a:pPr>
            <a:r>
              <a:rPr lang="ar-DZ" sz="1700" b="1" dirty="0" smtClean="0"/>
              <a:t>تعليق فصلي لأحسن مجموعة فنية أو رياضية أو نادي علمي</a:t>
            </a:r>
            <a:endParaRPr lang="ar-DZ" sz="4700" b="1" dirty="0" smtClean="0"/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ar-DZ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Calibri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32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ar-DZ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fr-F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 smtClean="0">
                <a:solidFill>
                  <a:srgbClr val="0070C0"/>
                </a:solidFill>
              </a:rPr>
              <a:t>التقويم التكويني</a:t>
            </a:r>
            <a:endParaRPr lang="fr-FR" b="1" dirty="0" smtClean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32500" lnSpcReduction="20000"/>
          </a:bodyPr>
          <a:lstStyle/>
          <a:p>
            <a:pPr algn="r" rtl="1"/>
            <a:r>
              <a:rPr lang="ar-DZ" sz="9600" b="1" dirty="0" smtClean="0">
                <a:solidFill>
                  <a:srgbClr val="FF0000"/>
                </a:solidFill>
              </a:rPr>
              <a:t>تعتبر المقاربة بالكفاءات التقويم جزءا لا يتجزّأ من مسار التعلّم، خاصّة التقويم التكويني </a:t>
            </a:r>
            <a:r>
              <a:rPr lang="ar-DZ" sz="9600" b="1" dirty="0" err="1" smtClean="0">
                <a:solidFill>
                  <a:srgbClr val="FF0000"/>
                </a:solidFill>
              </a:rPr>
              <a:t>منه.</a:t>
            </a:r>
            <a:r>
              <a:rPr lang="ar-DZ" sz="9600" b="1" dirty="0" smtClean="0">
                <a:solidFill>
                  <a:srgbClr val="FF0000"/>
                </a:solidFill>
              </a:rPr>
              <a:t> أمّا وظيفته الرئيسة، فإنّها لا تقتصر على تحديد النجاح أو الرسوب فحسب، بل هي دعم لمسعى تعلّم التلاميذ، وتوجيه أعمال المدرّس من خلال المعالجة </a:t>
            </a:r>
            <a:r>
              <a:rPr lang="ar-DZ" sz="9600" b="1" dirty="0" err="1" smtClean="0">
                <a:solidFill>
                  <a:srgbClr val="FF0000"/>
                </a:solidFill>
              </a:rPr>
              <a:t>البيداغوجية.</a:t>
            </a:r>
            <a:r>
              <a:rPr lang="ar-DZ" sz="9600" b="1" dirty="0" smtClean="0">
                <a:solidFill>
                  <a:srgbClr val="FF0000"/>
                </a:solidFill>
              </a:rPr>
              <a:t> </a:t>
            </a:r>
            <a:endParaRPr lang="fr-FR" sz="4900" dirty="0" smtClean="0"/>
          </a:p>
          <a:p>
            <a:pPr algn="r" rtl="1"/>
            <a:r>
              <a:rPr lang="ar-DZ" sz="8000" b="1" dirty="0" smtClean="0"/>
              <a:t>ويشمل التقويم المعارف والمساعي </a:t>
            </a:r>
            <a:r>
              <a:rPr lang="ar-DZ" sz="8000" b="1" dirty="0" err="1" smtClean="0"/>
              <a:t>والسلوكات</a:t>
            </a:r>
            <a:r>
              <a:rPr lang="ar-DZ" sz="8000" b="1" dirty="0" smtClean="0"/>
              <a:t>، ويتطلّب التقويم اعتماد </a:t>
            </a:r>
            <a:r>
              <a:rPr lang="ar-DZ" sz="8000" b="1" dirty="0" err="1" smtClean="0"/>
              <a:t>بيداغوجيا</a:t>
            </a:r>
            <a:r>
              <a:rPr lang="ar-DZ" sz="8000" b="1" dirty="0" smtClean="0"/>
              <a:t> الفوارق، أي القدرة على تجنيد وسائل تعليم وتعلّم متنوّعة تأخذ في الحسبان الفوارق الفردية للتلاميذ، وتمكّنهم من النجاح بمختلف </a:t>
            </a:r>
            <a:r>
              <a:rPr lang="ar-DZ" sz="8000" b="1" dirty="0" err="1" smtClean="0"/>
              <a:t>الطرق.</a:t>
            </a:r>
            <a:r>
              <a:rPr lang="ar-DZ" sz="8000" b="1" dirty="0" smtClean="0"/>
              <a:t> ولعلّ السبب الرئيس لوجود التقويم، هو بغرض ضبط </a:t>
            </a:r>
            <a:r>
              <a:rPr lang="ar-DZ" sz="8000" b="1" dirty="0" err="1" smtClean="0"/>
              <a:t>التعلّمات</a:t>
            </a:r>
            <a:r>
              <a:rPr lang="ar-DZ" sz="8000" b="1" dirty="0" smtClean="0"/>
              <a:t> وتعديلها وتوجيها، وتسهيل عملية تقدّم التلميذ في </a:t>
            </a:r>
            <a:r>
              <a:rPr lang="ar-DZ" sz="8000" b="1" dirty="0" err="1" smtClean="0"/>
              <a:t>تعلّماته.</a:t>
            </a:r>
            <a:r>
              <a:rPr lang="ar-DZ" sz="8000" b="1" dirty="0" smtClean="0"/>
              <a:t> </a:t>
            </a:r>
            <a:endParaRPr lang="fr-FR" sz="8000" b="1" dirty="0" smtClean="0"/>
          </a:p>
          <a:p>
            <a:pPr algn="r" rtl="1"/>
            <a:r>
              <a:rPr lang="ar-DZ" sz="4900" dirty="0" smtClean="0"/>
              <a:t> </a:t>
            </a:r>
            <a:endParaRPr lang="fr-FR" sz="4900" dirty="0" smtClean="0"/>
          </a:p>
          <a:p>
            <a:pPr algn="r" rtl="1"/>
            <a:endParaRPr lang="fr-FR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 smtClean="0">
                <a:solidFill>
                  <a:srgbClr val="0070C0"/>
                </a:solidFill>
              </a:rPr>
              <a:t>التقويم التكويني</a:t>
            </a:r>
            <a:endParaRPr lang="fr-FR" b="1" dirty="0" smtClean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25000" lnSpcReduction="20000"/>
          </a:bodyPr>
          <a:lstStyle/>
          <a:p>
            <a:pPr algn="r" rtl="1">
              <a:buFont typeface="Wingdings" pitchFamily="2" charset="2"/>
              <a:buChar char="§"/>
            </a:pPr>
            <a:r>
              <a:rPr lang="ar-DZ" sz="9600" b="1" dirty="0" smtClean="0">
                <a:solidFill>
                  <a:srgbClr val="C00000"/>
                </a:solidFill>
              </a:rPr>
              <a:t>يهدف التقويم التكويني كأساس لتطبيق المقاربة بالكفاءات في القسم </a:t>
            </a:r>
            <a:r>
              <a:rPr lang="ar-DZ" sz="9600" b="1" dirty="0" err="1" smtClean="0">
                <a:solidFill>
                  <a:srgbClr val="C00000"/>
                </a:solidFill>
              </a:rPr>
              <a:t>الى</a:t>
            </a:r>
            <a:r>
              <a:rPr lang="ar-DZ" sz="9600" b="1" dirty="0" err="1" smtClean="0"/>
              <a:t>:</a:t>
            </a:r>
            <a:endParaRPr lang="ar-DZ" sz="9600" b="1" dirty="0" smtClean="0"/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/>
              <a:t>التقويم اليومي لاكتساب الموارد  المعرفية </a:t>
            </a:r>
            <a:r>
              <a:rPr lang="ar-DZ" sz="9600" b="1" dirty="0" smtClean="0">
                <a:solidFill>
                  <a:srgbClr val="FF0000"/>
                </a:solidFill>
              </a:rPr>
              <a:t>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التقويم حول توظيف الموارد المعرفية.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/>
              <a:t>التقويم لنمو الكفاءات العرضية.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التقويم حول تعلم الإدماج  وذلك بعد وإثناء وضعيات تعلم الادماج.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/>
              <a:t>التقويم لنمو بعض </a:t>
            </a:r>
            <a:r>
              <a:rPr lang="ar-DZ" sz="9600" b="1" dirty="0" err="1" smtClean="0"/>
              <a:t>السلوكات</a:t>
            </a:r>
            <a:r>
              <a:rPr lang="ar-DZ" sz="9600" b="1" dirty="0" smtClean="0"/>
              <a:t>  وبعض القيم . </a:t>
            </a:r>
            <a:r>
              <a:rPr lang="ar-DZ" sz="9600" b="1" dirty="0" err="1" smtClean="0"/>
              <a:t>اثناء</a:t>
            </a:r>
            <a:r>
              <a:rPr lang="ar-DZ" sz="9600" b="1" dirty="0" smtClean="0"/>
              <a:t> كل وضعيات التعلم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التقويم التكويني خلال كل حصص تعلم المقاطع</a:t>
            </a: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/>
              <a:t>التقويم لعدة جوانب من التعلمات </a:t>
            </a:r>
            <a:r>
              <a:rPr lang="ar-DZ" sz="9600" b="1" dirty="0" err="1" smtClean="0"/>
              <a:t>لايمكن</a:t>
            </a:r>
            <a:r>
              <a:rPr lang="ar-DZ" sz="9600" b="1" dirty="0" smtClean="0"/>
              <a:t> تقييمها في الاختبارات الفصلية كالتعبير الشفهي </a:t>
            </a:r>
            <a:r>
              <a:rPr lang="ar-DZ" sz="9600" b="1" dirty="0" err="1" smtClean="0"/>
              <a:t>والاعمال</a:t>
            </a:r>
            <a:r>
              <a:rPr lang="ar-DZ" sz="9600" b="1" dirty="0" smtClean="0"/>
              <a:t> التطبيقية ومشاريع من طرف أفواج وانجازات فردية –والمشاريع التكنولوجية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تطبيق التقويم الذاتي والتقويم من طرف </a:t>
            </a:r>
            <a:r>
              <a:rPr lang="ar-DZ" sz="9600" b="1" dirty="0" err="1" smtClean="0">
                <a:solidFill>
                  <a:schemeClr val="tx2">
                    <a:lumMod val="50000"/>
                  </a:schemeClr>
                </a:solidFill>
              </a:rPr>
              <a:t>الأخرين</a:t>
            </a:r>
            <a:r>
              <a:rPr lang="ar-DZ" sz="9600" b="1" dirty="0" smtClean="0">
                <a:solidFill>
                  <a:srgbClr val="FF0000"/>
                </a:solidFill>
              </a:rPr>
              <a:t>.(عمل </a:t>
            </a:r>
            <a:r>
              <a:rPr lang="ar-DZ" sz="9600" b="1" dirty="0" err="1" smtClean="0">
                <a:solidFill>
                  <a:srgbClr val="FF0000"/>
                </a:solidFill>
              </a:rPr>
              <a:t>الافواج</a:t>
            </a:r>
            <a:r>
              <a:rPr lang="ar-DZ" sz="9600" b="1" dirty="0" smtClean="0">
                <a:solidFill>
                  <a:srgbClr val="FF0000"/>
                </a:solidFill>
              </a:rPr>
              <a:t>)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دعم لمسعى تعلّم التلاميذ وتحديد محاور المعالجة </a:t>
            </a:r>
            <a:r>
              <a:rPr lang="ar-DZ" sz="9600" b="1" dirty="0" err="1" smtClean="0">
                <a:solidFill>
                  <a:srgbClr val="FF0000"/>
                </a:solidFill>
              </a:rPr>
              <a:t>البيداغوجية.</a:t>
            </a:r>
            <a:endParaRPr lang="ar-DZ" sz="9600" b="1" dirty="0" smtClean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endParaRPr lang="ar-DZ" sz="9600" b="1" dirty="0" smtClean="0">
              <a:solidFill>
                <a:srgbClr val="FF000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9600" b="1" dirty="0" smtClean="0">
                <a:solidFill>
                  <a:srgbClr val="00B050"/>
                </a:solidFill>
              </a:rPr>
              <a:t>نظرا لأهمية التقويم التكويني يجب احتسابه في عملية التقويم </a:t>
            </a:r>
            <a:r>
              <a:rPr lang="ar-DZ" sz="9600" b="1" dirty="0" err="1" smtClean="0">
                <a:solidFill>
                  <a:srgbClr val="00B050"/>
                </a:solidFill>
              </a:rPr>
              <a:t>النهائي .</a:t>
            </a:r>
            <a:endParaRPr lang="ar-DZ" sz="9600" b="1" dirty="0" smtClean="0">
              <a:solidFill>
                <a:srgbClr val="00B05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endParaRPr lang="ar-DZ" sz="8800" b="1" dirty="0" smtClean="0">
              <a:solidFill>
                <a:srgbClr val="FF0000"/>
              </a:solidFill>
            </a:endParaRPr>
          </a:p>
          <a:p>
            <a:pPr algn="r" rtl="1"/>
            <a:endParaRPr lang="ar-DZ" sz="9600" b="1" dirty="0" smtClean="0">
              <a:solidFill>
                <a:srgbClr val="FF0000"/>
              </a:solidFill>
            </a:endParaRPr>
          </a:p>
          <a:p>
            <a:pPr algn="r" rtl="1"/>
            <a:endParaRPr lang="ar-DZ" sz="9600" b="1" dirty="0" smtClean="0">
              <a:solidFill>
                <a:srgbClr val="FF0000"/>
              </a:solidFill>
            </a:endParaRPr>
          </a:p>
          <a:p>
            <a:pPr algn="r" rtl="1"/>
            <a:endParaRPr lang="ar-DZ" sz="9600" b="1" dirty="0" smtClean="0">
              <a:solidFill>
                <a:srgbClr val="FF0000"/>
              </a:solidFill>
            </a:endParaRPr>
          </a:p>
          <a:p>
            <a:pPr algn="r" rtl="1"/>
            <a:r>
              <a:rPr lang="ar-DZ" sz="4900" dirty="0" smtClean="0"/>
              <a:t> </a:t>
            </a:r>
            <a:endParaRPr lang="fr-FR" sz="4900" dirty="0" smtClean="0"/>
          </a:p>
          <a:p>
            <a:pPr algn="r" rtl="1"/>
            <a:endParaRPr lang="fr-FR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323528" y="1124744"/>
            <a:ext cx="8431212" cy="5301208"/>
          </a:xfrm>
        </p:spPr>
        <p:txBody>
          <a:bodyPr>
            <a:normAutofit fontScale="32500" lnSpcReduction="20000"/>
          </a:bodyPr>
          <a:lstStyle/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  <a:p>
            <a:pPr algn="r" rtl="1"/>
            <a:r>
              <a:rPr lang="ar-DZ" sz="8000" b="1" dirty="0" smtClean="0">
                <a:solidFill>
                  <a:srgbClr val="002060"/>
                </a:solidFill>
              </a:rPr>
              <a:t>أمّا المعالجة </a:t>
            </a:r>
            <a:r>
              <a:rPr lang="ar-DZ" sz="8000" b="1" dirty="0" err="1" smtClean="0">
                <a:solidFill>
                  <a:srgbClr val="002060"/>
                </a:solidFill>
              </a:rPr>
              <a:t>البيداغوجية</a:t>
            </a:r>
            <a:r>
              <a:rPr lang="ar-DZ" sz="8000" b="1" dirty="0" smtClean="0">
                <a:solidFill>
                  <a:srgbClr val="002060"/>
                </a:solidFill>
              </a:rPr>
              <a:t>، فهي المسار الذي يمكّن المتعلّم من تجاوز الصعوبات التي تعترض </a:t>
            </a:r>
            <a:r>
              <a:rPr lang="ar-DZ" sz="8000" b="1" dirty="0" err="1" smtClean="0">
                <a:solidFill>
                  <a:srgbClr val="002060"/>
                </a:solidFill>
              </a:rPr>
              <a:t>تعلّمه.</a:t>
            </a:r>
            <a:r>
              <a:rPr lang="ar-DZ" sz="8000" b="1" dirty="0" smtClean="0">
                <a:solidFill>
                  <a:srgbClr val="002060"/>
                </a:solidFill>
              </a:rPr>
              <a:t> 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algn="r" rtl="1"/>
            <a:r>
              <a:rPr lang="ar-DZ" sz="8000" b="1" dirty="0" smtClean="0">
                <a:solidFill>
                  <a:srgbClr val="002060"/>
                </a:solidFill>
              </a:rPr>
              <a:t>وتظهر المعالجة </a:t>
            </a:r>
            <a:r>
              <a:rPr lang="ar-DZ" sz="8000" b="1" dirty="0" err="1" smtClean="0">
                <a:solidFill>
                  <a:srgbClr val="002060"/>
                </a:solidFill>
              </a:rPr>
              <a:t>البيداغوجية</a:t>
            </a:r>
            <a:r>
              <a:rPr lang="ar-DZ" sz="8000" b="1" dirty="0" smtClean="0">
                <a:solidFill>
                  <a:srgbClr val="002060"/>
                </a:solidFill>
              </a:rPr>
              <a:t> في عدّة مستويات من مخطّط إجراء التعلّم: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بعد الوضعية </a:t>
            </a:r>
            <a:r>
              <a:rPr lang="ar-DZ" sz="8000" b="1" dirty="0" err="1" smtClean="0">
                <a:solidFill>
                  <a:srgbClr val="FF0000"/>
                </a:solidFill>
              </a:rPr>
              <a:t>التعلّمية</a:t>
            </a:r>
            <a:r>
              <a:rPr lang="ar-DZ" sz="8000" b="1" dirty="0" smtClean="0">
                <a:solidFill>
                  <a:srgbClr val="FF0000"/>
                </a:solidFill>
              </a:rPr>
              <a:t> البسيطة</a:t>
            </a:r>
            <a:r>
              <a:rPr lang="ar-DZ" sz="8000" b="1" dirty="0" smtClean="0">
                <a:solidFill>
                  <a:srgbClr val="002060"/>
                </a:solidFill>
              </a:rPr>
              <a:t>، حيث تبدو مواطن الضعف لدى المتعلّم، أو ضعف التحكّم في </a:t>
            </a:r>
            <a:r>
              <a:rPr lang="ar-DZ" sz="8000" b="1" dirty="0" err="1" smtClean="0">
                <a:solidFill>
                  <a:srgbClr val="002060"/>
                </a:solidFill>
              </a:rPr>
              <a:t>المعارف </a:t>
            </a:r>
            <a:r>
              <a:rPr lang="ar-DZ" sz="8000" b="1" dirty="0" smtClean="0">
                <a:solidFill>
                  <a:srgbClr val="002060"/>
                </a:solidFill>
              </a:rPr>
              <a:t>(هذه معالجة تقليدية</a:t>
            </a:r>
            <a:r>
              <a:rPr lang="ar-DZ" sz="8000" b="1" dirty="0" err="1" smtClean="0">
                <a:solidFill>
                  <a:srgbClr val="002060"/>
                </a:solidFill>
              </a:rPr>
              <a:t>)؛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بعد وضعية تعلّم الإدماج</a:t>
            </a:r>
            <a:r>
              <a:rPr lang="ar-DZ" sz="8000" b="1" dirty="0" smtClean="0">
                <a:solidFill>
                  <a:srgbClr val="002060"/>
                </a:solidFill>
              </a:rPr>
              <a:t>، حيث يظهر ضعف المتعلّم في تجنيد الموارد؛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بعد حلّ الوضعية المشكلة </a:t>
            </a:r>
            <a:r>
              <a:rPr lang="ar-DZ" sz="8000" b="1" dirty="0" err="1" smtClean="0">
                <a:solidFill>
                  <a:srgbClr val="FF0000"/>
                </a:solidFill>
              </a:rPr>
              <a:t>الانطلاقية </a:t>
            </a:r>
            <a:r>
              <a:rPr lang="ar-DZ" sz="8000" b="1" dirty="0" smtClean="0">
                <a:solidFill>
                  <a:srgbClr val="002060"/>
                </a:solidFill>
              </a:rPr>
              <a:t>، حيث يُظهر المتعلّم نقصا في استخدام الموارد؛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في نهاية الفصل الأوّل ونهاية الفصل الثاني</a:t>
            </a:r>
            <a:r>
              <a:rPr lang="ar-DZ" sz="8000" b="1" dirty="0" smtClean="0">
                <a:solidFill>
                  <a:srgbClr val="002060"/>
                </a:solidFill>
              </a:rPr>
              <a:t>، بعد نتائج التقويم المرحلي الفصلي.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720080"/>
          </a:xfrm>
        </p:spPr>
        <p:txBody>
          <a:bodyPr>
            <a:normAutofit/>
          </a:bodyPr>
          <a:lstStyle/>
          <a:p>
            <a:r>
              <a:rPr lang="ar-DZ" sz="4000" b="1" u="sng" dirty="0" smtClean="0">
                <a:solidFill>
                  <a:srgbClr val="C00000"/>
                </a:solidFill>
              </a:rPr>
              <a:t>المعالجة </a:t>
            </a:r>
            <a:r>
              <a:rPr lang="ar-DZ" sz="4000" b="1" u="sng" dirty="0" err="1" smtClean="0">
                <a:solidFill>
                  <a:srgbClr val="C00000"/>
                </a:solidFill>
              </a:rPr>
              <a:t>البيداغوجية</a:t>
            </a:r>
            <a:endParaRPr lang="fr-FR" sz="4000" b="1" u="sng" dirty="0" smtClean="0">
              <a:solidFill>
                <a:srgbClr val="C00000"/>
              </a:solidFill>
            </a:endParaRP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765175"/>
            <a:ext cx="8229600" cy="6092825"/>
          </a:xfrm>
        </p:spPr>
        <p:txBody>
          <a:bodyPr/>
          <a:lstStyle/>
          <a:p>
            <a:pPr algn="r" eaLnBrk="1" hangingPunct="1">
              <a:buFontTx/>
              <a:buNone/>
              <a:defRPr/>
            </a:pPr>
            <a:r>
              <a:rPr lang="ar-SA" sz="3400" b="1" i="1" u="sng" dirty="0" smtClean="0">
                <a:solidFill>
                  <a:srgbClr val="33CC33"/>
                </a:solidFill>
              </a:rPr>
              <a:t>التقويم التشخيصي</a:t>
            </a:r>
            <a:endParaRPr lang="ar-DZ" sz="3400" b="1" dirty="0" smtClean="0">
              <a:solidFill>
                <a:srgbClr val="33CC33"/>
              </a:solidFill>
            </a:endParaRPr>
          </a:p>
          <a:p>
            <a:pPr algn="r" rtl="1" eaLnBrk="1" hangingPunct="1">
              <a:buFont typeface="Wingdings" pitchFamily="2" charset="2"/>
              <a:buChar char="§"/>
              <a:defRPr/>
            </a:pPr>
            <a:r>
              <a:rPr lang="ar-SA" sz="3400" b="1" dirty="0" smtClean="0"/>
              <a:t>يطلق عليه أيضا التقويم القبلي أو التمهيدي</a:t>
            </a:r>
            <a:endParaRPr lang="fr-FR" sz="3400" b="1" dirty="0" smtClean="0"/>
          </a:p>
          <a:p>
            <a:pPr algn="r" eaLnBrk="1" hangingPunct="1">
              <a:buFontTx/>
              <a:buNone/>
              <a:defRPr/>
            </a:pPr>
            <a:r>
              <a:rPr lang="ar-SA" sz="3400" b="1" dirty="0" smtClean="0"/>
              <a:t>او </a:t>
            </a:r>
            <a:r>
              <a:rPr lang="ar-SA" sz="3400" b="1" dirty="0" err="1" smtClean="0"/>
              <a:t>الإستكشافي</a:t>
            </a:r>
            <a:r>
              <a:rPr lang="ar-SA" sz="3400" b="1" dirty="0" smtClean="0"/>
              <a:t>،و يكون في بداية السنة الدراسية أو بداية </a:t>
            </a:r>
            <a:r>
              <a:rPr lang="ar-DZ" sz="3400" b="1" dirty="0" smtClean="0"/>
              <a:t> الفصل </a:t>
            </a:r>
            <a:r>
              <a:rPr lang="ar-SA" sz="3400" b="1" dirty="0" smtClean="0"/>
              <a:t>أو بداية الحصة الدراسية.و هو تقويم يفيد في </a:t>
            </a:r>
            <a:endParaRPr lang="fr-FR" sz="3400" b="1" dirty="0" smtClean="0"/>
          </a:p>
          <a:p>
            <a:pPr algn="r" eaLnBrk="1" hangingPunct="1">
              <a:buFontTx/>
              <a:buNone/>
              <a:defRPr/>
            </a:pPr>
            <a:r>
              <a:rPr lang="ar-SA" sz="3400" b="1" dirty="0" smtClean="0"/>
              <a:t>معرفة المكتسبات السابقة و الكشف عن مواطن الخلل في </a:t>
            </a:r>
            <a:endParaRPr lang="fr-FR" sz="3400" b="1" dirty="0" smtClean="0"/>
          </a:p>
          <a:p>
            <a:pPr algn="r" eaLnBrk="1" hangingPunct="1">
              <a:buFontTx/>
              <a:buNone/>
              <a:defRPr/>
            </a:pPr>
            <a:r>
              <a:rPr lang="ar-SA" sz="3400" b="1" dirty="0" smtClean="0"/>
              <a:t>تحصيل </a:t>
            </a:r>
            <a:r>
              <a:rPr lang="ar-SA" sz="3400" b="1" dirty="0" err="1" smtClean="0"/>
              <a:t>المتعلمين.</a:t>
            </a:r>
            <a:r>
              <a:rPr lang="ar-SA" sz="3400" b="1" dirty="0" smtClean="0"/>
              <a:t> </a:t>
            </a:r>
            <a:endParaRPr lang="ar-DZ" sz="3400" b="1" dirty="0" smtClean="0"/>
          </a:p>
          <a:p>
            <a:pPr algn="r" eaLnBrk="1" hangingPunct="1">
              <a:buFontTx/>
              <a:buNone/>
              <a:defRPr/>
            </a:pPr>
            <a:endParaRPr lang="fr-FR" sz="3400" b="1" dirty="0" smtClean="0"/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395536" y="235954"/>
          <a:ext cx="7992890" cy="5877135"/>
        </p:xfrm>
        <a:graphic>
          <a:graphicData uri="http://schemas.openxmlformats.org/drawingml/2006/table">
            <a:tbl>
              <a:tblPr rtl="1"/>
              <a:tblGrid>
                <a:gridCol w="799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276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مخطّط مراحل  </a:t>
                      </a:r>
                      <a:r>
                        <a:rPr lang="ar-DZ" sz="2800" b="1" dirty="0" err="1">
                          <a:latin typeface="Calibri"/>
                          <a:ea typeface="Calibri"/>
                          <a:cs typeface="Arial"/>
                        </a:rPr>
                        <a:t>التعلّمات</a:t>
                      </a:r>
                      <a:r>
                        <a:rPr lang="ar-DZ" sz="2800" b="1" dirty="0">
                          <a:latin typeface="Calibri"/>
                          <a:ea typeface="Calibri"/>
                          <a:cs typeface="Arial"/>
                        </a:rPr>
                        <a:t> لبناء الكفاءة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ial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Arial"/>
                        </a:rPr>
                        <a:t>الختامية في ميدان</a:t>
                      </a:r>
                      <a:endParaRPr lang="fr-FR" sz="2000" b="1" dirty="0" smtClean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41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الشاملة في المادة</a:t>
                      </a:r>
                      <a:r>
                        <a:rPr lang="ar-DZ" sz="24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24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9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5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ial"/>
                        </a:rPr>
                        <a:t>نص الكفاءة </a:t>
                      </a:r>
                      <a:r>
                        <a:rPr lang="ar-DZ" sz="2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الختامية في </a:t>
                      </a:r>
                      <a:r>
                        <a:rPr lang="ar-DZ" sz="24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الميدان1</a:t>
                      </a:r>
                      <a:r>
                        <a:rPr lang="ar-DZ" sz="2400" b="1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Arial"/>
                        </a:rPr>
                        <a:t>:</a:t>
                      </a:r>
                      <a:endParaRPr lang="fr-FR" sz="24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61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 smtClean="0">
                          <a:latin typeface="+mn-lt"/>
                          <a:ea typeface="Calibri"/>
                          <a:cs typeface="+mn-cs"/>
                        </a:rPr>
                        <a:t>المقطع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094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 smtClean="0">
                          <a:latin typeface="Calibri"/>
                          <a:ea typeface="Calibri"/>
                          <a:cs typeface="Arabic Transparent"/>
                        </a:rPr>
                        <a:t>طرح 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وضعية مشكلة عامّة الانطلاقية </a:t>
                      </a:r>
                      <a:r>
                        <a:rPr lang="ar-DZ" sz="2400" b="1" dirty="0" err="1" smtClean="0">
                          <a:latin typeface="Calibri"/>
                          <a:ea typeface="Calibri"/>
                          <a:cs typeface="Arabic Transparent"/>
                        </a:rPr>
                        <a:t>للميدان   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</a:t>
                      </a:r>
                      <a:r>
                        <a:rPr lang="ar-DZ" sz="2400" b="1" dirty="0" err="1" smtClean="0">
                          <a:latin typeface="Calibri"/>
                          <a:ea typeface="Calibri"/>
                          <a:cs typeface="Arabic Transparent"/>
                        </a:rPr>
                        <a:t>")</a:t>
                      </a:r>
                      <a:endParaRPr lang="fr-FR" sz="2400" b="1" dirty="0" smtClean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2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388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24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2400" b="1" dirty="0">
                          <a:latin typeface="Calibri"/>
                          <a:ea typeface="Calibri"/>
                          <a:cs typeface="Arabic Transparent"/>
                        </a:rPr>
                        <a:t> (جزئية أو بسيطة) للتحكّم في الموارد المعرفية</a:t>
                      </a:r>
                      <a:endParaRPr lang="fr-FR" sz="1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120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err="1" smtClean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</a:t>
                      </a:r>
                      <a:r>
                        <a:rPr lang="ar-DZ" sz="2000" b="1" dirty="0" err="1" smtClean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لادماج</a:t>
                      </a:r>
                      <a:r>
                        <a:rPr lang="ar-DZ" sz="2000" b="1" dirty="0" smtClean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 smtClean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طرح 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وضعيات </a:t>
                      </a:r>
                      <a:r>
                        <a:rPr lang="ar-DZ" sz="20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20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لنموّ الكفاءات العرضية والسلوكات، ودعم القيم المدرجة في المنهاج</a:t>
                      </a:r>
                      <a:endParaRPr lang="fr-FR" sz="1600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925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حل الوضعية المشكلة العامّة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الانطلاقية </a:t>
                      </a:r>
                      <a:r>
                        <a:rPr lang="ar-DZ" sz="2000" b="1" dirty="0" smtClean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)+ معالجة </a:t>
                      </a:r>
                      <a:endParaRPr lang="fr-FR" sz="1600" b="1" dirty="0" smtClean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4157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تقويم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:طرح  وضعية مشكلة من نفس العائلة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كالانطلاقية </a:t>
                      </a:r>
                      <a:r>
                        <a:rPr lang="ar-DZ" sz="2000" b="1" dirty="0" smtClean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</a:t>
                      </a:r>
                      <a:r>
                        <a:rPr lang="ar-DZ" sz="2000" b="1" dirty="0" err="1" smtClean="0">
                          <a:latin typeface="Calibri"/>
                          <a:ea typeface="Calibri"/>
                          <a:cs typeface="Arabic Transparent"/>
                        </a:rPr>
                        <a:t>")</a:t>
                      </a:r>
                      <a:endParaRPr lang="fr-FR" sz="2000" b="1" dirty="0" smtClean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37498" marR="37498" marT="0" marB="0">
                    <a:lnL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08720"/>
          </a:xfrm>
        </p:spPr>
        <p:txBody>
          <a:bodyPr>
            <a:normAutofit/>
          </a:bodyPr>
          <a:lstStyle/>
          <a:p>
            <a:r>
              <a:rPr lang="ar-DZ" sz="3600" b="1" dirty="0" smtClean="0"/>
              <a:t>مخطط الكفاءات والوضعيات </a:t>
            </a:r>
            <a:r>
              <a:rPr lang="ar-DZ" sz="3600" b="1" dirty="0" err="1" smtClean="0"/>
              <a:t>التعلّمية</a:t>
            </a:r>
            <a:endParaRPr lang="fr-FR" sz="3600" dirty="0"/>
          </a:p>
        </p:txBody>
      </p:sp>
      <p:graphicFrame>
        <p:nvGraphicFramePr>
          <p:cNvPr id="15" name="Espace réservé du contenu 14"/>
          <p:cNvGraphicFramePr>
            <a:graphicFrameLocks noGrp="1"/>
          </p:cNvGraphicFramePr>
          <p:nvPr>
            <p:ph idx="1"/>
          </p:nvPr>
        </p:nvGraphicFramePr>
        <p:xfrm>
          <a:off x="395536" y="764704"/>
          <a:ext cx="7610916" cy="6836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985">
                <a:tc rowSpan="9"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الكفاءة الختامية </a:t>
                      </a:r>
                      <a:endParaRPr lang="fr-FR" sz="16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في الميدان 1</a:t>
                      </a:r>
                      <a:endParaRPr lang="fr-FR" sz="16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وضعية مشكلة انطلاقية </a:t>
                      </a:r>
                      <a:endParaRPr lang="fr-FR" sz="16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(وضعية مشكلة </a:t>
                      </a: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Times New Roman"/>
                        </a:rPr>
                        <a:t>أ</a:t>
                      </a:r>
                      <a:r>
                        <a:rPr lang="ar-DZ" sz="18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م</a:t>
                      </a:r>
                      <a:r>
                        <a:rPr lang="ar-DZ" sz="18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)</a:t>
                      </a:r>
                      <a:endParaRPr lang="fr-FR" sz="16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15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fr-FR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08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ar-DZ" sz="20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مركبة الكفاءة الختامية لاكتساب </a:t>
                      </a:r>
                      <a:r>
                        <a:rPr lang="ar-DZ" sz="2000" b="1" dirty="0" smtClean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ial"/>
                        </a:rPr>
                        <a:t>المعارف (م-المعرفية)</a:t>
                      </a:r>
                      <a:endParaRPr lang="fr-FR" sz="18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ar-DZ" sz="24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وضعيات </a:t>
                      </a:r>
                      <a:r>
                        <a:rPr lang="ar-DZ" sz="24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تعلّمية</a:t>
                      </a:r>
                      <a:r>
                        <a:rPr lang="ar-DZ" sz="24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ial"/>
                        </a:rPr>
                        <a:t> جزئية  لاكتساب المعارف</a:t>
                      </a:r>
                      <a:endParaRPr lang="fr-FR" sz="20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6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28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9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 smtClean="0">
                          <a:solidFill>
                            <a:srgbClr val="C00000"/>
                          </a:solidFill>
                          <a:latin typeface="+mn-lt"/>
                          <a:ea typeface="Calibri"/>
                          <a:cs typeface="+mn-cs"/>
                        </a:rPr>
                        <a:t>مركبة الكفاءة الختامية لتوظيف المعارف( مركبة -منهجية)</a:t>
                      </a:r>
                      <a:endParaRPr lang="fr-FR" sz="2000" b="1" dirty="0" smtClean="0">
                        <a:solidFill>
                          <a:srgbClr val="C00000"/>
                        </a:solidFill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/>
                      <a:r>
                        <a:rPr lang="ar-DZ" sz="2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المركبة </a:t>
                      </a:r>
                      <a:r>
                        <a:rPr lang="ar-DZ" sz="2400" b="1" kern="1200" dirty="0" err="1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القيمية</a:t>
                      </a:r>
                      <a:r>
                        <a:rPr lang="ar-DZ" sz="2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السلوكية+</a:t>
                      </a:r>
                    </a:p>
                    <a:p>
                      <a:pPr algn="ctr" rtl="1"/>
                      <a:r>
                        <a:rPr lang="ar-DZ" sz="2400" kern="1200" dirty="0" smtClean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ثم</a:t>
                      </a:r>
                      <a:r>
                        <a:rPr lang="ar-DZ" sz="2400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2400" kern="1200" dirty="0" smtClean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ar-DZ" sz="2400" b="1" u="sng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وضعيات تعلّم الإدماج</a:t>
                      </a:r>
                      <a:endParaRPr lang="fr-FR" sz="2400" b="1" u="sng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000" b="1" dirty="0" smtClean="0">
                          <a:solidFill>
                            <a:srgbClr val="002060"/>
                          </a:solidFill>
                          <a:latin typeface="+mn-lt"/>
                          <a:ea typeface="Calibri"/>
                          <a:cs typeface="+mn-cs"/>
                        </a:rPr>
                        <a:t>وضعيات </a:t>
                      </a:r>
                      <a:r>
                        <a:rPr lang="ar-DZ" sz="2000" b="1" dirty="0" err="1" smtClean="0">
                          <a:solidFill>
                            <a:srgbClr val="002060"/>
                          </a:solidFill>
                          <a:latin typeface="+mn-lt"/>
                          <a:ea typeface="Calibri"/>
                          <a:cs typeface="+mn-cs"/>
                        </a:rPr>
                        <a:t>تعلّمية</a:t>
                      </a:r>
                      <a:r>
                        <a:rPr lang="ar-DZ" sz="2000" b="1" dirty="0" smtClean="0">
                          <a:solidFill>
                            <a:srgbClr val="002060"/>
                          </a:solidFill>
                          <a:latin typeface="+mn-lt"/>
                          <a:ea typeface="Calibri"/>
                          <a:cs typeface="+mn-cs"/>
                        </a:rPr>
                        <a:t> جزئية </a:t>
                      </a:r>
                      <a:r>
                        <a:rPr lang="ar-DZ" sz="2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لتوظيف المعارف</a:t>
                      </a:r>
                      <a:endParaRPr lang="fr-FR" sz="2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0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000" b="1" dirty="0" smtClean="0">
                          <a:solidFill>
                            <a:srgbClr val="002060"/>
                          </a:solidFill>
                          <a:latin typeface="+mn-lt"/>
                          <a:ea typeface="Calibri"/>
                          <a:cs typeface="+mn-cs"/>
                        </a:rPr>
                        <a:t>وضعيات </a:t>
                      </a:r>
                      <a:r>
                        <a:rPr lang="ar-DZ" sz="2000" b="1" dirty="0" err="1" smtClean="0">
                          <a:solidFill>
                            <a:srgbClr val="002060"/>
                          </a:solidFill>
                          <a:latin typeface="+mn-lt"/>
                          <a:ea typeface="Calibri"/>
                          <a:cs typeface="+mn-cs"/>
                        </a:rPr>
                        <a:t>تعلّمية</a:t>
                      </a:r>
                      <a:r>
                        <a:rPr lang="ar-DZ" sz="2000" b="1" dirty="0" smtClean="0">
                          <a:solidFill>
                            <a:srgbClr val="002060"/>
                          </a:solidFill>
                          <a:latin typeface="+mn-lt"/>
                          <a:ea typeface="Calibri"/>
                          <a:cs typeface="+mn-cs"/>
                        </a:rPr>
                        <a:t> جزئية </a:t>
                      </a:r>
                      <a:r>
                        <a:rPr lang="ar-DZ" sz="2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للقيم والكفاءات العرضية( ليست موجودة دوما-حسب</a:t>
                      </a:r>
                      <a:r>
                        <a:rPr lang="ar-DZ" sz="2000" b="1" kern="1200" baseline="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المادة)</a:t>
                      </a:r>
                      <a:endParaRPr lang="fr-FR" sz="20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988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192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حل الوضعية المشكلة </a:t>
                      </a:r>
                      <a:r>
                        <a:rPr lang="ar-DZ" sz="28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الانطلاقية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+ معالجـــة </a:t>
                      </a:r>
                      <a:endParaRPr lang="fr-FR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163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تقويم  بوضعية مشكلة </a:t>
                      </a:r>
                      <a:endParaRPr lang="fr-FR" sz="28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من نفس عائلة الوضعية الانطلاقية</a:t>
                      </a:r>
                      <a:endParaRPr lang="fr-FR" sz="28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Flèche vers le bas 11"/>
          <p:cNvSpPr/>
          <p:nvPr/>
        </p:nvSpPr>
        <p:spPr>
          <a:xfrm>
            <a:off x="3851920" y="1628800"/>
            <a:ext cx="432048" cy="57606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e bas 16"/>
          <p:cNvSpPr/>
          <p:nvPr/>
        </p:nvSpPr>
        <p:spPr>
          <a:xfrm>
            <a:off x="3851920" y="2996952"/>
            <a:ext cx="432048" cy="57606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 vers le bas 17"/>
          <p:cNvSpPr/>
          <p:nvPr/>
        </p:nvSpPr>
        <p:spPr>
          <a:xfrm>
            <a:off x="3923928" y="4797152"/>
            <a:ext cx="432048" cy="57606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 vers le bas 13"/>
          <p:cNvSpPr/>
          <p:nvPr/>
        </p:nvSpPr>
        <p:spPr>
          <a:xfrm>
            <a:off x="3923928" y="5733256"/>
            <a:ext cx="432048" cy="36004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 rot="10800000">
            <a:off x="642910" y="4429132"/>
            <a:ext cx="335758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  <p:bldP spid="17" grpId="0" animBg="1"/>
      <p:bldP spid="18" grpId="0" animBg="1"/>
      <p:bldP spid="14" grpId="0" animBg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pPr rtl="1"/>
            <a:r>
              <a:rPr lang="ar-DZ" sz="3200" b="1" dirty="0" smtClean="0"/>
              <a:t>مخطّط  </a:t>
            </a:r>
            <a:r>
              <a:rPr lang="ar-DZ" sz="3200" b="1" dirty="0" err="1" smtClean="0"/>
              <a:t>التعلّمات</a:t>
            </a:r>
            <a:r>
              <a:rPr lang="ar-DZ" sz="3200" b="1" dirty="0" smtClean="0"/>
              <a:t> لبناء الكفاءة </a:t>
            </a:r>
            <a:r>
              <a:rPr lang="fr-FR" sz="3200" b="1" dirty="0" smtClean="0"/>
              <a:t>(séquence)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251520" y="354458"/>
          <a:ext cx="8589640" cy="629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694">
                <a:tc gridSpan="5">
                  <a:txBody>
                    <a:bodyPr/>
                    <a:lstStyle/>
                    <a:p>
                      <a:pPr algn="ctr"/>
                      <a:r>
                        <a:rPr lang="ar-DZ" sz="2400" dirty="0" err="1" smtClean="0">
                          <a:solidFill>
                            <a:srgbClr val="C00000"/>
                          </a:solidFill>
                        </a:rPr>
                        <a:t>ممبزات</a:t>
                      </a:r>
                      <a:r>
                        <a:rPr lang="ar-DZ" sz="2400" dirty="0" smtClean="0">
                          <a:solidFill>
                            <a:srgbClr val="C00000"/>
                          </a:solidFill>
                        </a:rPr>
                        <a:t> مختلف النشاطات </a:t>
                      </a:r>
                      <a:r>
                        <a:rPr lang="ar-DZ" sz="2400" dirty="0" err="1" smtClean="0">
                          <a:solidFill>
                            <a:srgbClr val="C00000"/>
                          </a:solidFill>
                        </a:rPr>
                        <a:t>التعلمية</a:t>
                      </a:r>
                      <a:r>
                        <a:rPr lang="ar-DZ" sz="240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fr-FR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4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1400" b="1" dirty="0" smtClean="0">
                        <a:latin typeface="+mn-lt"/>
                        <a:ea typeface="Calibri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400" b="1" dirty="0" smtClean="0">
                          <a:latin typeface="+mn-lt"/>
                          <a:ea typeface="Calibri"/>
                          <a:cs typeface="+mn-cs"/>
                        </a:rPr>
                        <a:t>ملاحظات</a:t>
                      </a:r>
                      <a:endParaRPr lang="fr-FR" sz="1100" dirty="0" smtClean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1800" b="1" dirty="0" smtClean="0">
                        <a:latin typeface="+mn-lt"/>
                        <a:ea typeface="Calibri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+mn-cs"/>
                        </a:rPr>
                        <a:t>مميزاتها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ar-DZ" sz="1800" b="1" dirty="0" smtClean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 smtClean="0">
                          <a:latin typeface="Calibri"/>
                          <a:ea typeface="Calibri"/>
                          <a:cs typeface="Arial"/>
                        </a:rPr>
                        <a:t>هدفها </a:t>
                      </a:r>
                      <a:r>
                        <a:rPr lang="ar-DZ" sz="1800" b="1" dirty="0">
                          <a:latin typeface="Calibri"/>
                          <a:ea typeface="Calibri"/>
                          <a:cs typeface="Arial"/>
                        </a:rPr>
                        <a:t>الرئيسي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+mn-cs"/>
                        </a:rPr>
                        <a:t>نوعية النشاطات 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+mn-cs"/>
                        </a:rPr>
                        <a:t>التعلمية</a:t>
                      </a:r>
                      <a:endParaRPr lang="fr-FR" sz="1400" b="1" dirty="0" smtClean="0"/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+mn-cs"/>
                        </a:rPr>
                        <a:t>المراحل</a:t>
                      </a:r>
                      <a:endParaRPr lang="fr-FR" sz="1400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 smtClean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791">
                <a:tc>
                  <a:txBody>
                    <a:bodyPr/>
                    <a:lstStyle/>
                    <a:p>
                      <a:pPr marL="342900" lvl="0" indent="-342900"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يمكن أن تمسّ ميدانا واحدا من المادّة أو عدّة ميادين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just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يمكن أن تكون على شكل مشروع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lang="ar-DZ" sz="1600" b="1" dirty="0" smtClean="0">
                          <a:latin typeface="Calibri"/>
                          <a:ea typeface="Calibri"/>
                          <a:cs typeface="Arabic Transparent"/>
                        </a:rPr>
                        <a:t>قد تدوم </a:t>
                      </a:r>
                      <a:r>
                        <a:rPr lang="ar-DZ" sz="1000" b="1" dirty="0" smtClean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مدّة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التعلّم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لحلّها وفق المادّة ( من شهر إلى فصل كامل) 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تحفّز المتعلّم على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التعلّم؛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800" b="1" dirty="0" smtClean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يستوجب </a:t>
                      </a:r>
                      <a:r>
                        <a:rPr lang="ar-DZ" sz="18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لحلّها التحكّم في المفاهيم المدرجة في الميدان، والتدريب على توظيفها، بالإضافة إلى </a:t>
                      </a:r>
                      <a:r>
                        <a:rPr lang="ar-DZ" sz="1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تنمية </a:t>
                      </a:r>
                      <a:r>
                        <a:rPr lang="ar-DZ" sz="1800" b="1" dirty="0" err="1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السلوكات</a:t>
                      </a:r>
                      <a:r>
                        <a:rPr lang="ar-DZ" sz="1800" b="1" dirty="0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وترسيخ القيم؛  </a:t>
                      </a:r>
                      <a:endParaRPr lang="fr-FR" sz="1600" b="1" dirty="0">
                        <a:solidFill>
                          <a:srgbClr val="0070C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أنّ حلّها يكون بعد إجراء </a:t>
                      </a:r>
                      <a:r>
                        <a:rPr lang="ar-DZ" sz="16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التعلّمات</a:t>
                      </a:r>
                      <a:r>
                        <a:rPr lang="ar-DZ" sz="16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المرحلية </a:t>
                      </a:r>
                      <a:r>
                        <a:rPr lang="ar-DZ" sz="1600" b="1" dirty="0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(حصص ودروس</a:t>
                      </a:r>
                      <a:r>
                        <a:rPr lang="ar-DZ" sz="1600" b="1" dirty="0" err="1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)</a:t>
                      </a:r>
                      <a:endParaRPr lang="fr-FR" sz="1400" b="1" dirty="0">
                        <a:solidFill>
                          <a:srgbClr val="00206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Arabic Transparent"/>
                        </a:rPr>
                        <a:t>لها مميّزات الوضعية الإدماجية؛</a:t>
                      </a:r>
                      <a:endParaRPr lang="fr-FR" sz="1400" b="1" dirty="0">
                        <a:solidFill>
                          <a:srgbClr val="C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تنتمي إلى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نفس "العائلة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" كوضعية التقويم النهائية.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ar-DZ" sz="1600" b="1" dirty="0" smtClean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ar-DZ" sz="1600" b="1" dirty="0" smtClean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2000" b="1" dirty="0" smtClean="0">
                          <a:latin typeface="Calibri"/>
                          <a:ea typeface="Calibri"/>
                          <a:cs typeface="Arabic Transparent"/>
                        </a:rPr>
                        <a:t>تمكين </a:t>
                      </a: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المتعلّم من بناء الكفاءة الختامية في الميدان </a:t>
                      </a: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>
                          <a:latin typeface="Calibri"/>
                          <a:ea typeface="Calibri"/>
                          <a:cs typeface="Arabic Transparent"/>
                        </a:rPr>
                        <a:t>طرح وضعية مشكلة عامّة الانطلاقية     </a:t>
                      </a:r>
                      <a:endParaRPr lang="ar-DZ" sz="2000" b="1" dirty="0" smtClean="0">
                        <a:latin typeface="Calibri"/>
                        <a:ea typeface="Calibri"/>
                        <a:cs typeface="Arabic Transparent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smtClean="0">
                          <a:latin typeface="Calibri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2000" b="1" dirty="0" err="1">
                          <a:latin typeface="Calibri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ial"/>
                        </a:rPr>
                        <a:t>1</a:t>
                      </a:r>
                      <a:endParaRPr lang="fr-FR" sz="14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6511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600"/>
                        </a:spcAft>
                        <a:buFont typeface="Wingdings"/>
                        <a:buNone/>
                        <a:tabLst>
                          <a:tab pos="140335" algn="r"/>
                        </a:tabLst>
                      </a:pPr>
                      <a:r>
                        <a:rPr lang="ar-DZ" sz="1600" b="1" dirty="0" smtClean="0">
                          <a:latin typeface="Calibri"/>
                          <a:ea typeface="Calibri"/>
                          <a:cs typeface="Arabic Transparent"/>
                        </a:rPr>
                        <a:t>تكون</a:t>
                      </a:r>
                      <a:r>
                        <a:rPr lang="ar-DZ" sz="1600" b="1" baseline="0" dirty="0" smtClean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smtClean="0">
                          <a:latin typeface="Calibri"/>
                          <a:ea typeface="Calibri"/>
                          <a:cs typeface="Arabic Transparent"/>
                        </a:rPr>
                        <a:t>في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شكل دروس وحصص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تقترح </a:t>
                      </a:r>
                      <a:r>
                        <a:rPr lang="fr-FR" sz="1600" b="1" dirty="0">
                          <a:latin typeface="Calibri"/>
                          <a:ea typeface="Calibri"/>
                          <a:cs typeface="Arabic Transparent"/>
                        </a:rPr>
                        <a:t> 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للتحكّم في الموارد المعرفية المدرجة في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المنهاج؛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تعتمد على نشاطات فردية وجماعية للمتعلمين؛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تشمل نشطات التقويم التكويني والمعالجة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المباشرة .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تمكين المتعلّم من اكتساب الكفاءات الخاصّة بالمادّة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algn="r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Arabic Transparent"/>
                        </a:rPr>
                        <a:t>(</a:t>
                      </a:r>
                      <a:r>
                        <a:rPr lang="fr-FR" sz="1400" b="1" dirty="0">
                          <a:latin typeface="Calibri"/>
                          <a:ea typeface="Calibri"/>
                          <a:cs typeface="Arabic Transparent"/>
                        </a:rPr>
                        <a:t>compétences disciplinaires</a:t>
                      </a:r>
                      <a:r>
                        <a:rPr lang="fr-FR" sz="1600" b="1" dirty="0">
                          <a:latin typeface="Calibri"/>
                          <a:ea typeface="Calibri"/>
                          <a:cs typeface="Arabic Transparent"/>
                        </a:rPr>
                        <a:t>)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طرح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مرحلية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(جزئية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أو بسيطة) للتحكّم في الموارد المعرفية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300" b="1" dirty="0">
                          <a:latin typeface="Calibri"/>
                          <a:ea typeface="Calibri"/>
                          <a:cs typeface="Arial"/>
                        </a:rPr>
                        <a:t>2</a:t>
                      </a:r>
                      <a:endParaRPr lang="fr-FR" sz="11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pPr rtl="1"/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251520" y="354458"/>
          <a:ext cx="8589640" cy="542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415">
                <a:tc gridSpan="5">
                  <a:txBody>
                    <a:bodyPr/>
                    <a:lstStyle/>
                    <a:p>
                      <a:pPr algn="ctr" rtl="1"/>
                      <a:r>
                        <a:rPr lang="ar-DZ" sz="2400" b="1" dirty="0" smtClean="0">
                          <a:solidFill>
                            <a:srgbClr val="002060"/>
                          </a:solidFill>
                        </a:rPr>
                        <a:t>مخطّط  </a:t>
                      </a:r>
                      <a:r>
                        <a:rPr lang="ar-DZ" sz="2400" b="1" dirty="0" err="1" smtClean="0">
                          <a:solidFill>
                            <a:srgbClr val="002060"/>
                          </a:solidFill>
                        </a:rPr>
                        <a:t>التعلّمات</a:t>
                      </a:r>
                      <a:r>
                        <a:rPr lang="ar-DZ" sz="2400" b="1" dirty="0" smtClean="0">
                          <a:solidFill>
                            <a:srgbClr val="002060"/>
                          </a:solidFill>
                        </a:rPr>
                        <a:t> لبناء الكفاءة </a:t>
                      </a:r>
                      <a:r>
                        <a:rPr lang="fr-FR" sz="2400" b="1" dirty="0" smtClean="0">
                          <a:solidFill>
                            <a:srgbClr val="002060"/>
                          </a:solidFill>
                        </a:rPr>
                        <a:t>(séquence)</a:t>
                      </a:r>
                      <a:endParaRPr lang="fr-FR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23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400" b="1" dirty="0" smtClean="0">
                          <a:latin typeface="+mn-lt"/>
                          <a:ea typeface="Calibri"/>
                          <a:cs typeface="+mn-cs"/>
                        </a:rPr>
                        <a:t>ملاحظات</a:t>
                      </a:r>
                      <a:endParaRPr lang="fr-FR" sz="1100" dirty="0" smtClean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+mn-cs"/>
                        </a:rPr>
                        <a:t>مميزاتها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DZ" sz="1800" b="1" dirty="0">
                          <a:latin typeface="Calibri"/>
                          <a:ea typeface="Calibri"/>
                          <a:cs typeface="Arial"/>
                        </a:rPr>
                        <a:t>هدفها الرئيسي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+mn-cs"/>
                        </a:rPr>
                        <a:t>نوعية النشاطات 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+mn-cs"/>
                        </a:rPr>
                        <a:t>التعلمية</a:t>
                      </a:r>
                      <a:endParaRPr lang="fr-FR" sz="1400" b="1" dirty="0" smtClean="0"/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+mn-cs"/>
                        </a:rPr>
                        <a:t>المراحل</a:t>
                      </a:r>
                      <a:endParaRPr lang="fr-FR" sz="1400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400" dirty="0" smtClean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يمكن أن يتمثّل الجانب المنهجي في طريقة تقديم العمل وترتيبه، أو في تنظيمه </a:t>
                      </a:r>
                      <a:r>
                        <a:rPr lang="ar-DZ" sz="1600" b="1" dirty="0" smtClean="0">
                          <a:latin typeface="Calibri"/>
                          <a:ea typeface="Calibri"/>
                          <a:cs typeface="Arabic Transparent"/>
                        </a:rPr>
                        <a:t>المنطقي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، ....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 smtClean="0">
                          <a:solidFill>
                            <a:srgbClr val="FF0000"/>
                          </a:solidFill>
                          <a:latin typeface="+mn-lt"/>
                          <a:ea typeface="Calibri"/>
                          <a:cs typeface="Arabic Transparent"/>
                        </a:rPr>
                        <a:t>تعلّم الإدماج  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تقترح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وضعيات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لتوظيف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الموارد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المعرفية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المدرجة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في المنهاج،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14478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ووضعيات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خاصّة بالجانب</a:t>
                      </a:r>
                      <a:r>
                        <a:rPr lang="ar-DZ" sz="10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المنهجي،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تحتوي على بعديّ القيم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والسلوكات؛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لها دور أساسي في التقويم التكويني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والتحصيلي.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تمكين المتعلّم من تنمية الكفاءات العرضية والمنهجية، ودعم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السلوكات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والقيم وفق ملمح التخرّج المسطّر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طرح وضعيات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تعلّمية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 لنموّ الكفاءات العرضية </a:t>
                      </a:r>
                      <a:r>
                        <a:rPr lang="ar-DZ" sz="1600" b="1" dirty="0" err="1">
                          <a:latin typeface="Calibri"/>
                          <a:ea typeface="Calibri"/>
                          <a:cs typeface="Arabic Transparent"/>
                        </a:rPr>
                        <a:t>والسلوكات</a:t>
                      </a:r>
                      <a:r>
                        <a:rPr lang="ar-DZ" sz="1600" b="1" dirty="0">
                          <a:latin typeface="Calibri"/>
                          <a:ea typeface="Calibri"/>
                          <a:cs typeface="Arabic Transparent"/>
                        </a:rPr>
                        <a:t>، ودعم القيم المدرجة في المنهاج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 smtClean="0">
                          <a:latin typeface="Calibri"/>
                          <a:ea typeface="Calibri"/>
                          <a:cs typeface="Arial"/>
                        </a:rPr>
                        <a:t>3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كما تمكّن المدرّس أيضا من حوصلة عمله، وأعمال المتعلّمين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تعتمد حلاّ 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Arabic Transparent"/>
                        </a:rPr>
                        <a:t>جماعيا 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(للوضعية المشكلة</a:t>
                      </a:r>
                      <a:r>
                        <a:rPr lang="ar-DZ" sz="105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الانطلاقية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Arabic Transparent"/>
                        </a:rPr>
                        <a:t>)؛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تمكّن من تشخيص نقائص بعض المتعلّمين في الموارد المعرفية، والمنهجية، 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Arabic Transparent"/>
                        </a:rPr>
                        <a:t>والسلوكية؛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تمكّن من معالجة هذه النقائص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تمكين المتعلّم من حوصلة 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Arabic Transparent"/>
                        </a:rPr>
                        <a:t>تعلّماته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 المعرفية والمنهجية 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حل ّالوضعية</a:t>
                      </a:r>
                      <a:r>
                        <a:rPr lang="ar-DZ" sz="110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المشكلة</a:t>
                      </a:r>
                      <a:r>
                        <a:rPr lang="ar-DZ" sz="105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العامّة الانطلاقية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600" b="1" dirty="0" smtClean="0">
                          <a:latin typeface="+mn-lt"/>
                          <a:ea typeface="Calibri"/>
                          <a:cs typeface="Arabic Transparent"/>
                        </a:rPr>
                        <a:t>( </a:t>
                      </a:r>
                      <a:r>
                        <a:rPr lang="ar-DZ" sz="1600" b="1" dirty="0" err="1" smtClean="0">
                          <a:latin typeface="+mn-lt"/>
                          <a:ea typeface="Calibri"/>
                          <a:cs typeface="Arabic Transparent"/>
                        </a:rPr>
                        <a:t>الوضعية "الأم")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 smtClean="0">
                          <a:latin typeface="Calibri"/>
                          <a:ea typeface="Calibri"/>
                          <a:cs typeface="Arial"/>
                        </a:rPr>
                        <a:t>4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pPr rtl="1"/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/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</p:nvPr>
        </p:nvGraphicFramePr>
        <p:xfrm>
          <a:off x="251520" y="354458"/>
          <a:ext cx="8589640" cy="6095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415">
                <a:tc gridSpan="5">
                  <a:txBody>
                    <a:bodyPr/>
                    <a:lstStyle/>
                    <a:p>
                      <a:pPr algn="ctr" rtl="1"/>
                      <a:r>
                        <a:rPr lang="ar-DZ" sz="2400" b="1" dirty="0" smtClean="0">
                          <a:solidFill>
                            <a:srgbClr val="002060"/>
                          </a:solidFill>
                        </a:rPr>
                        <a:t>مخطّط  </a:t>
                      </a:r>
                      <a:r>
                        <a:rPr lang="ar-DZ" sz="2400" b="1" dirty="0" err="1" smtClean="0">
                          <a:solidFill>
                            <a:srgbClr val="002060"/>
                          </a:solidFill>
                        </a:rPr>
                        <a:t>التعلّمات</a:t>
                      </a:r>
                      <a:r>
                        <a:rPr lang="ar-DZ" sz="2400" b="1" dirty="0" smtClean="0">
                          <a:solidFill>
                            <a:srgbClr val="002060"/>
                          </a:solidFill>
                        </a:rPr>
                        <a:t> لبناء الكفاءة </a:t>
                      </a:r>
                      <a:r>
                        <a:rPr lang="fr-FR" sz="2400" b="1" dirty="0" smtClean="0">
                          <a:solidFill>
                            <a:srgbClr val="002060"/>
                          </a:solidFill>
                        </a:rPr>
                        <a:t>(séquence)</a:t>
                      </a:r>
                      <a:endParaRPr lang="fr-FR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23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+mn-cs"/>
                        </a:rPr>
                        <a:t>ملاحظات</a:t>
                      </a:r>
                      <a:endParaRPr lang="fr-FR" sz="1400" dirty="0" smtClean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 smtClean="0">
                          <a:latin typeface="+mn-lt"/>
                          <a:ea typeface="Calibri"/>
                          <a:cs typeface="+mn-cs"/>
                        </a:rPr>
                        <a:t>مميزاتها</a:t>
                      </a:r>
                      <a:endParaRPr lang="fr-FR" sz="18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DZ" sz="2400" b="1" dirty="0">
                          <a:latin typeface="Calibri"/>
                          <a:ea typeface="Calibri"/>
                          <a:cs typeface="Arial"/>
                        </a:rPr>
                        <a:t>هدفها الرئيسي</a:t>
                      </a: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="1" dirty="0" smtClean="0">
                          <a:latin typeface="+mn-lt"/>
                          <a:ea typeface="Calibri"/>
                          <a:cs typeface="+mn-cs"/>
                        </a:rPr>
                        <a:t>نوعية النشاطات </a:t>
                      </a:r>
                      <a:r>
                        <a:rPr lang="ar-DZ" sz="2000" b="1" dirty="0" err="1" smtClean="0">
                          <a:latin typeface="+mn-lt"/>
                          <a:ea typeface="Calibri"/>
                          <a:cs typeface="+mn-cs"/>
                        </a:rPr>
                        <a:t>التعلمية</a:t>
                      </a:r>
                      <a:endParaRPr lang="fr-FR" sz="1800" b="1" dirty="0" smtClean="0"/>
                    </a:p>
                    <a:p>
                      <a:pPr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8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dirty="0" smtClean="0">
                          <a:latin typeface="+mn-lt"/>
                          <a:ea typeface="Calibri"/>
                          <a:cs typeface="+mn-cs"/>
                        </a:rPr>
                        <a:t>المراحل</a:t>
                      </a:r>
                      <a:endParaRPr lang="fr-FR" sz="1800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800" dirty="0" smtClean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415">
                <a:tc>
                  <a:txBody>
                    <a:bodyPr/>
                    <a:lstStyle/>
                    <a:p>
                      <a:pPr algn="ctr" rtl="1"/>
                      <a:endParaRPr lang="ar-DZ" sz="1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ar-DZ" sz="1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تمكّن في نهاية كلّ فصل من تقديم كشف فصليّ </a:t>
                      </a:r>
                      <a:endParaRPr lang="fr-FR" sz="18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bulletin 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أنّها وضعية مشكلة من نفس العائلة كوضعية الانطلاق؛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تعتمد تقويما وفق معايير متعلّقة بمركّبات الكفاءة الختامية؛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تمكّن من الحكم على مستوى اكتساب الكفاءة </a:t>
                      </a:r>
                      <a:r>
                        <a:rPr lang="ar-DZ" sz="1800" b="1" dirty="0" err="1" smtClean="0">
                          <a:latin typeface="+mn-lt"/>
                          <a:ea typeface="Calibri"/>
                          <a:cs typeface="Arabic Transparent"/>
                        </a:rPr>
                        <a:t>الختامية؛</a:t>
                      </a: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  </a:t>
                      </a:r>
                      <a:endParaRPr lang="fr-FR" sz="1400" b="1" dirty="0" smtClean="0">
                        <a:latin typeface="+mn-lt"/>
                        <a:ea typeface="Calibri"/>
                        <a:cs typeface="Arial"/>
                      </a:endParaRPr>
                    </a:p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تحدّد النقائص التي يمكن استدراكها في المرحلة </a:t>
                      </a:r>
                      <a:r>
                        <a:rPr lang="ar-DZ" sz="1800" b="1" dirty="0" err="1" smtClean="0">
                          <a:latin typeface="+mn-lt"/>
                          <a:ea typeface="Calibri"/>
                          <a:cs typeface="Arabic Transparent"/>
                        </a:rPr>
                        <a:t>التعلّمية</a:t>
                      </a: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 الموالية.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تمكين المعلّم والمتعلّم من الحكم على مـدى اكتساب الكفاءة الختامية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للفصلين  1  2</a:t>
                      </a:r>
                      <a:endParaRPr lang="fr-FR" sz="1400" b="1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1800" b="1" dirty="0" smtClean="0">
                          <a:latin typeface="+mn-lt"/>
                          <a:ea typeface="Calibri"/>
                          <a:cs typeface="Arabic Transparent"/>
                        </a:rPr>
                        <a:t>طرح وضعية مشكلة لتقويم مدى اكتساب الكفاءة الختامية</a:t>
                      </a:r>
                      <a:endParaRPr lang="fr-FR" sz="14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800" b="1" dirty="0" smtClean="0">
                          <a:latin typeface="Calibri"/>
                          <a:ea typeface="Calibri"/>
                          <a:cs typeface="Arial"/>
                        </a:rPr>
                        <a:t>5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415">
                <a:tc gridSpan="2">
                  <a:txBody>
                    <a:bodyPr/>
                    <a:lstStyle/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endParaRPr lang="ar-DZ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r>
                        <a:rPr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إعطاء أهمّية متزايدة </a:t>
                      </a:r>
                      <a:r>
                        <a:rPr lang="ar-DZ" sz="20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لـ </a:t>
                      </a:r>
                      <a:r>
                        <a:rPr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"معاملات التنقيط" في الفصلين الثاني والثالث</a:t>
                      </a:r>
                      <a:endParaRPr lang="fr-FR" sz="2000" dirty="0" smtClean="0"/>
                    </a:p>
                    <a:p>
                      <a:pPr marL="342900" marR="0" lvl="0" indent="-34290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"/>
                        <a:tabLst/>
                        <a:defRPr/>
                      </a:pPr>
                      <a:endParaRPr lang="fr-FR" sz="20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تعيين درجة اكتساب الكفاءة الشاملة للمادّة، للفصل الثالث - مع إبراز النقائص الممكنة</a:t>
                      </a:r>
                      <a:endParaRPr lang="fr-FR" sz="2000" dirty="0"/>
                    </a:p>
                  </a:txBody>
                  <a:tcPr marL="68580" marR="68580" marT="0" marB="0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2000" b="1" dirty="0" smtClean="0">
                          <a:latin typeface="+mn-lt"/>
                          <a:ea typeface="Calibri"/>
                          <a:cs typeface="Arabic Transparent"/>
                        </a:rPr>
                        <a:t>إعطاء</a:t>
                      </a:r>
                      <a:r>
                        <a:rPr lang="ar-DZ" sz="120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 smtClean="0">
                          <a:latin typeface="+mn-lt"/>
                          <a:ea typeface="Calibri"/>
                          <a:cs typeface="Arabic Transparent"/>
                        </a:rPr>
                        <a:t>نتائج</a:t>
                      </a:r>
                      <a:r>
                        <a:rPr lang="ar-DZ" sz="120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 smtClean="0">
                          <a:latin typeface="+mn-lt"/>
                          <a:ea typeface="Calibri"/>
                          <a:cs typeface="Arabic Transparent"/>
                        </a:rPr>
                        <a:t>التقويم</a:t>
                      </a:r>
                      <a:r>
                        <a:rPr lang="ar-DZ" sz="120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 err="1" smtClean="0">
                          <a:latin typeface="+mn-lt"/>
                          <a:ea typeface="Calibri"/>
                          <a:cs typeface="Arabic Transparent"/>
                        </a:rPr>
                        <a:t>التحصيلي</a:t>
                      </a:r>
                      <a:r>
                        <a:rPr lang="ar-DZ" sz="1050" b="1" dirty="0" smtClean="0">
                          <a:latin typeface="+mn-lt"/>
                          <a:ea typeface="Calibri"/>
                          <a:cs typeface="Arabic Transparent"/>
                        </a:rPr>
                        <a:t> </a:t>
                      </a:r>
                      <a:r>
                        <a:rPr lang="ar-DZ" sz="2000" b="1" dirty="0" smtClean="0">
                          <a:latin typeface="+mn-lt"/>
                          <a:ea typeface="Calibri"/>
                          <a:cs typeface="Arabic Transparent"/>
                        </a:rPr>
                        <a:t>الفصلي او </a:t>
                      </a:r>
                      <a:r>
                        <a:rPr lang="ar-DZ" sz="2000" b="1" dirty="0" err="1" smtClean="0">
                          <a:latin typeface="+mn-lt"/>
                          <a:ea typeface="Calibri"/>
                          <a:cs typeface="Arabic Transparent"/>
                        </a:rPr>
                        <a:t>الاشهادي</a:t>
                      </a:r>
                      <a:endParaRPr lang="fr-FR" sz="1600" dirty="0"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DZ" sz="1600" b="1" dirty="0" smtClean="0">
                          <a:latin typeface="Calibri"/>
                          <a:ea typeface="Calibri"/>
                          <a:cs typeface="Arial"/>
                        </a:rPr>
                        <a:t>6</a:t>
                      </a:r>
                      <a:endParaRPr lang="fr-FR" sz="16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 smtClean="0">
                <a:solidFill>
                  <a:srgbClr val="0070C0"/>
                </a:solidFill>
              </a:rPr>
              <a:t>التقويم التكويني</a:t>
            </a:r>
            <a:endParaRPr lang="fr-FR" b="1" dirty="0" smtClean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32500" lnSpcReduction="20000"/>
          </a:bodyPr>
          <a:lstStyle/>
          <a:p>
            <a:pPr algn="r" rtl="1"/>
            <a:r>
              <a:rPr lang="ar-DZ" sz="9600" b="1" dirty="0" smtClean="0">
                <a:solidFill>
                  <a:srgbClr val="FF0000"/>
                </a:solidFill>
              </a:rPr>
              <a:t>تعتبر المقاربة بالكفاءات التقويم جزءا لا يتجزّأ من مسار التعلّم، خاصّة التقويم التكويني </a:t>
            </a:r>
            <a:r>
              <a:rPr lang="ar-DZ" sz="9600" b="1" dirty="0" err="1" smtClean="0">
                <a:solidFill>
                  <a:srgbClr val="FF0000"/>
                </a:solidFill>
              </a:rPr>
              <a:t>منه.</a:t>
            </a:r>
            <a:r>
              <a:rPr lang="ar-DZ" sz="9600" b="1" dirty="0" smtClean="0">
                <a:solidFill>
                  <a:srgbClr val="FF0000"/>
                </a:solidFill>
              </a:rPr>
              <a:t> أمّا وظيفته الرئيسة، فإنّها لا تقتصر على تحديد النجاح أو الرسوب فحسب، بل هي دعم لمسعى تعلّم التلاميذ، وتوجيه أعمال المدرّس من خلال المعالجة </a:t>
            </a:r>
            <a:r>
              <a:rPr lang="ar-DZ" sz="9600" b="1" dirty="0" err="1" smtClean="0">
                <a:solidFill>
                  <a:srgbClr val="FF0000"/>
                </a:solidFill>
              </a:rPr>
              <a:t>البيداغوجية.</a:t>
            </a:r>
            <a:r>
              <a:rPr lang="ar-DZ" sz="9600" b="1" dirty="0" smtClean="0">
                <a:solidFill>
                  <a:srgbClr val="FF0000"/>
                </a:solidFill>
              </a:rPr>
              <a:t> </a:t>
            </a:r>
            <a:endParaRPr lang="fr-FR" sz="4900" dirty="0" smtClean="0"/>
          </a:p>
          <a:p>
            <a:pPr algn="r" rtl="1"/>
            <a:r>
              <a:rPr lang="ar-DZ" sz="8000" b="1" dirty="0" smtClean="0"/>
              <a:t>ويشمل التقويم المعارف والمساعي </a:t>
            </a:r>
            <a:r>
              <a:rPr lang="ar-DZ" sz="8000" b="1" dirty="0" err="1" smtClean="0"/>
              <a:t>والسلوكات</a:t>
            </a:r>
            <a:r>
              <a:rPr lang="ar-DZ" sz="8000" b="1" dirty="0" smtClean="0"/>
              <a:t>، ويتطلّب التقويم اعتماد </a:t>
            </a:r>
            <a:r>
              <a:rPr lang="ar-DZ" sz="8000" b="1" dirty="0" err="1" smtClean="0"/>
              <a:t>بيداغوجيا</a:t>
            </a:r>
            <a:r>
              <a:rPr lang="ar-DZ" sz="8000" b="1" dirty="0" smtClean="0"/>
              <a:t> الفوارق، أي القدرة على تجنيد وسائل تعليم وتعلّم متنوّعة تأخذ في الحسبان الفوارق الفردية للتلاميذ، وتمكّنهم من النجاح بمختلف </a:t>
            </a:r>
            <a:r>
              <a:rPr lang="ar-DZ" sz="8000" b="1" dirty="0" err="1" smtClean="0"/>
              <a:t>الطرق.</a:t>
            </a:r>
            <a:r>
              <a:rPr lang="ar-DZ" sz="8000" b="1" dirty="0" smtClean="0"/>
              <a:t> ولعلّ السبب الرئيس لوجود التقويم، هو لغرض ضبط </a:t>
            </a:r>
            <a:r>
              <a:rPr lang="ar-DZ" sz="8000" b="1" dirty="0" err="1" smtClean="0"/>
              <a:t>التعلّمات</a:t>
            </a:r>
            <a:r>
              <a:rPr lang="ar-DZ" sz="8000" b="1" dirty="0" smtClean="0"/>
              <a:t> وتعديلها وتوجيهها، وتسهيل عملية تقدّم التلميذ في </a:t>
            </a:r>
            <a:r>
              <a:rPr lang="ar-DZ" sz="8000" b="1" dirty="0" err="1" smtClean="0"/>
              <a:t>تعلّماته</a:t>
            </a:r>
            <a:r>
              <a:rPr lang="ar-DZ" sz="8000" b="1" dirty="0" smtClean="0"/>
              <a:t>. </a:t>
            </a:r>
            <a:endParaRPr lang="fr-FR" sz="8000" b="1" dirty="0" smtClean="0"/>
          </a:p>
          <a:p>
            <a:pPr algn="r" rtl="1"/>
            <a:r>
              <a:rPr lang="ar-DZ" sz="4900" dirty="0" smtClean="0"/>
              <a:t> </a:t>
            </a:r>
            <a:endParaRPr lang="fr-FR" sz="4900" dirty="0" smtClean="0"/>
          </a:p>
          <a:p>
            <a:pPr algn="r" rtl="1"/>
            <a:endParaRPr lang="fr-FR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pPr rtl="1"/>
            <a:r>
              <a:rPr lang="ar-DZ" b="1" dirty="0" smtClean="0">
                <a:solidFill>
                  <a:srgbClr val="0070C0"/>
                </a:solidFill>
              </a:rPr>
              <a:t>التقويم التكويني</a:t>
            </a:r>
            <a:endParaRPr lang="fr-FR" b="1" dirty="0" smtClean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12568"/>
          </a:xfrm>
        </p:spPr>
        <p:txBody>
          <a:bodyPr>
            <a:normAutofit fontScale="25000" lnSpcReduction="20000"/>
          </a:bodyPr>
          <a:lstStyle/>
          <a:p>
            <a:pPr algn="r" rtl="1">
              <a:buFont typeface="Wingdings" pitchFamily="2" charset="2"/>
              <a:buChar char="§"/>
            </a:pPr>
            <a:r>
              <a:rPr lang="ar-DZ" sz="9600" b="1" dirty="0" smtClean="0"/>
              <a:t>يهدف التقويم التكويني كأساس لتطبيق المقاربة بالكفاءات في القسم </a:t>
            </a:r>
            <a:r>
              <a:rPr lang="ar-DZ" sz="9600" b="1" dirty="0" err="1" smtClean="0"/>
              <a:t>الى:</a:t>
            </a:r>
            <a:endParaRPr lang="ar-DZ" sz="9600" b="1" dirty="0" smtClean="0"/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التقويم اليومي لاكتساب الموارد </a:t>
            </a:r>
            <a:r>
              <a:rPr lang="ar-DZ" sz="9600" b="1" dirty="0" err="1" smtClean="0">
                <a:solidFill>
                  <a:srgbClr val="FF0000"/>
                </a:solidFill>
              </a:rPr>
              <a:t>المعرفية .</a:t>
            </a:r>
            <a:endParaRPr lang="ar-DZ" sz="9600" b="1" dirty="0" smtClean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التقويم حول توظيف الموارد المعرفية.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التقويم لنمو الكفاءات العرضية.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التقويم حول تعلم الإدماج الفعال بعد وضعيات تعلم الادماج.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التقويم لنمو </a:t>
            </a:r>
            <a:r>
              <a:rPr lang="ar-DZ" sz="9600" b="1" dirty="0" err="1" smtClean="0">
                <a:solidFill>
                  <a:srgbClr val="FF0000"/>
                </a:solidFill>
              </a:rPr>
              <a:t>سلوكات</a:t>
            </a:r>
            <a:r>
              <a:rPr lang="ar-DZ" sz="9600" b="1" dirty="0" smtClean="0">
                <a:solidFill>
                  <a:srgbClr val="FF0000"/>
                </a:solidFill>
              </a:rPr>
              <a:t> </a:t>
            </a:r>
            <a:r>
              <a:rPr lang="ar-DZ" sz="9600" b="1" dirty="0" err="1" smtClean="0">
                <a:solidFill>
                  <a:srgbClr val="FF0000"/>
                </a:solidFill>
              </a:rPr>
              <a:t>وقيم .</a:t>
            </a:r>
            <a:endParaRPr lang="ar-DZ" sz="9600" b="1" dirty="0" smtClean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التقويم التكويني خلال كل حصص تعلم المقاطع.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التقويم لعدة جوانب من </a:t>
            </a:r>
            <a:r>
              <a:rPr lang="ar-DZ" sz="9600" b="1" dirty="0" err="1" smtClean="0">
                <a:solidFill>
                  <a:srgbClr val="FF0000"/>
                </a:solidFill>
              </a:rPr>
              <a:t>التعلمات</a:t>
            </a:r>
            <a:r>
              <a:rPr lang="ar-DZ" sz="9600" b="1" dirty="0" smtClean="0">
                <a:solidFill>
                  <a:srgbClr val="FF0000"/>
                </a:solidFill>
              </a:rPr>
              <a:t> </a:t>
            </a:r>
            <a:r>
              <a:rPr lang="ar-DZ" sz="9600" b="1" dirty="0" err="1" smtClean="0">
                <a:solidFill>
                  <a:srgbClr val="FF0000"/>
                </a:solidFill>
              </a:rPr>
              <a:t>لايمكن</a:t>
            </a:r>
            <a:r>
              <a:rPr lang="ar-DZ" sz="9600" b="1" dirty="0" smtClean="0">
                <a:solidFill>
                  <a:srgbClr val="FF0000"/>
                </a:solidFill>
              </a:rPr>
              <a:t> تقييمها في الاختبارات الفصلية كالتعبير الشفهي </a:t>
            </a:r>
            <a:r>
              <a:rPr lang="ar-DZ" sz="9600" b="1" dirty="0" err="1" smtClean="0">
                <a:solidFill>
                  <a:srgbClr val="FF0000"/>
                </a:solidFill>
              </a:rPr>
              <a:t>والاعمال</a:t>
            </a:r>
            <a:r>
              <a:rPr lang="ar-DZ" sz="9600" b="1" dirty="0" smtClean="0">
                <a:solidFill>
                  <a:srgbClr val="FF0000"/>
                </a:solidFill>
              </a:rPr>
              <a:t> التطبيقية ومشاريع من طرف أفواج وانجازات فردية </a:t>
            </a: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chemeClr val="tx2">
                    <a:lumMod val="50000"/>
                  </a:schemeClr>
                </a:solidFill>
              </a:rPr>
              <a:t>تطبيق التقويم الذاتي والتقويم من طرف </a:t>
            </a:r>
            <a:r>
              <a:rPr lang="ar-DZ" sz="9600" b="1" dirty="0" err="1" smtClean="0">
                <a:solidFill>
                  <a:schemeClr val="tx2">
                    <a:lumMod val="50000"/>
                  </a:schemeClr>
                </a:solidFill>
              </a:rPr>
              <a:t>الأخرين</a:t>
            </a:r>
            <a:r>
              <a:rPr lang="ar-DZ" sz="9600" b="1" dirty="0" err="1" smtClean="0">
                <a:solidFill>
                  <a:srgbClr val="FF0000"/>
                </a:solidFill>
              </a:rPr>
              <a:t>.</a:t>
            </a:r>
            <a:endParaRPr lang="ar-DZ" sz="9600" b="1" dirty="0" smtClean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r>
              <a:rPr lang="ar-DZ" sz="9600" b="1" dirty="0" smtClean="0">
                <a:solidFill>
                  <a:srgbClr val="FF0000"/>
                </a:solidFill>
              </a:rPr>
              <a:t>دعم لمسعى تعلّم التلاميذ وتحديد محاور المعالجة </a:t>
            </a:r>
            <a:r>
              <a:rPr lang="ar-DZ" sz="9600" b="1" dirty="0" err="1" smtClean="0">
                <a:solidFill>
                  <a:srgbClr val="FF0000"/>
                </a:solidFill>
              </a:rPr>
              <a:t>البيداغوجية.</a:t>
            </a:r>
            <a:endParaRPr lang="ar-DZ" sz="9600" b="1" dirty="0" smtClean="0">
              <a:solidFill>
                <a:srgbClr val="FF0000"/>
              </a:solidFill>
            </a:endParaRPr>
          </a:p>
          <a:p>
            <a:pPr lvl="2" algn="r" rtl="1">
              <a:buFont typeface="Wingdings" pitchFamily="2" charset="2"/>
              <a:buChar char="v"/>
            </a:pPr>
            <a:endParaRPr lang="ar-DZ" sz="9600" b="1" dirty="0" smtClean="0">
              <a:solidFill>
                <a:srgbClr val="FF0000"/>
              </a:solidFill>
            </a:endParaRPr>
          </a:p>
          <a:p>
            <a:pPr algn="r" rtl="1">
              <a:buFont typeface="Wingdings" pitchFamily="2" charset="2"/>
              <a:buChar char="§"/>
            </a:pPr>
            <a:r>
              <a:rPr lang="ar-DZ" sz="9600" b="1" dirty="0" smtClean="0"/>
              <a:t>نظرا لأهمية التقويم التكويني يجب احتسابه في عملية التقويم </a:t>
            </a:r>
            <a:r>
              <a:rPr lang="ar-DZ" sz="9600" b="1" dirty="0" err="1" smtClean="0"/>
              <a:t>النهائي .</a:t>
            </a:r>
            <a:endParaRPr lang="ar-DZ" sz="9600" b="1" dirty="0" smtClean="0"/>
          </a:p>
          <a:p>
            <a:pPr lvl="2" algn="r" rtl="1">
              <a:buFont typeface="Wingdings" pitchFamily="2" charset="2"/>
              <a:buChar char="v"/>
            </a:pPr>
            <a:endParaRPr lang="ar-DZ" sz="8800" b="1" dirty="0" smtClean="0">
              <a:solidFill>
                <a:srgbClr val="FF0000"/>
              </a:solidFill>
            </a:endParaRPr>
          </a:p>
          <a:p>
            <a:pPr algn="r" rtl="1"/>
            <a:endParaRPr lang="ar-DZ" sz="9600" b="1" dirty="0" smtClean="0">
              <a:solidFill>
                <a:srgbClr val="FF0000"/>
              </a:solidFill>
            </a:endParaRPr>
          </a:p>
          <a:p>
            <a:pPr algn="r" rtl="1"/>
            <a:endParaRPr lang="ar-DZ" sz="9600" b="1" dirty="0" smtClean="0">
              <a:solidFill>
                <a:srgbClr val="FF0000"/>
              </a:solidFill>
            </a:endParaRPr>
          </a:p>
          <a:p>
            <a:pPr algn="r" rtl="1"/>
            <a:endParaRPr lang="ar-DZ" sz="9600" b="1" dirty="0" smtClean="0">
              <a:solidFill>
                <a:srgbClr val="FF0000"/>
              </a:solidFill>
            </a:endParaRPr>
          </a:p>
          <a:p>
            <a:pPr algn="r" rtl="1"/>
            <a:r>
              <a:rPr lang="ar-DZ" sz="4900" dirty="0" smtClean="0"/>
              <a:t> </a:t>
            </a:r>
            <a:endParaRPr lang="fr-FR" sz="4900" dirty="0" smtClean="0"/>
          </a:p>
          <a:p>
            <a:pPr algn="r" rtl="1"/>
            <a:endParaRPr lang="fr-FR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06090"/>
          </a:xfrm>
        </p:spPr>
        <p:txBody>
          <a:bodyPr>
            <a:normAutofit fontScale="90000"/>
          </a:bodyPr>
          <a:lstStyle/>
          <a:p>
            <a:pPr rtl="1">
              <a:spcBef>
                <a:spcPts val="0"/>
              </a:spcBef>
              <a:defRPr/>
            </a:pPr>
            <a:r>
              <a:rPr lang="ar-SA" b="1" dirty="0" smtClean="0"/>
              <a:t>التقويم </a:t>
            </a:r>
            <a:r>
              <a:rPr lang="ar-DZ" b="1" dirty="0" smtClean="0"/>
              <a:t>التكويني </a:t>
            </a:r>
            <a:r>
              <a:rPr lang="ar-SA" b="1" dirty="0" smtClean="0"/>
              <a:t>في خدمة </a:t>
            </a:r>
            <a:r>
              <a:rPr lang="ar-SA" b="1" dirty="0" err="1" smtClean="0"/>
              <a:t>التعلمات</a:t>
            </a:r>
            <a:endParaRPr lang="fr-FR" b="1" dirty="0" smtClean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3528" y="836712"/>
          <a:ext cx="8445623" cy="523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4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7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5260">
                <a:tc gridSpan="7"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عناصر من شبكة </a:t>
                      </a:r>
                      <a:r>
                        <a:rPr lang="ar-SA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التقويم </a:t>
                      </a:r>
                      <a:r>
                        <a:rPr lang="ar-DZ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التكويني </a:t>
                      </a:r>
                      <a:r>
                        <a:rPr lang="ar-SA" sz="2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في خدمة </a:t>
                      </a:r>
                      <a:r>
                        <a:rPr lang="ar-SA" sz="20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التعلمات</a:t>
                      </a:r>
                      <a:endParaRPr lang="fr-FR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135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التقويم الذاتي، التقويم من قبل الزملاء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منهجية العمل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</a:t>
                      </a:r>
                      <a:r>
                        <a:rPr lang="ar-DZ" sz="1800" b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المنتوج</a:t>
                      </a:r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والمسعى.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تقويم جوانب خاصة كالتعبير الشفوي او المنهجية </a:t>
                      </a:r>
                      <a:r>
                        <a:rPr lang="ar-DZ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التجريبية...</a:t>
                      </a:r>
                      <a:r>
                        <a:rPr lang="ar-DZ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القيم والمواقف</a:t>
                      </a:r>
                      <a:endParaRPr lang="fr-F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الكفاءات العرضية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والإدماج </a:t>
                      </a:r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تقويم التحكّم في المعارف</a:t>
                      </a:r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57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المفطع</a:t>
                      </a:r>
                      <a:r>
                        <a:rPr lang="ar-DZ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fr-FR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657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المفطع2</a:t>
                      </a:r>
                      <a:endParaRPr lang="fr-FR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52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المفطع</a:t>
                      </a:r>
                      <a:r>
                        <a:rPr lang="ar-DZ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endParaRPr lang="fr-FR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المقطع 4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00"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r-F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المقطع 5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06090"/>
          </a:xfrm>
        </p:spPr>
        <p:txBody>
          <a:bodyPr>
            <a:normAutofit fontScale="90000"/>
          </a:bodyPr>
          <a:lstStyle/>
          <a:p>
            <a:pPr rtl="1">
              <a:spcBef>
                <a:spcPts val="0"/>
              </a:spcBef>
              <a:defRPr/>
            </a:pPr>
            <a:r>
              <a:rPr lang="ar-SA" b="1" dirty="0" smtClean="0"/>
              <a:t>التقويم </a:t>
            </a:r>
            <a:r>
              <a:rPr lang="ar-DZ" b="1" dirty="0" smtClean="0"/>
              <a:t>التكويني </a:t>
            </a:r>
            <a:r>
              <a:rPr lang="ar-SA" b="1" dirty="0" smtClean="0"/>
              <a:t>في خدمة </a:t>
            </a:r>
            <a:r>
              <a:rPr lang="ar-SA" b="1" dirty="0" err="1" smtClean="0"/>
              <a:t>التعلمات</a:t>
            </a:r>
            <a:endParaRPr lang="fr-FR" b="1" dirty="0" smtClean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3528" y="836712"/>
          <a:ext cx="8445623" cy="3583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45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526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4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دفتر</a:t>
                      </a:r>
                      <a:r>
                        <a:rPr lang="ar-DZ" sz="24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متابعة نمو الكفاءات  </a:t>
                      </a:r>
                      <a:r>
                        <a:rPr lang="ar-DZ" sz="2400" b="1" kern="1200" baseline="0" dirty="0" err="1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وتقويمها (</a:t>
                      </a:r>
                      <a:r>
                        <a:rPr lang="fr-FR" sz="20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portfolio d’apprentissage et d’évaluation</a:t>
                      </a:r>
                      <a:r>
                        <a:rPr lang="ar-DZ" sz="2000" b="1" kern="1200" baseline="0" dirty="0" err="1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400" b="1" kern="1200" dirty="0" smtClean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8996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وسيلة اساسية لمتابعة نمو الكفاءات عند </a:t>
                      </a:r>
                      <a:r>
                        <a:rPr lang="ar-DZ" sz="2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المتعلم .</a:t>
                      </a:r>
                      <a:endParaRPr lang="ar-DZ" sz="2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وسيلة حوار</a:t>
                      </a:r>
                      <a:r>
                        <a:rPr lang="ar-DZ" sz="2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وتواصل بين المتعلم وأوليائه </a:t>
                      </a:r>
                      <a:r>
                        <a:rPr lang="ar-DZ" sz="28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والمدرسة.</a:t>
                      </a:r>
                      <a:r>
                        <a:rPr lang="ar-DZ" sz="2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ar-DZ" sz="2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مكون من </a:t>
                      </a:r>
                      <a:r>
                        <a:rPr lang="ar-DZ" sz="2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منتوج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المتعلم خلال السنة.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يساهم في التقويم التكويني والمعالجة التربوية.</a:t>
                      </a:r>
                    </a:p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v"/>
                        <a:tabLst/>
                        <a:defRPr/>
                      </a:pPr>
                      <a:r>
                        <a:rPr lang="ar-DZ" sz="2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يضا</a:t>
                      </a:r>
                      <a:r>
                        <a:rPr lang="ar-DZ" sz="2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</a:t>
                      </a:r>
                      <a:r>
                        <a:rPr lang="ar-DZ" sz="2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لكشوفات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الفصلية والنهائية.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57">
                <a:tc>
                  <a:txBody>
                    <a:bodyPr/>
                    <a:lstStyle/>
                    <a:p>
                      <a:pPr algn="r" rtl="1"/>
                      <a:r>
                        <a:rPr lang="ar-DZ" sz="2800" b="1" kern="120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امثلة عن دفاتر </a:t>
                      </a:r>
                      <a:r>
                        <a:rPr lang="ar-DZ" sz="2800" b="1" kern="12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”رقمية“ مدعمة ببرمجيات خاصة.</a:t>
                      </a:r>
                      <a:endParaRPr lang="fr-FR" sz="2800" b="1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20</a:t>
            </a:fld>
            <a:endParaRPr lang="fr-B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323528" y="1124744"/>
            <a:ext cx="8431212" cy="5301208"/>
          </a:xfrm>
        </p:spPr>
        <p:txBody>
          <a:bodyPr>
            <a:normAutofit fontScale="32500" lnSpcReduction="20000"/>
          </a:bodyPr>
          <a:lstStyle/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  <a:p>
            <a:pPr algn="r" rtl="1"/>
            <a:r>
              <a:rPr lang="ar-DZ" sz="8000" b="1" dirty="0" smtClean="0">
                <a:solidFill>
                  <a:srgbClr val="002060"/>
                </a:solidFill>
              </a:rPr>
              <a:t>أمّا المعالجة </a:t>
            </a:r>
            <a:r>
              <a:rPr lang="ar-DZ" sz="8000" b="1" dirty="0" err="1" smtClean="0">
                <a:solidFill>
                  <a:srgbClr val="002060"/>
                </a:solidFill>
              </a:rPr>
              <a:t>البيداغوجية</a:t>
            </a:r>
            <a:r>
              <a:rPr lang="ar-DZ" sz="8000" b="1" dirty="0" smtClean="0">
                <a:solidFill>
                  <a:srgbClr val="002060"/>
                </a:solidFill>
              </a:rPr>
              <a:t>، فهي المسار الذي يمكّن المتعلّم من تجاوز الصعوبات التي تعترض </a:t>
            </a:r>
            <a:r>
              <a:rPr lang="ar-DZ" sz="8000" b="1" dirty="0" err="1" smtClean="0">
                <a:solidFill>
                  <a:srgbClr val="002060"/>
                </a:solidFill>
              </a:rPr>
              <a:t>تعلّمه.</a:t>
            </a:r>
            <a:r>
              <a:rPr lang="ar-DZ" sz="8000" b="1" dirty="0" smtClean="0">
                <a:solidFill>
                  <a:srgbClr val="002060"/>
                </a:solidFill>
              </a:rPr>
              <a:t> 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algn="r" rtl="1"/>
            <a:r>
              <a:rPr lang="ar-DZ" sz="8000" b="1" dirty="0" smtClean="0">
                <a:solidFill>
                  <a:srgbClr val="002060"/>
                </a:solidFill>
              </a:rPr>
              <a:t>وتظهر المعالجة </a:t>
            </a:r>
            <a:r>
              <a:rPr lang="ar-DZ" sz="8000" b="1" dirty="0" err="1" smtClean="0">
                <a:solidFill>
                  <a:srgbClr val="002060"/>
                </a:solidFill>
              </a:rPr>
              <a:t>البيداغوجية</a:t>
            </a:r>
            <a:r>
              <a:rPr lang="ar-DZ" sz="8000" b="1" dirty="0" smtClean="0">
                <a:solidFill>
                  <a:srgbClr val="002060"/>
                </a:solidFill>
              </a:rPr>
              <a:t> في عدّة مستويات من مخطّط إجراء التعلّم: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بعد الوضعية </a:t>
            </a:r>
            <a:r>
              <a:rPr lang="ar-DZ" sz="8000" b="1" dirty="0" err="1" smtClean="0">
                <a:solidFill>
                  <a:srgbClr val="FF0000"/>
                </a:solidFill>
              </a:rPr>
              <a:t>التعلّمية</a:t>
            </a:r>
            <a:r>
              <a:rPr lang="ar-DZ" sz="8000" b="1" dirty="0" smtClean="0">
                <a:solidFill>
                  <a:srgbClr val="FF0000"/>
                </a:solidFill>
              </a:rPr>
              <a:t> البسيطة</a:t>
            </a:r>
            <a:r>
              <a:rPr lang="ar-DZ" sz="8000" b="1" dirty="0" smtClean="0">
                <a:solidFill>
                  <a:srgbClr val="002060"/>
                </a:solidFill>
              </a:rPr>
              <a:t>، حيث تبدو مواطن الضعف لدى المتعلّم، أو ضعف التحكّم في </a:t>
            </a:r>
            <a:r>
              <a:rPr lang="ar-DZ" sz="8000" b="1" dirty="0" err="1" smtClean="0">
                <a:solidFill>
                  <a:srgbClr val="002060"/>
                </a:solidFill>
              </a:rPr>
              <a:t>المعارف </a:t>
            </a:r>
            <a:r>
              <a:rPr lang="ar-DZ" sz="8000" b="1" dirty="0" smtClean="0">
                <a:solidFill>
                  <a:srgbClr val="002060"/>
                </a:solidFill>
              </a:rPr>
              <a:t>(هذه معالجة تقليدية</a:t>
            </a:r>
            <a:r>
              <a:rPr lang="ar-DZ" sz="8000" b="1" dirty="0" err="1" smtClean="0">
                <a:solidFill>
                  <a:srgbClr val="002060"/>
                </a:solidFill>
              </a:rPr>
              <a:t>)؛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بعد وضعية تعلّم الإدماج</a:t>
            </a:r>
            <a:r>
              <a:rPr lang="ar-DZ" sz="8000" b="1" dirty="0" smtClean="0">
                <a:solidFill>
                  <a:srgbClr val="002060"/>
                </a:solidFill>
              </a:rPr>
              <a:t>، حيث يظهر ضعف المتعلّم في تجيد الموارد؛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بعد حلّ الوضعية المشكلة </a:t>
            </a:r>
            <a:r>
              <a:rPr lang="ar-DZ" sz="8000" b="1" dirty="0" err="1" smtClean="0">
                <a:solidFill>
                  <a:srgbClr val="FF0000"/>
                </a:solidFill>
              </a:rPr>
              <a:t>الانطلاقية </a:t>
            </a:r>
            <a:r>
              <a:rPr lang="ar-DZ" sz="8000" b="1" dirty="0" smtClean="0">
                <a:solidFill>
                  <a:srgbClr val="002060"/>
                </a:solidFill>
              </a:rPr>
              <a:t>، حيث يُظهر المتعلّم نقصا في استخدام الموارد؛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lvl="0" algn="r" rtl="1"/>
            <a:r>
              <a:rPr lang="ar-DZ" sz="8000" b="1" dirty="0" smtClean="0">
                <a:solidFill>
                  <a:srgbClr val="FF0000"/>
                </a:solidFill>
              </a:rPr>
              <a:t>في نهاية الفصل الأوّل ونهاية الفصل الثاني</a:t>
            </a:r>
            <a:r>
              <a:rPr lang="ar-DZ" sz="8000" b="1" dirty="0" smtClean="0">
                <a:solidFill>
                  <a:srgbClr val="002060"/>
                </a:solidFill>
              </a:rPr>
              <a:t>، بعد نتائج التقويم المرحلي الفصلي.</a:t>
            </a:r>
            <a:endParaRPr lang="fr-FR" sz="8000" b="1" dirty="0" smtClean="0">
              <a:solidFill>
                <a:srgbClr val="00206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  <a:p>
            <a:pPr algn="r" rtl="1">
              <a:spcBef>
                <a:spcPts val="0"/>
              </a:spcBef>
              <a:buNone/>
              <a:defRPr/>
            </a:pPr>
            <a:endParaRPr lang="ar-DZ" sz="8000" b="1" u="sng" dirty="0" smtClean="0">
              <a:solidFill>
                <a:srgbClr val="C00000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720080"/>
          </a:xfrm>
        </p:spPr>
        <p:txBody>
          <a:bodyPr>
            <a:normAutofit/>
          </a:bodyPr>
          <a:lstStyle/>
          <a:p>
            <a:r>
              <a:rPr lang="ar-DZ" sz="4000" b="1" u="sng" dirty="0" smtClean="0">
                <a:solidFill>
                  <a:srgbClr val="C00000"/>
                </a:solidFill>
              </a:rPr>
              <a:t>المعالجة </a:t>
            </a:r>
            <a:r>
              <a:rPr lang="ar-DZ" sz="4000" b="1" u="sng" dirty="0" err="1" smtClean="0">
                <a:solidFill>
                  <a:srgbClr val="C00000"/>
                </a:solidFill>
              </a:rPr>
              <a:t>البيداغوجية</a:t>
            </a:r>
            <a:endParaRPr lang="fr-FR" sz="4000" b="1" u="sng" dirty="0" smtClean="0">
              <a:solidFill>
                <a:srgbClr val="C00000"/>
              </a:solidFill>
            </a:endParaRPr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21</a:t>
            </a:fld>
            <a:endParaRPr lang="fr-BE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1</a:t>
            </a:r>
            <a:r>
              <a:rPr lang="ar-DZ" b="1" dirty="0" smtClean="0"/>
              <a:t>التقويم في الطور الأول من التعليم </a:t>
            </a:r>
            <a:r>
              <a:rPr lang="ar-DZ" b="1" dirty="0" err="1" smtClean="0"/>
              <a:t>الإبتدائي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4008" y="1556792"/>
            <a:ext cx="4041775" cy="4320480"/>
          </a:xfrm>
        </p:spPr>
        <p:txBody>
          <a:bodyPr>
            <a:normAutofit fontScale="85000" lnSpcReduction="10000"/>
          </a:bodyPr>
          <a:lstStyle/>
          <a:p>
            <a:pPr algn="r" rtl="1">
              <a:buFont typeface="Wingdings" pitchFamily="2" charset="2"/>
              <a:buChar char="v"/>
            </a:pPr>
            <a:r>
              <a:rPr lang="ar-DZ" sz="2800" b="1" u="sng" dirty="0" smtClean="0">
                <a:solidFill>
                  <a:srgbClr val="C00000"/>
                </a:solidFill>
              </a:rPr>
              <a:t>من ملمح التخرج من الطور </a:t>
            </a:r>
            <a:r>
              <a:rPr lang="ar-DZ" sz="2800" b="1" u="sng" dirty="0" err="1" smtClean="0">
                <a:solidFill>
                  <a:srgbClr val="C00000"/>
                </a:solidFill>
              </a:rPr>
              <a:t>ألأول</a:t>
            </a:r>
            <a:r>
              <a:rPr lang="ar-DZ" b="1" u="sng" dirty="0" err="1" smtClean="0"/>
              <a:t> :</a:t>
            </a:r>
            <a:endParaRPr lang="ar-DZ" b="1" u="sng" dirty="0" smtClean="0"/>
          </a:p>
          <a:p>
            <a:pPr algn="r" rtl="1">
              <a:buFont typeface="Wingdings" pitchFamily="2" charset="2"/>
              <a:buChar char="v"/>
            </a:pPr>
            <a:r>
              <a:rPr lang="ar-DZ" dirty="0" smtClean="0"/>
              <a:t>التحكم في اللغتين </a:t>
            </a:r>
            <a:r>
              <a:rPr lang="ar-DZ" dirty="0" err="1" smtClean="0"/>
              <a:t>الأساسيتن</a:t>
            </a:r>
            <a:r>
              <a:rPr lang="ar-DZ" dirty="0" smtClean="0"/>
              <a:t> </a:t>
            </a:r>
            <a:r>
              <a:rPr lang="ar-DZ" dirty="0" err="1" smtClean="0"/>
              <a:t>أي:</a:t>
            </a:r>
            <a:endParaRPr lang="ar-DZ" dirty="0" smtClean="0"/>
          </a:p>
          <a:p>
            <a:pPr algn="r" rtl="1">
              <a:buFont typeface="Wingdings" pitchFamily="2" charset="2"/>
              <a:buChar char="Ø"/>
            </a:pPr>
            <a:r>
              <a:rPr lang="ar-DZ" sz="3000" b="1" dirty="0" smtClean="0">
                <a:solidFill>
                  <a:srgbClr val="00B050"/>
                </a:solidFill>
              </a:rPr>
              <a:t>الكتابة والقراءة والتواصل باللغة العربية.</a:t>
            </a:r>
          </a:p>
          <a:p>
            <a:pPr algn="r" rtl="1">
              <a:buFont typeface="Wingdings" pitchFamily="2" charset="2"/>
              <a:buChar char="Ø"/>
            </a:pPr>
            <a:r>
              <a:rPr lang="ar-DZ" sz="3000" b="1" dirty="0" smtClean="0">
                <a:solidFill>
                  <a:srgbClr val="0070C0"/>
                </a:solidFill>
              </a:rPr>
              <a:t>التحكم في الأعداد والعمليات </a:t>
            </a:r>
            <a:r>
              <a:rPr lang="ar-DZ" sz="3000" b="1" dirty="0" err="1" smtClean="0">
                <a:solidFill>
                  <a:srgbClr val="0070C0"/>
                </a:solidFill>
              </a:rPr>
              <a:t>الحسابية.</a:t>
            </a:r>
            <a:r>
              <a:rPr lang="ar-DZ" sz="3000" b="1" dirty="0" smtClean="0">
                <a:solidFill>
                  <a:srgbClr val="0070C0"/>
                </a:solidFill>
              </a:rPr>
              <a:t> </a:t>
            </a:r>
          </a:p>
          <a:p>
            <a:pPr algn="r" rtl="1">
              <a:buFont typeface="Wingdings" pitchFamily="2" charset="2"/>
              <a:buChar char="Ø"/>
            </a:pPr>
            <a:endParaRPr lang="ar-DZ" dirty="0" smtClean="0"/>
          </a:p>
          <a:p>
            <a:pPr algn="r" rtl="1">
              <a:buFont typeface="Wingdings" pitchFamily="2" charset="2"/>
              <a:buChar char="v"/>
            </a:pPr>
            <a:r>
              <a:rPr lang="ar-DZ" sz="2600" b="1" u="sng" dirty="0" smtClean="0">
                <a:solidFill>
                  <a:srgbClr val="C00000"/>
                </a:solidFill>
              </a:rPr>
              <a:t>هدف التقويم في الطور </a:t>
            </a:r>
            <a:r>
              <a:rPr lang="ar-DZ" sz="2600" b="1" u="sng" dirty="0" err="1" smtClean="0">
                <a:solidFill>
                  <a:srgbClr val="C00000"/>
                </a:solidFill>
              </a:rPr>
              <a:t>الأول:</a:t>
            </a:r>
            <a:r>
              <a:rPr lang="ar-DZ" u="sng" dirty="0" smtClean="0"/>
              <a:t> </a:t>
            </a:r>
          </a:p>
          <a:p>
            <a:pPr algn="r" rtl="1">
              <a:buFont typeface="Wingdings" pitchFamily="2" charset="2"/>
              <a:buChar char="v"/>
            </a:pPr>
            <a:r>
              <a:rPr lang="ar-DZ" sz="3000" b="1" dirty="0" smtClean="0"/>
              <a:t>التأكد من اكتساب مستوى نمو مقبول لكل التلاميذ المتمدرسين.</a:t>
            </a:r>
            <a:endParaRPr lang="fr-FR" sz="30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457200" y="1268760"/>
            <a:ext cx="4040188" cy="4857403"/>
          </a:xfrm>
        </p:spPr>
        <p:txBody>
          <a:bodyPr/>
          <a:lstStyle/>
          <a:p>
            <a:pPr algn="r" rtl="1">
              <a:buFont typeface="Wingdings" pitchFamily="2" charset="2"/>
              <a:buChar char="v"/>
            </a:pPr>
            <a:r>
              <a:rPr lang="ar-DZ" b="1" dirty="0" smtClean="0">
                <a:solidFill>
                  <a:srgbClr val="C00000"/>
                </a:solidFill>
              </a:rPr>
              <a:t>تحتوي كشوف التقويم الفصلية  في السنة الأولى </a:t>
            </a:r>
            <a:r>
              <a:rPr lang="fr-FR" b="1" dirty="0" smtClean="0">
                <a:solidFill>
                  <a:srgbClr val="C00000"/>
                </a:solidFill>
              </a:rPr>
              <a:t>1AP</a:t>
            </a:r>
            <a:r>
              <a:rPr lang="ar-DZ" b="1" dirty="0" smtClean="0">
                <a:solidFill>
                  <a:srgbClr val="C00000"/>
                </a:solidFill>
              </a:rPr>
              <a:t> على ملاحظات حول مستوى نمو الكفاءات دون علامات.</a:t>
            </a:r>
          </a:p>
          <a:p>
            <a:pPr algn="r" rtl="1">
              <a:buFont typeface="Wingdings" pitchFamily="2" charset="2"/>
              <a:buChar char="v"/>
            </a:pPr>
            <a:r>
              <a:rPr lang="ar-DZ" b="1" dirty="0" smtClean="0">
                <a:solidFill>
                  <a:srgbClr val="0070C0"/>
                </a:solidFill>
              </a:rPr>
              <a:t>وجود ملاحظة من النوع </a:t>
            </a:r>
          </a:p>
          <a:p>
            <a:pPr algn="r" rtl="1">
              <a:buNone/>
            </a:pPr>
            <a:r>
              <a:rPr lang="ar-DZ" b="1" dirty="0" smtClean="0">
                <a:solidFill>
                  <a:srgbClr val="0070C0"/>
                </a:solidFill>
              </a:rPr>
              <a:t>” غير متحكم“ يؤدي الى معالجة إجبارية في الفصل الموالي.</a:t>
            </a:r>
          </a:p>
          <a:p>
            <a:pPr algn="r" rtl="1">
              <a:buFont typeface="Wingdings" pitchFamily="2" charset="2"/>
              <a:buChar char="v"/>
            </a:pPr>
            <a:r>
              <a:rPr lang="ar-DZ" sz="2800" b="1" dirty="0" smtClean="0"/>
              <a:t>الانتقال من السنة الأولى الى السنة الثانية </a:t>
            </a:r>
            <a:r>
              <a:rPr lang="fr-FR" sz="2800" b="1" dirty="0" smtClean="0"/>
              <a:t>2AP</a:t>
            </a:r>
            <a:r>
              <a:rPr lang="ar-DZ" sz="2800" b="1" dirty="0" smtClean="0"/>
              <a:t> آلي لكل متعلم تابع بصفة منتظمة الدراسة.</a:t>
            </a:r>
            <a:endParaRPr lang="fr-FR" sz="2800" b="1" dirty="0" smtClean="0"/>
          </a:p>
          <a:p>
            <a:endParaRPr lang="fr-FR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22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2</a:t>
            </a:r>
            <a:r>
              <a:rPr lang="ar-DZ" b="1" dirty="0" smtClean="0"/>
              <a:t>التقويم في الطور الأول من التعليم </a:t>
            </a:r>
            <a:r>
              <a:rPr lang="ar-DZ" b="1" dirty="0" err="1" smtClean="0"/>
              <a:t>الإبتدائي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7544" y="1196752"/>
            <a:ext cx="8218239" cy="4824536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ar-DZ" sz="2600" b="1" dirty="0" smtClean="0">
                <a:solidFill>
                  <a:srgbClr val="0070C0"/>
                </a:solidFill>
              </a:rPr>
              <a:t>تحتوي كشوف التقويم الفصلية  في السنة الأولى </a:t>
            </a:r>
            <a:r>
              <a:rPr lang="fr-FR" sz="2600" b="1" dirty="0" smtClean="0">
                <a:solidFill>
                  <a:srgbClr val="0070C0"/>
                </a:solidFill>
              </a:rPr>
              <a:t>2AP</a:t>
            </a:r>
            <a:r>
              <a:rPr lang="ar-DZ" sz="2600" b="1" dirty="0" smtClean="0">
                <a:solidFill>
                  <a:srgbClr val="0070C0"/>
                </a:solidFill>
              </a:rPr>
              <a:t> على علامات وملاحظات حول مستوى نمو </a:t>
            </a:r>
            <a:r>
              <a:rPr lang="ar-DZ" sz="2600" b="1" dirty="0" err="1" smtClean="0">
                <a:solidFill>
                  <a:srgbClr val="0070C0"/>
                </a:solidFill>
              </a:rPr>
              <a:t>الكفاءات .</a:t>
            </a:r>
            <a:r>
              <a:rPr lang="ar-DZ" sz="2600" b="1" dirty="0" smtClean="0">
                <a:solidFill>
                  <a:srgbClr val="0070C0"/>
                </a:solidFill>
              </a:rPr>
              <a:t>( </a:t>
            </a:r>
            <a:r>
              <a:rPr lang="ar-DZ" sz="2600" b="1" dirty="0" err="1" smtClean="0">
                <a:solidFill>
                  <a:srgbClr val="0070C0"/>
                </a:solidFill>
              </a:rPr>
              <a:t>أمثلة ....)</a:t>
            </a:r>
            <a:endParaRPr lang="ar-DZ" sz="2600" b="1" dirty="0" smtClean="0">
              <a:solidFill>
                <a:srgbClr val="C00000"/>
              </a:solidFill>
            </a:endParaRPr>
          </a:p>
          <a:p>
            <a:pPr algn="r" rtl="1"/>
            <a:r>
              <a:rPr lang="ar-DZ" sz="3000" b="1" dirty="0" smtClean="0"/>
              <a:t>وضعية </a:t>
            </a:r>
            <a:r>
              <a:rPr lang="ar-DZ" sz="3000" b="1" dirty="0" err="1" smtClean="0"/>
              <a:t>التويم</a:t>
            </a:r>
            <a:r>
              <a:rPr lang="ar-DZ" sz="3000" b="1" dirty="0" smtClean="0"/>
              <a:t> النهائية مؤسسة على نص الكفاءة الشاملة للسنة.</a:t>
            </a:r>
          </a:p>
          <a:p>
            <a:pPr algn="r" rtl="1">
              <a:buNone/>
            </a:pPr>
            <a:r>
              <a:rPr lang="ar-DZ" sz="2800" b="1" dirty="0" smtClean="0">
                <a:solidFill>
                  <a:srgbClr val="00B050"/>
                </a:solidFill>
              </a:rPr>
              <a:t>يتعلق المعدل </a:t>
            </a:r>
            <a:r>
              <a:rPr lang="ar-DZ" sz="2800" b="1" dirty="0" err="1" smtClean="0">
                <a:solidFill>
                  <a:srgbClr val="00B050"/>
                </a:solidFill>
              </a:rPr>
              <a:t>السنوي ”بمعاملين“</a:t>
            </a:r>
            <a:endParaRPr lang="ar-DZ" sz="2800" b="1" dirty="0" smtClean="0">
              <a:solidFill>
                <a:srgbClr val="00B050"/>
              </a:solidFill>
            </a:endParaRPr>
          </a:p>
          <a:p>
            <a:pPr algn="r" rtl="1">
              <a:buFont typeface="Wingdings" pitchFamily="2" charset="2"/>
              <a:buChar char="v"/>
            </a:pPr>
            <a:r>
              <a:rPr lang="ar-DZ" sz="3200" b="1" dirty="0" smtClean="0"/>
              <a:t>معامل </a:t>
            </a:r>
            <a:r>
              <a:rPr lang="ar-DZ" sz="3200" b="1" dirty="0" err="1" smtClean="0"/>
              <a:t>للفصول </a:t>
            </a:r>
            <a:r>
              <a:rPr lang="ar-DZ" sz="3200" b="1" dirty="0" smtClean="0"/>
              <a:t>(1 </a:t>
            </a:r>
            <a:r>
              <a:rPr lang="ar-DZ" sz="3200" b="1" dirty="0" err="1" smtClean="0"/>
              <a:t>للأول </a:t>
            </a:r>
            <a:r>
              <a:rPr lang="ar-DZ" sz="3200" b="1" dirty="0" smtClean="0"/>
              <a:t>،1.5 للثاني و 2 للثالث</a:t>
            </a:r>
            <a:r>
              <a:rPr lang="ar-DZ" sz="3200" b="1" dirty="0" smtClean="0">
                <a:solidFill>
                  <a:srgbClr val="C00000"/>
                </a:solidFill>
              </a:rPr>
              <a:t> </a:t>
            </a:r>
            <a:r>
              <a:rPr lang="ar-DZ" sz="3200" b="1" dirty="0" smtClean="0"/>
              <a:t>نظرا لمستوى موارد </a:t>
            </a:r>
            <a:r>
              <a:rPr lang="ar-DZ" sz="3200" b="1" dirty="0" err="1" smtClean="0"/>
              <a:t>الادماج )</a:t>
            </a:r>
            <a:endParaRPr lang="ar-DZ" sz="3200" b="1" dirty="0" smtClean="0"/>
          </a:p>
          <a:p>
            <a:pPr algn="r" rtl="1">
              <a:buFont typeface="Wingdings" pitchFamily="2" charset="2"/>
              <a:buChar char="v"/>
            </a:pPr>
            <a:r>
              <a:rPr lang="ar-DZ" sz="3000" b="1" dirty="0" smtClean="0">
                <a:solidFill>
                  <a:srgbClr val="C00000"/>
                </a:solidFill>
              </a:rPr>
              <a:t>معامل حسب المواد مع </a:t>
            </a:r>
            <a:r>
              <a:rPr lang="ar-DZ" sz="3000" b="1" dirty="0" err="1" smtClean="0">
                <a:solidFill>
                  <a:srgbClr val="C00000"/>
                </a:solidFill>
              </a:rPr>
              <a:t>لابراز</a:t>
            </a:r>
            <a:r>
              <a:rPr lang="ar-DZ" sz="3000" b="1" dirty="0" smtClean="0">
                <a:solidFill>
                  <a:srgbClr val="C00000"/>
                </a:solidFill>
              </a:rPr>
              <a:t> الدور الأساسي للغة العربية وللرياضيات في الطور الأول.</a:t>
            </a:r>
          </a:p>
          <a:p>
            <a:pPr algn="l">
              <a:buFont typeface="Wingdings" pitchFamily="2" charset="2"/>
              <a:buChar char="v"/>
            </a:pPr>
            <a:r>
              <a:rPr lang="fr-FR" b="1" dirty="0" smtClean="0"/>
              <a:t>Le redoublement n’étant pas la meilleure solution pédagogique, le passage du 1</a:t>
            </a:r>
            <a:r>
              <a:rPr lang="fr-FR" b="1" baseline="30000" dirty="0" smtClean="0"/>
              <a:t>er</a:t>
            </a:r>
            <a:r>
              <a:rPr lang="fr-FR" b="1" dirty="0" smtClean="0"/>
              <a:t> palier à la 3</a:t>
            </a:r>
            <a:r>
              <a:rPr lang="fr-FR" b="1" baseline="30000" dirty="0" smtClean="0"/>
              <a:t>ème</a:t>
            </a:r>
            <a:r>
              <a:rPr lang="fr-FR" b="1" dirty="0" smtClean="0"/>
              <a:t> AP devrait être quasi général pour les élèves ayant suivi régulièrement les apprentissages de la 2</a:t>
            </a:r>
            <a:r>
              <a:rPr lang="fr-FR" b="1" baseline="30000" dirty="0" smtClean="0"/>
              <a:t>ère</a:t>
            </a:r>
            <a:r>
              <a:rPr lang="fr-FR" b="1" dirty="0" smtClean="0"/>
              <a:t> AP, avec les </a:t>
            </a:r>
            <a:r>
              <a:rPr lang="fr-FR" b="1" dirty="0" err="1" smtClean="0"/>
              <a:t>remédiations</a:t>
            </a:r>
            <a:r>
              <a:rPr lang="fr-FR" b="1" dirty="0" smtClean="0"/>
              <a:t> adéquates, c'est-à-dire les élèves «sachant lire, écrire et compter</a:t>
            </a:r>
            <a:r>
              <a:rPr lang="fr-FR" sz="2800" b="1" dirty="0" smtClean="0"/>
              <a:t>».</a:t>
            </a:r>
          </a:p>
          <a:p>
            <a:pPr algn="r" rtl="1">
              <a:buFont typeface="Wingdings" pitchFamily="2" charset="2"/>
              <a:buChar char="v"/>
            </a:pPr>
            <a:endParaRPr lang="fr-FR" sz="2800" b="1" dirty="0" smtClean="0">
              <a:solidFill>
                <a:srgbClr val="C00000"/>
              </a:solidFill>
            </a:endParaRPr>
          </a:p>
          <a:p>
            <a:pPr algn="r" rtl="1"/>
            <a:endParaRPr lang="ar-DZ" sz="2800" b="1" dirty="0" smtClean="0">
              <a:solidFill>
                <a:srgbClr val="00B050"/>
              </a:solidFill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23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DZ" b="1" dirty="0" smtClean="0"/>
              <a:t>التقويم في الطور الأول من التعليم  المتوسط 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7544" y="1196752"/>
            <a:ext cx="8218239" cy="4824536"/>
          </a:xfrm>
        </p:spPr>
        <p:txBody>
          <a:bodyPr>
            <a:normAutofit/>
          </a:bodyPr>
          <a:lstStyle/>
          <a:p>
            <a:pPr algn="r" rtl="1"/>
            <a:r>
              <a:rPr lang="ar-DZ" sz="2600" b="1" dirty="0" smtClean="0">
                <a:solidFill>
                  <a:srgbClr val="0070C0"/>
                </a:solidFill>
              </a:rPr>
              <a:t>تحتوي كشوف التقويم الفصلية  في السنة الأولى </a:t>
            </a:r>
            <a:r>
              <a:rPr lang="fr-FR" sz="2600" b="1" dirty="0" smtClean="0">
                <a:solidFill>
                  <a:srgbClr val="0070C0"/>
                </a:solidFill>
              </a:rPr>
              <a:t>1AM</a:t>
            </a:r>
            <a:r>
              <a:rPr lang="ar-DZ" sz="2600" b="1" dirty="0" smtClean="0">
                <a:solidFill>
                  <a:srgbClr val="0070C0"/>
                </a:solidFill>
              </a:rPr>
              <a:t> على علامات وملاحظات حول مستوى نمو الكفاءات</a:t>
            </a:r>
            <a:endParaRPr lang="ar-DZ" sz="2600" b="1" dirty="0" smtClean="0">
              <a:solidFill>
                <a:srgbClr val="C00000"/>
              </a:solidFill>
            </a:endParaRPr>
          </a:p>
          <a:p>
            <a:pPr algn="r" rtl="1"/>
            <a:r>
              <a:rPr lang="ar-DZ" sz="3000" b="1" dirty="0" smtClean="0"/>
              <a:t>وضعية التقويم النهائية مؤسسة على نص الكفاءة الشاملة للسنة.</a:t>
            </a:r>
          </a:p>
          <a:p>
            <a:pPr algn="r" rtl="1">
              <a:buNone/>
            </a:pPr>
            <a:r>
              <a:rPr lang="ar-DZ" sz="2800" b="1" dirty="0" smtClean="0">
                <a:solidFill>
                  <a:srgbClr val="00B050"/>
                </a:solidFill>
              </a:rPr>
              <a:t>يتعلق المعدل </a:t>
            </a:r>
            <a:r>
              <a:rPr lang="ar-DZ" sz="2800" b="1" dirty="0" err="1" smtClean="0">
                <a:solidFill>
                  <a:srgbClr val="00B050"/>
                </a:solidFill>
              </a:rPr>
              <a:t>السنوي ”بمعاملين“</a:t>
            </a:r>
            <a:endParaRPr lang="ar-DZ" sz="2800" b="1" dirty="0" smtClean="0">
              <a:solidFill>
                <a:srgbClr val="00B050"/>
              </a:solidFill>
            </a:endParaRPr>
          </a:p>
          <a:p>
            <a:pPr algn="r" rtl="1">
              <a:buFont typeface="Wingdings" pitchFamily="2" charset="2"/>
              <a:buChar char="v"/>
            </a:pPr>
            <a:r>
              <a:rPr lang="ar-DZ" sz="3200" b="1" dirty="0" smtClean="0"/>
              <a:t>معامل </a:t>
            </a:r>
            <a:r>
              <a:rPr lang="ar-DZ" sz="3200" b="1" dirty="0" err="1" smtClean="0"/>
              <a:t>للفصول </a:t>
            </a:r>
            <a:r>
              <a:rPr lang="ar-DZ" sz="3200" b="1" dirty="0" smtClean="0"/>
              <a:t>(1 </a:t>
            </a:r>
            <a:r>
              <a:rPr lang="ar-DZ" sz="3200" b="1" dirty="0" err="1" smtClean="0"/>
              <a:t>للأول </a:t>
            </a:r>
            <a:r>
              <a:rPr lang="ar-DZ" sz="3200" b="1" dirty="0" smtClean="0"/>
              <a:t>،1.5 للثاني و 2 للثالث</a:t>
            </a:r>
            <a:r>
              <a:rPr lang="ar-DZ" sz="3200" b="1" dirty="0" smtClean="0">
                <a:solidFill>
                  <a:srgbClr val="C00000"/>
                </a:solidFill>
              </a:rPr>
              <a:t> </a:t>
            </a:r>
            <a:r>
              <a:rPr lang="ar-DZ" sz="3200" b="1" dirty="0" smtClean="0"/>
              <a:t>نظرا لمستوى موارد </a:t>
            </a:r>
            <a:r>
              <a:rPr lang="ar-DZ" sz="3200" b="1" dirty="0" err="1" smtClean="0"/>
              <a:t>الادماج )</a:t>
            </a:r>
            <a:endParaRPr lang="ar-DZ" sz="3200" b="1" dirty="0" smtClean="0"/>
          </a:p>
          <a:p>
            <a:pPr algn="r" rtl="1">
              <a:buFont typeface="Wingdings" pitchFamily="2" charset="2"/>
              <a:buChar char="v"/>
            </a:pPr>
            <a:r>
              <a:rPr lang="ar-DZ" sz="3000" b="1" dirty="0" smtClean="0">
                <a:solidFill>
                  <a:srgbClr val="C00000"/>
                </a:solidFill>
              </a:rPr>
              <a:t>معامل حسب المواد( بنفس المعامل كمناهج الجيل الأول</a:t>
            </a:r>
            <a:r>
              <a:rPr lang="ar-DZ" sz="3000" b="1" dirty="0" err="1" smtClean="0">
                <a:solidFill>
                  <a:srgbClr val="C00000"/>
                </a:solidFill>
              </a:rPr>
              <a:t>)</a:t>
            </a:r>
            <a:endParaRPr lang="ar-DZ" sz="3000" b="1" dirty="0" smtClean="0">
              <a:solidFill>
                <a:srgbClr val="C00000"/>
              </a:solidFill>
            </a:endParaRPr>
          </a:p>
          <a:p>
            <a:pPr algn="r" rtl="1">
              <a:buFont typeface="Wingdings" pitchFamily="2" charset="2"/>
              <a:buChar char="v"/>
            </a:pPr>
            <a:endParaRPr lang="fr-FR" sz="2800" b="1" dirty="0" smtClean="0">
              <a:solidFill>
                <a:srgbClr val="C00000"/>
              </a:solidFill>
            </a:endParaRPr>
          </a:p>
          <a:p>
            <a:pPr algn="r" rtl="1"/>
            <a:endParaRPr lang="ar-DZ" sz="2800" b="1" dirty="0" smtClean="0">
              <a:solidFill>
                <a:srgbClr val="00B050"/>
              </a:solidFill>
            </a:endParaRPr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24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rtl="1"/>
            <a:r>
              <a:rPr lang="ar-SA" b="1" dirty="0" smtClean="0"/>
              <a:t>نماذج من شبكات التقويم </a:t>
            </a:r>
            <a:r>
              <a:rPr lang="ar-DZ" b="1" dirty="0" smtClean="0"/>
              <a:t> بالمعايير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717032"/>
            <a:ext cx="78962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5860" y="1164332"/>
            <a:ext cx="77819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25</a:t>
            </a:fld>
            <a:endParaRPr lang="fr-B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ar-DZ" dirty="0"/>
              <a:t>شكرا والسلام عليكم </a:t>
            </a:r>
            <a:endParaRPr lang="fr-FR" dirty="0"/>
          </a:p>
        </p:txBody>
      </p:sp>
      <p:sp>
        <p:nvSpPr>
          <p:cNvPr id="2" name="عنصر نائب للتذييل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 smtClean="0"/>
              <a:t>facebook.com/groups/tahadiphysic</a:t>
            </a:r>
            <a:endParaRPr lang="fr-BE"/>
          </a:p>
        </p:txBody>
      </p:sp>
      <p:sp>
        <p:nvSpPr>
          <p:cNvPr id="3" name="عنصر نائب لرقم الشريحة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26</a:t>
            </a:fld>
            <a:endParaRPr lang="fr-BE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4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2455</Words>
  <Application>Microsoft Office PowerPoint</Application>
  <PresentationFormat>عرض على الشاشة (4:3)</PresentationFormat>
  <Paragraphs>407</Paragraphs>
  <Slides>26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26</vt:i4>
      </vt:variant>
    </vt:vector>
  </HeadingPairs>
  <TitlesOfParts>
    <vt:vector size="34" baseType="lpstr">
      <vt:lpstr>Arabic Transparent</vt:lpstr>
      <vt:lpstr>Arial</vt:lpstr>
      <vt:lpstr>Calibri</vt:lpstr>
      <vt:lpstr>Courier New</vt:lpstr>
      <vt:lpstr>Symbol</vt:lpstr>
      <vt:lpstr>Times New Roman</vt:lpstr>
      <vt:lpstr>Wingdings</vt:lpstr>
      <vt:lpstr>Thème Office</vt:lpstr>
      <vt:lpstr> وزارة التربية الوطنية اللجنة الوطنية للمناهج  </vt:lpstr>
      <vt:lpstr>اقتراح ”مقطع“ حول التقويم في P2G</vt:lpstr>
      <vt:lpstr>التقويم في المقاربة بالكفاءات</vt:lpstr>
      <vt:lpstr> أهم تطورات مناهج الجيل الثاني</vt:lpstr>
      <vt:lpstr>المرحلة النهائية:التقويم الإشهادي أو النهائي</vt:lpstr>
      <vt:lpstr>المرحلة النهائية:التقويم الإشهادي أو النهائي</vt:lpstr>
      <vt:lpstr>التقويمان الفصليان 2و1 </vt:lpstr>
      <vt:lpstr>التقويم التكويني</vt:lpstr>
      <vt:lpstr>التقويم التكويني</vt:lpstr>
      <vt:lpstr>المعالجة البيداغوجية</vt:lpstr>
      <vt:lpstr>عرض تقديمي في PowerPoint</vt:lpstr>
      <vt:lpstr>عرض تقديمي في PowerPoint</vt:lpstr>
      <vt:lpstr>مخطط الكفاءات والوضعيات التعلّمية</vt:lpstr>
      <vt:lpstr>مخطّط  التعلّمات لبناء الكفاءة (séquence) </vt:lpstr>
      <vt:lpstr> </vt:lpstr>
      <vt:lpstr> </vt:lpstr>
      <vt:lpstr>التقويم التكويني</vt:lpstr>
      <vt:lpstr>التقويم التكويني</vt:lpstr>
      <vt:lpstr>التقويم التكويني في خدمة التعلمات</vt:lpstr>
      <vt:lpstr>التقويم التكويني في خدمة التعلمات</vt:lpstr>
      <vt:lpstr>المعالجة البيداغوجية</vt:lpstr>
      <vt:lpstr>1التقويم في الطور الأول من التعليم الإبتدائي</vt:lpstr>
      <vt:lpstr>2التقويم في الطور الأول من التعليم الإبتدائي</vt:lpstr>
      <vt:lpstr>التقويم في الطور الأول من التعليم  المتوسط </vt:lpstr>
      <vt:lpstr>نماذج من شبكات التقويم  بالمعايير</vt:lpstr>
      <vt:lpstr>شكرا والسلام عليكم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الجزء الأوّل المشترك لكل المواد</dc:title>
  <dc:creator>Rafik</dc:creator>
  <cp:lastModifiedBy>SAIID</cp:lastModifiedBy>
  <cp:revision>244</cp:revision>
  <dcterms:created xsi:type="dcterms:W3CDTF">2015-06-15T17:18:19Z</dcterms:created>
  <dcterms:modified xsi:type="dcterms:W3CDTF">2020-08-03T03:18:40Z</dcterms:modified>
</cp:coreProperties>
</file>