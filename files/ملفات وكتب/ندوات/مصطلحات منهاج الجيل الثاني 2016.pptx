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31"/>
  </p:notesMasterIdLst>
  <p:sldIdLst>
    <p:sldId id="301" r:id="rId2"/>
    <p:sldId id="417" r:id="rId3"/>
    <p:sldId id="418" r:id="rId4"/>
    <p:sldId id="419" r:id="rId5"/>
    <p:sldId id="303" r:id="rId6"/>
    <p:sldId id="304" r:id="rId7"/>
    <p:sldId id="306" r:id="rId8"/>
    <p:sldId id="307" r:id="rId9"/>
    <p:sldId id="413" r:id="rId10"/>
    <p:sldId id="308" r:id="rId11"/>
    <p:sldId id="309" r:id="rId12"/>
    <p:sldId id="310" r:id="rId13"/>
    <p:sldId id="414" r:id="rId14"/>
    <p:sldId id="311" r:id="rId15"/>
    <p:sldId id="420" r:id="rId16"/>
    <p:sldId id="421" r:id="rId17"/>
    <p:sldId id="313" r:id="rId18"/>
    <p:sldId id="412" r:id="rId19"/>
    <p:sldId id="314" r:id="rId20"/>
    <p:sldId id="315" r:id="rId21"/>
    <p:sldId id="316" r:id="rId22"/>
    <p:sldId id="415" r:id="rId23"/>
    <p:sldId id="416" r:id="rId24"/>
    <p:sldId id="317" r:id="rId25"/>
    <p:sldId id="319" r:id="rId26"/>
    <p:sldId id="422" r:id="rId27"/>
    <p:sldId id="424" r:id="rId28"/>
    <p:sldId id="425" r:id="rId29"/>
    <p:sldId id="423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1ADC1F"/>
    <a:srgbClr val="FF66CC"/>
    <a:srgbClr val="CCCC00"/>
    <a:srgbClr val="FF6600"/>
    <a:srgbClr val="FF3300"/>
    <a:srgbClr val="CCFF33"/>
    <a:srgbClr val="E03D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54448-397C-4E48-9361-2A6078E18690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FAD20-3204-4858-8680-538F4D9C0802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59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2D35DAB-F668-425F-A7CF-39122BB49F12}" type="datetimeFigureOut">
              <a:rPr lang="fr-FR" smtClean="0"/>
              <a:pPr/>
              <a:t>24/01/2021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1835696" y="0"/>
            <a:ext cx="5400600" cy="151216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الجمهورية الجزائرية الديمقراطية الشعبية </a:t>
            </a:r>
          </a:p>
          <a:p>
            <a:pPr algn="ctr"/>
            <a:r>
              <a:rPr lang="ar-DZ" sz="2800" b="1" dirty="0">
                <a:solidFill>
                  <a:schemeClr val="bg1"/>
                </a:solidFill>
              </a:rPr>
              <a:t>وزارة التربية الوطنية</a:t>
            </a:r>
          </a:p>
          <a:p>
            <a:pPr algn="ctr"/>
            <a:r>
              <a:rPr lang="ar-DZ" sz="2800" b="1" dirty="0">
                <a:solidFill>
                  <a:schemeClr val="bg1"/>
                </a:solidFill>
              </a:rPr>
              <a:t>مديرية التربية لولاية البليدة 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143108" y="1500174"/>
            <a:ext cx="4680520" cy="100811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مصطلحات الجيل الثاني 2016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714348" y="2643182"/>
            <a:ext cx="8064896" cy="3672408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sz="3200" b="1" dirty="0">
              <a:solidFill>
                <a:schemeClr val="bg1"/>
              </a:solidFill>
            </a:endParaRPr>
          </a:p>
          <a:p>
            <a:pPr algn="ctr"/>
            <a:endParaRPr lang="ar-DZ" sz="3200" b="1" dirty="0">
              <a:solidFill>
                <a:schemeClr val="bg1"/>
              </a:solidFill>
            </a:endParaRPr>
          </a:p>
          <a:p>
            <a:pPr algn="ctr"/>
            <a:endParaRPr lang="ar-DZ" sz="3200" b="1" dirty="0">
              <a:solidFill>
                <a:schemeClr val="bg1"/>
              </a:solidFill>
            </a:endParaRPr>
          </a:p>
          <a:p>
            <a:pPr algn="ctr"/>
            <a:r>
              <a:rPr lang="ar-DZ" sz="3200" b="1" dirty="0">
                <a:solidFill>
                  <a:schemeClr val="bg1"/>
                </a:solidFill>
              </a:rPr>
              <a:t>اعداد و اقتباس من منهاج الجيل الثاني </a:t>
            </a:r>
          </a:p>
          <a:p>
            <a:pPr algn="ctr"/>
            <a:r>
              <a:rPr lang="ar-DZ" sz="3200" b="1" dirty="0">
                <a:solidFill>
                  <a:schemeClr val="bg1"/>
                </a:solidFill>
              </a:rPr>
              <a:t>من طرف الاستاذ </a:t>
            </a:r>
          </a:p>
          <a:p>
            <a:pPr algn="ctr"/>
            <a:r>
              <a:rPr lang="ar-DZ" sz="3200" b="1" dirty="0" err="1">
                <a:solidFill>
                  <a:schemeClr val="bg1"/>
                </a:solidFill>
              </a:rPr>
              <a:t>بوديسة</a:t>
            </a:r>
            <a:r>
              <a:rPr lang="ar-DZ" sz="3200" b="1" dirty="0">
                <a:solidFill>
                  <a:schemeClr val="bg1"/>
                </a:solidFill>
              </a:rPr>
              <a:t> عبد القادر </a:t>
            </a:r>
          </a:p>
          <a:p>
            <a:pPr algn="ctr"/>
            <a:r>
              <a:rPr lang="ar-DZ" sz="3200" b="1" dirty="0">
                <a:solidFill>
                  <a:schemeClr val="bg1"/>
                </a:solidFill>
              </a:rPr>
              <a:t>مفتش العلوم الفيزيائية </a:t>
            </a:r>
          </a:p>
          <a:p>
            <a:pPr algn="ctr"/>
            <a:r>
              <a:rPr lang="ar-DZ" sz="3200" b="1" dirty="0" err="1">
                <a:solidFill>
                  <a:schemeClr val="bg1"/>
                </a:solidFill>
              </a:rPr>
              <a:t>جويلية</a:t>
            </a:r>
            <a:r>
              <a:rPr lang="ar-DZ" sz="3200" b="1" dirty="0">
                <a:solidFill>
                  <a:schemeClr val="bg1"/>
                </a:solidFill>
              </a:rPr>
              <a:t> 2017</a:t>
            </a:r>
          </a:p>
          <a:p>
            <a:pPr algn="ctr"/>
            <a:r>
              <a:rPr lang="ar-DZ" sz="3200" b="1" dirty="0">
                <a:solidFill>
                  <a:schemeClr val="bg1"/>
                </a:solidFill>
              </a:rPr>
              <a:t>اعادة صياغة </a:t>
            </a:r>
            <a:r>
              <a:rPr lang="ar-DZ" sz="3200" b="1" dirty="0" err="1">
                <a:solidFill>
                  <a:schemeClr val="bg1"/>
                </a:solidFill>
              </a:rPr>
              <a:t>جانفي</a:t>
            </a:r>
            <a:r>
              <a:rPr lang="ar-DZ" sz="3200" b="1" dirty="0">
                <a:solidFill>
                  <a:schemeClr val="bg1"/>
                </a:solidFill>
              </a:rPr>
              <a:t> 2021</a:t>
            </a:r>
          </a:p>
          <a:p>
            <a:pPr algn="ctr"/>
            <a:r>
              <a:rPr lang="ar-DZ" sz="3200" b="1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ar-DZ" sz="3200" b="1" dirty="0">
              <a:solidFill>
                <a:schemeClr val="bg1"/>
              </a:solidFill>
            </a:endParaRPr>
          </a:p>
          <a:p>
            <a:pPr algn="ctr"/>
            <a:endParaRPr lang="ar-DZ" sz="3200" b="1" dirty="0">
              <a:solidFill>
                <a:schemeClr val="bg1"/>
              </a:solidFill>
            </a:endParaRPr>
          </a:p>
          <a:p>
            <a:pPr algn="ctr"/>
            <a:endParaRPr lang="ar-DZ" sz="32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403648" y="1512168"/>
            <a:ext cx="6480720" cy="113101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dirty="0">
                <a:solidFill>
                  <a:schemeClr val="bg1"/>
                </a:solidFill>
              </a:rPr>
              <a:t>مصطلحات منهاج الجيل الثاني 2016</a:t>
            </a:r>
            <a:endParaRPr lang="fr-FR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699792" y="332656"/>
            <a:ext cx="4248472" cy="8640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تعريف المنهاج التربوي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395536" y="1412776"/>
            <a:ext cx="8064896" cy="2448272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ar-MA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المنهاج الدراسي إذن منطوق مقاصد </a:t>
            </a:r>
            <a:r>
              <a:rPr lang="ar-MA" sz="2400" b="1" dirty="0" err="1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التكوين.</a:t>
            </a:r>
            <a:r>
              <a:rPr lang="ar-MA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و يتضمن الغايات و الأهداف و المحتويات ووصف لنظام التقويم و تخطيط الأنشطة و الآثار المتوقعة فيما يهم تغيير المواقف و </a:t>
            </a:r>
            <a:r>
              <a:rPr lang="ar-MA" sz="2400" b="1" dirty="0" err="1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سلوكات</a:t>
            </a:r>
            <a:r>
              <a:rPr lang="ar-MA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الأفراد أثناء التكوين</a:t>
            </a:r>
            <a:r>
              <a:rPr lang="fr-FR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(...). </a:t>
            </a:r>
            <a:r>
              <a:rPr lang="ar-MA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وهو لائحة محتويات التخصصات المدرسية المراد تحصيلها المبنية بناءا منطقيا للمعارف المدرسة و </a:t>
            </a:r>
            <a:r>
              <a:rPr lang="ar-MA" sz="2400" b="1" dirty="0" err="1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سيرورات</a:t>
            </a:r>
            <a:r>
              <a:rPr lang="ar-MA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التعلم و التقويم.كما أنه مجموع مصاغ وفق غايات و محتويات و </a:t>
            </a:r>
            <a:r>
              <a:rPr lang="ar-MA" sz="2400" b="1" dirty="0" err="1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كفايات</a:t>
            </a:r>
            <a:r>
              <a:rPr lang="ar-MA" sz="2400" b="1" dirty="0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و طرق </a:t>
            </a:r>
            <a:r>
              <a:rPr lang="ar-MA" sz="2400" b="1" dirty="0" err="1">
                <a:solidFill>
                  <a:schemeClr val="bg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بيداغوجية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51520" y="3933056"/>
            <a:ext cx="8280920" cy="2736304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ar-SA" sz="28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هو إذن خطة عمل تتضمن الغايات والمقاصد والأهداف والمحتويات والأنشطة التعليمية والأدوات </a:t>
            </a:r>
            <a:r>
              <a:rPr lang="ar-SA" sz="2800" b="1" dirty="0" err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الديداكتيكية</a:t>
            </a:r>
            <a:r>
              <a:rPr lang="ar-SA" sz="28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 وطرق التعليم وأساليب </a:t>
            </a:r>
            <a:r>
              <a:rPr lang="ar-SA" sz="2800" b="1" dirty="0" err="1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التقييم.</a:t>
            </a:r>
            <a:r>
              <a:rPr lang="ar-SA" sz="28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 كما يعتبر بمثابة معيار يحدد ما يجب أن يكون وبمثابة أمر موجه إلى الفاعلين التربويين وبشكل رئيسي إلى المدرسين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339752" y="0"/>
            <a:ext cx="4248472" cy="8640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تعريف البرنامج التربوي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971600" y="836712"/>
            <a:ext cx="7272808" cy="2664296"/>
          </a:xfrm>
          <a:prstGeom prst="roundRect">
            <a:avLst/>
          </a:prstGeom>
          <a:solidFill>
            <a:srgbClr val="CC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ar-SA" sz="2400" b="1" dirty="0">
                <a:solidFill>
                  <a:schemeClr val="bg1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هو جملة من الأنشطة المصاغة من أجل الاستجابة لغايات ومقاصد النظام التربوي و يشكل لائحة المحتويات التي يجب تدريسها والتي عادة ما ترافقها توجيهات </a:t>
            </a:r>
            <a:r>
              <a:rPr lang="ar-SA" sz="2400" b="1" dirty="0" err="1">
                <a:solidFill>
                  <a:schemeClr val="bg1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منهجية.</a:t>
            </a:r>
            <a:r>
              <a:rPr lang="ar-SA" sz="2400" b="1" dirty="0">
                <a:solidFill>
                  <a:schemeClr val="bg1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 وبهذا المعنى، يتم الحديث عن البرنامج الدراسي الذي يشير إلى محتويات التكوين، أي ما ينبغي أن يتعلمه التلميذ ضمن مستوى من مستويات المنظومة المدرسية وفي فترة زمنية محددة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11560" y="3573016"/>
            <a:ext cx="8208912" cy="3096344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ar-MA" sz="2400" b="1" dirty="0">
                <a:solidFill>
                  <a:schemeClr val="bg1"/>
                </a:solidFill>
              </a:rPr>
              <a:t>البرنامج  هو لائحة المواد الواجب تدريسها مصحوبة بتعليمات تبررها و تقدم مؤشرات حول الطريقة أو المقاربة التي ينظر إليها مؤلفوها بأنها الأحسن أو الأكثر دقة لتدريس تلك المحتويات.و هو تفصيل الدروس و الأنشطة مصحوبة بالتوزيع الزمني، كما أنه التنبؤ بما سيدرس في مستوى دراسي معين و في تخصص معين و في زمن معين، فهو يستهدف كل تخصص على حدى و كل مستوى على </a:t>
            </a:r>
            <a:r>
              <a:rPr lang="ar-MA" sz="2400" b="1" dirty="0" err="1">
                <a:solidFill>
                  <a:schemeClr val="bg1"/>
                </a:solidFill>
              </a:rPr>
              <a:t>حدى </a:t>
            </a:r>
            <a:r>
              <a:rPr lang="ar-MA" sz="2400" b="1" dirty="0">
                <a:solidFill>
                  <a:schemeClr val="bg1"/>
                </a:solidFill>
              </a:rPr>
              <a:t>.و يجري تدريسه على مدى سنة دراسية و تحديده يكون من طرف الوزارة المعنية</a:t>
            </a:r>
            <a:r>
              <a:rPr lang="ar-MA" sz="1600" b="1" dirty="0"/>
              <a:t> 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1785918" y="0"/>
            <a:ext cx="6715172" cy="864096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>
                <a:solidFill>
                  <a:schemeClr val="bg1"/>
                </a:solidFill>
              </a:rPr>
              <a:t>الفرق بين المنهاج و البرنامج </a:t>
            </a:r>
            <a:endParaRPr lang="fr-FR" sz="40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928670"/>
            <a:ext cx="9144000" cy="592933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14348" y="1142984"/>
            <a:ext cx="7992888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MA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أن المنهاج </a:t>
            </a:r>
            <a:r>
              <a:rPr kumimoji="0" lang="ar-MA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التعليمي </a:t>
            </a:r>
            <a:r>
              <a:rPr kumimoji="0" lang="ar-MA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(أو الدراسي) يجمع بين المنهج </a:t>
            </a:r>
            <a:r>
              <a:rPr kumimoji="0" 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méthode</a:t>
            </a:r>
            <a:r>
              <a:rPr kumimoji="0" lang="ar-MA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 و المنهجية </a:t>
            </a:r>
            <a:r>
              <a:rPr kumimoji="0" 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méthodologie</a:t>
            </a:r>
            <a:r>
              <a:rPr kumimoji="0" lang="ar-MA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 و البرنامج</a:t>
            </a:r>
            <a:r>
              <a:rPr kumimoji="0" 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Programme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ar-MA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 .فالمنهاج يمكن أن يمتد على مدى سنوات بعكس البرنامج الذي يحدد في سنة دراسية واحدة، فلبناء منهاج تعليمي متكامل يجب التوفر على منهج جيد يسير عملية البناء و ينظم سلسلة العمليات، و البرنامج يشمل لائحة المواد المقررة للتدريس لكل سنة دراسية، ثم المنهجية هي التي تعمل على وضع الإجراءات التنظيمية اللازمة  لتدريس محتوى مادة معينة مقررة في برنامج معين لسنة دراسية معينة </a:t>
            </a:r>
            <a:endParaRPr kumimoji="0" lang="ar-DZ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ar-DZ" sz="3200" b="1" dirty="0">
              <a:solidFill>
                <a:schemeClr val="bg1"/>
              </a:solidFill>
              <a:latin typeface="Calibri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DZ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M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. </a:t>
            </a:r>
            <a:endParaRPr kumimoji="0" lang="ar-M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3131840" y="188640"/>
            <a:ext cx="3744416" cy="108012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>
                <a:solidFill>
                  <a:schemeClr val="bg1"/>
                </a:solidFill>
              </a:rPr>
              <a:t>التعلم</a:t>
            </a:r>
            <a:r>
              <a:rPr lang="ar-DZ" dirty="0"/>
              <a:t> 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467544" y="1628800"/>
            <a:ext cx="8208912" cy="4896544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3200" b="1" dirty="0">
                <a:solidFill>
                  <a:schemeClr val="bg1"/>
                </a:solidFill>
              </a:rPr>
              <a:t>التعلمّ هو الانتقال من مستوى معرفي وكفائي إلى مستوى أعلى بإضافة معلومات جديدة بمساعدة</a:t>
            </a:r>
          </a:p>
          <a:p>
            <a:pPr algn="r"/>
            <a:r>
              <a:rPr lang="ar-DZ" sz="3200" b="1" dirty="0">
                <a:solidFill>
                  <a:schemeClr val="bg1"/>
                </a:solidFill>
              </a:rPr>
              <a:t>المدرّس، وذلك بواسطة نشاطات </a:t>
            </a:r>
            <a:r>
              <a:rPr lang="ar-DZ" sz="3200" b="1" dirty="0" err="1">
                <a:solidFill>
                  <a:schemeClr val="bg1"/>
                </a:solidFill>
              </a:rPr>
              <a:t>مناسبة.</a:t>
            </a:r>
            <a:r>
              <a:rPr lang="ar-DZ" sz="3200" b="1" dirty="0">
                <a:solidFill>
                  <a:schemeClr val="bg1"/>
                </a:solidFill>
              </a:rPr>
              <a:t> </a:t>
            </a:r>
            <a:r>
              <a:rPr lang="ar-DZ" sz="3200" b="1" dirty="0" err="1">
                <a:solidFill>
                  <a:schemeClr val="bg1"/>
                </a:solidFill>
              </a:rPr>
              <a:t>وخي</a:t>
            </a:r>
            <a:r>
              <a:rPr lang="ar-DZ" sz="3200" b="1" dirty="0">
                <a:solidFill>
                  <a:schemeClr val="bg1"/>
                </a:solidFill>
              </a:rPr>
              <a:t> عملية تقتضي بناء الكفاءات، ولا يُكتفى فيها بتلقّي المعارف فقط.</a:t>
            </a:r>
          </a:p>
          <a:p>
            <a:pPr algn="r"/>
            <a:r>
              <a:rPr lang="ar-DZ" sz="3200" b="1" dirty="0">
                <a:solidFill>
                  <a:schemeClr val="bg1"/>
                </a:solidFill>
              </a:rPr>
              <a:t>والتعلمّ عملية مستمرّة حتّى يتمكّن المتعلمّ </a:t>
            </a:r>
            <a:r>
              <a:rPr lang="ar-DZ" sz="3200" b="1" dirty="0" err="1">
                <a:solidFill>
                  <a:schemeClr val="bg1"/>
                </a:solidFill>
              </a:rPr>
              <a:t>من:</a:t>
            </a:r>
            <a:endParaRPr lang="ar-DZ" sz="3200" b="1" dirty="0">
              <a:solidFill>
                <a:schemeClr val="bg1"/>
              </a:solidFill>
            </a:endParaRPr>
          </a:p>
          <a:p>
            <a:pPr algn="r"/>
            <a:r>
              <a:rPr lang="ar-DZ" sz="3200" b="1" dirty="0">
                <a:solidFill>
                  <a:schemeClr val="bg1"/>
                </a:solidFill>
              </a:rPr>
              <a:t>التحكّم في </a:t>
            </a:r>
            <a:r>
              <a:rPr lang="ar-DZ" sz="3200" b="1" dirty="0" err="1">
                <a:solidFill>
                  <a:schemeClr val="bg1"/>
                </a:solidFill>
              </a:rPr>
              <a:t>المعارف/الموارد </a:t>
            </a:r>
            <a:r>
              <a:rPr lang="ar-DZ" sz="3200" b="1" dirty="0">
                <a:solidFill>
                  <a:schemeClr val="bg1"/>
                </a:solidFill>
              </a:rPr>
              <a:t>(معارف، مها </a:t>
            </a:r>
            <a:r>
              <a:rPr lang="ar-DZ" sz="3200" b="1" dirty="0" err="1">
                <a:solidFill>
                  <a:schemeClr val="bg1"/>
                </a:solidFill>
              </a:rPr>
              <a:t>رات</a:t>
            </a:r>
            <a:r>
              <a:rPr lang="ar-DZ" sz="3200" b="1" dirty="0">
                <a:solidFill>
                  <a:schemeClr val="bg1"/>
                </a:solidFill>
              </a:rPr>
              <a:t>، </a:t>
            </a:r>
            <a:r>
              <a:rPr lang="ar-DZ" sz="3200" b="1" dirty="0" err="1">
                <a:solidFill>
                  <a:schemeClr val="bg1"/>
                </a:solidFill>
              </a:rPr>
              <a:t>سلوك )</a:t>
            </a:r>
            <a:endParaRPr lang="ar-DZ" sz="3200" b="1" dirty="0">
              <a:solidFill>
                <a:schemeClr val="bg1"/>
              </a:solidFill>
            </a:endParaRPr>
          </a:p>
          <a:p>
            <a:pPr algn="r"/>
            <a:r>
              <a:rPr lang="ar-DZ" sz="3200" b="1" dirty="0">
                <a:solidFill>
                  <a:schemeClr val="bg1"/>
                </a:solidFill>
              </a:rPr>
              <a:t>تعلمّ كيفية تجنيدها لحل وضعية مشكلة </a:t>
            </a:r>
            <a:r>
              <a:rPr lang="ar-DZ" sz="3200" b="1" dirty="0" err="1">
                <a:solidFill>
                  <a:schemeClr val="bg1"/>
                </a:solidFill>
              </a:rPr>
              <a:t>معيّنة؛</a:t>
            </a:r>
            <a:endParaRPr lang="ar-DZ" sz="3200" b="1" dirty="0">
              <a:solidFill>
                <a:schemeClr val="bg1"/>
              </a:solidFill>
            </a:endParaRPr>
          </a:p>
          <a:p>
            <a:pPr algn="r"/>
            <a:r>
              <a:rPr lang="ar-DZ" sz="3200" b="1" dirty="0">
                <a:solidFill>
                  <a:schemeClr val="bg1"/>
                </a:solidFill>
              </a:rPr>
              <a:t>إدماجها في عائلة من الوضعيات.</a:t>
            </a:r>
            <a:endParaRPr lang="fr-FR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1"/>
          <p:cNvSpPr>
            <a:spLocks noChangeArrowheads="1"/>
          </p:cNvSpPr>
          <p:nvPr/>
        </p:nvSpPr>
        <p:spPr bwMode="auto">
          <a:xfrm>
            <a:off x="1857356" y="3143248"/>
            <a:ext cx="55007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D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627784" y="404664"/>
            <a:ext cx="4032448" cy="864096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الوضعية </a:t>
            </a:r>
            <a:r>
              <a:rPr lang="ar-DZ" sz="3200" b="1" dirty="0" err="1">
                <a:solidFill>
                  <a:schemeClr val="bg1"/>
                </a:solidFill>
              </a:rPr>
              <a:t>التعلمية</a:t>
            </a:r>
            <a:r>
              <a:rPr lang="ar-DZ" sz="3200" b="1" dirty="0">
                <a:solidFill>
                  <a:schemeClr val="bg1"/>
                </a:solidFill>
              </a:rPr>
              <a:t>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1628800"/>
            <a:ext cx="8424936" cy="482453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800" b="1" dirty="0">
                <a:solidFill>
                  <a:schemeClr val="bg1"/>
                </a:solidFill>
              </a:rPr>
              <a:t>هي وضعية مشكلة يعدّها المدرّس لتقديم </a:t>
            </a:r>
            <a:r>
              <a:rPr lang="ar-DZ" sz="2800" b="1" dirty="0" err="1">
                <a:solidFill>
                  <a:schemeClr val="bg1"/>
                </a:solidFill>
              </a:rPr>
              <a:t>تعلّمات</a:t>
            </a:r>
            <a:r>
              <a:rPr lang="ar-DZ" sz="2800" b="1" dirty="0">
                <a:solidFill>
                  <a:schemeClr val="bg1"/>
                </a:solidFill>
              </a:rPr>
              <a:t> جديدة متنوّعة </a:t>
            </a:r>
            <a:r>
              <a:rPr lang="ar-DZ" sz="2800" b="1" dirty="0" err="1">
                <a:solidFill>
                  <a:schemeClr val="bg1"/>
                </a:solidFill>
              </a:rPr>
              <a:t>ومتكاملة:</a:t>
            </a:r>
            <a:endParaRPr lang="ar-DZ" sz="2800" b="1" dirty="0">
              <a:solidFill>
                <a:schemeClr val="bg1"/>
              </a:solidFill>
            </a:endParaRP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• وضعيات </a:t>
            </a:r>
            <a:r>
              <a:rPr lang="ar-DZ" sz="2800" b="1" dirty="0" err="1">
                <a:solidFill>
                  <a:schemeClr val="bg1"/>
                </a:solidFill>
              </a:rPr>
              <a:t>تعلمية</a:t>
            </a:r>
            <a:r>
              <a:rPr lang="ar-DZ" sz="2800" b="1" dirty="0">
                <a:solidFill>
                  <a:schemeClr val="bg1"/>
                </a:solidFill>
              </a:rPr>
              <a:t> » </a:t>
            </a:r>
            <a:r>
              <a:rPr lang="ar-DZ" sz="2800" b="1" dirty="0" err="1">
                <a:solidFill>
                  <a:schemeClr val="bg1"/>
                </a:solidFill>
              </a:rPr>
              <a:t>ابتدائية </a:t>
            </a:r>
            <a:r>
              <a:rPr lang="ar-DZ" sz="2800" b="1" dirty="0">
                <a:solidFill>
                  <a:schemeClr val="bg1"/>
                </a:solidFill>
              </a:rPr>
              <a:t>« لاكتساب </a:t>
            </a:r>
            <a:r>
              <a:rPr lang="ar-DZ" sz="2800" b="1" dirty="0" err="1">
                <a:solidFill>
                  <a:schemeClr val="bg1"/>
                </a:solidFill>
              </a:rPr>
              <a:t>المعارف؛</a:t>
            </a:r>
            <a:endParaRPr lang="ar-DZ" sz="2800" b="1" dirty="0">
              <a:solidFill>
                <a:schemeClr val="bg1"/>
              </a:solidFill>
            </a:endParaRP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• وضعيات إدماجية لتعلمّ الإدماج والتمكّن </a:t>
            </a:r>
            <a:r>
              <a:rPr lang="ar-DZ" sz="2800" b="1" dirty="0" err="1">
                <a:solidFill>
                  <a:schemeClr val="bg1"/>
                </a:solidFill>
              </a:rPr>
              <a:t>منه؛</a:t>
            </a:r>
            <a:endParaRPr lang="ar-DZ" sz="2800" b="1" dirty="0">
              <a:solidFill>
                <a:schemeClr val="bg1"/>
              </a:solidFill>
            </a:endParaRP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• وضعيات مشكلة ذات دلالة ومركّبة لبناء الكفاءة الختامية وتقييمها.</a:t>
            </a: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وتتميّز هذه الوضعيات ب:</a:t>
            </a: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• الاهتمام الذي تحدثه لدى </a:t>
            </a:r>
            <a:r>
              <a:rPr lang="ar-DZ" sz="2800" b="1" dirty="0" err="1">
                <a:solidFill>
                  <a:schemeClr val="bg1"/>
                </a:solidFill>
              </a:rPr>
              <a:t>المتعلمّ؛</a:t>
            </a:r>
            <a:endParaRPr lang="ar-DZ" sz="2800" b="1" dirty="0">
              <a:solidFill>
                <a:schemeClr val="bg1"/>
              </a:solidFill>
            </a:endParaRP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• المشاركة </a:t>
            </a:r>
            <a:r>
              <a:rPr lang="ar-DZ" sz="2800" b="1" dirty="0" err="1">
                <a:solidFill>
                  <a:schemeClr val="bg1"/>
                </a:solidFill>
              </a:rPr>
              <a:t>الفعلية؛</a:t>
            </a:r>
            <a:endParaRPr lang="ar-DZ" sz="2800" b="1" dirty="0">
              <a:solidFill>
                <a:schemeClr val="bg1"/>
              </a:solidFill>
            </a:endParaRP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• احتوائها على قيم وكفاءات عرضية.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555776" y="0"/>
            <a:ext cx="4032448" cy="8640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الوضعية المشكلة 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79512" y="836712"/>
            <a:ext cx="8964488" cy="602128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هي وضعية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تعلّمية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، أو لغز يطرح على التلميذ لا يمكن حله إلاّ باستعمال تصوّر محدّد بدقّة، أو اكتساب كفاءة لم يكن يمتلكها؛ أي أنه يتمكّن من تذليل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صعوبة.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وبهذا التقدّم تُبنى الوضعية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.</a:t>
            </a:r>
            <a:endParaRPr lang="fr-F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الوضعية المشكلة أداة من أدوات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بيداغوجية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مؤسّسة على البناء الذاتي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للمعارف.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الوضعية المشكلة مهمّة شاملة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مركّبة وذات دلالة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: </a:t>
            </a:r>
            <a:endParaRPr lang="fr-F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شاملة، أي أنها كاملة، لها سياق( معطيات أوّلية) وواقعية لاحتوائها على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هدف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منتوج).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ولأنّها أيضا تتطلب أكثر من عملية وأكثر من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اجراء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، وتستلزم استخدام معارف وتقنيات واستراتيجيات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  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أو خوارزميات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.</a:t>
            </a:r>
            <a:endParaRPr lang="fr-F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مركّبة، أي أنّها تستخدم عدّة معارف، وعدّة أصناف من المعارف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fr-F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تصريحية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،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اجرائية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، وشرطية)، فهي تثير صراعا معرفيا، وحلّها يتطلّب جيدا</a:t>
            </a:r>
            <a:endParaRPr lang="fr-F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ذات دلالة، أي تثير اهتمام التلميذ لأنّها تلجأ إلى شيء يعرفه، وذات صلة بحياته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اليومية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(تتطلّب عملية واقعية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).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ولا تكون لها دلالة إلاّ إذا اعتمدت على معارف ومعطيات نابعة من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المحيط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(سواء كانت صحيحة أو خاطئة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</a:t>
            </a:r>
            <a:endParaRPr lang="fr-F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مخزّنة في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ذاكرته.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كما أنّها تمثّل تحدّيا في متناول </a:t>
            </a:r>
            <a:r>
              <a:rPr lang="ar-DZ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التلميذ </a:t>
            </a:r>
            <a:r>
              <a:rPr lang="ar-DZ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 واقعي وممكن التحقيق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07521" name="Rectangle 1"/>
          <p:cNvSpPr>
            <a:spLocks noChangeArrowheads="1"/>
          </p:cNvSpPr>
          <p:nvPr/>
        </p:nvSpPr>
        <p:spPr bwMode="auto">
          <a:xfrm>
            <a:off x="611560" y="2950731"/>
            <a:ext cx="7919864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.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395536" y="1124744"/>
            <a:ext cx="8496944" cy="5472608"/>
          </a:xfrm>
          <a:prstGeom prst="roundRect">
            <a:avLst/>
          </a:prstGeom>
          <a:solidFill>
            <a:srgbClr val="CC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هي وضعية مشكلة يعدّها المدرّس لفوج من </a:t>
            </a:r>
            <a:r>
              <a:rPr lang="ar-DZ" sz="2400" b="1" dirty="0" err="1">
                <a:solidFill>
                  <a:schemeClr val="bg1"/>
                </a:solidFill>
              </a:rPr>
              <a:t>التلاميذ </a:t>
            </a:r>
            <a:r>
              <a:rPr lang="ar-DZ" sz="2400" b="1" dirty="0">
                <a:solidFill>
                  <a:schemeClr val="bg1"/>
                </a:solidFill>
              </a:rPr>
              <a:t>(القسم) وفق </a:t>
            </a:r>
            <a:r>
              <a:rPr lang="ar-DZ" sz="2400" b="1" dirty="0" err="1">
                <a:solidFill>
                  <a:schemeClr val="bg1"/>
                </a:solidFill>
              </a:rPr>
              <a:t>تعلّمات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جديدة </a:t>
            </a:r>
            <a:r>
              <a:rPr lang="ar-DZ" sz="2400" b="1" dirty="0">
                <a:solidFill>
                  <a:schemeClr val="bg1"/>
                </a:solidFill>
              </a:rPr>
              <a:t>(معارف جديدة، سلوك جديد، التحكّم في المهارات و مساعي حلّ المشكلات</a:t>
            </a:r>
            <a:r>
              <a:rPr lang="ar-DZ" sz="2400" b="1" dirty="0" err="1">
                <a:solidFill>
                  <a:schemeClr val="bg1"/>
                </a:solidFill>
              </a:rPr>
              <a:t>).</a:t>
            </a:r>
            <a:r>
              <a:rPr lang="ar-DZ" sz="2400" b="1" dirty="0">
                <a:solidFill>
                  <a:schemeClr val="bg1"/>
                </a:solidFill>
              </a:rPr>
              <a:t>    </a:t>
            </a:r>
            <a:endParaRPr lang="fr-FR" sz="2400" dirty="0">
              <a:solidFill>
                <a:schemeClr val="bg1"/>
              </a:solidFill>
            </a:endParaRPr>
          </a:p>
          <a:p>
            <a:pPr algn="r" rtl="1"/>
            <a:r>
              <a:rPr lang="ar-SA" sz="2400" b="1" dirty="0">
                <a:solidFill>
                  <a:schemeClr val="bg1"/>
                </a:solidFill>
              </a:rPr>
              <a:t> وبما أنّ الوضعية </a:t>
            </a:r>
            <a:r>
              <a:rPr lang="ar-SA" sz="2400" b="1" dirty="0" err="1">
                <a:solidFill>
                  <a:schemeClr val="bg1"/>
                </a:solidFill>
              </a:rPr>
              <a:t>التعلّمية</a:t>
            </a:r>
            <a:r>
              <a:rPr lang="ar-SA" sz="2400" b="1" dirty="0">
                <a:solidFill>
                  <a:schemeClr val="bg1"/>
                </a:solidFill>
              </a:rPr>
              <a:t> البسيطة تندرج في مسار التعلّم، فإّنها </a:t>
            </a:r>
            <a:r>
              <a:rPr lang="ar-SA" sz="2400" b="1" dirty="0" err="1">
                <a:solidFill>
                  <a:schemeClr val="bg1"/>
                </a:solidFill>
              </a:rPr>
              <a:t>تمكّن </a:t>
            </a:r>
            <a:r>
              <a:rPr lang="ar-SA" sz="2400" b="1" dirty="0">
                <a:solidFill>
                  <a:schemeClr val="bg1"/>
                </a:solidFill>
              </a:rPr>
              <a:t>– انطلاقا من المكتسبات القبلية- من اكتساب معارف جديدة والتحكّم فيها، والتي تصبح بدورها موارد لحلّ وضعيات إدماجية ووضعيات مشكلة</a:t>
            </a:r>
            <a:endParaRPr lang="fr-FR" sz="2400" dirty="0">
              <a:solidFill>
                <a:schemeClr val="bg1"/>
              </a:solidFill>
            </a:endParaRPr>
          </a:p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في المقاربة بالكفاءات، تمكّن الوضعية </a:t>
            </a:r>
            <a:r>
              <a:rPr lang="ar-DZ" sz="2400" b="1" dirty="0" err="1">
                <a:solidFill>
                  <a:schemeClr val="bg1"/>
                </a:solidFill>
              </a:rPr>
              <a:t>التعلّمية</a:t>
            </a:r>
            <a:r>
              <a:rPr lang="ar-DZ" sz="2400" b="1" dirty="0">
                <a:solidFill>
                  <a:schemeClr val="bg1"/>
                </a:solidFill>
              </a:rPr>
              <a:t> المتعلّم من اكتساب المضامين والمساعي، ثمّ تجنيدها قصد حلّ وضعيات مشكلة تشكّل أسس بناء الكفاءات </a:t>
            </a:r>
            <a:r>
              <a:rPr lang="ar-DZ" sz="2400" b="1" dirty="0" err="1">
                <a:solidFill>
                  <a:schemeClr val="bg1"/>
                </a:solidFill>
              </a:rPr>
              <a:t>المستهدفة.</a:t>
            </a:r>
            <a:r>
              <a:rPr lang="ar-DZ" sz="2400" b="1" dirty="0">
                <a:solidFill>
                  <a:schemeClr val="bg1"/>
                </a:solidFill>
              </a:rPr>
              <a:t> ويضبط هذا التعلّم بتقويم تكويني يجرى بصفة مندمجة.</a:t>
            </a:r>
            <a:endParaRPr lang="fr-FR" sz="2400" dirty="0">
              <a:solidFill>
                <a:schemeClr val="bg1"/>
              </a:solidFill>
            </a:endParaRPr>
          </a:p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دور الوضعية </a:t>
            </a:r>
            <a:r>
              <a:rPr lang="ar-DZ" sz="2400" b="1" dirty="0" err="1">
                <a:solidFill>
                  <a:schemeClr val="bg1"/>
                </a:solidFill>
              </a:rPr>
              <a:t>التعلّمية</a:t>
            </a:r>
            <a:r>
              <a:rPr lang="ar-DZ" sz="2400" b="1" dirty="0">
                <a:solidFill>
                  <a:schemeClr val="bg1"/>
                </a:solidFill>
              </a:rPr>
              <a:t> في بناء الكفاءة الختامية: انطلاقا من الكفاءة الختامية ومركّباتها، يعدّ المدرّس و/أو يختار وضعيات مشكلة ذات دلالة، ويتطلّب حلّها استخدام وضعيات </a:t>
            </a:r>
            <a:r>
              <a:rPr lang="ar-DZ" sz="2400" b="1" dirty="0" err="1">
                <a:solidFill>
                  <a:schemeClr val="bg1"/>
                </a:solidFill>
              </a:rPr>
              <a:t>تعلّميـة</a:t>
            </a:r>
            <a:r>
              <a:rPr lang="ar-DZ" sz="2400" b="1" dirty="0">
                <a:solidFill>
                  <a:schemeClr val="bg1"/>
                </a:solidFill>
              </a:rPr>
              <a:t> بسيطة ملائمة قصد التحكّـم في</a:t>
            </a:r>
            <a:endParaRPr lang="fr-FR" sz="2400" dirty="0">
              <a:solidFill>
                <a:schemeClr val="bg1"/>
              </a:solidFill>
            </a:endParaRPr>
          </a:p>
          <a:p>
            <a:pPr algn="r" rtl="1"/>
            <a:r>
              <a:rPr lang="ar-DZ" sz="2400" b="1" dirty="0">
                <a:solidFill>
                  <a:schemeClr val="bg1"/>
                </a:solidFill>
              </a:rPr>
              <a:t>الموارد والوضعيات الإدماجية لاستخدام هذه الموارد و </a:t>
            </a:r>
            <a:r>
              <a:rPr lang="ar-DZ" sz="2400" b="1" dirty="0" err="1">
                <a:solidFill>
                  <a:schemeClr val="bg1"/>
                </a:solidFill>
              </a:rPr>
              <a:t>تجنيدها.</a:t>
            </a:r>
            <a:r>
              <a:rPr lang="ar-DZ" sz="2400" b="1" dirty="0">
                <a:solidFill>
                  <a:schemeClr val="bg1"/>
                </a:solidFill>
              </a:rPr>
              <a:t>  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907704" y="0"/>
            <a:ext cx="5688632" cy="108012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الوضعية </a:t>
            </a:r>
            <a:r>
              <a:rPr lang="ar-DZ" sz="3200" b="1" dirty="0" err="1">
                <a:solidFill>
                  <a:schemeClr val="bg1"/>
                </a:solidFill>
              </a:rPr>
              <a:t>التعلمية</a:t>
            </a:r>
            <a:r>
              <a:rPr lang="ar-DZ" sz="3200" b="1" dirty="0">
                <a:solidFill>
                  <a:schemeClr val="bg1"/>
                </a:solidFill>
              </a:rPr>
              <a:t> البسيطة </a:t>
            </a:r>
            <a:endParaRPr lang="fr-FR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843808" y="260648"/>
            <a:ext cx="4032448" cy="10081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وضعية تعلم الادماج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1484784"/>
            <a:ext cx="8784976" cy="518457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Low" rtl="1" fontAlgn="base">
              <a:spcBef>
                <a:spcPct val="0"/>
              </a:spcBef>
              <a:spcAft>
                <a:spcPct val="0"/>
              </a:spcAft>
              <a:tabLst>
                <a:tab pos="836613" algn="r"/>
                <a:tab pos="5849938" algn="r"/>
              </a:tabLst>
            </a:pPr>
            <a:r>
              <a:rPr lang="ar-SA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تتمثّل وضعية تعلّم الإدماج في توفير الفرصة للمتعلّم لممارسة الكفاءة </a:t>
            </a:r>
            <a:r>
              <a:rPr lang="ar-SA" sz="24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المستهدفة.</a:t>
            </a:r>
            <a:r>
              <a:rPr lang="ar-SA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وتمكّن الوضعية الإدماجية من تنمية الكفاءات العرضية من خلال تجنيد واستخدام المعارف الموارد المكتسبة في مختلف ميادين المواد.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ليست الوضعيات الإدماجية مجرّد تصفيف المعارف المكتسبة من المواد، ولا هي مجرّد تطبيقات لترسيخ المعارف.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خصائص الوضعية </a:t>
            </a:r>
            <a:r>
              <a:rPr lang="ar-DZ" sz="24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الإدماجية:</a:t>
            </a: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تجنّد مجموعة من المكتسبات التي تُدمج، ولا تجمع؛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موجَّهة نحو المهمّة، وذات دلالة، فهي إذن ذات بعد اجتماعي، سواء في مواصلة المتعلّم لمساره التعلّمي، أو في حياته اليومية والمهنية، ولا يتعلّق الأمر بتعلّم مدرسي </a:t>
            </a:r>
            <a:r>
              <a:rPr lang="ar-DZ" sz="24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فحسب؛</a:t>
            </a: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مرجعيتها فئة من المشكلات الخاصّة بالمادّة الدراسي أو مجموعة من المواد التي خصّصنا لها بعض العالم؛</a:t>
            </a:r>
            <a:endParaRPr lang="fr-FR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justLow" rt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836613" algn="r"/>
                <a:tab pos="5849938" algn="r"/>
              </a:tabLst>
            </a:pPr>
            <a:r>
              <a:rPr lang="ar-DZ" sz="24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هي وضعية جديدة بالنسبة للتلميذ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411760" y="332656"/>
            <a:ext cx="4896544" cy="108012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>
                <a:solidFill>
                  <a:schemeClr val="bg1"/>
                </a:solidFill>
              </a:rPr>
              <a:t>تعريف الكفاءة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611560" y="1988840"/>
            <a:ext cx="8064896" cy="3384376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>
                <a:solidFill>
                  <a:schemeClr val="bg1"/>
                </a:solidFill>
              </a:rPr>
              <a:t>وهي القدرة على استخدام مجموعة منظمة من المع</a:t>
            </a:r>
            <a:r>
              <a:rPr lang="ar-DZ" sz="3600" b="1" dirty="0">
                <a:solidFill>
                  <a:schemeClr val="bg1"/>
                </a:solidFill>
              </a:rPr>
              <a:t>ا</a:t>
            </a:r>
            <a:r>
              <a:rPr lang="ar-SA" sz="3600" b="1" dirty="0">
                <a:solidFill>
                  <a:schemeClr val="bg1"/>
                </a:solidFill>
              </a:rPr>
              <a:t>رف </a:t>
            </a:r>
            <a:r>
              <a:rPr lang="ar-DZ" sz="3600" b="1" dirty="0">
                <a:solidFill>
                  <a:schemeClr val="bg1"/>
                </a:solidFill>
              </a:rPr>
              <a:t>   </a:t>
            </a:r>
            <a:r>
              <a:rPr lang="ar-SA" sz="3600" b="1" dirty="0">
                <a:solidFill>
                  <a:schemeClr val="bg1"/>
                </a:solidFill>
              </a:rPr>
              <a:t>و المهارات و المواقف التي من </a:t>
            </a:r>
            <a:r>
              <a:rPr lang="ar-SA" sz="3600" b="1" dirty="0" err="1">
                <a:solidFill>
                  <a:schemeClr val="bg1"/>
                </a:solidFill>
              </a:rPr>
              <a:t>تفيذ</a:t>
            </a:r>
            <a:r>
              <a:rPr lang="ar-SA" sz="3600" b="1" dirty="0">
                <a:solidFill>
                  <a:schemeClr val="bg1"/>
                </a:solidFill>
              </a:rPr>
              <a:t> عدد من المهام اي القدرة على التصرف المبني على تجنيد و استعمال مجموعة من الموارد استعمالا ناجحا لحل وضعيات مشكلة ذات دلالة </a:t>
            </a:r>
            <a:endParaRPr lang="fr-FR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1857356" y="404664"/>
            <a:ext cx="5594964" cy="1049288"/>
          </a:xfrm>
          <a:prstGeom prst="rect">
            <a:avLst/>
          </a:prstGeom>
          <a:solidFill>
            <a:srgbClr val="FFC000"/>
          </a:solidFill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4100" b="1" i="0" u="none" strike="noStrike" kern="1200" cap="none" spc="0" normalizeH="0" baseline="0" noProof="0" dirty="0" err="1">
                <a:ln w="6350">
                  <a:noFill/>
                </a:ln>
                <a:solidFill>
                  <a:schemeClr val="bg1"/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ال</a:t>
            </a:r>
            <a:r>
              <a:rPr kumimoji="0" lang="ar-SA" sz="4100" b="1" i="0" u="none" strike="noStrike" kern="1200" cap="none" spc="0" normalizeH="0" baseline="0" noProof="0" dirty="0">
                <a:ln w="6350">
                  <a:noFill/>
                </a:ln>
                <a:solidFill>
                  <a:schemeClr val="bg1"/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كفاءة الشاملة </a:t>
            </a:r>
            <a:endParaRPr kumimoji="0" lang="fr-FR" sz="4100" b="1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71472" y="1857364"/>
            <a:ext cx="8215370" cy="4143404"/>
          </a:xfrm>
          <a:prstGeom prst="roundRect">
            <a:avLst/>
          </a:prstGeom>
          <a:solidFill>
            <a:srgbClr val="66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sz="3200" b="1" dirty="0">
                <a:solidFill>
                  <a:schemeClr val="bg1"/>
                </a:solidFill>
              </a:rPr>
              <a:t>هدف نسعى إلى تحقيق</a:t>
            </a:r>
            <a:r>
              <a:rPr lang="ar-DZ" sz="3200" b="1" dirty="0">
                <a:solidFill>
                  <a:schemeClr val="bg1"/>
                </a:solidFill>
              </a:rPr>
              <a:t>ه</a:t>
            </a:r>
            <a:r>
              <a:rPr lang="ar-SA" sz="3200" b="1" dirty="0">
                <a:solidFill>
                  <a:schemeClr val="bg1"/>
                </a:solidFill>
              </a:rPr>
              <a:t> في نهاية فترة دراسية محدّدة وفق نظام المسار الدراسي</a:t>
            </a:r>
            <a:endParaRPr lang="ar-DZ" sz="3200" b="1" dirty="0">
              <a:solidFill>
                <a:schemeClr val="bg1"/>
              </a:solidFill>
            </a:endParaRPr>
          </a:p>
          <a:p>
            <a:pPr algn="r"/>
            <a:r>
              <a:rPr lang="ar-SA" sz="3200" b="1" dirty="0">
                <a:solidFill>
                  <a:schemeClr val="bg1"/>
                </a:solidFill>
              </a:rPr>
              <a:t>لذا نجد 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ar-DZ" sz="3200" b="1" dirty="0">
                <a:solidFill>
                  <a:schemeClr val="bg1"/>
                </a:solidFill>
              </a:rPr>
              <a:t>1-</a:t>
            </a:r>
            <a:r>
              <a:rPr lang="ar-SA" sz="3200" b="1" dirty="0">
                <a:solidFill>
                  <a:schemeClr val="bg1"/>
                </a:solidFill>
              </a:rPr>
              <a:t>كفاءة شاملة في نهاية المرحلة،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fr-FR" sz="3200" b="1" dirty="0">
                <a:solidFill>
                  <a:schemeClr val="bg1"/>
                </a:solidFill>
              </a:rPr>
              <a:t> </a:t>
            </a:r>
            <a:r>
              <a:rPr lang="ar-DZ" sz="3200" b="1" dirty="0">
                <a:solidFill>
                  <a:schemeClr val="bg1"/>
                </a:solidFill>
              </a:rPr>
              <a:t>2-</a:t>
            </a:r>
            <a:r>
              <a:rPr lang="ar-SA" sz="3200" b="1" dirty="0">
                <a:solidFill>
                  <a:schemeClr val="bg1"/>
                </a:solidFill>
              </a:rPr>
              <a:t>كفاءة شاملة في نهاية كلّ طور، 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ar-SA" sz="3200" b="1" dirty="0">
                <a:solidFill>
                  <a:schemeClr val="bg1"/>
                </a:solidFill>
              </a:rPr>
              <a:t>كفاءة شام</a:t>
            </a:r>
            <a:r>
              <a:rPr lang="ar-DZ" sz="3200" b="1" dirty="0">
                <a:solidFill>
                  <a:schemeClr val="bg1"/>
                </a:solidFill>
              </a:rPr>
              <a:t>ل</a:t>
            </a:r>
            <a:r>
              <a:rPr lang="ar-SA" sz="3200" b="1" dirty="0">
                <a:solidFill>
                  <a:schemeClr val="bg1"/>
                </a:solidFill>
              </a:rPr>
              <a:t>ة في نهاية كلّ سنة</a:t>
            </a:r>
            <a:r>
              <a:rPr lang="fr-FR" sz="3200" b="1" dirty="0">
                <a:solidFill>
                  <a:schemeClr val="bg1"/>
                </a:solidFill>
              </a:rPr>
              <a:t>.</a:t>
            </a:r>
            <a:r>
              <a:rPr lang="ar-DZ" sz="3200" b="1" dirty="0">
                <a:solidFill>
                  <a:schemeClr val="bg1"/>
                </a:solidFill>
              </a:rPr>
              <a:t>3</a:t>
            </a:r>
          </a:p>
          <a:p>
            <a:pPr algn="r"/>
            <a:r>
              <a:rPr lang="ar-DZ" sz="3200" b="1">
                <a:solidFill>
                  <a:schemeClr val="bg1"/>
                </a:solidFill>
              </a:rPr>
              <a:t>وهي تتجزأ </a:t>
            </a:r>
            <a:r>
              <a:rPr lang="ar-DZ" sz="3200" b="1" dirty="0">
                <a:solidFill>
                  <a:schemeClr val="bg1"/>
                </a:solidFill>
              </a:rPr>
              <a:t>في انسجام وتكامل إل كفاءة شاملة لكّل مادّة وتترجم  ملمح </a:t>
            </a:r>
            <a:endParaRPr lang="fr-FR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428860" y="428604"/>
            <a:ext cx="4429156" cy="1071570"/>
          </a:xfrm>
          <a:prstGeom prst="roundRect">
            <a:avLst/>
          </a:prstGeom>
          <a:solidFill>
            <a:srgbClr val="66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الكفاءة الختامية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428596" y="1928802"/>
            <a:ext cx="7572428" cy="407196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3200" b="1" dirty="0">
                <a:solidFill>
                  <a:schemeClr val="bg1"/>
                </a:solidFill>
              </a:rPr>
              <a:t>كفاءة مرتبطة بميدان من الميادين المهيكلة للمادّة، وتعبّر بصيغة التصرّف (التحكّم في الموارد، حسن</a:t>
            </a:r>
          </a:p>
          <a:p>
            <a:pPr algn="r"/>
            <a:r>
              <a:rPr lang="ar-DZ" sz="3200" b="1" dirty="0">
                <a:solidFill>
                  <a:schemeClr val="bg1"/>
                </a:solidFill>
              </a:rPr>
              <a:t>استعمالها وإدماجها وتحويلها، عمّا هو منتظر من التلميذ في نهاية فترة دراسية لميدان من الميادين المهيكلة للمادّة</a:t>
            </a:r>
            <a:r>
              <a:rPr lang="ar-DZ" sz="3200" dirty="0"/>
              <a:t>.</a:t>
            </a:r>
            <a:endParaRPr lang="ar-DZ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987824" y="188640"/>
            <a:ext cx="4176464" cy="108012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مركبات الكفاءة الختامية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467544" y="1556792"/>
            <a:ext cx="8424936" cy="47525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SA" sz="28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وهو في غاية الأهمّية- يهدف إلى تفصيل الكفاءة المحدّدة آنفا، حتّى تصبح عملية أكثر في عملية </a:t>
            </a:r>
            <a:r>
              <a:rPr lang="ar-SA" sz="28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التعلّم.</a:t>
            </a:r>
            <a:r>
              <a:rPr lang="ar-SA" sz="28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وبصفة عامّة، فإنّ هذه المركّبات تركّز على التحكّم في المضامين المعرفية واستعمالاتها لحـلّ وضعيات مشكلة تساهم في تنمية القيـم والكفاءات العرضية المناسبة لهذه </a:t>
            </a:r>
            <a:r>
              <a:rPr lang="ar-SA" sz="28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الكفاءة.</a:t>
            </a:r>
            <a:r>
              <a:rPr lang="ar-SA" sz="28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كما أنّ الكفاءات العرضية والقيم المذكورة في بداية الجدول، ستجد تعلّمها في </a:t>
            </a:r>
            <a:r>
              <a:rPr lang="ar-SA" sz="28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هذ</a:t>
            </a:r>
            <a:r>
              <a:rPr lang="ar-DZ" sz="28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 العمود؛  بصفة عامة توجد ثلاث مركبات الكفاءة </a:t>
            </a:r>
            <a:r>
              <a:rPr lang="ar-DZ" sz="28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الختامية </a:t>
            </a:r>
            <a:r>
              <a:rPr lang="ar-DZ" sz="28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: مركبة خاصة بالجانب </a:t>
            </a:r>
            <a:r>
              <a:rPr lang="ar-DZ" sz="28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المعرفي </a:t>
            </a:r>
            <a:r>
              <a:rPr lang="ar-DZ" sz="28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, مركبة خاصة بتوظيف الموارد المعرفية ومركبة خاصة بالقيم </a:t>
            </a:r>
            <a:r>
              <a:rPr lang="ar-DZ" sz="28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والسلوكات.</a:t>
            </a:r>
            <a:endParaRPr lang="ar-DZ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428860" y="428604"/>
            <a:ext cx="4429156" cy="107157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الكفاءة العرضية 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428596" y="1928802"/>
            <a:ext cx="8535892" cy="466855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/>
            <a:r>
              <a:rPr lang="ar-SA" sz="2800" b="1" dirty="0">
                <a:solidFill>
                  <a:schemeClr val="bg1"/>
                </a:solidFill>
              </a:rPr>
              <a:t>تتكوّن من القيم والمواقف والمساعي الفكرية والمنهجية المشتركة بين مختلف المواد،</a:t>
            </a:r>
            <a:r>
              <a:rPr lang="ar-DZ" sz="2800" b="1" dirty="0">
                <a:solidFill>
                  <a:schemeClr val="bg1"/>
                </a:solidFill>
              </a:rPr>
              <a:t> </a:t>
            </a:r>
            <a:r>
              <a:rPr lang="ar-SA" sz="2800" b="1" dirty="0">
                <a:solidFill>
                  <a:schemeClr val="bg1"/>
                </a:solidFill>
              </a:rPr>
              <a:t>التي ينبغي اكتسابها واستخدامها أثناء بناء مختلف المعارف والمهارات والقيم التي نسعى إلى تنميتها.</a:t>
            </a:r>
            <a:endParaRPr lang="fr-FR" sz="2800" dirty="0">
              <a:solidFill>
                <a:schemeClr val="bg1"/>
              </a:solidFill>
            </a:endParaRPr>
          </a:p>
          <a:p>
            <a:pPr algn="r" rtl="1"/>
            <a:r>
              <a:rPr lang="ar-SA" sz="2800" b="1" dirty="0">
                <a:solidFill>
                  <a:schemeClr val="bg1"/>
                </a:solidFill>
              </a:rPr>
              <a:t> كلّما كان توظيف الكفاءات العرضية وتحويلها إلى مختلف المواد أكثر، كان نموّها </a:t>
            </a:r>
            <a:r>
              <a:rPr lang="ar-SA" sz="2800" b="1" dirty="0" err="1">
                <a:solidFill>
                  <a:schemeClr val="bg1"/>
                </a:solidFill>
              </a:rPr>
              <a:t>أكبر.</a:t>
            </a:r>
            <a:r>
              <a:rPr lang="ar-SA" sz="2800" b="1" dirty="0">
                <a:solidFill>
                  <a:schemeClr val="bg1"/>
                </a:solidFill>
              </a:rPr>
              <a:t> كما أنّ الربط بين كفاءات المادّة والكفاءات العرضية يساهم في فكّ عزلة المادّة وفي تدعيم نشاطات الإدماج.</a:t>
            </a:r>
            <a:endParaRPr lang="fr-FR" sz="2800" dirty="0">
              <a:solidFill>
                <a:schemeClr val="bg1"/>
              </a:solidFill>
            </a:endParaRPr>
          </a:p>
          <a:p>
            <a:pPr algn="r"/>
            <a:r>
              <a:rPr lang="ar-SA" sz="2800" b="1" dirty="0">
                <a:solidFill>
                  <a:schemeClr val="bg1"/>
                </a:solidFill>
              </a:rPr>
              <a:t>أمّا الموارد، فهي الموادّ الأوّلية الضرورية لبناء الكفاءات، وتتكوّن من المعارف المكتسبة في المدرسية وخارج المدرسة، ومن القيـم </a:t>
            </a:r>
            <a:r>
              <a:rPr lang="ar-SA" sz="2800" b="1" dirty="0" err="1">
                <a:solidFill>
                  <a:schemeClr val="bg1"/>
                </a:solidFill>
              </a:rPr>
              <a:t>والمساعي...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an courbé vers le bas 2"/>
          <p:cNvSpPr/>
          <p:nvPr/>
        </p:nvSpPr>
        <p:spPr>
          <a:xfrm>
            <a:off x="2195736" y="0"/>
            <a:ext cx="4680520" cy="1268760"/>
          </a:xfrm>
          <a:prstGeom prst="ellipseRibb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انواع الكفاءات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395536" y="4913094"/>
            <a:ext cx="75608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lèche vers le bas 6"/>
          <p:cNvSpPr/>
          <p:nvPr/>
        </p:nvSpPr>
        <p:spPr>
          <a:xfrm>
            <a:off x="6516216" y="1052736"/>
            <a:ext cx="1512168" cy="100811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6228184" y="2204864"/>
            <a:ext cx="2736304" cy="450912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SA" sz="2000" b="1" dirty="0">
                <a:solidFill>
                  <a:schemeClr val="bg1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الكفاءة الشاملة</a:t>
            </a:r>
            <a:br>
              <a:rPr lang="en-US" sz="2000" b="1" dirty="0">
                <a:solidFill>
                  <a:schemeClr val="bg1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</a:br>
            <a:r>
              <a:rPr lang="fr-FR" sz="2000" b="1" dirty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Traditional Arabic" pitchFamily="18" charset="-78"/>
              </a:rPr>
              <a:t>compétence globale</a:t>
            </a:r>
            <a:endParaRPr lang="fr-FR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هي كفاءة مسار دراسي معين متعلق بمجموعة من الكفاءات الختامية لميادين مادة من المواد وقد سميت بهذا الاسم لأنها تشمل جميع الكفاءات الختامية للسنة أو الطور أو</a:t>
            </a:r>
            <a:r>
              <a:rPr lang="ar-DZ" sz="2400" b="1" dirty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المرحلة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التعليمية .</a:t>
            </a:r>
            <a:endParaRPr lang="fr-FR" sz="2400" dirty="0">
              <a:solidFill>
                <a:schemeClr val="bg1"/>
              </a:solidFill>
              <a:latin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323528" y="2204864"/>
            <a:ext cx="2736304" cy="450912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SA" sz="2400" b="1" dirty="0">
                <a:solidFill>
                  <a:schemeClr val="bg1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الكفاءة العرضية</a:t>
            </a:r>
            <a:br>
              <a:rPr lang="en-US" sz="2400" b="1" dirty="0">
                <a:solidFill>
                  <a:schemeClr val="bg1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</a:br>
            <a:r>
              <a:rPr lang="fr-FR" sz="2400" b="1" dirty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Traditional Arabic" pitchFamily="18" charset="-78"/>
              </a:rPr>
              <a:t>Compétence transversale</a:t>
            </a:r>
            <a:endParaRPr lang="en-US" sz="2400" b="1" dirty="0">
              <a:solidFill>
                <a:schemeClr val="bg1"/>
              </a:solidFill>
              <a:latin typeface="Traditional Arabic" pitchFamily="18" charset="-78"/>
              <a:ea typeface="Times New Roman" pitchFamily="18" charset="0"/>
              <a:cs typeface="Traditional Arabic" pitchFamily="18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هي كفاءة تتكون من المواقف والمساعي العقلية والمنهجية المشتركة بين مختلف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المواد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، حيث يمكن استخدامها خلال بناء مختلف المعارف والمهارات والقيم التي نريد تنميتها</a:t>
            </a:r>
            <a:r>
              <a:rPr lang="fr-FR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  <a:cs typeface="Traditional Arabic" pitchFamily="18" charset="-78"/>
              </a:rPr>
              <a:t> </a:t>
            </a:r>
            <a:endParaRPr lang="en-US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3275856" y="2348880"/>
            <a:ext cx="2736304" cy="450912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SA" sz="2400" b="1" dirty="0">
                <a:solidFill>
                  <a:schemeClr val="bg1"/>
                </a:solidFill>
                <a:latin typeface="Cambria" pitchFamily="18" charset="0"/>
                <a:ea typeface="Times New Roman" pitchFamily="18" charset="0"/>
              </a:rPr>
              <a:t>الكفاءة الختامية</a:t>
            </a:r>
            <a:r>
              <a:rPr lang="ar-SA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 </a:t>
            </a:r>
            <a:br>
              <a:rPr lang="fr-FR" sz="2400" b="1" dirty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</a:br>
            <a:r>
              <a:rPr lang="fr-FR" sz="2400" b="1" dirty="0">
                <a:solidFill>
                  <a:schemeClr val="bg1"/>
                </a:solidFill>
                <a:latin typeface="Arial" pitchFamily="34" charset="0"/>
                <a:ea typeface="Times New Roman" pitchFamily="18" charset="0"/>
              </a:rPr>
              <a:t>Compétence terminale</a:t>
            </a:r>
            <a:endParaRPr lang="fr-FR" sz="1050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هي كفاءة مرتبطة بميدان من الميادين المهيكلة لمادة من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المواد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, وتعبر عما هو منتظر من المتعلم  في نهاية فترة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دراسية .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  </a:t>
            </a: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( أي التحكم في الموارد و حسن استعمالها وإدماجها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Times New Roman" pitchFamily="18" charset="0"/>
              </a:rPr>
              <a:t>وتحويلها ) </a:t>
            </a:r>
            <a:r>
              <a:rPr lang="ar-DZ" sz="2400" b="1" dirty="0" err="1">
                <a:solidFill>
                  <a:schemeClr val="tx1"/>
                </a:solidFill>
                <a:latin typeface="Traditional Arabic" pitchFamily="18" charset="-78"/>
                <a:ea typeface="Times New Roman" pitchFamily="18" charset="0"/>
                <a:cs typeface="Traditional Arabic" pitchFamily="18" charset="-78"/>
              </a:rPr>
              <a:t>.</a:t>
            </a:r>
            <a:endParaRPr lang="ar-DZ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lèche vers le bas 11"/>
          <p:cNvSpPr/>
          <p:nvPr/>
        </p:nvSpPr>
        <p:spPr>
          <a:xfrm>
            <a:off x="3635896" y="1124744"/>
            <a:ext cx="1512168" cy="1008112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vers le bas 12"/>
          <p:cNvSpPr/>
          <p:nvPr/>
        </p:nvSpPr>
        <p:spPr>
          <a:xfrm>
            <a:off x="323528" y="836712"/>
            <a:ext cx="1512168" cy="1008112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993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/>
          <p:cNvSpPr/>
          <p:nvPr/>
        </p:nvSpPr>
        <p:spPr>
          <a:xfrm>
            <a:off x="2123728" y="0"/>
            <a:ext cx="4608512" cy="79208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مركبات الكفاءة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3" name="Flèche vers le bas 12"/>
          <p:cNvSpPr/>
          <p:nvPr/>
        </p:nvSpPr>
        <p:spPr>
          <a:xfrm>
            <a:off x="6372200" y="4149080"/>
            <a:ext cx="1656184" cy="72008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vers le bas 13"/>
          <p:cNvSpPr/>
          <p:nvPr/>
        </p:nvSpPr>
        <p:spPr>
          <a:xfrm>
            <a:off x="3995936" y="4221088"/>
            <a:ext cx="1656184" cy="72008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vers le bas 14"/>
          <p:cNvSpPr/>
          <p:nvPr/>
        </p:nvSpPr>
        <p:spPr>
          <a:xfrm>
            <a:off x="1475656" y="4149080"/>
            <a:ext cx="1656184" cy="720080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6372200" y="5157192"/>
            <a:ext cx="2232248" cy="129614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مركبة خاصة بالجانب المعرفي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3635896" y="5229200"/>
            <a:ext cx="2232248" cy="129614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مركبة خاصة بتوظيف الموارد المعرفية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1043608" y="5229200"/>
            <a:ext cx="2232248" cy="129614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مركبة خاصة بالقيم </a:t>
            </a:r>
          </a:p>
          <a:p>
            <a:pPr algn="ctr"/>
            <a:r>
              <a:rPr lang="ar-DZ" sz="2400" b="1" dirty="0">
                <a:solidFill>
                  <a:schemeClr val="bg1"/>
                </a:solidFill>
              </a:rPr>
              <a:t>و </a:t>
            </a:r>
            <a:r>
              <a:rPr lang="ar-DZ" sz="2400" b="1" dirty="0" err="1">
                <a:solidFill>
                  <a:schemeClr val="bg1"/>
                </a:solidFill>
              </a:rPr>
              <a:t>السلوكات</a:t>
            </a:r>
            <a:endParaRPr lang="fr-FR" sz="2400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1187624" y="1196752"/>
            <a:ext cx="6696744" cy="244827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sz="2400" b="1" dirty="0">
                <a:solidFill>
                  <a:schemeClr val="bg1"/>
                </a:solidFill>
              </a:rPr>
              <a:t>تركّز على التحكّم في المضامين المعرفية واستعمالاتها لحلّ وضعيات مشكلة تساهم في تنمية القيم والكفاءات العرضية المناسبة لهذه </a:t>
            </a:r>
            <a:r>
              <a:rPr lang="ar-SA" sz="2400" b="1" dirty="0" err="1">
                <a:solidFill>
                  <a:schemeClr val="bg1"/>
                </a:solidFill>
              </a:rPr>
              <a:t>الكفاءة.</a:t>
            </a:r>
            <a:r>
              <a:rPr lang="ar-SA" sz="2400" b="1" dirty="0">
                <a:solidFill>
                  <a:schemeClr val="bg1"/>
                </a:solidFill>
              </a:rPr>
              <a:t> كما أنّ الكفاءات العرضية والقيم المذكورة في بداية الجدول، ستجد تعمّمها في هذا العمود؛ بصفة عامة توجد ثلاث مركبات الكفاءة الختامية 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518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195736" y="332656"/>
            <a:ext cx="5760640" cy="93610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مخطط الموارد لبناء الكفاءات </a:t>
            </a:r>
          </a:p>
          <a:p>
            <a:pPr algn="ctr"/>
            <a:r>
              <a:rPr lang="ar-DZ" sz="2400" b="1" dirty="0">
                <a:solidFill>
                  <a:schemeClr val="bg1"/>
                </a:solidFill>
              </a:rPr>
              <a:t>لمرحلة التعليم المتوسط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79512" y="1412776"/>
            <a:ext cx="8784976" cy="4968552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800" b="1" dirty="0">
                <a:solidFill>
                  <a:schemeClr val="bg1"/>
                </a:solidFill>
              </a:rPr>
              <a:t>هي </a:t>
            </a:r>
            <a:r>
              <a:rPr lang="ar-DZ" sz="2800" b="1" dirty="0" err="1">
                <a:solidFill>
                  <a:schemeClr val="bg1"/>
                </a:solidFill>
              </a:rPr>
              <a:t>جلمة</a:t>
            </a:r>
            <a:r>
              <a:rPr lang="ar-DZ" sz="2800" b="1" dirty="0">
                <a:solidFill>
                  <a:schemeClr val="bg1"/>
                </a:solidFill>
              </a:rPr>
              <a:t> منظمة من الموارد المعرفية </a:t>
            </a:r>
            <a:r>
              <a:rPr lang="ar-DZ" sz="2800" b="1" dirty="0" err="1">
                <a:solidFill>
                  <a:schemeClr val="bg1"/>
                </a:solidFill>
              </a:rPr>
              <a:t>والمنهجية.</a:t>
            </a:r>
            <a:r>
              <a:rPr lang="ar-DZ" sz="2800" b="1" dirty="0">
                <a:solidFill>
                  <a:schemeClr val="bg1"/>
                </a:solidFill>
              </a:rPr>
              <a:t> هذه الموارد تمثل  </a:t>
            </a:r>
            <a:r>
              <a:rPr lang="ar-DZ" sz="2800" b="1" dirty="0" err="1">
                <a:solidFill>
                  <a:schemeClr val="bg1"/>
                </a:solidFill>
              </a:rPr>
              <a:t>جلمة</a:t>
            </a:r>
            <a:r>
              <a:rPr lang="ar-DZ" sz="2800" b="1" dirty="0">
                <a:solidFill>
                  <a:schemeClr val="bg1"/>
                </a:solidFill>
              </a:rPr>
              <a:t> المعارف </a:t>
            </a:r>
            <a:r>
              <a:rPr lang="ar-DZ" sz="2800" b="1" dirty="0" err="1">
                <a:solidFill>
                  <a:schemeClr val="bg1"/>
                </a:solidFill>
              </a:rPr>
              <a:t>التقريرية </a:t>
            </a:r>
            <a:r>
              <a:rPr lang="ar-DZ" sz="2800" b="1" dirty="0">
                <a:solidFill>
                  <a:schemeClr val="bg1"/>
                </a:solidFill>
              </a:rPr>
              <a:t>(الحقائق والمفاهيم والمبادئ والقوانين </a:t>
            </a:r>
            <a:r>
              <a:rPr lang="ar-DZ" sz="2800" b="1" dirty="0" err="1">
                <a:solidFill>
                  <a:schemeClr val="bg1"/>
                </a:solidFill>
              </a:rPr>
              <a:t>والنظريات...</a:t>
            </a:r>
            <a:r>
              <a:rPr lang="ar-DZ" sz="2800" b="1" dirty="0">
                <a:solidFill>
                  <a:schemeClr val="bg1"/>
                </a:solidFill>
              </a:rPr>
              <a:t>)، </a:t>
            </a:r>
            <a:r>
              <a:rPr lang="ar-DZ" sz="2800" b="1" dirty="0" err="1">
                <a:solidFill>
                  <a:schemeClr val="bg1"/>
                </a:solidFill>
              </a:rPr>
              <a:t>اولموارد</a:t>
            </a:r>
            <a:r>
              <a:rPr lang="ar-DZ" sz="2800" b="1" dirty="0">
                <a:solidFill>
                  <a:schemeClr val="bg1"/>
                </a:solidFill>
              </a:rPr>
              <a:t> المنهجية: المعارف  </a:t>
            </a:r>
            <a:r>
              <a:rPr lang="ar-DZ" sz="2800" b="1" dirty="0" err="1">
                <a:solidFill>
                  <a:schemeClr val="bg1"/>
                </a:solidFill>
              </a:rPr>
              <a:t>الاجرائية </a:t>
            </a:r>
            <a:r>
              <a:rPr lang="ar-DZ" sz="2800" b="1" dirty="0">
                <a:solidFill>
                  <a:schemeClr val="bg1"/>
                </a:solidFill>
              </a:rPr>
              <a:t>)المعارف المنهجية </a:t>
            </a:r>
            <a:r>
              <a:rPr lang="ar-DZ" sz="2800" b="1" dirty="0" err="1">
                <a:solidFill>
                  <a:schemeClr val="bg1"/>
                </a:solidFill>
              </a:rPr>
              <a:t>والمها</a:t>
            </a:r>
            <a:r>
              <a:rPr lang="ar-DZ" sz="2800" b="1" dirty="0">
                <a:solidFill>
                  <a:schemeClr val="bg1"/>
                </a:solidFill>
              </a:rPr>
              <a:t> </a:t>
            </a:r>
            <a:r>
              <a:rPr lang="ar-DZ" sz="2800" b="1" dirty="0" err="1">
                <a:solidFill>
                  <a:schemeClr val="bg1"/>
                </a:solidFill>
              </a:rPr>
              <a:t>را</a:t>
            </a:r>
            <a:r>
              <a:rPr lang="ar-DZ" sz="2800" b="1" dirty="0">
                <a:solidFill>
                  <a:schemeClr val="bg1"/>
                </a:solidFill>
              </a:rPr>
              <a:t> ت والتقنيات والطرق والقواعد </a:t>
            </a:r>
            <a:r>
              <a:rPr lang="ar-DZ" sz="2800" b="1" dirty="0" err="1">
                <a:solidFill>
                  <a:schemeClr val="bg1"/>
                </a:solidFill>
              </a:rPr>
              <a:t>والاتجاهات            </a:t>
            </a:r>
            <a:r>
              <a:rPr lang="ar-DZ" sz="2800" b="1" dirty="0">
                <a:solidFill>
                  <a:schemeClr val="bg1"/>
                </a:solidFill>
              </a:rPr>
              <a:t>(، والقد </a:t>
            </a:r>
            <a:r>
              <a:rPr lang="ar-DZ" sz="2800" b="1" dirty="0" err="1">
                <a:solidFill>
                  <a:schemeClr val="bg1"/>
                </a:solidFill>
              </a:rPr>
              <a:t>را</a:t>
            </a:r>
            <a:r>
              <a:rPr lang="ar-DZ" sz="2800" b="1" dirty="0">
                <a:solidFill>
                  <a:schemeClr val="bg1"/>
                </a:solidFill>
              </a:rPr>
              <a:t> ت والكفاءات التي تعد مكتسب ضروري لبناء الكفاءات المستهدفة من المنهاج، </a:t>
            </a:r>
            <a:r>
              <a:rPr lang="ar-DZ" sz="2800" b="1" dirty="0" err="1">
                <a:solidFill>
                  <a:schemeClr val="bg1"/>
                </a:solidFill>
              </a:rPr>
              <a:t>اولتي</a:t>
            </a:r>
            <a:r>
              <a:rPr lang="ar-DZ" sz="2800" b="1" dirty="0">
                <a:solidFill>
                  <a:schemeClr val="bg1"/>
                </a:solidFill>
              </a:rPr>
              <a:t> ينبغي توفرها عند المتعلم من أجل التحكم فيها واستخدامها في </a:t>
            </a:r>
            <a:r>
              <a:rPr lang="ar-DZ" sz="2800" b="1" dirty="0" err="1">
                <a:solidFill>
                  <a:schemeClr val="bg1"/>
                </a:solidFill>
              </a:rPr>
              <a:t>التعلمات</a:t>
            </a:r>
            <a:r>
              <a:rPr lang="ar-DZ" sz="2800" b="1" dirty="0">
                <a:solidFill>
                  <a:schemeClr val="bg1"/>
                </a:solidFill>
              </a:rPr>
              <a:t> الحالية </a:t>
            </a:r>
            <a:r>
              <a:rPr lang="ar-DZ" sz="2800" b="1" dirty="0" err="1">
                <a:solidFill>
                  <a:schemeClr val="bg1"/>
                </a:solidFill>
              </a:rPr>
              <a:t>واللاحقة.</a:t>
            </a:r>
            <a:r>
              <a:rPr lang="ar-DZ" sz="2800" b="1" dirty="0">
                <a:solidFill>
                  <a:schemeClr val="bg1"/>
                </a:solidFill>
              </a:rPr>
              <a:t> فهي من جهة موارد تتطلب الارساء والتحكم، ومن جهة الأخرى التوظيف لتنمو وتتوسع مع نمو وتطور </a:t>
            </a:r>
            <a:r>
              <a:rPr lang="ar-DZ" sz="2800" b="1" dirty="0" err="1">
                <a:solidFill>
                  <a:schemeClr val="bg1"/>
                </a:solidFill>
              </a:rPr>
              <a:t>الكفاءات.</a:t>
            </a:r>
            <a:r>
              <a:rPr lang="ar-DZ" sz="2800" b="1" dirty="0">
                <a:solidFill>
                  <a:schemeClr val="bg1"/>
                </a:solidFill>
              </a:rPr>
              <a:t> هذا الجدول يقدم  رؤية شاملة لهذه الموارد وعلاقتها بالأهداف المتابعة أي الكفاءات المستهدفة من تدريس المادة في مختلف الميادين وأطوار المرحلة المتوسطة</a:t>
            </a:r>
            <a:r>
              <a:rPr lang="ar-DZ" dirty="0"/>
              <a:t>.</a:t>
            </a:r>
            <a:endParaRPr 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915816" y="188640"/>
            <a:ext cx="4392488" cy="1080120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ملمح التخرج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23528" y="1556792"/>
            <a:ext cx="8640960" cy="4248472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b="1" dirty="0">
                <a:solidFill>
                  <a:schemeClr val="bg1"/>
                </a:solidFill>
              </a:rPr>
              <a:t>هي الترجمة المفصّلة في شكل كفاءات </a:t>
            </a:r>
            <a:r>
              <a:rPr lang="ar-SA" sz="2800" b="1" dirty="0" err="1">
                <a:solidFill>
                  <a:schemeClr val="bg1"/>
                </a:solidFill>
              </a:rPr>
              <a:t>شاملة </a:t>
            </a:r>
            <a:r>
              <a:rPr lang="ar-SA" sz="2800" b="1" dirty="0">
                <a:solidFill>
                  <a:schemeClr val="bg1"/>
                </a:solidFill>
              </a:rPr>
              <a:t>(</a:t>
            </a:r>
            <a:r>
              <a:rPr lang="ar-SA" sz="2800" b="1" dirty="0" err="1">
                <a:solidFill>
                  <a:schemeClr val="bg1"/>
                </a:solidFill>
              </a:rPr>
              <a:t>منتوج</a:t>
            </a:r>
            <a:r>
              <a:rPr lang="ar-SA" sz="2800" b="1" dirty="0">
                <a:solidFill>
                  <a:schemeClr val="bg1"/>
                </a:solidFill>
              </a:rPr>
              <a:t> التكوين) للمميزات النوعية</a:t>
            </a:r>
            <a:br>
              <a:rPr lang="fr-FR" sz="2800" b="1" dirty="0">
                <a:solidFill>
                  <a:schemeClr val="bg1"/>
                </a:solidFill>
              </a:rPr>
            </a:br>
            <a:r>
              <a:rPr lang="ar-SA" sz="2800" b="1" dirty="0">
                <a:solidFill>
                  <a:schemeClr val="bg1"/>
                </a:solidFill>
              </a:rPr>
              <a:t>التي حدّدها القانون التوجيهي كصفات وخاصّيات كلفت المدرسة بمهمّة تنصيبها لدى جزائري الغد إنّها مجموعة بإمكانها أن تقود وتوجّه عملية إعداد المنهاج </a:t>
            </a:r>
            <a:r>
              <a:rPr lang="ar-SA" sz="2800" b="1" dirty="0" err="1">
                <a:solidFill>
                  <a:schemeClr val="bg1"/>
                </a:solidFill>
              </a:rPr>
              <a:t>الدراسي.</a:t>
            </a:r>
            <a:r>
              <a:rPr lang="ar-SA" sz="2800" b="1" dirty="0">
                <a:solidFill>
                  <a:schemeClr val="bg1"/>
                </a:solidFill>
              </a:rPr>
              <a:t> وهي منظّمة بكيفية تجعل المناهج والمسارات الد راسية تلتزم بالمبادئ الإستراتيجية والمنهجية التي تجعلها أكثر </a:t>
            </a:r>
            <a:r>
              <a:rPr lang="ar-SA" sz="2800" b="1" dirty="0" err="1">
                <a:solidFill>
                  <a:schemeClr val="bg1"/>
                </a:solidFill>
              </a:rPr>
              <a:t>قابمية</a:t>
            </a:r>
            <a:r>
              <a:rPr lang="ar-SA" sz="2800" b="1" dirty="0">
                <a:solidFill>
                  <a:schemeClr val="bg1"/>
                </a:solidFill>
              </a:rPr>
              <a:t> للتطبيق، وتتّسم بالانسجام </a:t>
            </a:r>
            <a:r>
              <a:rPr lang="ar-SA" sz="2800" b="1" dirty="0" err="1">
                <a:solidFill>
                  <a:schemeClr val="bg1"/>
                </a:solidFill>
              </a:rPr>
              <a:t>الداخلي.</a:t>
            </a:r>
            <a:r>
              <a:rPr lang="ar-SA" sz="2800" b="1" dirty="0">
                <a:solidFill>
                  <a:schemeClr val="bg1"/>
                </a:solidFill>
              </a:rPr>
              <a:t> وتنتظم هذه المميزات حول المحاور الآتية</a:t>
            </a:r>
            <a:r>
              <a:rPr lang="fr-FR" sz="2800" b="1" dirty="0">
                <a:solidFill>
                  <a:schemeClr val="bg1"/>
                </a:solidFill>
              </a:rPr>
              <a:t>: </a:t>
            </a:r>
            <a:br>
              <a:rPr lang="fr-FR" sz="2800" b="1" dirty="0">
                <a:solidFill>
                  <a:schemeClr val="bg1"/>
                </a:solidFill>
              </a:rPr>
            </a:br>
            <a:endParaRPr lang="fr-FR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411760" y="0"/>
            <a:ext cx="4824536" cy="86409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>
                <a:solidFill>
                  <a:schemeClr val="bg1"/>
                </a:solidFill>
              </a:rPr>
              <a:t>ملمح التخرج  الشامل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1124744"/>
            <a:ext cx="9252520" cy="554461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b="1" dirty="0">
                <a:solidFill>
                  <a:schemeClr val="bg1"/>
                </a:solidFill>
              </a:rPr>
              <a:t>ملمح التخرّج من المادّة حسب: المرحلة التعليمية، الطور، والسنة</a:t>
            </a:r>
            <a:r>
              <a:rPr lang="fr-FR" sz="2800" b="1" dirty="0">
                <a:solidFill>
                  <a:schemeClr val="bg1"/>
                </a:solidFill>
              </a:rPr>
              <a:t>.</a:t>
            </a:r>
            <a:br>
              <a:rPr lang="fr-FR" sz="2800" b="1" dirty="0">
                <a:solidFill>
                  <a:schemeClr val="bg1"/>
                </a:solidFill>
              </a:rPr>
            </a:br>
            <a:r>
              <a:rPr lang="ar-SA" sz="2800" b="1" dirty="0">
                <a:solidFill>
                  <a:schemeClr val="bg1"/>
                </a:solidFill>
              </a:rPr>
              <a:t>يترجم الغايات المحدّدة للمدرسة الجزائرية، كما </a:t>
            </a:r>
            <a:r>
              <a:rPr lang="ar-SA" sz="2800" b="1" dirty="0" err="1">
                <a:solidFill>
                  <a:schemeClr val="bg1"/>
                </a:solidFill>
              </a:rPr>
              <a:t>يصف </a:t>
            </a:r>
            <a:r>
              <a:rPr lang="ar-SA" sz="2800" b="1" dirty="0">
                <a:solidFill>
                  <a:schemeClr val="bg1"/>
                </a:solidFill>
              </a:rPr>
              <a:t>– في الوقت </a:t>
            </a:r>
            <a:r>
              <a:rPr lang="ar-SA" sz="2800" b="1" dirty="0" err="1">
                <a:solidFill>
                  <a:schemeClr val="bg1"/>
                </a:solidFill>
              </a:rPr>
              <a:t>نفسه </a:t>
            </a:r>
            <a:r>
              <a:rPr lang="ar-SA" sz="2800" b="1" dirty="0">
                <a:solidFill>
                  <a:schemeClr val="bg1"/>
                </a:solidFill>
              </a:rPr>
              <a:t>– المواطن النموذجي الذي تقع على عاتقها مسؤولية </a:t>
            </a:r>
            <a:r>
              <a:rPr lang="ar-SA" sz="2800" b="1" dirty="0" err="1">
                <a:solidFill>
                  <a:schemeClr val="bg1"/>
                </a:solidFill>
              </a:rPr>
              <a:t>تكوينه.</a:t>
            </a:r>
            <a:r>
              <a:rPr lang="ar-SA" sz="2800" b="1" dirty="0">
                <a:solidFill>
                  <a:schemeClr val="bg1"/>
                </a:solidFill>
              </a:rPr>
              <a:t> وعمليه، فإنّ هذه العناصر هي الاغراض  </a:t>
            </a:r>
            <a:r>
              <a:rPr lang="ar-SA" sz="2800" b="1" dirty="0" err="1">
                <a:solidFill>
                  <a:schemeClr val="bg1"/>
                </a:solidFill>
              </a:rPr>
              <a:t>التعلمية</a:t>
            </a:r>
            <a:r>
              <a:rPr lang="ar-SA" sz="2800" b="1" dirty="0">
                <a:solidFill>
                  <a:schemeClr val="bg1"/>
                </a:solidFill>
              </a:rPr>
              <a:t> التي تتمحور حولها النشاطات </a:t>
            </a:r>
            <a:r>
              <a:rPr lang="ar-SA" sz="2800" b="1" dirty="0" err="1">
                <a:solidFill>
                  <a:schemeClr val="bg1"/>
                </a:solidFill>
              </a:rPr>
              <a:t>البيداغوجية</a:t>
            </a:r>
            <a:r>
              <a:rPr lang="ar-SA" sz="2800" b="1" dirty="0">
                <a:solidFill>
                  <a:schemeClr val="bg1"/>
                </a:solidFill>
              </a:rPr>
              <a:t> للمدرسة</a:t>
            </a:r>
            <a:r>
              <a:rPr lang="fr-FR" sz="2800" b="1" dirty="0">
                <a:solidFill>
                  <a:schemeClr val="bg1"/>
                </a:solidFill>
              </a:rPr>
              <a:t>. </a:t>
            </a:r>
            <a:r>
              <a:rPr lang="ar-SA" sz="2800" b="1" dirty="0">
                <a:solidFill>
                  <a:schemeClr val="bg1"/>
                </a:solidFill>
              </a:rPr>
              <a:t>وترجمتها </a:t>
            </a:r>
            <a:r>
              <a:rPr lang="ar-SA" sz="2800" b="1" dirty="0" err="1">
                <a:solidFill>
                  <a:schemeClr val="bg1"/>
                </a:solidFill>
              </a:rPr>
              <a:t>وهيكلتهاا</a:t>
            </a:r>
            <a:r>
              <a:rPr lang="ar-SA" sz="2800" b="1" dirty="0">
                <a:solidFill>
                  <a:schemeClr val="bg1"/>
                </a:solidFill>
              </a:rPr>
              <a:t> في شكل كفاءات شاملة وفق يتكوّن ملمح التخرّج من المرحلة من مجموع الكفاءات الشاملة </a:t>
            </a:r>
            <a:r>
              <a:rPr lang="ar-SA" sz="2800" b="1" dirty="0" err="1">
                <a:solidFill>
                  <a:schemeClr val="bg1"/>
                </a:solidFill>
              </a:rPr>
              <a:t>للمواد.</a:t>
            </a:r>
            <a:r>
              <a:rPr lang="ar-SA" sz="2800" b="1" dirty="0">
                <a:solidFill>
                  <a:schemeClr val="bg1"/>
                </a:solidFill>
              </a:rPr>
              <a:t> وتستخلص الكفاءات</a:t>
            </a:r>
            <a:br>
              <a:rPr lang="fr-FR" sz="2800" b="1" dirty="0">
                <a:solidFill>
                  <a:schemeClr val="bg1"/>
                </a:solidFill>
              </a:rPr>
            </a:br>
            <a:r>
              <a:rPr lang="ar-SA" sz="2800" b="1" dirty="0">
                <a:solidFill>
                  <a:schemeClr val="bg1"/>
                </a:solidFill>
              </a:rPr>
              <a:t>الشاملة للمواد بعد تحديد ملمح التخرّج</a:t>
            </a:r>
            <a:r>
              <a:rPr lang="fr-FR" sz="2800" b="1" dirty="0">
                <a:solidFill>
                  <a:schemeClr val="bg1"/>
                </a:solidFill>
              </a:rPr>
              <a:t>.</a:t>
            </a:r>
            <a:br>
              <a:rPr lang="fr-FR" sz="2800" b="1" dirty="0">
                <a:solidFill>
                  <a:schemeClr val="bg1"/>
                </a:solidFill>
              </a:rPr>
            </a:br>
            <a:r>
              <a:rPr lang="ar-SA" sz="2800" b="1" dirty="0">
                <a:solidFill>
                  <a:schemeClr val="bg1"/>
                </a:solidFill>
              </a:rPr>
              <a:t>الملمح الشامل في نهاية التعليم المتوسط </a:t>
            </a:r>
            <a:br>
              <a:rPr lang="fr-FR" sz="2800" b="1" dirty="0">
                <a:solidFill>
                  <a:schemeClr val="bg1"/>
                </a:solidFill>
              </a:rPr>
            </a:br>
            <a:r>
              <a:rPr lang="ar-SA" sz="2800" b="1" dirty="0">
                <a:solidFill>
                  <a:schemeClr val="bg1"/>
                </a:solidFill>
              </a:rPr>
              <a:t>يمثل المرحلة الاخيرة من التعليم الالزامي </a:t>
            </a:r>
            <a:br>
              <a:rPr lang="fr-FR" sz="2800" b="1" dirty="0">
                <a:solidFill>
                  <a:schemeClr val="bg1"/>
                </a:solidFill>
              </a:rPr>
            </a:br>
            <a:r>
              <a:rPr lang="ar-SA" sz="2800" b="1" dirty="0">
                <a:solidFill>
                  <a:schemeClr val="bg1"/>
                </a:solidFill>
              </a:rPr>
              <a:t>يهدف الى جعل كل تلميذ يتحكم في جملة من الكفاءات القاعدية التربوية التي تمكنه من مواصلة الدراسة و التكوين او الاندماج في الحياة العملية نظام </a:t>
            </a:r>
            <a:r>
              <a:rPr lang="ar-SA" sz="2800" b="1" dirty="0" err="1">
                <a:solidFill>
                  <a:schemeClr val="bg1"/>
                </a:solidFill>
              </a:rPr>
              <a:t>المدرسة </a:t>
            </a:r>
            <a:r>
              <a:rPr lang="ar-SA" sz="2800" b="1" dirty="0">
                <a:solidFill>
                  <a:schemeClr val="bg1"/>
                </a:solidFill>
              </a:rPr>
              <a:t>(مراحل أطوار، وسنوات</a:t>
            </a:r>
            <a:r>
              <a:rPr lang="ar-SA" sz="2800" b="1" dirty="0" err="1">
                <a:solidFill>
                  <a:schemeClr val="bg1"/>
                </a:solidFill>
              </a:rPr>
              <a:t>)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1907704" y="332656"/>
            <a:ext cx="5184576" cy="936104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>
                <a:solidFill>
                  <a:schemeClr val="bg1"/>
                </a:solidFill>
              </a:rPr>
              <a:t>جدول البرنامج السنوي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395536" y="1700808"/>
            <a:ext cx="8136904" cy="4896544"/>
          </a:xfrm>
          <a:prstGeom prst="roundRect">
            <a:avLst/>
          </a:prstGeom>
          <a:solidFill>
            <a:srgbClr val="CC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A" sz="2800" b="1" dirty="0">
                <a:solidFill>
                  <a:schemeClr val="bg1"/>
                </a:solidFill>
              </a:rPr>
              <a:t>تتمثّل مهمّة هذا الجدول في تحديد برنامج </a:t>
            </a:r>
            <a:r>
              <a:rPr lang="ar-SA" sz="2800" b="1" dirty="0" err="1">
                <a:solidFill>
                  <a:schemeClr val="bg1"/>
                </a:solidFill>
              </a:rPr>
              <a:t>التعلّمات</a:t>
            </a:r>
            <a:r>
              <a:rPr lang="ar-SA" sz="2800" b="1" dirty="0">
                <a:solidFill>
                  <a:schemeClr val="bg1"/>
                </a:solidFill>
              </a:rPr>
              <a:t> السنية، وذلك بوضعها في إطارها المحدّد سابقا، أي إطار المقاربة </a:t>
            </a:r>
            <a:r>
              <a:rPr lang="ar-SA" sz="2800" b="1" dirty="0" err="1">
                <a:solidFill>
                  <a:schemeClr val="bg1"/>
                </a:solidFill>
              </a:rPr>
              <a:t>بالكفاءات.</a:t>
            </a:r>
            <a:r>
              <a:rPr lang="ar-SA" sz="2800" b="1" dirty="0">
                <a:solidFill>
                  <a:schemeClr val="bg1"/>
                </a:solidFill>
              </a:rPr>
              <a:t> لكنّه لا يقتصر على تحديد المحتويات المعرفية فحسب، بل يربطها ربطا متينا بصفتها موارد ضرورية لبناء القيـم والكفاءات العرضية وكفاءات المواد المحدّدة في الملامح </a:t>
            </a:r>
            <a:r>
              <a:rPr lang="ar-SA" sz="2800" b="1" dirty="0" err="1">
                <a:solidFill>
                  <a:schemeClr val="bg1"/>
                </a:solidFill>
              </a:rPr>
              <a:t>التخرّج.</a:t>
            </a:r>
            <a:r>
              <a:rPr lang="ar-SA" sz="2800" b="1" dirty="0">
                <a:solidFill>
                  <a:schemeClr val="bg1"/>
                </a:solidFill>
              </a:rPr>
              <a:t> </a:t>
            </a:r>
            <a:endParaRPr lang="fr-FR" sz="2800" dirty="0">
              <a:solidFill>
                <a:schemeClr val="bg1"/>
              </a:solidFill>
            </a:endParaRPr>
          </a:p>
          <a:p>
            <a:pPr algn="r" rtl="1"/>
            <a:r>
              <a:rPr lang="ar-SA" sz="2800" b="1" dirty="0">
                <a:solidFill>
                  <a:schemeClr val="bg1"/>
                </a:solidFill>
              </a:rPr>
              <a:t>إذا كانت المصفوفة </a:t>
            </a:r>
            <a:r>
              <a:rPr lang="ar-SA" sz="2800" b="1" dirty="0" err="1">
                <a:solidFill>
                  <a:schemeClr val="bg1"/>
                </a:solidFill>
              </a:rPr>
              <a:t>المفاهيمية</a:t>
            </a:r>
            <a:r>
              <a:rPr lang="ar-SA" sz="2800" b="1" dirty="0">
                <a:solidFill>
                  <a:schemeClr val="bg1"/>
                </a:solidFill>
              </a:rPr>
              <a:t> تثبّت بشكل شامل المعارف المستخدمة كموارد، فإنّ جدول البرنامج السنوي يقدّم تفاصيل هذه المعارف الموارد مع أنماط الوضعيات </a:t>
            </a:r>
            <a:r>
              <a:rPr lang="ar-SA" sz="2800" b="1" dirty="0" err="1">
                <a:solidFill>
                  <a:schemeClr val="bg1"/>
                </a:solidFill>
              </a:rPr>
              <a:t>التعلّمية</a:t>
            </a:r>
            <a:r>
              <a:rPr lang="ar-SA" sz="2800" b="1" dirty="0">
                <a:solidFill>
                  <a:schemeClr val="bg1"/>
                </a:solidFill>
              </a:rPr>
              <a:t>، ومعايير التقويم ومؤشّراته، وكذا مقتـرح لتوزيع الحجم الزمني.</a:t>
            </a:r>
            <a:endParaRPr lang="fr-FR" sz="2800" dirty="0">
              <a:solidFill>
                <a:schemeClr val="bg1"/>
              </a:solidFill>
            </a:endParaRPr>
          </a:p>
          <a:p>
            <a:pPr algn="r" rtl="1"/>
            <a:r>
              <a:rPr lang="fr-FR" sz="2800" b="1" dirty="0">
                <a:solidFill>
                  <a:schemeClr val="bg1"/>
                </a:solidFill>
              </a:rPr>
              <a:t> 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843808" y="332656"/>
            <a:ext cx="4176464" cy="11521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الميدان</a:t>
            </a:r>
            <a:r>
              <a:rPr lang="ar-DZ" dirty="0"/>
              <a:t> </a:t>
            </a:r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611560" y="1988840"/>
            <a:ext cx="8136904" cy="403244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b="1" dirty="0">
                <a:solidFill>
                  <a:schemeClr val="bg1"/>
                </a:solidFill>
              </a:rPr>
              <a:t>هو جزء مهيكل ومنظّم للمادّة قصد </a:t>
            </a:r>
            <a:r>
              <a:rPr lang="ar-SA" sz="3200" b="1" dirty="0" err="1">
                <a:solidFill>
                  <a:schemeClr val="bg1"/>
                </a:solidFill>
              </a:rPr>
              <a:t>التعلم.</a:t>
            </a:r>
            <a:r>
              <a:rPr lang="ar-SA" sz="3200" b="1" dirty="0">
                <a:solidFill>
                  <a:schemeClr val="bg1"/>
                </a:solidFill>
              </a:rPr>
              <a:t> وعدد الميادين في المادّة يحدّد عدد الكفاءات 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ar-SA" sz="3200" b="1" dirty="0">
                <a:solidFill>
                  <a:schemeClr val="bg1"/>
                </a:solidFill>
              </a:rPr>
              <a:t>الختامية التي ندرجها في ملمح </a:t>
            </a:r>
            <a:r>
              <a:rPr lang="ar-SA" sz="3200" b="1" dirty="0" err="1">
                <a:solidFill>
                  <a:schemeClr val="bg1"/>
                </a:solidFill>
              </a:rPr>
              <a:t>التخرّج.</a:t>
            </a:r>
            <a:r>
              <a:rPr lang="ar-SA" sz="3200" b="1" dirty="0">
                <a:solidFill>
                  <a:schemeClr val="bg1"/>
                </a:solidFill>
              </a:rPr>
              <a:t> ويضمن هذا الإجراء التكفل الكلي بمعارف المادّة في ملامح التخرّج</a:t>
            </a:r>
            <a:r>
              <a:rPr lang="fr-FR" sz="3200" b="1" dirty="0">
                <a:solidFill>
                  <a:schemeClr val="bg1"/>
                </a:solidFill>
              </a:rPr>
              <a:t>.</a:t>
            </a:r>
            <a:br>
              <a:rPr lang="fr-FR" sz="3200" b="1" dirty="0">
                <a:solidFill>
                  <a:schemeClr val="bg1"/>
                </a:solidFill>
              </a:rPr>
            </a:br>
            <a:endParaRPr lang="fr-FR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483768" y="332656"/>
            <a:ext cx="4536504" cy="100811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المقطع التعلمي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79512" y="1844824"/>
            <a:ext cx="8640960" cy="460851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 fontAlgn="base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هو مجموعة مرتبة ومترابطة من الأنشطة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والمهمات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.يتميز بوجود علاقات تربط بين مختلف أجزائه المتتابعة</a:t>
            </a:r>
            <a:endParaRPr lang="fr-FR" sz="2400" b="1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من أجل إرساء موارد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جديدة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، قصد إنماء كفاءة ختامية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ما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.ويُبنى حسب الخطوات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الآتية :</a:t>
            </a:r>
            <a:endParaRPr lang="fr-FR" sz="2400" b="1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ـ تحليل قبلي للمادة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الدراسية ؛</a:t>
            </a:r>
            <a:endParaRPr lang="fr-FR" sz="2400" b="1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ـ ضبط المركبات التي تهدف إلى تنمية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الكفاءات ؛</a:t>
            </a:r>
            <a:endParaRPr lang="fr-FR" sz="2400" b="1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ـ ضبط الموارد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المستهدفة ؛</a:t>
            </a:r>
            <a:endParaRPr lang="fr-FR" sz="2400" b="1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ـ ضبط وضعيات المقطع التعلمي انطلاقا من الوضعية المشكلة لتوجيه وضبط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التعلمات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 متبوعة بوضعيات مشكلة       </a:t>
            </a:r>
            <a:endParaRPr lang="fr-FR" sz="2400" b="1" dirty="0">
              <a:solidFill>
                <a:schemeClr val="bg1"/>
              </a:solidFill>
              <a:latin typeface="Arial" pitchFamily="34" charset="0"/>
            </a:endParaRP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           بسيطة لممارسة الفعل التعلمي وأخرى لتعلم الإدماج وتقويمه وصولا إلى حل الوضعية المشكلة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الكبرى </a:t>
            </a:r>
            <a:r>
              <a:rPr lang="ar-DZ" sz="24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(الوضعية </a:t>
            </a:r>
            <a:r>
              <a:rPr lang="ar-DZ" sz="24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</a:rPr>
              <a:t>الأم ) .</a:t>
            </a:r>
            <a:endParaRPr lang="ar-DZ" sz="2400" b="1" dirty="0">
              <a:solidFill>
                <a:schemeClr val="bg1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483768" y="332656"/>
            <a:ext cx="4608512" cy="1224136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مخطط التعلم السنوي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611560" y="2060848"/>
            <a:ext cx="7704856" cy="3384376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هو مخطط عام لبرنامج </a:t>
            </a:r>
            <a:r>
              <a:rPr lang="ar-DZ" sz="40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دراسي </a:t>
            </a:r>
            <a:r>
              <a:rPr lang="ar-DZ" sz="40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، ضمن مشروع </a:t>
            </a:r>
            <a:r>
              <a:rPr lang="ar-DZ" sz="40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تربوي </a:t>
            </a:r>
            <a:r>
              <a:rPr lang="ar-DZ" sz="40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، يُفضي إلى تحقيق الكفاءة الشاملة لمستوى من المستويات </a:t>
            </a:r>
            <a:r>
              <a:rPr lang="ar-DZ" sz="40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التعليمية .</a:t>
            </a:r>
            <a:r>
              <a:rPr lang="ar-DZ" sz="40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 انطلاقا من الكفاءات الختامية </a:t>
            </a:r>
            <a:r>
              <a:rPr lang="ar-DZ" sz="40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للميادين </a:t>
            </a:r>
            <a:r>
              <a:rPr lang="ar-DZ" sz="40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، ويُبنى على مجموعة من المقاطع </a:t>
            </a:r>
            <a:r>
              <a:rPr lang="ar-DZ" sz="4000" b="1" dirty="0" err="1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التعلمية</a:t>
            </a:r>
            <a:r>
              <a:rPr lang="ar-DZ" sz="4000" b="1" dirty="0">
                <a:solidFill>
                  <a:schemeClr val="bg1"/>
                </a:solidFill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 المتكاملة </a:t>
            </a:r>
            <a:endParaRPr lang="fr-FR" sz="4000" b="1" dirty="0">
              <a:solidFill>
                <a:schemeClr val="bg1"/>
              </a:solidFill>
            </a:endParaRPr>
          </a:p>
        </p:txBody>
      </p:sp>
      <p:sp>
        <p:nvSpPr>
          <p:cNvPr id="126977" name="Rectangle 1"/>
          <p:cNvSpPr>
            <a:spLocks noChangeArrowheads="1"/>
          </p:cNvSpPr>
          <p:nvPr/>
        </p:nvSpPr>
        <p:spPr bwMode="auto">
          <a:xfrm>
            <a:off x="1547664" y="3647727"/>
            <a:ext cx="61926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aditional Arabic" pitchFamily="18" charset="-78"/>
                <a:ea typeface="Calibri" pitchFamily="34" charset="0"/>
                <a:cs typeface="Traditional Arabic" pitchFamily="18" charset="-78"/>
              </a:rPr>
              <a:t>.</a:t>
            </a:r>
            <a:endParaRPr kumimoji="0" lang="ar-D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627784" y="188640"/>
            <a:ext cx="5040560" cy="108012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err="1"/>
              <a:t>ا</a:t>
            </a:r>
            <a:r>
              <a:rPr lang="ar-DZ" sz="3200" b="1" dirty="0" err="1">
                <a:solidFill>
                  <a:schemeClr val="bg1"/>
                </a:solidFill>
              </a:rPr>
              <a:t>التقويم</a:t>
            </a:r>
            <a:r>
              <a:rPr lang="ar-DZ" dirty="0"/>
              <a:t> </a:t>
            </a:r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1772816"/>
            <a:ext cx="8784976" cy="381642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 b="1" dirty="0">
                <a:solidFill>
                  <a:schemeClr val="bg1"/>
                </a:solidFill>
              </a:rPr>
              <a:t>هو الوسيلة التي تمننا من الحكم على </a:t>
            </a:r>
            <a:r>
              <a:rPr lang="ar-SA" sz="3200" b="1" dirty="0" err="1">
                <a:solidFill>
                  <a:schemeClr val="bg1"/>
                </a:solidFill>
              </a:rPr>
              <a:t>تعلمات</a:t>
            </a:r>
            <a:r>
              <a:rPr lang="ar-SA" sz="3200" b="1" dirty="0">
                <a:solidFill>
                  <a:schemeClr val="bg1"/>
                </a:solidFill>
              </a:rPr>
              <a:t> التلاميذ من خلال تحليل المعطيات المتوفرة وتفسيرها قصد اتخاذ قرارات </a:t>
            </a:r>
            <a:r>
              <a:rPr lang="ar-SA" sz="3200" b="1" dirty="0" err="1">
                <a:solidFill>
                  <a:schemeClr val="bg1"/>
                </a:solidFill>
              </a:rPr>
              <a:t>بيداغوجية</a:t>
            </a:r>
            <a:r>
              <a:rPr lang="ar-SA" sz="3200" b="1" dirty="0">
                <a:solidFill>
                  <a:schemeClr val="bg1"/>
                </a:solidFill>
              </a:rPr>
              <a:t> </a:t>
            </a:r>
            <a:r>
              <a:rPr lang="ar-SA" sz="3200" b="1" dirty="0" err="1">
                <a:solidFill>
                  <a:schemeClr val="bg1"/>
                </a:solidFill>
              </a:rPr>
              <a:t>وادارية</a:t>
            </a:r>
            <a:r>
              <a:rPr lang="ar-SA" sz="3200" b="1" dirty="0">
                <a:solidFill>
                  <a:schemeClr val="bg1"/>
                </a:solidFill>
              </a:rPr>
              <a:t> 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ar-SA" sz="3200" b="1" dirty="0">
                <a:solidFill>
                  <a:schemeClr val="bg1"/>
                </a:solidFill>
              </a:rPr>
              <a:t>ويشمل التقويم المعارف والمساعي والتصرّفات، ويتطلب التقويم اعتماد </a:t>
            </a:r>
            <a:r>
              <a:rPr lang="ar-SA" sz="3200" b="1" dirty="0" err="1">
                <a:solidFill>
                  <a:schemeClr val="bg1"/>
                </a:solidFill>
              </a:rPr>
              <a:t>بيداغوجيا</a:t>
            </a:r>
            <a:r>
              <a:rPr lang="ar-SA" sz="3200" b="1" dirty="0">
                <a:solidFill>
                  <a:schemeClr val="bg1"/>
                </a:solidFill>
              </a:rPr>
              <a:t> الفوارق، أي القدرة على تجنيد وسائل تعليم  وتعلمّ متنوّعة تأخذ في الحسبان الفوارق الفردية للتلاميذ، وتمكّنهم من النجاح </a:t>
            </a:r>
            <a:r>
              <a:rPr lang="ar-SA" sz="3200" b="1" dirty="0" err="1">
                <a:solidFill>
                  <a:schemeClr val="bg1"/>
                </a:solidFill>
              </a:rPr>
              <a:t>بمختمل</a:t>
            </a:r>
            <a:r>
              <a:rPr lang="ar-SA" sz="3200" b="1" dirty="0">
                <a:solidFill>
                  <a:schemeClr val="bg1"/>
                </a:solidFill>
              </a:rPr>
              <a:t> الطرق</a:t>
            </a:r>
            <a:endParaRPr lang="fr-FR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2555776" y="260648"/>
            <a:ext cx="4680520" cy="1080120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>
                <a:solidFill>
                  <a:schemeClr val="bg1"/>
                </a:solidFill>
              </a:rPr>
              <a:t>معايير ومؤشرات التقويم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51520" y="1772816"/>
            <a:ext cx="8424936" cy="3312368"/>
          </a:xfrm>
          <a:prstGeom prst="roundRect">
            <a:avLst/>
          </a:prstGeom>
          <a:solidFill>
            <a:srgbClr val="CC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rtl="1" fontAlgn="base">
              <a:spcBef>
                <a:spcPct val="0"/>
              </a:spcBef>
              <a:spcAft>
                <a:spcPct val="0"/>
              </a:spcAft>
              <a:tabLst>
                <a:tab pos="323850" algn="r"/>
                <a:tab pos="5849938" algn="r"/>
              </a:tabLst>
            </a:pPr>
            <a:r>
              <a:rPr lang="ar-DZ" sz="36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تمكّن من تقويم التحكّم في المعارف استعمالها وتجنيدها لحلّ وضعيات</a:t>
            </a:r>
            <a:endParaRPr lang="en-US" sz="3600" b="1" dirty="0">
              <a:solidFill>
                <a:schemeClr val="bg1"/>
              </a:solidFill>
              <a:latin typeface="Simplified Arabic" pitchFamily="18" charset="-78"/>
              <a:ea typeface="Calibri" pitchFamily="34" charset="0"/>
              <a:cs typeface="Simplified Arabic" pitchFamily="18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323850" algn="r"/>
                <a:tab pos="5849938" algn="r"/>
              </a:tabLst>
            </a:pPr>
            <a:r>
              <a:rPr lang="ar-DZ" sz="36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مشكلة ذات </a:t>
            </a:r>
            <a:r>
              <a:rPr lang="ar-DZ" sz="3600" b="1" dirty="0" err="1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دلالة.</a:t>
            </a:r>
            <a:r>
              <a:rPr lang="ar-DZ" sz="3600" b="1" dirty="0">
                <a:solidFill>
                  <a:schemeClr val="bg1"/>
                </a:solidFill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وقصد توضيح المعايير التي تتميّز عادة بالعموم، أدرجت المؤشّرات التي تتميّز بالدقّة، وينبغي أن تشمل كلّ مركّبات الكفاءة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95233" name="Rectangle 1"/>
          <p:cNvSpPr>
            <a:spLocks noChangeArrowheads="1"/>
          </p:cNvSpPr>
          <p:nvPr/>
        </p:nvSpPr>
        <p:spPr bwMode="auto">
          <a:xfrm>
            <a:off x="1619672" y="3431703"/>
            <a:ext cx="64807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3850" algn="r"/>
                <a:tab pos="5849938" algn="r"/>
              </a:tabLst>
            </a:pPr>
            <a:r>
              <a:rPr kumimoji="0" lang="ar-DZ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؛</a:t>
            </a:r>
            <a:r>
              <a:rPr kumimoji="0" 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plified Arabic" pitchFamily="18" charset="-78"/>
                <a:ea typeface="Calibri" pitchFamily="34" charset="0"/>
                <a:cs typeface="Simplified Arabic" pitchFamily="18" charset="-78"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260648"/>
            <a:ext cx="8229600" cy="1224136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ar-DZ" dirty="0">
                <a:solidFill>
                  <a:schemeClr val="bg1"/>
                </a:solidFill>
              </a:rPr>
              <a:t>ملامح التخرج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1700808"/>
            <a:ext cx="8496944" cy="4752528"/>
          </a:xfrm>
          <a:solidFill>
            <a:srgbClr val="92D050"/>
          </a:solidFill>
        </p:spPr>
        <p:txBody>
          <a:bodyPr>
            <a:normAutofit fontScale="85000" lnSpcReduction="20000"/>
          </a:bodyPr>
          <a:lstStyle/>
          <a:p>
            <a:pPr algn="r"/>
            <a:r>
              <a:rPr lang="ar-DZ" b="1" dirty="0">
                <a:solidFill>
                  <a:schemeClr val="bg1"/>
                </a:solidFill>
              </a:rPr>
              <a:t>هي الترجمة المفصّلة في شكل كفاءات شاملة (منتوج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التكوين) للمميّزات النوعية التي حدّدها القانون التوجيهي كصفات </a:t>
            </a: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وخاصّيات كلّفت المدرسة بمهمّة تنصيبها لدى جزائري الغد</a:t>
            </a: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إنّها مجموعة بإمكانها أن تقود وتوجّه عملية إعداد المنهاج </a:t>
            </a:r>
            <a:r>
              <a:rPr lang="ar-DZ" b="1" dirty="0" err="1">
                <a:solidFill>
                  <a:schemeClr val="bg1"/>
                </a:solidFill>
              </a:rPr>
              <a:t>الدراسي.</a:t>
            </a:r>
            <a:r>
              <a:rPr lang="ar-DZ" b="1" dirty="0">
                <a:solidFill>
                  <a:schemeClr val="bg1"/>
                </a:solidFill>
              </a:rPr>
              <a:t> وهي منظّمة بكيفية تجعل المناهج والمسارات الدراسية تلتزم بالمبادئ الإستراتيجية والمنهجية التي تجعلها أكثر قابلية للتطبيق، وتتّسم بالانسجام </a:t>
            </a:r>
            <a:r>
              <a:rPr lang="ar-DZ" b="1" dirty="0" err="1">
                <a:solidFill>
                  <a:schemeClr val="bg1"/>
                </a:solidFill>
              </a:rPr>
              <a:t>الداخلي.</a:t>
            </a:r>
            <a:r>
              <a:rPr lang="ar-DZ" b="1" dirty="0">
                <a:solidFill>
                  <a:schemeClr val="bg1"/>
                </a:solidFill>
              </a:rPr>
              <a:t> وتنتظم هذه المميّزات حول المحاور </a:t>
            </a:r>
            <a:r>
              <a:rPr lang="ar-DZ" b="1" dirty="0" err="1">
                <a:solidFill>
                  <a:schemeClr val="bg1"/>
                </a:solidFill>
              </a:rPr>
              <a:t>الآتية:</a:t>
            </a:r>
            <a:r>
              <a:rPr lang="ar-DZ" b="1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.  </a:t>
            </a:r>
            <a:r>
              <a:rPr lang="ar-SA" b="1" dirty="0">
                <a:solidFill>
                  <a:schemeClr val="bg1"/>
                </a:solidFill>
              </a:rPr>
              <a:t>القيــم؛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  </a:t>
            </a:r>
            <a:r>
              <a:rPr lang="fr-FR" b="1" dirty="0">
                <a:solidFill>
                  <a:schemeClr val="bg1"/>
                </a:solidFill>
              </a:rPr>
              <a:t>. </a:t>
            </a:r>
            <a:r>
              <a:rPr lang="ar-SA" b="1" dirty="0">
                <a:solidFill>
                  <a:schemeClr val="bg1"/>
                </a:solidFill>
              </a:rPr>
              <a:t>الكفاءات العرضية؛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  </a:t>
            </a:r>
            <a:r>
              <a:rPr lang="fr-FR" b="1" dirty="0">
                <a:solidFill>
                  <a:schemeClr val="bg1"/>
                </a:solidFill>
              </a:rPr>
              <a:t>. </a:t>
            </a:r>
            <a:r>
              <a:rPr lang="ar-SA" b="1" dirty="0">
                <a:solidFill>
                  <a:schemeClr val="bg1"/>
                </a:solidFill>
              </a:rPr>
              <a:t>كفاءات المواد.</a:t>
            </a:r>
            <a:endParaRPr lang="fr-FR" dirty="0">
              <a:solidFill>
                <a:schemeClr val="bg1"/>
              </a:solidFill>
            </a:endParaRPr>
          </a:p>
          <a:p>
            <a:pPr lvl="0" algn="r" rtl="1"/>
            <a:r>
              <a:rPr lang="ar-DZ" b="1" dirty="0">
                <a:solidFill>
                  <a:schemeClr val="bg1"/>
                </a:solidFill>
              </a:rPr>
              <a:t>يتكوّن ملمح التخرّج من المرحلة من مجموع الكفاءات الشاملة </a:t>
            </a:r>
            <a:r>
              <a:rPr lang="ar-DZ" b="1" dirty="0" err="1">
                <a:solidFill>
                  <a:schemeClr val="bg1"/>
                </a:solidFill>
              </a:rPr>
              <a:t>للمواد.</a:t>
            </a:r>
            <a:r>
              <a:rPr lang="ar-DZ" b="1" dirty="0">
                <a:solidFill>
                  <a:schemeClr val="bg1"/>
                </a:solidFill>
              </a:rPr>
              <a:t> وتستخلص الكفاءات الشاملة للمواد بعد تحديد ملمح التخرّج.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fr-FR" b="1" dirty="0">
                <a:solidFill>
                  <a:schemeClr val="bg1"/>
                </a:solidFill>
              </a:rPr>
              <a:t> </a:t>
            </a:r>
            <a:endParaRPr lang="fr-FR" dirty="0">
              <a:solidFill>
                <a:schemeClr val="bg1"/>
              </a:solidFill>
            </a:endParaRPr>
          </a:p>
          <a:p>
            <a:pPr algn="r"/>
            <a:r>
              <a:rPr lang="ar-DZ" b="1" dirty="0" err="1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2363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3528" y="188640"/>
            <a:ext cx="8229600" cy="1152128"/>
          </a:xfrm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ar-DZ" dirty="0">
                <a:solidFill>
                  <a:schemeClr val="bg1"/>
                </a:solidFill>
              </a:rPr>
              <a:t>الملمح الشامل في نهاية التعليم الأساسي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5536" y="1556792"/>
            <a:ext cx="8568952" cy="4680520"/>
          </a:xfrm>
          <a:solidFill>
            <a:srgbClr val="FFFF00"/>
          </a:solidFill>
        </p:spPr>
        <p:txBody>
          <a:bodyPr/>
          <a:lstStyle/>
          <a:p>
            <a:pPr algn="r"/>
            <a:endParaRPr lang="ar-DZ" b="1" dirty="0">
              <a:solidFill>
                <a:schemeClr val="bg1"/>
              </a:solidFill>
            </a:endParaRPr>
          </a:p>
          <a:p>
            <a:pPr algn="r"/>
            <a:r>
              <a:rPr lang="ar-SA" b="1" dirty="0">
                <a:solidFill>
                  <a:schemeClr val="bg1"/>
                </a:solidFill>
              </a:rPr>
              <a:t>يشمل التعليم الأساسي مرحلة التعليم الابتدائي ومرحلة التعليم </a:t>
            </a:r>
            <a:r>
              <a:rPr lang="ar-SA" b="1" dirty="0" err="1">
                <a:solidFill>
                  <a:schemeClr val="bg1"/>
                </a:solidFill>
              </a:rPr>
              <a:t>المتوسّط.</a:t>
            </a:r>
            <a:r>
              <a:rPr lang="ar-SA" b="1" dirty="0">
                <a:solidFill>
                  <a:schemeClr val="bg1"/>
                </a:solidFill>
              </a:rPr>
              <a:t> يضمن تعليما مشتركا لكلّ التلاميذ، سيمكّنهم من اكتساب المعارف والكفاءات الأساسية الضرورية لمواصلة الدراسة في المستوى الموالي،</a:t>
            </a:r>
            <a:endParaRPr lang="ar-DZ" b="1" dirty="0">
              <a:solidFill>
                <a:schemeClr val="bg1"/>
              </a:solidFill>
            </a:endParaRPr>
          </a:p>
          <a:p>
            <a:pPr algn="r"/>
            <a:r>
              <a:rPr lang="ar-SA" b="1" dirty="0">
                <a:solidFill>
                  <a:schemeClr val="bg1"/>
                </a:solidFill>
              </a:rPr>
              <a:t> أو الالتحاق بالتعليم والتكوين المهنيين، أو المشاركة في حياة المجتمع.</a:t>
            </a:r>
            <a:endParaRPr lang="fr-FR" dirty="0">
              <a:solidFill>
                <a:schemeClr val="bg1"/>
              </a:solidFill>
            </a:endParaRPr>
          </a:p>
          <a:p>
            <a:pPr algn="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664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0"/>
            <a:ext cx="8229600" cy="126876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ar-DZ" dirty="0">
                <a:solidFill>
                  <a:schemeClr val="bg1"/>
                </a:solidFill>
              </a:rPr>
              <a:t>الملمح الشامل في نهاية التعليم المتوسّط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424936" cy="5256584"/>
          </a:xfrm>
          <a:solidFill>
            <a:srgbClr val="00B0F0"/>
          </a:solidFill>
        </p:spPr>
        <p:txBody>
          <a:bodyPr>
            <a:normAutofit fontScale="92500" lnSpcReduction="10000"/>
          </a:bodyPr>
          <a:lstStyle/>
          <a:p>
            <a:pPr algn="r" rtl="1"/>
            <a:r>
              <a:rPr lang="ar-DZ" b="1" dirty="0">
                <a:solidFill>
                  <a:schemeClr val="bg1"/>
                </a:solidFill>
              </a:rPr>
              <a:t>يمثّل التعليم المتوسّط إذن المرحلة الأخيرة من التعليم الإلزامي، ويهدف إلى جعل كلّ تلميذ يتحكّم في جملة من الكفاءات القاعدية التربوية منها والثقافية </a:t>
            </a:r>
            <a:r>
              <a:rPr lang="ar-DZ" b="1" dirty="0" err="1">
                <a:solidFill>
                  <a:schemeClr val="bg1"/>
                </a:solidFill>
              </a:rPr>
              <a:t>والتأهيلية</a:t>
            </a:r>
            <a:r>
              <a:rPr lang="ar-DZ" b="1" dirty="0">
                <a:solidFill>
                  <a:schemeClr val="bg1"/>
                </a:solidFill>
              </a:rPr>
              <a:t> التي تمكنه من مواصلة الدراسة والتكوين بعد التعليم الإلزامي، أو الاندماج في الحياة </a:t>
            </a:r>
            <a:r>
              <a:rPr lang="ar-DZ" b="1" dirty="0" err="1">
                <a:solidFill>
                  <a:schemeClr val="bg1"/>
                </a:solidFill>
              </a:rPr>
              <a:t>العملية.</a:t>
            </a:r>
            <a:r>
              <a:rPr lang="ar-DZ" b="1" dirty="0">
                <a:solidFill>
                  <a:schemeClr val="bg1"/>
                </a:solidFill>
              </a:rPr>
              <a:t> 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ينبغي أن تدرج مختلف المواد التعليمية في هذه المرحلة في إطار جميع المواد في مجالات تمكّن المعارف الخاصّة من التعاون فيما بينها تعاونا </a:t>
            </a:r>
            <a:r>
              <a:rPr lang="ar-DZ" b="1" dirty="0" err="1">
                <a:solidFill>
                  <a:schemeClr val="bg1"/>
                </a:solidFill>
              </a:rPr>
              <a:t>مثمرا.</a:t>
            </a:r>
            <a:r>
              <a:rPr lang="ar-DZ" b="1" dirty="0">
                <a:solidFill>
                  <a:schemeClr val="bg1"/>
                </a:solidFill>
              </a:rPr>
              <a:t> وبهذه الطريقة الأكثر انسجاما ووجاهة يمكن لهذه المعارف أن </a:t>
            </a:r>
            <a:r>
              <a:rPr lang="ar-DZ" b="1" dirty="0" err="1">
                <a:solidFill>
                  <a:schemeClr val="bg1"/>
                </a:solidFill>
              </a:rPr>
              <a:t>وتتهيكل</a:t>
            </a:r>
            <a:r>
              <a:rPr lang="ar-DZ" b="1" dirty="0">
                <a:solidFill>
                  <a:schemeClr val="bg1"/>
                </a:solidFill>
              </a:rPr>
              <a:t> سنوات التعليم المتوسّط الأربع في ثلاثة أطوار تتميز بأهداف </a:t>
            </a:r>
            <a:r>
              <a:rPr lang="ar-DZ" b="1" dirty="0" err="1">
                <a:solidFill>
                  <a:schemeClr val="bg1"/>
                </a:solidFill>
              </a:rPr>
              <a:t>محدّدة:</a:t>
            </a:r>
            <a:r>
              <a:rPr lang="ar-DZ" b="1" dirty="0">
                <a:solidFill>
                  <a:schemeClr val="bg1"/>
                </a:solidFill>
              </a:rPr>
              <a:t> 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 الطور </a:t>
            </a:r>
            <a:r>
              <a:rPr lang="ar-DZ" b="1" dirty="0" err="1">
                <a:solidFill>
                  <a:schemeClr val="bg1"/>
                </a:solidFill>
              </a:rPr>
              <a:t>الأوّل </a:t>
            </a:r>
            <a:r>
              <a:rPr lang="ar-DZ" b="1" dirty="0">
                <a:solidFill>
                  <a:schemeClr val="bg1"/>
                </a:solidFill>
              </a:rPr>
              <a:t>(السنة الأولى) أو طور التجانس و التكيّف؛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الطور </a:t>
            </a:r>
            <a:r>
              <a:rPr lang="ar-DZ" b="1" dirty="0" err="1">
                <a:solidFill>
                  <a:schemeClr val="bg1"/>
                </a:solidFill>
              </a:rPr>
              <a:t>الثاني </a:t>
            </a:r>
            <a:r>
              <a:rPr lang="ar-DZ" b="1" dirty="0">
                <a:solidFill>
                  <a:schemeClr val="bg1"/>
                </a:solidFill>
              </a:rPr>
              <a:t>(السنة الثانية والثالثة) أو طور الدعم والتعميق؛</a:t>
            </a:r>
            <a:endParaRPr lang="fr-FR" dirty="0">
              <a:solidFill>
                <a:schemeClr val="bg1"/>
              </a:solidFill>
            </a:endParaRPr>
          </a:p>
          <a:p>
            <a:pPr algn="r" rtl="1"/>
            <a:r>
              <a:rPr lang="ar-DZ" b="1" dirty="0">
                <a:solidFill>
                  <a:schemeClr val="bg1"/>
                </a:solidFill>
              </a:rPr>
              <a:t>الطور </a:t>
            </a:r>
            <a:r>
              <a:rPr lang="ar-DZ" b="1" dirty="0" err="1">
                <a:solidFill>
                  <a:schemeClr val="bg1"/>
                </a:solidFill>
              </a:rPr>
              <a:t>الثالث </a:t>
            </a:r>
            <a:r>
              <a:rPr lang="ar-DZ" b="1" dirty="0">
                <a:solidFill>
                  <a:schemeClr val="bg1"/>
                </a:solidFill>
              </a:rPr>
              <a:t>(السنة الرابعة) أو طور التعميق والتوجيه، إذ تتوّج نهاية هذا الطور بشهادة التعليم </a:t>
            </a:r>
            <a:r>
              <a:rPr lang="ar-DZ" b="1" dirty="0" err="1">
                <a:solidFill>
                  <a:schemeClr val="bg1"/>
                </a:solidFill>
              </a:rPr>
              <a:t>المتوسّط </a:t>
            </a:r>
            <a:r>
              <a:rPr lang="ar-DZ" b="1" dirty="0">
                <a:solidFill>
                  <a:schemeClr val="bg1"/>
                </a:solidFill>
              </a:rPr>
              <a:t>(ش ت م</a:t>
            </a:r>
            <a:r>
              <a:rPr lang="ar-DZ" b="1" dirty="0" err="1">
                <a:solidFill>
                  <a:schemeClr val="bg1"/>
                </a:solidFill>
              </a:rPr>
              <a:t>).</a:t>
            </a:r>
            <a:r>
              <a:rPr lang="ar-DZ" b="1" dirty="0">
                <a:solidFill>
                  <a:schemeClr val="bg1"/>
                </a:solidFill>
              </a:rPr>
              <a:t>  </a:t>
            </a:r>
            <a:endParaRPr lang="fr-FR" dirty="0">
              <a:solidFill>
                <a:schemeClr val="bg1"/>
              </a:solidFill>
            </a:endParaRP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تتحوّل في أذهان التلاميذ إلى ثقافة عامّة أدبية وفنّية، علمية وتكنولوجية</a:t>
            </a:r>
            <a:r>
              <a:rPr lang="ar-DZ" b="1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601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avec flèche vers le bas 4"/>
          <p:cNvSpPr/>
          <p:nvPr/>
        </p:nvSpPr>
        <p:spPr>
          <a:xfrm>
            <a:off x="2735796" y="188640"/>
            <a:ext cx="5004556" cy="1296144"/>
          </a:xfrm>
          <a:prstGeom prst="downArrowCallou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dirty="0" err="1">
                <a:solidFill>
                  <a:schemeClr val="bg1"/>
                </a:solidFill>
              </a:rPr>
              <a:t>مصفوقة</a:t>
            </a:r>
            <a:r>
              <a:rPr lang="ar-DZ" sz="4400" b="1" dirty="0">
                <a:solidFill>
                  <a:schemeClr val="bg1"/>
                </a:solidFill>
              </a:rPr>
              <a:t> الموارد المعرفية 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179512" y="1484784"/>
            <a:ext cx="8856984" cy="504056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800" b="1" dirty="0">
                <a:solidFill>
                  <a:schemeClr val="bg1"/>
                </a:solidFill>
              </a:rPr>
              <a:t>هي جملة منظمة لموارد ذات طابع معرفي ومنهجي، والتي تستخدم لتحقيق الكفاءات</a:t>
            </a: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التي </a:t>
            </a:r>
            <a:r>
              <a:rPr lang="ar-DZ" sz="2800" b="1" dirty="0" err="1">
                <a:solidFill>
                  <a:schemeClr val="bg1"/>
                </a:solidFill>
              </a:rPr>
              <a:t>يستهدفيا</a:t>
            </a:r>
            <a:r>
              <a:rPr lang="ar-DZ" sz="2800" b="1" dirty="0">
                <a:solidFill>
                  <a:schemeClr val="bg1"/>
                </a:solidFill>
              </a:rPr>
              <a:t> المنهاج.</a:t>
            </a: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في إطار مقاربة </a:t>
            </a:r>
            <a:r>
              <a:rPr lang="ar-DZ" sz="2800" b="1" dirty="0" err="1">
                <a:solidFill>
                  <a:schemeClr val="bg1"/>
                </a:solidFill>
              </a:rPr>
              <a:t>نسقية</a:t>
            </a:r>
            <a:r>
              <a:rPr lang="ar-DZ" sz="2800" b="1" dirty="0">
                <a:solidFill>
                  <a:schemeClr val="bg1"/>
                </a:solidFill>
              </a:rPr>
              <a:t>، وبعد تحديد ملامح التخرّج والكفاءات الشاملة ثّم الكفاءات الختامية لكل الميادين </a:t>
            </a:r>
            <a:r>
              <a:rPr lang="ar-DZ" sz="2800" b="1" dirty="0" err="1">
                <a:solidFill>
                  <a:schemeClr val="bg1"/>
                </a:solidFill>
              </a:rPr>
              <a:t>الميهكلة</a:t>
            </a:r>
            <a:endParaRPr lang="ar-DZ" sz="2800" b="1" dirty="0">
              <a:solidFill>
                <a:schemeClr val="bg1"/>
              </a:solidFill>
            </a:endParaRP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للمادّة، فإن غاية مصفوفة الموارد هي التحديد الشامل للموارد الضرورية لبناء هذه الكفاءات.</a:t>
            </a: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وتتكوّن هذه الموارد من معارف المادّة والكفاءات العرضية والقيم، وتشمل </a:t>
            </a:r>
          </a:p>
          <a:p>
            <a:pPr algn="r"/>
            <a:r>
              <a:rPr lang="ar-DZ" sz="2800" b="1" dirty="0">
                <a:solidFill>
                  <a:schemeClr val="bg1"/>
                </a:solidFill>
              </a:rPr>
              <a:t>المها </a:t>
            </a:r>
            <a:r>
              <a:rPr lang="ar-DZ" sz="2800" b="1" dirty="0" err="1">
                <a:solidFill>
                  <a:schemeClr val="bg1"/>
                </a:solidFill>
              </a:rPr>
              <a:t>رات</a:t>
            </a:r>
            <a:r>
              <a:rPr lang="ar-DZ" sz="2800" b="1" dirty="0">
                <a:solidFill>
                  <a:schemeClr val="bg1"/>
                </a:solidFill>
              </a:rPr>
              <a:t> </a:t>
            </a:r>
            <a:r>
              <a:rPr lang="ar-DZ" sz="2800" b="1" dirty="0" err="1">
                <a:solidFill>
                  <a:schemeClr val="bg1"/>
                </a:solidFill>
              </a:rPr>
              <a:t>والسلوكات</a:t>
            </a:r>
            <a:r>
              <a:rPr lang="ar-DZ" sz="2800" b="1" dirty="0">
                <a:solidFill>
                  <a:schemeClr val="bg1"/>
                </a:solidFill>
              </a:rPr>
              <a:t> الضرورية لبناء الكفاءات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413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1135</TotalTime>
  <Words>2466</Words>
  <Application>Microsoft Office PowerPoint</Application>
  <PresentationFormat>عرض على الشاشة (4:3)</PresentationFormat>
  <Paragraphs>154</Paragraphs>
  <Slides>29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29</vt:i4>
      </vt:variant>
    </vt:vector>
  </HeadingPairs>
  <TitlesOfParts>
    <vt:vector size="41" baseType="lpstr">
      <vt:lpstr>Arial</vt:lpstr>
      <vt:lpstr>Book Antiqua</vt:lpstr>
      <vt:lpstr>Calibri</vt:lpstr>
      <vt:lpstr>Cambria</vt:lpstr>
      <vt:lpstr>Lucida Sans</vt:lpstr>
      <vt:lpstr>Simplified Arabic</vt:lpstr>
      <vt:lpstr>Times New Roman</vt:lpstr>
      <vt:lpstr>Traditional Arabic</vt:lpstr>
      <vt:lpstr>Wingdings</vt:lpstr>
      <vt:lpstr>Wingdings 2</vt:lpstr>
      <vt:lpstr>Wingdings 3</vt:lpstr>
      <vt:lpstr>Apex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ملامح التخرج </vt:lpstr>
      <vt:lpstr>الملمح الشامل في نهاية التعليم الأساسي</vt:lpstr>
      <vt:lpstr>الملمح الشامل في نهاية التعليم المتوسّط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HMI</dc:creator>
  <cp:lastModifiedBy>Fannan</cp:lastModifiedBy>
  <cp:revision>548</cp:revision>
  <dcterms:created xsi:type="dcterms:W3CDTF">2016-02-23T11:37:09Z</dcterms:created>
  <dcterms:modified xsi:type="dcterms:W3CDTF">2021-01-24T19:26:01Z</dcterms:modified>
</cp:coreProperties>
</file>