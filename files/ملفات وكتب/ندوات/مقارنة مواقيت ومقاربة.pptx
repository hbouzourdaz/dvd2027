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drawings/drawing1.xml" ContentType="application/vnd.openxmlformats-officedocument.drawingml.chartshapes+xml"/>
  <Override PartName="/ppt/charts/chart7.xml" ContentType="application/vnd.openxmlformats-officedocument.drawingml.chart+xml"/>
  <Override PartName="/ppt/drawings/drawing2.xml" ContentType="application/vnd.openxmlformats-officedocument.drawingml.chartshapes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drawings/drawing3.xml" ContentType="application/vnd.openxmlformats-officedocument.drawingml.chartshapes+xml"/>
  <Override PartName="/ppt/notesSlides/notesSlide4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5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28"/>
  </p:notesMasterIdLst>
  <p:sldIdLst>
    <p:sldId id="336" r:id="rId3"/>
    <p:sldId id="353" r:id="rId4"/>
    <p:sldId id="348" r:id="rId5"/>
    <p:sldId id="354" r:id="rId6"/>
    <p:sldId id="355" r:id="rId7"/>
    <p:sldId id="313" r:id="rId8"/>
    <p:sldId id="371" r:id="rId9"/>
    <p:sldId id="372" r:id="rId10"/>
    <p:sldId id="347" r:id="rId11"/>
    <p:sldId id="296" r:id="rId12"/>
    <p:sldId id="357" r:id="rId13"/>
    <p:sldId id="358" r:id="rId14"/>
    <p:sldId id="344" r:id="rId15"/>
    <p:sldId id="318" r:id="rId16"/>
    <p:sldId id="352" r:id="rId17"/>
    <p:sldId id="314" r:id="rId18"/>
    <p:sldId id="276" r:id="rId19"/>
    <p:sldId id="361" r:id="rId20"/>
    <p:sldId id="265" r:id="rId21"/>
    <p:sldId id="266" r:id="rId22"/>
    <p:sldId id="267" r:id="rId23"/>
    <p:sldId id="331" r:id="rId24"/>
    <p:sldId id="268" r:id="rId25"/>
    <p:sldId id="332" r:id="rId26"/>
    <p:sldId id="337" r:id="rId2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726" autoAdjust="0"/>
  </p:normalViewPr>
  <p:slideViewPr>
    <p:cSldViewPr>
      <p:cViewPr varScale="1">
        <p:scale>
          <a:sx n="70" d="100"/>
          <a:sy n="70" d="100"/>
        </p:scale>
        <p:origin x="138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Classeur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fik\Desktop\horaires%205pay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fik\Desktop\CNPmai2013\Tab%20compar%201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fik\Desktop\Doc%20excel%20pour%20comparatif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E:\CNPmai2013\Tab%20compar1111.xlsx" TargetMode="Externa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Rafik\Desktop\CNPmai2013\Tab%20compar1111.xlsx" TargetMode="Externa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C:\Users\Rafik\Desktop\CNPmai2013\Tab%20compar1111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fik\Desktop\CNPmai2013\Tab%20compar1111.xlsx" TargetMode="Externa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Users\Rafik\Desktop\CNPmai2013\Tab%20compar1111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Classeur1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fik\Desktop\horaires%205pays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fik\Desktop\horaires%205pays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Classeur1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fik\Desktop\CNPmai2013\Tab%20compar1111.xlsx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fik\Desktop\Tableaux%20du%20moyen1.xlsx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fik\Desktop\Tableaux%20du%20moyen1.xlsx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fik\Desktop\CNPmai2013\Tab%20compar1111.xlsx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fik\Desktop\Tableaux%20du%20moyen1.xlsx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fik\Desktop\Tableaux%20du%20moyen1.xlsx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fik\Desktop\CNPmai2013\Tab%20compar111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5.5641707980946933E-2"/>
          <c:y val="2.6852368707000293E-2"/>
          <c:w val="0.90756124234470692"/>
          <c:h val="0.86126372137513152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Feuil1!$B$20:$C$20</c:f>
              <c:strCache>
                <c:ptCount val="1"/>
                <c:pt idx="0">
                  <c:v>المجموع </c:v>
                </c:pt>
              </c:strCache>
            </c:strRef>
          </c:tx>
          <c:spPr>
            <a:solidFill>
              <a:srgbClr val="1F497D">
                <a:lumMod val="60000"/>
                <a:lumOff val="40000"/>
              </a:srgbClr>
            </a:solidFill>
          </c:spPr>
          <c:invertIfNegative val="0"/>
          <c:cat>
            <c:strRef>
              <c:f>Feuil1!$D$19:$H$19</c:f>
              <c:strCache>
                <c:ptCount val="5"/>
                <c:pt idx="0">
                  <c:v>الجزائر </c:v>
                </c:pt>
                <c:pt idx="1">
                  <c:v>المغرب </c:v>
                </c:pt>
                <c:pt idx="2">
                  <c:v>تونس</c:v>
                </c:pt>
                <c:pt idx="3">
                  <c:v>فرنسا </c:v>
                </c:pt>
                <c:pt idx="4">
                  <c:v>معدل CE</c:v>
                </c:pt>
              </c:strCache>
            </c:strRef>
          </c:cat>
          <c:val>
            <c:numRef>
              <c:f>Feuil1!$D$20:$H$20</c:f>
              <c:numCache>
                <c:formatCode>General</c:formatCode>
                <c:ptCount val="5"/>
                <c:pt idx="0">
                  <c:v>3600</c:v>
                </c:pt>
                <c:pt idx="1">
                  <c:v>5760</c:v>
                </c:pt>
                <c:pt idx="2">
                  <c:v>4928</c:v>
                </c:pt>
                <c:pt idx="3">
                  <c:v>3840</c:v>
                </c:pt>
                <c:pt idx="4">
                  <c:v>5528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A2-4730-85D0-00FB6AABC8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2856576"/>
        <c:axId val="62837888"/>
        <c:axId val="0"/>
      </c:bar3DChart>
      <c:catAx>
        <c:axId val="628565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 b="1"/>
            </a:pPr>
            <a:endParaRPr lang="en-US"/>
          </a:p>
        </c:txPr>
        <c:crossAx val="62837888"/>
        <c:crosses val="autoZero"/>
        <c:auto val="1"/>
        <c:lblAlgn val="ctr"/>
        <c:lblOffset val="100"/>
        <c:noMultiLvlLbl val="0"/>
      </c:catAx>
      <c:valAx>
        <c:axId val="6283788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6285657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Feuil1!$E$37</c:f>
              <c:strCache>
                <c:ptCount val="1"/>
                <c:pt idx="0">
                  <c:v>س 1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cat>
            <c:strRef>
              <c:f>Feuil1!$F$36:$K$36</c:f>
              <c:strCache>
                <c:ptCount val="6"/>
                <c:pt idx="0">
                  <c:v>الجزائر</c:v>
                </c:pt>
                <c:pt idx="1">
                  <c:v>تونس</c:v>
                </c:pt>
                <c:pt idx="2">
                  <c:v>المغرب</c:v>
                </c:pt>
                <c:pt idx="3">
                  <c:v>قطر</c:v>
                </c:pt>
                <c:pt idx="4">
                  <c:v>فرنسا</c:v>
                </c:pt>
                <c:pt idx="5">
                  <c:v>أوروبا</c:v>
                </c:pt>
              </c:strCache>
            </c:strRef>
          </c:cat>
          <c:val>
            <c:numRef>
              <c:f>Feuil1!$F$37:$K$37</c:f>
              <c:numCache>
                <c:formatCode>General</c:formatCode>
                <c:ptCount val="6"/>
                <c:pt idx="0">
                  <c:v>21</c:v>
                </c:pt>
                <c:pt idx="1">
                  <c:v>22</c:v>
                </c:pt>
                <c:pt idx="2">
                  <c:v>30</c:v>
                </c:pt>
                <c:pt idx="3">
                  <c:v>31</c:v>
                </c:pt>
                <c:pt idx="4">
                  <c:v>24</c:v>
                </c:pt>
                <c:pt idx="5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57-43EC-9B45-5B759C533453}"/>
            </c:ext>
          </c:extLst>
        </c:ser>
        <c:ser>
          <c:idx val="1"/>
          <c:order val="1"/>
          <c:tx>
            <c:strRef>
              <c:f>Feuil1!$E$38</c:f>
              <c:strCache>
                <c:ptCount val="1"/>
                <c:pt idx="0">
                  <c:v>س 2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Feuil1!$F$36:$K$36</c:f>
              <c:strCache>
                <c:ptCount val="6"/>
                <c:pt idx="0">
                  <c:v>الجزائر</c:v>
                </c:pt>
                <c:pt idx="1">
                  <c:v>تونس</c:v>
                </c:pt>
                <c:pt idx="2">
                  <c:v>المغرب</c:v>
                </c:pt>
                <c:pt idx="3">
                  <c:v>قطر</c:v>
                </c:pt>
                <c:pt idx="4">
                  <c:v>فرنسا</c:v>
                </c:pt>
                <c:pt idx="5">
                  <c:v>أوروبا</c:v>
                </c:pt>
              </c:strCache>
            </c:strRef>
          </c:cat>
          <c:val>
            <c:numRef>
              <c:f>Feuil1!$F$38:$K$38</c:f>
              <c:numCache>
                <c:formatCode>General</c:formatCode>
                <c:ptCount val="6"/>
                <c:pt idx="0">
                  <c:v>21</c:v>
                </c:pt>
                <c:pt idx="1">
                  <c:v>22</c:v>
                </c:pt>
                <c:pt idx="2">
                  <c:v>30</c:v>
                </c:pt>
                <c:pt idx="3">
                  <c:v>31</c:v>
                </c:pt>
                <c:pt idx="4">
                  <c:v>24</c:v>
                </c:pt>
                <c:pt idx="5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57-43EC-9B45-5B759C533453}"/>
            </c:ext>
          </c:extLst>
        </c:ser>
        <c:ser>
          <c:idx val="2"/>
          <c:order val="2"/>
          <c:tx>
            <c:strRef>
              <c:f>Feuil1!$E$39</c:f>
              <c:strCache>
                <c:ptCount val="1"/>
                <c:pt idx="0">
                  <c:v>س 3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cat>
            <c:strRef>
              <c:f>Feuil1!$F$36:$K$36</c:f>
              <c:strCache>
                <c:ptCount val="6"/>
                <c:pt idx="0">
                  <c:v>الجزائر</c:v>
                </c:pt>
                <c:pt idx="1">
                  <c:v>تونس</c:v>
                </c:pt>
                <c:pt idx="2">
                  <c:v>المغرب</c:v>
                </c:pt>
                <c:pt idx="3">
                  <c:v>قطر</c:v>
                </c:pt>
                <c:pt idx="4">
                  <c:v>فرنسا</c:v>
                </c:pt>
                <c:pt idx="5">
                  <c:v>أوروبا</c:v>
                </c:pt>
              </c:strCache>
            </c:strRef>
          </c:cat>
          <c:val>
            <c:numRef>
              <c:f>Feuil1!$F$39:$K$39</c:f>
              <c:numCache>
                <c:formatCode>General</c:formatCode>
                <c:ptCount val="6"/>
                <c:pt idx="0">
                  <c:v>22.5</c:v>
                </c:pt>
                <c:pt idx="1">
                  <c:v>25</c:v>
                </c:pt>
                <c:pt idx="2">
                  <c:v>30</c:v>
                </c:pt>
                <c:pt idx="3">
                  <c:v>32</c:v>
                </c:pt>
                <c:pt idx="4">
                  <c:v>24</c:v>
                </c:pt>
                <c:pt idx="5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E57-43EC-9B45-5B759C533453}"/>
            </c:ext>
          </c:extLst>
        </c:ser>
        <c:ser>
          <c:idx val="3"/>
          <c:order val="3"/>
          <c:tx>
            <c:strRef>
              <c:f>Feuil1!$E$40</c:f>
              <c:strCache>
                <c:ptCount val="1"/>
                <c:pt idx="0">
                  <c:v>س 4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cat>
            <c:strRef>
              <c:f>Feuil1!$F$36:$K$36</c:f>
              <c:strCache>
                <c:ptCount val="6"/>
                <c:pt idx="0">
                  <c:v>الجزائر</c:v>
                </c:pt>
                <c:pt idx="1">
                  <c:v>تونس</c:v>
                </c:pt>
                <c:pt idx="2">
                  <c:v>المغرب</c:v>
                </c:pt>
                <c:pt idx="3">
                  <c:v>قطر</c:v>
                </c:pt>
                <c:pt idx="4">
                  <c:v>فرنسا</c:v>
                </c:pt>
                <c:pt idx="5">
                  <c:v>أوروبا</c:v>
                </c:pt>
              </c:strCache>
            </c:strRef>
          </c:cat>
          <c:val>
            <c:numRef>
              <c:f>Feuil1!$F$40:$K$40</c:f>
              <c:numCache>
                <c:formatCode>General</c:formatCode>
                <c:ptCount val="6"/>
                <c:pt idx="0">
                  <c:v>24</c:v>
                </c:pt>
                <c:pt idx="1">
                  <c:v>25</c:v>
                </c:pt>
                <c:pt idx="2">
                  <c:v>30</c:v>
                </c:pt>
                <c:pt idx="3">
                  <c:v>34</c:v>
                </c:pt>
                <c:pt idx="4">
                  <c:v>24</c:v>
                </c:pt>
                <c:pt idx="5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57-43EC-9B45-5B759C533453}"/>
            </c:ext>
          </c:extLst>
        </c:ser>
        <c:ser>
          <c:idx val="4"/>
          <c:order val="4"/>
          <c:tx>
            <c:strRef>
              <c:f>Feuil1!$E$41</c:f>
              <c:strCache>
                <c:ptCount val="1"/>
                <c:pt idx="0">
                  <c:v>س 5</c:v>
                </c:pt>
              </c:strCache>
            </c:strRef>
          </c:tx>
          <c:spPr>
            <a:solidFill>
              <a:srgbClr val="002060"/>
            </a:solidFill>
          </c:spPr>
          <c:invertIfNegative val="0"/>
          <c:cat>
            <c:strRef>
              <c:f>Feuil1!$F$36:$K$36</c:f>
              <c:strCache>
                <c:ptCount val="6"/>
                <c:pt idx="0">
                  <c:v>الجزائر</c:v>
                </c:pt>
                <c:pt idx="1">
                  <c:v>تونس</c:v>
                </c:pt>
                <c:pt idx="2">
                  <c:v>المغرب</c:v>
                </c:pt>
                <c:pt idx="3">
                  <c:v>قطر</c:v>
                </c:pt>
                <c:pt idx="4">
                  <c:v>فرنسا</c:v>
                </c:pt>
                <c:pt idx="5">
                  <c:v>أوروبا</c:v>
                </c:pt>
              </c:strCache>
            </c:strRef>
          </c:cat>
          <c:val>
            <c:numRef>
              <c:f>Feuil1!$F$41:$K$41</c:f>
              <c:numCache>
                <c:formatCode>General</c:formatCode>
                <c:ptCount val="6"/>
                <c:pt idx="0">
                  <c:v>24</c:v>
                </c:pt>
                <c:pt idx="1">
                  <c:v>29.5</c:v>
                </c:pt>
                <c:pt idx="2">
                  <c:v>30</c:v>
                </c:pt>
                <c:pt idx="3">
                  <c:v>35</c:v>
                </c:pt>
                <c:pt idx="4">
                  <c:v>24</c:v>
                </c:pt>
                <c:pt idx="5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57-43EC-9B45-5B759C5334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2896000"/>
        <c:axId val="62897536"/>
        <c:axId val="0"/>
      </c:bar3DChart>
      <c:catAx>
        <c:axId val="6289600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800" b="1"/>
            </a:pPr>
            <a:endParaRPr lang="en-US"/>
          </a:p>
        </c:txPr>
        <c:crossAx val="62897536"/>
        <c:crosses val="autoZero"/>
        <c:auto val="1"/>
        <c:lblAlgn val="ctr"/>
        <c:lblOffset val="100"/>
        <c:noMultiLvlLbl val="0"/>
      </c:catAx>
      <c:valAx>
        <c:axId val="6289753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62896000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 sz="1800" b="1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2037037037036617E-3"/>
          <c:y val="2.0350308392632747E-2"/>
        </c:manualLayout>
      </c:layout>
      <c:overlay val="0"/>
      <c:txPr>
        <a:bodyPr/>
        <a:lstStyle/>
        <a:p>
          <a:pPr>
            <a:defRPr sz="2000"/>
          </a:pPr>
          <a:endParaRPr lang="en-US"/>
        </a:p>
      </c:txPr>
    </c:title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6617016622922132"/>
          <c:y val="7.4744882626884807E-2"/>
          <c:w val="0.81065167201322641"/>
          <c:h val="0.81033583350106964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Feuil1!$A$33:$B$33</c:f>
              <c:strCache>
                <c:ptCount val="1"/>
                <c:pt idx="0">
                  <c:v>عدد أسابيع التعليم</c:v>
                </c:pt>
              </c:strCache>
            </c:strRef>
          </c:tx>
          <c:invertIfNegative val="0"/>
          <c:cat>
            <c:strRef>
              <c:f>Feuil1!$C$32:$K$32</c:f>
              <c:strCache>
                <c:ptCount val="6"/>
                <c:pt idx="0">
                  <c:v>الجزائر</c:v>
                </c:pt>
                <c:pt idx="1">
                  <c:v>المغرب</c:v>
                </c:pt>
                <c:pt idx="2">
                  <c:v>تونس</c:v>
                </c:pt>
                <c:pt idx="3">
                  <c:v>فرنسا</c:v>
                </c:pt>
                <c:pt idx="4">
                  <c:v>إيطاليا</c:v>
                </c:pt>
                <c:pt idx="5">
                  <c:v>أوروبا</c:v>
                </c:pt>
              </c:strCache>
            </c:strRef>
          </c:cat>
          <c:val>
            <c:numRef>
              <c:f>Feuil1!$C$33:$K$33</c:f>
              <c:numCache>
                <c:formatCode>General</c:formatCode>
                <c:ptCount val="9"/>
                <c:pt idx="0">
                  <c:v>32</c:v>
                </c:pt>
                <c:pt idx="1">
                  <c:v>36</c:v>
                </c:pt>
                <c:pt idx="2">
                  <c:v>36</c:v>
                </c:pt>
                <c:pt idx="3">
                  <c:v>36</c:v>
                </c:pt>
                <c:pt idx="4">
                  <c:v>39</c:v>
                </c:pt>
                <c:pt idx="5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2A-437A-9347-D21CC87B44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5476864"/>
        <c:axId val="65490944"/>
        <c:axId val="0"/>
      </c:bar3DChart>
      <c:catAx>
        <c:axId val="6547686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2000" b="1"/>
            </a:pPr>
            <a:endParaRPr lang="en-US"/>
          </a:p>
        </c:txPr>
        <c:crossAx val="65490944"/>
        <c:crosses val="autoZero"/>
        <c:auto val="1"/>
        <c:lblAlgn val="ctr"/>
        <c:lblOffset val="100"/>
        <c:noMultiLvlLbl val="0"/>
      </c:catAx>
      <c:valAx>
        <c:axId val="6549094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 b="1"/>
            </a:pPr>
            <a:endParaRPr lang="en-US"/>
          </a:p>
        </c:txPr>
        <c:crossAx val="6547686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Feuil1!$D$8</c:f>
              <c:strCache>
                <c:ptCount val="1"/>
                <c:pt idx="0">
                  <c:v>الجزائر 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cat>
            <c:strRef>
              <c:f>Feuil1!$B$9:$C$14</c:f>
              <c:strCache>
                <c:ptCount val="6"/>
                <c:pt idx="0">
                  <c:v>السنة الأولى </c:v>
                </c:pt>
                <c:pt idx="1">
                  <c:v>السنة الثانية</c:v>
                </c:pt>
                <c:pt idx="2">
                  <c:v>السنة الثالثة</c:v>
                </c:pt>
                <c:pt idx="3">
                  <c:v>السنة الرابعة</c:v>
                </c:pt>
                <c:pt idx="4">
                  <c:v>السنة الخامسة </c:v>
                </c:pt>
                <c:pt idx="5">
                  <c:v>السنة السادسة</c:v>
                </c:pt>
              </c:strCache>
            </c:strRef>
          </c:cat>
          <c:val>
            <c:numRef>
              <c:f>Feuil1!$D$9:$D$14</c:f>
              <c:numCache>
                <c:formatCode>General</c:formatCode>
                <c:ptCount val="6"/>
                <c:pt idx="0">
                  <c:v>672</c:v>
                </c:pt>
                <c:pt idx="1">
                  <c:v>672</c:v>
                </c:pt>
                <c:pt idx="2">
                  <c:v>720</c:v>
                </c:pt>
                <c:pt idx="3">
                  <c:v>768</c:v>
                </c:pt>
                <c:pt idx="4">
                  <c:v>768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36-4E9E-B1F2-F3A5E29DAA0D}"/>
            </c:ext>
          </c:extLst>
        </c:ser>
        <c:ser>
          <c:idx val="1"/>
          <c:order val="1"/>
          <c:tx>
            <c:strRef>
              <c:f>Feuil1!$E$8</c:f>
              <c:strCache>
                <c:ptCount val="1"/>
                <c:pt idx="0">
                  <c:v>المغرب 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Feuil1!$B$9:$C$14</c:f>
              <c:strCache>
                <c:ptCount val="6"/>
                <c:pt idx="0">
                  <c:v>السنة الأولى </c:v>
                </c:pt>
                <c:pt idx="1">
                  <c:v>السنة الثانية</c:v>
                </c:pt>
                <c:pt idx="2">
                  <c:v>السنة الثالثة</c:v>
                </c:pt>
                <c:pt idx="3">
                  <c:v>السنة الرابعة</c:v>
                </c:pt>
                <c:pt idx="4">
                  <c:v>السنة الخامسة </c:v>
                </c:pt>
                <c:pt idx="5">
                  <c:v>السنة السادسة</c:v>
                </c:pt>
              </c:strCache>
            </c:strRef>
          </c:cat>
          <c:val>
            <c:numRef>
              <c:f>Feuil1!$E$9:$E$14</c:f>
              <c:numCache>
                <c:formatCode>General</c:formatCode>
                <c:ptCount val="6"/>
                <c:pt idx="0">
                  <c:v>960</c:v>
                </c:pt>
                <c:pt idx="1">
                  <c:v>960</c:v>
                </c:pt>
                <c:pt idx="2">
                  <c:v>960</c:v>
                </c:pt>
                <c:pt idx="3">
                  <c:v>960</c:v>
                </c:pt>
                <c:pt idx="4">
                  <c:v>960</c:v>
                </c:pt>
                <c:pt idx="5">
                  <c:v>960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36-4E9E-B1F2-F3A5E29DAA0D}"/>
            </c:ext>
          </c:extLst>
        </c:ser>
        <c:ser>
          <c:idx val="2"/>
          <c:order val="2"/>
          <c:tx>
            <c:strRef>
              <c:f>Feuil1!$F$8</c:f>
              <c:strCache>
                <c:ptCount val="1"/>
                <c:pt idx="0">
                  <c:v>تونس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cat>
            <c:strRef>
              <c:f>Feuil1!$B$9:$C$14</c:f>
              <c:strCache>
                <c:ptCount val="6"/>
                <c:pt idx="0">
                  <c:v>السنة الأولى </c:v>
                </c:pt>
                <c:pt idx="1">
                  <c:v>السنة الثانية</c:v>
                </c:pt>
                <c:pt idx="2">
                  <c:v>السنة الثالثة</c:v>
                </c:pt>
                <c:pt idx="3">
                  <c:v>السنة الرابعة</c:v>
                </c:pt>
                <c:pt idx="4">
                  <c:v>السنة الخامسة </c:v>
                </c:pt>
                <c:pt idx="5">
                  <c:v>السنة السادسة</c:v>
                </c:pt>
              </c:strCache>
            </c:strRef>
          </c:cat>
          <c:val>
            <c:numRef>
              <c:f>Feuil1!$F$9:$F$14</c:f>
              <c:numCache>
                <c:formatCode>General</c:formatCode>
                <c:ptCount val="6"/>
                <c:pt idx="0">
                  <c:v>704</c:v>
                </c:pt>
                <c:pt idx="1">
                  <c:v>704</c:v>
                </c:pt>
                <c:pt idx="2">
                  <c:v>800</c:v>
                </c:pt>
                <c:pt idx="3">
                  <c:v>800</c:v>
                </c:pt>
                <c:pt idx="4">
                  <c:v>944</c:v>
                </c:pt>
                <c:pt idx="5">
                  <c:v>976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36-4E9E-B1F2-F3A5E29DAA0D}"/>
            </c:ext>
          </c:extLst>
        </c:ser>
        <c:ser>
          <c:idx val="3"/>
          <c:order val="3"/>
          <c:tx>
            <c:strRef>
              <c:f>Feuil1!$G$8</c:f>
              <c:strCache>
                <c:ptCount val="1"/>
                <c:pt idx="0">
                  <c:v>فرنسا </c:v>
                </c:pt>
              </c:strCache>
            </c:strRef>
          </c:tx>
          <c:invertIfNegative val="0"/>
          <c:cat>
            <c:strRef>
              <c:f>Feuil1!$B$9:$C$14</c:f>
              <c:strCache>
                <c:ptCount val="6"/>
                <c:pt idx="0">
                  <c:v>السنة الأولى </c:v>
                </c:pt>
                <c:pt idx="1">
                  <c:v>السنة الثانية</c:v>
                </c:pt>
                <c:pt idx="2">
                  <c:v>السنة الثالثة</c:v>
                </c:pt>
                <c:pt idx="3">
                  <c:v>السنة الرابعة</c:v>
                </c:pt>
                <c:pt idx="4">
                  <c:v>السنة الخامسة </c:v>
                </c:pt>
                <c:pt idx="5">
                  <c:v>السنة السادسة</c:v>
                </c:pt>
              </c:strCache>
            </c:strRef>
          </c:cat>
          <c:val>
            <c:numRef>
              <c:f>Feuil1!$G$9:$G$14</c:f>
              <c:numCache>
                <c:formatCode>General</c:formatCode>
                <c:ptCount val="6"/>
                <c:pt idx="0">
                  <c:v>768</c:v>
                </c:pt>
                <c:pt idx="1">
                  <c:v>768</c:v>
                </c:pt>
                <c:pt idx="2">
                  <c:v>768</c:v>
                </c:pt>
                <c:pt idx="3">
                  <c:v>768</c:v>
                </c:pt>
                <c:pt idx="4">
                  <c:v>768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C36-4E9E-B1F2-F3A5E29DAA0D}"/>
            </c:ext>
          </c:extLst>
        </c:ser>
        <c:ser>
          <c:idx val="4"/>
          <c:order val="4"/>
          <c:tx>
            <c:strRef>
              <c:f>Feuil1!$H$8</c:f>
              <c:strCache>
                <c:ptCount val="1"/>
                <c:pt idx="0">
                  <c:v>معدل CE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</c:spPr>
          <c:invertIfNegative val="0"/>
          <c:cat>
            <c:strRef>
              <c:f>Feuil1!$B$9:$C$14</c:f>
              <c:strCache>
                <c:ptCount val="6"/>
                <c:pt idx="0">
                  <c:v>السنة الأولى </c:v>
                </c:pt>
                <c:pt idx="1">
                  <c:v>السنة الثانية</c:v>
                </c:pt>
                <c:pt idx="2">
                  <c:v>السنة الثالثة</c:v>
                </c:pt>
                <c:pt idx="3">
                  <c:v>السنة الرابعة</c:v>
                </c:pt>
                <c:pt idx="4">
                  <c:v>السنة الخامسة </c:v>
                </c:pt>
                <c:pt idx="5">
                  <c:v>السنة السادسة</c:v>
                </c:pt>
              </c:strCache>
            </c:strRef>
          </c:cat>
          <c:val>
            <c:numRef>
              <c:f>Feuil1!$H$9:$H$14</c:f>
              <c:numCache>
                <c:formatCode>General</c:formatCode>
                <c:ptCount val="6"/>
                <c:pt idx="0">
                  <c:v>768</c:v>
                </c:pt>
                <c:pt idx="1">
                  <c:v>768</c:v>
                </c:pt>
                <c:pt idx="2">
                  <c:v>998</c:v>
                </c:pt>
                <c:pt idx="3">
                  <c:v>998</c:v>
                </c:pt>
                <c:pt idx="4">
                  <c:v>998</c:v>
                </c:pt>
                <c:pt idx="5">
                  <c:v>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C36-4E9E-B1F2-F3A5E29DA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5684992"/>
        <c:axId val="65686528"/>
        <c:axId val="0"/>
      </c:bar3DChart>
      <c:catAx>
        <c:axId val="6568499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800" b="1"/>
            </a:pPr>
            <a:endParaRPr lang="en-US"/>
          </a:p>
        </c:txPr>
        <c:crossAx val="65686528"/>
        <c:crosses val="autoZero"/>
        <c:auto val="1"/>
        <c:lblAlgn val="ctr"/>
        <c:lblOffset val="100"/>
        <c:noMultiLvlLbl val="0"/>
      </c:catAx>
      <c:valAx>
        <c:axId val="656865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 b="1"/>
            </a:pPr>
            <a:endParaRPr lang="en-US"/>
          </a:p>
        </c:txPr>
        <c:crossAx val="6568499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8379714688441724"/>
          <c:y val="6.7237448731245028E-2"/>
          <c:w val="0.10694359385632353"/>
          <c:h val="0.68343299153694514"/>
        </c:manualLayout>
      </c:layout>
      <c:overlay val="0"/>
      <c:txPr>
        <a:bodyPr/>
        <a:lstStyle/>
        <a:p>
          <a:pPr>
            <a:defRPr sz="1600" b="1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3.9993559832798627E-2"/>
          <c:y val="3.1154032854444458E-2"/>
          <c:w val="0.85048337707786459"/>
          <c:h val="0.67043389439993262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Feuil1!$B$65</c:f>
              <c:strCache>
                <c:ptCount val="1"/>
                <c:pt idx="0">
                  <c:v>الجزائر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cat>
            <c:strRef>
              <c:f>Feuil1!$A$66:$A$71</c:f>
              <c:strCache>
                <c:ptCount val="6"/>
                <c:pt idx="0">
                  <c:v>س1</c:v>
                </c:pt>
                <c:pt idx="1">
                  <c:v>س2</c:v>
                </c:pt>
                <c:pt idx="2">
                  <c:v>س3</c:v>
                </c:pt>
                <c:pt idx="3">
                  <c:v>س4</c:v>
                </c:pt>
                <c:pt idx="4">
                  <c:v>س5</c:v>
                </c:pt>
                <c:pt idx="5">
                  <c:v>س6</c:v>
                </c:pt>
              </c:strCache>
            </c:strRef>
          </c:cat>
          <c:val>
            <c:numRef>
              <c:f>Feuil1!$B$66:$B$71</c:f>
              <c:numCache>
                <c:formatCode>General</c:formatCode>
                <c:ptCount val="6"/>
                <c:pt idx="0">
                  <c:v>12</c:v>
                </c:pt>
                <c:pt idx="1">
                  <c:v>12</c:v>
                </c:pt>
                <c:pt idx="2">
                  <c:v>10</c:v>
                </c:pt>
                <c:pt idx="3">
                  <c:v>8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4E-44C9-AD17-48652DEA45F7}"/>
            </c:ext>
          </c:extLst>
        </c:ser>
        <c:ser>
          <c:idx val="1"/>
          <c:order val="1"/>
          <c:tx>
            <c:strRef>
              <c:f>Feuil1!$C$65</c:f>
              <c:strCache>
                <c:ptCount val="1"/>
                <c:pt idx="0">
                  <c:v>المغرب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Feuil1!$A$66:$A$71</c:f>
              <c:strCache>
                <c:ptCount val="6"/>
                <c:pt idx="0">
                  <c:v>س1</c:v>
                </c:pt>
                <c:pt idx="1">
                  <c:v>س2</c:v>
                </c:pt>
                <c:pt idx="2">
                  <c:v>س3</c:v>
                </c:pt>
                <c:pt idx="3">
                  <c:v>س4</c:v>
                </c:pt>
                <c:pt idx="4">
                  <c:v>س5</c:v>
                </c:pt>
                <c:pt idx="5">
                  <c:v>س6</c:v>
                </c:pt>
              </c:strCache>
            </c:strRef>
          </c:cat>
          <c:val>
            <c:numRef>
              <c:f>Feuil1!$C$66:$C$71</c:f>
              <c:numCache>
                <c:formatCode>General</c:formatCode>
                <c:ptCount val="6"/>
                <c:pt idx="0">
                  <c:v>11</c:v>
                </c:pt>
                <c:pt idx="1">
                  <c:v>11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4E-44C9-AD17-48652DEA45F7}"/>
            </c:ext>
          </c:extLst>
        </c:ser>
        <c:ser>
          <c:idx val="2"/>
          <c:order val="2"/>
          <c:tx>
            <c:strRef>
              <c:f>Feuil1!$D$65</c:f>
              <c:strCache>
                <c:ptCount val="1"/>
                <c:pt idx="0">
                  <c:v>تونس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cat>
            <c:strRef>
              <c:f>Feuil1!$A$66:$A$71</c:f>
              <c:strCache>
                <c:ptCount val="6"/>
                <c:pt idx="0">
                  <c:v>س1</c:v>
                </c:pt>
                <c:pt idx="1">
                  <c:v>س2</c:v>
                </c:pt>
                <c:pt idx="2">
                  <c:v>س3</c:v>
                </c:pt>
                <c:pt idx="3">
                  <c:v>س4</c:v>
                </c:pt>
                <c:pt idx="4">
                  <c:v>س5</c:v>
                </c:pt>
                <c:pt idx="5">
                  <c:v>س6</c:v>
                </c:pt>
              </c:strCache>
            </c:strRef>
          </c:cat>
          <c:val>
            <c:numRef>
              <c:f>Feuil1!$D$66:$D$71</c:f>
              <c:numCache>
                <c:formatCode>General</c:formatCode>
                <c:ptCount val="6"/>
                <c:pt idx="0">
                  <c:v>11</c:v>
                </c:pt>
                <c:pt idx="1">
                  <c:v>11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4E-44C9-AD17-48652DEA45F7}"/>
            </c:ext>
          </c:extLst>
        </c:ser>
        <c:ser>
          <c:idx val="3"/>
          <c:order val="3"/>
          <c:tx>
            <c:strRef>
              <c:f>Feuil1!$E$65</c:f>
              <c:strCache>
                <c:ptCount val="1"/>
                <c:pt idx="0">
                  <c:v>فرنسا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cat>
            <c:strRef>
              <c:f>Feuil1!$A$66:$A$71</c:f>
              <c:strCache>
                <c:ptCount val="6"/>
                <c:pt idx="0">
                  <c:v>س1</c:v>
                </c:pt>
                <c:pt idx="1">
                  <c:v>س2</c:v>
                </c:pt>
                <c:pt idx="2">
                  <c:v>س3</c:v>
                </c:pt>
                <c:pt idx="3">
                  <c:v>س4</c:v>
                </c:pt>
                <c:pt idx="4">
                  <c:v>س5</c:v>
                </c:pt>
                <c:pt idx="5">
                  <c:v>س6</c:v>
                </c:pt>
              </c:strCache>
            </c:strRef>
          </c:cat>
          <c:val>
            <c:numRef>
              <c:f>Feuil1!$E$66:$E$71</c:f>
              <c:numCache>
                <c:formatCode>General</c:formatCode>
                <c:ptCount val="6"/>
                <c:pt idx="0">
                  <c:v>10</c:v>
                </c:pt>
                <c:pt idx="1">
                  <c:v>10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D4E-44C9-AD17-48652DEA45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5868544"/>
        <c:axId val="65870080"/>
        <c:axId val="0"/>
      </c:bar3DChart>
      <c:catAx>
        <c:axId val="658685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65870080"/>
        <c:crosses val="autoZero"/>
        <c:auto val="1"/>
        <c:lblAlgn val="ctr"/>
        <c:lblOffset val="100"/>
        <c:noMultiLvlLbl val="0"/>
      </c:catAx>
      <c:valAx>
        <c:axId val="6587008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6586854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8121767765140468"/>
          <c:y val="2.2980953505166216E-2"/>
          <c:w val="0.11723911247205222"/>
          <c:h val="0.67258470123689962"/>
        </c:manualLayout>
      </c:layout>
      <c:overlay val="0"/>
      <c:txPr>
        <a:bodyPr/>
        <a:lstStyle/>
        <a:p>
          <a:pPr>
            <a:defRPr sz="1800" b="1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7.6486706522795794E-2"/>
          <c:y val="5.3160183551913882E-2"/>
          <c:w val="0.8200380334402646"/>
          <c:h val="0.72877225545522561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Feuil1!$B$65</c:f>
              <c:strCache>
                <c:ptCount val="1"/>
                <c:pt idx="0">
                  <c:v>الجزائر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Feuil1!$A$66:$A$71</c:f>
              <c:strCache>
                <c:ptCount val="6"/>
                <c:pt idx="0">
                  <c:v>س1</c:v>
                </c:pt>
                <c:pt idx="1">
                  <c:v>س2</c:v>
                </c:pt>
                <c:pt idx="2">
                  <c:v>س3</c:v>
                </c:pt>
                <c:pt idx="3">
                  <c:v>س4</c:v>
                </c:pt>
                <c:pt idx="4">
                  <c:v>س5</c:v>
                </c:pt>
                <c:pt idx="5">
                  <c:v>س6</c:v>
                </c:pt>
              </c:strCache>
            </c:strRef>
          </c:cat>
          <c:val>
            <c:numRef>
              <c:f>Feuil1!$B$66:$B$71</c:f>
              <c:numCache>
                <c:formatCode>General</c:formatCode>
                <c:ptCount val="6"/>
                <c:pt idx="0">
                  <c:v>12</c:v>
                </c:pt>
                <c:pt idx="1">
                  <c:v>12</c:v>
                </c:pt>
                <c:pt idx="2">
                  <c:v>10</c:v>
                </c:pt>
                <c:pt idx="3">
                  <c:v>8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D0-4FBA-A6FC-548F6ABC136B}"/>
            </c:ext>
          </c:extLst>
        </c:ser>
        <c:ser>
          <c:idx val="1"/>
          <c:order val="1"/>
          <c:tx>
            <c:strRef>
              <c:f>Feuil1!$C$65</c:f>
              <c:strCache>
                <c:ptCount val="1"/>
                <c:pt idx="0">
                  <c:v>المغرب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Feuil1!$A$66:$A$71</c:f>
              <c:strCache>
                <c:ptCount val="6"/>
                <c:pt idx="0">
                  <c:v>س1</c:v>
                </c:pt>
                <c:pt idx="1">
                  <c:v>س2</c:v>
                </c:pt>
                <c:pt idx="2">
                  <c:v>س3</c:v>
                </c:pt>
                <c:pt idx="3">
                  <c:v>س4</c:v>
                </c:pt>
                <c:pt idx="4">
                  <c:v>س5</c:v>
                </c:pt>
                <c:pt idx="5">
                  <c:v>س6</c:v>
                </c:pt>
              </c:strCache>
            </c:strRef>
          </c:cat>
          <c:val>
            <c:numRef>
              <c:f>Feuil1!$C$66:$C$71</c:f>
              <c:numCache>
                <c:formatCode>General</c:formatCode>
                <c:ptCount val="6"/>
                <c:pt idx="0">
                  <c:v>11</c:v>
                </c:pt>
                <c:pt idx="1">
                  <c:v>11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D0-4FBA-A6FC-548F6ABC136B}"/>
            </c:ext>
          </c:extLst>
        </c:ser>
        <c:ser>
          <c:idx val="2"/>
          <c:order val="2"/>
          <c:tx>
            <c:strRef>
              <c:f>Feuil1!$D$65</c:f>
              <c:strCache>
                <c:ptCount val="1"/>
                <c:pt idx="0">
                  <c:v>تونس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cat>
            <c:strRef>
              <c:f>Feuil1!$A$66:$A$71</c:f>
              <c:strCache>
                <c:ptCount val="6"/>
                <c:pt idx="0">
                  <c:v>س1</c:v>
                </c:pt>
                <c:pt idx="1">
                  <c:v>س2</c:v>
                </c:pt>
                <c:pt idx="2">
                  <c:v>س3</c:v>
                </c:pt>
                <c:pt idx="3">
                  <c:v>س4</c:v>
                </c:pt>
                <c:pt idx="4">
                  <c:v>س5</c:v>
                </c:pt>
                <c:pt idx="5">
                  <c:v>س6</c:v>
                </c:pt>
              </c:strCache>
            </c:strRef>
          </c:cat>
          <c:val>
            <c:numRef>
              <c:f>Feuil1!$D$66:$D$71</c:f>
              <c:numCache>
                <c:formatCode>General</c:formatCode>
                <c:ptCount val="6"/>
                <c:pt idx="0">
                  <c:v>11</c:v>
                </c:pt>
                <c:pt idx="1">
                  <c:v>11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D0-4FBA-A6FC-548F6ABC136B}"/>
            </c:ext>
          </c:extLst>
        </c:ser>
        <c:ser>
          <c:idx val="3"/>
          <c:order val="3"/>
          <c:tx>
            <c:strRef>
              <c:f>Feuil1!$E$65</c:f>
              <c:strCache>
                <c:ptCount val="1"/>
                <c:pt idx="0">
                  <c:v>فرنسا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Feuil1!$A$66:$A$71</c:f>
              <c:strCache>
                <c:ptCount val="6"/>
                <c:pt idx="0">
                  <c:v>س1</c:v>
                </c:pt>
                <c:pt idx="1">
                  <c:v>س2</c:v>
                </c:pt>
                <c:pt idx="2">
                  <c:v>س3</c:v>
                </c:pt>
                <c:pt idx="3">
                  <c:v>س4</c:v>
                </c:pt>
                <c:pt idx="4">
                  <c:v>س5</c:v>
                </c:pt>
                <c:pt idx="5">
                  <c:v>س6</c:v>
                </c:pt>
              </c:strCache>
            </c:strRef>
          </c:cat>
          <c:val>
            <c:numRef>
              <c:f>Feuil1!$E$66:$E$71</c:f>
              <c:numCache>
                <c:formatCode>General</c:formatCode>
                <c:ptCount val="6"/>
                <c:pt idx="0">
                  <c:v>10</c:v>
                </c:pt>
                <c:pt idx="1">
                  <c:v>10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4D0-4FBA-A6FC-548F6ABC13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5902464"/>
        <c:axId val="65904000"/>
        <c:axId val="0"/>
      </c:bar3DChart>
      <c:catAx>
        <c:axId val="6590246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 b="1"/>
            </a:pPr>
            <a:endParaRPr lang="en-US"/>
          </a:p>
        </c:txPr>
        <c:crossAx val="65904000"/>
        <c:crosses val="autoZero"/>
        <c:auto val="1"/>
        <c:lblAlgn val="ctr"/>
        <c:lblOffset val="100"/>
        <c:noMultiLvlLbl val="0"/>
      </c:catAx>
      <c:valAx>
        <c:axId val="6590400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 b="1"/>
            </a:pPr>
            <a:endParaRPr lang="en-US"/>
          </a:p>
        </c:txPr>
        <c:crossAx val="65902464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 sz="20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6440212093834429E-2"/>
          <c:y val="0.10465743269904781"/>
          <c:w val="0.90843773349802093"/>
          <c:h val="0.63015594421132692"/>
        </c:manualLayout>
      </c:layout>
      <c:lineChart>
        <c:grouping val="stacked"/>
        <c:varyColors val="1"/>
        <c:ser>
          <c:idx val="0"/>
          <c:order val="0"/>
          <c:spPr>
            <a:ln w="76200"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Feuil1!$B$65:$E$65</c:f>
              <c:strCache>
                <c:ptCount val="4"/>
                <c:pt idx="0">
                  <c:v>الجزائر</c:v>
                </c:pt>
                <c:pt idx="1">
                  <c:v>المغرب</c:v>
                </c:pt>
                <c:pt idx="2">
                  <c:v>تونس</c:v>
                </c:pt>
                <c:pt idx="3">
                  <c:v>فرنسا</c:v>
                </c:pt>
              </c:strCache>
            </c:strRef>
          </c:cat>
          <c:val>
            <c:numRef>
              <c:f>Feuil1!$B$72:$E$72</c:f>
              <c:numCache>
                <c:formatCode>General</c:formatCode>
                <c:ptCount val="4"/>
                <c:pt idx="0">
                  <c:v>1533</c:v>
                </c:pt>
                <c:pt idx="1">
                  <c:v>1564</c:v>
                </c:pt>
                <c:pt idx="2">
                  <c:v>1564</c:v>
                </c:pt>
                <c:pt idx="3">
                  <c:v>1584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6D-447F-9683-C3D6E80E5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927424"/>
        <c:axId val="65962752"/>
      </c:lineChart>
      <c:catAx>
        <c:axId val="6592742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2400" b="1"/>
            </a:pPr>
            <a:endParaRPr lang="en-US"/>
          </a:p>
        </c:txPr>
        <c:crossAx val="65962752"/>
        <c:crosses val="autoZero"/>
        <c:auto val="1"/>
        <c:lblAlgn val="ctr"/>
        <c:lblOffset val="100"/>
        <c:noMultiLvlLbl val="0"/>
      </c:catAx>
      <c:valAx>
        <c:axId val="6596275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 b="1"/>
            </a:pPr>
            <a:endParaRPr lang="en-US"/>
          </a:p>
        </c:txPr>
        <c:crossAx val="65927424"/>
        <c:crosses val="autoZero"/>
        <c:crossBetween val="between"/>
      </c:valAx>
      <c:spPr>
        <a:ln>
          <a:solidFill>
            <a:srgbClr val="FFFF00"/>
          </a:solidFill>
        </a:ln>
      </c:spPr>
    </c:plotArea>
    <c:plotVisOnly val="1"/>
    <c:dispBlanksAs val="zero"/>
    <c:showDLblsOverMax val="0"/>
  </c:chart>
  <c:externalData r:id="rId1">
    <c:autoUpdate val="0"/>
  </c:externalData>
  <c:userShapes r:id="rId2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Feuil1!$B$87</c:f>
              <c:strCache>
                <c:ptCount val="1"/>
                <c:pt idx="0">
                  <c:v>الجزائر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cat>
            <c:strRef>
              <c:f>Feuil1!$A$88:$A$93</c:f>
              <c:strCache>
                <c:ptCount val="6"/>
                <c:pt idx="0">
                  <c:v>س1</c:v>
                </c:pt>
                <c:pt idx="1">
                  <c:v>س2</c:v>
                </c:pt>
                <c:pt idx="2">
                  <c:v>س3</c:v>
                </c:pt>
                <c:pt idx="3">
                  <c:v>س4</c:v>
                </c:pt>
                <c:pt idx="4">
                  <c:v>س5</c:v>
                </c:pt>
                <c:pt idx="5">
                  <c:v>س6</c:v>
                </c:pt>
              </c:strCache>
            </c:strRef>
          </c:cat>
          <c:val>
            <c:numRef>
              <c:f>Feuil1!$B$88:$B$93</c:f>
              <c:numCache>
                <c:formatCode>General</c:formatCode>
                <c:ptCount val="6"/>
                <c:pt idx="0">
                  <c:v>4.5</c:v>
                </c:pt>
                <c:pt idx="1">
                  <c:v>4.5</c:v>
                </c:pt>
                <c:pt idx="2">
                  <c:v>4.5</c:v>
                </c:pt>
                <c:pt idx="3">
                  <c:v>4.5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D4-426D-9F3D-BC444E4BC190}"/>
            </c:ext>
          </c:extLst>
        </c:ser>
        <c:ser>
          <c:idx val="1"/>
          <c:order val="1"/>
          <c:tx>
            <c:strRef>
              <c:f>Feuil1!$C$87</c:f>
              <c:strCache>
                <c:ptCount val="1"/>
                <c:pt idx="0">
                  <c:v>المغرب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Feuil1!$A$88:$A$93</c:f>
              <c:strCache>
                <c:ptCount val="6"/>
                <c:pt idx="0">
                  <c:v>س1</c:v>
                </c:pt>
                <c:pt idx="1">
                  <c:v>س2</c:v>
                </c:pt>
                <c:pt idx="2">
                  <c:v>س3</c:v>
                </c:pt>
                <c:pt idx="3">
                  <c:v>س4</c:v>
                </c:pt>
                <c:pt idx="4">
                  <c:v>س5</c:v>
                </c:pt>
                <c:pt idx="5">
                  <c:v>س6</c:v>
                </c:pt>
              </c:strCache>
            </c:strRef>
          </c:cat>
          <c:val>
            <c:numRef>
              <c:f>Feuil1!$C$88:$C$93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D4-426D-9F3D-BC444E4BC190}"/>
            </c:ext>
          </c:extLst>
        </c:ser>
        <c:ser>
          <c:idx val="2"/>
          <c:order val="2"/>
          <c:tx>
            <c:strRef>
              <c:f>Feuil1!$D$87</c:f>
              <c:strCache>
                <c:ptCount val="1"/>
                <c:pt idx="0">
                  <c:v>تونس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cat>
            <c:strRef>
              <c:f>Feuil1!$A$88:$A$93</c:f>
              <c:strCache>
                <c:ptCount val="6"/>
                <c:pt idx="0">
                  <c:v>س1</c:v>
                </c:pt>
                <c:pt idx="1">
                  <c:v>س2</c:v>
                </c:pt>
                <c:pt idx="2">
                  <c:v>س3</c:v>
                </c:pt>
                <c:pt idx="3">
                  <c:v>س4</c:v>
                </c:pt>
                <c:pt idx="4">
                  <c:v>س5</c:v>
                </c:pt>
                <c:pt idx="5">
                  <c:v>س6</c:v>
                </c:pt>
              </c:strCache>
            </c:strRef>
          </c:cat>
          <c:val>
            <c:numRef>
              <c:f>Feuil1!$D$88:$D$93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DD4-426D-9F3D-BC444E4BC190}"/>
            </c:ext>
          </c:extLst>
        </c:ser>
        <c:ser>
          <c:idx val="3"/>
          <c:order val="3"/>
          <c:tx>
            <c:strRef>
              <c:f>Feuil1!$E$87</c:f>
              <c:strCache>
                <c:ptCount val="1"/>
                <c:pt idx="0">
                  <c:v>فرنسا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cat>
            <c:strRef>
              <c:f>Feuil1!$A$88:$A$93</c:f>
              <c:strCache>
                <c:ptCount val="6"/>
                <c:pt idx="0">
                  <c:v>س1</c:v>
                </c:pt>
                <c:pt idx="1">
                  <c:v>س2</c:v>
                </c:pt>
                <c:pt idx="2">
                  <c:v>س3</c:v>
                </c:pt>
                <c:pt idx="3">
                  <c:v>س4</c:v>
                </c:pt>
                <c:pt idx="4">
                  <c:v>س5</c:v>
                </c:pt>
                <c:pt idx="5">
                  <c:v>س6</c:v>
                </c:pt>
              </c:strCache>
            </c:strRef>
          </c:cat>
          <c:val>
            <c:numRef>
              <c:f>Feuil1!$E$88:$E$93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DD4-426D-9F3D-BC444E4BC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7316352"/>
        <c:axId val="67322240"/>
        <c:axId val="0"/>
      </c:bar3DChart>
      <c:catAx>
        <c:axId val="673163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67322240"/>
        <c:crosses val="autoZero"/>
        <c:auto val="1"/>
        <c:lblAlgn val="ctr"/>
        <c:lblOffset val="100"/>
        <c:noMultiLvlLbl val="0"/>
      </c:catAx>
      <c:valAx>
        <c:axId val="673222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/>
            </a:pPr>
            <a:endParaRPr lang="en-US"/>
          </a:p>
        </c:txPr>
        <c:crossAx val="67316352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 sz="1800" b="1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>
              <a:solidFill>
                <a:srgbClr val="FF000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c:spP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Feuil1!$B$87:$E$87</c:f>
              <c:strCache>
                <c:ptCount val="4"/>
                <c:pt idx="0">
                  <c:v>الجزائر</c:v>
                </c:pt>
                <c:pt idx="1">
                  <c:v>المغرب</c:v>
                </c:pt>
                <c:pt idx="2">
                  <c:v>تونس</c:v>
                </c:pt>
                <c:pt idx="3">
                  <c:v>فرنسا</c:v>
                </c:pt>
              </c:strCache>
            </c:strRef>
          </c:cat>
          <c:val>
            <c:numRef>
              <c:f>Feuil1!$B$94:$E$94</c:f>
              <c:numCache>
                <c:formatCode>General</c:formatCode>
                <c:ptCount val="4"/>
                <c:pt idx="0">
                  <c:v>720</c:v>
                </c:pt>
                <c:pt idx="1">
                  <c:v>960</c:v>
                </c:pt>
                <c:pt idx="2">
                  <c:v>960</c:v>
                </c:pt>
                <c:pt idx="3">
                  <c:v>900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169-4ACB-B29C-982A4B50D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7346432"/>
        <c:axId val="67347968"/>
      </c:lineChart>
      <c:catAx>
        <c:axId val="673464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800" b="1"/>
            </a:pPr>
            <a:endParaRPr lang="en-US"/>
          </a:p>
        </c:txPr>
        <c:crossAx val="67347968"/>
        <c:crosses val="autoZero"/>
        <c:auto val="1"/>
        <c:lblAlgn val="ctr"/>
        <c:lblOffset val="100"/>
        <c:noMultiLvlLbl val="0"/>
      </c:catAx>
      <c:valAx>
        <c:axId val="6734796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 b="1"/>
            </a:pPr>
            <a:endParaRPr lang="en-US"/>
          </a:p>
        </c:txPr>
        <c:crossAx val="673464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50"/>
      </a:pPr>
      <a:endParaRPr lang="en-US"/>
    </a:p>
  </c:tx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ar-DZ" dirty="0"/>
              <a:t>الحجم الساعي </a:t>
            </a:r>
            <a:r>
              <a:rPr lang="ar-DZ" dirty="0" smtClean="0"/>
              <a:t>الكلي للتربية العلمية في </a:t>
            </a:r>
            <a:r>
              <a:rPr lang="ar-DZ" dirty="0" err="1" smtClean="0"/>
              <a:t>الابتدئي</a:t>
            </a:r>
            <a:endParaRPr lang="ar-DZ" dirty="0"/>
          </a:p>
        </c:rich>
      </c:tx>
      <c:layout>
        <c:manualLayout>
          <c:xMode val="edge"/>
          <c:yMode val="edge"/>
          <c:x val="0.40854450515599322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4399675288604338"/>
          <c:y val="0.11517084521472923"/>
          <c:w val="0.60947003499562569"/>
          <c:h val="0.69838363954505689"/>
        </c:manualLayout>
      </c:layout>
      <c:lineChart>
        <c:grouping val="stacked"/>
        <c:varyColors val="0"/>
        <c:ser>
          <c:idx val="0"/>
          <c:order val="0"/>
          <c:tx>
            <c:strRef>
              <c:f>Feuil1!$A$2</c:f>
              <c:strCache>
                <c:ptCount val="1"/>
                <c:pt idx="0">
                  <c:v>الحجم الساعي الكلي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Feuil1!$B$1:$E$1</c:f>
              <c:strCache>
                <c:ptCount val="4"/>
                <c:pt idx="0">
                  <c:v>الجزائر</c:v>
                </c:pt>
                <c:pt idx="1">
                  <c:v>تونس</c:v>
                </c:pt>
                <c:pt idx="2">
                  <c:v>المغرب</c:v>
                </c:pt>
                <c:pt idx="3">
                  <c:v>فرنسا </c:v>
                </c:pt>
              </c:strCache>
            </c:strRef>
          </c:cat>
          <c:val>
            <c:numRef>
              <c:f>Feuil1!$B$2:$E$2</c:f>
              <c:numCache>
                <c:formatCode>General</c:formatCode>
                <c:ptCount val="4"/>
                <c:pt idx="0">
                  <c:v>240</c:v>
                </c:pt>
                <c:pt idx="1">
                  <c:v>486</c:v>
                </c:pt>
                <c:pt idx="2">
                  <c:v>306</c:v>
                </c:pt>
                <c:pt idx="3">
                  <c:v>650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29-40FE-80DC-80DC863780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7349504"/>
        <c:axId val="67363584"/>
      </c:lineChart>
      <c:catAx>
        <c:axId val="6734950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 b="1"/>
            </a:pPr>
            <a:endParaRPr lang="en-US"/>
          </a:p>
        </c:txPr>
        <c:crossAx val="67363584"/>
        <c:crosses val="autoZero"/>
        <c:auto val="1"/>
        <c:lblAlgn val="ctr"/>
        <c:lblOffset val="100"/>
        <c:noMultiLvlLbl val="0"/>
      </c:catAx>
      <c:valAx>
        <c:axId val="6736358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 b="1"/>
            </a:pPr>
            <a:endParaRPr lang="en-US"/>
          </a:p>
        </c:txPr>
        <c:crossAx val="67349504"/>
        <c:crosses val="autoZero"/>
        <c:crossBetween val="between"/>
      </c:valAx>
    </c:plotArea>
    <c:legend>
      <c:legendPos val="r"/>
      <c:layout/>
      <c:overlay val="0"/>
    </c:legend>
    <c:plotVisOnly val="1"/>
    <c:dispBlanksAs val="zero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Feuil1!$O$94</c:f>
              <c:strCache>
                <c:ptCount val="1"/>
                <c:pt idx="0">
                  <c:v>مجموع المرحلة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Feuil1!$P$93:$U$93</c:f>
              <c:strCache>
                <c:ptCount val="6"/>
                <c:pt idx="0">
                  <c:v>الجزائر4</c:v>
                </c:pt>
                <c:pt idx="1">
                  <c:v>تونس3</c:v>
                </c:pt>
                <c:pt idx="2">
                  <c:v>المغرب3</c:v>
                </c:pt>
                <c:pt idx="3">
                  <c:v>قطر3</c:v>
                </c:pt>
                <c:pt idx="4">
                  <c:v>فرنسا4</c:v>
                </c:pt>
                <c:pt idx="5">
                  <c:v>فنلندا4</c:v>
                </c:pt>
              </c:strCache>
            </c:strRef>
          </c:cat>
          <c:val>
            <c:numRef>
              <c:f>Feuil1!$P$94:$U$94</c:f>
              <c:numCache>
                <c:formatCode>General</c:formatCode>
                <c:ptCount val="6"/>
                <c:pt idx="0">
                  <c:v>30</c:v>
                </c:pt>
                <c:pt idx="1">
                  <c:v>32</c:v>
                </c:pt>
                <c:pt idx="2">
                  <c:v>33</c:v>
                </c:pt>
                <c:pt idx="3">
                  <c:v>36</c:v>
                </c:pt>
                <c:pt idx="4">
                  <c:v>28.5</c:v>
                </c:pt>
                <c:pt idx="5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AE-4DBB-8E51-1C2081CA4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6040192"/>
        <c:axId val="66041728"/>
        <c:axId val="0"/>
      </c:bar3DChart>
      <c:catAx>
        <c:axId val="6604019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800" b="1"/>
            </a:pPr>
            <a:endParaRPr lang="en-US"/>
          </a:p>
        </c:txPr>
        <c:crossAx val="66041728"/>
        <c:crosses val="autoZero"/>
        <c:auto val="1"/>
        <c:lblAlgn val="ctr"/>
        <c:lblOffset val="100"/>
        <c:noMultiLvlLbl val="0"/>
      </c:catAx>
      <c:valAx>
        <c:axId val="660417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 b="1"/>
            </a:pPr>
            <a:endParaRPr lang="en-US"/>
          </a:p>
        </c:txPr>
        <c:crossAx val="6604019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Feuil1!$O$94</c:f>
              <c:strCache>
                <c:ptCount val="1"/>
                <c:pt idx="0">
                  <c:v>مجموع المرحلة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Feuil1!$P$93:$U$93</c:f>
              <c:strCache>
                <c:ptCount val="6"/>
                <c:pt idx="0">
                  <c:v>الجزائر4</c:v>
                </c:pt>
                <c:pt idx="1">
                  <c:v>تونس3</c:v>
                </c:pt>
                <c:pt idx="2">
                  <c:v>المغرب3</c:v>
                </c:pt>
                <c:pt idx="3">
                  <c:v>قطر3</c:v>
                </c:pt>
                <c:pt idx="4">
                  <c:v>فرنسا4</c:v>
                </c:pt>
                <c:pt idx="5">
                  <c:v>فنلندا4</c:v>
                </c:pt>
              </c:strCache>
            </c:strRef>
          </c:cat>
          <c:val>
            <c:numRef>
              <c:f>Feuil1!$P$94:$U$94</c:f>
              <c:numCache>
                <c:formatCode>General</c:formatCode>
                <c:ptCount val="6"/>
                <c:pt idx="0">
                  <c:v>3388</c:v>
                </c:pt>
                <c:pt idx="1">
                  <c:v>3040</c:v>
                </c:pt>
                <c:pt idx="2">
                  <c:v>3232</c:v>
                </c:pt>
                <c:pt idx="3">
                  <c:v>3888</c:v>
                </c:pt>
                <c:pt idx="4">
                  <c:v>3640</c:v>
                </c:pt>
                <c:pt idx="5">
                  <c:v>3200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EC-4724-9177-10866D94B0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2940672"/>
        <c:axId val="62942208"/>
        <c:axId val="0"/>
      </c:bar3DChart>
      <c:catAx>
        <c:axId val="629406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800" b="1"/>
            </a:pPr>
            <a:endParaRPr lang="en-US"/>
          </a:p>
        </c:txPr>
        <c:crossAx val="62942208"/>
        <c:crosses val="autoZero"/>
        <c:auto val="1"/>
        <c:lblAlgn val="ctr"/>
        <c:lblOffset val="100"/>
        <c:noMultiLvlLbl val="0"/>
      </c:catAx>
      <c:valAx>
        <c:axId val="629422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800" b="1"/>
            </a:pPr>
            <a:endParaRPr lang="en-US"/>
          </a:p>
        </c:txPr>
        <c:crossAx val="6294067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447652376786248"/>
          <c:y val="0.13034917936662491"/>
          <c:w val="0.89089384660250936"/>
          <c:h val="0.63862935814004596"/>
        </c:manualLayout>
      </c:layout>
      <c:lineChart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cat>
            <c:strRef>
              <c:f>Feuil1!$A$2:$A$6</c:f>
              <c:strCache>
                <c:ptCount val="5"/>
                <c:pt idx="0">
                  <c:v>الجزائر</c:v>
                </c:pt>
                <c:pt idx="1">
                  <c:v>المغرب</c:v>
                </c:pt>
                <c:pt idx="2">
                  <c:v>تونس</c:v>
                </c:pt>
                <c:pt idx="3">
                  <c:v>فرنسا</c:v>
                </c:pt>
                <c:pt idx="4">
                  <c:v>قطر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  <c:pt idx="0">
                  <c:v>847</c:v>
                </c:pt>
                <c:pt idx="1">
                  <c:v>1077</c:v>
                </c:pt>
                <c:pt idx="2">
                  <c:v>1013</c:v>
                </c:pt>
                <c:pt idx="3">
                  <c:v>910</c:v>
                </c:pt>
                <c:pt idx="4">
                  <c:v>1296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63E-4050-90DB-4C1A8B801E37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Colonne1</c:v>
                </c:pt>
              </c:strCache>
            </c:strRef>
          </c:tx>
          <c:dLbls>
            <c:dLbl>
              <c:idx val="0"/>
              <c:layout>
                <c:manualLayout>
                  <c:x val="-3.7037037037037056E-2"/>
                  <c:y val="-8.0740484628742962E-2"/>
                </c:manualLayout>
              </c:layout>
              <c:tx>
                <c:rich>
                  <a:bodyPr/>
                  <a:lstStyle/>
                  <a:p>
                    <a:r>
                      <a:rPr lang="ar-DZ" dirty="0" smtClean="0"/>
                      <a:t>847</a:t>
                    </a:r>
                    <a:endParaRPr lang="ar-DZ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663E-4050-90DB-4C1A8B801E37}"/>
                </c:ext>
              </c:extLst>
            </c:dLbl>
            <c:dLbl>
              <c:idx val="1"/>
              <c:layout>
                <c:manualLayout>
                  <c:x val="-4.7839506172839497E-2"/>
                  <c:y val="-8.6951291138646247E-2"/>
                </c:manualLayout>
              </c:layout>
              <c:tx>
                <c:rich>
                  <a:bodyPr/>
                  <a:lstStyle/>
                  <a:p>
                    <a:r>
                      <a:rPr lang="ar-DZ" dirty="0" smtClean="0"/>
                      <a:t>1077</a:t>
                    </a:r>
                    <a:endParaRPr lang="ar-DZ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663E-4050-90DB-4C1A8B801E37}"/>
                </c:ext>
              </c:extLst>
            </c:dLbl>
            <c:dLbl>
              <c:idx val="2"/>
              <c:layout>
                <c:manualLayout>
                  <c:x val="-3.3950617283950615E-2"/>
                  <c:y val="-0.11179451717825974"/>
                </c:manualLayout>
              </c:layout>
              <c:tx>
                <c:rich>
                  <a:bodyPr/>
                  <a:lstStyle/>
                  <a:p>
                    <a:r>
                      <a:rPr lang="ar-DZ" dirty="0" smtClean="0"/>
                      <a:t>1013</a:t>
                    </a:r>
                    <a:endParaRPr lang="ar-DZ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663E-4050-90DB-4C1A8B801E37}"/>
                </c:ext>
              </c:extLst>
            </c:dLbl>
            <c:dLbl>
              <c:idx val="3"/>
              <c:layout>
                <c:manualLayout>
                  <c:x val="-1.0802469135802503E-2"/>
                  <c:y val="-0.12421613019806607"/>
                </c:manualLayout>
              </c:layout>
              <c:tx>
                <c:rich>
                  <a:bodyPr/>
                  <a:lstStyle/>
                  <a:p>
                    <a:r>
                      <a:rPr lang="ar-DZ" dirty="0" smtClean="0"/>
                      <a:t>910</a:t>
                    </a:r>
                    <a:endParaRPr lang="ar-DZ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663E-4050-90DB-4C1A8B801E37}"/>
                </c:ext>
              </c:extLst>
            </c:dLbl>
            <c:dLbl>
              <c:idx val="4"/>
              <c:layout/>
              <c:tx>
                <c:rich>
                  <a:bodyPr/>
                  <a:lstStyle/>
                  <a:p>
                    <a:r>
                      <a:rPr lang="ar-DZ" smtClean="0"/>
                      <a:t>1296</a:t>
                    </a:r>
                    <a:endParaRPr lang="ar-DZ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663E-4050-90DB-4C1A8B801E3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Feuil1!$A$2:$A$6</c:f>
              <c:strCache>
                <c:ptCount val="5"/>
                <c:pt idx="0">
                  <c:v>الجزائر</c:v>
                </c:pt>
                <c:pt idx="1">
                  <c:v>المغرب</c:v>
                </c:pt>
                <c:pt idx="2">
                  <c:v>تونس</c:v>
                </c:pt>
                <c:pt idx="3">
                  <c:v>فرنسا</c:v>
                </c:pt>
                <c:pt idx="4">
                  <c:v>قطر</c:v>
                </c:pt>
              </c:strCache>
            </c:strRef>
          </c:cat>
          <c:val>
            <c:numRef>
              <c:f>Feuil1!$C$2:$C$6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663E-4050-90DB-4C1A8B801E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2967808"/>
        <c:axId val="62969344"/>
      </c:lineChart>
      <c:catAx>
        <c:axId val="6296780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2000"/>
            </a:pPr>
            <a:endParaRPr lang="en-US"/>
          </a:p>
        </c:txPr>
        <c:crossAx val="62969344"/>
        <c:crosses val="autoZero"/>
        <c:auto val="1"/>
        <c:lblAlgn val="ctr"/>
        <c:lblOffset val="100"/>
        <c:noMultiLvlLbl val="0"/>
      </c:catAx>
      <c:valAx>
        <c:axId val="6296934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62967808"/>
        <c:crosses val="autoZero"/>
        <c:crossBetween val="between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Feuil1!$A$10</c:f>
              <c:strCache>
                <c:ptCount val="1"/>
                <c:pt idx="0">
                  <c:v>س 1 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cat>
            <c:multiLvlStrRef>
              <c:f>Feuil1!$B$8:$F$9</c:f>
              <c:multiLvlStrCache>
                <c:ptCount val="4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</c:lvl>
              </c:multiLvlStrCache>
            </c:multiLvlStrRef>
          </c:cat>
          <c:val>
            <c:numRef>
              <c:f>Feuil1!$B$10:$F$10</c:f>
              <c:numCache>
                <c:formatCode>General</c:formatCode>
                <c:ptCount val="5"/>
                <c:pt idx="0">
                  <c:v>6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F2-47C1-92AC-900FF7C39D48}"/>
            </c:ext>
          </c:extLst>
        </c:ser>
        <c:ser>
          <c:idx val="1"/>
          <c:order val="1"/>
          <c:tx>
            <c:strRef>
              <c:f>Feuil1!$A$11</c:f>
              <c:strCache>
                <c:ptCount val="1"/>
                <c:pt idx="0">
                  <c:v>س 2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cat>
            <c:multiLvlStrRef>
              <c:f>Feuil1!$B$8:$F$9</c:f>
              <c:multiLvlStrCache>
                <c:ptCount val="4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</c:lvl>
              </c:multiLvlStrCache>
            </c:multiLvlStrRef>
          </c:cat>
          <c:val>
            <c:numRef>
              <c:f>Feuil1!$B$11:$F$11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F2-47C1-92AC-900FF7C39D48}"/>
            </c:ext>
          </c:extLst>
        </c:ser>
        <c:ser>
          <c:idx val="2"/>
          <c:order val="2"/>
          <c:tx>
            <c:strRef>
              <c:f>Feuil1!$A$12</c:f>
              <c:strCache>
                <c:ptCount val="1"/>
                <c:pt idx="0">
                  <c:v>س 3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cat>
            <c:multiLvlStrRef>
              <c:f>Feuil1!$B$8:$F$9</c:f>
              <c:multiLvlStrCache>
                <c:ptCount val="4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</c:lvl>
              </c:multiLvlStrCache>
            </c:multiLvlStrRef>
          </c:cat>
          <c:val>
            <c:numRef>
              <c:f>Feuil1!$B$12:$F$12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3F2-47C1-92AC-900FF7C39D48}"/>
            </c:ext>
          </c:extLst>
        </c:ser>
        <c:ser>
          <c:idx val="3"/>
          <c:order val="3"/>
          <c:tx>
            <c:strRef>
              <c:f>Feuil1!$A$13</c:f>
              <c:strCache>
                <c:ptCount val="1"/>
                <c:pt idx="0">
                  <c:v>س 4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multiLvlStrRef>
              <c:f>Feuil1!$B$8:$F$9</c:f>
              <c:multiLvlStrCache>
                <c:ptCount val="4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</c:lvl>
              </c:multiLvlStrCache>
            </c:multiLvlStrRef>
          </c:cat>
          <c:val>
            <c:numRef>
              <c:f>Feuil1!$B$13:$F$13</c:f>
              <c:numCache>
                <c:formatCode>General</c:formatCode>
                <c:ptCount val="5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3F2-47C1-92AC-900FF7C39D48}"/>
            </c:ext>
          </c:extLst>
        </c:ser>
        <c:ser>
          <c:idx val="4"/>
          <c:order val="4"/>
          <c:tx>
            <c:strRef>
              <c:f>Feuil1!$A$14</c:f>
              <c:strCache>
                <c:ptCount val="1"/>
              </c:strCache>
            </c:strRef>
          </c:tx>
          <c:invertIfNegative val="0"/>
          <c:cat>
            <c:multiLvlStrRef>
              <c:f>Feuil1!$B$8:$F$9</c:f>
              <c:multiLvlStrCache>
                <c:ptCount val="4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</c:lvl>
              </c:multiLvlStrCache>
            </c:multiLvlStrRef>
          </c:cat>
          <c:val>
            <c:numRef>
              <c:f>Feuil1!$B$14:$F$14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4-63F2-47C1-92AC-900FF7C39D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7481984"/>
        <c:axId val="67483520"/>
        <c:axId val="0"/>
      </c:bar3DChart>
      <c:catAx>
        <c:axId val="674819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800" b="1"/>
            </a:pPr>
            <a:endParaRPr lang="en-US"/>
          </a:p>
        </c:txPr>
        <c:crossAx val="67483520"/>
        <c:crosses val="autoZero"/>
        <c:auto val="1"/>
        <c:lblAlgn val="ctr"/>
        <c:lblOffset val="100"/>
        <c:noMultiLvlLbl val="0"/>
      </c:catAx>
      <c:valAx>
        <c:axId val="674835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67481984"/>
        <c:crosses val="autoZero"/>
        <c:crossBetween val="between"/>
      </c:valAx>
    </c:plotArea>
    <c:legend>
      <c:legendPos val="r"/>
      <c:legendEntry>
        <c:idx val="4"/>
        <c:delete val="1"/>
      </c:legendEntry>
      <c:layout/>
      <c:overlay val="0"/>
      <c:txPr>
        <a:bodyPr/>
        <a:lstStyle/>
        <a:p>
          <a:pPr>
            <a:defRPr sz="1800" b="1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ar-DZ" dirty="0" err="1" smtClean="0"/>
              <a:t>االحجم</a:t>
            </a:r>
            <a:r>
              <a:rPr lang="ar-DZ" dirty="0" smtClean="0"/>
              <a:t> الزمني الكلي  للعربية في </a:t>
            </a:r>
            <a:r>
              <a:rPr lang="ar-DZ" dirty="0"/>
              <a:t>الطور </a:t>
            </a:r>
            <a:r>
              <a:rPr lang="ar-DZ" dirty="0" smtClean="0"/>
              <a:t>المتوسط </a:t>
            </a:r>
            <a:endParaRPr lang="ar-DZ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5.0888945880364279E-2"/>
          <c:y val="0.19357929764076393"/>
          <c:w val="0.92273807583165657"/>
          <c:h val="0.5411464138393226"/>
        </c:manualLayout>
      </c:layout>
      <c:lineChart>
        <c:grouping val="stacked"/>
        <c:varyColors val="0"/>
        <c:ser>
          <c:idx val="0"/>
          <c:order val="0"/>
          <c:tx>
            <c:strRef>
              <c:f>Feuil1!$M$14:$N$14</c:f>
              <c:strCache>
                <c:ptCount val="1"/>
                <c:pt idx="0">
                  <c:v>المعدل السنوي في الطور المتوسط</c:v>
                </c:pt>
              </c:strCache>
            </c:strRef>
          </c:tx>
          <c:spPr>
            <a:ln w="76200"/>
          </c:spPr>
          <c:marker>
            <c:symbol val="none"/>
          </c:marker>
          <c:dLbls>
            <c:dLbl>
              <c:idx val="0"/>
              <c:layout>
                <c:manualLayout>
                  <c:x val="-4.2856089717964882E-2"/>
                  <c:y val="-0.12516530421350999"/>
                </c:manualLayout>
              </c:layout>
              <c:tx>
                <c:rich>
                  <a:bodyPr/>
                  <a:lstStyle/>
                  <a:p>
                    <a:r>
                      <a:rPr lang="ar-DZ" dirty="0" smtClean="0"/>
                      <a:t>568</a:t>
                    </a:r>
                    <a:endParaRPr lang="ar-DZ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4CCA-4D4E-A59E-E1D3B7D0FCC4}"/>
                </c:ext>
              </c:extLst>
            </c:dLbl>
            <c:dLbl>
              <c:idx val="1"/>
              <c:layout>
                <c:manualLayout>
                  <c:x val="-5.9339201147951534E-2"/>
                  <c:y val="-7.39613161261651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4CCA-4D4E-A59E-E1D3B7D0FCC4}"/>
                </c:ext>
              </c:extLst>
            </c:dLbl>
            <c:dLbl>
              <c:idx val="2"/>
              <c:layout>
                <c:manualLayout>
                  <c:x val="-4.7801023146960823E-2"/>
                  <c:y val="-0.1080973081843953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4CCA-4D4E-A59E-E1D3B7D0FCC4}"/>
                </c:ext>
              </c:extLst>
            </c:dLbl>
            <c:dLbl>
              <c:idx val="3"/>
              <c:layout>
                <c:manualLayout>
                  <c:x val="-7.2525690291940711E-2"/>
                  <c:y val="-8.53399801455752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4CCA-4D4E-A59E-E1D3B7D0FC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Feuil1!$O$13:$R$13</c:f>
              <c:strCache>
                <c:ptCount val="4"/>
                <c:pt idx="0">
                  <c:v>الجزائر</c:v>
                </c:pt>
                <c:pt idx="1">
                  <c:v>المغرب</c:v>
                </c:pt>
                <c:pt idx="2">
                  <c:v>تونس</c:v>
                </c:pt>
                <c:pt idx="3">
                  <c:v>قطر</c:v>
                </c:pt>
              </c:strCache>
            </c:strRef>
          </c:cat>
          <c:val>
            <c:numRef>
              <c:f>Feuil1!$O$14:$R$14</c:f>
              <c:numCache>
                <c:formatCode>General</c:formatCode>
                <c:ptCount val="4"/>
                <c:pt idx="0">
                  <c:v>468</c:v>
                </c:pt>
                <c:pt idx="1">
                  <c:v>630</c:v>
                </c:pt>
                <c:pt idx="2">
                  <c:v>480</c:v>
                </c:pt>
                <c:pt idx="3">
                  <c:v>756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CCA-4D4E-A59E-E1D3B7D0FC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8622208"/>
        <c:axId val="68623744"/>
      </c:lineChart>
      <c:catAx>
        <c:axId val="6862220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800" b="1"/>
            </a:pPr>
            <a:endParaRPr lang="en-US"/>
          </a:p>
        </c:txPr>
        <c:crossAx val="68623744"/>
        <c:crosses val="autoZero"/>
        <c:auto val="1"/>
        <c:lblAlgn val="ctr"/>
        <c:lblOffset val="100"/>
        <c:noMultiLvlLbl val="0"/>
      </c:catAx>
      <c:valAx>
        <c:axId val="68623744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one"/>
        <c:crossAx val="68622208"/>
        <c:crosses val="autoZero"/>
        <c:crossBetween val="between"/>
      </c:valAx>
    </c:plotArea>
    <c:plotVisOnly val="1"/>
    <c:dispBlanksAs val="zero"/>
    <c:showDLblsOverMax val="0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Feuil1!$A$22</c:f>
              <c:strCache>
                <c:ptCount val="1"/>
                <c:pt idx="0">
                  <c:v>س 1 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cat>
            <c:multiLvlStrRef>
              <c:f>Feuil1!$B$20:$F$21</c:f>
              <c:multiLvlStrCache>
                <c:ptCount val="5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  <c:pt idx="4">
                    <c:v>(4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  <c:pt idx="4">
                    <c:v>فرنسا</c:v>
                  </c:pt>
                </c:lvl>
              </c:multiLvlStrCache>
            </c:multiLvlStrRef>
          </c:cat>
          <c:val>
            <c:numRef>
              <c:f>Feuil1!$B$22:$F$22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A-4535-B8EC-AB719E50A254}"/>
            </c:ext>
          </c:extLst>
        </c:ser>
        <c:ser>
          <c:idx val="1"/>
          <c:order val="1"/>
          <c:tx>
            <c:strRef>
              <c:f>Feuil1!$A$23</c:f>
              <c:strCache>
                <c:ptCount val="1"/>
                <c:pt idx="0">
                  <c:v>س 2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cat>
            <c:multiLvlStrRef>
              <c:f>Feuil1!$B$20:$F$21</c:f>
              <c:multiLvlStrCache>
                <c:ptCount val="5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  <c:pt idx="4">
                    <c:v>(4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  <c:pt idx="4">
                    <c:v>فرنسا</c:v>
                  </c:pt>
                </c:lvl>
              </c:multiLvlStrCache>
            </c:multiLvlStrRef>
          </c:cat>
          <c:val>
            <c:numRef>
              <c:f>Feuil1!$B$23:$F$23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4</c:v>
                </c:pt>
                <c:pt idx="3">
                  <c:v>5</c:v>
                </c:pt>
                <c:pt idx="4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0A-4535-B8EC-AB719E50A254}"/>
            </c:ext>
          </c:extLst>
        </c:ser>
        <c:ser>
          <c:idx val="2"/>
          <c:order val="2"/>
          <c:tx>
            <c:strRef>
              <c:f>Feuil1!$A$24</c:f>
              <c:strCache>
                <c:ptCount val="1"/>
                <c:pt idx="0">
                  <c:v>س 3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multiLvlStrRef>
              <c:f>Feuil1!$B$20:$F$21</c:f>
              <c:multiLvlStrCache>
                <c:ptCount val="5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  <c:pt idx="4">
                    <c:v>(4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  <c:pt idx="4">
                    <c:v>فرنسا</c:v>
                  </c:pt>
                </c:lvl>
              </c:multiLvlStrCache>
            </c:multiLvlStrRef>
          </c:cat>
          <c:val>
            <c:numRef>
              <c:f>Feuil1!$B$24:$F$24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4</c:v>
                </c:pt>
                <c:pt idx="3">
                  <c:v>5</c:v>
                </c:pt>
                <c:pt idx="4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0A-4535-B8EC-AB719E50A254}"/>
            </c:ext>
          </c:extLst>
        </c:ser>
        <c:ser>
          <c:idx val="3"/>
          <c:order val="3"/>
          <c:tx>
            <c:strRef>
              <c:f>Feuil1!$A$25</c:f>
              <c:strCache>
                <c:ptCount val="1"/>
                <c:pt idx="0">
                  <c:v>س 4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cat>
            <c:multiLvlStrRef>
              <c:f>Feuil1!$B$20:$F$21</c:f>
              <c:multiLvlStrCache>
                <c:ptCount val="5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  <c:pt idx="4">
                    <c:v>(4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  <c:pt idx="4">
                    <c:v>فرنسا</c:v>
                  </c:pt>
                </c:lvl>
              </c:multiLvlStrCache>
            </c:multiLvlStrRef>
          </c:cat>
          <c:val>
            <c:numRef>
              <c:f>Feuil1!$B$25:$F$25</c:f>
              <c:numCache>
                <c:formatCode>General</c:formatCode>
                <c:ptCount val="5"/>
                <c:pt idx="0">
                  <c:v>5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A-4535-B8EC-AB719E50A2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8663168"/>
        <c:axId val="68664704"/>
        <c:axId val="0"/>
      </c:bar3DChart>
      <c:catAx>
        <c:axId val="686631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 b="1"/>
            </a:pPr>
            <a:endParaRPr lang="en-US"/>
          </a:p>
        </c:txPr>
        <c:crossAx val="68664704"/>
        <c:crosses val="autoZero"/>
        <c:auto val="1"/>
        <c:lblAlgn val="ctr"/>
        <c:lblOffset val="100"/>
        <c:noMultiLvlLbl val="0"/>
      </c:catAx>
      <c:valAx>
        <c:axId val="686647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6866316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90074159132886511"/>
          <c:y val="0.26943989599561674"/>
          <c:w val="8.9999149411879267E-2"/>
          <c:h val="0.33204248466017228"/>
        </c:manualLayout>
      </c:layout>
      <c:overlay val="0"/>
      <c:txPr>
        <a:bodyPr/>
        <a:lstStyle/>
        <a:p>
          <a:pPr>
            <a:defRPr sz="1800" b="1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Feuil1!$A$32</c:f>
              <c:strCache>
                <c:ptCount val="1"/>
                <c:pt idx="0">
                  <c:v>س 1 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multiLvlStrRef>
              <c:f>Feuil1!$B$30:$F$31</c:f>
              <c:multiLvlStrCache>
                <c:ptCount val="5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  <c:pt idx="4">
                    <c:v>(4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  <c:pt idx="4">
                    <c:v>فرنسا</c:v>
                  </c:pt>
                </c:lvl>
              </c:multiLvlStrCache>
            </c:multiLvlStrRef>
          </c:cat>
          <c:val>
            <c:numRef>
              <c:f>Feuil1!$B$32:$F$32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4.5</c:v>
                </c:pt>
                <c:pt idx="3">
                  <c:v>6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C7-4E1D-B214-6DCA473C67D6}"/>
            </c:ext>
          </c:extLst>
        </c:ser>
        <c:ser>
          <c:idx val="1"/>
          <c:order val="1"/>
          <c:tx>
            <c:strRef>
              <c:f>Feuil1!$A$33</c:f>
              <c:strCache>
                <c:ptCount val="1"/>
                <c:pt idx="0">
                  <c:v>س 2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cat>
            <c:multiLvlStrRef>
              <c:f>Feuil1!$B$30:$F$31</c:f>
              <c:multiLvlStrCache>
                <c:ptCount val="5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  <c:pt idx="4">
                    <c:v>(4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  <c:pt idx="4">
                    <c:v>فرنسا</c:v>
                  </c:pt>
                </c:lvl>
              </c:multiLvlStrCache>
            </c:multiLvlStrRef>
          </c:cat>
          <c:val>
            <c:numRef>
              <c:f>Feuil1!$B$33:$F$33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4.5</c:v>
                </c:pt>
                <c:pt idx="3">
                  <c:v>6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C7-4E1D-B214-6DCA473C67D6}"/>
            </c:ext>
          </c:extLst>
        </c:ser>
        <c:ser>
          <c:idx val="2"/>
          <c:order val="2"/>
          <c:tx>
            <c:strRef>
              <c:f>Feuil1!$A$34</c:f>
              <c:strCache>
                <c:ptCount val="1"/>
                <c:pt idx="0">
                  <c:v>س 3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multiLvlStrRef>
              <c:f>Feuil1!$B$30:$F$31</c:f>
              <c:multiLvlStrCache>
                <c:ptCount val="5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  <c:pt idx="4">
                    <c:v>(4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  <c:pt idx="4">
                    <c:v>فرنسا</c:v>
                  </c:pt>
                </c:lvl>
              </c:multiLvlStrCache>
            </c:multiLvlStrRef>
          </c:cat>
          <c:val>
            <c:numRef>
              <c:f>Feuil1!$B$34:$F$34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5</c:v>
                </c:pt>
                <c:pt idx="3">
                  <c:v>6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5C7-4E1D-B214-6DCA473C67D6}"/>
            </c:ext>
          </c:extLst>
        </c:ser>
        <c:ser>
          <c:idx val="3"/>
          <c:order val="3"/>
          <c:tx>
            <c:strRef>
              <c:f>Feuil1!$A$35</c:f>
              <c:strCache>
                <c:ptCount val="1"/>
                <c:pt idx="0">
                  <c:v>س 4</c:v>
                </c:pt>
              </c:strCache>
            </c:strRef>
          </c:tx>
          <c:invertIfNegative val="0"/>
          <c:cat>
            <c:multiLvlStrRef>
              <c:f>Feuil1!$B$30:$F$31</c:f>
              <c:multiLvlStrCache>
                <c:ptCount val="5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  <c:pt idx="4">
                    <c:v>(4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  <c:pt idx="4">
                    <c:v>فرنسا</c:v>
                  </c:pt>
                </c:lvl>
              </c:multiLvlStrCache>
            </c:multiLvlStrRef>
          </c:cat>
          <c:val>
            <c:numRef>
              <c:f>Feuil1!$B$35:$F$35</c:f>
              <c:numCache>
                <c:formatCode>General</c:formatCode>
                <c:ptCount val="5"/>
                <c:pt idx="0">
                  <c:v>5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5C7-4E1D-B214-6DCA473C67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8713088"/>
        <c:axId val="68718976"/>
        <c:axId val="0"/>
      </c:bar3DChart>
      <c:catAx>
        <c:axId val="687130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800" b="1"/>
            </a:pPr>
            <a:endParaRPr lang="en-US"/>
          </a:p>
        </c:txPr>
        <c:crossAx val="68718976"/>
        <c:crosses val="autoZero"/>
        <c:auto val="1"/>
        <c:lblAlgn val="ctr"/>
        <c:lblOffset val="100"/>
        <c:noMultiLvlLbl val="0"/>
      </c:catAx>
      <c:valAx>
        <c:axId val="687189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 b="1" i="1"/>
            </a:pPr>
            <a:endParaRPr lang="en-US"/>
          </a:p>
        </c:txPr>
        <c:crossAx val="68713088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 sz="1600" b="1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ar-DZ" dirty="0"/>
              <a:t>الحجم الكلي في الطور </a:t>
            </a:r>
            <a:r>
              <a:rPr lang="ar-DZ" dirty="0" smtClean="0"/>
              <a:t>المتوسط</a:t>
            </a:r>
            <a:r>
              <a:rPr lang="ar-DZ" dirty="0"/>
              <a:t>: لغة أجنبية 1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Feuil1!$M$5:$N$5</c:f>
              <c:strCache>
                <c:ptCount val="1"/>
                <c:pt idx="0">
                  <c:v>الحجم الكلي في الطور الكتوسط: لغة أجنبية 1</c:v>
                </c:pt>
              </c:strCache>
            </c:strRef>
          </c:tx>
          <c:spPr>
            <a:ln w="57150"/>
          </c:spPr>
          <c:marker>
            <c:spPr>
              <a:ln w="57150"/>
            </c:spPr>
          </c:marker>
          <c:dLbls>
            <c:dLbl>
              <c:idx val="0"/>
              <c:layout>
                <c:manualLayout>
                  <c:x val="-3.9193176066856801E-2"/>
                  <c:y val="8.33333333333333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7F15-4115-90A5-F906F83C5899}"/>
                </c:ext>
              </c:extLst>
            </c:dLbl>
            <c:dLbl>
              <c:idx val="2"/>
              <c:layout>
                <c:manualLayout>
                  <c:x val="-3.0285636051662051E-2"/>
                  <c:y val="6.94444444444445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7F15-4115-90A5-F906F83C589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Feuil1!$O$4:$R$4</c:f>
              <c:strCache>
                <c:ptCount val="4"/>
                <c:pt idx="0">
                  <c:v>الجزائر</c:v>
                </c:pt>
                <c:pt idx="1">
                  <c:v>المغرب</c:v>
                </c:pt>
                <c:pt idx="2">
                  <c:v>تونس</c:v>
                </c:pt>
                <c:pt idx="3">
                  <c:v>فرنسا</c:v>
                </c:pt>
              </c:strCache>
            </c:strRef>
          </c:cat>
          <c:val>
            <c:numRef>
              <c:f>Feuil1!$O$5:$R$5</c:f>
              <c:numCache>
                <c:formatCode>General</c:formatCode>
                <c:ptCount val="4"/>
                <c:pt idx="0">
                  <c:v>560</c:v>
                </c:pt>
                <c:pt idx="1">
                  <c:v>630</c:v>
                </c:pt>
                <c:pt idx="2">
                  <c:v>460</c:v>
                </c:pt>
                <c:pt idx="3">
                  <c:v>455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F15-4115-90A5-F906F83C58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8743168"/>
        <c:axId val="68744704"/>
      </c:lineChart>
      <c:catAx>
        <c:axId val="687431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68744704"/>
        <c:crosses val="autoZero"/>
        <c:auto val="1"/>
        <c:lblAlgn val="ctr"/>
        <c:lblOffset val="100"/>
        <c:noMultiLvlLbl val="0"/>
      </c:catAx>
      <c:valAx>
        <c:axId val="687447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6874316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Feuil1!$A$50</c:f>
              <c:strCache>
                <c:ptCount val="1"/>
                <c:pt idx="0">
                  <c:v>س 1 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cat>
            <c:multiLvlStrRef>
              <c:f>Feuil1!$B$48:$F$49</c:f>
              <c:multiLvlStrCache>
                <c:ptCount val="5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  <c:pt idx="4">
                    <c:v>(4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  <c:pt idx="4">
                    <c:v>فرنسا</c:v>
                  </c:pt>
                </c:lvl>
              </c:multiLvlStrCache>
            </c:multiLvlStrRef>
          </c:cat>
          <c:val>
            <c:numRef>
              <c:f>Feuil1!$B$50:$F$50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1.5</c:v>
                </c:pt>
                <c:pt idx="3">
                  <c:v>2</c:v>
                </c:pt>
                <c:pt idx="4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2B-4F05-A433-7C3CB493D16A}"/>
            </c:ext>
          </c:extLst>
        </c:ser>
        <c:ser>
          <c:idx val="1"/>
          <c:order val="1"/>
          <c:tx>
            <c:strRef>
              <c:f>Feuil1!$A$51</c:f>
              <c:strCache>
                <c:ptCount val="1"/>
                <c:pt idx="0">
                  <c:v>س 2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cat>
            <c:multiLvlStrRef>
              <c:f>Feuil1!$B$48:$F$49</c:f>
              <c:multiLvlStrCache>
                <c:ptCount val="5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  <c:pt idx="4">
                    <c:v>(4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  <c:pt idx="4">
                    <c:v>فرنسا</c:v>
                  </c:pt>
                </c:lvl>
              </c:multiLvlStrCache>
            </c:multiLvlStrRef>
          </c:cat>
          <c:val>
            <c:numRef>
              <c:f>Feuil1!$B$51:$F$51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1.5</c:v>
                </c:pt>
                <c:pt idx="3">
                  <c:v>2</c:v>
                </c:pt>
                <c:pt idx="4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2B-4F05-A433-7C3CB493D16A}"/>
            </c:ext>
          </c:extLst>
        </c:ser>
        <c:ser>
          <c:idx val="2"/>
          <c:order val="2"/>
          <c:tx>
            <c:strRef>
              <c:f>Feuil1!$A$52</c:f>
              <c:strCache>
                <c:ptCount val="1"/>
                <c:pt idx="0">
                  <c:v>س 3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multiLvlStrRef>
              <c:f>Feuil1!$B$48:$F$49</c:f>
              <c:multiLvlStrCache>
                <c:ptCount val="5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  <c:pt idx="4">
                    <c:v>(4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  <c:pt idx="4">
                    <c:v>فرنسا</c:v>
                  </c:pt>
                </c:lvl>
              </c:multiLvlStrCache>
            </c:multiLvlStrRef>
          </c:cat>
          <c:val>
            <c:numRef>
              <c:f>Feuil1!$B$52:$F$52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1.5</c:v>
                </c:pt>
                <c:pt idx="3">
                  <c:v>2</c:v>
                </c:pt>
                <c:pt idx="4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2B-4F05-A433-7C3CB493D16A}"/>
            </c:ext>
          </c:extLst>
        </c:ser>
        <c:ser>
          <c:idx val="3"/>
          <c:order val="3"/>
          <c:tx>
            <c:strRef>
              <c:f>Feuil1!$A$53</c:f>
              <c:strCache>
                <c:ptCount val="1"/>
                <c:pt idx="0">
                  <c:v>س 4</c:v>
                </c:pt>
              </c:strCache>
            </c:strRef>
          </c:tx>
          <c:invertIfNegative val="0"/>
          <c:cat>
            <c:multiLvlStrRef>
              <c:f>Feuil1!$B$48:$F$49</c:f>
              <c:multiLvlStrCache>
                <c:ptCount val="5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  <c:pt idx="4">
                    <c:v>(4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  <c:pt idx="4">
                    <c:v>فرنسا</c:v>
                  </c:pt>
                </c:lvl>
              </c:multiLvlStrCache>
            </c:multiLvlStrRef>
          </c:cat>
          <c:val>
            <c:numRef>
              <c:f>Feuil1!$B$53:$F$53</c:f>
              <c:numCache>
                <c:formatCode>General</c:formatCode>
                <c:ptCount val="5"/>
                <c:pt idx="0">
                  <c:v>2</c:v>
                </c:pt>
                <c:pt idx="4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42B-4F05-A433-7C3CB493D1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8792320"/>
        <c:axId val="68793856"/>
        <c:axId val="0"/>
      </c:bar3DChart>
      <c:catAx>
        <c:axId val="687923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 b="1"/>
            </a:pPr>
            <a:endParaRPr lang="en-US"/>
          </a:p>
        </c:txPr>
        <c:crossAx val="68793856"/>
        <c:crosses val="autoZero"/>
        <c:auto val="1"/>
        <c:lblAlgn val="ctr"/>
        <c:lblOffset val="100"/>
        <c:noMultiLvlLbl val="0"/>
      </c:catAx>
      <c:valAx>
        <c:axId val="687938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6879232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93469220861281577"/>
          <c:y val="0.19087098149056889"/>
          <c:w val="5.6048532127928472E-2"/>
          <c:h val="0.41061139916521638"/>
        </c:manualLayout>
      </c:layout>
      <c:overlay val="0"/>
      <c:txPr>
        <a:bodyPr/>
        <a:lstStyle/>
        <a:p>
          <a:pPr>
            <a:defRPr sz="1200" b="1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Feuil1!$A$41</c:f>
              <c:strCache>
                <c:ptCount val="1"/>
                <c:pt idx="0">
                  <c:v>س 1 </c:v>
                </c:pt>
              </c:strCache>
            </c:strRef>
          </c:tx>
          <c:spPr>
            <a:solidFill>
              <a:srgbClr val="FFFF00"/>
            </a:solidFill>
          </c:spPr>
          <c:invertIfNegative val="0"/>
          <c:cat>
            <c:multiLvlStrRef>
              <c:f>Feuil1!$B$39:$F$40</c:f>
              <c:multiLvlStrCache>
                <c:ptCount val="5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  <c:pt idx="4">
                    <c:v>(4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  <c:pt idx="4">
                    <c:v>فرنسا</c:v>
                  </c:pt>
                </c:lvl>
              </c:multiLvlStrCache>
            </c:multiLvlStrRef>
          </c:cat>
          <c:val>
            <c:numRef>
              <c:f>Feuil1!$B$41:$F$41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2.5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CC-4EAE-BB3A-771C1C88A37A}"/>
            </c:ext>
          </c:extLst>
        </c:ser>
        <c:ser>
          <c:idx val="1"/>
          <c:order val="1"/>
          <c:tx>
            <c:strRef>
              <c:f>Feuil1!$A$42</c:f>
              <c:strCache>
                <c:ptCount val="1"/>
                <c:pt idx="0">
                  <c:v>س 2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cat>
            <c:multiLvlStrRef>
              <c:f>Feuil1!$B$39:$F$40</c:f>
              <c:multiLvlStrCache>
                <c:ptCount val="5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  <c:pt idx="4">
                    <c:v>(4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  <c:pt idx="4">
                    <c:v>فرنسا</c:v>
                  </c:pt>
                </c:lvl>
              </c:multiLvlStrCache>
            </c:multiLvlStrRef>
          </c:cat>
          <c:val>
            <c:numRef>
              <c:f>Feuil1!$B$42:$F$42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2.5</c:v>
                </c:pt>
                <c:pt idx="3">
                  <c:v>2</c:v>
                </c:pt>
                <c:pt idx="4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CC-4EAE-BB3A-771C1C88A37A}"/>
            </c:ext>
          </c:extLst>
        </c:ser>
        <c:ser>
          <c:idx val="2"/>
          <c:order val="2"/>
          <c:tx>
            <c:strRef>
              <c:f>Feuil1!$A$43</c:f>
              <c:strCache>
                <c:ptCount val="1"/>
                <c:pt idx="0">
                  <c:v>س 3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multiLvlStrRef>
              <c:f>Feuil1!$B$39:$F$40</c:f>
              <c:multiLvlStrCache>
                <c:ptCount val="5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  <c:pt idx="4">
                    <c:v>(4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  <c:pt idx="4">
                    <c:v>فرنسا</c:v>
                  </c:pt>
                </c:lvl>
              </c:multiLvlStrCache>
            </c:multiLvlStrRef>
          </c:cat>
          <c:val>
            <c:numRef>
              <c:f>Feuil1!$B$43:$F$43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2.5</c:v>
                </c:pt>
                <c:pt idx="3">
                  <c:v>2</c:v>
                </c:pt>
                <c:pt idx="4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CC-4EAE-BB3A-771C1C88A37A}"/>
            </c:ext>
          </c:extLst>
        </c:ser>
        <c:ser>
          <c:idx val="3"/>
          <c:order val="3"/>
          <c:tx>
            <c:strRef>
              <c:f>Feuil1!$A$44</c:f>
              <c:strCache>
                <c:ptCount val="1"/>
                <c:pt idx="0">
                  <c:v>س 4</c:v>
                </c:pt>
              </c:strCache>
            </c:strRef>
          </c:tx>
          <c:invertIfNegative val="0"/>
          <c:cat>
            <c:multiLvlStrRef>
              <c:f>Feuil1!$B$39:$F$40</c:f>
              <c:multiLvlStrCache>
                <c:ptCount val="5"/>
                <c:lvl>
                  <c:pt idx="0">
                    <c:v>(4 سنوات)</c:v>
                  </c:pt>
                  <c:pt idx="1">
                    <c:v>(3 سنوات)</c:v>
                  </c:pt>
                  <c:pt idx="2">
                    <c:v>(3 سنوات)</c:v>
                  </c:pt>
                  <c:pt idx="3">
                    <c:v>(3 سنوات)</c:v>
                  </c:pt>
                  <c:pt idx="4">
                    <c:v>(4 سنوات)</c:v>
                  </c:pt>
                </c:lvl>
                <c:lvl>
                  <c:pt idx="0">
                    <c:v>الجزائر</c:v>
                  </c:pt>
                  <c:pt idx="1">
                    <c:v>المغرب</c:v>
                  </c:pt>
                  <c:pt idx="2">
                    <c:v>تونس</c:v>
                  </c:pt>
                  <c:pt idx="3">
                    <c:v>قطر</c:v>
                  </c:pt>
                  <c:pt idx="4">
                    <c:v>فرنسا</c:v>
                  </c:pt>
                </c:lvl>
              </c:multiLvlStrCache>
            </c:multiLvlStrRef>
          </c:cat>
          <c:val>
            <c:numRef>
              <c:f>Feuil1!$B$44:$F$44</c:f>
              <c:numCache>
                <c:formatCode>General</c:formatCode>
                <c:ptCount val="5"/>
                <c:pt idx="0">
                  <c:v>2</c:v>
                </c:pt>
                <c:pt idx="4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7CC-4EAE-BB3A-771C1C88A3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8964352"/>
        <c:axId val="68965888"/>
        <c:axId val="0"/>
      </c:bar3DChart>
      <c:catAx>
        <c:axId val="689643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 b="1"/>
            </a:pPr>
            <a:endParaRPr lang="en-US"/>
          </a:p>
        </c:txPr>
        <c:crossAx val="68965888"/>
        <c:crosses val="autoZero"/>
        <c:auto val="1"/>
        <c:lblAlgn val="ctr"/>
        <c:lblOffset val="100"/>
        <c:noMultiLvlLbl val="0"/>
      </c:catAx>
      <c:valAx>
        <c:axId val="6896588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68964352"/>
        <c:crosses val="autoZero"/>
        <c:crossBetween val="between"/>
      </c:valAx>
    </c:plotArea>
    <c:legend>
      <c:legendPos val="r"/>
      <c:layout/>
      <c:overlay val="0"/>
      <c:txPr>
        <a:bodyPr/>
        <a:lstStyle/>
        <a:p>
          <a:pPr>
            <a:defRPr sz="1600" b="1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txPr>
        <a:bodyPr/>
        <a:lstStyle/>
        <a:p>
          <a:pPr>
            <a:defRPr sz="2400"/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966456017404238"/>
          <c:y val="0.21204870224555264"/>
          <c:w val="0.69362410094818272"/>
          <c:h val="0.46156747301608686"/>
        </c:manualLayout>
      </c:layout>
      <c:lineChart>
        <c:grouping val="stacked"/>
        <c:varyColors val="0"/>
        <c:ser>
          <c:idx val="0"/>
          <c:order val="0"/>
          <c:tx>
            <c:strRef>
              <c:f>Feuil1!$M$9:$N$9</c:f>
              <c:strCache>
                <c:ptCount val="1"/>
                <c:pt idx="0">
                  <c:v>الحجم الساعي الكلي للعلوم الفيزيائية </c:v>
                </c:pt>
              </c:strCache>
            </c:strRef>
          </c:tx>
          <c:spPr>
            <a:ln w="76200"/>
          </c:spPr>
          <c:marker>
            <c:symbol val="none"/>
          </c:marker>
          <c:dLbls>
            <c:dLbl>
              <c:idx val="0"/>
              <c:layout>
                <c:manualLayout>
                  <c:x val="4.2247711305088394E-3"/>
                  <c:y val="-5.09259259259259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2C94-4362-97B5-F2CA75D5CE5C}"/>
                </c:ext>
              </c:extLst>
            </c:dLbl>
            <c:dLbl>
              <c:idx val="1"/>
              <c:layout>
                <c:manualLayout>
                  <c:x val="-1.9011470087289851E-2"/>
                  <c:y val="9.72222222222222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C94-4362-97B5-F2CA75D5CE5C}"/>
                </c:ext>
              </c:extLst>
            </c:dLbl>
            <c:dLbl>
              <c:idx val="2"/>
              <c:layout>
                <c:manualLayout>
                  <c:x val="-8.4495422610177309E-3"/>
                  <c:y val="-9.25925925925934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2C94-4362-97B5-F2CA75D5CE5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Feuil1!$O$8:$R$8</c:f>
              <c:strCache>
                <c:ptCount val="4"/>
                <c:pt idx="0">
                  <c:v>الجزائر</c:v>
                </c:pt>
                <c:pt idx="1">
                  <c:v>المغرب</c:v>
                </c:pt>
                <c:pt idx="2">
                  <c:v>تونس</c:v>
                </c:pt>
                <c:pt idx="3">
                  <c:v>فرنسا</c:v>
                </c:pt>
              </c:strCache>
            </c:strRef>
          </c:cat>
          <c:val>
            <c:numRef>
              <c:f>Feuil1!$O$9:$R$9</c:f>
              <c:numCache>
                <c:formatCode>General</c:formatCode>
                <c:ptCount val="4"/>
                <c:pt idx="0">
                  <c:v>224</c:v>
                </c:pt>
                <c:pt idx="1">
                  <c:v>210</c:v>
                </c:pt>
                <c:pt idx="2">
                  <c:v>240</c:v>
                </c:pt>
                <c:pt idx="3">
                  <c:v>158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C94-4362-97B5-F2CA75D5CE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8990080"/>
        <c:axId val="68991616"/>
      </c:lineChart>
      <c:catAx>
        <c:axId val="6899008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800" b="1"/>
            </a:pPr>
            <a:endParaRPr lang="en-US"/>
          </a:p>
        </c:txPr>
        <c:crossAx val="68991616"/>
        <c:crosses val="autoZero"/>
        <c:auto val="1"/>
        <c:lblAlgn val="ctr"/>
        <c:lblOffset val="100"/>
        <c:noMultiLvlLbl val="0"/>
      </c:catAx>
      <c:valAx>
        <c:axId val="689916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68990080"/>
        <c:crosses val="autoZero"/>
        <c:crossBetween val="between"/>
      </c:valAx>
    </c:plotArea>
    <c:plotVisOnly val="1"/>
    <c:dispBlanksAs val="zero"/>
    <c:showDLblsOverMax val="0"/>
  </c:chart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0.36875</cdr:x>
      <cdr:y>0.04313</cdr:y>
    </cdr:from>
    <cdr:to>
      <cdr:x>0.605</cdr:x>
      <cdr:y>0.24102</cdr:y>
    </cdr:to>
    <cdr:sp macro="" textlink="">
      <cdr:nvSpPr>
        <cdr:cNvPr id="2" name="ZoneTexte 6"/>
        <cdr:cNvSpPr txBox="1"/>
      </cdr:nvSpPr>
      <cdr:spPr>
        <a:xfrm xmlns:a="http://schemas.openxmlformats.org/drawingml/2006/main">
          <a:off x="3034680" y="100607"/>
          <a:ext cx="1944216" cy="461665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fr-FR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pPr algn="r" rtl="1"/>
          <a:r>
            <a:rPr lang="ar-DZ" sz="2400" b="1" dirty="0" smtClean="0"/>
            <a:t>الحجم</a:t>
          </a:r>
          <a:r>
            <a:rPr lang="ar-DZ" sz="2400" dirty="0" smtClean="0"/>
            <a:t> </a:t>
          </a:r>
          <a:r>
            <a:rPr lang="ar-DZ" sz="2400" b="1" dirty="0" smtClean="0"/>
            <a:t>الأسبوعي</a:t>
          </a:r>
          <a:endParaRPr lang="fr-FR" sz="2400" b="1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0.18868</cdr:x>
      <cdr:y>0</cdr:y>
    </cdr:from>
    <cdr:to>
      <cdr:x>0.74528</cdr:x>
      <cdr:y>0.22108</cdr:y>
    </cdr:to>
    <cdr:sp macro="" textlink="">
      <cdr:nvSpPr>
        <cdr:cNvPr id="3" name="ZoneTexte 6"/>
        <cdr:cNvSpPr txBox="1"/>
      </cdr:nvSpPr>
      <cdr:spPr>
        <a:xfrm xmlns:a="http://schemas.openxmlformats.org/drawingml/2006/main">
          <a:off x="1440160" y="0"/>
          <a:ext cx="4248471" cy="461667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fr-FR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alibri"/>
            </a:defRPr>
          </a:lvl9pPr>
        </a:lstStyle>
        <a:p xmlns:a="http://schemas.openxmlformats.org/drawingml/2006/main">
          <a:pPr algn="ctr" rtl="1"/>
          <a:r>
            <a:rPr lang="ar-DZ" sz="2000" b="1" dirty="0" smtClean="0"/>
            <a:t>الحجم</a:t>
          </a:r>
          <a:r>
            <a:rPr lang="ar-DZ" sz="2000" dirty="0" smtClean="0"/>
            <a:t> </a:t>
          </a:r>
          <a:r>
            <a:rPr lang="ar-DZ" sz="2400" b="1" dirty="0" smtClean="0"/>
            <a:t>الكلي</a:t>
          </a:r>
          <a:r>
            <a:rPr lang="ar-DZ" sz="2000" dirty="0" smtClean="0"/>
            <a:t> </a:t>
          </a:r>
          <a:r>
            <a:rPr lang="ar-DZ" sz="2000" b="1" dirty="0" smtClean="0"/>
            <a:t>للطور</a:t>
          </a:r>
          <a:r>
            <a:rPr lang="fr-FR" sz="2000" b="1" dirty="0" smtClean="0"/>
            <a:t> </a:t>
          </a:r>
          <a:r>
            <a:rPr lang="ar-DZ" sz="2000" b="1" dirty="0" smtClean="0"/>
            <a:t>الابتدائي للغة التعليم </a:t>
          </a:r>
          <a:endParaRPr lang="fr-FR" sz="2000" b="1" dirty="0" smtClean="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0.26966</cdr:x>
      <cdr:y>0.44444</cdr:y>
    </cdr:from>
    <cdr:to>
      <cdr:x>0.74157</cdr:x>
      <cdr:y>0.65024</cdr:y>
    </cdr:to>
    <cdr:sp macro="" textlink="">
      <cdr:nvSpPr>
        <cdr:cNvPr id="2" name="ZoneTexte 6"/>
        <cdr:cNvSpPr txBox="1"/>
      </cdr:nvSpPr>
      <cdr:spPr>
        <a:xfrm xmlns:a="http://schemas.openxmlformats.org/drawingml/2006/main">
          <a:off x="1728192" y="864096"/>
          <a:ext cx="3024331" cy="40011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Calibri"/>
            </a:defRPr>
          </a:lvl1pPr>
          <a:lvl2pPr marL="457200" indent="0">
            <a:defRPr sz="1100">
              <a:latin typeface="Calibri"/>
            </a:defRPr>
          </a:lvl2pPr>
          <a:lvl3pPr marL="914400" indent="0">
            <a:defRPr sz="1100">
              <a:latin typeface="Calibri"/>
            </a:defRPr>
          </a:lvl3pPr>
          <a:lvl4pPr marL="1371600" indent="0">
            <a:defRPr sz="1100">
              <a:latin typeface="Calibri"/>
            </a:defRPr>
          </a:lvl4pPr>
          <a:lvl5pPr marL="1828800" indent="0">
            <a:defRPr sz="1100">
              <a:latin typeface="Calibri"/>
            </a:defRPr>
          </a:lvl5pPr>
          <a:lvl6pPr marL="2286000" indent="0">
            <a:defRPr sz="1100">
              <a:latin typeface="Calibri"/>
            </a:defRPr>
          </a:lvl6pPr>
          <a:lvl7pPr marL="2743200" indent="0">
            <a:defRPr sz="1100">
              <a:latin typeface="Calibri"/>
            </a:defRPr>
          </a:lvl7pPr>
          <a:lvl8pPr marL="3200400" indent="0">
            <a:defRPr sz="1100">
              <a:latin typeface="Calibri"/>
            </a:defRPr>
          </a:lvl8pPr>
          <a:lvl9pPr marL="3657600" indent="0">
            <a:defRPr sz="1100">
              <a:latin typeface="Calibri"/>
            </a:defRPr>
          </a:lvl9pPr>
        </a:lstStyle>
        <a:p xmlns:a="http://schemas.openxmlformats.org/drawingml/2006/main">
          <a:pPr algn="r" rtl="1"/>
          <a:r>
            <a:rPr lang="ar-DZ" sz="2000" b="1" dirty="0" smtClean="0"/>
            <a:t>الحجم الكلي للطور للرياضيات </a:t>
          </a:r>
          <a:endParaRPr lang="fr-FR" sz="20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B42B5-F254-44A6-84E5-4C4676D0C7EB}" type="datetimeFigureOut">
              <a:rPr lang="fr-FR" smtClean="0"/>
              <a:pPr/>
              <a:t>02/08/2020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B085B-8EB9-442B-80D9-45D76C7D6702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B085B-8EB9-442B-80D9-45D76C7D6702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B085B-8EB9-442B-80D9-45D76C7D6702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B085B-8EB9-442B-80D9-45D76C7D6702}" type="slidenum">
              <a:rPr lang="fr-FR" smtClean="0"/>
              <a:pPr/>
              <a:t>13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B085B-8EB9-442B-80D9-45D76C7D6702}" type="slidenum">
              <a:rPr lang="fr-FR" smtClean="0"/>
              <a:pPr/>
              <a:t>15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1B085B-8EB9-442B-80D9-45D76C7D6702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899A-9570-478C-AA91-8F84FB130DB2}" type="datetime1">
              <a:rPr lang="fr-FR" smtClean="0"/>
              <a:t>02/08/2020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9517A-DF08-40C8-966B-D0889B085D39}" type="datetime1">
              <a:rPr lang="fr-FR" smtClean="0"/>
              <a:t>02/08/2020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C44EB-8399-4954-B671-AA34F9E1D024}" type="datetime1">
              <a:rPr lang="fr-FR" smtClean="0"/>
              <a:t>02/08/2020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50350-AD11-47E2-9D93-7D648EE1C245}" type="datetime1">
              <a:rPr lang="fr-FR" smtClean="0"/>
              <a:t>02/08/2020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135D5-6DEB-442F-883B-E290A99DA01D}" type="datetime1">
              <a:rPr lang="fr-FR" smtClean="0"/>
              <a:t>02/08/2020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D3433-BDAA-4F54-B8B5-EC6E864E749E}" type="datetime1">
              <a:rPr lang="fr-FR" smtClean="0"/>
              <a:t>02/08/2020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A5FB7-E93C-4A11-84DA-F58F269E2124}" type="datetime1">
              <a:rPr lang="fr-FR" smtClean="0"/>
              <a:t>02/08/2020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9EDB-1ADA-410A-AF91-748EACF8F92D}" type="datetime1">
              <a:rPr lang="fr-FR" smtClean="0"/>
              <a:t>02/08/2020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BD42F-6030-49DB-8E90-7A7CCCE7F333}" type="datetime1">
              <a:rPr lang="fr-FR" smtClean="0"/>
              <a:t>02/08/2020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A16E0-06B5-4102-BCD9-81152EB07F25}" type="datetime1">
              <a:rPr lang="fr-FR" smtClean="0"/>
              <a:t>02/08/2020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4575D-635F-490D-930A-FA036FC10CA4}" type="datetime1">
              <a:rPr lang="fr-FR" smtClean="0"/>
              <a:t>02/08/2020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-36513" y="0"/>
            <a:ext cx="863601" cy="1311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fld id="{FE97D323-9140-46F0-9121-EFD2D38F3874}" type="slidenum">
              <a:rPr lang="en-GB" sz="4000">
                <a:solidFill>
                  <a:srgbClr val="0000CC"/>
                </a:solidFill>
                <a:effectDag name="">
                  <a:cont type="tree" name="">
                    <a:effect ref="fillLine"/>
                    <a:outerShdw dist="38100" dir="13500000" algn="br">
                      <a:srgbClr val="5555FF"/>
                    </a:outerShdw>
                  </a:cont>
                  <a:cont type="tree" name="">
                    <a:effect ref="fillLine"/>
                    <a:outerShdw dist="38100" dir="2700000" algn="tl">
                      <a:srgbClr val="00007A"/>
                    </a:outerShdw>
                  </a:cont>
                  <a:effect ref="fillLine"/>
                </a:effectDag>
                <a:latin typeface="Times New Roman" pitchFamily="18" charset="0"/>
                <a:cs typeface="+mn-cs"/>
              </a:rPr>
              <a:pPr algn="ctr" eaLnBrk="0" hangingPunct="0">
                <a:spcBef>
                  <a:spcPct val="50000"/>
                </a:spcBef>
                <a:defRPr/>
              </a:pPr>
              <a:t>‹#›</a:t>
            </a:fld>
            <a:endParaRPr lang="en-GB" sz="2400">
              <a:latin typeface="Times New Roman" pitchFamily="18" charset="0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0" y="0"/>
            <a:ext cx="719138" cy="6858000"/>
          </a:xfrm>
          <a:prstGeom prst="rect">
            <a:avLst/>
          </a:prstGeom>
          <a:solidFill>
            <a:srgbClr val="000000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GB">
              <a:cs typeface="+mn-cs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0" y="215900"/>
            <a:ext cx="7810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fld id="{7159E1F7-6BE7-4E46-BE96-997452A4723D}" type="slidenum">
              <a:rPr lang="en-GB" sz="2400">
                <a:solidFill>
                  <a:srgbClr val="0000CC"/>
                </a:solidFill>
                <a:effectDag name="">
                  <a:cont type="tree" name="">
                    <a:effect ref="fillLine"/>
                    <a:outerShdw dist="38100" dir="13500000" algn="br">
                      <a:srgbClr val="5555FF"/>
                    </a:outerShdw>
                  </a:cont>
                  <a:cont type="tree" name="">
                    <a:effect ref="fillLine"/>
                    <a:outerShdw dist="38100" dir="2700000" algn="tl">
                      <a:srgbClr val="00007A"/>
                    </a:outerShdw>
                  </a:cont>
                  <a:effect ref="fillLine"/>
                </a:effectDag>
                <a:latin typeface="Times New Roman" pitchFamily="18" charset="0"/>
                <a:cs typeface="+mn-cs"/>
              </a:rPr>
              <a:pPr algn="ctr" eaLnBrk="0" hangingPunct="0">
                <a:spcBef>
                  <a:spcPct val="50000"/>
                </a:spcBef>
                <a:defRPr/>
              </a:pPr>
              <a:t>‹#›</a:t>
            </a:fld>
            <a:endParaRPr lang="en-GB" sz="2400">
              <a:latin typeface="Times New Roman" pitchFamily="18" charset="0"/>
              <a:cs typeface="+mn-cs"/>
            </a:endParaRPr>
          </a:p>
        </p:txBody>
      </p:sp>
      <p:pic>
        <p:nvPicPr>
          <p:cNvPr id="7" name="Picture 10" descr="OECD_white_150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  <a:lum bright="-33000"/>
          </a:blip>
          <a:srcRect/>
          <a:stretch>
            <a:fillRect/>
          </a:stretch>
        </p:blipFill>
        <p:spPr bwMode="auto">
          <a:xfrm>
            <a:off x="41275" y="6096522"/>
            <a:ext cx="6413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12"/>
          <p:cNvCxnSpPr>
            <a:cxnSpLocks noChangeShapeType="1"/>
          </p:cNvCxnSpPr>
          <p:nvPr/>
        </p:nvCxnSpPr>
        <p:spPr bwMode="auto">
          <a:xfrm>
            <a:off x="0" y="3632200"/>
            <a:ext cx="71437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" name="TextBox 16"/>
          <p:cNvSpPr txBox="1"/>
          <p:nvPr/>
        </p:nvSpPr>
        <p:spPr>
          <a:xfrm rot="16200000">
            <a:off x="-804068" y="4455318"/>
            <a:ext cx="2286000" cy="6778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GB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PISA</a:t>
            </a:r>
            <a:br>
              <a:rPr lang="en-GB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GB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OECD Programme for </a:t>
            </a:r>
            <a:br>
              <a:rPr lang="en-GB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GB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International Student Assessment</a:t>
            </a:r>
          </a:p>
        </p:txBody>
      </p:sp>
      <p:sp>
        <p:nvSpPr>
          <p:cNvPr id="10" name="TextBox 17"/>
          <p:cNvSpPr txBox="1"/>
          <p:nvPr/>
        </p:nvSpPr>
        <p:spPr>
          <a:xfrm rot="16200000">
            <a:off x="-1350963" y="1504950"/>
            <a:ext cx="3419475" cy="7842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2700"/>
              </a:lnSpc>
              <a:defRPr/>
            </a:pPr>
            <a:r>
              <a:rPr lang="en-GB" sz="19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Science Competencies</a:t>
            </a:r>
            <a:br>
              <a:rPr lang="en-GB" sz="19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GB" sz="19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for Tomorrow’s World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0" y="1352810"/>
            <a:ext cx="8388350" cy="5257539"/>
          </a:xfrm>
        </p:spPr>
        <p:txBody>
          <a:bodyPr/>
          <a:lstStyle>
            <a:lvl1pPr marL="514350" indent="-514350">
              <a:buClr>
                <a:srgbClr val="FF0000"/>
              </a:buClr>
              <a:buSzPct val="100000"/>
              <a:buFont typeface="+mj-lt"/>
              <a:buAutoNum type="arabicPeriod"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-36513" y="0"/>
            <a:ext cx="863601" cy="1311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fld id="{442B40CD-422B-40F1-B397-575DF46B23BC}" type="slidenum">
              <a:rPr lang="en-GB" sz="4000">
                <a:solidFill>
                  <a:srgbClr val="0000CC"/>
                </a:solidFill>
                <a:effectDag name="">
                  <a:cont type="tree" name="">
                    <a:effect ref="fillLine"/>
                    <a:outerShdw dist="38100" dir="13500000" algn="br">
                      <a:srgbClr val="5555FF"/>
                    </a:outerShdw>
                  </a:cont>
                  <a:cont type="tree" name="">
                    <a:effect ref="fillLine"/>
                    <a:outerShdw dist="38100" dir="2700000" algn="tl">
                      <a:srgbClr val="00007A"/>
                    </a:outerShdw>
                  </a:cont>
                  <a:effect ref="fillLine"/>
                </a:effectDag>
                <a:latin typeface="Times New Roman" pitchFamily="18" charset="0"/>
                <a:cs typeface="+mn-cs"/>
              </a:rPr>
              <a:pPr algn="ctr" eaLnBrk="0" hangingPunct="0">
                <a:spcBef>
                  <a:spcPct val="50000"/>
                </a:spcBef>
                <a:defRPr/>
              </a:pPr>
              <a:t>‹#›</a:t>
            </a:fld>
            <a:endParaRPr lang="en-GB" sz="2400">
              <a:latin typeface="Times New Roman" pitchFamily="18" charset="0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0" y="0"/>
            <a:ext cx="719138" cy="6858000"/>
          </a:xfrm>
          <a:prstGeom prst="rect">
            <a:avLst/>
          </a:prstGeom>
          <a:solidFill>
            <a:srgbClr val="000000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GB">
              <a:cs typeface="+mn-cs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0" y="215900"/>
            <a:ext cx="7810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fld id="{43E5784B-9BC4-4DD8-90FD-9C5CA1A06B26}" type="slidenum">
              <a:rPr lang="en-GB" sz="2400">
                <a:solidFill>
                  <a:srgbClr val="0000CC"/>
                </a:solidFill>
                <a:effectDag name="">
                  <a:cont type="tree" name="">
                    <a:effect ref="fillLine"/>
                    <a:outerShdw dist="38100" dir="13500000" algn="br">
                      <a:srgbClr val="5555FF"/>
                    </a:outerShdw>
                  </a:cont>
                  <a:cont type="tree" name="">
                    <a:effect ref="fillLine"/>
                    <a:outerShdw dist="38100" dir="2700000" algn="tl">
                      <a:srgbClr val="00007A"/>
                    </a:outerShdw>
                  </a:cont>
                  <a:effect ref="fillLine"/>
                </a:effectDag>
                <a:latin typeface="Times New Roman" pitchFamily="18" charset="0"/>
                <a:cs typeface="+mn-cs"/>
              </a:rPr>
              <a:pPr algn="ctr" eaLnBrk="0" hangingPunct="0">
                <a:spcBef>
                  <a:spcPct val="50000"/>
                </a:spcBef>
                <a:defRPr/>
              </a:pPr>
              <a:t>‹#›</a:t>
            </a:fld>
            <a:endParaRPr lang="en-GB" sz="2400">
              <a:latin typeface="Times New Roman" pitchFamily="18" charset="0"/>
              <a:cs typeface="+mn-cs"/>
            </a:endParaRPr>
          </a:p>
        </p:txBody>
      </p:sp>
      <p:pic>
        <p:nvPicPr>
          <p:cNvPr id="7" name="Picture 10" descr="OECD_white_150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  <a:lum bright="-33000"/>
          </a:blip>
          <a:srcRect/>
          <a:stretch>
            <a:fillRect/>
          </a:stretch>
        </p:blipFill>
        <p:spPr bwMode="auto">
          <a:xfrm>
            <a:off x="41275" y="6096522"/>
            <a:ext cx="6413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12"/>
          <p:cNvCxnSpPr>
            <a:cxnSpLocks noChangeShapeType="1"/>
          </p:cNvCxnSpPr>
          <p:nvPr/>
        </p:nvCxnSpPr>
        <p:spPr bwMode="auto">
          <a:xfrm>
            <a:off x="0" y="3632200"/>
            <a:ext cx="71437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" name="TextBox 16"/>
          <p:cNvSpPr txBox="1"/>
          <p:nvPr/>
        </p:nvSpPr>
        <p:spPr>
          <a:xfrm rot="16200000">
            <a:off x="-804068" y="4455318"/>
            <a:ext cx="2286000" cy="6778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GB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PISA</a:t>
            </a:r>
            <a:br>
              <a:rPr lang="en-GB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GB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OECD Programme for </a:t>
            </a:r>
            <a:br>
              <a:rPr lang="en-GB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GB" sz="10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International Student Assessment</a:t>
            </a:r>
          </a:p>
        </p:txBody>
      </p:sp>
      <p:sp>
        <p:nvSpPr>
          <p:cNvPr id="10" name="TextBox 17"/>
          <p:cNvSpPr txBox="1"/>
          <p:nvPr/>
        </p:nvSpPr>
        <p:spPr>
          <a:xfrm rot="16200000">
            <a:off x="-1350963" y="1504950"/>
            <a:ext cx="3419475" cy="7842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2700"/>
              </a:lnSpc>
              <a:defRPr/>
            </a:pPr>
            <a:r>
              <a:rPr lang="en-GB" sz="19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Science Competencies</a:t>
            </a:r>
            <a:br>
              <a:rPr lang="en-GB" sz="19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GB" sz="1900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for Tomorrow’s World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solidFill>
                  <a:srgbClr val="CC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rgbClr val="990099"/>
                </a:solidFill>
              </a:defRPr>
            </a:lvl1pPr>
            <a:lvl2pPr>
              <a:defRPr>
                <a:solidFill>
                  <a:srgbClr val="0070C0"/>
                </a:solidFill>
              </a:defRPr>
            </a:lvl2pPr>
            <a:lvl3pPr>
              <a:defRPr>
                <a:solidFill>
                  <a:srgbClr val="00B0F0"/>
                </a:solidFill>
              </a:defRPr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192088"/>
            <a:ext cx="8388350" cy="9525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55650" y="1138238"/>
            <a:ext cx="8388350" cy="5472112"/>
          </a:xfrm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BBE5E-80D6-4B05-873C-6AD8838EE802}" type="datetime1">
              <a:rPr lang="fr-FR" smtClean="0"/>
              <a:t>02/08/2020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3257E-3B1D-4BD7-B2B2-EA3C6C46FE4A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60000"/>
            <a:lumOff val="40000"/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192088"/>
            <a:ext cx="8388350" cy="952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605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138238"/>
            <a:ext cx="8388350" cy="5472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605060" name="Text Box 4"/>
          <p:cNvSpPr txBox="1">
            <a:spLocks noChangeArrowheads="1"/>
          </p:cNvSpPr>
          <p:nvPr/>
        </p:nvSpPr>
        <p:spPr bwMode="auto">
          <a:xfrm>
            <a:off x="-36513" y="0"/>
            <a:ext cx="863601" cy="1311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fld id="{A558939A-E8B1-4CB1-AA7D-71EDA8C0BC18}" type="slidenum">
              <a:rPr lang="en-GB" sz="4000">
                <a:solidFill>
                  <a:srgbClr val="0000CC"/>
                </a:solidFill>
                <a:effectDag name="">
                  <a:cont type="tree" name="">
                    <a:effect ref="fillLine"/>
                    <a:outerShdw dist="38100" dir="13500000" algn="br">
                      <a:srgbClr val="5555FF"/>
                    </a:outerShdw>
                  </a:cont>
                  <a:cont type="tree" name="">
                    <a:effect ref="fillLine"/>
                    <a:outerShdw dist="38100" dir="2700000" algn="tl">
                      <a:srgbClr val="00007A"/>
                    </a:outerShdw>
                  </a:cont>
                  <a:effect ref="fillLine"/>
                </a:effectDag>
                <a:latin typeface="Times New Roman" pitchFamily="18" charset="0"/>
                <a:cs typeface="+mn-cs"/>
              </a:rPr>
              <a:pPr algn="ctr" eaLnBrk="0" hangingPunct="0">
                <a:spcBef>
                  <a:spcPct val="50000"/>
                </a:spcBef>
                <a:defRPr/>
              </a:pPr>
              <a:t>‹#›</a:t>
            </a:fld>
            <a:endParaRPr lang="en-GB" sz="2400">
              <a:latin typeface="Times New Roman" pitchFamily="18" charset="0"/>
              <a:cs typeface="+mn-cs"/>
            </a:endParaRPr>
          </a:p>
        </p:txBody>
      </p:sp>
      <p:sp>
        <p:nvSpPr>
          <p:cNvPr id="2605065" name="Rectangle 9"/>
          <p:cNvSpPr>
            <a:spLocks noChangeArrowheads="1"/>
          </p:cNvSpPr>
          <p:nvPr/>
        </p:nvSpPr>
        <p:spPr bwMode="auto">
          <a:xfrm>
            <a:off x="0" y="0"/>
            <a:ext cx="719138" cy="6858000"/>
          </a:xfrm>
          <a:prstGeom prst="rect">
            <a:avLst/>
          </a:prstGeom>
          <a:solidFill>
            <a:srgbClr val="000000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GB">
              <a:cs typeface="+mn-cs"/>
            </a:endParaRPr>
          </a:p>
        </p:txBody>
      </p:sp>
      <p:sp>
        <p:nvSpPr>
          <p:cNvPr id="2605066" name="Text Box 10"/>
          <p:cNvSpPr txBox="1">
            <a:spLocks noChangeArrowheads="1"/>
          </p:cNvSpPr>
          <p:nvPr/>
        </p:nvSpPr>
        <p:spPr bwMode="auto">
          <a:xfrm>
            <a:off x="0" y="215900"/>
            <a:ext cx="7810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fld id="{288A2F8E-A38A-4F8C-9487-049A98FAD274}" type="slidenum">
              <a:rPr lang="en-GB" sz="2400">
                <a:solidFill>
                  <a:srgbClr val="0000CC"/>
                </a:solidFill>
                <a:effectDag name="">
                  <a:cont type="tree" name="">
                    <a:effect ref="fillLine"/>
                    <a:outerShdw dist="38100" dir="13500000" algn="br">
                      <a:srgbClr val="5555FF"/>
                    </a:outerShdw>
                  </a:cont>
                  <a:cont type="tree" name="">
                    <a:effect ref="fillLine"/>
                    <a:outerShdw dist="38100" dir="2700000" algn="tl">
                      <a:srgbClr val="00007A"/>
                    </a:outerShdw>
                  </a:cont>
                  <a:effect ref="fillLine"/>
                </a:effectDag>
                <a:latin typeface="Times New Roman" pitchFamily="18" charset="0"/>
                <a:cs typeface="+mn-cs"/>
              </a:rPr>
              <a:pPr algn="ctr" eaLnBrk="0" hangingPunct="0">
                <a:spcBef>
                  <a:spcPct val="50000"/>
                </a:spcBef>
                <a:defRPr/>
              </a:pPr>
              <a:t>‹#›</a:t>
            </a:fld>
            <a:endParaRPr lang="en-GB" sz="2400">
              <a:latin typeface="Times New Roman" pitchFamily="18" charset="0"/>
              <a:cs typeface="+mn-cs"/>
            </a:endParaRPr>
          </a:p>
        </p:txBody>
      </p:sp>
      <p:cxnSp>
        <p:nvCxnSpPr>
          <p:cNvPr id="24583" name="Straight Connector 12"/>
          <p:cNvCxnSpPr>
            <a:cxnSpLocks noChangeShapeType="1"/>
          </p:cNvCxnSpPr>
          <p:nvPr/>
        </p:nvCxnSpPr>
        <p:spPr bwMode="auto">
          <a:xfrm>
            <a:off x="0" y="3632200"/>
            <a:ext cx="714375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4" name="TextBox 13"/>
          <p:cNvSpPr txBox="1"/>
          <p:nvPr/>
        </p:nvSpPr>
        <p:spPr>
          <a:xfrm rot="16200000">
            <a:off x="-707231" y="4868069"/>
            <a:ext cx="2286000" cy="519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GB" b="1">
                <a:solidFill>
                  <a:schemeClr val="hlink"/>
                </a:solidFill>
              </a:rPr>
              <a:t>OCDE / PISA 2006</a:t>
            </a:r>
            <a:r>
              <a:rPr lang="en-GB">
                <a:solidFill>
                  <a:srgbClr val="BDBDBD"/>
                </a:solidFill>
              </a:rPr>
              <a:t/>
            </a:r>
            <a:br>
              <a:rPr lang="en-GB">
                <a:solidFill>
                  <a:srgbClr val="BDBDBD"/>
                </a:solidFill>
              </a:rPr>
            </a:br>
            <a:endParaRPr lang="en-GB" sz="1000">
              <a:solidFill>
                <a:srgbClr val="BDBDBD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 rot="16200000">
            <a:off x="-1354931" y="1507331"/>
            <a:ext cx="3421062" cy="77787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2700"/>
              </a:lnSpc>
              <a:defRPr/>
            </a:pPr>
            <a:r>
              <a:rPr lang="fr-FR" sz="1900" b="1"/>
              <a:t>Compétences en sciences</a:t>
            </a:r>
            <a:r>
              <a:rPr lang="fr-FR" sz="1900" b="1">
                <a:solidFill>
                  <a:srgbClr val="BDBDBD"/>
                </a:solidFill>
              </a:rPr>
              <a:t> pour le monde de demain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3" r:id="rId5"/>
  </p:sldLayoutIdLst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0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0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0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0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0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5059" grpId="0" build="p" bldLvl="2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050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605059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050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60505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3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050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60505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3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050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60505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3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050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60505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99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9966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9966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9966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9966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9966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9966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9966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FF9966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75000"/>
        <a:buFont typeface="Monotype Sorts" pitchFamily="2" charset="2"/>
        <a:buChar char="r"/>
        <a:tabLst>
          <a:tab pos="7712075" algn="r"/>
        </a:tabLst>
        <a:defRPr sz="2800">
          <a:solidFill>
            <a:srgbClr val="FFFF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50000"/>
        <a:buFont typeface="Wingdings" pitchFamily="2" charset="2"/>
        <a:buChar char="l"/>
        <a:tabLst>
          <a:tab pos="7712075" algn="r"/>
        </a:tabLst>
        <a:defRPr sz="2400">
          <a:solidFill>
            <a:srgbClr val="FFFFFF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tabLst>
          <a:tab pos="7712075" algn="r"/>
        </a:tabLst>
        <a:defRPr sz="2000">
          <a:solidFill>
            <a:srgbClr val="FFFF00"/>
          </a:solidFill>
          <a:latin typeface="+mn-lt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tabLst>
          <a:tab pos="7712075" algn="r"/>
        </a:tabLst>
        <a:defRPr sz="2000">
          <a:solidFill>
            <a:srgbClr val="FFFFFF"/>
          </a:solidFill>
          <a:latin typeface="+mn-lt"/>
        </a:defRPr>
      </a:lvl4pPr>
      <a:lvl5pPr marL="1981200" indent="-228600" algn="r" rtl="0" eaLnBrk="0" fontAlgn="base" hangingPunct="0">
        <a:lnSpc>
          <a:spcPct val="85000"/>
        </a:lnSpc>
        <a:spcBef>
          <a:spcPct val="0"/>
        </a:spcBef>
        <a:spcAft>
          <a:spcPct val="0"/>
        </a:spcAft>
        <a:buSzPct val="100000"/>
        <a:buChar char="•"/>
        <a:tabLst>
          <a:tab pos="7712075" algn="r"/>
        </a:tabLst>
        <a:defRPr sz="2000">
          <a:solidFill>
            <a:srgbClr val="FFCC00"/>
          </a:solidFill>
          <a:latin typeface="+mn-lt"/>
        </a:defRPr>
      </a:lvl5pPr>
      <a:lvl6pPr marL="2438400" indent="-228600" algn="r" rtl="0" eaLnBrk="0" fontAlgn="base" hangingPunct="0">
        <a:lnSpc>
          <a:spcPct val="85000"/>
        </a:lnSpc>
        <a:spcBef>
          <a:spcPct val="0"/>
        </a:spcBef>
        <a:spcAft>
          <a:spcPct val="0"/>
        </a:spcAft>
        <a:buSzPct val="100000"/>
        <a:buChar char="•"/>
        <a:tabLst>
          <a:tab pos="7712075" algn="r"/>
        </a:tabLst>
        <a:defRPr sz="2000">
          <a:solidFill>
            <a:srgbClr val="FFCC00"/>
          </a:solidFill>
          <a:latin typeface="+mn-lt"/>
        </a:defRPr>
      </a:lvl6pPr>
      <a:lvl7pPr marL="2895600" indent="-228600" algn="r" rtl="0" eaLnBrk="0" fontAlgn="base" hangingPunct="0">
        <a:lnSpc>
          <a:spcPct val="85000"/>
        </a:lnSpc>
        <a:spcBef>
          <a:spcPct val="0"/>
        </a:spcBef>
        <a:spcAft>
          <a:spcPct val="0"/>
        </a:spcAft>
        <a:buSzPct val="100000"/>
        <a:buChar char="•"/>
        <a:tabLst>
          <a:tab pos="7712075" algn="r"/>
        </a:tabLst>
        <a:defRPr sz="2000">
          <a:solidFill>
            <a:srgbClr val="FFCC00"/>
          </a:solidFill>
          <a:latin typeface="+mn-lt"/>
        </a:defRPr>
      </a:lvl7pPr>
      <a:lvl8pPr marL="3352800" indent="-228600" algn="r" rtl="0" eaLnBrk="0" fontAlgn="base" hangingPunct="0">
        <a:lnSpc>
          <a:spcPct val="85000"/>
        </a:lnSpc>
        <a:spcBef>
          <a:spcPct val="0"/>
        </a:spcBef>
        <a:spcAft>
          <a:spcPct val="0"/>
        </a:spcAft>
        <a:buSzPct val="100000"/>
        <a:buChar char="•"/>
        <a:tabLst>
          <a:tab pos="7712075" algn="r"/>
        </a:tabLst>
        <a:defRPr sz="2000">
          <a:solidFill>
            <a:srgbClr val="FFCC00"/>
          </a:solidFill>
          <a:latin typeface="+mn-lt"/>
        </a:defRPr>
      </a:lvl8pPr>
      <a:lvl9pPr marL="3810000" indent="-228600" algn="r" rtl="0" eaLnBrk="0" fontAlgn="base" hangingPunct="0">
        <a:lnSpc>
          <a:spcPct val="85000"/>
        </a:lnSpc>
        <a:spcBef>
          <a:spcPct val="0"/>
        </a:spcBef>
        <a:spcAft>
          <a:spcPct val="0"/>
        </a:spcAft>
        <a:buSzPct val="100000"/>
        <a:buChar char="•"/>
        <a:tabLst>
          <a:tab pos="7712075" algn="r"/>
        </a:tabLst>
        <a:defRPr sz="2000">
          <a:solidFill>
            <a:srgbClr val="FFCC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GIove%20BacMath2009r.JPG" TargetMode="External"/><Relationship Id="rId2" Type="http://schemas.openxmlformats.org/officeDocument/2006/relationships/hyperlink" Target="Comparaison%20des%20programmes%20des%20Sciences%20Physiques%20alg&#233;riens%20et%20fran&#231;ais%202mod.doc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Giove%20Polyn&#233;die2007.JPG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3568" y="404664"/>
            <a:ext cx="7772400" cy="1368151"/>
          </a:xfrm>
        </p:spPr>
        <p:txBody>
          <a:bodyPr>
            <a:normAutofit/>
          </a:bodyPr>
          <a:lstStyle/>
          <a:p>
            <a:r>
              <a:rPr lang="ar-DZ" sz="3600" b="1" dirty="0" smtClean="0">
                <a:solidFill>
                  <a:srgbClr val="0070C0"/>
                </a:solidFill>
              </a:rPr>
              <a:t>اللجنة الوطنية للمناهج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87624" y="1196752"/>
            <a:ext cx="6944816" cy="3433936"/>
          </a:xfrm>
        </p:spPr>
        <p:txBody>
          <a:bodyPr>
            <a:normAutofit fontScale="92500"/>
          </a:bodyPr>
          <a:lstStyle/>
          <a:p>
            <a:pPr rtl="1"/>
            <a:endParaRPr lang="ar-DZ" dirty="0" smtClean="0"/>
          </a:p>
          <a:p>
            <a:pPr rtl="1"/>
            <a:endParaRPr lang="ar-DZ" dirty="0" smtClean="0"/>
          </a:p>
          <a:p>
            <a:pPr rtl="1"/>
            <a:r>
              <a:rPr lang="ar-DZ" sz="4000" b="1" dirty="0" smtClean="0">
                <a:solidFill>
                  <a:schemeClr val="tx1"/>
                </a:solidFill>
              </a:rPr>
              <a:t>مقار</a:t>
            </a:r>
            <a:r>
              <a:rPr lang="ar-DZ" sz="4800" b="1" dirty="0" smtClean="0">
                <a:solidFill>
                  <a:schemeClr val="tx1"/>
                </a:solidFill>
              </a:rPr>
              <a:t>نة مواقيت ومقاربة</a:t>
            </a:r>
          </a:p>
          <a:p>
            <a:pPr rtl="1"/>
            <a:r>
              <a:rPr lang="ar-DZ" sz="4800" b="1" dirty="0" smtClean="0">
                <a:solidFill>
                  <a:schemeClr val="tx1"/>
                </a:solidFill>
              </a:rPr>
              <a:t>المناهج الجزائرية بالمناهج </a:t>
            </a:r>
            <a:r>
              <a:rPr lang="ar-DZ" sz="4400" b="1" dirty="0" smtClean="0">
                <a:solidFill>
                  <a:schemeClr val="tx1"/>
                </a:solidFill>
              </a:rPr>
              <a:t>الأجنبية</a:t>
            </a:r>
            <a:endParaRPr lang="fr-FR" sz="4400" b="1" dirty="0" smtClean="0">
              <a:solidFill>
                <a:schemeClr val="tx1"/>
              </a:solidFill>
            </a:endParaRPr>
          </a:p>
          <a:p>
            <a:pPr rtl="1"/>
            <a:r>
              <a:rPr lang="ar-DZ" sz="2800" dirty="0" smtClean="0">
                <a:solidFill>
                  <a:schemeClr val="tx1"/>
                </a:solidFill>
              </a:rPr>
              <a:t>من طرف الأستاذ عبد العزيز براح</a:t>
            </a:r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214422"/>
            <a:ext cx="8229600" cy="4450246"/>
          </a:xfrm>
        </p:spPr>
        <p:txBody>
          <a:bodyPr>
            <a:normAutofit/>
          </a:bodyPr>
          <a:lstStyle/>
          <a:p>
            <a:pPr algn="r" rtl="1">
              <a:buNone/>
            </a:pPr>
            <a:r>
              <a:rPr lang="ar-DZ" b="1" dirty="0" smtClean="0"/>
              <a:t>تهدف هذه المقارنة المختصرة للمناهج الجزائرية بمناهج بعض البلدان إلى الإجابة عن الأسئلة المتعلّقة </a:t>
            </a:r>
            <a:r>
              <a:rPr lang="ar-DZ" b="1" dirty="0" err="1" smtClean="0"/>
              <a:t>بـ</a:t>
            </a:r>
            <a:r>
              <a:rPr lang="ar-DZ" b="1" dirty="0" smtClean="0"/>
              <a:t>:</a:t>
            </a:r>
          </a:p>
          <a:p>
            <a:pPr algn="r" rtl="1">
              <a:buFont typeface="Wingdings" pitchFamily="2" charset="2"/>
              <a:buChar char="§"/>
            </a:pPr>
            <a:r>
              <a:rPr lang="ar-DZ" b="1" dirty="0" smtClean="0"/>
              <a:t>ما يسمّى </a:t>
            </a:r>
            <a:r>
              <a:rPr lang="ar-DZ" b="1" dirty="0" err="1" smtClean="0"/>
              <a:t>بـ</a:t>
            </a:r>
            <a:r>
              <a:rPr lang="ar-DZ" b="1" dirty="0" smtClean="0"/>
              <a:t> </a:t>
            </a:r>
            <a:r>
              <a:rPr lang="fr-FR" b="1" dirty="0" smtClean="0"/>
              <a:t>»</a:t>
            </a:r>
            <a:r>
              <a:rPr lang="ar-DZ" b="1" dirty="0" smtClean="0"/>
              <a:t> ثقـل المناهـج </a:t>
            </a:r>
            <a:r>
              <a:rPr lang="fr-FR" b="1" dirty="0" smtClean="0"/>
              <a:t>«</a:t>
            </a:r>
            <a:r>
              <a:rPr lang="ar-DZ" b="1" dirty="0" smtClean="0"/>
              <a:t>؛</a:t>
            </a:r>
          </a:p>
          <a:p>
            <a:pPr algn="r" rtl="1">
              <a:buFont typeface="Wingdings" pitchFamily="2" charset="2"/>
              <a:buChar char="§"/>
            </a:pPr>
            <a:r>
              <a:rPr lang="ar-DZ" b="1" dirty="0" smtClean="0"/>
              <a:t>المعايير الدولية للمواقيت التعليم؛</a:t>
            </a:r>
          </a:p>
          <a:p>
            <a:pPr algn="r" rtl="1">
              <a:buFont typeface="Wingdings" pitchFamily="2" charset="2"/>
              <a:buChar char="§"/>
            </a:pPr>
            <a:r>
              <a:rPr lang="ar-DZ" b="1" dirty="0" smtClean="0"/>
              <a:t>اختيار المقاربات </a:t>
            </a:r>
            <a:r>
              <a:rPr lang="ar-DZ" b="1" dirty="0" err="1" smtClean="0"/>
              <a:t>البيداغوجية</a:t>
            </a:r>
            <a:r>
              <a:rPr lang="ar-DZ" b="1" dirty="0" smtClean="0"/>
              <a:t> ؛</a:t>
            </a:r>
          </a:p>
          <a:p>
            <a:pPr algn="r" rtl="1">
              <a:buFont typeface="Wingdings" pitchFamily="2" charset="2"/>
              <a:buChar char="§"/>
            </a:pPr>
            <a:r>
              <a:rPr lang="ar-DZ" b="1" dirty="0" smtClean="0"/>
              <a:t>المشاركة في التقييم الدولي للأنظمة التربوية ومستوى التلاميذ </a:t>
            </a:r>
            <a:r>
              <a:rPr lang="fr-FR" b="1" dirty="0" smtClean="0"/>
              <a:t>P.I.S.A.</a:t>
            </a:r>
            <a:endParaRPr lang="fr-FR" dirty="0"/>
          </a:p>
        </p:txBody>
      </p:sp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9512" y="1484784"/>
            <a:ext cx="8424936" cy="4248472"/>
          </a:xfrm>
        </p:spPr>
        <p:txBody>
          <a:bodyPr>
            <a:normAutofit/>
          </a:bodyPr>
          <a:lstStyle/>
          <a:p>
            <a:pPr rtl="1"/>
            <a:r>
              <a:rPr lang="ar-DZ" sz="4000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هل الحجم الساعي في التعليم الإلزامي </a:t>
            </a:r>
            <a:r>
              <a:rPr lang="ar-DZ" sz="4000" dirty="0" err="1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كبير؟</a:t>
            </a:r>
            <a:endParaRPr lang="ar-DZ" sz="4000" dirty="0" smtClean="0">
              <a:solidFill>
                <a:srgbClr val="7030A0"/>
              </a:solidFill>
              <a:latin typeface="+mj-lt"/>
              <a:ea typeface="+mj-ea"/>
              <a:cs typeface="+mj-cs"/>
            </a:endParaRPr>
          </a:p>
          <a:p>
            <a:pPr rtl="1"/>
            <a:r>
              <a:rPr lang="ar-DZ" sz="4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هل البرامج </a:t>
            </a:r>
            <a:r>
              <a:rPr lang="ar-DZ" sz="4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الجزائرية ”ثقيلة“ ؟</a:t>
            </a:r>
            <a:endParaRPr lang="fr-FR" sz="4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r" rtl="1"/>
            <a:r>
              <a:rPr lang="ar-DZ" sz="4000" u="sng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ملاحظات </a:t>
            </a:r>
            <a:r>
              <a:rPr lang="ar-DZ" sz="4000" u="sng" dirty="0" err="1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هامة:</a:t>
            </a:r>
            <a:endParaRPr lang="ar-DZ" sz="4000" u="sng" dirty="0" smtClean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  <a:p>
            <a:pPr algn="r" rtl="1"/>
            <a:r>
              <a:rPr lang="ar-DZ" sz="28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 خلط بين مفهومي البرنامج والكتاب المدرسي</a:t>
            </a:r>
            <a:r>
              <a:rPr lang="ar-DZ" sz="36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 algn="r" rtl="1"/>
            <a:r>
              <a:rPr lang="ar-DZ" sz="28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2.خلط بين ثقل المحفظة و“ثقل“ البرنامج.</a:t>
            </a:r>
          </a:p>
          <a:p>
            <a:pPr algn="r" rtl="1"/>
            <a:r>
              <a:rPr lang="ar-DZ" b="1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</a:t>
            </a:r>
            <a:r>
              <a:rPr lang="ar-DZ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ar-DZ" sz="24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لماذا حجم ساعي معتبر للدروس الخاصة </a:t>
            </a:r>
            <a:r>
              <a:rPr lang="ar-DZ" sz="2400" b="1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رغم </a:t>
            </a:r>
            <a:r>
              <a:rPr lang="ar-DZ" sz="24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”الحجم الساعي الرسمي </a:t>
            </a:r>
            <a:r>
              <a:rPr lang="ar-DZ" sz="2400" b="1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الكبير”</a:t>
            </a:r>
            <a:r>
              <a:rPr lang="ar-DZ" b="1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؟</a:t>
            </a:r>
            <a:endParaRPr lang="fr-FR" b="1" dirty="0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r" rtl="1"/>
            <a:endParaRPr lang="ar-DZ" sz="4000" dirty="0" smtClean="0">
              <a:solidFill>
                <a:srgbClr val="7030A0"/>
              </a:solidFill>
              <a:latin typeface="+mj-lt"/>
              <a:ea typeface="+mj-ea"/>
              <a:cs typeface="+mj-cs"/>
            </a:endParaRPr>
          </a:p>
          <a:p>
            <a:pPr rtl="1"/>
            <a:endParaRPr lang="ar-DZ" sz="4400" dirty="0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rtl="1"/>
            <a:endParaRPr lang="ar-DZ" sz="4400" dirty="0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rtl="1"/>
            <a:endParaRPr lang="ar-DZ" sz="4400" dirty="0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rtl="1"/>
            <a:endParaRPr lang="ar-DZ" sz="4400" dirty="0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Sous-titre 2"/>
          <p:cNvSpPr txBox="1">
            <a:spLocks/>
          </p:cNvSpPr>
          <p:nvPr/>
        </p:nvSpPr>
        <p:spPr>
          <a:xfrm>
            <a:off x="0" y="6381328"/>
            <a:ext cx="8424936" cy="2736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ar-DZ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ar-DZ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ar-DZ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ar-DZ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2000232" y="274638"/>
            <a:ext cx="4643470" cy="796908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عدد</a:t>
            </a:r>
            <a:r>
              <a:rPr kumimoji="0" lang="ar-DZ" sz="48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أسابيع الدراسة</a:t>
            </a:r>
            <a:endParaRPr kumimoji="0" lang="fr-FR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642910" y="1571612"/>
            <a:ext cx="75724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buFont typeface="Arial" pitchFamily="34" charset="0"/>
              <a:buChar char="•"/>
            </a:pPr>
            <a:r>
              <a:rPr lang="ar-DZ" sz="2800" b="1" dirty="0" smtClean="0"/>
              <a:t> أُعِدّت المناهج الجزائرية سنة 2003 على أساس </a:t>
            </a:r>
            <a:r>
              <a:rPr lang="ar-DZ" sz="2800" b="1" dirty="0" smtClean="0">
                <a:solidFill>
                  <a:srgbClr val="FF0000"/>
                </a:solidFill>
              </a:rPr>
              <a:t>32</a:t>
            </a:r>
            <a:r>
              <a:rPr lang="ar-DZ" sz="2800" b="1" dirty="0" smtClean="0"/>
              <a:t> </a:t>
            </a:r>
            <a:r>
              <a:rPr lang="ar-DZ" sz="2800" b="1" dirty="0" smtClean="0">
                <a:solidFill>
                  <a:srgbClr val="FF0000"/>
                </a:solidFill>
              </a:rPr>
              <a:t>أسبوعا </a:t>
            </a:r>
            <a:r>
              <a:rPr lang="ar-DZ" sz="2800" b="1" dirty="0" smtClean="0"/>
              <a:t>  </a:t>
            </a:r>
          </a:p>
          <a:p>
            <a:pPr algn="r" rtl="1"/>
            <a:r>
              <a:rPr lang="ar-DZ" sz="2800" b="1" dirty="0" smtClean="0"/>
              <a:t>  دراسيا على الأقـلّ ، </a:t>
            </a:r>
            <a:r>
              <a:rPr lang="ar-DZ" sz="2800" b="1" dirty="0" err="1" smtClean="0">
                <a:solidFill>
                  <a:srgbClr val="FF0000"/>
                </a:solidFill>
              </a:rPr>
              <a:t>و5</a:t>
            </a:r>
            <a:r>
              <a:rPr lang="ar-DZ" sz="2800" b="1" dirty="0" smtClean="0">
                <a:solidFill>
                  <a:srgbClr val="FF0000"/>
                </a:solidFill>
              </a:rPr>
              <a:t> أيّــام </a:t>
            </a:r>
            <a:r>
              <a:rPr lang="ar-DZ" sz="2800" b="1" dirty="0" smtClean="0"/>
              <a:t>في الأسبوع</a:t>
            </a:r>
          </a:p>
          <a:p>
            <a:pPr algn="r" rtl="1">
              <a:buFont typeface="Arial" pitchFamily="34" charset="0"/>
              <a:buChar char="•"/>
            </a:pPr>
            <a:r>
              <a:rPr lang="ar-DZ" sz="2800" b="1" dirty="0" smtClean="0"/>
              <a:t> أثناء تطبيق هذه المناهج، تقلّص العدد الحقيقي لأسابيع التعليم  </a:t>
            </a:r>
          </a:p>
          <a:p>
            <a:pPr algn="r" rtl="1"/>
            <a:r>
              <a:rPr lang="ar-DZ" sz="2800" b="1" dirty="0" smtClean="0"/>
              <a:t>  إلى </a:t>
            </a:r>
            <a:r>
              <a:rPr lang="ar-DZ" sz="2800" b="1" dirty="0" smtClean="0">
                <a:solidFill>
                  <a:srgbClr val="00B0F0"/>
                </a:solidFill>
              </a:rPr>
              <a:t>28 أسبوعا</a:t>
            </a:r>
            <a:r>
              <a:rPr lang="ar-DZ" sz="2800" b="1" dirty="0" smtClean="0"/>
              <a:t>، بل ربّما أقـلّ من ذلك </a:t>
            </a:r>
            <a:r>
              <a:rPr lang="ar-DZ" sz="2800" b="1" dirty="0" err="1" smtClean="0"/>
              <a:t>بـ</a:t>
            </a:r>
            <a:r>
              <a:rPr lang="ar-DZ" sz="2800" b="1" dirty="0" smtClean="0"/>
              <a:t> </a:t>
            </a:r>
            <a:r>
              <a:rPr lang="ar-DZ" sz="2800" b="1" dirty="0" smtClean="0">
                <a:solidFill>
                  <a:srgbClr val="00B0F0"/>
                </a:solidFill>
              </a:rPr>
              <a:t>4 أيّـام ونصف </a:t>
            </a:r>
            <a:r>
              <a:rPr lang="ar-DZ" sz="2800" b="1" dirty="0" smtClean="0"/>
              <a:t>في  </a:t>
            </a:r>
          </a:p>
          <a:p>
            <a:pPr algn="r" rtl="1"/>
            <a:r>
              <a:rPr lang="ar-DZ" sz="2800" b="1" dirty="0" smtClean="0"/>
              <a:t>  الأسبوع.</a:t>
            </a:r>
          </a:p>
          <a:p>
            <a:pPr algn="r" rtl="1">
              <a:buFont typeface="Arial" pitchFamily="34" charset="0"/>
              <a:buChar char="•"/>
            </a:pPr>
            <a:r>
              <a:rPr lang="ar-DZ" sz="2800" b="1" dirty="0" smtClean="0"/>
              <a:t> هذا التقليص المؤثّـر لعدد أسابيع التعليم، كان سببا رئيسيا في ما يسمّى </a:t>
            </a:r>
            <a:r>
              <a:rPr lang="ar-DZ" sz="2800" b="1" dirty="0" err="1" smtClean="0"/>
              <a:t>بـ</a:t>
            </a:r>
            <a:r>
              <a:rPr lang="fr-FR" sz="2800" b="1" dirty="0" smtClean="0"/>
              <a:t>» </a:t>
            </a:r>
            <a:r>
              <a:rPr lang="ar-DZ" sz="2800" b="1" dirty="0" smtClean="0"/>
              <a:t>ثقل المناهج </a:t>
            </a:r>
            <a:r>
              <a:rPr lang="fr-FR" sz="2800" b="1" dirty="0" smtClean="0"/>
              <a:t>«</a:t>
            </a:r>
            <a:endParaRPr lang="ar-DZ" sz="2800" b="1" dirty="0" smtClean="0"/>
          </a:p>
          <a:p>
            <a:pPr algn="r" rtl="1"/>
            <a:endParaRPr lang="fr-FR" sz="2800" b="1" dirty="0"/>
          </a:p>
        </p:txBody>
      </p:sp>
      <p:sp>
        <p:nvSpPr>
          <p:cNvPr id="10" name="Rectangle 9"/>
          <p:cNvSpPr/>
          <p:nvPr/>
        </p:nvSpPr>
        <p:spPr>
          <a:xfrm>
            <a:off x="755576" y="4797152"/>
            <a:ext cx="77768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b="1" dirty="0" err="1" smtClean="0"/>
              <a:t>Lors</a:t>
            </a:r>
            <a:r>
              <a:rPr lang="en-US" sz="2000" b="1" dirty="0" smtClean="0"/>
              <a:t> de la </a:t>
            </a:r>
            <a:r>
              <a:rPr lang="en-US" sz="2000" b="1" dirty="0" err="1" smtClean="0"/>
              <a:t>mise</a:t>
            </a:r>
            <a:r>
              <a:rPr lang="en-US" sz="2000" b="1" dirty="0" smtClean="0"/>
              <a:t> en oeuvre , </a:t>
            </a:r>
            <a:r>
              <a:rPr lang="fr-FR" sz="2000" b="1" dirty="0" smtClean="0"/>
              <a:t>cette réduction drastique du nombre de semaines d’enseignement est ,à notre avis, une des causes majeures de « la lourdeur des programmes</a:t>
            </a:r>
            <a:r>
              <a:rPr lang="fr-FR" dirty="0" smtClean="0"/>
              <a:t> ».</a:t>
            </a:r>
          </a:p>
        </p:txBody>
      </p:sp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ar-DZ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متوسط العدد السنوي</a:t>
            </a:r>
            <a:r>
              <a:rPr kumimoji="0" lang="fr-FR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ar-DZ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لأسابيع التعليم لأطفال 7 </a:t>
            </a:r>
            <a:r>
              <a:rPr kumimoji="0" lang="ar-DZ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و</a:t>
            </a:r>
            <a:r>
              <a:rPr kumimoji="0" lang="ar-DZ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8 سنوات </a:t>
            </a:r>
            <a:r>
              <a:rPr kumimoji="0" lang="ar-DZ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ar-DZ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fr-FR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Nombre annuel moyen de semaines d’enseignement à 7 et 8 ans</a:t>
            </a:r>
            <a:r>
              <a:rPr kumimoji="0" lang="fr-FR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e 10"/>
          <p:cNvGrpSpPr/>
          <p:nvPr/>
        </p:nvGrpSpPr>
        <p:grpSpPr>
          <a:xfrm>
            <a:off x="323528" y="1628800"/>
            <a:ext cx="8638680" cy="4585712"/>
            <a:chOff x="251520" y="1714488"/>
            <a:chExt cx="8638680" cy="4585712"/>
          </a:xfrm>
        </p:grpSpPr>
        <p:pic>
          <p:nvPicPr>
            <p:cNvPr id="3" name="Image 2" descr="C:\Users\Rafik\Desktop\CNP\Documents comparatifs\France et Europe\téléchargement.png"/>
            <p:cNvPicPr/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71604" y="1714488"/>
              <a:ext cx="7318596" cy="4585712"/>
            </a:xfrm>
            <a:prstGeom prst="rect">
              <a:avLst/>
            </a:prstGeom>
            <a:noFill/>
          </p:spPr>
        </p:pic>
        <p:sp>
          <p:nvSpPr>
            <p:cNvPr id="5" name="ZoneTexte 4"/>
            <p:cNvSpPr txBox="1"/>
            <p:nvPr/>
          </p:nvSpPr>
          <p:spPr>
            <a:xfrm>
              <a:off x="755576" y="4797152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DZ" b="1" dirty="0" smtClean="0"/>
                <a:t>الجزائر</a:t>
              </a:r>
              <a:endParaRPr lang="fr-FR" b="1" dirty="0"/>
            </a:p>
          </p:txBody>
        </p:sp>
        <p:grpSp>
          <p:nvGrpSpPr>
            <p:cNvPr id="4" name="Groupe 12"/>
            <p:cNvGrpSpPr/>
            <p:nvPr/>
          </p:nvGrpSpPr>
          <p:grpSpPr>
            <a:xfrm>
              <a:off x="827584" y="3068960"/>
              <a:ext cx="5290972" cy="2808312"/>
              <a:chOff x="78183" y="2852936"/>
              <a:chExt cx="6005985" cy="2808312"/>
            </a:xfrm>
          </p:grpSpPr>
          <p:sp>
            <p:nvSpPr>
              <p:cNvPr id="7" name="Étoile à 5 branches 6"/>
              <p:cNvSpPr/>
              <p:nvPr/>
            </p:nvSpPr>
            <p:spPr>
              <a:xfrm>
                <a:off x="159922" y="5013176"/>
                <a:ext cx="288032" cy="216024"/>
              </a:xfrm>
              <a:prstGeom prst="star5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rgbClr val="FF0000"/>
                  </a:solidFill>
                </a:endParaRPr>
              </a:p>
            </p:txBody>
          </p:sp>
          <p:sp useBgFill="1">
            <p:nvSpPr>
              <p:cNvPr id="8" name="Rectangle 7"/>
              <p:cNvSpPr/>
              <p:nvPr/>
            </p:nvSpPr>
            <p:spPr>
              <a:xfrm>
                <a:off x="5652120" y="2852936"/>
                <a:ext cx="432048" cy="43204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" name="ZoneTexte 8"/>
              <p:cNvSpPr txBox="1"/>
              <p:nvPr/>
            </p:nvSpPr>
            <p:spPr>
              <a:xfrm>
                <a:off x="78183" y="5353471"/>
                <a:ext cx="50405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r-DZ" sz="1400" b="1" dirty="0" smtClean="0"/>
                  <a:t>32</a:t>
                </a:r>
                <a:endParaRPr lang="fr-FR" sz="1400" b="1" dirty="0"/>
              </a:p>
            </p:txBody>
          </p:sp>
        </p:grpSp>
        <p:cxnSp>
          <p:nvCxnSpPr>
            <p:cNvPr id="10" name="Connecteur droit 9"/>
            <p:cNvCxnSpPr/>
            <p:nvPr/>
          </p:nvCxnSpPr>
          <p:spPr>
            <a:xfrm rot="10800000">
              <a:off x="251520" y="5733256"/>
              <a:ext cx="1500198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12" name="عنصر نائب لرقم الشريحة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539552" y="1628801"/>
          <a:ext cx="8229600" cy="2952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DZ" b="1" dirty="0" smtClean="0"/>
              <a:t>التوقيت الكلي   </a:t>
            </a:r>
            <a:r>
              <a:rPr lang="ar-DZ" b="1" dirty="0"/>
              <a:t>في التعليم </a:t>
            </a:r>
            <a:r>
              <a:rPr lang="ar-DZ" b="1" dirty="0" smtClean="0"/>
              <a:t>الابتدائي </a:t>
            </a:r>
            <a:r>
              <a:rPr lang="ar-DZ" dirty="0" smtClean="0"/>
              <a:t>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sz="2700" b="1" dirty="0" smtClean="0"/>
              <a:t>Total de l’horaire de </a:t>
            </a:r>
            <a:r>
              <a:rPr lang="fr-FR" sz="2700" b="1" dirty="0"/>
              <a:t>l'enseignement primaire</a:t>
            </a:r>
            <a:r>
              <a:rPr lang="fr-FR" sz="2700" dirty="0" smtClean="0"/>
              <a:t> </a:t>
            </a:r>
            <a:endParaRPr lang="fr-FR" sz="2700" dirty="0"/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539552" y="486916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ar-DZ" sz="2700" u="sng" dirty="0" err="1" smtClean="0">
                <a:latin typeface="+mj-lt"/>
                <a:ea typeface="+mj-ea"/>
                <a:cs typeface="+mj-cs"/>
              </a:rPr>
              <a:t>ملاحظة</a:t>
            </a:r>
            <a:r>
              <a:rPr lang="ar-DZ" sz="2700" dirty="0" err="1" smtClean="0">
                <a:latin typeface="+mj-lt"/>
                <a:ea typeface="+mj-ea"/>
                <a:cs typeface="+mj-cs"/>
              </a:rPr>
              <a:t>:</a:t>
            </a:r>
            <a:endParaRPr lang="ar-DZ" sz="2700" dirty="0" smtClean="0">
              <a:latin typeface="+mj-lt"/>
              <a:ea typeface="+mj-ea"/>
              <a:cs typeface="+mj-cs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ar-DZ" sz="3600" dirty="0" smtClean="0">
                <a:latin typeface="+mj-lt"/>
                <a:ea typeface="+mj-ea"/>
                <a:cs typeface="+mj-cs"/>
              </a:rPr>
              <a:t> نسجل أضعف حجم ساعي للجزائر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ar-DZ" sz="3600" dirty="0" smtClean="0">
                <a:latin typeface="+mj-lt"/>
                <a:ea typeface="+mj-ea"/>
                <a:cs typeface="+mj-cs"/>
              </a:rPr>
              <a:t>لا توجد سنة سادسة ابتدائي في الجزائر وفي </a:t>
            </a:r>
            <a:r>
              <a:rPr lang="ar-DZ" sz="3600" dirty="0" err="1" smtClean="0">
                <a:latin typeface="+mj-lt"/>
                <a:ea typeface="+mj-ea"/>
                <a:cs typeface="+mj-cs"/>
              </a:rPr>
              <a:t>فرنسا.</a:t>
            </a:r>
            <a:r>
              <a:rPr lang="ar-DZ" sz="3600" dirty="0" smtClean="0">
                <a:latin typeface="+mj-lt"/>
                <a:ea typeface="+mj-ea"/>
                <a:cs typeface="+mj-cs"/>
              </a:rPr>
              <a:t> </a:t>
            </a:r>
            <a:endParaRPr kumimoji="0" lang="fr-F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2976" y="285728"/>
            <a:ext cx="6686568" cy="1143000"/>
          </a:xfr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</p:spPr>
        <p:txBody>
          <a:bodyPr>
            <a:normAutofit fontScale="90000"/>
          </a:bodyPr>
          <a:lstStyle/>
          <a:p>
            <a:pPr rtl="1"/>
            <a:r>
              <a:rPr lang="ar-DZ" sz="3600" b="1" dirty="0" smtClean="0"/>
              <a:t>الحجم الزمني الأسبوعي لسنوات التعليم الابتدائي</a:t>
            </a:r>
            <a:br>
              <a:rPr lang="ar-DZ" sz="3600" b="1" dirty="0" smtClean="0"/>
            </a:br>
            <a:r>
              <a:rPr lang="ar-DZ" sz="3600" b="1" dirty="0" smtClean="0"/>
              <a:t> حسب البلدان</a:t>
            </a:r>
            <a:r>
              <a:rPr lang="fr-FR" sz="3600" b="1" dirty="0" smtClean="0"/>
              <a:t> </a:t>
            </a:r>
            <a:r>
              <a:rPr lang="fr-FR" dirty="0" smtClean="0"/>
              <a:t> </a:t>
            </a:r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65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215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الجزائر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تونس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المغرب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قطر</a:t>
                      </a:r>
                      <a:endParaRPr lang="fr-FR" sz="2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فرنسا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15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ال</a:t>
                      </a:r>
                      <a:r>
                        <a:rPr lang="ar-SA" sz="28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س</a:t>
                      </a:r>
                      <a:r>
                        <a:rPr lang="ar-DZ" sz="2800" b="1" dirty="0" err="1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نة</a:t>
                      </a:r>
                      <a:r>
                        <a:rPr lang="ar-SA" sz="28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1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21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22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30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31</a:t>
                      </a:r>
                      <a:endParaRPr lang="fr-FR" sz="2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24</a:t>
                      </a:r>
                      <a:endParaRPr lang="fr-FR" sz="2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15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ال</a:t>
                      </a:r>
                      <a:r>
                        <a:rPr lang="ar-SA" sz="28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س</a:t>
                      </a:r>
                      <a:r>
                        <a:rPr lang="ar-DZ" sz="2800" b="1" dirty="0" err="1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نة</a:t>
                      </a:r>
                      <a:r>
                        <a:rPr lang="ar-SA" sz="28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  </a:t>
                      </a: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2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21</a:t>
                      </a:r>
                      <a:endParaRPr lang="fr-FR" sz="2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22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30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31</a:t>
                      </a:r>
                      <a:endParaRPr lang="fr-FR" sz="2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24</a:t>
                      </a:r>
                      <a:endParaRPr lang="fr-FR" sz="2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15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ال</a:t>
                      </a:r>
                      <a:r>
                        <a:rPr lang="ar-SA" sz="28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س</a:t>
                      </a:r>
                      <a:r>
                        <a:rPr lang="ar-DZ" sz="2800" b="1" dirty="0" err="1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نة</a:t>
                      </a:r>
                      <a:r>
                        <a:rPr lang="ar-SA" sz="28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  </a:t>
                      </a: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3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22,5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25</a:t>
                      </a:r>
                      <a:endParaRPr lang="fr-FR" sz="2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30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32</a:t>
                      </a:r>
                      <a:endParaRPr lang="fr-FR" sz="2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24</a:t>
                      </a:r>
                      <a:endParaRPr lang="fr-FR" sz="2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15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ال</a:t>
                      </a:r>
                      <a:r>
                        <a:rPr lang="ar-SA" sz="28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س</a:t>
                      </a:r>
                      <a:r>
                        <a:rPr lang="ar-DZ" sz="2800" b="1" dirty="0" err="1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نة</a:t>
                      </a:r>
                      <a:r>
                        <a:rPr lang="ar-SA" sz="28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 4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24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25</a:t>
                      </a:r>
                      <a:endParaRPr lang="fr-FR" sz="2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30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34</a:t>
                      </a:r>
                      <a:endParaRPr lang="fr-FR" sz="24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24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15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ال</a:t>
                      </a:r>
                      <a:r>
                        <a:rPr lang="ar-SA" sz="28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س</a:t>
                      </a:r>
                      <a:r>
                        <a:rPr lang="ar-DZ" sz="2800" b="1" dirty="0" err="1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نة</a:t>
                      </a:r>
                      <a:r>
                        <a:rPr lang="ar-SA" sz="28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  </a:t>
                      </a: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5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24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29,5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30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35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24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215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ال</a:t>
                      </a:r>
                      <a:r>
                        <a:rPr lang="ar-SA" sz="28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س</a:t>
                      </a:r>
                      <a:r>
                        <a:rPr lang="ar-DZ" sz="2800" b="1" dirty="0" err="1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نة</a:t>
                      </a:r>
                      <a:r>
                        <a:rPr lang="ar-SA" sz="28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+mn-cs"/>
                        </a:rPr>
                        <a:t>  </a:t>
                      </a: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6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 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30,5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30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35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SA" sz="28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Arial"/>
                        </a:rPr>
                        <a:t> </a:t>
                      </a:r>
                      <a:endParaRPr lang="fr-FR" sz="2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1"/>
            <a:r>
              <a:rPr lang="ar-DZ" b="1" dirty="0" smtClean="0"/>
              <a:t>الحجم الساعي الأسبوعي</a:t>
            </a:r>
            <a:r>
              <a:rPr lang="fr-FR" b="1" dirty="0" smtClean="0"/>
              <a:t> </a:t>
            </a:r>
            <a:r>
              <a:rPr lang="ar-DZ" b="1" dirty="0" smtClean="0"/>
              <a:t>في التعليم الابتدائي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sz="2700" b="1" dirty="0" smtClean="0"/>
              <a:t>Horaires hebdomadaires l'enseignement primaire</a:t>
            </a:r>
            <a:r>
              <a:rPr lang="fr-FR" sz="2700" dirty="0" smtClean="0"/>
              <a:t> </a:t>
            </a:r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1600201"/>
          <a:ext cx="8229600" cy="3412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re 1"/>
          <p:cNvSpPr txBox="1">
            <a:spLocks/>
          </p:cNvSpPr>
          <p:nvPr/>
        </p:nvSpPr>
        <p:spPr>
          <a:xfrm>
            <a:off x="395536" y="50131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DZ" sz="2700" u="sng" dirty="0" smtClean="0">
                <a:latin typeface="+mj-lt"/>
                <a:ea typeface="+mj-ea"/>
                <a:cs typeface="+mj-cs"/>
              </a:rPr>
              <a:t>ملاحظة</a:t>
            </a:r>
            <a:r>
              <a:rPr lang="ar-DZ" sz="2700" dirty="0" smtClean="0">
                <a:latin typeface="+mj-lt"/>
                <a:ea typeface="+mj-ea"/>
                <a:cs typeface="+mj-cs"/>
              </a:rPr>
              <a:t>: نسجل أضعف حجم ساعي</a:t>
            </a:r>
            <a:r>
              <a:rPr lang="fr-FR" sz="2700" dirty="0" smtClean="0">
                <a:latin typeface="+mj-lt"/>
                <a:ea typeface="+mj-ea"/>
                <a:cs typeface="+mj-cs"/>
              </a:rPr>
              <a:t> </a:t>
            </a:r>
            <a:r>
              <a:rPr lang="ar-DZ" sz="2700" dirty="0" smtClean="0">
                <a:latin typeface="+mj-lt"/>
                <a:ea typeface="+mj-ea"/>
                <a:cs typeface="+mj-cs"/>
              </a:rPr>
              <a:t>أسبوعي للجزائر في التعليم الابتدائي </a:t>
            </a:r>
            <a:endParaRPr kumimoji="0" lang="fr-FR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683568" y="1196752"/>
          <a:ext cx="8229600" cy="4392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DZ" b="1" dirty="0" smtClean="0"/>
              <a:t>عدد أسابيع التعليم في الابتدائي </a:t>
            </a:r>
            <a:r>
              <a:rPr lang="ar-DZ" dirty="0" smtClean="0"/>
              <a:t>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sz="2700" b="1" dirty="0" smtClean="0"/>
              <a:t>Nombre de semaines d’ enseignement dans le  Primaire</a:t>
            </a:r>
            <a:r>
              <a:rPr lang="fr-FR" sz="2700" dirty="0" smtClean="0"/>
              <a:t> </a:t>
            </a:r>
            <a:endParaRPr lang="fr-FR" sz="2700" dirty="0"/>
          </a:p>
        </p:txBody>
      </p:sp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DZ" b="1" dirty="0" smtClean="0"/>
              <a:t>التوقيت السنوي  </a:t>
            </a:r>
            <a:r>
              <a:rPr lang="ar-DZ" b="1" dirty="0"/>
              <a:t>في التعليم </a:t>
            </a:r>
            <a:r>
              <a:rPr lang="ar-DZ" b="1" dirty="0" smtClean="0"/>
              <a:t>الابتدائي </a:t>
            </a:r>
            <a:r>
              <a:rPr lang="ar-DZ" dirty="0" smtClean="0"/>
              <a:t>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sz="2700" b="1" dirty="0" smtClean="0"/>
              <a:t>Horaires annuels de </a:t>
            </a:r>
            <a:r>
              <a:rPr lang="fr-FR" sz="2700" b="1" dirty="0"/>
              <a:t>l'enseignement primaire</a:t>
            </a:r>
            <a:r>
              <a:rPr lang="fr-FR" sz="2700" dirty="0" smtClean="0"/>
              <a:t> </a:t>
            </a:r>
            <a:endParaRPr lang="fr-FR" sz="2700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539552" y="486916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ar-DZ" sz="2700" u="sng" dirty="0" err="1" smtClean="0">
                <a:latin typeface="+mj-lt"/>
                <a:ea typeface="+mj-ea"/>
                <a:cs typeface="+mj-cs"/>
              </a:rPr>
              <a:t>ملاحظة</a:t>
            </a:r>
            <a:r>
              <a:rPr lang="ar-DZ" sz="2700" dirty="0" err="1" smtClean="0">
                <a:latin typeface="+mj-lt"/>
                <a:ea typeface="+mj-ea"/>
                <a:cs typeface="+mj-cs"/>
              </a:rPr>
              <a:t>:</a:t>
            </a:r>
            <a:endParaRPr lang="ar-DZ" sz="2700" dirty="0" smtClean="0">
              <a:latin typeface="+mj-lt"/>
              <a:ea typeface="+mj-ea"/>
              <a:cs typeface="+mj-cs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ar-DZ" sz="2700" dirty="0" smtClean="0">
                <a:latin typeface="+mj-lt"/>
                <a:ea typeface="+mj-ea"/>
                <a:cs typeface="+mj-cs"/>
              </a:rPr>
              <a:t> نسجل أضعف حجم ساعي للجزائر وذلك في الخمس سنوات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ar-DZ" sz="2700" dirty="0" smtClean="0">
                <a:latin typeface="+mj-lt"/>
                <a:ea typeface="+mj-ea"/>
                <a:cs typeface="+mj-cs"/>
              </a:rPr>
              <a:t>لا توجد سنة سادسة ابتدائي في الجزائر وفي </a:t>
            </a:r>
            <a:r>
              <a:rPr lang="ar-DZ" sz="2700" dirty="0" err="1" smtClean="0">
                <a:latin typeface="+mj-lt"/>
                <a:ea typeface="+mj-ea"/>
                <a:cs typeface="+mj-cs"/>
              </a:rPr>
              <a:t>فرنسا.</a:t>
            </a:r>
            <a:r>
              <a:rPr lang="ar-DZ" sz="2700" dirty="0" smtClean="0">
                <a:latin typeface="+mj-lt"/>
                <a:ea typeface="+mj-ea"/>
                <a:cs typeface="+mj-cs"/>
              </a:rPr>
              <a:t> </a:t>
            </a:r>
            <a:endParaRPr kumimoji="0" lang="fr-FR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Espace réservé du contenu 7"/>
          <p:cNvGraphicFramePr>
            <a:graphicFrameLocks noGrp="1"/>
          </p:cNvGraphicFramePr>
          <p:nvPr>
            <p:ph idx="1"/>
          </p:nvPr>
        </p:nvGraphicFramePr>
        <p:xfrm>
          <a:off x="539552" y="1412776"/>
          <a:ext cx="8229600" cy="3556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10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71600" y="188640"/>
            <a:ext cx="6929486" cy="1011222"/>
          </a:xfrm>
          <a:noFill/>
        </p:spPr>
        <p:txBody>
          <a:bodyPr>
            <a:normAutofit/>
          </a:bodyPr>
          <a:lstStyle/>
          <a:p>
            <a:r>
              <a:rPr lang="ar-SA" sz="3600" b="1" dirty="0" smtClean="0"/>
              <a:t>مجموع ساعات التدريس في التعليم الإلزامي</a:t>
            </a:r>
            <a:endParaRPr lang="fr-FR" sz="3600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323529" y="908720"/>
          <a:ext cx="8424935" cy="5218665"/>
        </p:xfrm>
        <a:graphic>
          <a:graphicData uri="http://schemas.openxmlformats.org/drawingml/2006/table">
            <a:tbl>
              <a:tblPr/>
              <a:tblGrid>
                <a:gridCol w="1384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4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44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9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35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ar-SA" sz="2800" b="1" dirty="0">
                          <a:latin typeface="Arial"/>
                          <a:ea typeface="Calibri"/>
                          <a:cs typeface="Simplified Arabic"/>
                        </a:rPr>
                        <a:t>قطر</a:t>
                      </a:r>
                      <a:endParaRPr lang="fr-FR" sz="2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ar-SA" sz="2800" b="1" dirty="0">
                          <a:latin typeface="Arial"/>
                          <a:ea typeface="Calibri"/>
                          <a:cs typeface="Simplified Arabic"/>
                        </a:rPr>
                        <a:t>فرنسا</a:t>
                      </a:r>
                      <a:endParaRPr lang="fr-FR" sz="2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ar-SA" sz="2800" b="1" dirty="0">
                          <a:latin typeface="Arial"/>
                          <a:ea typeface="Calibri"/>
                          <a:cs typeface="Simplified Arabic"/>
                        </a:rPr>
                        <a:t>تونس</a:t>
                      </a:r>
                      <a:endParaRPr lang="fr-FR" sz="2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ar-SA" sz="2800" b="1" dirty="0">
                          <a:latin typeface="Arial"/>
                          <a:ea typeface="Calibri"/>
                          <a:cs typeface="Simplified Arabic"/>
                        </a:rPr>
                        <a:t>المغرب</a:t>
                      </a:r>
                      <a:endParaRPr lang="fr-FR" sz="2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ar-SA" sz="2800" b="1">
                          <a:latin typeface="Arial"/>
                          <a:ea typeface="Calibri"/>
                          <a:cs typeface="Simplified Arabic"/>
                        </a:rPr>
                        <a:t>الجزائر</a:t>
                      </a:r>
                      <a:endParaRPr lang="fr-FR" sz="280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ar-SA" sz="2800" b="1" dirty="0">
                          <a:latin typeface="Arial"/>
                          <a:ea typeface="Calibri"/>
                          <a:cs typeface="Simplified Arabic"/>
                        </a:rPr>
                        <a:t>البلــد</a:t>
                      </a:r>
                      <a:endParaRPr lang="fr-FR" sz="2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515">
                <a:tc>
                  <a:txBody>
                    <a:bodyPr/>
                    <a:lstStyle/>
                    <a:p>
                      <a:pPr algn="ct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-SA" sz="2400" b="1" dirty="0">
                          <a:latin typeface="Arial"/>
                          <a:ea typeface="Calibri"/>
                          <a:cs typeface="Simplified Arabic"/>
                        </a:rPr>
                        <a:t>6 سنوات</a:t>
                      </a:r>
                      <a:endParaRPr lang="fr-FR" sz="24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-SA" sz="2400" b="1" dirty="0">
                          <a:latin typeface="Arial"/>
                          <a:ea typeface="Calibri"/>
                          <a:cs typeface="Simplified Arabic"/>
                        </a:rPr>
                        <a:t>5 سنوات</a:t>
                      </a:r>
                      <a:endParaRPr lang="fr-FR" sz="24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-SA" sz="2400" b="1" dirty="0">
                          <a:latin typeface="Arial"/>
                          <a:ea typeface="Calibri"/>
                          <a:cs typeface="Simplified Arabic"/>
                        </a:rPr>
                        <a:t>6 سنوات</a:t>
                      </a:r>
                      <a:endParaRPr lang="fr-FR" sz="24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-SA" sz="2400" b="1" dirty="0">
                          <a:latin typeface="Arial"/>
                          <a:ea typeface="Calibri"/>
                          <a:cs typeface="Simplified Arabic"/>
                        </a:rPr>
                        <a:t>6 سنوات</a:t>
                      </a:r>
                      <a:endParaRPr lang="fr-FR" sz="24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-SA" sz="2400" b="1" dirty="0">
                          <a:latin typeface="Arial"/>
                          <a:ea typeface="Calibri"/>
                          <a:cs typeface="Simplified Arabic"/>
                        </a:rPr>
                        <a:t>5 سنوات</a:t>
                      </a:r>
                      <a:endParaRPr lang="fr-FR" sz="24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-SA" sz="2400" b="1" dirty="0">
                          <a:latin typeface="Arial"/>
                          <a:ea typeface="Calibri"/>
                          <a:cs typeface="+mj-cs"/>
                        </a:rPr>
                        <a:t>مدّة </a:t>
                      </a:r>
                      <a:r>
                        <a:rPr lang="ar-DZ" sz="2400" b="1" dirty="0" smtClean="0">
                          <a:latin typeface="Arial"/>
                          <a:ea typeface="Calibri"/>
                          <a:cs typeface="+mj-cs"/>
                        </a:rPr>
                        <a:t>التعليم</a:t>
                      </a:r>
                      <a:r>
                        <a:rPr lang="ar-SA" sz="2400" b="1" dirty="0" smtClean="0">
                          <a:latin typeface="Arial"/>
                          <a:ea typeface="Calibri"/>
                          <a:cs typeface="+mj-cs"/>
                        </a:rPr>
                        <a:t> </a:t>
                      </a:r>
                      <a:r>
                        <a:rPr lang="ar-SA" sz="2400" b="1" kern="1200" dirty="0">
                          <a:solidFill>
                            <a:schemeClr val="tx1"/>
                          </a:solidFill>
                          <a:latin typeface="Arial"/>
                          <a:ea typeface="Calibri"/>
                          <a:cs typeface="+mj-cs"/>
                        </a:rPr>
                        <a:t>الابتدائي</a:t>
                      </a:r>
                      <a:endParaRPr lang="fr-FR" sz="2400" b="1" kern="1200" dirty="0">
                        <a:solidFill>
                          <a:schemeClr val="tx1"/>
                        </a:solidFill>
                        <a:latin typeface="Arial"/>
                        <a:ea typeface="Calibri"/>
                        <a:cs typeface="+mj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1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039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2800" b="1" dirty="0">
                          <a:latin typeface="Arial"/>
                          <a:ea typeface="Calibri"/>
                          <a:cs typeface="Simplified Arabic"/>
                        </a:rPr>
                        <a:t>7128</a:t>
                      </a:r>
                      <a:endParaRPr lang="fr-FR" sz="2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2800" b="1" dirty="0">
                          <a:latin typeface="Arial"/>
                          <a:ea typeface="Calibri"/>
                          <a:cs typeface="Simplified Arabic"/>
                        </a:rPr>
                        <a:t>3840</a:t>
                      </a:r>
                      <a:endParaRPr lang="fr-FR" sz="2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2800" b="1" dirty="0">
                          <a:latin typeface="Arial"/>
                          <a:ea typeface="Calibri"/>
                          <a:cs typeface="Simplified Arabic"/>
                        </a:rPr>
                        <a:t>4928</a:t>
                      </a:r>
                      <a:endParaRPr lang="fr-FR" sz="2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2800" b="1" dirty="0">
                          <a:latin typeface="Arial"/>
                          <a:ea typeface="Calibri"/>
                          <a:cs typeface="Simplified Arabic"/>
                        </a:rPr>
                        <a:t>5760</a:t>
                      </a:r>
                      <a:endParaRPr lang="fr-FR" sz="2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2800" b="1" dirty="0">
                          <a:solidFill>
                            <a:srgbClr val="FF0000"/>
                          </a:solidFill>
                          <a:latin typeface="Arial"/>
                          <a:ea typeface="Calibri"/>
                          <a:cs typeface="Simplified Arabic"/>
                        </a:rPr>
                        <a:t>3600</a:t>
                      </a:r>
                      <a:endParaRPr lang="fr-FR" sz="2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-SA" sz="2400" b="1" dirty="0">
                          <a:latin typeface="Arial"/>
                          <a:ea typeface="Calibri"/>
                          <a:cs typeface="+mj-cs"/>
                        </a:rPr>
                        <a:t>الرصيد الزمني في الابتدائي</a:t>
                      </a:r>
                      <a:endParaRPr lang="fr-FR" sz="2400" dirty="0">
                        <a:latin typeface="Calibri"/>
                        <a:ea typeface="Times New Roman"/>
                        <a:cs typeface="+mj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>
                        <a:alpha val="1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195">
                <a:tc>
                  <a:txBody>
                    <a:bodyPr/>
                    <a:lstStyle/>
                    <a:p>
                      <a:pPr algn="ct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-SA" sz="2400" b="1" dirty="0">
                          <a:latin typeface="Arial"/>
                          <a:ea typeface="Calibri"/>
                          <a:cs typeface="Simplified Arabic"/>
                        </a:rPr>
                        <a:t>3 سنوات</a:t>
                      </a:r>
                      <a:endParaRPr lang="fr-FR" sz="24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-SA" sz="2400" b="1" dirty="0">
                          <a:latin typeface="Arial"/>
                          <a:ea typeface="Calibri"/>
                          <a:cs typeface="Simplified Arabic"/>
                        </a:rPr>
                        <a:t>4 سنوات</a:t>
                      </a:r>
                      <a:endParaRPr lang="fr-FR" sz="24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-SA" sz="2400" b="1" dirty="0">
                          <a:latin typeface="Arial"/>
                          <a:ea typeface="Calibri"/>
                          <a:cs typeface="Simplified Arabic"/>
                        </a:rPr>
                        <a:t>3 سنوات</a:t>
                      </a:r>
                      <a:endParaRPr lang="fr-FR" sz="24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-SA" sz="2400" b="1" dirty="0">
                          <a:latin typeface="Arial"/>
                          <a:ea typeface="Calibri"/>
                          <a:cs typeface="Simplified Arabic"/>
                        </a:rPr>
                        <a:t>3 سنوات</a:t>
                      </a:r>
                      <a:endParaRPr lang="fr-FR" sz="24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-SA" sz="2400" b="1" dirty="0">
                          <a:latin typeface="Arial"/>
                          <a:ea typeface="Calibri"/>
                          <a:cs typeface="Simplified Arabic"/>
                        </a:rPr>
                        <a:t>4 سنوات</a:t>
                      </a:r>
                      <a:endParaRPr lang="fr-FR" sz="24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-SA" sz="2800" b="1" dirty="0">
                          <a:latin typeface="Arial"/>
                          <a:ea typeface="Calibri"/>
                          <a:cs typeface="+mj-cs"/>
                        </a:rPr>
                        <a:t>مدّة </a:t>
                      </a:r>
                      <a:r>
                        <a:rPr lang="ar-DZ" sz="2800" b="1" dirty="0" smtClean="0">
                          <a:latin typeface="Arial"/>
                          <a:ea typeface="Calibri"/>
                          <a:cs typeface="+mj-cs"/>
                        </a:rPr>
                        <a:t>التعليم </a:t>
                      </a:r>
                      <a:r>
                        <a:rPr lang="ar-SA" sz="2800" b="1" dirty="0" smtClean="0">
                          <a:latin typeface="Arial"/>
                          <a:ea typeface="Calibri"/>
                          <a:cs typeface="+mj-cs"/>
                        </a:rPr>
                        <a:t>المتوسّط</a:t>
                      </a:r>
                      <a:endParaRPr lang="fr-FR" sz="2800" dirty="0">
                        <a:latin typeface="Calibri"/>
                        <a:ea typeface="Times New Roman"/>
                        <a:cs typeface="+mj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039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2800" b="1" dirty="0">
                          <a:latin typeface="Arial"/>
                          <a:ea typeface="Calibri"/>
                          <a:cs typeface="Simplified Arabic"/>
                        </a:rPr>
                        <a:t>3888</a:t>
                      </a:r>
                      <a:endParaRPr lang="fr-FR" sz="2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2800" b="1" dirty="0">
                          <a:latin typeface="Arial"/>
                          <a:ea typeface="Calibri"/>
                          <a:cs typeface="Simplified Arabic"/>
                        </a:rPr>
                        <a:t>3487</a:t>
                      </a:r>
                      <a:endParaRPr lang="fr-FR" sz="2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2800" b="1" dirty="0">
                          <a:latin typeface="Arial"/>
                          <a:ea typeface="Calibri"/>
                          <a:cs typeface="Simplified Arabic"/>
                        </a:rPr>
                        <a:t>3040</a:t>
                      </a:r>
                      <a:endParaRPr lang="fr-FR" sz="2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2800" b="1" dirty="0">
                          <a:latin typeface="Arial"/>
                          <a:ea typeface="Calibri"/>
                          <a:cs typeface="Simplified Arabic"/>
                        </a:rPr>
                        <a:t>3232</a:t>
                      </a:r>
                      <a:endParaRPr lang="fr-FR" sz="2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2800" b="1" dirty="0">
                          <a:solidFill>
                            <a:srgbClr val="FF0000"/>
                          </a:solidFill>
                          <a:latin typeface="Arial"/>
                          <a:ea typeface="Calibri"/>
                          <a:cs typeface="Simplified Arabic"/>
                        </a:rPr>
                        <a:t>3388</a:t>
                      </a:r>
                      <a:endParaRPr lang="fr-FR" sz="2800" dirty="0"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-SA" sz="2400" b="1" dirty="0">
                          <a:latin typeface="Arial"/>
                          <a:ea typeface="Calibri"/>
                          <a:cs typeface="+mj-cs"/>
                        </a:rPr>
                        <a:t>الرصيد الزمني في المتوسّط </a:t>
                      </a:r>
                      <a:endParaRPr lang="fr-FR" sz="2400" dirty="0">
                        <a:latin typeface="Calibri"/>
                        <a:ea typeface="Times New Roman"/>
                        <a:cs typeface="+mj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2655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3200" b="1" dirty="0">
                          <a:solidFill>
                            <a:schemeClr val="tx1"/>
                          </a:solidFill>
                          <a:latin typeface="Arial"/>
                          <a:ea typeface="Calibri"/>
                          <a:cs typeface="Simplified Arabic"/>
                        </a:rPr>
                        <a:t>11016</a:t>
                      </a:r>
                      <a:endParaRPr lang="fr-FR" sz="32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3200" b="1" dirty="0">
                          <a:solidFill>
                            <a:schemeClr val="tx1"/>
                          </a:solidFill>
                          <a:latin typeface="Arial"/>
                          <a:ea typeface="Calibri"/>
                          <a:cs typeface="Simplified Arabic"/>
                        </a:rPr>
                        <a:t>7327</a:t>
                      </a:r>
                      <a:endParaRPr lang="fr-FR" sz="32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3200" b="1" dirty="0">
                          <a:solidFill>
                            <a:schemeClr val="tx1"/>
                          </a:solidFill>
                          <a:latin typeface="Arial"/>
                          <a:ea typeface="Calibri"/>
                          <a:cs typeface="Simplified Arabic"/>
                        </a:rPr>
                        <a:t>7968</a:t>
                      </a:r>
                      <a:endParaRPr lang="fr-FR" sz="32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3200" b="1" dirty="0">
                          <a:solidFill>
                            <a:schemeClr val="tx1"/>
                          </a:solidFill>
                          <a:latin typeface="Arial"/>
                          <a:ea typeface="Calibri"/>
                          <a:cs typeface="Simplified Arabic"/>
                        </a:rPr>
                        <a:t>8992</a:t>
                      </a:r>
                      <a:endParaRPr lang="fr-FR" sz="32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3200" b="1" dirty="0">
                          <a:solidFill>
                            <a:srgbClr val="FF0000"/>
                          </a:solidFill>
                          <a:latin typeface="Arial"/>
                          <a:ea typeface="Calibri"/>
                          <a:cs typeface="Simplified Arabic"/>
                        </a:rPr>
                        <a:t>6988</a:t>
                      </a:r>
                      <a:endParaRPr lang="fr-FR" sz="3200" dirty="0">
                        <a:solidFill>
                          <a:srgbClr val="FF0000"/>
                        </a:solidFill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-SA" sz="2800" b="1" dirty="0">
                          <a:solidFill>
                            <a:schemeClr val="tx1"/>
                          </a:solidFill>
                          <a:latin typeface="Arial"/>
                          <a:ea typeface="Calibri"/>
                          <a:cs typeface="+mj-cs"/>
                        </a:rPr>
                        <a:t>الرصيد الزمني في </a:t>
                      </a:r>
                      <a:r>
                        <a:rPr lang="ar-SA" sz="2800" b="1" dirty="0" err="1">
                          <a:solidFill>
                            <a:schemeClr val="tx1"/>
                          </a:solidFill>
                          <a:latin typeface="Arial"/>
                          <a:ea typeface="Calibri"/>
                          <a:cs typeface="+mj-cs"/>
                        </a:rPr>
                        <a:t>ت</a:t>
                      </a:r>
                      <a:r>
                        <a:rPr lang="ar-SA" sz="2800" b="1" dirty="0">
                          <a:solidFill>
                            <a:schemeClr val="tx1"/>
                          </a:solidFill>
                          <a:latin typeface="Arial"/>
                          <a:ea typeface="Calibri"/>
                          <a:cs typeface="+mj-cs"/>
                        </a:rPr>
                        <a:t>. الإلزامي</a:t>
                      </a:r>
                      <a:endParaRPr lang="fr-FR" sz="28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+mj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pPr rtl="1"/>
            <a:r>
              <a:rPr lang="ar-SA" sz="2800" b="1" dirty="0" smtClean="0"/>
              <a:t>مقارنة الحجم الساعي الأسبوعي للغة التعليم في </a:t>
            </a:r>
            <a:r>
              <a:rPr lang="ar-DZ" sz="2800" b="1" dirty="0" smtClean="0"/>
              <a:t>التعليم </a:t>
            </a:r>
            <a:r>
              <a:rPr lang="ar-SA" sz="2800" b="1" dirty="0" smtClean="0"/>
              <a:t>الابتدائي </a:t>
            </a:r>
            <a:endParaRPr lang="fr-FR" sz="2800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67544" y="1052736"/>
          <a:ext cx="8229600" cy="3456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571472" y="4286257"/>
            <a:ext cx="8136904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ts val="3200"/>
              </a:lnSpc>
            </a:pPr>
            <a:r>
              <a:rPr lang="ar-DZ" sz="2000" b="1" dirty="0" smtClean="0"/>
              <a:t>يتميّز الطور الابتدائي الأوّل (س1 </a:t>
            </a:r>
            <a:r>
              <a:rPr lang="ar-DZ" sz="2000" b="1" dirty="0" err="1" smtClean="0"/>
              <a:t>و</a:t>
            </a:r>
            <a:r>
              <a:rPr lang="ar-DZ" sz="2000" b="1" dirty="0" smtClean="0"/>
              <a:t> س2) بحجم زمني أسبوعي مرتفع في المدرسة الجزائرية؛ قصد ضمان مستوى الكفاءات الأدنى في التحكّم في اللغة العربية في نهاية هذا الطور، وذلك شرط أساسي للنجاح الدراسي المستقبلي للتلميذ .</a:t>
            </a:r>
            <a:endParaRPr lang="fr-FR" dirty="0" smtClean="0"/>
          </a:p>
          <a:p>
            <a:endParaRPr lang="fr-FR" dirty="0" smtClean="0"/>
          </a:p>
          <a:p>
            <a:endParaRPr lang="fr-FR" dirty="0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12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DZ" dirty="0" smtClean="0"/>
              <a:t>مقارنة الحجم الساعي الأسبوعي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ar-DZ" dirty="0" smtClean="0"/>
              <a:t> للغة التعليم في </a:t>
            </a:r>
            <a:r>
              <a:rPr lang="ar-SA" b="1" dirty="0" smtClean="0"/>
              <a:t>التعليم </a:t>
            </a:r>
            <a:r>
              <a:rPr lang="ar-DZ" dirty="0" smtClean="0"/>
              <a:t>الابتدائي </a:t>
            </a:r>
            <a:endParaRPr lang="fr-FR" dirty="0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</p:nvPr>
        </p:nvGraphicFramePr>
        <p:xfrm>
          <a:off x="457200" y="1600201"/>
          <a:ext cx="8229600" cy="2332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Graphique 7"/>
          <p:cNvGraphicFramePr/>
          <p:nvPr/>
        </p:nvGraphicFramePr>
        <p:xfrm>
          <a:off x="755576" y="4005064"/>
          <a:ext cx="7632848" cy="2088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13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1"/>
            <a:r>
              <a:rPr lang="ar-DZ" sz="3600" b="1" dirty="0" smtClean="0"/>
              <a:t>مقارنة الحجم الساعي الأسبوعي للرياضيات </a:t>
            </a:r>
            <a:r>
              <a:rPr lang="fr-FR" sz="3600" b="1" dirty="0" smtClean="0"/>
              <a:t/>
            </a:r>
            <a:br>
              <a:rPr lang="fr-FR" sz="3600" b="1" dirty="0" smtClean="0"/>
            </a:br>
            <a:r>
              <a:rPr lang="ar-DZ" sz="3600" b="1" dirty="0" smtClean="0"/>
              <a:t> في </a:t>
            </a:r>
            <a:r>
              <a:rPr lang="ar-SA" sz="3600" b="1" dirty="0" smtClean="0"/>
              <a:t>التعليم </a:t>
            </a:r>
            <a:r>
              <a:rPr lang="ar-DZ" sz="3600" b="1" dirty="0" smtClean="0"/>
              <a:t>الابتدائي</a:t>
            </a:r>
            <a:endParaRPr lang="fr-FR" sz="3600" b="1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827584" y="1700808"/>
          <a:ext cx="7283152" cy="2232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ZoneTexte 6"/>
          <p:cNvSpPr txBox="1"/>
          <p:nvPr/>
        </p:nvSpPr>
        <p:spPr>
          <a:xfrm>
            <a:off x="2627784" y="1484784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dirty="0" smtClean="0"/>
              <a:t>الحجم الأسبوعي</a:t>
            </a:r>
            <a:endParaRPr lang="fr-FR" dirty="0"/>
          </a:p>
        </p:txBody>
      </p:sp>
      <p:graphicFrame>
        <p:nvGraphicFramePr>
          <p:cNvPr id="8" name="Graphique 7"/>
          <p:cNvGraphicFramePr/>
          <p:nvPr/>
        </p:nvGraphicFramePr>
        <p:xfrm>
          <a:off x="1187624" y="4077072"/>
          <a:ext cx="6552728" cy="1944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14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/>
          <a:p>
            <a:r>
              <a:rPr lang="ar-DZ" dirty="0" smtClean="0"/>
              <a:t>التربية العلمية والتكنولوجية في الابتدائي</a:t>
            </a:r>
            <a:endParaRPr lang="fr-FR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052736"/>
            <a:ext cx="8363272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Graphique 3"/>
          <p:cNvGraphicFramePr/>
          <p:nvPr/>
        </p:nvGraphicFramePr>
        <p:xfrm>
          <a:off x="755576" y="3933056"/>
          <a:ext cx="7920880" cy="2592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15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/>
          <p:cNvSpPr txBox="1">
            <a:spLocks/>
          </p:cNvSpPr>
          <p:nvPr/>
        </p:nvSpPr>
        <p:spPr>
          <a:xfrm>
            <a:off x="755576" y="1844824"/>
            <a:ext cx="8056984" cy="2664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ar-DZ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مقارنة الحجم الساعي وعدد أسابيع التعليم</a:t>
            </a:r>
          </a:p>
          <a:p>
            <a:pPr marL="342900" marR="0" lvl="0" indent="-342900" algn="ct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ar-DZ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في الطور المتوسط</a:t>
            </a: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342900" marR="0" lvl="0" indent="-342900" algn="l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16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>
              <a:defRPr sz="2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ar-DZ" b="1" dirty="0" smtClean="0">
                <a:solidFill>
                  <a:prstClr val="black"/>
                </a:solidFill>
              </a:rPr>
              <a:t>حجم الساعات في  </a:t>
            </a:r>
            <a:r>
              <a:rPr lang="ar-DZ" b="1" dirty="0" err="1" smtClean="0">
                <a:solidFill>
                  <a:prstClr val="black"/>
                </a:solidFill>
              </a:rPr>
              <a:t>الاسبوع </a:t>
            </a:r>
            <a:r>
              <a:rPr lang="ar-DZ" b="1" dirty="0" smtClean="0">
                <a:solidFill>
                  <a:prstClr val="black"/>
                </a:solidFill>
              </a:rPr>
              <a:t>(تعليم متوسط</a:t>
            </a:r>
            <a:r>
              <a:rPr lang="ar-DZ" b="1" dirty="0" err="1" smtClean="0">
                <a:solidFill>
                  <a:prstClr val="black"/>
                </a:solidFill>
              </a:rPr>
              <a:t>)</a:t>
            </a:r>
            <a:r>
              <a:rPr lang="fr-FR" b="1" dirty="0" smtClean="0">
                <a:solidFill>
                  <a:prstClr val="black"/>
                </a:solidFill>
              </a:rPr>
              <a:t/>
            </a:r>
            <a:br>
              <a:rPr lang="fr-FR" b="1" dirty="0" smtClean="0">
                <a:solidFill>
                  <a:prstClr val="black"/>
                </a:solidFill>
              </a:rPr>
            </a:br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1600201"/>
          <a:ext cx="8229600" cy="3556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17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>
              <a:defRPr sz="24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ar-DZ" sz="3200" b="1" dirty="0" smtClean="0">
                <a:solidFill>
                  <a:prstClr val="black"/>
                </a:solidFill>
              </a:rPr>
              <a:t>مجموع الساعات التعليم للطور المتوسط</a:t>
            </a:r>
            <a:endParaRPr lang="ar-DZ" sz="32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539552" y="1052736"/>
          <a:ext cx="8136904" cy="2304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itre 1"/>
          <p:cNvSpPr txBox="1">
            <a:spLocks/>
          </p:cNvSpPr>
          <p:nvPr/>
        </p:nvSpPr>
        <p:spPr>
          <a:xfrm>
            <a:off x="1331640" y="5715000"/>
            <a:ext cx="700546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DZ" sz="2700" u="sng" dirty="0" smtClean="0">
                <a:latin typeface="+mj-lt"/>
                <a:ea typeface="+mj-ea"/>
                <a:cs typeface="+mj-cs"/>
              </a:rPr>
              <a:t>ملاحظة</a:t>
            </a:r>
            <a:r>
              <a:rPr lang="ar-DZ" sz="2700" dirty="0" smtClean="0">
                <a:latin typeface="+mj-lt"/>
                <a:ea typeface="+mj-ea"/>
                <a:cs typeface="+mj-cs"/>
              </a:rPr>
              <a:t>: مدة التعليم المتوسط 4 سنوات في الجزائر و فرنسا </a:t>
            </a:r>
          </a:p>
          <a:p>
            <a:pPr lvl="0" algn="r" rtl="1">
              <a:spcBef>
                <a:spcPct val="0"/>
              </a:spcBef>
            </a:pPr>
            <a:r>
              <a:rPr kumimoji="0" lang="ar-DZ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ar-DZ" sz="2700" dirty="0" smtClean="0"/>
              <a:t>مدة التعليم المتوسط 3 سنوات في تونس والمغرب وقطر</a:t>
            </a:r>
            <a:endParaRPr kumimoji="0" lang="fr-FR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Espace réservé du contenu 3"/>
          <p:cNvGraphicFramePr>
            <a:graphicFrameLocks/>
          </p:cNvGraphicFramePr>
          <p:nvPr/>
        </p:nvGraphicFramePr>
        <p:xfrm>
          <a:off x="395536" y="3861048"/>
          <a:ext cx="8229600" cy="2044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ectangle 7"/>
          <p:cNvSpPr/>
          <p:nvPr/>
        </p:nvSpPr>
        <p:spPr>
          <a:xfrm>
            <a:off x="2195736" y="3573016"/>
            <a:ext cx="50405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DZ" sz="2400" dirty="0" smtClean="0"/>
              <a:t>المعدل السنوي في الطور المتوسط</a:t>
            </a:r>
            <a:endParaRPr lang="fr-FR" dirty="0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DZ" dirty="0" smtClean="0"/>
              <a:t>توقيت اللغة العربية في المتوسط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539552" y="980728"/>
          <a:ext cx="8229600" cy="288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aphique 4"/>
          <p:cNvGraphicFramePr/>
          <p:nvPr/>
        </p:nvGraphicFramePr>
        <p:xfrm>
          <a:off x="827584" y="4077072"/>
          <a:ext cx="7704856" cy="2232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19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ar-DZ" b="1" dirty="0" smtClean="0"/>
              <a:t>توقيت الرياضيات  في المتوسط</a:t>
            </a:r>
            <a:r>
              <a:rPr lang="fr-FR" b="1" dirty="0" smtClean="0"/>
              <a:t/>
            </a:r>
            <a:br>
              <a:rPr lang="fr-FR" b="1" dirty="0" smtClean="0"/>
            </a:br>
            <a:endParaRPr lang="fr-FR" dirty="0"/>
          </a:p>
        </p:txBody>
      </p:sp>
      <p:graphicFrame>
        <p:nvGraphicFramePr>
          <p:cNvPr id="7" name="Espace réservé du contenu 6"/>
          <p:cNvGraphicFramePr>
            <a:graphicFrameLocks noGrp="1"/>
          </p:cNvGraphicFramePr>
          <p:nvPr>
            <p:ph idx="1"/>
          </p:nvPr>
        </p:nvGraphicFramePr>
        <p:xfrm>
          <a:off x="467544" y="1052736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20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1560" y="692696"/>
            <a:ext cx="8229600" cy="792088"/>
          </a:xfrm>
        </p:spPr>
        <p:txBody>
          <a:bodyPr>
            <a:normAutofit fontScale="90000"/>
          </a:bodyPr>
          <a:lstStyle/>
          <a:p>
            <a:r>
              <a:rPr lang="ar-DZ" dirty="0" smtClean="0"/>
              <a:t>توقيت اللغة الأجنبية 1 في المتوسط</a:t>
            </a:r>
            <a:br>
              <a:rPr lang="ar-DZ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</p:nvPr>
        </p:nvGraphicFramePr>
        <p:xfrm>
          <a:off x="611560" y="836712"/>
          <a:ext cx="8229600" cy="252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Graphique 3"/>
          <p:cNvGraphicFramePr/>
          <p:nvPr/>
        </p:nvGraphicFramePr>
        <p:xfrm>
          <a:off x="1043608" y="3645024"/>
          <a:ext cx="712879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21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DZ" dirty="0" smtClean="0"/>
              <a:t>توقيت العلوم الطبيعية في المتوسط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</p:nvPr>
        </p:nvGraphicFramePr>
        <p:xfrm>
          <a:off x="395536" y="1124744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22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DZ" dirty="0" smtClean="0"/>
              <a:t>توقيت الفيزياء كيمياء و تك في المتوسط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</p:nvPr>
        </p:nvGraphicFramePr>
        <p:xfrm>
          <a:off x="395536" y="908720"/>
          <a:ext cx="8229600" cy="252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Graphique 3"/>
          <p:cNvGraphicFramePr/>
          <p:nvPr/>
        </p:nvGraphicFramePr>
        <p:xfrm>
          <a:off x="1187624" y="3533056"/>
          <a:ext cx="7194107" cy="33249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23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ar-DZ" b="1" dirty="0" smtClean="0">
                <a:hlinkClick r:id="rId2" action="ppaction://hlinkfile"/>
              </a:rPr>
              <a:t>مقارنة تعليم العلوم الفيزيائية بين الجزائر وفرنسا</a:t>
            </a:r>
            <a:r>
              <a:rPr lang="ar-DZ" b="1" dirty="0" smtClean="0"/>
              <a:t> </a:t>
            </a:r>
            <a:endParaRPr lang="fr-FR" b="1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611560" y="3789040"/>
          <a:ext cx="8229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ar-DZ" dirty="0" smtClean="0"/>
                        <a:t>مواضيع امتحان </a:t>
                      </a:r>
                      <a:r>
                        <a:rPr lang="ar-DZ" dirty="0" err="1" smtClean="0"/>
                        <a:t>البكالوريا</a:t>
                      </a:r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DZ" dirty="0" smtClean="0"/>
                        <a:t>فرنسا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dirty="0" smtClean="0"/>
                        <a:t>الجزائر 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456">
                <a:tc>
                  <a:txBody>
                    <a:bodyPr/>
                    <a:lstStyle/>
                    <a:p>
                      <a:pPr algn="ctr"/>
                      <a:r>
                        <a:rPr lang="ar-DZ" dirty="0" smtClean="0"/>
                        <a:t>على الفصول الثلاثة</a:t>
                      </a:r>
                    </a:p>
                    <a:p>
                      <a:pPr algn="ctr"/>
                      <a:r>
                        <a:rPr lang="ar-DZ" dirty="0" smtClean="0"/>
                        <a:t>مع تمرينات حول الاهتزازات والأمواج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dirty="0" smtClean="0"/>
                        <a:t>على الفصلين 1 </a:t>
                      </a:r>
                      <a:r>
                        <a:rPr lang="ar-DZ" dirty="0" err="1" smtClean="0"/>
                        <a:t>و2</a:t>
                      </a:r>
                      <a:r>
                        <a:rPr lang="ar-DZ" dirty="0" smtClean="0"/>
                        <a:t> </a:t>
                      </a:r>
                    </a:p>
                    <a:p>
                      <a:pPr algn="ctr"/>
                      <a:r>
                        <a:rPr lang="ar-DZ" dirty="0" smtClean="0"/>
                        <a:t> غياب الاهتزازات </a:t>
                      </a:r>
                      <a:r>
                        <a:rPr lang="ar-DZ" dirty="0" err="1" smtClean="0"/>
                        <a:t>والأمواج (”العتبة“)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 rtl="1"/>
                      <a:r>
                        <a:rPr lang="ar-DZ" dirty="0" smtClean="0"/>
                        <a:t>أغلبية التمارين الجزائرية </a:t>
                      </a:r>
                      <a:r>
                        <a:rPr lang="ar-DZ" dirty="0" err="1" smtClean="0"/>
                        <a:t>ترجمة</a:t>
                      </a:r>
                      <a:r>
                        <a:rPr lang="ar-DZ" baseline="0" dirty="0" err="1" smtClean="0"/>
                        <a:t> </a:t>
                      </a:r>
                      <a:r>
                        <a:rPr lang="ar-DZ" baseline="0" dirty="0" smtClean="0"/>
                        <a:t>(أحيانا </a:t>
                      </a:r>
                      <a:r>
                        <a:rPr lang="ar-DZ" baseline="0" dirty="0" err="1" smtClean="0"/>
                        <a:t>بأخطاء </a:t>
                      </a:r>
                      <a:r>
                        <a:rPr lang="ar-DZ" baseline="0" dirty="0" smtClean="0"/>
                        <a:t>) لتمارين فرنسية سابقة</a:t>
                      </a:r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r" rtl="1"/>
                      <a:r>
                        <a:rPr lang="ar-DZ" u="sng" dirty="0" err="1" smtClean="0"/>
                        <a:t>أمثلة</a:t>
                      </a:r>
                      <a:r>
                        <a:rPr lang="ar-DZ" dirty="0" err="1" smtClean="0"/>
                        <a:t> </a:t>
                      </a:r>
                      <a:r>
                        <a:rPr lang="ar-DZ" dirty="0" smtClean="0"/>
                        <a:t>: ر </a:t>
                      </a:r>
                      <a:r>
                        <a:rPr lang="ar-DZ" dirty="0" smtClean="0">
                          <a:hlinkClick r:id="rId3" action="ppaction://hlinkfile"/>
                        </a:rPr>
                        <a:t>2009</a:t>
                      </a:r>
                      <a:r>
                        <a:rPr lang="ar-DZ" dirty="0" smtClean="0"/>
                        <a:t> </a:t>
                      </a:r>
                      <a:r>
                        <a:rPr lang="ar-DZ" dirty="0" smtClean="0">
                          <a:hlinkClick r:id="rId4" action="ppaction://hlinkfile"/>
                        </a:rPr>
                        <a:t>و </a:t>
                      </a:r>
                      <a:r>
                        <a:rPr lang="fr-FR" dirty="0" smtClean="0">
                          <a:hlinkClick r:id="rId4" action="ppaction://hlinkfile"/>
                        </a:rPr>
                        <a:t>Polynésie 2007</a:t>
                      </a:r>
                      <a:r>
                        <a:rPr lang="ar-DZ" dirty="0" smtClean="0">
                          <a:hlinkClick r:id="rId4" action="ppaction://hlinkfile"/>
                        </a:rPr>
                        <a:t> </a:t>
                      </a:r>
                      <a:r>
                        <a:rPr lang="ar-DZ" dirty="0" err="1" smtClean="0"/>
                        <a:t>.</a:t>
                      </a:r>
                      <a:r>
                        <a:rPr lang="ar-DZ" dirty="0" smtClean="0"/>
                        <a:t> </a:t>
                      </a:r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539552" y="1412776"/>
          <a:ext cx="7992888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0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pPr algn="ctr"/>
                      <a:r>
                        <a:rPr lang="ar-DZ" dirty="0" smtClean="0"/>
                        <a:t>الطور الثانوي علمي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dirty="0" smtClean="0"/>
                        <a:t>الطور المتوسط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dirty="0" smtClean="0"/>
                        <a:t>الطور الابتدائي</a:t>
                      </a:r>
                      <a:r>
                        <a:rPr lang="ar-DZ" baseline="0" dirty="0" smtClean="0"/>
                        <a:t>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ar-DZ" dirty="0" smtClean="0"/>
                        <a:t>متقاربة جدا</a:t>
                      </a:r>
                    </a:p>
                    <a:p>
                      <a:pPr algn="ctr"/>
                      <a:r>
                        <a:rPr lang="ar-DZ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 برنامج 2002</a:t>
                      </a:r>
                      <a:r>
                        <a:rPr lang="ar-DZ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dirty="0" smtClean="0"/>
                        <a:t>متقاربة جدا</a:t>
                      </a:r>
                    </a:p>
                    <a:p>
                      <a:pPr algn="ctr"/>
                      <a:r>
                        <a:rPr lang="ar-DZ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(برنامج 2002</a:t>
                      </a:r>
                      <a:r>
                        <a:rPr lang="ar-DZ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dirty="0" smtClean="0"/>
                        <a:t>متقاربة جدا</a:t>
                      </a:r>
                    </a:p>
                    <a:p>
                      <a:pPr algn="ctr"/>
                      <a:r>
                        <a:rPr lang="ar-DZ" dirty="0" smtClean="0"/>
                        <a:t>(تربية علمية </a:t>
                      </a:r>
                      <a:r>
                        <a:rPr lang="ar-DZ" dirty="0" err="1" smtClean="0"/>
                        <a:t>وتك)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dirty="0" smtClean="0"/>
                        <a:t>المحتويات 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4h30/</a:t>
                      </a:r>
                      <a:r>
                        <a:rPr lang="fr-FR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sem</a:t>
                      </a:r>
                      <a:endParaRPr lang="fr-F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2h/</a:t>
                      </a:r>
                      <a:r>
                        <a:rPr lang="fr-FR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sem</a:t>
                      </a:r>
                      <a:endParaRPr lang="fr-F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1h30/</a:t>
                      </a:r>
                      <a:r>
                        <a:rPr lang="fr-FR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sem</a:t>
                      </a:r>
                      <a:endParaRPr lang="fr-F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الحجم الساعي في الجزائر </a:t>
                      </a:r>
                      <a:endParaRPr lang="fr-F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4h/</a:t>
                      </a:r>
                      <a:r>
                        <a:rPr lang="fr-FR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sem</a:t>
                      </a:r>
                      <a:r>
                        <a:rPr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fr-FR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Sde</a:t>
                      </a:r>
                      <a:r>
                        <a:rPr lang="fr-F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et 1S</a:t>
                      </a:r>
                      <a:endParaRPr lang="fr-F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5h /</a:t>
                      </a:r>
                      <a:r>
                        <a:rPr lang="fr-FR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sem</a:t>
                      </a:r>
                      <a:r>
                        <a:rPr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term</a:t>
                      </a:r>
                      <a:r>
                        <a:rPr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1h30/</a:t>
                      </a:r>
                      <a:r>
                        <a:rPr lang="fr-FR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sem</a:t>
                      </a:r>
                      <a:endParaRPr lang="fr-F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1h30/</a:t>
                      </a:r>
                      <a:r>
                        <a:rPr lang="fr-FR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sem</a:t>
                      </a:r>
                      <a:endParaRPr lang="fr-F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الحجم الساعي في فرنسا</a:t>
                      </a:r>
                      <a:endParaRPr lang="fr-F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 rtl="1"/>
                      <a:endParaRPr lang="fr-F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24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11560" y="1988840"/>
            <a:ext cx="8229600" cy="2952328"/>
          </a:xfrm>
        </p:spPr>
        <p:txBody>
          <a:bodyPr/>
          <a:lstStyle/>
          <a:p>
            <a:pPr algn="r" rtl="1"/>
            <a:endParaRPr lang="ar-DZ" dirty="0" smtClean="0"/>
          </a:p>
          <a:p>
            <a:pPr algn="ctr" rtl="1">
              <a:buNone/>
            </a:pPr>
            <a:r>
              <a:rPr lang="fr-FR" sz="4000" dirty="0" smtClean="0"/>
              <a:t> </a:t>
            </a:r>
            <a:r>
              <a:rPr lang="ar-DZ" sz="4000" dirty="0" smtClean="0"/>
              <a:t>والسلام عليكم </a:t>
            </a:r>
            <a:endParaRPr lang="fr-FR" sz="4000" dirty="0"/>
          </a:p>
        </p:txBody>
      </p:sp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facebook.com/groups/tahadiphysic</a:t>
            </a:r>
            <a:endParaRPr lang="fr-FR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257E-3B1D-4BD7-B2B2-EA3C6C46FE4A}" type="slidenum">
              <a:rPr lang="fr-FR" smtClean="0"/>
              <a:pPr/>
              <a:t>25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ECD PowerPoint template new logo">
  <a:themeElements>
    <a:clrScheme name="OECD PowerPoint template new logo 12">
      <a:dk1>
        <a:srgbClr val="FFFFFF"/>
      </a:dk1>
      <a:lt1>
        <a:srgbClr val="FFFFFF"/>
      </a:lt1>
      <a:dk2>
        <a:srgbClr val="FF9933"/>
      </a:dk2>
      <a:lt2>
        <a:srgbClr val="919191"/>
      </a:lt2>
      <a:accent1>
        <a:srgbClr val="00FF00"/>
      </a:accent1>
      <a:accent2>
        <a:srgbClr val="00AE00"/>
      </a:accent2>
      <a:accent3>
        <a:srgbClr val="FFFFFF"/>
      </a:accent3>
      <a:accent4>
        <a:srgbClr val="DADADA"/>
      </a:accent4>
      <a:accent5>
        <a:srgbClr val="AAFFAA"/>
      </a:accent5>
      <a:accent6>
        <a:srgbClr val="009D00"/>
      </a:accent6>
      <a:hlink>
        <a:srgbClr val="FC0128"/>
      </a:hlink>
      <a:folHlink>
        <a:srgbClr val="CECECE"/>
      </a:folHlink>
    </a:clrScheme>
    <a:fontScheme name="OECD PowerPoint template new logo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ECD PowerPoint template new log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ECD PowerPoint template new log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ECD PowerPoint template new log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ECD PowerPoint template new log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ECD PowerPoint template new log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ECD PowerPoint template new log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ECD PowerPoint template new log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ECD PowerPoint template new logo 8">
        <a:dk1>
          <a:srgbClr val="FFFF00"/>
        </a:dk1>
        <a:lt1>
          <a:srgbClr val="FFFFFF"/>
        </a:lt1>
        <a:dk2>
          <a:srgbClr val="FF9933"/>
        </a:dk2>
        <a:lt2>
          <a:srgbClr val="919191"/>
        </a:lt2>
        <a:accent1>
          <a:srgbClr val="FFFF99"/>
        </a:accent1>
        <a:accent2>
          <a:srgbClr val="00AE00"/>
        </a:accent2>
        <a:accent3>
          <a:srgbClr val="FFFFFF"/>
        </a:accent3>
        <a:accent4>
          <a:srgbClr val="DADA00"/>
        </a:accent4>
        <a:accent5>
          <a:srgbClr val="FFFFCA"/>
        </a:accent5>
        <a:accent6>
          <a:srgbClr val="009D00"/>
        </a:accent6>
        <a:hlink>
          <a:srgbClr val="FC0128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ECD PowerPoint template new logo 9">
        <a:dk1>
          <a:srgbClr val="FFFF66"/>
        </a:dk1>
        <a:lt1>
          <a:srgbClr val="FFFFFF"/>
        </a:lt1>
        <a:dk2>
          <a:srgbClr val="000000"/>
        </a:dk2>
        <a:lt2>
          <a:srgbClr val="919191"/>
        </a:lt2>
        <a:accent1>
          <a:srgbClr val="618FFD"/>
        </a:accent1>
        <a:accent2>
          <a:srgbClr val="00AE00"/>
        </a:accent2>
        <a:accent3>
          <a:srgbClr val="FFFFFF"/>
        </a:accent3>
        <a:accent4>
          <a:srgbClr val="DADA56"/>
        </a:accent4>
        <a:accent5>
          <a:srgbClr val="B7C6FE"/>
        </a:accent5>
        <a:accent6>
          <a:srgbClr val="009D00"/>
        </a:accent6>
        <a:hlink>
          <a:srgbClr val="FC0128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ECD PowerPoint template new logo 10">
        <a:dk1>
          <a:srgbClr val="000000"/>
        </a:dk1>
        <a:lt1>
          <a:srgbClr val="FFFFFF"/>
        </a:lt1>
        <a:dk2>
          <a:srgbClr val="FF9933"/>
        </a:dk2>
        <a:lt2>
          <a:srgbClr val="919191"/>
        </a:lt2>
        <a:accent1>
          <a:srgbClr val="FFFF99"/>
        </a:accent1>
        <a:accent2>
          <a:srgbClr val="00AE00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9D00"/>
        </a:accent6>
        <a:hlink>
          <a:srgbClr val="FC0128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ECD PowerPoint template new logo 11">
        <a:dk1>
          <a:srgbClr val="000000"/>
        </a:dk1>
        <a:lt1>
          <a:srgbClr val="FFFFFF"/>
        </a:lt1>
        <a:dk2>
          <a:srgbClr val="FF9933"/>
        </a:dk2>
        <a:lt2>
          <a:srgbClr val="919191"/>
        </a:lt2>
        <a:accent1>
          <a:srgbClr val="00FF00"/>
        </a:accent1>
        <a:accent2>
          <a:srgbClr val="00AE00"/>
        </a:accent2>
        <a:accent3>
          <a:srgbClr val="FFFFFF"/>
        </a:accent3>
        <a:accent4>
          <a:srgbClr val="000000"/>
        </a:accent4>
        <a:accent5>
          <a:srgbClr val="AAFFAA"/>
        </a:accent5>
        <a:accent6>
          <a:srgbClr val="009D00"/>
        </a:accent6>
        <a:hlink>
          <a:srgbClr val="FC0128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ECD PowerPoint template new logo 12">
        <a:dk1>
          <a:srgbClr val="FFFFFF"/>
        </a:dk1>
        <a:lt1>
          <a:srgbClr val="FFFFFF"/>
        </a:lt1>
        <a:dk2>
          <a:srgbClr val="FF9933"/>
        </a:dk2>
        <a:lt2>
          <a:srgbClr val="919191"/>
        </a:lt2>
        <a:accent1>
          <a:srgbClr val="00FF00"/>
        </a:accent1>
        <a:accent2>
          <a:srgbClr val="00AE00"/>
        </a:accent2>
        <a:accent3>
          <a:srgbClr val="FFFFFF"/>
        </a:accent3>
        <a:accent4>
          <a:srgbClr val="DADADA"/>
        </a:accent4>
        <a:accent5>
          <a:srgbClr val="AAFFAA"/>
        </a:accent5>
        <a:accent6>
          <a:srgbClr val="009D00"/>
        </a:accent6>
        <a:hlink>
          <a:srgbClr val="FC0128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1652</TotalTime>
  <Words>774</Words>
  <Application>Microsoft Office PowerPoint</Application>
  <PresentationFormat>عرض على الشاشة (4:3)</PresentationFormat>
  <Paragraphs>250</Paragraphs>
  <Slides>25</Slides>
  <Notes>5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2</vt:i4>
      </vt:variant>
      <vt:variant>
        <vt:lpstr>عناوين الشرائح</vt:lpstr>
      </vt:variant>
      <vt:variant>
        <vt:i4>25</vt:i4>
      </vt:variant>
    </vt:vector>
  </HeadingPairs>
  <TitlesOfParts>
    <vt:vector size="34" baseType="lpstr">
      <vt:lpstr>Arial</vt:lpstr>
      <vt:lpstr>Calibri</vt:lpstr>
      <vt:lpstr>Comic Sans MS</vt:lpstr>
      <vt:lpstr>Monotype Sorts</vt:lpstr>
      <vt:lpstr>Simplified Arabic</vt:lpstr>
      <vt:lpstr>Times New Roman</vt:lpstr>
      <vt:lpstr>Wingdings</vt:lpstr>
      <vt:lpstr>Thème Office</vt:lpstr>
      <vt:lpstr>OECD PowerPoint template new logo</vt:lpstr>
      <vt:lpstr>اللجنة الوطنية للمناهج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التوقيت الكلي   في التعليم الابتدائي   Total de l’horaire de l'enseignement primaire </vt:lpstr>
      <vt:lpstr>الحجم الزمني الأسبوعي لسنوات التعليم الابتدائي  حسب البلدان  </vt:lpstr>
      <vt:lpstr>الحجم الساعي الأسبوعي في التعليم الابتدائي  Horaires hebdomadaires l'enseignement primaire </vt:lpstr>
      <vt:lpstr>عدد أسابيع التعليم في الابتدائي   Nombre de semaines d’ enseignement dans le  Primaire </vt:lpstr>
      <vt:lpstr>التوقيت السنوي  في التعليم الابتدائي   Horaires annuels de l'enseignement primaire </vt:lpstr>
      <vt:lpstr>مجموع ساعات التدريس في التعليم الإلزامي</vt:lpstr>
      <vt:lpstr>مقارنة الحجم الساعي الأسبوعي للغة التعليم في التعليم الابتدائي </vt:lpstr>
      <vt:lpstr>مقارنة الحجم الساعي الأسبوعي  للغة التعليم في التعليم الابتدائي </vt:lpstr>
      <vt:lpstr>مقارنة الحجم الساعي الأسبوعي للرياضيات   في التعليم الابتدائي</vt:lpstr>
      <vt:lpstr>التربية العلمية والتكنولوجية في الابتدائي</vt:lpstr>
      <vt:lpstr>عرض تقديمي في PowerPoint</vt:lpstr>
      <vt:lpstr>حجم الساعات في  الاسبوع (تعليم متوسط) </vt:lpstr>
      <vt:lpstr>مجموع الساعات التعليم للطور المتوسط</vt:lpstr>
      <vt:lpstr>توقيت اللغة العربية في المتوسط </vt:lpstr>
      <vt:lpstr>توقيت الرياضيات  في المتوسط </vt:lpstr>
      <vt:lpstr>توقيت اللغة الأجنبية 1 في المتوسط  </vt:lpstr>
      <vt:lpstr>توقيت العلوم الطبيعية في المتوسط </vt:lpstr>
      <vt:lpstr>توقيت الفيزياء كيمياء و تك في المتوسط </vt:lpstr>
      <vt:lpstr>مقارنة تعليم العلوم الفيزيائية بين الجزائر وفرنسا </vt:lpstr>
      <vt:lpstr>عرض تقديمي في PowerPoint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Rafik</dc:creator>
  <cp:lastModifiedBy>SAIID</cp:lastModifiedBy>
  <cp:revision>170</cp:revision>
  <dcterms:created xsi:type="dcterms:W3CDTF">2013-04-28T11:37:51Z</dcterms:created>
  <dcterms:modified xsi:type="dcterms:W3CDTF">2020-08-03T04:15:19Z</dcterms:modified>
</cp:coreProperties>
</file>