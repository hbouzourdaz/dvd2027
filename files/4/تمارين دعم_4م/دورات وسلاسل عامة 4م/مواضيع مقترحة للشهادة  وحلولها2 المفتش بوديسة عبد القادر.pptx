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73"/>
  </p:notesMasterIdLst>
  <p:sldIdLst>
    <p:sldId id="661" r:id="rId2"/>
    <p:sldId id="404" r:id="rId3"/>
    <p:sldId id="635" r:id="rId4"/>
    <p:sldId id="642" r:id="rId5"/>
    <p:sldId id="646" r:id="rId6"/>
    <p:sldId id="641" r:id="rId7"/>
    <p:sldId id="643" r:id="rId8"/>
    <p:sldId id="647" r:id="rId9"/>
    <p:sldId id="406" r:id="rId10"/>
    <p:sldId id="648" r:id="rId11"/>
    <p:sldId id="650" r:id="rId12"/>
    <p:sldId id="653" r:id="rId13"/>
    <p:sldId id="649" r:id="rId14"/>
    <p:sldId id="651" r:id="rId15"/>
    <p:sldId id="654" r:id="rId16"/>
    <p:sldId id="409" r:id="rId17"/>
    <p:sldId id="655" r:id="rId18"/>
    <p:sldId id="657" r:id="rId19"/>
    <p:sldId id="659" r:id="rId20"/>
    <p:sldId id="656" r:id="rId21"/>
    <p:sldId id="658" r:id="rId22"/>
    <p:sldId id="660" r:id="rId23"/>
    <p:sldId id="662" r:id="rId24"/>
    <p:sldId id="663" r:id="rId25"/>
    <p:sldId id="665" r:id="rId26"/>
    <p:sldId id="667" r:id="rId27"/>
    <p:sldId id="664" r:id="rId28"/>
    <p:sldId id="666" r:id="rId29"/>
    <p:sldId id="668" r:id="rId30"/>
    <p:sldId id="669" r:id="rId31"/>
    <p:sldId id="670" r:id="rId32"/>
    <p:sldId id="678" r:id="rId33"/>
    <p:sldId id="672" r:id="rId34"/>
    <p:sldId id="671" r:id="rId35"/>
    <p:sldId id="679" r:id="rId36"/>
    <p:sldId id="673" r:id="rId37"/>
    <p:sldId id="680" r:id="rId38"/>
    <p:sldId id="684" r:id="rId39"/>
    <p:sldId id="686" r:id="rId40"/>
    <p:sldId id="689" r:id="rId41"/>
    <p:sldId id="685" r:id="rId42"/>
    <p:sldId id="687" r:id="rId43"/>
    <p:sldId id="690" r:id="rId44"/>
    <p:sldId id="691" r:id="rId45"/>
    <p:sldId id="692" r:id="rId46"/>
    <p:sldId id="688" r:id="rId47"/>
    <p:sldId id="693" r:id="rId48"/>
    <p:sldId id="694" r:id="rId49"/>
    <p:sldId id="677" r:id="rId50"/>
    <p:sldId id="695" r:id="rId51"/>
    <p:sldId id="696" r:id="rId52"/>
    <p:sldId id="699" r:id="rId53"/>
    <p:sldId id="697" r:id="rId54"/>
    <p:sldId id="701" r:id="rId55"/>
    <p:sldId id="700" r:id="rId56"/>
    <p:sldId id="698" r:id="rId57"/>
    <p:sldId id="702" r:id="rId58"/>
    <p:sldId id="703" r:id="rId59"/>
    <p:sldId id="704" r:id="rId60"/>
    <p:sldId id="706" r:id="rId61"/>
    <p:sldId id="708" r:id="rId62"/>
    <p:sldId id="710" r:id="rId63"/>
    <p:sldId id="707" r:id="rId64"/>
    <p:sldId id="709" r:id="rId65"/>
    <p:sldId id="711" r:id="rId66"/>
    <p:sldId id="714" r:id="rId67"/>
    <p:sldId id="712" r:id="rId68"/>
    <p:sldId id="716" r:id="rId69"/>
    <p:sldId id="715" r:id="rId70"/>
    <p:sldId id="713" r:id="rId71"/>
    <p:sldId id="717" r:id="rId7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99CC00"/>
    <a:srgbClr val="FF6699"/>
    <a:srgbClr val="CCFF33"/>
    <a:srgbClr val="996633"/>
    <a:srgbClr val="66FF33"/>
    <a:srgbClr val="FF9900"/>
    <a:srgbClr val="E03D10"/>
    <a:srgbClr val="1ADC1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03" autoAdjust="0"/>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554448-397C-4E48-9361-2A6078E18690}" type="datetimeFigureOut">
              <a:rPr lang="fr-FR" smtClean="0"/>
              <a:pPr/>
              <a:t>17/05/2021</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AFAD20-3204-4858-8680-538F4D9C0802}" type="slidenum">
              <a:rPr lang="fr-FR" smtClean="0"/>
              <a:pPr/>
              <a:t>‹#›</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81AFAD20-3204-4858-8680-538F4D9C0802}" type="slidenum">
              <a:rPr lang="fr-FR" smtClean="0"/>
              <a:pPr/>
              <a:t>7</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81AFAD20-3204-4858-8680-538F4D9C0802}" type="slidenum">
              <a:rPr lang="fr-FR" smtClean="0"/>
              <a:pPr/>
              <a:t>40</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a:t>Cliquez pour modifier le style du titre</a:t>
            </a:r>
            <a:endParaRPr kumimoji="0" lang="en-US"/>
          </a:p>
        </p:txBody>
      </p:sp>
      <p:sp>
        <p:nvSpPr>
          <p:cNvPr id="28" name="Espace réservé de la date 27"/>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a:lstStyle/>
          <a:p>
            <a:fld id="{04215332-8E84-4E01-A1D5-2037368CC283}" type="slidenum">
              <a:rPr lang="fr-FR" smtClean="0"/>
              <a:pPr/>
              <a:t>‹#›</a:t>
            </a:fld>
            <a:endParaRPr lang="fr-FR"/>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3">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924800" y="6416675"/>
            <a:ext cx="762000" cy="365125"/>
          </a:xfrm>
        </p:spPr>
        <p:txBody>
          <a:bodyPr/>
          <a:lstStyle/>
          <a:p>
            <a:fld id="{04215332-8E84-4E01-A1D5-2037368CC283}" type="slidenum">
              <a:rPr lang="fr-FR" smtClean="0"/>
              <a:pPr/>
              <a:t>‹#›</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2D35DAB-F668-425F-A7CF-39122BB49F12}" type="datetimeFigureOut">
              <a:rPr lang="fr-FR" smtClean="0"/>
              <a:pPr/>
              <a:t>17/05/2021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4215332-8E84-4E01-A1D5-2037368CC283}"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92D35DAB-F668-425F-A7CF-39122BB49F12}" type="datetimeFigureOut">
              <a:rPr lang="fr-FR" smtClean="0"/>
              <a:pPr/>
              <a:t>17/05/2021</a:t>
            </a:fld>
            <a:endParaRPr lang="fr-FR"/>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fr-FR"/>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04215332-8E84-4E01-A1D5-2037368CC283}" type="slidenum">
              <a:rPr lang="fr-FR" smtClean="0"/>
              <a:pPr/>
              <a:t>‹#›</a:t>
            </a:fld>
            <a:endParaRPr lang="fr-F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3.jpe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3.jpe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avec flèche vers le bas 2"/>
          <p:cNvSpPr/>
          <p:nvPr/>
        </p:nvSpPr>
        <p:spPr>
          <a:xfrm>
            <a:off x="179512" y="548680"/>
            <a:ext cx="8712968" cy="4824536"/>
          </a:xfrm>
          <a:prstGeom prst="downArrowCallout">
            <a:avLst/>
          </a:prstGeom>
          <a:solidFill>
            <a:srgbClr val="99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4000" b="1" dirty="0">
                <a:solidFill>
                  <a:schemeClr val="bg1"/>
                </a:solidFill>
              </a:rPr>
              <a:t>هدية الى جميع التلاميذ</a:t>
            </a:r>
          </a:p>
          <a:p>
            <a:pPr algn="ctr"/>
            <a:r>
              <a:rPr lang="ar-DZ" sz="4000" b="1" dirty="0">
                <a:solidFill>
                  <a:schemeClr val="bg1"/>
                </a:solidFill>
              </a:rPr>
              <a:t>مجموعة التحدي من اجل تحسين التعليم في الجزائر  </a:t>
            </a:r>
          </a:p>
          <a:p>
            <a:pPr algn="ctr"/>
            <a:r>
              <a:rPr lang="ar-DZ" sz="4000" b="1" dirty="0">
                <a:solidFill>
                  <a:schemeClr val="bg1"/>
                </a:solidFill>
              </a:rPr>
              <a:t>عشرة مواضيع مقترحة </a:t>
            </a:r>
            <a:r>
              <a:rPr lang="ar-DZ" sz="4000" b="1" dirty="0" err="1">
                <a:solidFill>
                  <a:schemeClr val="bg1"/>
                </a:solidFill>
              </a:rPr>
              <a:t>وحلولها </a:t>
            </a:r>
            <a:r>
              <a:rPr lang="ar-DZ" sz="4000" b="1" dirty="0">
                <a:solidFill>
                  <a:schemeClr val="bg1"/>
                </a:solidFill>
              </a:rPr>
              <a:t>–النموذج الثاني  </a:t>
            </a:r>
          </a:p>
          <a:p>
            <a:pPr algn="ctr"/>
            <a:r>
              <a:rPr lang="ar-DZ" sz="4000" b="1" dirty="0">
                <a:solidFill>
                  <a:schemeClr val="bg1"/>
                </a:solidFill>
              </a:rPr>
              <a:t>لشهادة التعليم المتوسط 2020 </a:t>
            </a:r>
          </a:p>
          <a:p>
            <a:pPr algn="ctr"/>
            <a:r>
              <a:rPr lang="ar-DZ" sz="4000" b="1" dirty="0">
                <a:solidFill>
                  <a:schemeClr val="bg1"/>
                </a:solidFill>
              </a:rPr>
              <a:t>علوم فيزيائية</a:t>
            </a:r>
            <a:endParaRPr lang="fr-FR" sz="4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الاول </a:t>
            </a:r>
            <a:endParaRPr lang="fr-FR" sz="60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Four-Seasons-Garden8-550x366-e1340081924138.jpg"/>
          <p:cNvPicPr>
            <a:picLocks noChangeAspect="1"/>
          </p:cNvPicPr>
          <p:nvPr/>
        </p:nvPicPr>
        <p:blipFill>
          <a:blip r:embed="rId2" cstate="print"/>
          <a:stretch>
            <a:fillRect/>
          </a:stretch>
        </p:blipFill>
        <p:spPr>
          <a:xfrm>
            <a:off x="0" y="1"/>
            <a:ext cx="9144000" cy="6858000"/>
          </a:xfrm>
          <a:prstGeom prst="rect">
            <a:avLst/>
          </a:prstGeom>
        </p:spPr>
      </p:pic>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2400" b="1" dirty="0">
                <a:solidFill>
                  <a:schemeClr val="bg1"/>
                </a:solidFill>
                <a:latin typeface="Calibri" pitchFamily="34" charset="0"/>
                <a:ea typeface="Calibri" pitchFamily="34" charset="0"/>
                <a:cs typeface="Arial" pitchFamily="34" charset="0"/>
              </a:rPr>
              <a:t>(H</a:t>
            </a:r>
            <a:r>
              <a:rPr lang="fr-FR" sz="2400" b="1" baseline="30000" dirty="0">
                <a:solidFill>
                  <a:schemeClr val="bg1"/>
                </a:solidFill>
                <a:latin typeface="Calibri" pitchFamily="34" charset="0"/>
                <a:ea typeface="Calibri" pitchFamily="34" charset="0"/>
                <a:cs typeface="Arial" pitchFamily="34" charset="0"/>
              </a:rPr>
              <a:t>+</a:t>
            </a:r>
            <a:r>
              <a:rPr lang="fr-FR" sz="2400" b="1" dirty="0">
                <a:solidFill>
                  <a:schemeClr val="bg1"/>
                </a:solidFill>
                <a:latin typeface="Calibri" pitchFamily="34" charset="0"/>
                <a:ea typeface="Calibri" pitchFamily="34" charset="0"/>
                <a:cs typeface="Arial" pitchFamily="34" charset="0"/>
              </a:rPr>
              <a:t>  +</a:t>
            </a:r>
            <a:r>
              <a:rPr lang="fr-FR" sz="2400" b="1" dirty="0">
                <a:solidFill>
                  <a:schemeClr val="dk1"/>
                </a:solidFill>
              </a:rPr>
              <a:t> Cl</a:t>
            </a:r>
            <a:r>
              <a:rPr lang="fr-FR" sz="2400" b="1" baseline="30000" dirty="0">
                <a:solidFill>
                  <a:schemeClr val="dk1"/>
                </a:solidFill>
              </a:rPr>
              <a:t>-</a:t>
            </a:r>
            <a:r>
              <a:rPr lang="fr-FR" sz="2400" b="1" dirty="0">
                <a:solidFill>
                  <a:schemeClr val="dk1"/>
                </a:solidFill>
              </a:rPr>
              <a:t> </a:t>
            </a:r>
            <a:r>
              <a:rPr lang="fr-FR" sz="2400" b="1" dirty="0">
                <a:solidFill>
                  <a:schemeClr val="bg1"/>
                </a:solidFill>
                <a:latin typeface="Calibri" pitchFamily="34" charset="0"/>
                <a:ea typeface="Calibri" pitchFamily="34" charset="0"/>
                <a:cs typeface="Arial" pitchFamily="34" charset="0"/>
              </a:rPr>
              <a:t>) </a:t>
            </a:r>
            <a:r>
              <a:rPr lang="ar-DZ" sz="2400" b="1" dirty="0">
                <a:solidFill>
                  <a:schemeClr val="bg1"/>
                </a:solidFill>
              </a:rPr>
              <a:t>نسكب كمية من محلول حمض </a:t>
            </a:r>
            <a:r>
              <a:rPr lang="ar-DZ" sz="2400" b="1" dirty="0" err="1">
                <a:solidFill>
                  <a:schemeClr val="bg1"/>
                </a:solidFill>
              </a:rPr>
              <a:t>كلور</a:t>
            </a:r>
            <a:r>
              <a:rPr lang="ar-DZ" sz="2400" b="1" dirty="0">
                <a:solidFill>
                  <a:schemeClr val="bg1"/>
                </a:solidFill>
              </a:rPr>
              <a:t> الماء </a:t>
            </a:r>
          </a:p>
          <a:p>
            <a:pPr algn="r"/>
            <a:r>
              <a:rPr lang="ar-DZ" sz="2400" b="1" dirty="0">
                <a:solidFill>
                  <a:schemeClr val="bg1"/>
                </a:solidFill>
              </a:rPr>
              <a:t>في وعاء التحليل الكهربائي </a:t>
            </a:r>
            <a:r>
              <a:rPr lang="ar-DZ" sz="2400" b="1" dirty="0" err="1">
                <a:solidFill>
                  <a:schemeClr val="bg1"/>
                </a:solidFill>
              </a:rPr>
              <a:t>مسرياه</a:t>
            </a:r>
            <a:r>
              <a:rPr lang="ar-DZ" sz="2400" b="1" dirty="0">
                <a:solidFill>
                  <a:schemeClr val="bg1"/>
                </a:solidFill>
              </a:rPr>
              <a:t> من </a:t>
            </a:r>
            <a:r>
              <a:rPr lang="ar-DZ" sz="2400" b="1" dirty="0" err="1">
                <a:solidFill>
                  <a:schemeClr val="bg1"/>
                </a:solidFill>
              </a:rPr>
              <a:t>الغرافيت</a:t>
            </a:r>
            <a:endParaRPr lang="ar-DZ" sz="2400" b="1" dirty="0">
              <a:solidFill>
                <a:schemeClr val="bg1"/>
              </a:solidFill>
            </a:endParaRPr>
          </a:p>
          <a:p>
            <a:pPr algn="r"/>
            <a:r>
              <a:rPr lang="ar-DZ" sz="2400" b="1" dirty="0">
                <a:solidFill>
                  <a:schemeClr val="bg1"/>
                </a:solidFill>
              </a:rPr>
              <a:t>فينطلق غازين كما في وثيقة 1</a:t>
            </a:r>
          </a:p>
          <a:p>
            <a:pPr algn="r"/>
            <a:r>
              <a:rPr lang="ar-DZ" sz="2400" b="1" dirty="0">
                <a:solidFill>
                  <a:schemeClr val="bg1"/>
                </a:solidFill>
              </a:rPr>
              <a:t>1-  سم الغازين المنطلقين ومن اي مسرى ثم اكتب صيغتهما الكيميائية  </a:t>
            </a:r>
          </a:p>
          <a:p>
            <a:pPr algn="r"/>
            <a:r>
              <a:rPr lang="ar-DZ" sz="2400" b="1" dirty="0">
                <a:solidFill>
                  <a:schemeClr val="bg1"/>
                </a:solidFill>
              </a:rPr>
              <a:t>2-اكتب معادلة التفاعل في كل مسرى ثم استنتج المعادلة الاجمالية </a:t>
            </a:r>
          </a:p>
          <a:p>
            <a:pPr algn="r"/>
            <a:r>
              <a:rPr lang="ar-DZ" sz="2400" b="1" dirty="0">
                <a:solidFill>
                  <a:schemeClr val="bg1"/>
                </a:solidFill>
              </a:rPr>
              <a:t>3-كيف يمكن الكشف عن شاردة </a:t>
            </a:r>
            <a:r>
              <a:rPr lang="ar-DZ" sz="2400" b="1" dirty="0" err="1">
                <a:solidFill>
                  <a:schemeClr val="bg1"/>
                </a:solidFill>
              </a:rPr>
              <a:t>الكلور</a:t>
            </a:r>
            <a:r>
              <a:rPr lang="ar-DZ" sz="2400" b="1" dirty="0">
                <a:solidFill>
                  <a:schemeClr val="bg1"/>
                </a:solidFill>
              </a:rPr>
              <a:t> في المحلول قبل التحليل الكهربائي </a:t>
            </a:r>
          </a:p>
          <a:p>
            <a:pPr algn="r"/>
            <a:r>
              <a:rPr lang="ar-DZ" sz="2400" b="1" dirty="0">
                <a:solidFill>
                  <a:schemeClr val="bg1"/>
                </a:solidFill>
              </a:rPr>
              <a:t>4-ماذا يحدث لو كان المسريين من  الحديد برر اجابتك بمعادلة </a:t>
            </a:r>
            <a:r>
              <a:rPr lang="ar-DZ" sz="2400" b="1" dirty="0" err="1">
                <a:solidFill>
                  <a:schemeClr val="bg1"/>
                </a:solidFill>
              </a:rPr>
              <a:t>كيميائية ؟</a:t>
            </a:r>
            <a:endParaRPr lang="ar-DZ" sz="2400" b="1" dirty="0">
              <a:solidFill>
                <a:schemeClr val="bg1"/>
              </a:solidFill>
            </a:endParaRPr>
          </a:p>
          <a:p>
            <a:pPr algn="r"/>
            <a:r>
              <a:rPr lang="ar-DZ" sz="2400" b="1" dirty="0">
                <a:solidFill>
                  <a:schemeClr val="bg1"/>
                </a:solidFill>
              </a:rPr>
              <a:t>  </a:t>
            </a:r>
            <a:endParaRPr lang="fr-FR" sz="2400" b="1" dirty="0">
              <a:solidFill>
                <a:schemeClr val="bg1"/>
              </a:solidFill>
            </a:endParaRPr>
          </a:p>
        </p:txBody>
      </p:sp>
      <p:pic>
        <p:nvPicPr>
          <p:cNvPr id="2051"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1124744"/>
            <a:ext cx="2771800" cy="237626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3909772352.jpg"/>
          <p:cNvPicPr>
            <a:picLocks noChangeAspect="1"/>
          </p:cNvPicPr>
          <p:nvPr/>
        </p:nvPicPr>
        <p:blipFill>
          <a:blip r:embed="rId2" cstate="print"/>
          <a:stretch>
            <a:fillRect/>
          </a:stretch>
        </p:blipFill>
        <p:spPr>
          <a:xfrm>
            <a:off x="0" y="0"/>
            <a:ext cx="9144000" cy="6858000"/>
          </a:xfrm>
          <a:prstGeom prst="rect">
            <a:avLst/>
          </a:prstGeom>
        </p:spPr>
      </p:pic>
      <p:graphicFrame>
        <p:nvGraphicFramePr>
          <p:cNvPr id="7" name="Tableau 6"/>
          <p:cNvGraphicFramePr>
            <a:graphicFrameLocks noGrp="1"/>
          </p:cNvGraphicFramePr>
          <p:nvPr/>
        </p:nvGraphicFramePr>
        <p:xfrm>
          <a:off x="0" y="1052737"/>
          <a:ext cx="9144000" cy="5732904"/>
        </p:xfrm>
        <a:graphic>
          <a:graphicData uri="http://schemas.openxmlformats.org/drawingml/2006/table">
            <a:tbl>
              <a:tblPr firstRow="1" bandRow="1">
                <a:tableStyleId>{5C22544A-7EE6-4342-B048-85BDC9FD1C3A}</a:tableStyleId>
              </a:tblPr>
              <a:tblGrid>
                <a:gridCol w="9144000">
                  <a:extLst>
                    <a:ext uri="{9D8B030D-6E8A-4147-A177-3AD203B41FA5}">
                      <a16:colId xmlns:a16="http://schemas.microsoft.com/office/drawing/2014/main" val="20000"/>
                    </a:ext>
                  </a:extLst>
                </a:gridCol>
              </a:tblGrid>
              <a:tr h="5732904">
                <a:tc>
                  <a:txBody>
                    <a:bodyPr/>
                    <a:lstStyle/>
                    <a:p>
                      <a:pPr lvl="0" algn="r" fontAlgn="base">
                        <a:spcBef>
                          <a:spcPct val="0"/>
                        </a:spcBef>
                        <a:spcAft>
                          <a:spcPct val="0"/>
                        </a:spcAft>
                      </a:pPr>
                      <a:r>
                        <a:rPr lang="ar-DZ" sz="2400" b="1" dirty="0">
                          <a:solidFill>
                            <a:schemeClr val="bg1"/>
                          </a:solidFill>
                          <a:latin typeface="Calibri" pitchFamily="34" charset="0"/>
                          <a:cs typeface="Arial" pitchFamily="34" charset="0"/>
                        </a:rPr>
                        <a:t>  </a:t>
                      </a:r>
                      <a:r>
                        <a:rPr lang="fr-FR" sz="2400" b="1" dirty="0">
                          <a:solidFill>
                            <a:schemeClr val="bg1"/>
                          </a:solidFill>
                          <a:latin typeface="Calibri" pitchFamily="34" charset="0"/>
                          <a:cs typeface="Arial" pitchFamily="34" charset="0"/>
                        </a:rPr>
                        <a:t>(f)</a:t>
                      </a:r>
                      <a:r>
                        <a:rPr lang="ar-DZ" sz="2400" b="1" dirty="0">
                          <a:solidFill>
                            <a:schemeClr val="bg1"/>
                          </a:solidFill>
                          <a:latin typeface="Calibri" pitchFamily="34" charset="0"/>
                          <a:cs typeface="Arial" pitchFamily="34" charset="0"/>
                        </a:rPr>
                        <a:t> ومعلقة بحبل  </a:t>
                      </a:r>
                      <a:r>
                        <a:rPr lang="fr-FR" sz="2400" b="1" dirty="0">
                          <a:solidFill>
                            <a:schemeClr val="bg1"/>
                          </a:solidFill>
                          <a:latin typeface="Calibri" pitchFamily="34" charset="0"/>
                          <a:cs typeface="Arial" pitchFamily="34" charset="0"/>
                        </a:rPr>
                        <a:t>m=300g</a:t>
                      </a:r>
                      <a:r>
                        <a:rPr lang="ar-DZ" sz="2400" b="1" dirty="0">
                          <a:solidFill>
                            <a:schemeClr val="bg1"/>
                          </a:solidFill>
                          <a:latin typeface="Calibri" pitchFamily="34" charset="0"/>
                          <a:cs typeface="Arial" pitchFamily="34" charset="0"/>
                        </a:rPr>
                        <a:t> من الحديد  </a:t>
                      </a:r>
                      <a:r>
                        <a:rPr lang="ar-DZ" sz="2400" b="1" baseline="0" dirty="0">
                          <a:solidFill>
                            <a:schemeClr val="bg1"/>
                          </a:solidFill>
                          <a:latin typeface="Calibri" pitchFamily="34" charset="0"/>
                          <a:cs typeface="Arial" pitchFamily="34" charset="0"/>
                        </a:rPr>
                        <a:t>ك</a:t>
                      </a:r>
                      <a:r>
                        <a:rPr lang="ar-DZ" sz="2400" b="1" dirty="0">
                          <a:solidFill>
                            <a:schemeClr val="bg1"/>
                          </a:solidFill>
                          <a:latin typeface="Calibri" pitchFamily="34" charset="0"/>
                          <a:cs typeface="Arial" pitchFamily="34" charset="0"/>
                        </a:rPr>
                        <a:t>تلتها</a:t>
                      </a:r>
                      <a:r>
                        <a:rPr lang="ar-DZ" sz="2400" b="1" baseline="0" dirty="0">
                          <a:solidFill>
                            <a:schemeClr val="bg1"/>
                          </a:solidFill>
                          <a:latin typeface="Calibri" pitchFamily="34" charset="0"/>
                          <a:cs typeface="Arial" pitchFamily="34" charset="0"/>
                        </a:rPr>
                        <a:t>  </a:t>
                      </a:r>
                      <a:r>
                        <a:rPr lang="fr-FR" sz="2400" b="1" baseline="0" dirty="0">
                          <a:solidFill>
                            <a:schemeClr val="bg1"/>
                          </a:solidFill>
                          <a:latin typeface="Calibri" pitchFamily="34" charset="0"/>
                          <a:cs typeface="Arial" pitchFamily="34" charset="0"/>
                        </a:rPr>
                        <a:t>(b)</a:t>
                      </a:r>
                      <a:r>
                        <a:rPr lang="ar-DZ" sz="2400" b="1" baseline="0" dirty="0">
                          <a:solidFill>
                            <a:schemeClr val="bg1"/>
                          </a:solidFill>
                          <a:latin typeface="Calibri" pitchFamily="34" charset="0"/>
                          <a:cs typeface="Arial" pitchFamily="34" charset="0"/>
                        </a:rPr>
                        <a:t> </a:t>
                      </a:r>
                      <a:r>
                        <a:rPr lang="ar-DZ" sz="2400" b="1" dirty="0" err="1">
                          <a:solidFill>
                            <a:schemeClr val="bg1"/>
                          </a:solidFill>
                          <a:latin typeface="Calibri" pitchFamily="34" charset="0"/>
                          <a:cs typeface="Arial" pitchFamily="34" charset="0"/>
                        </a:rPr>
                        <a:t>كرية</a:t>
                      </a:r>
                      <a:r>
                        <a:rPr lang="ar-DZ" sz="2400" b="1" dirty="0">
                          <a:solidFill>
                            <a:schemeClr val="bg1"/>
                          </a:solidFill>
                          <a:latin typeface="Calibri" pitchFamily="34" charset="0"/>
                          <a:cs typeface="Arial" pitchFamily="34" charset="0"/>
                        </a:rPr>
                        <a:t> </a:t>
                      </a:r>
                    </a:p>
                    <a:p>
                      <a:pPr lvl="0" algn="r" fontAlgn="base">
                        <a:spcBef>
                          <a:spcPct val="0"/>
                        </a:spcBef>
                        <a:spcAft>
                          <a:spcPct val="0"/>
                        </a:spcAft>
                      </a:pPr>
                      <a:r>
                        <a:rPr lang="fr-FR" sz="2400" b="1" dirty="0">
                          <a:solidFill>
                            <a:schemeClr val="bg1"/>
                          </a:solidFill>
                          <a:latin typeface="Calibri" pitchFamily="34" charset="0"/>
                          <a:cs typeface="Arial" pitchFamily="34" charset="0"/>
                        </a:rPr>
                        <a:t>    FA/B=4N</a:t>
                      </a:r>
                      <a:r>
                        <a:rPr lang="ar-DZ" sz="2400" b="1" dirty="0">
                          <a:solidFill>
                            <a:schemeClr val="bg1"/>
                          </a:solidFill>
                          <a:latin typeface="Calibri" pitchFamily="34" charset="0"/>
                          <a:cs typeface="Arial" pitchFamily="34" charset="0"/>
                        </a:rPr>
                        <a:t>  بقوة </a:t>
                      </a:r>
                      <a:r>
                        <a:rPr lang="fr-FR" sz="2400" b="1" dirty="0">
                          <a:solidFill>
                            <a:schemeClr val="bg1"/>
                          </a:solidFill>
                          <a:latin typeface="Calibri" pitchFamily="34" charset="0"/>
                          <a:cs typeface="Arial" pitchFamily="34" charset="0"/>
                        </a:rPr>
                        <a:t>(A)</a:t>
                      </a:r>
                      <a:r>
                        <a:rPr lang="ar-DZ" sz="2400" b="1" dirty="0">
                          <a:solidFill>
                            <a:schemeClr val="bg1"/>
                          </a:solidFill>
                          <a:latin typeface="Calibri" pitchFamily="34" charset="0"/>
                          <a:cs typeface="Arial" pitchFamily="34" charset="0"/>
                        </a:rPr>
                        <a:t> يؤثر  عليها مغناطيس  </a:t>
                      </a:r>
                    </a:p>
                    <a:p>
                      <a:pPr lvl="0" algn="r" fontAlgn="base">
                        <a:spcBef>
                          <a:spcPct val="0"/>
                        </a:spcBef>
                        <a:spcAft>
                          <a:spcPct val="0"/>
                        </a:spcAft>
                      </a:pPr>
                      <a:r>
                        <a:rPr lang="ar-DZ" sz="2400" b="1" dirty="0">
                          <a:solidFill>
                            <a:schemeClr val="bg1"/>
                          </a:solidFill>
                          <a:latin typeface="Calibri" pitchFamily="34" charset="0"/>
                          <a:cs typeface="Arial" pitchFamily="34" charset="0"/>
                        </a:rPr>
                        <a:t>1-احسب الثقل ثم مثل الثقل وقوة </a:t>
                      </a:r>
                      <a:r>
                        <a:rPr lang="ar-DZ" sz="2400" b="1" dirty="0" err="1">
                          <a:solidFill>
                            <a:schemeClr val="bg1"/>
                          </a:solidFill>
                          <a:latin typeface="Calibri" pitchFamily="34" charset="0"/>
                          <a:cs typeface="Arial" pitchFamily="34" charset="0"/>
                        </a:rPr>
                        <a:t>تاثير</a:t>
                      </a:r>
                      <a:r>
                        <a:rPr lang="ar-DZ" sz="2400" b="1" dirty="0">
                          <a:solidFill>
                            <a:schemeClr val="bg1"/>
                          </a:solidFill>
                          <a:latin typeface="Calibri" pitchFamily="34" charset="0"/>
                          <a:cs typeface="Arial" pitchFamily="34" charset="0"/>
                        </a:rPr>
                        <a:t> المغناطيس </a:t>
                      </a:r>
                    </a:p>
                    <a:p>
                      <a:pPr lvl="0" algn="r" fontAlgn="base">
                        <a:spcBef>
                          <a:spcPct val="0"/>
                        </a:spcBef>
                        <a:spcAft>
                          <a:spcPct val="0"/>
                        </a:spcAft>
                      </a:pPr>
                      <a:r>
                        <a:rPr lang="fr-FR" sz="2400" b="1" dirty="0">
                          <a:solidFill>
                            <a:schemeClr val="bg1"/>
                          </a:solidFill>
                          <a:latin typeface="Calibri" pitchFamily="34" charset="0"/>
                          <a:cs typeface="Arial" pitchFamily="34" charset="0"/>
                        </a:rPr>
                        <a:t>10 N           1cm</a:t>
                      </a:r>
                      <a:r>
                        <a:rPr lang="ar-DZ" sz="2400" b="1" dirty="0">
                          <a:solidFill>
                            <a:schemeClr val="bg1"/>
                          </a:solidFill>
                          <a:latin typeface="Calibri" pitchFamily="34" charset="0"/>
                          <a:cs typeface="Arial" pitchFamily="34" charset="0"/>
                        </a:rPr>
                        <a:t> بسلم</a:t>
                      </a:r>
                      <a:r>
                        <a:rPr lang="ar-DZ" sz="2400" b="1" baseline="0" dirty="0">
                          <a:solidFill>
                            <a:schemeClr val="bg1"/>
                          </a:solidFill>
                          <a:latin typeface="Calibri" pitchFamily="34" charset="0"/>
                          <a:cs typeface="Arial" pitchFamily="34" charset="0"/>
                        </a:rPr>
                        <a:t> رسم كل </a:t>
                      </a:r>
                    </a:p>
                    <a:p>
                      <a:pPr algn="r"/>
                      <a:r>
                        <a:rPr lang="ar-DZ" sz="2400" b="1" dirty="0">
                          <a:solidFill>
                            <a:schemeClr val="bg1"/>
                          </a:solidFill>
                        </a:rPr>
                        <a:t>2-اكتب شرط التوازن ثم استنتج خصائص </a:t>
                      </a:r>
                    </a:p>
                    <a:p>
                      <a:pPr algn="r"/>
                      <a:r>
                        <a:rPr lang="ar-DZ" sz="2400" b="1" dirty="0">
                          <a:solidFill>
                            <a:schemeClr val="bg1"/>
                          </a:solidFill>
                        </a:rPr>
                        <a:t>قوة </a:t>
                      </a:r>
                      <a:r>
                        <a:rPr lang="ar-DZ" sz="2400" b="1" dirty="0" err="1">
                          <a:solidFill>
                            <a:schemeClr val="bg1"/>
                          </a:solidFill>
                        </a:rPr>
                        <a:t>تاثير</a:t>
                      </a:r>
                      <a:r>
                        <a:rPr lang="ar-DZ" sz="2400" b="1" dirty="0">
                          <a:solidFill>
                            <a:schemeClr val="bg1"/>
                          </a:solidFill>
                        </a:rPr>
                        <a:t> الحبل على </a:t>
                      </a:r>
                      <a:r>
                        <a:rPr lang="ar-DZ" sz="2400" b="1" dirty="0" err="1">
                          <a:solidFill>
                            <a:schemeClr val="bg1"/>
                          </a:solidFill>
                        </a:rPr>
                        <a:t>الكرية</a:t>
                      </a:r>
                      <a:r>
                        <a:rPr lang="ar-DZ" sz="2400" b="1" dirty="0">
                          <a:solidFill>
                            <a:schemeClr val="bg1"/>
                          </a:solidFill>
                        </a:rPr>
                        <a:t>  بتطبيق  طريقة </a:t>
                      </a:r>
                    </a:p>
                    <a:p>
                      <a:pPr algn="r"/>
                      <a:r>
                        <a:rPr lang="ar-DZ" sz="2400" b="1" dirty="0">
                          <a:solidFill>
                            <a:schemeClr val="bg1"/>
                          </a:solidFill>
                        </a:rPr>
                        <a:t>المضلع المغلق مع اكمال الجدول  </a:t>
                      </a:r>
                    </a:p>
                    <a:p>
                      <a:pPr algn="r"/>
                      <a:endParaRPr lang="ar-DZ" sz="2400" dirty="0"/>
                    </a:p>
                    <a:p>
                      <a:pPr algn="r"/>
                      <a:endParaRPr lang="ar-DZ" sz="2400" dirty="0"/>
                    </a:p>
                    <a:p>
                      <a:pPr algn="r"/>
                      <a:endParaRPr lang="ar-DZ" sz="2400" dirty="0"/>
                    </a:p>
                    <a:p>
                      <a:pPr algn="r"/>
                      <a:endParaRPr lang="ar-DZ" sz="2400" dirty="0"/>
                    </a:p>
                    <a:p>
                      <a:pPr algn="r"/>
                      <a:endParaRPr lang="ar-DZ" sz="2400" dirty="0"/>
                    </a:p>
                    <a:p>
                      <a:pPr algn="r"/>
                      <a:r>
                        <a:rPr lang="ar-DZ" sz="2400" dirty="0">
                          <a:solidFill>
                            <a:schemeClr val="bg1"/>
                          </a:solidFill>
                        </a:rPr>
                        <a:t>3-بعد وضع  </a:t>
                      </a:r>
                      <a:r>
                        <a:rPr lang="ar-DZ" sz="2400" dirty="0" err="1">
                          <a:solidFill>
                            <a:schemeClr val="bg1"/>
                          </a:solidFill>
                        </a:rPr>
                        <a:t>الكرية</a:t>
                      </a:r>
                      <a:r>
                        <a:rPr lang="ar-DZ" sz="2400" dirty="0">
                          <a:solidFill>
                            <a:schemeClr val="bg1"/>
                          </a:solidFill>
                        </a:rPr>
                        <a:t> في اناء </a:t>
                      </a:r>
                      <a:r>
                        <a:rPr lang="ar-DZ" sz="2400" dirty="0" err="1">
                          <a:solidFill>
                            <a:schemeClr val="bg1"/>
                          </a:solidFill>
                        </a:rPr>
                        <a:t>به</a:t>
                      </a:r>
                      <a:r>
                        <a:rPr lang="ar-DZ" sz="2400" dirty="0">
                          <a:solidFill>
                            <a:schemeClr val="bg1"/>
                          </a:solidFill>
                        </a:rPr>
                        <a:t> ماء</a:t>
                      </a:r>
                    </a:p>
                    <a:p>
                      <a:pPr algn="r"/>
                      <a:r>
                        <a:rPr lang="ar-DZ" sz="2400" dirty="0">
                          <a:solidFill>
                            <a:schemeClr val="bg1"/>
                          </a:solidFill>
                        </a:rPr>
                        <a:t>غاصت داخل الماء </a:t>
                      </a:r>
                      <a:r>
                        <a:rPr lang="ar-DZ" sz="2400" dirty="0" err="1">
                          <a:solidFill>
                            <a:schemeClr val="bg1"/>
                          </a:solidFill>
                        </a:rPr>
                        <a:t>فماهو</a:t>
                      </a:r>
                      <a:r>
                        <a:rPr lang="ar-DZ" sz="2400" baseline="0" dirty="0">
                          <a:solidFill>
                            <a:schemeClr val="bg1"/>
                          </a:solidFill>
                        </a:rPr>
                        <a:t> سبب غوصها في الماء ثم احس دافعة </a:t>
                      </a:r>
                      <a:r>
                        <a:rPr lang="ar-DZ" sz="2400" baseline="0" dirty="0" err="1">
                          <a:solidFill>
                            <a:schemeClr val="bg1"/>
                          </a:solidFill>
                        </a:rPr>
                        <a:t>ارخميدس</a:t>
                      </a:r>
                      <a:r>
                        <a:rPr lang="ar-DZ" sz="2400" baseline="0" dirty="0">
                          <a:solidFill>
                            <a:schemeClr val="bg1"/>
                          </a:solidFill>
                        </a:rPr>
                        <a:t> </a:t>
                      </a:r>
                    </a:p>
                    <a:p>
                      <a:pPr algn="r"/>
                      <a:r>
                        <a:rPr lang="ar-DZ" sz="2400" dirty="0">
                          <a:solidFill>
                            <a:schemeClr val="bg1"/>
                          </a:solidFill>
                        </a:rPr>
                        <a:t>4-مثل</a:t>
                      </a:r>
                      <a:r>
                        <a:rPr lang="ar-DZ" sz="2400" baseline="0" dirty="0">
                          <a:solidFill>
                            <a:schemeClr val="bg1"/>
                          </a:solidFill>
                        </a:rPr>
                        <a:t> قوتي الثقل و دافعة </a:t>
                      </a:r>
                      <a:r>
                        <a:rPr lang="ar-DZ" sz="2400" baseline="0" dirty="0" err="1">
                          <a:solidFill>
                            <a:schemeClr val="bg1"/>
                          </a:solidFill>
                        </a:rPr>
                        <a:t>ارخميدس</a:t>
                      </a:r>
                      <a:r>
                        <a:rPr lang="ar-DZ" sz="2400" baseline="0" dirty="0">
                          <a:solidFill>
                            <a:schemeClr val="bg1"/>
                          </a:solidFill>
                        </a:rPr>
                        <a:t> بنفس السلم السابق </a:t>
                      </a:r>
                      <a:r>
                        <a:rPr lang="ar-DZ" sz="2400" dirty="0">
                          <a:solidFill>
                            <a:schemeClr val="bg1"/>
                          </a:solidFill>
                        </a:rPr>
                        <a:t>  </a:t>
                      </a:r>
                      <a:r>
                        <a:rPr lang="ar-DZ" sz="2400" dirty="0"/>
                        <a:t> </a:t>
                      </a:r>
                      <a:endParaRPr lang="fr-FR" sz="2400" dirty="0"/>
                    </a:p>
                  </a:txBody>
                  <a:tcPr>
                    <a:solidFill>
                      <a:schemeClr val="tx1"/>
                    </a:solidFill>
                  </a:tcPr>
                </a:tc>
                <a:extLst>
                  <a:ext uri="{0D108BD9-81ED-4DB2-BD59-A6C34878D82A}">
                    <a16:rowId xmlns:a16="http://schemas.microsoft.com/office/drawing/2014/main" val="10000"/>
                  </a:ext>
                </a:extLst>
              </a:tr>
            </a:tbl>
          </a:graphicData>
        </a:graphic>
      </p:graphicFrame>
      <p:pic>
        <p:nvPicPr>
          <p:cNvPr id="8" name="Image 7" descr="images.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rot="10800000">
            <a:off x="1763688" y="2420888"/>
            <a:ext cx="1224136" cy="504056"/>
          </a:xfrm>
          <a:prstGeom prst="rect">
            <a:avLst/>
          </a:prstGeom>
        </p:spPr>
      </p:pic>
      <p:sp>
        <p:nvSpPr>
          <p:cNvPr id="10" name="Ellipse 9"/>
          <p:cNvSpPr/>
          <p:nvPr/>
        </p:nvSpPr>
        <p:spPr>
          <a:xfrm>
            <a:off x="899592" y="2420888"/>
            <a:ext cx="504056" cy="504056"/>
          </a:xfrm>
          <a:prstGeom prst="ellipse">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6" name="Tableau 15"/>
          <p:cNvGraphicFramePr>
            <a:graphicFrameLocks noGrp="1"/>
          </p:cNvGraphicFramePr>
          <p:nvPr/>
        </p:nvGraphicFramePr>
        <p:xfrm>
          <a:off x="3851920" y="3789040"/>
          <a:ext cx="5076055" cy="1584960"/>
        </p:xfrm>
        <a:graphic>
          <a:graphicData uri="http://schemas.openxmlformats.org/drawingml/2006/table">
            <a:tbl>
              <a:tblPr firstRow="1" bandRow="1">
                <a:tableStyleId>{5C22544A-7EE6-4342-B048-85BDC9FD1C3A}</a:tableStyleId>
              </a:tblPr>
              <a:tblGrid>
                <a:gridCol w="1410530">
                  <a:extLst>
                    <a:ext uri="{9D8B030D-6E8A-4147-A177-3AD203B41FA5}">
                      <a16:colId xmlns:a16="http://schemas.microsoft.com/office/drawing/2014/main" val="20000"/>
                    </a:ext>
                  </a:extLst>
                </a:gridCol>
                <a:gridCol w="881581">
                  <a:extLst>
                    <a:ext uri="{9D8B030D-6E8A-4147-A177-3AD203B41FA5}">
                      <a16:colId xmlns:a16="http://schemas.microsoft.com/office/drawing/2014/main" val="20001"/>
                    </a:ext>
                  </a:extLst>
                </a:gridCol>
                <a:gridCol w="881581">
                  <a:extLst>
                    <a:ext uri="{9D8B030D-6E8A-4147-A177-3AD203B41FA5}">
                      <a16:colId xmlns:a16="http://schemas.microsoft.com/office/drawing/2014/main" val="20002"/>
                    </a:ext>
                  </a:extLst>
                </a:gridCol>
                <a:gridCol w="881581">
                  <a:extLst>
                    <a:ext uri="{9D8B030D-6E8A-4147-A177-3AD203B41FA5}">
                      <a16:colId xmlns:a16="http://schemas.microsoft.com/office/drawing/2014/main" val="20003"/>
                    </a:ext>
                  </a:extLst>
                </a:gridCol>
                <a:gridCol w="1020782">
                  <a:extLst>
                    <a:ext uri="{9D8B030D-6E8A-4147-A177-3AD203B41FA5}">
                      <a16:colId xmlns:a16="http://schemas.microsoft.com/office/drawing/2014/main" val="20004"/>
                    </a:ext>
                  </a:extLst>
                </a:gridCol>
              </a:tblGrid>
              <a:tr h="360040">
                <a:tc>
                  <a:txBody>
                    <a:bodyPr/>
                    <a:lstStyle/>
                    <a:p>
                      <a:pPr algn="ctr"/>
                      <a:r>
                        <a:rPr lang="ar-DZ" sz="2000" dirty="0">
                          <a:solidFill>
                            <a:schemeClr val="bg1"/>
                          </a:solidFill>
                        </a:rPr>
                        <a:t>طول الشعاع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الشدة</a:t>
                      </a:r>
                      <a:r>
                        <a:rPr lang="ar-DZ" sz="2000" baseline="0" dirty="0">
                          <a:solidFill>
                            <a:schemeClr val="bg1"/>
                          </a:solidFill>
                        </a:rPr>
                        <a:t>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الجهة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المنحى </a:t>
                      </a:r>
                      <a:endParaRPr lang="fr-FR" sz="2000" dirty="0">
                        <a:solidFill>
                          <a:schemeClr val="bg1"/>
                        </a:solidFill>
                      </a:endParaRPr>
                    </a:p>
                  </a:txBody>
                  <a:tcPr>
                    <a:solidFill>
                      <a:srgbClr val="00FFFF"/>
                    </a:solidFill>
                  </a:tcPr>
                </a:tc>
                <a:tc>
                  <a:txBody>
                    <a:bodyPr/>
                    <a:lstStyle/>
                    <a:p>
                      <a:r>
                        <a:rPr lang="ar-DZ" sz="2000" dirty="0">
                          <a:solidFill>
                            <a:schemeClr val="bg1"/>
                          </a:solidFill>
                        </a:rPr>
                        <a:t>القوى</a:t>
                      </a:r>
                      <a:endParaRPr lang="fr-FR" sz="2000" dirty="0"/>
                    </a:p>
                  </a:txBody>
                  <a:tcPr>
                    <a:solidFill>
                      <a:srgbClr val="00FFFF"/>
                    </a:solidFill>
                  </a:tcPr>
                </a:tc>
                <a:extLst>
                  <a:ext uri="{0D108BD9-81ED-4DB2-BD59-A6C34878D82A}">
                    <a16:rowId xmlns:a16="http://schemas.microsoft.com/office/drawing/2014/main" val="10000"/>
                  </a:ext>
                </a:extLst>
              </a:tr>
              <a:tr h="370840">
                <a:tc>
                  <a:txBody>
                    <a:bodyPr/>
                    <a:lstStyle/>
                    <a:p>
                      <a:pPr algn="ctr"/>
                      <a:r>
                        <a:rPr lang="ar-DZ" sz="2000" b="1" dirty="0" err="1"/>
                        <a:t>؟</a:t>
                      </a:r>
                      <a:endParaRPr lang="fr-FR" sz="2000" b="1" dirty="0"/>
                    </a:p>
                  </a:txBody>
                  <a:tcPr>
                    <a:solidFill>
                      <a:srgbClr val="FFFF00"/>
                    </a:solidFill>
                  </a:tcPr>
                </a:tc>
                <a:tc>
                  <a:txBody>
                    <a:bodyPr/>
                    <a:lstStyle/>
                    <a:p>
                      <a:pPr algn="ctr"/>
                      <a:endParaRPr lang="fr-FR" sz="2000" b="1" dirty="0">
                        <a:solidFill>
                          <a:schemeClr val="bg1"/>
                        </a:solidFill>
                      </a:endParaRPr>
                    </a:p>
                  </a:txBody>
                  <a:tcPr>
                    <a:solidFill>
                      <a:srgbClr val="FFFF00"/>
                    </a:solidFill>
                  </a:tcPr>
                </a:tc>
                <a:tc>
                  <a:txBody>
                    <a:bodyPr/>
                    <a:lstStyle/>
                    <a:p>
                      <a:pPr algn="ctr"/>
                      <a:r>
                        <a:rPr lang="ar-DZ" sz="2000" dirty="0" err="1"/>
                        <a:t>؟</a:t>
                      </a:r>
                      <a:endParaRPr lang="fr-FR" sz="2000" dirty="0"/>
                    </a:p>
                  </a:txBody>
                  <a:tcPr>
                    <a:solidFill>
                      <a:srgbClr val="FFFF00"/>
                    </a:solidFill>
                  </a:tcPr>
                </a:tc>
                <a:tc>
                  <a:txBody>
                    <a:bodyPr/>
                    <a:lstStyle/>
                    <a:p>
                      <a:pPr algn="ctr"/>
                      <a:r>
                        <a:rPr lang="ar-DZ" sz="2000" dirty="0" err="1"/>
                        <a:t>؟</a:t>
                      </a:r>
                      <a:endParaRPr lang="fr-FR" sz="2000" dirty="0"/>
                    </a:p>
                  </a:txBody>
                  <a:tcPr>
                    <a:solidFill>
                      <a:srgbClr val="FFFF00"/>
                    </a:solidFill>
                  </a:tcPr>
                </a:tc>
                <a:tc>
                  <a:txBody>
                    <a:bodyPr/>
                    <a:lstStyle/>
                    <a:p>
                      <a:pPr algn="ctr"/>
                      <a:r>
                        <a:rPr lang="fr-FR" sz="2000" b="1" dirty="0"/>
                        <a:t>P</a:t>
                      </a:r>
                    </a:p>
                  </a:txBody>
                  <a:tcPr>
                    <a:solidFill>
                      <a:srgbClr val="FFFF00"/>
                    </a:solidFill>
                  </a:tcPr>
                </a:tc>
                <a:extLst>
                  <a:ext uri="{0D108BD9-81ED-4DB2-BD59-A6C34878D82A}">
                    <a16:rowId xmlns:a16="http://schemas.microsoft.com/office/drawing/2014/main" val="10001"/>
                  </a:ext>
                </a:extLst>
              </a:tr>
              <a:tr h="370840">
                <a:tc>
                  <a:txBody>
                    <a:bodyPr/>
                    <a:lstStyle/>
                    <a:p>
                      <a:pPr algn="ctr"/>
                      <a:r>
                        <a:rPr lang="ar-DZ" sz="2000" b="1" dirty="0" err="1"/>
                        <a:t>؟</a:t>
                      </a:r>
                      <a:endParaRPr lang="fr-FR" sz="2000" b="1" dirty="0"/>
                    </a:p>
                  </a:txBody>
                  <a:tcPr>
                    <a:solidFill>
                      <a:srgbClr val="FFFF00"/>
                    </a:solidFill>
                  </a:tcPr>
                </a:tc>
                <a:tc>
                  <a:txBody>
                    <a:bodyPr/>
                    <a:lstStyle/>
                    <a:p>
                      <a:pPr algn="ctr"/>
                      <a:endParaRPr lang="fr-FR" sz="2000" b="1" dirty="0">
                        <a:solidFill>
                          <a:schemeClr val="bg1"/>
                        </a:solidFill>
                      </a:endParaRPr>
                    </a:p>
                  </a:txBody>
                  <a:tcPr>
                    <a:solidFill>
                      <a:srgbClr val="FFFF00"/>
                    </a:solidFill>
                  </a:tcPr>
                </a:tc>
                <a:tc>
                  <a:txBody>
                    <a:bodyPr/>
                    <a:lstStyle/>
                    <a:p>
                      <a:pPr algn="ctr"/>
                      <a:endParaRPr lang="fr-FR" sz="2000" dirty="0"/>
                    </a:p>
                  </a:txBody>
                  <a:tcPr>
                    <a:solidFill>
                      <a:srgbClr val="FFFF00"/>
                    </a:solidFill>
                  </a:tcPr>
                </a:tc>
                <a:tc>
                  <a:txBody>
                    <a:bodyPr/>
                    <a:lstStyle/>
                    <a:p>
                      <a:pPr algn="ctr"/>
                      <a:endParaRPr lang="fr-FR" sz="2000" dirty="0"/>
                    </a:p>
                  </a:txBody>
                  <a:tcPr>
                    <a:solidFill>
                      <a:srgbClr val="FFFF00"/>
                    </a:solidFill>
                  </a:tcPr>
                </a:tc>
                <a:tc>
                  <a:txBody>
                    <a:bodyPr/>
                    <a:lstStyle/>
                    <a:p>
                      <a:pPr algn="ctr"/>
                      <a:r>
                        <a:rPr lang="fr-FR" sz="2000" b="1" dirty="0"/>
                        <a:t>FA/b</a:t>
                      </a:r>
                    </a:p>
                  </a:txBody>
                  <a:tcPr>
                    <a:solidFill>
                      <a:srgbClr val="FFFF00"/>
                    </a:solidFill>
                  </a:tcPr>
                </a:tc>
                <a:extLst>
                  <a:ext uri="{0D108BD9-81ED-4DB2-BD59-A6C34878D82A}">
                    <a16:rowId xmlns:a16="http://schemas.microsoft.com/office/drawing/2014/main" val="10002"/>
                  </a:ext>
                </a:extLst>
              </a:tr>
              <a:tr h="370840">
                <a:tc>
                  <a:txBody>
                    <a:bodyPr/>
                    <a:lstStyle/>
                    <a:p>
                      <a:pPr algn="ctr"/>
                      <a:r>
                        <a:rPr lang="ar-DZ" sz="2000" b="1" dirty="0" err="1"/>
                        <a:t>؟</a:t>
                      </a:r>
                      <a:endParaRPr lang="fr-FR" sz="2000" b="1" dirty="0"/>
                    </a:p>
                  </a:txBody>
                  <a:tcPr>
                    <a:solidFill>
                      <a:srgbClr val="FFFF00"/>
                    </a:solidFill>
                  </a:tcPr>
                </a:tc>
                <a:tc>
                  <a:txBody>
                    <a:bodyPr/>
                    <a:lstStyle/>
                    <a:p>
                      <a:pPr algn="ctr"/>
                      <a:r>
                        <a:rPr lang="ar-DZ" sz="2000" b="1" dirty="0" err="1">
                          <a:solidFill>
                            <a:schemeClr val="bg1"/>
                          </a:solidFill>
                        </a:rPr>
                        <a:t>؟</a:t>
                      </a:r>
                      <a:endParaRPr lang="fr-FR" sz="2000" b="1" dirty="0">
                        <a:solidFill>
                          <a:schemeClr val="bg1"/>
                        </a:solidFill>
                      </a:endParaRPr>
                    </a:p>
                  </a:txBody>
                  <a:tcPr>
                    <a:solidFill>
                      <a:srgbClr val="FFFF00"/>
                    </a:solidFill>
                  </a:tcPr>
                </a:tc>
                <a:tc>
                  <a:txBody>
                    <a:bodyPr/>
                    <a:lstStyle/>
                    <a:p>
                      <a:pPr algn="ctr"/>
                      <a:r>
                        <a:rPr lang="ar-DZ" sz="2000" dirty="0" err="1"/>
                        <a:t>؟</a:t>
                      </a:r>
                      <a:endParaRPr lang="fr-FR" sz="2000" dirty="0"/>
                    </a:p>
                  </a:txBody>
                  <a:tcPr>
                    <a:solidFill>
                      <a:srgbClr val="FFFF00"/>
                    </a:solidFill>
                  </a:tcPr>
                </a:tc>
                <a:tc>
                  <a:txBody>
                    <a:bodyPr/>
                    <a:lstStyle/>
                    <a:p>
                      <a:pPr algn="ctr"/>
                      <a:r>
                        <a:rPr lang="ar-DZ" sz="2000" dirty="0" err="1"/>
                        <a:t>؟</a:t>
                      </a:r>
                      <a:endParaRPr lang="fr-FR" sz="2000" dirty="0"/>
                    </a:p>
                  </a:txBody>
                  <a:tcPr>
                    <a:solidFill>
                      <a:srgbClr val="FFFF00"/>
                    </a:solidFill>
                  </a:tcPr>
                </a:tc>
                <a:tc>
                  <a:txBody>
                    <a:bodyPr/>
                    <a:lstStyle/>
                    <a:p>
                      <a:pPr algn="ctr"/>
                      <a:r>
                        <a:rPr lang="fr-FR" sz="2000" b="1" dirty="0"/>
                        <a:t>Ff/b</a:t>
                      </a:r>
                    </a:p>
                  </a:txBody>
                  <a:tcPr>
                    <a:solidFill>
                      <a:srgbClr val="FFFF00"/>
                    </a:solidFill>
                  </a:tcPr>
                </a:tc>
                <a:extLst>
                  <a:ext uri="{0D108BD9-81ED-4DB2-BD59-A6C34878D82A}">
                    <a16:rowId xmlns:a16="http://schemas.microsoft.com/office/drawing/2014/main" val="10003"/>
                  </a:ext>
                </a:extLst>
              </a:tr>
            </a:tbl>
          </a:graphicData>
        </a:graphic>
      </p:graphicFrame>
      <p:sp>
        <p:nvSpPr>
          <p:cNvPr id="36" name="Rectangle à coins arrondis 35"/>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cxnSp>
        <p:nvCxnSpPr>
          <p:cNvPr id="38" name="Connecteur droit 37"/>
          <p:cNvCxnSpPr/>
          <p:nvPr/>
        </p:nvCxnSpPr>
        <p:spPr>
          <a:xfrm>
            <a:off x="0" y="1484784"/>
            <a:ext cx="936104"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a:xfrm>
            <a:off x="467544" y="1484784"/>
            <a:ext cx="576064" cy="1008112"/>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flipH="1">
            <a:off x="467544" y="1484784"/>
            <a:ext cx="8384" cy="151216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6372200" y="242088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à coins arrondis 52"/>
          <p:cNvSpPr/>
          <p:nvPr/>
        </p:nvSpPr>
        <p:spPr>
          <a:xfrm>
            <a:off x="1979712" y="1916832"/>
            <a:ext cx="576064"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a:t>
            </a:r>
            <a:endParaRPr lang="fr-FR" b="1" dirty="0">
              <a:solidFill>
                <a:schemeClr val="bg1"/>
              </a:solidFill>
            </a:endParaRPr>
          </a:p>
        </p:txBody>
      </p:sp>
      <p:sp>
        <p:nvSpPr>
          <p:cNvPr id="54" name="Rectangle à coins arrondis 53"/>
          <p:cNvSpPr/>
          <p:nvPr/>
        </p:nvSpPr>
        <p:spPr>
          <a:xfrm>
            <a:off x="827584" y="3068960"/>
            <a:ext cx="576064"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b</a:t>
            </a:r>
            <a:endParaRPr lang="fr-FR" b="1" dirty="0">
              <a:solidFill>
                <a:schemeClr val="bg1"/>
              </a:solidFill>
            </a:endParaRPr>
          </a:p>
        </p:txBody>
      </p:sp>
      <p:sp>
        <p:nvSpPr>
          <p:cNvPr id="55" name="Rectangle à coins arrondis 54"/>
          <p:cNvSpPr/>
          <p:nvPr/>
        </p:nvSpPr>
        <p:spPr>
          <a:xfrm>
            <a:off x="827584" y="1556792"/>
            <a:ext cx="576064"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endParaRPr lang="fr-FR" b="1" dirty="0">
              <a:solidFill>
                <a:schemeClr val="bg1"/>
              </a:solidFill>
            </a:endParaRPr>
          </a:p>
        </p:txBody>
      </p:sp>
      <p:sp>
        <p:nvSpPr>
          <p:cNvPr id="57" name="Rectangle 56"/>
          <p:cNvSpPr/>
          <p:nvPr/>
        </p:nvSpPr>
        <p:spPr>
          <a:xfrm>
            <a:off x="539552" y="4581128"/>
            <a:ext cx="1512168" cy="43204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p:cNvSpPr/>
          <p:nvPr/>
        </p:nvSpPr>
        <p:spPr>
          <a:xfrm>
            <a:off x="539552" y="5013176"/>
            <a:ext cx="1512168" cy="648072"/>
          </a:xfrm>
          <a:prstGeom prst="rect">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Ellipse 58"/>
          <p:cNvSpPr/>
          <p:nvPr/>
        </p:nvSpPr>
        <p:spPr>
          <a:xfrm>
            <a:off x="1115616" y="5157192"/>
            <a:ext cx="504056" cy="504056"/>
          </a:xfrm>
          <a:prstGeom prst="ellipse">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a:t>
            </a:r>
            <a:r>
              <a:rPr lang="ar-DZ" sz="2800" b="1" dirty="0" err="1">
                <a:solidFill>
                  <a:schemeClr val="bg1"/>
                </a:solidFill>
              </a:rPr>
              <a:t>الادماجية </a:t>
            </a:r>
            <a:r>
              <a:rPr lang="ar-DZ" sz="2800" b="1" dirty="0">
                <a:solidFill>
                  <a:schemeClr val="bg1"/>
                </a:solidFill>
              </a:rPr>
              <a:t>(8 نقاط</a:t>
            </a:r>
            <a:r>
              <a:rPr lang="ar-DZ" sz="2800" b="1" dirty="0" err="1">
                <a:solidFill>
                  <a:schemeClr val="bg1"/>
                </a:solidFill>
              </a:rPr>
              <a:t>)</a:t>
            </a:r>
            <a:r>
              <a:rPr lang="ar-DZ" sz="2800" b="1" dirty="0">
                <a:solidFill>
                  <a:schemeClr val="bg1"/>
                </a:solidFill>
              </a:rPr>
              <a:t>  </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كان محمد يشتكي كثيرا من عدة مشاكل تحدث له في الاجهزة الكهربائية المنزلية </a:t>
            </a:r>
          </a:p>
          <a:p>
            <a:pPr algn="r"/>
            <a:r>
              <a:rPr lang="ar-DZ" sz="2400" b="1" dirty="0">
                <a:solidFill>
                  <a:schemeClr val="bg1"/>
                </a:solidFill>
              </a:rPr>
              <a:t>منها ترسب مادة </a:t>
            </a:r>
            <a:r>
              <a:rPr lang="ar-DZ" sz="2400" b="1" dirty="0" err="1">
                <a:solidFill>
                  <a:schemeClr val="bg1"/>
                </a:solidFill>
              </a:rPr>
              <a:t>الكلس</a:t>
            </a:r>
            <a:r>
              <a:rPr lang="ar-DZ" sz="2400" b="1" dirty="0">
                <a:solidFill>
                  <a:schemeClr val="bg1"/>
                </a:solidFill>
              </a:rPr>
              <a:t> في مسخن الماء وانقطاع التيار الكهربائي عند استعمال الاجهزة الكهربائية في ان واحد وعند استبدال المصباح يصاب بصدمة كهربائية بعد لمس مثبته  ولم </a:t>
            </a:r>
            <a:r>
              <a:rPr lang="ar-DZ" sz="2400" b="1" dirty="0" err="1">
                <a:solidFill>
                  <a:schemeClr val="bg1"/>
                </a:solidFill>
              </a:rPr>
              <a:t>يشتغل</a:t>
            </a:r>
            <a:r>
              <a:rPr lang="ar-DZ" sz="2400" b="1" dirty="0">
                <a:solidFill>
                  <a:schemeClr val="bg1"/>
                </a:solidFill>
              </a:rPr>
              <a:t> جهاز المكيف الهوائي رغم استعماله لوحده ولا يوجد فيه      اي خلل فاندهش واحتار من هذه المشاكل كيف يحلها كلها </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كيف يمكنه حل مشكلة</a:t>
            </a:r>
          </a:p>
          <a:p>
            <a:pPr algn="r"/>
            <a:r>
              <a:rPr lang="ar-DZ" sz="2400" b="1" dirty="0">
                <a:solidFill>
                  <a:schemeClr val="bg1"/>
                </a:solidFill>
              </a:rPr>
              <a:t> ترسب مادة </a:t>
            </a:r>
            <a:r>
              <a:rPr lang="ar-DZ" sz="2400" b="1" dirty="0" err="1">
                <a:solidFill>
                  <a:schemeClr val="bg1"/>
                </a:solidFill>
              </a:rPr>
              <a:t>الكلس</a:t>
            </a:r>
            <a:r>
              <a:rPr lang="ar-DZ" sz="2400" b="1" dirty="0">
                <a:solidFill>
                  <a:schemeClr val="bg1"/>
                </a:solidFill>
              </a:rPr>
              <a:t> داخل </a:t>
            </a:r>
          </a:p>
          <a:p>
            <a:pPr algn="r"/>
            <a:r>
              <a:rPr lang="ar-DZ" sz="2400" b="1" dirty="0">
                <a:solidFill>
                  <a:schemeClr val="bg1"/>
                </a:solidFill>
              </a:rPr>
              <a:t> انبوب سخان الماء</a:t>
            </a:r>
          </a:p>
          <a:p>
            <a:pPr algn="r"/>
            <a:r>
              <a:rPr lang="ar-DZ" sz="2400" b="1" dirty="0">
                <a:solidFill>
                  <a:schemeClr val="bg1"/>
                </a:solidFill>
              </a:rPr>
              <a:t>2-</a:t>
            </a:r>
            <a:r>
              <a:rPr lang="ar-DZ" sz="2400" b="1" dirty="0" err="1">
                <a:solidFill>
                  <a:schemeClr val="bg1"/>
                </a:solidFill>
              </a:rPr>
              <a:t>ماهو</a:t>
            </a:r>
            <a:r>
              <a:rPr lang="ar-DZ" sz="2400" b="1" dirty="0">
                <a:solidFill>
                  <a:schemeClr val="bg1"/>
                </a:solidFill>
              </a:rPr>
              <a:t> سبب كل من </a:t>
            </a:r>
          </a:p>
          <a:p>
            <a:pPr algn="r"/>
            <a:r>
              <a:rPr lang="ar-DZ" sz="2400" b="1" dirty="0">
                <a:solidFill>
                  <a:schemeClr val="bg1"/>
                </a:solidFill>
              </a:rPr>
              <a:t>-انقطاع التيار الكهربائي </a:t>
            </a:r>
          </a:p>
          <a:p>
            <a:pPr algn="r"/>
            <a:r>
              <a:rPr lang="ar-DZ" sz="2400" b="1" dirty="0">
                <a:solidFill>
                  <a:schemeClr val="bg1"/>
                </a:solidFill>
              </a:rPr>
              <a:t>-اصابته بصدمة كهربائية </a:t>
            </a:r>
          </a:p>
          <a:p>
            <a:pPr algn="r"/>
            <a:r>
              <a:rPr lang="ar-DZ" sz="2400" b="1" dirty="0">
                <a:solidFill>
                  <a:schemeClr val="bg1"/>
                </a:solidFill>
              </a:rPr>
              <a:t>-عدم اشتغال جهاز مكيف الهواء </a:t>
            </a:r>
          </a:p>
          <a:p>
            <a:pPr algn="r"/>
            <a:r>
              <a:rPr lang="ar-DZ" sz="2400" b="1" dirty="0">
                <a:solidFill>
                  <a:schemeClr val="bg1"/>
                </a:solidFill>
              </a:rPr>
              <a:t>3-اقترح حلولا لهذه المشاكل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 </a:t>
            </a: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12" y="3573016"/>
            <a:ext cx="5256584" cy="288032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108520" y="836712"/>
            <a:ext cx="9252520" cy="602128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1-الغازان المنطلقان  هما </a:t>
            </a:r>
          </a:p>
          <a:p>
            <a:pPr algn="r"/>
            <a:r>
              <a:rPr lang="fr-FR" sz="2400" b="1" dirty="0">
                <a:solidFill>
                  <a:schemeClr val="dk1"/>
                </a:solidFill>
              </a:rPr>
              <a:t>C</a:t>
            </a:r>
            <a:r>
              <a:rPr lang="fr-FR" sz="2400" b="1" dirty="0">
                <a:solidFill>
                  <a:schemeClr val="bg1"/>
                </a:solidFill>
              </a:rPr>
              <a:t>l</a:t>
            </a:r>
            <a:r>
              <a:rPr lang="fr-FR" sz="2400" b="1" baseline="-25000" dirty="0">
                <a:solidFill>
                  <a:schemeClr val="bg1"/>
                </a:solidFill>
              </a:rPr>
              <a:t>2</a:t>
            </a:r>
            <a:r>
              <a:rPr lang="ar-DZ" sz="2400" b="1" dirty="0">
                <a:solidFill>
                  <a:schemeClr val="bg1"/>
                </a:solidFill>
              </a:rPr>
              <a:t>-غاز </a:t>
            </a:r>
            <a:r>
              <a:rPr lang="ar-DZ" sz="2400" b="1" dirty="0" err="1">
                <a:solidFill>
                  <a:schemeClr val="bg1"/>
                </a:solidFill>
              </a:rPr>
              <a:t>الكلور</a:t>
            </a:r>
            <a:r>
              <a:rPr lang="ar-DZ" sz="2400" b="1" dirty="0">
                <a:solidFill>
                  <a:schemeClr val="bg1"/>
                </a:solidFill>
              </a:rPr>
              <a:t> من المصعد صيغته الكيميائية </a:t>
            </a:r>
          </a:p>
          <a:p>
            <a:pPr algn="r"/>
            <a:r>
              <a:rPr lang="fr-FR" sz="2400" b="1" dirty="0">
                <a:solidFill>
                  <a:schemeClr val="dk1"/>
                </a:solidFill>
              </a:rPr>
              <a:t>H</a:t>
            </a:r>
            <a:r>
              <a:rPr lang="fr-FR" sz="2400" b="1" baseline="-25000" dirty="0">
                <a:solidFill>
                  <a:schemeClr val="bg1"/>
                </a:solidFill>
              </a:rPr>
              <a:t>2</a:t>
            </a:r>
            <a:r>
              <a:rPr lang="ar-DZ" sz="2400" b="1" dirty="0">
                <a:solidFill>
                  <a:schemeClr val="bg1"/>
                </a:solidFill>
              </a:rPr>
              <a:t> -غاز الهيدروجين من المهبط صيغته الكيميائية </a:t>
            </a:r>
          </a:p>
          <a:p>
            <a:pPr algn="r"/>
            <a:r>
              <a:rPr lang="ar-DZ" sz="2400" b="1" dirty="0">
                <a:solidFill>
                  <a:schemeClr val="bg1"/>
                </a:solidFill>
              </a:rPr>
              <a:t>2-المعادلة الكيميائية في كل مسرى</a:t>
            </a:r>
          </a:p>
          <a:p>
            <a:pPr algn="r"/>
            <a:r>
              <a:rPr lang="fr-FR" sz="2400" b="1" dirty="0">
                <a:solidFill>
                  <a:schemeClr val="bg1"/>
                </a:solidFill>
              </a:rPr>
              <a:t>2 Cl</a:t>
            </a:r>
            <a:r>
              <a:rPr lang="fr-FR" sz="2400" b="1" baseline="30000" dirty="0">
                <a:solidFill>
                  <a:schemeClr val="bg1"/>
                </a:solidFill>
              </a:rPr>
              <a:t>-</a:t>
            </a:r>
            <a:r>
              <a:rPr lang="fr-FR" sz="2400" b="1" dirty="0">
                <a:solidFill>
                  <a:schemeClr val="bg1"/>
                </a:solidFill>
              </a:rPr>
              <a:t> </a:t>
            </a:r>
            <a:r>
              <a:rPr lang="ar-DZ" sz="2400" b="1" dirty="0">
                <a:solidFill>
                  <a:schemeClr val="bg1"/>
                </a:solidFill>
              </a:rPr>
              <a:t>          </a:t>
            </a:r>
            <a:r>
              <a:rPr lang="fr-FR" sz="2400" b="1" dirty="0">
                <a:solidFill>
                  <a:schemeClr val="bg1"/>
                </a:solidFill>
              </a:rPr>
              <a:t> Cl</a:t>
            </a:r>
            <a:r>
              <a:rPr lang="fr-FR" sz="2400" b="1" baseline="-25000" dirty="0">
                <a:solidFill>
                  <a:schemeClr val="bg1"/>
                </a:solidFill>
              </a:rPr>
              <a:t>2</a:t>
            </a:r>
            <a:r>
              <a:rPr lang="ar-DZ" sz="2400" b="1" baseline="-25000" dirty="0">
                <a:solidFill>
                  <a:schemeClr val="bg1"/>
                </a:solidFill>
              </a:rPr>
              <a:t> </a:t>
            </a:r>
            <a:r>
              <a:rPr lang="fr-FR" sz="2400" b="1" dirty="0">
                <a:solidFill>
                  <a:schemeClr val="bg1"/>
                </a:solidFill>
              </a:rPr>
              <a:t>+2e         </a:t>
            </a:r>
            <a:r>
              <a:rPr lang="ar-DZ" sz="2400" b="1" dirty="0">
                <a:solidFill>
                  <a:schemeClr val="bg1"/>
                </a:solidFill>
              </a:rPr>
              <a:t> في المصعد</a:t>
            </a:r>
            <a:r>
              <a:rPr lang="fr-FR" sz="2400" b="1" dirty="0">
                <a:solidFill>
                  <a:schemeClr val="bg1"/>
                </a:solidFill>
              </a:rPr>
              <a:t>  </a:t>
            </a:r>
            <a:r>
              <a:rPr lang="ar-DZ" sz="2400" b="1" dirty="0">
                <a:solidFill>
                  <a:schemeClr val="bg1"/>
                </a:solidFill>
              </a:rPr>
              <a:t> </a:t>
            </a:r>
          </a:p>
          <a:p>
            <a:pPr algn="r"/>
            <a:r>
              <a:rPr lang="fr-FR" sz="2400" b="1" dirty="0">
                <a:solidFill>
                  <a:schemeClr val="bg1"/>
                </a:solidFill>
              </a:rPr>
              <a:t>2H</a:t>
            </a:r>
            <a:r>
              <a:rPr lang="fr-FR" sz="2400" b="1" baseline="30000" dirty="0">
                <a:solidFill>
                  <a:schemeClr val="bg1"/>
                </a:solidFill>
              </a:rPr>
              <a:t>+ </a:t>
            </a:r>
            <a:r>
              <a:rPr lang="fr-FR" sz="2400" b="1" dirty="0">
                <a:solidFill>
                  <a:schemeClr val="bg1"/>
                </a:solidFill>
              </a:rPr>
              <a:t>+2e               H</a:t>
            </a:r>
            <a:r>
              <a:rPr lang="fr-FR" sz="2400" b="1" baseline="-25000" dirty="0">
                <a:solidFill>
                  <a:schemeClr val="bg1"/>
                </a:solidFill>
              </a:rPr>
              <a:t>2</a:t>
            </a:r>
            <a:r>
              <a:rPr lang="ar-DZ" sz="2400" b="1" baseline="-25000" dirty="0">
                <a:solidFill>
                  <a:schemeClr val="bg1"/>
                </a:solidFill>
              </a:rPr>
              <a:t>                   </a:t>
            </a:r>
            <a:r>
              <a:rPr lang="fr-FR" sz="2400" b="1" dirty="0">
                <a:solidFill>
                  <a:schemeClr val="bg1"/>
                </a:solidFill>
              </a:rPr>
              <a:t> </a:t>
            </a:r>
            <a:r>
              <a:rPr lang="ar-DZ" sz="2400" b="1" dirty="0">
                <a:solidFill>
                  <a:schemeClr val="bg1"/>
                </a:solidFill>
              </a:rPr>
              <a:t>في المهبط</a:t>
            </a:r>
            <a:endParaRPr lang="fr-FR" sz="2400" b="1" dirty="0">
              <a:solidFill>
                <a:schemeClr val="bg1"/>
              </a:solidFill>
            </a:endParaRPr>
          </a:p>
          <a:p>
            <a:pPr algn="r"/>
            <a:r>
              <a:rPr lang="fr-FR" sz="2400" b="1" dirty="0">
                <a:solidFill>
                  <a:schemeClr val="bg1"/>
                </a:solidFill>
              </a:rPr>
              <a:t>2 Cl</a:t>
            </a:r>
            <a:r>
              <a:rPr lang="fr-FR" sz="2400" b="1" baseline="30000" dirty="0">
                <a:solidFill>
                  <a:schemeClr val="bg1"/>
                </a:solidFill>
              </a:rPr>
              <a:t>-</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ar-DZ" sz="2400" b="1" dirty="0" err="1">
                <a:solidFill>
                  <a:schemeClr val="bg1"/>
                </a:solidFill>
              </a:rPr>
              <a:t>+</a:t>
            </a:r>
            <a:r>
              <a:rPr lang="ar-DZ" sz="2400" b="1" dirty="0">
                <a:solidFill>
                  <a:schemeClr val="bg1"/>
                </a:solidFill>
              </a:rPr>
              <a:t> </a:t>
            </a:r>
            <a:r>
              <a:rPr lang="fr-FR" sz="2400" b="1" dirty="0">
                <a:solidFill>
                  <a:schemeClr val="bg1"/>
                </a:solidFill>
              </a:rPr>
              <a:t>2H</a:t>
            </a:r>
            <a:r>
              <a:rPr lang="fr-FR" sz="2400" b="1" baseline="30000" dirty="0">
                <a:solidFill>
                  <a:schemeClr val="bg1"/>
                </a:solidFill>
              </a:rPr>
              <a:t>+ </a:t>
            </a:r>
            <a:r>
              <a:rPr lang="fr-FR" sz="2400" b="1" dirty="0">
                <a:solidFill>
                  <a:schemeClr val="bg1"/>
                </a:solidFill>
              </a:rPr>
              <a:t>(</a:t>
            </a:r>
            <a:r>
              <a:rPr lang="fr-FR" sz="2400" b="1" dirty="0" err="1">
                <a:solidFill>
                  <a:schemeClr val="bg1"/>
                </a:solidFill>
              </a:rPr>
              <a:t>aq</a:t>
            </a:r>
            <a:r>
              <a:rPr lang="fr-FR" sz="2400" b="1" dirty="0">
                <a:solidFill>
                  <a:schemeClr val="bg1"/>
                </a:solidFill>
              </a:rPr>
              <a:t>)</a:t>
            </a:r>
            <a:r>
              <a:rPr lang="fr-FR" sz="2400" b="1" baseline="30000" dirty="0">
                <a:solidFill>
                  <a:schemeClr val="bg1"/>
                </a:solidFill>
              </a:rPr>
              <a:t>                </a:t>
            </a:r>
            <a:r>
              <a:rPr lang="fr-FR" sz="2400" b="1" dirty="0">
                <a:solidFill>
                  <a:schemeClr val="bg1"/>
                </a:solidFill>
              </a:rPr>
              <a:t>Cl</a:t>
            </a:r>
            <a:r>
              <a:rPr lang="fr-FR" sz="2400" b="1" baseline="-25000" dirty="0">
                <a:solidFill>
                  <a:schemeClr val="bg1"/>
                </a:solidFill>
              </a:rPr>
              <a:t>2</a:t>
            </a:r>
            <a:r>
              <a:rPr lang="fr-FR" sz="2400" b="1" dirty="0">
                <a:solidFill>
                  <a:schemeClr val="bg1"/>
                </a:solidFill>
              </a:rPr>
              <a:t> (g)   </a:t>
            </a:r>
            <a:r>
              <a:rPr lang="ar-DZ" sz="2400" b="1" dirty="0" err="1">
                <a:solidFill>
                  <a:schemeClr val="bg1"/>
                </a:solidFill>
              </a:rPr>
              <a:t>+</a:t>
            </a:r>
            <a:r>
              <a:rPr lang="fr-FR" sz="2400" b="1" dirty="0">
                <a:solidFill>
                  <a:schemeClr val="bg1"/>
                </a:solidFill>
              </a:rPr>
              <a:t>   H</a:t>
            </a:r>
            <a:r>
              <a:rPr lang="fr-FR" sz="2400" b="1" baseline="-25000" dirty="0">
                <a:solidFill>
                  <a:schemeClr val="bg1"/>
                </a:solidFill>
              </a:rPr>
              <a:t>2</a:t>
            </a:r>
            <a:r>
              <a:rPr lang="ar-DZ" sz="2400" b="1" baseline="-25000" dirty="0">
                <a:solidFill>
                  <a:schemeClr val="bg1"/>
                </a:solidFill>
              </a:rPr>
              <a:t> </a:t>
            </a:r>
            <a:r>
              <a:rPr lang="fr-FR" sz="2400" b="1" dirty="0">
                <a:solidFill>
                  <a:schemeClr val="bg1"/>
                </a:solidFill>
              </a:rPr>
              <a:t>(g)</a:t>
            </a:r>
            <a:r>
              <a:rPr lang="ar-DZ" sz="2400" b="1" dirty="0">
                <a:solidFill>
                  <a:schemeClr val="bg1"/>
                </a:solidFill>
              </a:rPr>
              <a:t> المعادلة الاجمالية     </a:t>
            </a:r>
            <a:r>
              <a:rPr lang="fr-FR" sz="2400" b="1" dirty="0">
                <a:solidFill>
                  <a:schemeClr val="bg1"/>
                </a:solidFill>
              </a:rPr>
              <a:t> </a:t>
            </a:r>
            <a:endParaRPr lang="ar-DZ" sz="2400" b="1" dirty="0">
              <a:solidFill>
                <a:schemeClr val="bg1"/>
              </a:solidFill>
            </a:endParaRPr>
          </a:p>
          <a:p>
            <a:pPr algn="r"/>
            <a:r>
              <a:rPr lang="ar-DZ" sz="2400" b="1" dirty="0">
                <a:solidFill>
                  <a:schemeClr val="bg1"/>
                </a:solidFill>
              </a:rPr>
              <a:t>3-يمكن الكشف عن شاردة </a:t>
            </a:r>
            <a:r>
              <a:rPr lang="ar-DZ" sz="2400" b="1" dirty="0" err="1">
                <a:solidFill>
                  <a:schemeClr val="bg1"/>
                </a:solidFill>
              </a:rPr>
              <a:t>الكلور</a:t>
            </a:r>
            <a:r>
              <a:rPr lang="ar-DZ" sz="2400" b="1" dirty="0">
                <a:solidFill>
                  <a:schemeClr val="bg1"/>
                </a:solidFill>
              </a:rPr>
              <a:t> في المحلول قبل التحليل الكهربائي </a:t>
            </a:r>
          </a:p>
          <a:p>
            <a:pPr algn="r"/>
            <a:r>
              <a:rPr lang="ar-DZ" sz="2400" b="1" dirty="0" err="1">
                <a:solidFill>
                  <a:schemeClr val="bg1"/>
                </a:solidFill>
              </a:rPr>
              <a:t>ناخذ</a:t>
            </a:r>
            <a:r>
              <a:rPr lang="ar-DZ" sz="2400" b="1" dirty="0">
                <a:solidFill>
                  <a:schemeClr val="bg1"/>
                </a:solidFill>
              </a:rPr>
              <a:t> كمية من المحلول ونضيف لها قطرات من </a:t>
            </a:r>
            <a:r>
              <a:rPr lang="ar-DZ" sz="2400" b="1" dirty="0" err="1">
                <a:solidFill>
                  <a:schemeClr val="bg1"/>
                </a:solidFill>
              </a:rPr>
              <a:t>نترات</a:t>
            </a:r>
            <a:r>
              <a:rPr lang="ar-DZ" sz="2400" b="1" dirty="0">
                <a:solidFill>
                  <a:schemeClr val="bg1"/>
                </a:solidFill>
              </a:rPr>
              <a:t> الفضة فنحصل على راسب ابيض يسود بوجود الضوء</a:t>
            </a:r>
          </a:p>
          <a:p>
            <a:pPr algn="r"/>
            <a:r>
              <a:rPr lang="ar-DZ" sz="2400" b="1" dirty="0">
                <a:solidFill>
                  <a:schemeClr val="bg1"/>
                </a:solidFill>
              </a:rPr>
              <a:t>4-  لو كان المسريين من الحديد وعند سكب محلول حمض </a:t>
            </a:r>
            <a:r>
              <a:rPr lang="ar-DZ" sz="2400" b="1" dirty="0" err="1">
                <a:solidFill>
                  <a:schemeClr val="bg1"/>
                </a:solidFill>
              </a:rPr>
              <a:t>كلور</a:t>
            </a:r>
            <a:r>
              <a:rPr lang="ar-DZ" sz="2400" b="1" dirty="0">
                <a:solidFill>
                  <a:schemeClr val="bg1"/>
                </a:solidFill>
              </a:rPr>
              <a:t> الماء فانه يحدث تفاعل بينهما و </a:t>
            </a:r>
            <a:r>
              <a:rPr lang="ar-DZ" sz="2400" b="1" dirty="0" err="1">
                <a:solidFill>
                  <a:schemeClr val="bg1"/>
                </a:solidFill>
              </a:rPr>
              <a:t>بنطلق</a:t>
            </a:r>
            <a:r>
              <a:rPr lang="ar-DZ" sz="2400" b="1" dirty="0">
                <a:solidFill>
                  <a:schemeClr val="bg1"/>
                </a:solidFill>
              </a:rPr>
              <a:t> غاز الهيدروجين وتشكل محلول </a:t>
            </a:r>
            <a:r>
              <a:rPr lang="ar-DZ" sz="2400" b="1" dirty="0" err="1">
                <a:solidFill>
                  <a:schemeClr val="bg1"/>
                </a:solidFill>
              </a:rPr>
              <a:t>كلور</a:t>
            </a:r>
            <a:r>
              <a:rPr lang="ar-DZ" sz="2400" b="1" dirty="0">
                <a:solidFill>
                  <a:schemeClr val="bg1"/>
                </a:solidFill>
              </a:rPr>
              <a:t> الحديد الثاني </a:t>
            </a:r>
          </a:p>
          <a:p>
            <a:pPr algn="r"/>
            <a:r>
              <a:rPr lang="ar-DZ" sz="2400" b="1" dirty="0">
                <a:solidFill>
                  <a:schemeClr val="bg1"/>
                </a:solidFill>
              </a:rPr>
              <a:t>المعادلة هي</a:t>
            </a:r>
          </a:p>
          <a:p>
            <a:pPr algn="r"/>
            <a:r>
              <a:rPr lang="fr-FR" sz="2400" b="1" dirty="0">
                <a:solidFill>
                  <a:schemeClr val="bg1"/>
                </a:solidFill>
              </a:rPr>
              <a:t>Fe(S)+2</a:t>
            </a:r>
            <a:r>
              <a:rPr lang="fr-FR" sz="2400" dirty="0">
                <a:solidFill>
                  <a:schemeClr val="bg1"/>
                </a:solidFill>
              </a:rPr>
              <a:t> </a:t>
            </a:r>
            <a:r>
              <a:rPr lang="fr-FR" sz="2400" b="1" dirty="0">
                <a:solidFill>
                  <a:schemeClr val="bg1"/>
                </a:solidFill>
              </a:rPr>
              <a:t>(H</a:t>
            </a:r>
            <a:r>
              <a:rPr lang="fr-FR" sz="2400" b="1" baseline="30000" dirty="0">
                <a:solidFill>
                  <a:schemeClr val="bg1"/>
                </a:solidFill>
              </a:rPr>
              <a:t>+</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a:t>
            </a:r>
            <a:r>
              <a:rPr lang="fr-FR" sz="2400" dirty="0">
                <a:solidFill>
                  <a:schemeClr val="bg1"/>
                </a:solidFill>
              </a:rPr>
              <a:t>           </a:t>
            </a:r>
            <a:r>
              <a:rPr lang="fr-FR" sz="2400" b="1" dirty="0">
                <a:solidFill>
                  <a:schemeClr val="bg1"/>
                </a:solidFill>
              </a:rPr>
              <a:t>(Fe</a:t>
            </a:r>
            <a:r>
              <a:rPr lang="fr-FR" sz="2400" b="1" baseline="30000" dirty="0">
                <a:solidFill>
                  <a:schemeClr val="bg1"/>
                </a:solidFill>
              </a:rPr>
              <a:t>2+</a:t>
            </a:r>
            <a:r>
              <a:rPr lang="fr-FR" sz="2400" b="1" dirty="0">
                <a:solidFill>
                  <a:schemeClr val="bg1"/>
                </a:solidFill>
              </a:rPr>
              <a:t>+2Cl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(g)</a:t>
            </a:r>
            <a:r>
              <a:rPr lang="ar-DZ" sz="2400" b="1" dirty="0">
                <a:solidFill>
                  <a:schemeClr val="bg1"/>
                </a:solidFill>
              </a:rPr>
              <a:t> </a:t>
            </a:r>
          </a:p>
          <a:p>
            <a:pPr algn="r"/>
            <a:endParaRPr lang="fr-FR" sz="2400" b="1" dirty="0">
              <a:solidFill>
                <a:schemeClr val="bg1"/>
              </a:solidFill>
            </a:endParaRPr>
          </a:p>
        </p:txBody>
      </p:sp>
      <p:sp>
        <p:nvSpPr>
          <p:cNvPr id="6" name="Rectangle à coins arrondis 5"/>
          <p:cNvSpPr/>
          <p:nvPr/>
        </p:nvSpPr>
        <p:spPr>
          <a:xfrm>
            <a:off x="0" y="0"/>
            <a:ext cx="9144000" cy="83671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cxnSp>
        <p:nvCxnSpPr>
          <p:cNvPr id="7" name="Connecteur droit avec flèche 6"/>
          <p:cNvCxnSpPr/>
          <p:nvPr/>
        </p:nvCxnSpPr>
        <p:spPr>
          <a:xfrm>
            <a:off x="4860032" y="2780928"/>
            <a:ext cx="720080"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292080" y="3140968"/>
            <a:ext cx="720080"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3563888" y="3501008"/>
            <a:ext cx="720080"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4860032" y="6021288"/>
            <a:ext cx="720080"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p:cNvGraphicFramePr>
            <a:graphicFrameLocks noGrp="1"/>
          </p:cNvGraphicFramePr>
          <p:nvPr/>
        </p:nvGraphicFramePr>
        <p:xfrm>
          <a:off x="0" y="908720"/>
          <a:ext cx="9144000" cy="5949280"/>
        </p:xfrm>
        <a:graphic>
          <a:graphicData uri="http://schemas.openxmlformats.org/drawingml/2006/table">
            <a:tbl>
              <a:tblPr firstRow="1" bandRow="1">
                <a:tableStyleId>{5C22544A-7EE6-4342-B048-85BDC9FD1C3A}</a:tableStyleId>
              </a:tblPr>
              <a:tblGrid>
                <a:gridCol w="9144000">
                  <a:extLst>
                    <a:ext uri="{9D8B030D-6E8A-4147-A177-3AD203B41FA5}">
                      <a16:colId xmlns:a16="http://schemas.microsoft.com/office/drawing/2014/main" val="20000"/>
                    </a:ext>
                  </a:extLst>
                </a:gridCol>
              </a:tblGrid>
              <a:tr h="5949280">
                <a:tc>
                  <a:txBody>
                    <a:bodyPr/>
                    <a:lstStyle/>
                    <a:p>
                      <a:pPr algn="r"/>
                      <a:r>
                        <a:rPr lang="fr-FR" sz="2400" b="1" dirty="0">
                          <a:solidFill>
                            <a:schemeClr val="bg1"/>
                          </a:solidFill>
                        </a:rPr>
                        <a:t>P=</a:t>
                      </a:r>
                      <a:r>
                        <a:rPr lang="fr-FR" sz="2400" b="1" dirty="0" err="1">
                          <a:solidFill>
                            <a:schemeClr val="bg1"/>
                          </a:solidFill>
                        </a:rPr>
                        <a:t>mxg</a:t>
                      </a:r>
                      <a:r>
                        <a:rPr lang="fr-FR" sz="2400" b="1" dirty="0">
                          <a:solidFill>
                            <a:schemeClr val="bg1"/>
                          </a:solidFill>
                        </a:rPr>
                        <a:t>=</a:t>
                      </a:r>
                      <a:r>
                        <a:rPr lang="ar-DZ" sz="2400" b="1" dirty="0">
                          <a:solidFill>
                            <a:schemeClr val="bg1"/>
                          </a:solidFill>
                        </a:rPr>
                        <a:t>   </a:t>
                      </a:r>
                      <a:r>
                        <a:rPr lang="fr-FR" sz="2400" b="1" dirty="0">
                          <a:solidFill>
                            <a:schemeClr val="bg1"/>
                          </a:solidFill>
                        </a:rPr>
                        <a:t>0.3x10=3N</a:t>
                      </a:r>
                      <a:r>
                        <a:rPr lang="ar-DZ" sz="2400" b="1" dirty="0">
                          <a:solidFill>
                            <a:schemeClr val="bg1"/>
                          </a:solidFill>
                        </a:rPr>
                        <a:t>1-حساب ثقل </a:t>
                      </a:r>
                      <a:r>
                        <a:rPr lang="ar-DZ" sz="2400" b="1" dirty="0" err="1">
                          <a:solidFill>
                            <a:schemeClr val="bg1"/>
                          </a:solidFill>
                        </a:rPr>
                        <a:t>الكرية</a:t>
                      </a:r>
                      <a:r>
                        <a:rPr lang="ar-DZ" sz="2400" b="1" dirty="0">
                          <a:solidFill>
                            <a:schemeClr val="bg1"/>
                          </a:solidFill>
                        </a:rPr>
                        <a:t>   لدينا </a:t>
                      </a:r>
                    </a:p>
                    <a:p>
                      <a:pPr marL="0" marR="0" indent="0" algn="r" defTabSz="914400" rtl="0" eaLnBrk="1" fontAlgn="auto" latinLnBrk="0" hangingPunct="1">
                        <a:lnSpc>
                          <a:spcPct val="100000"/>
                        </a:lnSpc>
                        <a:spcBef>
                          <a:spcPts val="0"/>
                        </a:spcBef>
                        <a:spcAft>
                          <a:spcPts val="0"/>
                        </a:spcAft>
                        <a:buClrTx/>
                        <a:buSzTx/>
                        <a:buFontTx/>
                        <a:buNone/>
                        <a:tabLst/>
                        <a:defRPr/>
                      </a:pPr>
                      <a:r>
                        <a:rPr lang="fr-FR" sz="2400" b="1" dirty="0">
                          <a:solidFill>
                            <a:schemeClr val="bg1"/>
                          </a:solidFill>
                        </a:rPr>
                        <a:t>1N </a:t>
                      </a:r>
                      <a:r>
                        <a:rPr lang="ar-DZ" sz="2400" b="1" dirty="0">
                          <a:solidFill>
                            <a:schemeClr val="bg1"/>
                          </a:solidFill>
                        </a:rPr>
                        <a:t>       </a:t>
                      </a:r>
                      <a:r>
                        <a:rPr lang="fr-FR" sz="2400" b="1" dirty="0">
                          <a:solidFill>
                            <a:schemeClr val="bg1"/>
                          </a:solidFill>
                        </a:rPr>
                        <a:t>  1cm</a:t>
                      </a:r>
                      <a:r>
                        <a:rPr lang="ar-DZ" sz="2400" b="1" dirty="0">
                          <a:solidFill>
                            <a:schemeClr val="bg1"/>
                          </a:solidFill>
                        </a:rPr>
                        <a:t> -تمثيل القوى المؤثرة لدينا </a:t>
                      </a:r>
                      <a:r>
                        <a:rPr lang="fr-FR" sz="2400" b="1" dirty="0">
                          <a:solidFill>
                            <a:schemeClr val="bg1"/>
                          </a:solidFill>
                        </a:rPr>
                        <a:t> </a:t>
                      </a:r>
                    </a:p>
                    <a:p>
                      <a:pPr marL="0" marR="0" indent="0" algn="r" defTabSz="914400" rtl="0" eaLnBrk="1" fontAlgn="auto" latinLnBrk="0" hangingPunct="1">
                        <a:lnSpc>
                          <a:spcPct val="100000"/>
                        </a:lnSpc>
                        <a:spcBef>
                          <a:spcPts val="0"/>
                        </a:spcBef>
                        <a:spcAft>
                          <a:spcPts val="0"/>
                        </a:spcAft>
                        <a:buClrTx/>
                        <a:buSzTx/>
                        <a:buFontTx/>
                        <a:buNone/>
                        <a:tabLst/>
                        <a:defRPr/>
                      </a:pPr>
                      <a:r>
                        <a:rPr lang="fr-FR" sz="2400" b="1" dirty="0">
                          <a:solidFill>
                            <a:schemeClr val="bg1"/>
                          </a:solidFill>
                        </a:rPr>
                        <a:t>X=3/1=3 cm</a:t>
                      </a:r>
                      <a:r>
                        <a:rPr lang="ar-DZ" sz="2400" b="1" dirty="0">
                          <a:solidFill>
                            <a:schemeClr val="bg1"/>
                          </a:solidFill>
                        </a:rPr>
                        <a:t>   ومنه  </a:t>
                      </a:r>
                      <a:r>
                        <a:rPr lang="fr-FR" sz="2400" b="1" dirty="0">
                          <a:solidFill>
                            <a:schemeClr val="bg1"/>
                          </a:solidFill>
                        </a:rPr>
                        <a:t>3N </a:t>
                      </a:r>
                      <a:r>
                        <a:rPr lang="ar-DZ" sz="2400" b="1" dirty="0">
                          <a:solidFill>
                            <a:schemeClr val="bg1"/>
                          </a:solidFill>
                        </a:rPr>
                        <a:t>      </a:t>
                      </a:r>
                      <a:r>
                        <a:rPr lang="fr-FR" sz="2400" b="1" dirty="0">
                          <a:solidFill>
                            <a:schemeClr val="bg1"/>
                          </a:solidFill>
                        </a:rPr>
                        <a:t>  X</a:t>
                      </a:r>
                      <a:r>
                        <a:rPr lang="ar-DZ" sz="2400" b="1" dirty="0">
                          <a:solidFill>
                            <a:schemeClr val="bg1"/>
                          </a:solidFill>
                        </a:rPr>
                        <a:t> معناه  كل  </a:t>
                      </a:r>
                    </a:p>
                    <a:p>
                      <a:pPr marL="0" marR="0" indent="0" algn="r" defTabSz="914400" rtl="0" eaLnBrk="1" fontAlgn="auto" latinLnBrk="0" hangingPunct="1">
                        <a:lnSpc>
                          <a:spcPct val="100000"/>
                        </a:lnSpc>
                        <a:spcBef>
                          <a:spcPts val="0"/>
                        </a:spcBef>
                        <a:spcAft>
                          <a:spcPts val="0"/>
                        </a:spcAft>
                        <a:buClrTx/>
                        <a:buSzTx/>
                        <a:buFontTx/>
                        <a:buNone/>
                        <a:tabLst/>
                        <a:defRPr/>
                      </a:pPr>
                      <a:r>
                        <a:rPr lang="fr-FR" sz="2400" b="1" dirty="0">
                          <a:solidFill>
                            <a:schemeClr val="bg1"/>
                          </a:solidFill>
                        </a:rPr>
                        <a:t>P</a:t>
                      </a:r>
                      <a:r>
                        <a:rPr lang="ar-DZ" sz="2400" b="1" dirty="0">
                          <a:solidFill>
                            <a:schemeClr val="bg1"/>
                          </a:solidFill>
                        </a:rPr>
                        <a:t>  </a:t>
                      </a:r>
                      <a:r>
                        <a:rPr lang="fr-FR" sz="2400" b="1" dirty="0">
                          <a:solidFill>
                            <a:schemeClr val="bg1"/>
                          </a:solidFill>
                        </a:rPr>
                        <a:t>+</a:t>
                      </a:r>
                      <a:r>
                        <a:rPr lang="ar-DZ" sz="2400" b="1" dirty="0">
                          <a:solidFill>
                            <a:schemeClr val="bg1"/>
                          </a:solidFill>
                        </a:rPr>
                        <a:t>  </a:t>
                      </a:r>
                      <a:r>
                        <a:rPr lang="fr-FR" sz="2400" b="1" dirty="0">
                          <a:solidFill>
                            <a:schemeClr val="bg1"/>
                          </a:solidFill>
                        </a:rPr>
                        <a:t>FA/b+Ff/b=0</a:t>
                      </a:r>
                      <a:r>
                        <a:rPr lang="ar-DZ" sz="2400" b="1" dirty="0">
                          <a:solidFill>
                            <a:schemeClr val="bg1"/>
                          </a:solidFill>
                        </a:rPr>
                        <a:t> 2-شرط التوازن هو    </a:t>
                      </a:r>
                      <a:endParaRPr lang="fr-FR" sz="2400" b="1" dirty="0">
                        <a:solidFill>
                          <a:schemeClr val="bg1"/>
                        </a:solidFill>
                      </a:endParaRPr>
                    </a:p>
                    <a:p>
                      <a:pPr algn="r"/>
                      <a:r>
                        <a:rPr lang="ar-DZ" sz="2400" dirty="0">
                          <a:solidFill>
                            <a:schemeClr val="bg1"/>
                          </a:solidFill>
                        </a:rPr>
                        <a:t>ومنه  بتطبيق طريقة المضلع المغلق </a:t>
                      </a:r>
                    </a:p>
                    <a:p>
                      <a:pPr algn="r"/>
                      <a:r>
                        <a:rPr lang="ar-DZ" sz="2400" dirty="0">
                          <a:solidFill>
                            <a:schemeClr val="bg1"/>
                          </a:solidFill>
                        </a:rPr>
                        <a:t>على ورق </a:t>
                      </a:r>
                      <a:r>
                        <a:rPr lang="ar-DZ" sz="2400" dirty="0" err="1">
                          <a:solidFill>
                            <a:schemeClr val="bg1"/>
                          </a:solidFill>
                        </a:rPr>
                        <a:t>ملمتري</a:t>
                      </a:r>
                      <a:r>
                        <a:rPr lang="ar-DZ" sz="2400" baseline="0" dirty="0">
                          <a:solidFill>
                            <a:schemeClr val="bg1"/>
                          </a:solidFill>
                        </a:rPr>
                        <a:t>  </a:t>
                      </a:r>
                      <a:r>
                        <a:rPr lang="ar-DZ" sz="2400" dirty="0">
                          <a:solidFill>
                            <a:schemeClr val="bg1"/>
                          </a:solidFill>
                        </a:rPr>
                        <a:t>تكون خصائص قوة </a:t>
                      </a:r>
                      <a:r>
                        <a:rPr lang="ar-DZ" sz="2400" dirty="0" err="1">
                          <a:solidFill>
                            <a:schemeClr val="bg1"/>
                          </a:solidFill>
                        </a:rPr>
                        <a:t>تاثير</a:t>
                      </a:r>
                      <a:r>
                        <a:rPr lang="ar-DZ" sz="2400" dirty="0">
                          <a:solidFill>
                            <a:schemeClr val="bg1"/>
                          </a:solidFill>
                        </a:rPr>
                        <a:t> الحبل</a:t>
                      </a:r>
                    </a:p>
                    <a:p>
                      <a:pPr algn="r"/>
                      <a:endParaRPr lang="ar-DZ" sz="2400" dirty="0">
                        <a:solidFill>
                          <a:schemeClr val="bg1"/>
                        </a:solidFill>
                      </a:endParaRPr>
                    </a:p>
                    <a:p>
                      <a:pPr algn="r"/>
                      <a:endParaRPr lang="ar-DZ" sz="2400" dirty="0">
                        <a:solidFill>
                          <a:schemeClr val="bg1"/>
                        </a:solidFill>
                      </a:endParaRPr>
                    </a:p>
                    <a:p>
                      <a:pPr algn="r"/>
                      <a:r>
                        <a:rPr lang="ar-DZ" sz="2400" dirty="0">
                          <a:solidFill>
                            <a:schemeClr val="bg1"/>
                          </a:solidFill>
                        </a:rPr>
                        <a:t> </a:t>
                      </a:r>
                    </a:p>
                    <a:p>
                      <a:pPr algn="r"/>
                      <a:endParaRPr lang="ar-DZ" sz="2000" dirty="0"/>
                    </a:p>
                    <a:p>
                      <a:pPr algn="r"/>
                      <a:endParaRPr lang="ar-DZ" sz="2000" dirty="0"/>
                    </a:p>
                    <a:p>
                      <a:pPr algn="r"/>
                      <a:endParaRPr lang="ar-DZ" sz="2000" dirty="0"/>
                    </a:p>
                    <a:p>
                      <a:pPr algn="r"/>
                      <a:r>
                        <a:rPr lang="ar-DZ" sz="2400" dirty="0">
                          <a:solidFill>
                            <a:schemeClr val="bg1"/>
                          </a:solidFill>
                        </a:rPr>
                        <a:t>3-سبب غوص </a:t>
                      </a:r>
                      <a:r>
                        <a:rPr lang="ar-DZ" sz="2400" dirty="0" err="1">
                          <a:solidFill>
                            <a:schemeClr val="bg1"/>
                          </a:solidFill>
                        </a:rPr>
                        <a:t>الكرية</a:t>
                      </a:r>
                      <a:r>
                        <a:rPr lang="ar-DZ" sz="2400" baseline="0" dirty="0">
                          <a:solidFill>
                            <a:schemeClr val="bg1"/>
                          </a:solidFill>
                        </a:rPr>
                        <a:t> لان </a:t>
                      </a:r>
                      <a:r>
                        <a:rPr lang="ar-DZ" sz="2400" baseline="0" dirty="0" err="1">
                          <a:solidFill>
                            <a:schemeClr val="bg1"/>
                          </a:solidFill>
                        </a:rPr>
                        <a:t>كثافتها </a:t>
                      </a:r>
                      <a:r>
                        <a:rPr lang="ar-DZ" sz="2400" baseline="0" dirty="0">
                          <a:solidFill>
                            <a:schemeClr val="bg1"/>
                          </a:solidFill>
                        </a:rPr>
                        <a:t>(حديد) اكبر من كثافة الماء </a:t>
                      </a:r>
                      <a:endParaRPr lang="ar-DZ" sz="2000" dirty="0"/>
                    </a:p>
                    <a:p>
                      <a:pPr marL="0" marR="0" indent="0" algn="r" defTabSz="914400" rtl="0" eaLnBrk="1" fontAlgn="auto" latinLnBrk="0" hangingPunct="1">
                        <a:lnSpc>
                          <a:spcPct val="100000"/>
                        </a:lnSpc>
                        <a:spcBef>
                          <a:spcPts val="0"/>
                        </a:spcBef>
                        <a:spcAft>
                          <a:spcPts val="0"/>
                        </a:spcAft>
                        <a:buClrTx/>
                        <a:buSzTx/>
                        <a:buFontTx/>
                        <a:buNone/>
                        <a:tabLst/>
                        <a:defRPr/>
                      </a:pPr>
                      <a:r>
                        <a:rPr lang="fr-FR" sz="2400" dirty="0">
                          <a:solidFill>
                            <a:schemeClr val="bg1"/>
                          </a:solidFill>
                        </a:rPr>
                        <a:t>FA= </a:t>
                      </a:r>
                      <a:r>
                        <a:rPr lang="el-GR" sz="2400" dirty="0">
                          <a:solidFill>
                            <a:schemeClr val="bg1"/>
                          </a:solidFill>
                        </a:rPr>
                        <a:t>ρ</a:t>
                      </a:r>
                      <a:r>
                        <a:rPr lang="fr-FR" sz="2400" dirty="0" err="1">
                          <a:solidFill>
                            <a:schemeClr val="bg1"/>
                          </a:solidFill>
                        </a:rPr>
                        <a:t>xVsXg</a:t>
                      </a:r>
                      <a:r>
                        <a:rPr lang="fr-FR" sz="2400" dirty="0">
                          <a:solidFill>
                            <a:schemeClr val="bg1"/>
                          </a:solidFill>
                        </a:rPr>
                        <a:t>=</a:t>
                      </a:r>
                      <a:r>
                        <a:rPr lang="el-GR" sz="2400" dirty="0">
                          <a:solidFill>
                            <a:schemeClr val="bg1"/>
                          </a:solidFill>
                        </a:rPr>
                        <a:t>ρ</a:t>
                      </a:r>
                      <a:r>
                        <a:rPr lang="fr-FR" sz="2400" dirty="0" err="1">
                          <a:solidFill>
                            <a:schemeClr val="bg1"/>
                          </a:solidFill>
                        </a:rPr>
                        <a:t>xmxg</a:t>
                      </a:r>
                      <a:r>
                        <a:rPr lang="fr-FR" sz="2400" dirty="0">
                          <a:solidFill>
                            <a:schemeClr val="bg1"/>
                          </a:solidFill>
                        </a:rPr>
                        <a:t>/</a:t>
                      </a:r>
                      <a:r>
                        <a:rPr lang="el-GR" sz="2400" dirty="0">
                          <a:solidFill>
                            <a:schemeClr val="bg1"/>
                          </a:solidFill>
                        </a:rPr>
                        <a:t>ρ</a:t>
                      </a:r>
                      <a:r>
                        <a:rPr lang="fr-FR" sz="2400" dirty="0">
                          <a:solidFill>
                            <a:schemeClr val="bg1"/>
                          </a:solidFill>
                        </a:rPr>
                        <a:t>s 3</a:t>
                      </a:r>
                      <a:r>
                        <a:rPr lang="ar-DZ" sz="2400" dirty="0">
                          <a:solidFill>
                            <a:schemeClr val="bg1"/>
                          </a:solidFill>
                        </a:rPr>
                        <a:t>-دافعة </a:t>
                      </a:r>
                      <a:r>
                        <a:rPr lang="ar-DZ" sz="2400" dirty="0" err="1">
                          <a:solidFill>
                            <a:schemeClr val="bg1"/>
                          </a:solidFill>
                        </a:rPr>
                        <a:t>ارخميدس</a:t>
                      </a:r>
                      <a:r>
                        <a:rPr lang="ar-DZ" sz="2400" dirty="0">
                          <a:solidFill>
                            <a:schemeClr val="bg1"/>
                          </a:solidFill>
                        </a:rPr>
                        <a:t> لدينا</a:t>
                      </a:r>
                      <a:endParaRPr lang="fr-FR" sz="2000" dirty="0">
                        <a:solidFill>
                          <a:schemeClr val="bg1"/>
                        </a:solidFill>
                      </a:endParaRPr>
                    </a:p>
                    <a:p>
                      <a:pPr marL="0" marR="0" indent="0" algn="r" defTabSz="914400" rtl="0" eaLnBrk="1" fontAlgn="auto" latinLnBrk="0" hangingPunct="1">
                        <a:lnSpc>
                          <a:spcPct val="100000"/>
                        </a:lnSpc>
                        <a:spcBef>
                          <a:spcPts val="0"/>
                        </a:spcBef>
                        <a:spcAft>
                          <a:spcPts val="0"/>
                        </a:spcAft>
                        <a:buClrTx/>
                        <a:buSzTx/>
                        <a:buFontTx/>
                        <a:buNone/>
                        <a:tabLst/>
                        <a:defRPr/>
                      </a:pPr>
                      <a:r>
                        <a:rPr lang="fr-FR" sz="2400" dirty="0">
                          <a:solidFill>
                            <a:schemeClr val="bg1"/>
                          </a:solidFill>
                        </a:rPr>
                        <a:t>FA=1000x0.3x10/7800=0.38N</a:t>
                      </a:r>
                    </a:p>
                    <a:p>
                      <a:pPr algn="r"/>
                      <a:r>
                        <a:rPr lang="ar-DZ" sz="2400" dirty="0">
                          <a:solidFill>
                            <a:schemeClr val="bg1"/>
                          </a:solidFill>
                        </a:rPr>
                        <a:t>4-تمثيل القوتين في الرسم </a:t>
                      </a:r>
                      <a:endParaRPr lang="fr-FR" sz="2400" dirty="0">
                        <a:solidFill>
                          <a:schemeClr val="bg1"/>
                        </a:solidFill>
                      </a:endParaRPr>
                    </a:p>
                  </a:txBody>
                  <a:tcPr>
                    <a:solidFill>
                      <a:schemeClr val="tx1"/>
                    </a:solidFill>
                  </a:tcPr>
                </a:tc>
                <a:extLst>
                  <a:ext uri="{0D108BD9-81ED-4DB2-BD59-A6C34878D82A}">
                    <a16:rowId xmlns:a16="http://schemas.microsoft.com/office/drawing/2014/main" val="10000"/>
                  </a:ext>
                </a:extLst>
              </a:tr>
            </a:tbl>
          </a:graphicData>
        </a:graphic>
      </p:graphicFrame>
      <p:sp>
        <p:nvSpPr>
          <p:cNvPr id="10" name="Ellipse 9"/>
          <p:cNvSpPr/>
          <p:nvPr/>
        </p:nvSpPr>
        <p:spPr>
          <a:xfrm>
            <a:off x="755576" y="1628800"/>
            <a:ext cx="504056" cy="50405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descr="og9k3w71pn3g246wgt9c.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9512" y="2852936"/>
            <a:ext cx="2195736" cy="1584176"/>
          </a:xfrm>
          <a:prstGeom prst="rect">
            <a:avLst/>
          </a:prstGeom>
          <a:ln>
            <a:solidFill>
              <a:srgbClr val="1ADC1F"/>
            </a:solidFill>
          </a:ln>
        </p:spPr>
      </p:pic>
      <p:cxnSp>
        <p:nvCxnSpPr>
          <p:cNvPr id="20" name="Connecteur droit avec flèche 19"/>
          <p:cNvCxnSpPr/>
          <p:nvPr/>
        </p:nvCxnSpPr>
        <p:spPr>
          <a:xfrm>
            <a:off x="2339752" y="3212976"/>
            <a:ext cx="0" cy="122413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flipH="1" flipV="1">
            <a:off x="179512" y="3212976"/>
            <a:ext cx="2160240" cy="1224136"/>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a:off x="251520" y="3212976"/>
            <a:ext cx="208823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à coins arrondis 24"/>
          <p:cNvSpPr/>
          <p:nvPr/>
        </p:nvSpPr>
        <p:spPr>
          <a:xfrm>
            <a:off x="1187624" y="1412776"/>
            <a:ext cx="86409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b="1" dirty="0">
                <a:solidFill>
                  <a:schemeClr val="bg1"/>
                </a:solidFill>
              </a:rPr>
              <a:t>A/b</a:t>
            </a:r>
          </a:p>
        </p:txBody>
      </p:sp>
      <p:sp>
        <p:nvSpPr>
          <p:cNvPr id="36" name="Rectangle à coins arrondis 35"/>
          <p:cNvSpPr/>
          <p:nvPr/>
        </p:nvSpPr>
        <p:spPr>
          <a:xfrm>
            <a:off x="3483" y="21726"/>
            <a:ext cx="9144000" cy="83671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graphicFrame>
        <p:nvGraphicFramePr>
          <p:cNvPr id="37" name="Tableau 36"/>
          <p:cNvGraphicFramePr>
            <a:graphicFrameLocks noGrp="1"/>
          </p:cNvGraphicFramePr>
          <p:nvPr/>
        </p:nvGraphicFramePr>
        <p:xfrm>
          <a:off x="3599384" y="3356992"/>
          <a:ext cx="5544616" cy="1692775"/>
        </p:xfrm>
        <a:graphic>
          <a:graphicData uri="http://schemas.openxmlformats.org/drawingml/2006/table">
            <a:tbl>
              <a:tblPr firstRow="1" bandRow="1">
                <a:tableStyleId>{5C22544A-7EE6-4342-B048-85BDC9FD1C3A}</a:tableStyleId>
              </a:tblPr>
              <a:tblGrid>
                <a:gridCol w="1440161">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869003">
                  <a:extLst>
                    <a:ext uri="{9D8B030D-6E8A-4147-A177-3AD203B41FA5}">
                      <a16:colId xmlns:a16="http://schemas.microsoft.com/office/drawing/2014/main" val="20003"/>
                    </a:ext>
                  </a:extLst>
                </a:gridCol>
                <a:gridCol w="1219228">
                  <a:extLst>
                    <a:ext uri="{9D8B030D-6E8A-4147-A177-3AD203B41FA5}">
                      <a16:colId xmlns:a16="http://schemas.microsoft.com/office/drawing/2014/main" val="20004"/>
                    </a:ext>
                  </a:extLst>
                </a:gridCol>
              </a:tblGrid>
              <a:tr h="504055">
                <a:tc>
                  <a:txBody>
                    <a:bodyPr/>
                    <a:lstStyle/>
                    <a:p>
                      <a:pPr algn="ctr"/>
                      <a:r>
                        <a:rPr lang="ar-DZ" sz="2000" dirty="0">
                          <a:solidFill>
                            <a:schemeClr val="bg1"/>
                          </a:solidFill>
                        </a:rPr>
                        <a:t>طول الشعاع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الشدة</a:t>
                      </a:r>
                      <a:r>
                        <a:rPr lang="ar-DZ" sz="2000" baseline="0" dirty="0">
                          <a:solidFill>
                            <a:schemeClr val="bg1"/>
                          </a:solidFill>
                        </a:rPr>
                        <a:t>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الجهة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المنحى </a:t>
                      </a:r>
                      <a:endParaRPr lang="fr-FR" sz="2000" dirty="0">
                        <a:solidFill>
                          <a:schemeClr val="bg1"/>
                        </a:solidFill>
                      </a:endParaRPr>
                    </a:p>
                  </a:txBody>
                  <a:tcPr>
                    <a:solidFill>
                      <a:srgbClr val="00FFFF"/>
                    </a:solidFill>
                  </a:tcPr>
                </a:tc>
                <a:tc>
                  <a:txBody>
                    <a:bodyPr/>
                    <a:lstStyle/>
                    <a:p>
                      <a:r>
                        <a:rPr lang="ar-DZ" sz="2000" dirty="0">
                          <a:solidFill>
                            <a:schemeClr val="bg1"/>
                          </a:solidFill>
                        </a:rPr>
                        <a:t>القوى</a:t>
                      </a:r>
                      <a:endParaRPr lang="fr-FR" sz="2000" dirty="0"/>
                    </a:p>
                  </a:txBody>
                  <a:tcPr>
                    <a:solidFill>
                      <a:srgbClr val="00FFFF"/>
                    </a:solidFill>
                  </a:tcPr>
                </a:tc>
                <a:extLst>
                  <a:ext uri="{0D108BD9-81ED-4DB2-BD59-A6C34878D82A}">
                    <a16:rowId xmlns:a16="http://schemas.microsoft.com/office/drawing/2014/main" val="10000"/>
                  </a:ext>
                </a:extLst>
              </a:tr>
              <a:tr h="370840">
                <a:tc>
                  <a:txBody>
                    <a:bodyPr/>
                    <a:lstStyle/>
                    <a:p>
                      <a:r>
                        <a:rPr lang="fr-FR" sz="2000" b="1" dirty="0"/>
                        <a:t>3cm</a:t>
                      </a:r>
                    </a:p>
                  </a:txBody>
                  <a:tcPr>
                    <a:solidFill>
                      <a:srgbClr val="FFFF00"/>
                    </a:solidFill>
                  </a:tcPr>
                </a:tc>
                <a:tc>
                  <a:txBody>
                    <a:bodyPr/>
                    <a:lstStyle/>
                    <a:p>
                      <a:pPr algn="ctr"/>
                      <a:r>
                        <a:rPr lang="fr-FR" sz="2000" b="1" dirty="0">
                          <a:solidFill>
                            <a:schemeClr val="bg1"/>
                          </a:solidFill>
                        </a:rPr>
                        <a:t>3N</a:t>
                      </a:r>
                    </a:p>
                  </a:txBody>
                  <a:tcPr>
                    <a:solidFill>
                      <a:srgbClr val="FFFF00"/>
                    </a:solidFill>
                  </a:tcPr>
                </a:tc>
                <a:tc>
                  <a:txBody>
                    <a:bodyPr/>
                    <a:lstStyle/>
                    <a:p>
                      <a:endParaRPr lang="fr-FR" sz="2000" dirty="0"/>
                    </a:p>
                  </a:txBody>
                  <a:tcPr>
                    <a:solidFill>
                      <a:srgbClr val="FFFF00"/>
                    </a:solidFill>
                  </a:tcPr>
                </a:tc>
                <a:tc>
                  <a:txBody>
                    <a:bodyPr/>
                    <a:lstStyle/>
                    <a:p>
                      <a:endParaRPr lang="fr-FR" sz="2000" dirty="0"/>
                    </a:p>
                  </a:txBody>
                  <a:tcPr>
                    <a:solidFill>
                      <a:srgbClr val="FFFF00"/>
                    </a:solidFill>
                  </a:tcPr>
                </a:tc>
                <a:tc>
                  <a:txBody>
                    <a:bodyPr/>
                    <a:lstStyle/>
                    <a:p>
                      <a:pPr algn="ctr"/>
                      <a:r>
                        <a:rPr lang="fr-FR" sz="2000" b="1" dirty="0"/>
                        <a:t>P</a:t>
                      </a:r>
                    </a:p>
                  </a:txBody>
                  <a:tcPr>
                    <a:solidFill>
                      <a:srgbClr val="FFFF00"/>
                    </a:solidFill>
                  </a:tcPr>
                </a:tc>
                <a:extLst>
                  <a:ext uri="{0D108BD9-81ED-4DB2-BD59-A6C34878D82A}">
                    <a16:rowId xmlns:a16="http://schemas.microsoft.com/office/drawing/2014/main" val="10001"/>
                  </a:ext>
                </a:extLst>
              </a:tr>
              <a:tr h="370840">
                <a:tc>
                  <a:txBody>
                    <a:bodyPr/>
                    <a:lstStyle/>
                    <a:p>
                      <a:r>
                        <a:rPr lang="fr-FR" sz="2000" b="1" dirty="0"/>
                        <a:t>4cm</a:t>
                      </a:r>
                    </a:p>
                  </a:txBody>
                  <a:tcPr>
                    <a:solidFill>
                      <a:srgbClr val="FFFF00"/>
                    </a:solidFill>
                  </a:tcPr>
                </a:tc>
                <a:tc>
                  <a:txBody>
                    <a:bodyPr/>
                    <a:lstStyle/>
                    <a:p>
                      <a:pPr algn="ctr"/>
                      <a:r>
                        <a:rPr lang="fr-FR" sz="2000" b="1" dirty="0">
                          <a:solidFill>
                            <a:schemeClr val="bg1"/>
                          </a:solidFill>
                        </a:rPr>
                        <a:t>4N</a:t>
                      </a:r>
                    </a:p>
                  </a:txBody>
                  <a:tcPr>
                    <a:solidFill>
                      <a:srgbClr val="FFFF00"/>
                    </a:solidFill>
                  </a:tcPr>
                </a:tc>
                <a:tc>
                  <a:txBody>
                    <a:bodyPr/>
                    <a:lstStyle/>
                    <a:p>
                      <a:endParaRPr lang="fr-FR" sz="2000" dirty="0"/>
                    </a:p>
                  </a:txBody>
                  <a:tcPr>
                    <a:solidFill>
                      <a:srgbClr val="FFFF00"/>
                    </a:solidFill>
                  </a:tcPr>
                </a:tc>
                <a:tc>
                  <a:txBody>
                    <a:bodyPr/>
                    <a:lstStyle/>
                    <a:p>
                      <a:endParaRPr lang="fr-FR" sz="2000" dirty="0"/>
                    </a:p>
                  </a:txBody>
                  <a:tcPr>
                    <a:solidFill>
                      <a:srgbClr val="FFFF00"/>
                    </a:solidFill>
                  </a:tcPr>
                </a:tc>
                <a:tc>
                  <a:txBody>
                    <a:bodyPr/>
                    <a:lstStyle/>
                    <a:p>
                      <a:pPr algn="ctr"/>
                      <a:r>
                        <a:rPr lang="fr-FR" sz="2000" b="1" dirty="0"/>
                        <a:t>FA/b</a:t>
                      </a:r>
                    </a:p>
                  </a:txBody>
                  <a:tcPr>
                    <a:solidFill>
                      <a:srgbClr val="FFFF00"/>
                    </a:solidFill>
                  </a:tcPr>
                </a:tc>
                <a:extLst>
                  <a:ext uri="{0D108BD9-81ED-4DB2-BD59-A6C34878D82A}">
                    <a16:rowId xmlns:a16="http://schemas.microsoft.com/office/drawing/2014/main" val="10002"/>
                  </a:ext>
                </a:extLst>
              </a:tr>
              <a:tr h="370840">
                <a:tc>
                  <a:txBody>
                    <a:bodyPr/>
                    <a:lstStyle/>
                    <a:p>
                      <a:pPr algn="l"/>
                      <a:r>
                        <a:rPr lang="fr-FR" sz="2000" b="1" dirty="0"/>
                        <a:t>5cm</a:t>
                      </a:r>
                    </a:p>
                  </a:txBody>
                  <a:tcPr>
                    <a:solidFill>
                      <a:srgbClr val="FFFF00"/>
                    </a:solidFill>
                  </a:tcPr>
                </a:tc>
                <a:tc>
                  <a:txBody>
                    <a:bodyPr/>
                    <a:lstStyle/>
                    <a:p>
                      <a:pPr algn="ctr"/>
                      <a:r>
                        <a:rPr lang="fr-FR" sz="2000" b="1" dirty="0">
                          <a:solidFill>
                            <a:schemeClr val="bg1"/>
                          </a:solidFill>
                        </a:rPr>
                        <a:t>5N</a:t>
                      </a:r>
                    </a:p>
                  </a:txBody>
                  <a:tcPr>
                    <a:solidFill>
                      <a:srgbClr val="FFFF00"/>
                    </a:solidFill>
                  </a:tcPr>
                </a:tc>
                <a:tc>
                  <a:txBody>
                    <a:bodyPr/>
                    <a:lstStyle/>
                    <a:p>
                      <a:pPr algn="ctr"/>
                      <a:endParaRPr lang="fr-FR" sz="2000" dirty="0"/>
                    </a:p>
                  </a:txBody>
                  <a:tcPr>
                    <a:solidFill>
                      <a:srgbClr val="FFFF00"/>
                    </a:solidFill>
                  </a:tcPr>
                </a:tc>
                <a:tc>
                  <a:txBody>
                    <a:bodyPr/>
                    <a:lstStyle/>
                    <a:p>
                      <a:pPr algn="ctr"/>
                      <a:endParaRPr lang="fr-FR" sz="2000" dirty="0"/>
                    </a:p>
                  </a:txBody>
                  <a:tcPr>
                    <a:solidFill>
                      <a:srgbClr val="FFFF00"/>
                    </a:solidFill>
                  </a:tcPr>
                </a:tc>
                <a:tc>
                  <a:txBody>
                    <a:bodyPr/>
                    <a:lstStyle/>
                    <a:p>
                      <a:pPr algn="ctr"/>
                      <a:r>
                        <a:rPr lang="fr-FR" sz="2000" b="1" dirty="0"/>
                        <a:t>Ff/b</a:t>
                      </a:r>
                    </a:p>
                  </a:txBody>
                  <a:tcPr>
                    <a:solidFill>
                      <a:srgbClr val="FFFF00"/>
                    </a:solidFill>
                  </a:tcPr>
                </a:tc>
                <a:extLst>
                  <a:ext uri="{0D108BD9-81ED-4DB2-BD59-A6C34878D82A}">
                    <a16:rowId xmlns:a16="http://schemas.microsoft.com/office/drawing/2014/main" val="10003"/>
                  </a:ext>
                </a:extLst>
              </a:tr>
            </a:tbl>
          </a:graphicData>
        </a:graphic>
      </p:graphicFrame>
      <p:pic>
        <p:nvPicPr>
          <p:cNvPr id="38" name="Image 37" descr="images.jp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rot="10800000">
            <a:off x="2123728" y="1700808"/>
            <a:ext cx="1224136" cy="360040"/>
          </a:xfrm>
          <a:prstGeom prst="rect">
            <a:avLst/>
          </a:prstGeom>
        </p:spPr>
      </p:pic>
      <p:cxnSp>
        <p:nvCxnSpPr>
          <p:cNvPr id="39" name="Connecteur droit 38"/>
          <p:cNvCxnSpPr/>
          <p:nvPr/>
        </p:nvCxnSpPr>
        <p:spPr>
          <a:xfrm flipH="1" flipV="1">
            <a:off x="7380312" y="4653136"/>
            <a:ext cx="288032" cy="36004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a:xfrm>
            <a:off x="7308304" y="4437112"/>
            <a:ext cx="504056"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flipV="1">
            <a:off x="7452320" y="3789040"/>
            <a:ext cx="0" cy="43204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flipH="1" flipV="1">
            <a:off x="6372200" y="4725144"/>
            <a:ext cx="432048" cy="21602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6516216" y="3933056"/>
            <a:ext cx="0" cy="432048"/>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7" name="Connecteur droit avec flèche 46"/>
          <p:cNvCxnSpPr/>
          <p:nvPr/>
        </p:nvCxnSpPr>
        <p:spPr>
          <a:xfrm>
            <a:off x="6300192" y="4509120"/>
            <a:ext cx="576064"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a:xfrm>
            <a:off x="395536" y="980728"/>
            <a:ext cx="504056" cy="79208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a:xfrm>
            <a:off x="0" y="980728"/>
            <a:ext cx="936104"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Connecteur droit avec flèche 53"/>
          <p:cNvCxnSpPr/>
          <p:nvPr/>
        </p:nvCxnSpPr>
        <p:spPr>
          <a:xfrm>
            <a:off x="971600" y="1916832"/>
            <a:ext cx="1152128"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Connecteur droit avec flèche 54"/>
          <p:cNvCxnSpPr/>
          <p:nvPr/>
        </p:nvCxnSpPr>
        <p:spPr>
          <a:xfrm>
            <a:off x="971600" y="1844824"/>
            <a:ext cx="0" cy="86409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6" name="Connecteur droit avec flèche 55"/>
          <p:cNvCxnSpPr/>
          <p:nvPr/>
        </p:nvCxnSpPr>
        <p:spPr>
          <a:xfrm>
            <a:off x="5220072" y="1556792"/>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7" name="Rectangle à coins arrondis 56"/>
          <p:cNvSpPr/>
          <p:nvPr/>
        </p:nvSpPr>
        <p:spPr>
          <a:xfrm>
            <a:off x="0" y="2276872"/>
            <a:ext cx="864096"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b="1" dirty="0">
              <a:solidFill>
                <a:schemeClr val="bg1"/>
              </a:solidFill>
            </a:endParaRPr>
          </a:p>
        </p:txBody>
      </p:sp>
      <p:cxnSp>
        <p:nvCxnSpPr>
          <p:cNvPr id="58" name="Connecteur droit avec flèche 57"/>
          <p:cNvCxnSpPr/>
          <p:nvPr/>
        </p:nvCxnSpPr>
        <p:spPr>
          <a:xfrm>
            <a:off x="1403648" y="1268760"/>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avec flèche 58"/>
          <p:cNvCxnSpPr/>
          <p:nvPr/>
        </p:nvCxnSpPr>
        <p:spPr>
          <a:xfrm>
            <a:off x="251520" y="2132856"/>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0" name="Connecteur droit avec flèche 59"/>
          <p:cNvCxnSpPr/>
          <p:nvPr/>
        </p:nvCxnSpPr>
        <p:spPr>
          <a:xfrm>
            <a:off x="7164288" y="1916832"/>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1" name="Connecteur droit avec flèche 60"/>
          <p:cNvCxnSpPr/>
          <p:nvPr/>
        </p:nvCxnSpPr>
        <p:spPr>
          <a:xfrm>
            <a:off x="4211960" y="206084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avec flèche 61"/>
          <p:cNvCxnSpPr/>
          <p:nvPr/>
        </p:nvCxnSpPr>
        <p:spPr>
          <a:xfrm>
            <a:off x="5004048" y="206084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3" name="Connecteur droit avec flèche 62"/>
          <p:cNvCxnSpPr/>
          <p:nvPr/>
        </p:nvCxnSpPr>
        <p:spPr>
          <a:xfrm>
            <a:off x="5868144" y="1988840"/>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4" name="Connecteur droit avec flèche 63"/>
          <p:cNvCxnSpPr/>
          <p:nvPr/>
        </p:nvCxnSpPr>
        <p:spPr>
          <a:xfrm>
            <a:off x="6444208" y="206084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251520" y="4725144"/>
            <a:ext cx="1512168" cy="43204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p:cNvSpPr/>
          <p:nvPr/>
        </p:nvSpPr>
        <p:spPr>
          <a:xfrm>
            <a:off x="251520" y="5157192"/>
            <a:ext cx="1512168" cy="648072"/>
          </a:xfrm>
          <a:prstGeom prst="rect">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Ellipse 71"/>
          <p:cNvSpPr/>
          <p:nvPr/>
        </p:nvSpPr>
        <p:spPr>
          <a:xfrm>
            <a:off x="683568" y="5301208"/>
            <a:ext cx="576064" cy="57606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73" name="Connecteur droit avec flèche 72"/>
          <p:cNvCxnSpPr/>
          <p:nvPr/>
        </p:nvCxnSpPr>
        <p:spPr>
          <a:xfrm>
            <a:off x="971600" y="5589240"/>
            <a:ext cx="0" cy="126876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4" name="Connecteur droit avec flèche 73"/>
          <p:cNvCxnSpPr/>
          <p:nvPr/>
        </p:nvCxnSpPr>
        <p:spPr>
          <a:xfrm flipV="1">
            <a:off x="971600" y="5085184"/>
            <a:ext cx="0" cy="432048"/>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79" name="Ellipse 78"/>
          <p:cNvSpPr/>
          <p:nvPr/>
        </p:nvSpPr>
        <p:spPr>
          <a:xfrm>
            <a:off x="899592" y="5517232"/>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à coins arrondis 79"/>
          <p:cNvSpPr/>
          <p:nvPr/>
        </p:nvSpPr>
        <p:spPr>
          <a:xfrm>
            <a:off x="1259632" y="5229200"/>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b="1" dirty="0">
                <a:solidFill>
                  <a:schemeClr val="bg1"/>
                </a:solidFill>
              </a:rPr>
              <a:t>A</a:t>
            </a:r>
          </a:p>
        </p:txBody>
      </p:sp>
      <p:sp>
        <p:nvSpPr>
          <p:cNvPr id="81" name="Rectangle à coins arrondis 80"/>
          <p:cNvSpPr/>
          <p:nvPr/>
        </p:nvSpPr>
        <p:spPr>
          <a:xfrm rot="244088">
            <a:off x="1128589" y="6187942"/>
            <a:ext cx="652025" cy="388879"/>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b="1" dirty="0">
              <a:solidFill>
                <a:schemeClr val="bg1"/>
              </a:solidFill>
            </a:endParaRPr>
          </a:p>
        </p:txBody>
      </p:sp>
      <p:cxnSp>
        <p:nvCxnSpPr>
          <p:cNvPr id="82" name="Connecteur droit avec flèche 81"/>
          <p:cNvCxnSpPr/>
          <p:nvPr/>
        </p:nvCxnSpPr>
        <p:spPr>
          <a:xfrm>
            <a:off x="1331640" y="6093296"/>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3" name="Connecteur droit avec flèche 82"/>
          <p:cNvCxnSpPr/>
          <p:nvPr/>
        </p:nvCxnSpPr>
        <p:spPr>
          <a:xfrm>
            <a:off x="1403648" y="5157192"/>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a:off x="8244408" y="3861048"/>
            <a:ext cx="467544"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5" name="Connecteur droit avec flèche 64"/>
          <p:cNvCxnSpPr/>
          <p:nvPr/>
        </p:nvCxnSpPr>
        <p:spPr>
          <a:xfrm>
            <a:off x="8316416" y="4293096"/>
            <a:ext cx="467544"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p:nvPr/>
        </p:nvCxnSpPr>
        <p:spPr>
          <a:xfrm>
            <a:off x="8388424" y="4653136"/>
            <a:ext cx="467544"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1-يمكن حل مشكلة ترسب مادة </a:t>
            </a:r>
            <a:r>
              <a:rPr lang="ar-DZ" sz="2400" b="1" dirty="0" err="1">
                <a:solidFill>
                  <a:schemeClr val="bg1"/>
                </a:solidFill>
              </a:rPr>
              <a:t>الكلس</a:t>
            </a:r>
            <a:r>
              <a:rPr lang="ar-DZ" sz="2400" b="1" dirty="0">
                <a:solidFill>
                  <a:schemeClr val="bg1"/>
                </a:solidFill>
              </a:rPr>
              <a:t> </a:t>
            </a:r>
            <a:r>
              <a:rPr lang="ar-DZ" sz="2400" b="1" dirty="0" err="1">
                <a:solidFill>
                  <a:schemeClr val="bg1"/>
                </a:solidFill>
              </a:rPr>
              <a:t>باضافة</a:t>
            </a:r>
            <a:r>
              <a:rPr lang="ar-DZ" sz="2400" b="1" dirty="0">
                <a:solidFill>
                  <a:schemeClr val="bg1"/>
                </a:solidFill>
              </a:rPr>
              <a:t> محلول روح الملح في انبوب سخان الماء فيحدث تفاعل بين </a:t>
            </a:r>
            <a:r>
              <a:rPr lang="ar-DZ" sz="2400" b="1" dirty="0" err="1">
                <a:solidFill>
                  <a:schemeClr val="bg1"/>
                </a:solidFill>
              </a:rPr>
              <a:t>الكلس</a:t>
            </a:r>
            <a:r>
              <a:rPr lang="ar-DZ" sz="2400" b="1" dirty="0">
                <a:solidFill>
                  <a:schemeClr val="bg1"/>
                </a:solidFill>
              </a:rPr>
              <a:t> والمحلول مما </a:t>
            </a:r>
            <a:r>
              <a:rPr lang="ar-DZ" sz="2400" b="1" dirty="0" err="1">
                <a:solidFill>
                  <a:schemeClr val="bg1"/>
                </a:solidFill>
              </a:rPr>
              <a:t>يتاكل</a:t>
            </a:r>
            <a:r>
              <a:rPr lang="ar-DZ" sz="2400" b="1" dirty="0">
                <a:solidFill>
                  <a:schemeClr val="bg1"/>
                </a:solidFill>
              </a:rPr>
              <a:t> ويزول ومنه يحل المشكل </a:t>
            </a:r>
          </a:p>
          <a:p>
            <a:pPr algn="r"/>
            <a:r>
              <a:rPr lang="ar-DZ" sz="2400" b="1" dirty="0">
                <a:solidFill>
                  <a:schemeClr val="bg1"/>
                </a:solidFill>
              </a:rPr>
              <a:t>2-الاسباب هي </a:t>
            </a:r>
          </a:p>
          <a:p>
            <a:pPr algn="r"/>
            <a:r>
              <a:rPr lang="ar-DZ" sz="2400" b="1" dirty="0">
                <a:solidFill>
                  <a:schemeClr val="bg1"/>
                </a:solidFill>
              </a:rPr>
              <a:t>-انقطاع التيار الكهربائي لان شدة التيار التي تشغلها  الاجهزة اكبر من الشدة  </a:t>
            </a:r>
            <a:r>
              <a:rPr lang="ar-DZ" sz="2400" b="1" dirty="0" err="1">
                <a:solidFill>
                  <a:schemeClr val="bg1"/>
                </a:solidFill>
              </a:rPr>
              <a:t>الاغظمية</a:t>
            </a:r>
            <a:r>
              <a:rPr lang="ar-DZ" sz="2400" b="1" dirty="0">
                <a:solidFill>
                  <a:schemeClr val="bg1"/>
                </a:solidFill>
              </a:rPr>
              <a:t> التي يسمح </a:t>
            </a:r>
            <a:r>
              <a:rPr lang="ar-DZ" sz="2400" b="1" dirty="0" err="1">
                <a:solidFill>
                  <a:schemeClr val="bg1"/>
                </a:solidFill>
              </a:rPr>
              <a:t>بها</a:t>
            </a:r>
            <a:r>
              <a:rPr lang="ar-DZ" sz="2400" b="1" dirty="0">
                <a:solidFill>
                  <a:schemeClr val="bg1"/>
                </a:solidFill>
              </a:rPr>
              <a:t> القاطع الكهربائي</a:t>
            </a:r>
          </a:p>
          <a:p>
            <a:pPr algn="r"/>
            <a:r>
              <a:rPr lang="fr-FR" sz="2400" b="1" dirty="0">
                <a:solidFill>
                  <a:schemeClr val="bg1"/>
                </a:solidFill>
              </a:rPr>
              <a:t>  </a:t>
            </a:r>
            <a:r>
              <a:rPr lang="ar-DZ" sz="2400" b="1" dirty="0">
                <a:solidFill>
                  <a:schemeClr val="bg1"/>
                </a:solidFill>
              </a:rPr>
              <a:t>-اصابته بصدمة كهربائي </a:t>
            </a:r>
            <a:r>
              <a:rPr lang="ar-DZ" sz="2400" b="1" dirty="0" err="1">
                <a:solidFill>
                  <a:schemeClr val="bg1"/>
                </a:solidFill>
              </a:rPr>
              <a:t>لانه</a:t>
            </a:r>
            <a:r>
              <a:rPr lang="ar-DZ" sz="2400" b="1" dirty="0">
                <a:solidFill>
                  <a:schemeClr val="bg1"/>
                </a:solidFill>
              </a:rPr>
              <a:t> لمس سلك الطور مع وجود القاطعة في الحيادي فلم تحميه من عدم مرور التيار الكهربائي </a:t>
            </a:r>
          </a:p>
          <a:p>
            <a:pPr algn="r"/>
            <a:r>
              <a:rPr lang="ar-DZ" sz="2400" b="1" dirty="0">
                <a:solidFill>
                  <a:schemeClr val="bg1"/>
                </a:solidFill>
              </a:rPr>
              <a:t>-عدم اشتغال جهاز مكيف الهواء لان </a:t>
            </a:r>
            <a:r>
              <a:rPr lang="ar-DZ" sz="2400" b="1" dirty="0" err="1">
                <a:solidFill>
                  <a:schemeClr val="bg1"/>
                </a:solidFill>
              </a:rPr>
              <a:t>الصهورة</a:t>
            </a:r>
            <a:r>
              <a:rPr lang="ar-DZ" sz="2400" b="1" dirty="0">
                <a:solidFill>
                  <a:schemeClr val="bg1"/>
                </a:solidFill>
              </a:rPr>
              <a:t> الخاصة </a:t>
            </a:r>
            <a:r>
              <a:rPr lang="ar-DZ" sz="2400" b="1" dirty="0" err="1">
                <a:solidFill>
                  <a:schemeClr val="bg1"/>
                </a:solidFill>
              </a:rPr>
              <a:t>به</a:t>
            </a:r>
            <a:r>
              <a:rPr lang="ar-DZ" sz="2400" b="1" dirty="0">
                <a:solidFill>
                  <a:schemeClr val="bg1"/>
                </a:solidFill>
              </a:rPr>
              <a:t> قيمتها اصغر من قيمة الشدة التي </a:t>
            </a:r>
            <a:r>
              <a:rPr lang="ar-DZ" sz="2400" b="1" dirty="0" err="1">
                <a:solidFill>
                  <a:schemeClr val="bg1"/>
                </a:solidFill>
              </a:rPr>
              <a:t>يشتغل</a:t>
            </a:r>
            <a:r>
              <a:rPr lang="ar-DZ" sz="2400" b="1" dirty="0">
                <a:solidFill>
                  <a:schemeClr val="bg1"/>
                </a:solidFill>
              </a:rPr>
              <a:t> </a:t>
            </a:r>
            <a:r>
              <a:rPr lang="ar-DZ" sz="2400" b="1" dirty="0" err="1">
                <a:solidFill>
                  <a:schemeClr val="bg1"/>
                </a:solidFill>
              </a:rPr>
              <a:t>بها</a:t>
            </a:r>
            <a:r>
              <a:rPr lang="ar-DZ" sz="2400" b="1" dirty="0">
                <a:solidFill>
                  <a:schemeClr val="bg1"/>
                </a:solidFill>
              </a:rPr>
              <a:t> الجهاز</a:t>
            </a:r>
          </a:p>
          <a:p>
            <a:pPr algn="r"/>
            <a:r>
              <a:rPr lang="fr-FR" sz="2400" b="1" dirty="0">
                <a:solidFill>
                  <a:schemeClr val="bg1"/>
                </a:solidFill>
              </a:rPr>
              <a:t>I=P/U=2.5x100/230=2500/230=10.83A </a:t>
            </a:r>
            <a:r>
              <a:rPr lang="ar-DZ" sz="2400" b="1" dirty="0">
                <a:solidFill>
                  <a:schemeClr val="bg1"/>
                </a:solidFill>
              </a:rPr>
              <a:t> ومنه </a:t>
            </a:r>
            <a:r>
              <a:rPr lang="fr-FR" sz="2400" b="1" dirty="0">
                <a:solidFill>
                  <a:schemeClr val="bg1"/>
                </a:solidFill>
              </a:rPr>
              <a:t>P=</a:t>
            </a:r>
            <a:r>
              <a:rPr lang="fr-FR" sz="2400" b="1" dirty="0" err="1">
                <a:solidFill>
                  <a:schemeClr val="bg1"/>
                </a:solidFill>
              </a:rPr>
              <a:t>UxI</a:t>
            </a:r>
            <a:r>
              <a:rPr lang="fr-FR" sz="2400" b="1" dirty="0">
                <a:solidFill>
                  <a:schemeClr val="bg1"/>
                </a:solidFill>
              </a:rPr>
              <a:t> </a:t>
            </a:r>
            <a:r>
              <a:rPr lang="ar-DZ" sz="2400" b="1" dirty="0">
                <a:solidFill>
                  <a:schemeClr val="bg1"/>
                </a:solidFill>
              </a:rPr>
              <a:t>   </a:t>
            </a:r>
          </a:p>
          <a:p>
            <a:pPr algn="r"/>
            <a:r>
              <a:rPr lang="fr-FR" sz="2400" b="1" dirty="0">
                <a:solidFill>
                  <a:schemeClr val="bg1"/>
                </a:solidFill>
              </a:rPr>
              <a:t>10A</a:t>
            </a:r>
            <a:r>
              <a:rPr lang="ar-DZ" sz="2400" b="1" dirty="0">
                <a:solidFill>
                  <a:schemeClr val="bg1"/>
                </a:solidFill>
              </a:rPr>
              <a:t> اكبر من قيمة </a:t>
            </a:r>
            <a:r>
              <a:rPr lang="ar-DZ" sz="2400" b="1" dirty="0" err="1">
                <a:solidFill>
                  <a:schemeClr val="bg1"/>
                </a:solidFill>
              </a:rPr>
              <a:t>الصهورة</a:t>
            </a:r>
            <a:r>
              <a:rPr lang="ar-DZ" sz="2400" b="1" dirty="0">
                <a:solidFill>
                  <a:schemeClr val="bg1"/>
                </a:solidFill>
              </a:rPr>
              <a:t> </a:t>
            </a:r>
            <a:r>
              <a:rPr lang="fr-FR" sz="2400" b="1" dirty="0">
                <a:solidFill>
                  <a:schemeClr val="bg1"/>
                </a:solidFill>
              </a:rPr>
              <a:t>10.83A</a:t>
            </a:r>
            <a:r>
              <a:rPr lang="ar-DZ" sz="2400" b="1" dirty="0">
                <a:solidFill>
                  <a:schemeClr val="bg1"/>
                </a:solidFill>
              </a:rPr>
              <a:t>اذن شدة التيار التي يشغلها المكيف</a:t>
            </a:r>
            <a:endParaRPr lang="fr-FR" sz="2400" b="1" dirty="0">
              <a:solidFill>
                <a:schemeClr val="bg1"/>
              </a:solidFill>
            </a:endParaRPr>
          </a:p>
          <a:p>
            <a:pPr algn="r"/>
            <a:r>
              <a:rPr lang="ar-DZ" sz="2400" b="1" dirty="0">
                <a:solidFill>
                  <a:schemeClr val="bg1"/>
                </a:solidFill>
              </a:rPr>
              <a:t>3-الحلول المقترحة </a:t>
            </a:r>
          </a:p>
          <a:p>
            <a:pPr algn="r"/>
            <a:r>
              <a:rPr lang="ar-DZ" sz="2400" b="1" dirty="0">
                <a:solidFill>
                  <a:schemeClr val="bg1"/>
                </a:solidFill>
              </a:rPr>
              <a:t>-ضبط زر  القاطع في قيمة اكبر من القيمة المستعملة حتى يسمح بتشغيل الاجهزة معا </a:t>
            </a:r>
          </a:p>
          <a:p>
            <a:pPr algn="r"/>
            <a:r>
              <a:rPr lang="ar-DZ" sz="2400" b="1" dirty="0">
                <a:solidFill>
                  <a:schemeClr val="bg1"/>
                </a:solidFill>
              </a:rPr>
              <a:t>-عزل سلك طور المصباح في مثبته و </a:t>
            </a:r>
            <a:r>
              <a:rPr lang="ar-DZ" sz="2400" b="1" dirty="0" err="1">
                <a:solidFill>
                  <a:schemeClr val="bg1"/>
                </a:solidFill>
              </a:rPr>
              <a:t>تركسب</a:t>
            </a:r>
            <a:r>
              <a:rPr lang="ar-DZ" sz="2400" b="1" dirty="0">
                <a:solidFill>
                  <a:schemeClr val="bg1"/>
                </a:solidFill>
              </a:rPr>
              <a:t> القاطعة في سلك الطور </a:t>
            </a:r>
          </a:p>
          <a:p>
            <a:pPr algn="r"/>
            <a:r>
              <a:rPr lang="fr-FR" sz="2400" b="1" dirty="0">
                <a:solidFill>
                  <a:schemeClr val="bg1"/>
                </a:solidFill>
              </a:rPr>
              <a:t>10A</a:t>
            </a:r>
            <a:r>
              <a:rPr lang="ar-DZ" sz="2400" b="1" dirty="0">
                <a:solidFill>
                  <a:schemeClr val="bg1"/>
                </a:solidFill>
              </a:rPr>
              <a:t> -تغيير </a:t>
            </a:r>
            <a:r>
              <a:rPr lang="ar-DZ" sz="2400" b="1" dirty="0" err="1">
                <a:solidFill>
                  <a:schemeClr val="bg1"/>
                </a:solidFill>
              </a:rPr>
              <a:t>صهورة</a:t>
            </a:r>
            <a:r>
              <a:rPr lang="ar-DZ" sz="2400" b="1" dirty="0">
                <a:solidFill>
                  <a:schemeClr val="bg1"/>
                </a:solidFill>
              </a:rPr>
              <a:t> المكيف </a:t>
            </a:r>
            <a:r>
              <a:rPr lang="ar-DZ" sz="2400" b="1" dirty="0" err="1">
                <a:solidFill>
                  <a:schemeClr val="bg1"/>
                </a:solidFill>
              </a:rPr>
              <a:t>بصهورة</a:t>
            </a:r>
            <a:r>
              <a:rPr lang="ar-DZ" sz="2400" b="1" dirty="0">
                <a:solidFill>
                  <a:schemeClr val="bg1"/>
                </a:solidFill>
              </a:rPr>
              <a:t> قيمتها اكبر من </a:t>
            </a:r>
            <a:endParaRPr lang="fr-FR" sz="2400"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الثاني </a:t>
            </a:r>
            <a:endParaRPr lang="fr-FR" sz="6000"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(5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000" b="1" dirty="0">
              <a:solidFill>
                <a:schemeClr val="bg1"/>
              </a:solidFill>
            </a:endParaRPr>
          </a:p>
          <a:p>
            <a:pPr algn="r"/>
            <a:r>
              <a:rPr lang="ar-DZ" sz="2000" b="1" dirty="0">
                <a:solidFill>
                  <a:schemeClr val="bg1"/>
                </a:solidFill>
              </a:rPr>
              <a:t>وزع استاذ العلوم الفيزيائية التلاميذ الى فوجين</a:t>
            </a:r>
          </a:p>
          <a:p>
            <a:pPr algn="r"/>
            <a:r>
              <a:rPr lang="ar-DZ" sz="2000" b="1" dirty="0">
                <a:solidFill>
                  <a:schemeClr val="bg1"/>
                </a:solidFill>
              </a:rPr>
              <a:t>ثم طلب من الفوج الاول وضع مسحوق  الزنك   في انبوب</a:t>
            </a:r>
          </a:p>
          <a:p>
            <a:pPr algn="r"/>
            <a:r>
              <a:rPr lang="ar-DZ" sz="2000" b="1" dirty="0">
                <a:solidFill>
                  <a:schemeClr val="bg1"/>
                </a:solidFill>
              </a:rPr>
              <a:t> اختبار و اضافة له  كمية من محلول حمض </a:t>
            </a:r>
            <a:r>
              <a:rPr lang="ar-DZ" sz="2000" b="1" dirty="0" err="1">
                <a:solidFill>
                  <a:schemeClr val="bg1"/>
                </a:solidFill>
              </a:rPr>
              <a:t>كلور</a:t>
            </a:r>
            <a:r>
              <a:rPr lang="ar-DZ" sz="2000" b="1" dirty="0">
                <a:solidFill>
                  <a:schemeClr val="bg1"/>
                </a:solidFill>
              </a:rPr>
              <a:t> الماء كما في الشكل 1</a:t>
            </a:r>
          </a:p>
          <a:p>
            <a:pPr algn="r"/>
            <a:r>
              <a:rPr lang="ar-DZ" sz="2000" b="1" dirty="0">
                <a:solidFill>
                  <a:schemeClr val="bg1"/>
                </a:solidFill>
              </a:rPr>
              <a:t> فلاحظوا  حدوث فوران وانطلاق عاز  وتشكل محلول جديد </a:t>
            </a:r>
          </a:p>
          <a:p>
            <a:pPr algn="r"/>
            <a:r>
              <a:rPr lang="ar-DZ" sz="2000" b="1" dirty="0">
                <a:solidFill>
                  <a:schemeClr val="bg1"/>
                </a:solidFill>
              </a:rPr>
              <a:t>اما الفوج الثاني طلب منهم وضع مسحوق </a:t>
            </a:r>
            <a:r>
              <a:rPr lang="ar-DZ" sz="2000" b="1" dirty="0" err="1">
                <a:solidFill>
                  <a:schemeClr val="bg1"/>
                </a:solidFill>
              </a:rPr>
              <a:t>كلور</a:t>
            </a:r>
            <a:r>
              <a:rPr lang="ar-DZ" sz="2000" b="1" dirty="0">
                <a:solidFill>
                  <a:schemeClr val="bg1"/>
                </a:solidFill>
              </a:rPr>
              <a:t> الزنك </a:t>
            </a:r>
          </a:p>
          <a:p>
            <a:pPr algn="r"/>
            <a:r>
              <a:rPr lang="ar-DZ" sz="2000" b="1" dirty="0">
                <a:solidFill>
                  <a:schemeClr val="bg1"/>
                </a:solidFill>
              </a:rPr>
              <a:t> فى وعاء التحليل الكهربائي  المتصل بدارة كهربائية كما في الشكل 2</a:t>
            </a:r>
          </a:p>
          <a:p>
            <a:pPr algn="r"/>
            <a:r>
              <a:rPr lang="ar-DZ" sz="2000" b="1" dirty="0">
                <a:solidFill>
                  <a:schemeClr val="bg1"/>
                </a:solidFill>
              </a:rPr>
              <a:t>فلاحظوا انه لم  يتوهج المصباح وعند اضافة الماء المقطر للمسحوق لاحظوا  توهج </a:t>
            </a:r>
          </a:p>
          <a:p>
            <a:pPr algn="r"/>
            <a:r>
              <a:rPr lang="ar-DZ" sz="2000" b="1" dirty="0">
                <a:solidFill>
                  <a:schemeClr val="bg1"/>
                </a:solidFill>
              </a:rPr>
              <a:t>المصباح و صعود  غاز معين  في المصعد  وترسب معدن  في المهبط  </a:t>
            </a:r>
          </a:p>
          <a:p>
            <a:pPr algn="r"/>
            <a:r>
              <a:rPr lang="ar-DZ" sz="2000" b="1" dirty="0">
                <a:solidFill>
                  <a:schemeClr val="bg1"/>
                </a:solidFill>
              </a:rPr>
              <a:t>1-سم الغاز الذي ينطلق عند  كل فوج ثم اكتب صيغته الكيميائية </a:t>
            </a:r>
          </a:p>
          <a:p>
            <a:pPr algn="r"/>
            <a:r>
              <a:rPr lang="ar-DZ" sz="2000" b="1" dirty="0">
                <a:solidFill>
                  <a:schemeClr val="bg1"/>
                </a:solidFill>
              </a:rPr>
              <a:t>2-لماذا لم يتوهج المصباح في الحالة الاولى ثم توهج في الحالة </a:t>
            </a:r>
            <a:r>
              <a:rPr lang="ar-DZ" sz="2000" b="1" dirty="0" err="1">
                <a:solidFill>
                  <a:schemeClr val="bg1"/>
                </a:solidFill>
              </a:rPr>
              <a:t>الثانية ؟</a:t>
            </a:r>
            <a:r>
              <a:rPr lang="ar-DZ" sz="2000" b="1" dirty="0">
                <a:solidFill>
                  <a:schemeClr val="bg1"/>
                </a:solidFill>
              </a:rPr>
              <a:t> </a:t>
            </a:r>
          </a:p>
          <a:p>
            <a:pPr algn="r"/>
            <a:r>
              <a:rPr lang="ar-DZ" sz="2000" b="1" dirty="0">
                <a:solidFill>
                  <a:schemeClr val="bg1"/>
                </a:solidFill>
              </a:rPr>
              <a:t>3-اكمل معادلة التفاعل التي تحدث عند كل فوج</a:t>
            </a:r>
          </a:p>
          <a:p>
            <a:pPr algn="r"/>
            <a:r>
              <a:rPr lang="ar-DZ" sz="2000" b="1" dirty="0">
                <a:solidFill>
                  <a:schemeClr val="bg1"/>
                </a:solidFill>
              </a:rPr>
              <a:t>الفوج الاول   </a:t>
            </a:r>
            <a:endParaRPr lang="fr-FR" sz="2000" b="1" dirty="0">
              <a:solidFill>
                <a:schemeClr val="bg1"/>
              </a:solidFill>
            </a:endParaRPr>
          </a:p>
          <a:p>
            <a:pPr algn="r"/>
            <a:r>
              <a:rPr lang="fr-FR" sz="2000" b="1" dirty="0">
                <a:solidFill>
                  <a:schemeClr val="bg1"/>
                </a:solidFill>
              </a:rPr>
              <a:t>Zn(….)+… (H</a:t>
            </a:r>
            <a:r>
              <a:rPr lang="fr-FR" sz="2000" b="1" baseline="30000" dirty="0">
                <a:solidFill>
                  <a:schemeClr val="bg1"/>
                </a:solidFill>
              </a:rPr>
              <a:t>+</a:t>
            </a:r>
            <a:r>
              <a:rPr lang="fr-FR" sz="2000" b="1" dirty="0">
                <a:solidFill>
                  <a:schemeClr val="bg1"/>
                </a:solidFill>
              </a:rPr>
              <a:t>+Cl</a:t>
            </a:r>
            <a:r>
              <a:rPr lang="fr-FR" sz="2000" b="1" baseline="30000" dirty="0">
                <a:solidFill>
                  <a:schemeClr val="bg1"/>
                </a:solidFill>
              </a:rPr>
              <a:t>-</a:t>
            </a:r>
            <a:r>
              <a:rPr lang="fr-FR" sz="2000" b="1" dirty="0">
                <a:solidFill>
                  <a:schemeClr val="bg1"/>
                </a:solidFill>
              </a:rPr>
              <a:t>)(….)           (Zn</a:t>
            </a:r>
            <a:r>
              <a:rPr lang="fr-FR" sz="2000" b="1" baseline="30000" dirty="0">
                <a:solidFill>
                  <a:schemeClr val="bg1"/>
                </a:solidFill>
              </a:rPr>
              <a:t>2+</a:t>
            </a:r>
            <a:r>
              <a:rPr lang="fr-FR" sz="2000" b="1" dirty="0">
                <a:solidFill>
                  <a:schemeClr val="bg1"/>
                </a:solidFill>
              </a:rPr>
              <a:t>+….Cl</a:t>
            </a:r>
            <a:r>
              <a:rPr lang="fr-FR" sz="2000" b="1" baseline="30000" dirty="0">
                <a:solidFill>
                  <a:schemeClr val="bg1"/>
                </a:solidFill>
              </a:rPr>
              <a:t>-</a:t>
            </a:r>
            <a:r>
              <a:rPr lang="fr-FR" sz="2000" b="1" dirty="0">
                <a:solidFill>
                  <a:schemeClr val="bg1"/>
                </a:solidFill>
              </a:rPr>
              <a:t>)(...) + H</a:t>
            </a:r>
            <a:r>
              <a:rPr lang="fr-FR" sz="2000" b="1" baseline="-25000" dirty="0">
                <a:solidFill>
                  <a:schemeClr val="bg1"/>
                </a:solidFill>
              </a:rPr>
              <a:t>2</a:t>
            </a:r>
            <a:r>
              <a:rPr lang="fr-FR" sz="2000" b="1" dirty="0">
                <a:solidFill>
                  <a:schemeClr val="bg1"/>
                </a:solidFill>
              </a:rPr>
              <a:t>(…)</a:t>
            </a:r>
            <a:endParaRPr lang="ar-DZ" sz="2000" b="1" dirty="0">
              <a:solidFill>
                <a:schemeClr val="bg1"/>
              </a:solidFill>
            </a:endParaRPr>
          </a:p>
          <a:p>
            <a:pPr algn="r"/>
            <a:r>
              <a:rPr lang="ar-DZ" sz="2000" b="1" dirty="0">
                <a:solidFill>
                  <a:schemeClr val="bg1"/>
                </a:solidFill>
              </a:rPr>
              <a:t>الفوج </a:t>
            </a:r>
            <a:r>
              <a:rPr lang="ar-DZ" sz="2000" b="1" dirty="0" err="1">
                <a:solidFill>
                  <a:schemeClr val="bg1"/>
                </a:solidFill>
              </a:rPr>
              <a:t>االثاني</a:t>
            </a:r>
            <a:r>
              <a:rPr lang="ar-DZ" sz="2000" b="1" dirty="0">
                <a:solidFill>
                  <a:schemeClr val="bg1"/>
                </a:solidFill>
              </a:rPr>
              <a:t>   </a:t>
            </a:r>
          </a:p>
          <a:p>
            <a:pPr algn="r"/>
            <a:r>
              <a:rPr lang="fr-FR" sz="2000" b="1" dirty="0">
                <a:solidFill>
                  <a:schemeClr val="bg1"/>
                </a:solidFill>
              </a:rPr>
              <a:t>..... Cl</a:t>
            </a:r>
            <a:r>
              <a:rPr lang="fr-FR" sz="2000" b="1" baseline="30000" dirty="0">
                <a:solidFill>
                  <a:schemeClr val="bg1"/>
                </a:solidFill>
              </a:rPr>
              <a:t>-</a:t>
            </a:r>
            <a:r>
              <a:rPr lang="fr-FR" sz="2000" b="1" dirty="0">
                <a:solidFill>
                  <a:schemeClr val="bg1"/>
                </a:solidFill>
              </a:rPr>
              <a:t> (……)</a:t>
            </a:r>
            <a:r>
              <a:rPr lang="ar-DZ" sz="2000" b="1" dirty="0">
                <a:solidFill>
                  <a:schemeClr val="bg1"/>
                </a:solidFill>
              </a:rPr>
              <a:t>  </a:t>
            </a:r>
            <a:r>
              <a:rPr lang="ar-DZ" sz="2000" b="1" dirty="0" err="1">
                <a:solidFill>
                  <a:schemeClr val="bg1"/>
                </a:solidFill>
              </a:rPr>
              <a:t>+</a:t>
            </a:r>
            <a:r>
              <a:rPr lang="ar-DZ" sz="2000" b="1" dirty="0">
                <a:solidFill>
                  <a:schemeClr val="bg1"/>
                </a:solidFill>
              </a:rPr>
              <a:t> </a:t>
            </a:r>
            <a:r>
              <a:rPr lang="fr-FR" sz="2000" b="1" dirty="0">
                <a:solidFill>
                  <a:schemeClr val="bg1"/>
                </a:solidFill>
              </a:rPr>
              <a:t>Zn</a:t>
            </a:r>
            <a:r>
              <a:rPr lang="fr-FR" sz="2000" b="1" baseline="30000" dirty="0">
                <a:solidFill>
                  <a:schemeClr val="bg1"/>
                </a:solidFill>
              </a:rPr>
              <a:t>2+ </a:t>
            </a:r>
            <a:r>
              <a:rPr lang="fr-FR" sz="2000" b="1" dirty="0">
                <a:solidFill>
                  <a:schemeClr val="bg1"/>
                </a:solidFill>
              </a:rPr>
              <a:t>(……)</a:t>
            </a:r>
            <a:r>
              <a:rPr lang="fr-FR" sz="2000" b="1" baseline="30000" dirty="0">
                <a:solidFill>
                  <a:schemeClr val="bg1"/>
                </a:solidFill>
              </a:rPr>
              <a:t>                </a:t>
            </a:r>
            <a:r>
              <a:rPr lang="fr-FR" sz="2000" b="1" dirty="0">
                <a:solidFill>
                  <a:schemeClr val="bg1"/>
                </a:solidFill>
              </a:rPr>
              <a:t>….. (s)   </a:t>
            </a:r>
            <a:r>
              <a:rPr lang="ar-DZ" sz="2000" b="1" dirty="0" err="1">
                <a:solidFill>
                  <a:schemeClr val="bg1"/>
                </a:solidFill>
              </a:rPr>
              <a:t>+</a:t>
            </a:r>
            <a:r>
              <a:rPr lang="fr-FR" sz="2000" b="1" dirty="0">
                <a:solidFill>
                  <a:schemeClr val="bg1"/>
                </a:solidFill>
              </a:rPr>
              <a:t>   …..(g).</a:t>
            </a:r>
          </a:p>
          <a:p>
            <a:pPr algn="r"/>
            <a:r>
              <a:rPr lang="ar-DZ" sz="20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980728"/>
            <a:ext cx="2304256" cy="1800200"/>
          </a:xfrm>
          <a:prstGeom prst="rect">
            <a:avLst/>
          </a:prstGeom>
          <a:noFill/>
          <a:ln w="9525">
            <a:noFill/>
            <a:miter lim="800000"/>
            <a:headEnd/>
            <a:tailEnd/>
          </a:ln>
        </p:spPr>
      </p:pic>
      <p:pic>
        <p:nvPicPr>
          <p:cNvPr id="8"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3212976"/>
            <a:ext cx="2231232" cy="1944216"/>
          </a:xfrm>
          <a:prstGeom prst="rect">
            <a:avLst/>
          </a:prstGeom>
          <a:noFill/>
          <a:ln w="9525">
            <a:noFill/>
            <a:miter lim="800000"/>
            <a:headEnd/>
            <a:tailEnd/>
          </a:ln>
        </p:spPr>
      </p:pic>
      <p:sp>
        <p:nvSpPr>
          <p:cNvPr id="9" name="Rectangle à coins arrondis 8"/>
          <p:cNvSpPr/>
          <p:nvPr/>
        </p:nvSpPr>
        <p:spPr>
          <a:xfrm>
            <a:off x="395536" y="2852936"/>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1</a:t>
            </a:r>
            <a:endParaRPr lang="fr-FR" b="1" dirty="0">
              <a:solidFill>
                <a:schemeClr val="bg1"/>
              </a:solidFill>
            </a:endParaRPr>
          </a:p>
        </p:txBody>
      </p:sp>
      <p:sp>
        <p:nvSpPr>
          <p:cNvPr id="10" name="Rectangle à coins arrondis 9"/>
          <p:cNvSpPr/>
          <p:nvPr/>
        </p:nvSpPr>
        <p:spPr>
          <a:xfrm>
            <a:off x="395536" y="5085184"/>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2</a:t>
            </a:r>
            <a:endParaRPr lang="fr-FR" b="1" dirty="0">
              <a:solidFill>
                <a:schemeClr val="bg1"/>
              </a:solidFill>
            </a:endParaRPr>
          </a:p>
        </p:txBody>
      </p:sp>
      <p:cxnSp>
        <p:nvCxnSpPr>
          <p:cNvPr id="12" name="Connecteur droit avec flèche 11"/>
          <p:cNvCxnSpPr/>
          <p:nvPr/>
        </p:nvCxnSpPr>
        <p:spPr>
          <a:xfrm>
            <a:off x="5292080" y="4869160"/>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6084168" y="5517232"/>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836712"/>
            <a:ext cx="9252520" cy="602128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عندما زار احمد  ميناء الجزائر العاصمة شاهد </a:t>
            </a:r>
          </a:p>
          <a:p>
            <a:pPr algn="r"/>
            <a:r>
              <a:rPr lang="fr-FR" sz="2400" b="1" dirty="0">
                <a:solidFill>
                  <a:schemeClr val="bg1"/>
                </a:solidFill>
              </a:rPr>
              <a:t>m=2000kg</a:t>
            </a:r>
            <a:r>
              <a:rPr lang="ar-DZ" sz="2400" b="1" dirty="0">
                <a:solidFill>
                  <a:schemeClr val="bg1"/>
                </a:solidFill>
              </a:rPr>
              <a:t> كتلته  </a:t>
            </a:r>
            <a:r>
              <a:rPr lang="fr-FR" sz="2400" b="1" dirty="0">
                <a:solidFill>
                  <a:schemeClr val="bg1"/>
                </a:solidFill>
              </a:rPr>
              <a:t>(S)</a:t>
            </a:r>
            <a:r>
              <a:rPr lang="ar-DZ" sz="2400" b="1" dirty="0">
                <a:solidFill>
                  <a:schemeClr val="bg1"/>
                </a:solidFill>
              </a:rPr>
              <a:t> رافعة متوقفة تحمل حمولة  </a:t>
            </a:r>
          </a:p>
          <a:p>
            <a:pPr algn="r"/>
            <a:r>
              <a:rPr lang="ar-DZ" sz="2400" b="1" dirty="0">
                <a:solidFill>
                  <a:schemeClr val="bg1"/>
                </a:solidFill>
              </a:rPr>
              <a:t>كما في الشكل 1 </a:t>
            </a:r>
            <a:r>
              <a:rPr lang="fr-FR" sz="2400" b="1" dirty="0">
                <a:solidFill>
                  <a:schemeClr val="bg1"/>
                </a:solidFill>
              </a:rPr>
              <a:t>(f)</a:t>
            </a:r>
            <a:r>
              <a:rPr lang="ar-DZ" sz="2400" b="1" dirty="0">
                <a:solidFill>
                  <a:schemeClr val="bg1"/>
                </a:solidFill>
              </a:rPr>
              <a:t> مربوط بحبل </a:t>
            </a:r>
          </a:p>
          <a:p>
            <a:pPr algn="r"/>
            <a:r>
              <a:rPr lang="ar-DZ" sz="2400" b="1" dirty="0">
                <a:solidFill>
                  <a:schemeClr val="bg1"/>
                </a:solidFill>
              </a:rPr>
              <a:t>1-احسب ثقل الحمولة  ثم  مثل الفعلين المتبادلين بين </a:t>
            </a:r>
          </a:p>
          <a:p>
            <a:pPr algn="r"/>
            <a:r>
              <a:rPr lang="fr-FR" sz="2400" b="1" dirty="0">
                <a:solidFill>
                  <a:schemeClr val="bg1"/>
                </a:solidFill>
              </a:rPr>
              <a:t>10000N       1cm</a:t>
            </a:r>
            <a:r>
              <a:rPr lang="ar-DZ" sz="2400" b="1" dirty="0">
                <a:solidFill>
                  <a:schemeClr val="bg1"/>
                </a:solidFill>
              </a:rPr>
              <a:t>الجسم و الحبل بسلم    </a:t>
            </a:r>
          </a:p>
          <a:p>
            <a:pPr algn="r"/>
            <a:r>
              <a:rPr lang="ar-DZ" sz="2400" b="1" dirty="0">
                <a:solidFill>
                  <a:schemeClr val="bg1"/>
                </a:solidFill>
              </a:rPr>
              <a:t>2-بعد انقطاع الحبل سقطت الحمولة في ماء البحر </a:t>
            </a:r>
          </a:p>
          <a:p>
            <a:pPr algn="r"/>
            <a:r>
              <a:rPr lang="ar-DZ" sz="2400" b="1" dirty="0">
                <a:solidFill>
                  <a:schemeClr val="bg1"/>
                </a:solidFill>
              </a:rPr>
              <a:t>وبقيت طافية  كما في الشكل 2</a:t>
            </a:r>
          </a:p>
          <a:p>
            <a:pPr algn="r"/>
            <a:r>
              <a:rPr lang="ar-DZ" sz="2400" b="1" dirty="0">
                <a:solidFill>
                  <a:schemeClr val="bg1"/>
                </a:solidFill>
              </a:rPr>
              <a:t>-استنتج قيمة دافعة </a:t>
            </a:r>
            <a:r>
              <a:rPr lang="ar-DZ" sz="2400" b="1" dirty="0" err="1">
                <a:solidFill>
                  <a:schemeClr val="bg1"/>
                </a:solidFill>
              </a:rPr>
              <a:t>ارخميدس</a:t>
            </a:r>
            <a:r>
              <a:rPr lang="ar-DZ" sz="2400" b="1" dirty="0">
                <a:solidFill>
                  <a:schemeClr val="bg1"/>
                </a:solidFill>
              </a:rPr>
              <a:t> ثم مثل القوى المؤثرة عليها</a:t>
            </a:r>
          </a:p>
          <a:p>
            <a:pPr algn="r"/>
            <a:r>
              <a:rPr lang="ar-DZ" sz="2400" b="1" dirty="0">
                <a:solidFill>
                  <a:schemeClr val="bg1"/>
                </a:solidFill>
              </a:rPr>
              <a:t>3-اكتب شرط التوازن في </a:t>
            </a:r>
            <a:r>
              <a:rPr lang="ar-DZ" sz="2400" b="1" dirty="0" err="1">
                <a:solidFill>
                  <a:schemeClr val="bg1"/>
                </a:solidFill>
              </a:rPr>
              <a:t>الحالتين </a:t>
            </a:r>
            <a:r>
              <a:rPr lang="ar-DZ" sz="2400" b="1" dirty="0">
                <a:solidFill>
                  <a:schemeClr val="bg1"/>
                </a:solidFill>
              </a:rPr>
              <a:t>(شكل 1 </a:t>
            </a:r>
            <a:r>
              <a:rPr lang="ar-DZ" sz="2400" b="1" dirty="0" err="1">
                <a:solidFill>
                  <a:schemeClr val="bg1"/>
                </a:solidFill>
              </a:rPr>
              <a:t>وشكل2)</a:t>
            </a:r>
            <a:endParaRPr lang="ar-DZ" sz="2400" b="1" dirty="0">
              <a:solidFill>
                <a:schemeClr val="bg1"/>
              </a:solidFill>
            </a:endParaRPr>
          </a:p>
          <a:p>
            <a:pPr algn="r"/>
            <a:r>
              <a:rPr lang="ar-DZ" sz="2400" b="1" dirty="0">
                <a:solidFill>
                  <a:schemeClr val="bg1"/>
                </a:solidFill>
              </a:rPr>
              <a:t>ماذا </a:t>
            </a:r>
            <a:r>
              <a:rPr lang="ar-DZ" sz="2400" b="1" dirty="0" err="1">
                <a:solidFill>
                  <a:schemeClr val="bg1"/>
                </a:solidFill>
              </a:rPr>
              <a:t>تلاحظ  ؟</a:t>
            </a:r>
            <a:r>
              <a:rPr lang="ar-DZ" sz="2400" b="1" dirty="0">
                <a:solidFill>
                  <a:schemeClr val="bg1"/>
                </a:solidFill>
              </a:rPr>
              <a:t>  </a:t>
            </a:r>
          </a:p>
        </p:txBody>
      </p:sp>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(7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pic>
        <p:nvPicPr>
          <p:cNvPr id="5"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484784"/>
            <a:ext cx="2736304" cy="2016224"/>
          </a:xfrm>
          <a:prstGeom prst="rect">
            <a:avLst/>
          </a:prstGeom>
          <a:noFill/>
          <a:ln w="9525">
            <a:noFill/>
            <a:miter lim="800000"/>
            <a:headEnd/>
            <a:tailEnd/>
          </a:ln>
        </p:spPr>
      </p:pic>
      <p:pic>
        <p:nvPicPr>
          <p:cNvPr id="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51520" y="4005064"/>
            <a:ext cx="2736304" cy="2160240"/>
          </a:xfrm>
          <a:prstGeom prst="rect">
            <a:avLst/>
          </a:prstGeom>
          <a:noFill/>
          <a:ln w="9525">
            <a:noFill/>
            <a:miter lim="800000"/>
            <a:headEnd/>
            <a:tailEnd/>
          </a:ln>
        </p:spPr>
      </p:pic>
      <p:pic>
        <p:nvPicPr>
          <p:cNvPr id="7"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47664" y="2204864"/>
            <a:ext cx="864096" cy="432048"/>
          </a:xfrm>
          <a:prstGeom prst="rect">
            <a:avLst/>
          </a:prstGeom>
          <a:noFill/>
          <a:ln w="9525">
            <a:noFill/>
            <a:miter lim="800000"/>
            <a:headEnd/>
            <a:tailEnd/>
          </a:ln>
        </p:spPr>
      </p:pic>
      <p:cxnSp>
        <p:nvCxnSpPr>
          <p:cNvPr id="8" name="Connecteur droit avec flèche 7"/>
          <p:cNvCxnSpPr/>
          <p:nvPr/>
        </p:nvCxnSpPr>
        <p:spPr>
          <a:xfrm>
            <a:off x="5652120"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à coins arrondis 9"/>
          <p:cNvSpPr/>
          <p:nvPr/>
        </p:nvSpPr>
        <p:spPr>
          <a:xfrm>
            <a:off x="1619672" y="1700808"/>
            <a:ext cx="432048"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endParaRPr lang="fr-FR" b="1" dirty="0">
              <a:solidFill>
                <a:schemeClr val="bg1"/>
              </a:solidFill>
            </a:endParaRPr>
          </a:p>
        </p:txBody>
      </p:sp>
      <p:sp>
        <p:nvSpPr>
          <p:cNvPr id="12" name="Rectangle à coins arrondis 11"/>
          <p:cNvSpPr/>
          <p:nvPr/>
        </p:nvSpPr>
        <p:spPr>
          <a:xfrm>
            <a:off x="1043608" y="2996952"/>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1</a:t>
            </a:r>
            <a:endParaRPr lang="fr-FR" b="1" dirty="0">
              <a:solidFill>
                <a:schemeClr val="bg1"/>
              </a:solidFill>
            </a:endParaRPr>
          </a:p>
        </p:txBody>
      </p:sp>
      <p:sp>
        <p:nvSpPr>
          <p:cNvPr id="13" name="Rectangle à coins arrondis 12"/>
          <p:cNvSpPr/>
          <p:nvPr/>
        </p:nvSpPr>
        <p:spPr>
          <a:xfrm>
            <a:off x="827584" y="5661248"/>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2</a:t>
            </a:r>
            <a:endParaRPr lang="fr-FR" b="1" dirty="0">
              <a:solidFill>
                <a:schemeClr val="bg1"/>
              </a:solidFill>
            </a:endParaRPr>
          </a:p>
        </p:txBody>
      </p:sp>
      <p:sp>
        <p:nvSpPr>
          <p:cNvPr id="15" name="Rectangle 14"/>
          <p:cNvSpPr/>
          <p:nvPr/>
        </p:nvSpPr>
        <p:spPr>
          <a:xfrm>
            <a:off x="611560" y="4869160"/>
            <a:ext cx="2304256" cy="792088"/>
          </a:xfrm>
          <a:prstGeom prst="rect">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43608" y="4437112"/>
            <a:ext cx="1368152" cy="648072"/>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بعد بناء محمد منزله الجديد ركب الشبكة الكهربائية حسب </a:t>
            </a:r>
            <a:r>
              <a:rPr lang="ar-DZ" sz="2400" b="1" dirty="0" err="1">
                <a:solidFill>
                  <a:schemeClr val="bg1"/>
                </a:solidFill>
              </a:rPr>
              <a:t>المخطط </a:t>
            </a:r>
            <a:r>
              <a:rPr lang="ar-DZ" sz="2400" b="1" dirty="0">
                <a:solidFill>
                  <a:schemeClr val="bg1"/>
                </a:solidFill>
              </a:rPr>
              <a:t>(</a:t>
            </a:r>
            <a:r>
              <a:rPr lang="ar-DZ" sz="2400" b="1" dirty="0" err="1">
                <a:solidFill>
                  <a:schemeClr val="bg1"/>
                </a:solidFill>
              </a:rPr>
              <a:t>وثيقة3)</a:t>
            </a:r>
            <a:r>
              <a:rPr lang="ar-DZ" sz="2400" b="1" dirty="0">
                <a:solidFill>
                  <a:schemeClr val="bg1"/>
                </a:solidFill>
              </a:rPr>
              <a:t> </a:t>
            </a:r>
          </a:p>
          <a:p>
            <a:pPr algn="r"/>
            <a:r>
              <a:rPr lang="ar-DZ" sz="2400" b="1" dirty="0">
                <a:solidFill>
                  <a:schemeClr val="bg1"/>
                </a:solidFill>
              </a:rPr>
              <a:t>وعندما شاهد الكهربائي مخططه قال له انه ربما ستحدث لك عدة مشاكل بسببه </a:t>
            </a:r>
          </a:p>
          <a:p>
            <a:pPr algn="r"/>
            <a:r>
              <a:rPr lang="ar-DZ" sz="2400" b="1" dirty="0">
                <a:solidFill>
                  <a:schemeClr val="bg1"/>
                </a:solidFill>
              </a:rPr>
              <a:t>لأنك لم تحترم </a:t>
            </a:r>
            <a:r>
              <a:rPr lang="ar-DZ" sz="2400" b="1" dirty="0" err="1">
                <a:solidFill>
                  <a:schemeClr val="bg1"/>
                </a:solidFill>
              </a:rPr>
              <a:t>الاحتياطات</a:t>
            </a:r>
            <a:r>
              <a:rPr lang="ar-DZ" sz="2400" b="1" dirty="0">
                <a:solidFill>
                  <a:schemeClr val="bg1"/>
                </a:solidFill>
              </a:rPr>
              <a:t> الامنية المعمول </a:t>
            </a:r>
            <a:r>
              <a:rPr lang="ar-DZ" sz="2400" b="1" dirty="0" err="1">
                <a:solidFill>
                  <a:schemeClr val="bg1"/>
                </a:solidFill>
              </a:rPr>
              <a:t>بها</a:t>
            </a:r>
            <a:r>
              <a:rPr lang="ar-DZ" sz="2400" b="1" dirty="0">
                <a:solidFill>
                  <a:schemeClr val="bg1"/>
                </a:solidFill>
              </a:rPr>
              <a:t> في التركيبات الكهربائية   </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a:t>
            </a:r>
            <a:r>
              <a:rPr lang="ar-DZ" sz="2400" b="1" dirty="0" err="1">
                <a:solidFill>
                  <a:schemeClr val="bg1"/>
                </a:solidFill>
              </a:rPr>
              <a:t>ماهي</a:t>
            </a:r>
            <a:r>
              <a:rPr lang="ar-DZ" sz="2400" b="1" dirty="0">
                <a:solidFill>
                  <a:schemeClr val="bg1"/>
                </a:solidFill>
              </a:rPr>
              <a:t> المشكلة الممكن حدوثها فيما يخص تشغيل الثلاجة </a:t>
            </a:r>
          </a:p>
          <a:p>
            <a:pPr algn="r"/>
            <a:r>
              <a:rPr lang="ar-DZ" sz="2400" b="1" dirty="0">
                <a:solidFill>
                  <a:schemeClr val="bg1"/>
                </a:solidFill>
              </a:rPr>
              <a:t>و تشغيل المكيف الهوائي كل واحد منهما ومشكلة التي تحدث عند تشغيلهما </a:t>
            </a:r>
          </a:p>
          <a:p>
            <a:pPr algn="r"/>
            <a:r>
              <a:rPr lang="ar-DZ" sz="2400" b="1" dirty="0">
                <a:solidFill>
                  <a:schemeClr val="bg1"/>
                </a:solidFill>
              </a:rPr>
              <a:t>معا برر اجابتك في حل </a:t>
            </a:r>
            <a:r>
              <a:rPr lang="ar-DZ" sz="2400" b="1" dirty="0" err="1">
                <a:solidFill>
                  <a:schemeClr val="bg1"/>
                </a:solidFill>
              </a:rPr>
              <a:t>حالة ؟</a:t>
            </a:r>
            <a:endParaRPr lang="ar-DZ" sz="2400" b="1" dirty="0">
              <a:solidFill>
                <a:schemeClr val="bg1"/>
              </a:solidFill>
            </a:endParaRPr>
          </a:p>
          <a:p>
            <a:pPr algn="r"/>
            <a:r>
              <a:rPr lang="ar-DZ" sz="2400" b="1" dirty="0">
                <a:solidFill>
                  <a:schemeClr val="bg1"/>
                </a:solidFill>
              </a:rPr>
              <a:t>2- هل يمكن ان يصاب بصدمة كهربائية</a:t>
            </a:r>
          </a:p>
          <a:p>
            <a:pPr algn="r"/>
            <a:r>
              <a:rPr lang="ar-DZ" sz="2400" b="1" dirty="0">
                <a:solidFill>
                  <a:schemeClr val="bg1"/>
                </a:solidFill>
              </a:rPr>
              <a:t> من يريد استبدال المصباح </a:t>
            </a:r>
          </a:p>
          <a:p>
            <a:pPr algn="r"/>
            <a:r>
              <a:rPr lang="ar-DZ" sz="2400" b="1" dirty="0">
                <a:solidFill>
                  <a:schemeClr val="bg1"/>
                </a:solidFill>
              </a:rPr>
              <a:t>ويلمس سلط الطور  </a:t>
            </a:r>
            <a:r>
              <a:rPr lang="ar-DZ" sz="2400" b="1" dirty="0" err="1">
                <a:solidFill>
                  <a:schemeClr val="bg1"/>
                </a:solidFill>
              </a:rPr>
              <a:t>لماذا ؟</a:t>
            </a:r>
            <a:endParaRPr lang="ar-DZ" sz="2400" b="1" dirty="0">
              <a:solidFill>
                <a:schemeClr val="bg1"/>
              </a:solidFill>
            </a:endParaRPr>
          </a:p>
          <a:p>
            <a:pPr algn="r"/>
            <a:r>
              <a:rPr lang="ar-DZ" sz="2400" b="1" dirty="0">
                <a:solidFill>
                  <a:schemeClr val="bg1"/>
                </a:solidFill>
              </a:rPr>
              <a:t> 3-اقترح حلولا مناسبة لحل </a:t>
            </a:r>
          </a:p>
          <a:p>
            <a:pPr algn="r"/>
            <a:r>
              <a:rPr lang="ar-DZ" sz="2400" b="1" dirty="0">
                <a:solidFill>
                  <a:schemeClr val="bg1"/>
                </a:solidFill>
              </a:rPr>
              <a:t>مشكلة تشغيل </a:t>
            </a:r>
          </a:p>
          <a:p>
            <a:pPr algn="r"/>
            <a:r>
              <a:rPr lang="ar-DZ" sz="2400" b="1" dirty="0">
                <a:solidFill>
                  <a:schemeClr val="bg1"/>
                </a:solidFill>
              </a:rPr>
              <a:t>كلا من  الثلاجة ومكيف الهواء</a:t>
            </a:r>
          </a:p>
          <a:p>
            <a:pPr algn="r"/>
            <a:r>
              <a:rPr lang="ar-DZ" sz="2400" b="1" dirty="0">
                <a:solidFill>
                  <a:schemeClr val="bg1"/>
                </a:solidFill>
              </a:rPr>
              <a:t> كل واحد منهما وحل لمشكلة </a:t>
            </a:r>
          </a:p>
          <a:p>
            <a:pPr algn="r"/>
            <a:r>
              <a:rPr lang="ar-DZ" sz="2400" b="1" dirty="0">
                <a:solidFill>
                  <a:schemeClr val="bg1"/>
                </a:solidFill>
              </a:rPr>
              <a:t>تشغيلهما معا  مع الرسم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4221088"/>
            <a:ext cx="5148064" cy="26369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1-الغاز الذي ينطلق عند  كل فوج</a:t>
            </a:r>
          </a:p>
          <a:p>
            <a:pPr algn="r"/>
            <a:r>
              <a:rPr lang="fr-FR" sz="2400" b="1" dirty="0">
                <a:solidFill>
                  <a:schemeClr val="dk1"/>
                </a:solidFill>
              </a:rPr>
              <a:t>H</a:t>
            </a:r>
            <a:r>
              <a:rPr lang="fr-FR" sz="2400" b="1" baseline="-25000" dirty="0">
                <a:solidFill>
                  <a:schemeClr val="bg1"/>
                </a:solidFill>
              </a:rPr>
              <a:t>2 </a:t>
            </a:r>
            <a:r>
              <a:rPr lang="ar-DZ" sz="2400" b="1" dirty="0">
                <a:solidFill>
                  <a:schemeClr val="bg1"/>
                </a:solidFill>
              </a:rPr>
              <a:t>-الفوج الاول ينطلق غاز الهيدروجين صيغته الكيميائية </a:t>
            </a:r>
          </a:p>
          <a:p>
            <a:pPr algn="r"/>
            <a:r>
              <a:rPr lang="fr-FR" sz="2400" b="1" dirty="0">
                <a:solidFill>
                  <a:schemeClr val="dk1"/>
                </a:solidFill>
              </a:rPr>
              <a:t>C</a:t>
            </a:r>
            <a:r>
              <a:rPr lang="fr-FR" sz="2400" b="1" dirty="0">
                <a:solidFill>
                  <a:schemeClr val="bg1"/>
                </a:solidFill>
              </a:rPr>
              <a:t>l</a:t>
            </a:r>
            <a:r>
              <a:rPr lang="fr-FR" sz="2400" b="1" baseline="-25000" dirty="0">
                <a:solidFill>
                  <a:schemeClr val="bg1"/>
                </a:solidFill>
              </a:rPr>
              <a:t>2 </a:t>
            </a:r>
            <a:r>
              <a:rPr lang="ar-DZ" sz="2400" b="1" dirty="0">
                <a:solidFill>
                  <a:schemeClr val="bg1"/>
                </a:solidFill>
              </a:rPr>
              <a:t>-</a:t>
            </a:r>
            <a:r>
              <a:rPr lang="ar-DZ" sz="2400" b="1" dirty="0" err="1">
                <a:solidFill>
                  <a:schemeClr val="bg1"/>
                </a:solidFill>
              </a:rPr>
              <a:t>الفاج</a:t>
            </a:r>
            <a:r>
              <a:rPr lang="ar-DZ" sz="2400" b="1" dirty="0">
                <a:solidFill>
                  <a:schemeClr val="bg1"/>
                </a:solidFill>
              </a:rPr>
              <a:t> الثاني ينطلق غاز </a:t>
            </a:r>
            <a:r>
              <a:rPr lang="ar-DZ" sz="2400" b="1" dirty="0" err="1">
                <a:solidFill>
                  <a:schemeClr val="bg1"/>
                </a:solidFill>
              </a:rPr>
              <a:t>الكلور</a:t>
            </a:r>
            <a:r>
              <a:rPr lang="ar-DZ" sz="2400" b="1" dirty="0">
                <a:solidFill>
                  <a:schemeClr val="bg1"/>
                </a:solidFill>
              </a:rPr>
              <a:t> صيغته الكيميائية </a:t>
            </a:r>
          </a:p>
          <a:p>
            <a:pPr algn="r"/>
            <a:r>
              <a:rPr lang="ar-DZ" sz="2400" b="1" dirty="0">
                <a:solidFill>
                  <a:schemeClr val="bg1"/>
                </a:solidFill>
              </a:rPr>
              <a:t>2-لم يتوهج المصباح في الحالة الاولى </a:t>
            </a:r>
            <a:r>
              <a:rPr lang="ar-DZ" sz="2400" b="1" dirty="0" err="1">
                <a:solidFill>
                  <a:schemeClr val="bg1"/>
                </a:solidFill>
              </a:rPr>
              <a:t>لانه</a:t>
            </a:r>
            <a:r>
              <a:rPr lang="ar-DZ" sz="2400" b="1" dirty="0">
                <a:solidFill>
                  <a:schemeClr val="bg1"/>
                </a:solidFill>
              </a:rPr>
              <a:t> استعملنا مسحوق </a:t>
            </a:r>
            <a:r>
              <a:rPr lang="ar-DZ" sz="2400" b="1" dirty="0" err="1">
                <a:solidFill>
                  <a:schemeClr val="bg1"/>
                </a:solidFill>
              </a:rPr>
              <a:t>كلور</a:t>
            </a:r>
            <a:r>
              <a:rPr lang="ar-DZ" sz="2400" b="1" dirty="0">
                <a:solidFill>
                  <a:schemeClr val="bg1"/>
                </a:solidFill>
              </a:rPr>
              <a:t> الزنك</a:t>
            </a:r>
          </a:p>
          <a:p>
            <a:pPr algn="r"/>
            <a:r>
              <a:rPr lang="ar-DZ" sz="2400" b="1" dirty="0">
                <a:solidFill>
                  <a:schemeClr val="bg1"/>
                </a:solidFill>
              </a:rPr>
              <a:t>وهو مركب صلب شاردي غير ناقل للتيار </a:t>
            </a:r>
            <a:r>
              <a:rPr lang="ar-DZ" sz="2400" b="1" dirty="0" err="1">
                <a:solidFill>
                  <a:schemeClr val="bg1"/>
                </a:solidFill>
              </a:rPr>
              <a:t>الكخربائي</a:t>
            </a:r>
            <a:r>
              <a:rPr lang="ar-DZ" sz="2400" b="1" dirty="0">
                <a:solidFill>
                  <a:schemeClr val="bg1"/>
                </a:solidFill>
              </a:rPr>
              <a:t> اما في الحالة الثاني يتوهج المصباح </a:t>
            </a:r>
            <a:r>
              <a:rPr lang="ar-DZ" sz="2400" b="1" dirty="0" err="1">
                <a:solidFill>
                  <a:schemeClr val="bg1"/>
                </a:solidFill>
              </a:rPr>
              <a:t>لانه</a:t>
            </a:r>
            <a:r>
              <a:rPr lang="ar-DZ" sz="2400" b="1" dirty="0">
                <a:solidFill>
                  <a:schemeClr val="bg1"/>
                </a:solidFill>
              </a:rPr>
              <a:t> عند اضافة ماء المقطر نحصل على محلول شاردي ناقل للتيار الكهربائي </a:t>
            </a:r>
          </a:p>
          <a:p>
            <a:pPr algn="r"/>
            <a:r>
              <a:rPr lang="ar-DZ" sz="2400" b="1" dirty="0">
                <a:solidFill>
                  <a:schemeClr val="bg1"/>
                </a:solidFill>
              </a:rPr>
              <a:t>3 3-اكمال  معادلة التفاعل التي تحدث عند كل فوج</a:t>
            </a:r>
          </a:p>
          <a:p>
            <a:pPr algn="r"/>
            <a:r>
              <a:rPr lang="ar-DZ" sz="2400" b="1" dirty="0">
                <a:solidFill>
                  <a:schemeClr val="bg1"/>
                </a:solidFill>
              </a:rPr>
              <a:t>الفوج الاول   </a:t>
            </a:r>
            <a:endParaRPr lang="fr-FR" sz="2400" b="1" dirty="0">
              <a:solidFill>
                <a:schemeClr val="bg1"/>
              </a:solidFill>
            </a:endParaRPr>
          </a:p>
          <a:p>
            <a:pPr algn="r"/>
            <a:r>
              <a:rPr lang="fr-FR" sz="2400" b="1" dirty="0">
                <a:solidFill>
                  <a:schemeClr val="bg1"/>
                </a:solidFill>
              </a:rPr>
              <a:t>Zn(</a:t>
            </a:r>
            <a:r>
              <a:rPr lang="fr-FR" sz="2400" b="1" dirty="0">
                <a:solidFill>
                  <a:srgbClr val="FF0000"/>
                </a:solidFill>
              </a:rPr>
              <a:t>s</a:t>
            </a:r>
            <a:r>
              <a:rPr lang="fr-FR" sz="2400" b="1" dirty="0">
                <a:solidFill>
                  <a:schemeClr val="bg1"/>
                </a:solidFill>
              </a:rPr>
              <a:t>)+</a:t>
            </a:r>
            <a:r>
              <a:rPr lang="fr-FR" sz="2400" b="1" dirty="0">
                <a:solidFill>
                  <a:srgbClr val="FF0000"/>
                </a:solidFill>
              </a:rPr>
              <a:t>2</a:t>
            </a:r>
            <a:r>
              <a:rPr lang="fr-FR" sz="2400" b="1" dirty="0">
                <a:solidFill>
                  <a:schemeClr val="bg1"/>
                </a:solidFill>
              </a:rPr>
              <a:t> (H</a:t>
            </a:r>
            <a:r>
              <a:rPr lang="fr-FR" sz="2400" b="1" baseline="30000" dirty="0">
                <a:solidFill>
                  <a:schemeClr val="bg1"/>
                </a:solidFill>
              </a:rPr>
              <a:t>+</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           (Zn</a:t>
            </a:r>
            <a:r>
              <a:rPr lang="fr-FR" sz="2400" b="1" baseline="30000" dirty="0">
                <a:solidFill>
                  <a:schemeClr val="bg1"/>
                </a:solidFill>
              </a:rPr>
              <a:t>2+</a:t>
            </a:r>
            <a:r>
              <a:rPr lang="fr-FR" sz="2400" b="1" dirty="0">
                <a:solidFill>
                  <a:schemeClr val="bg1"/>
                </a:solidFill>
              </a:rPr>
              <a:t>+</a:t>
            </a:r>
            <a:r>
              <a:rPr lang="fr-FR" sz="2400" b="1" dirty="0">
                <a:solidFill>
                  <a:srgbClr val="FF0000"/>
                </a:solidFill>
              </a:rPr>
              <a:t>2</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rgbClr val="FF0000"/>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a:t>
            </a:r>
            <a:r>
              <a:rPr lang="fr-FR" sz="2400" b="1" dirty="0">
                <a:solidFill>
                  <a:srgbClr val="FF0000"/>
                </a:solidFill>
              </a:rPr>
              <a:t>g</a:t>
            </a:r>
            <a:r>
              <a:rPr lang="fr-FR" sz="2400" b="1" dirty="0">
                <a:solidFill>
                  <a:schemeClr val="bg1"/>
                </a:solidFill>
              </a:rPr>
              <a:t>)</a:t>
            </a:r>
            <a:endParaRPr lang="ar-DZ" sz="2400" b="1" dirty="0">
              <a:solidFill>
                <a:schemeClr val="bg1"/>
              </a:solidFill>
            </a:endParaRPr>
          </a:p>
          <a:p>
            <a:pPr algn="r"/>
            <a:r>
              <a:rPr lang="ar-DZ" sz="2400" b="1" dirty="0">
                <a:solidFill>
                  <a:schemeClr val="bg1"/>
                </a:solidFill>
              </a:rPr>
              <a:t>الفوج </a:t>
            </a:r>
            <a:r>
              <a:rPr lang="ar-DZ" sz="2400" b="1" dirty="0" err="1">
                <a:solidFill>
                  <a:schemeClr val="bg1"/>
                </a:solidFill>
              </a:rPr>
              <a:t>االثاني</a:t>
            </a:r>
            <a:r>
              <a:rPr lang="ar-DZ" sz="2400" b="1" dirty="0">
                <a:solidFill>
                  <a:schemeClr val="bg1"/>
                </a:solidFill>
              </a:rPr>
              <a:t>   </a:t>
            </a:r>
          </a:p>
          <a:p>
            <a:pPr algn="r"/>
            <a:r>
              <a:rPr lang="fr-FR" sz="2400" b="1" dirty="0">
                <a:solidFill>
                  <a:schemeClr val="bg1"/>
                </a:solidFill>
              </a:rPr>
              <a:t>.</a:t>
            </a:r>
            <a:r>
              <a:rPr lang="fr-FR" sz="2400" b="1" dirty="0">
                <a:solidFill>
                  <a:srgbClr val="FF0000"/>
                </a:solidFill>
              </a:rPr>
              <a:t>2</a:t>
            </a:r>
            <a:r>
              <a:rPr lang="fr-FR" sz="2400" b="1" dirty="0">
                <a:solidFill>
                  <a:schemeClr val="bg1"/>
                </a:solidFill>
              </a:rPr>
              <a:t> Cl</a:t>
            </a:r>
            <a:r>
              <a:rPr lang="fr-FR" sz="2400" b="1" baseline="30000" dirty="0">
                <a:solidFill>
                  <a:schemeClr val="bg1"/>
                </a:solidFill>
              </a:rPr>
              <a:t>-</a:t>
            </a:r>
            <a:r>
              <a:rPr lang="fr-FR" sz="2400" b="1" dirty="0">
                <a:solidFill>
                  <a:schemeClr val="bg1"/>
                </a:solidFill>
              </a:rPr>
              <a:t> (</a:t>
            </a:r>
            <a:r>
              <a:rPr lang="fr-FR" sz="2400" b="1" dirty="0" err="1">
                <a:solidFill>
                  <a:srgbClr val="FF0000"/>
                </a:solidFill>
              </a:rPr>
              <a:t>aq</a:t>
            </a:r>
            <a:r>
              <a:rPr lang="fr-FR" sz="2400" b="1" dirty="0">
                <a:solidFill>
                  <a:schemeClr val="bg1"/>
                </a:solidFill>
              </a:rPr>
              <a:t>)</a:t>
            </a:r>
            <a:r>
              <a:rPr lang="ar-DZ" sz="2400" b="1" dirty="0">
                <a:solidFill>
                  <a:schemeClr val="bg1"/>
                </a:solidFill>
              </a:rPr>
              <a:t>  </a:t>
            </a:r>
            <a:r>
              <a:rPr lang="ar-DZ" sz="2400" b="1" dirty="0" err="1">
                <a:solidFill>
                  <a:schemeClr val="bg1"/>
                </a:solidFill>
              </a:rPr>
              <a:t>+</a:t>
            </a:r>
            <a:r>
              <a:rPr lang="ar-DZ" sz="2400" b="1" dirty="0">
                <a:solidFill>
                  <a:schemeClr val="bg1"/>
                </a:solidFill>
              </a:rPr>
              <a:t> </a:t>
            </a:r>
            <a:r>
              <a:rPr lang="fr-FR" sz="2400" b="1" dirty="0">
                <a:solidFill>
                  <a:schemeClr val="bg1"/>
                </a:solidFill>
              </a:rPr>
              <a:t>Zn</a:t>
            </a:r>
            <a:r>
              <a:rPr lang="fr-FR" sz="2400" b="1" baseline="30000" dirty="0">
                <a:solidFill>
                  <a:schemeClr val="bg1"/>
                </a:solidFill>
              </a:rPr>
              <a:t>2+ </a:t>
            </a:r>
            <a:r>
              <a:rPr lang="fr-FR" sz="2400" b="1" dirty="0">
                <a:solidFill>
                  <a:schemeClr val="bg1"/>
                </a:solidFill>
              </a:rPr>
              <a:t>(</a:t>
            </a:r>
            <a:r>
              <a:rPr lang="fr-FR" sz="2400" b="1" dirty="0" err="1">
                <a:solidFill>
                  <a:srgbClr val="FF0000"/>
                </a:solidFill>
              </a:rPr>
              <a:t>aq</a:t>
            </a:r>
            <a:r>
              <a:rPr lang="fr-FR" sz="2400" b="1" dirty="0">
                <a:solidFill>
                  <a:schemeClr val="bg1"/>
                </a:solidFill>
              </a:rPr>
              <a:t>)</a:t>
            </a:r>
            <a:r>
              <a:rPr lang="fr-FR" sz="2400" b="1" baseline="30000" dirty="0">
                <a:solidFill>
                  <a:schemeClr val="bg1"/>
                </a:solidFill>
              </a:rPr>
              <a:t>                </a:t>
            </a:r>
            <a:r>
              <a:rPr lang="fr-FR" sz="2400" b="1" dirty="0">
                <a:solidFill>
                  <a:srgbClr val="FF0000"/>
                </a:solidFill>
              </a:rPr>
              <a:t>Zn</a:t>
            </a:r>
            <a:r>
              <a:rPr lang="fr-FR" sz="2400" b="1" dirty="0">
                <a:solidFill>
                  <a:schemeClr val="bg1"/>
                </a:solidFill>
              </a:rPr>
              <a:t> (s) +</a:t>
            </a:r>
            <a:r>
              <a:rPr lang="fr-FR" sz="2400" b="1" dirty="0">
                <a:solidFill>
                  <a:srgbClr val="FF0000"/>
                </a:solidFill>
              </a:rPr>
              <a:t>Cl</a:t>
            </a:r>
            <a:r>
              <a:rPr lang="fr-FR" sz="2400" b="1" baseline="-25000" dirty="0">
                <a:solidFill>
                  <a:srgbClr val="FF0000"/>
                </a:solidFill>
              </a:rPr>
              <a:t>2</a:t>
            </a:r>
            <a:r>
              <a:rPr lang="fr-FR" sz="2400" b="1" dirty="0">
                <a:solidFill>
                  <a:schemeClr val="bg1"/>
                </a:solidFill>
              </a:rPr>
              <a:t> (g).</a:t>
            </a:r>
          </a:p>
          <a:p>
            <a:pPr algn="r"/>
            <a:r>
              <a:rPr lang="ar-DZ" sz="2400" b="1" dirty="0">
                <a:solidFill>
                  <a:schemeClr val="bg1"/>
                </a:solidFill>
              </a:rPr>
              <a:t> </a:t>
            </a:r>
          </a:p>
          <a:p>
            <a:pPr algn="r"/>
            <a:endParaRPr lang="fr-FR" sz="2400" b="1" dirty="0">
              <a:solidFill>
                <a:schemeClr val="bg1"/>
              </a:solidFill>
            </a:endParaRPr>
          </a:p>
        </p:txBody>
      </p:sp>
      <p:cxnSp>
        <p:nvCxnSpPr>
          <p:cNvPr id="6" name="Connecteur droit avec flèche 5"/>
          <p:cNvCxnSpPr/>
          <p:nvPr/>
        </p:nvCxnSpPr>
        <p:spPr>
          <a:xfrm>
            <a:off x="5004048" y="465313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6228184" y="537321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108520" y="836712"/>
            <a:ext cx="9252520" cy="602128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1-حساب الثقل الحمولة لدينا</a:t>
            </a:r>
            <a:endParaRPr lang="fr-FR" sz="2400" b="1" dirty="0">
              <a:solidFill>
                <a:schemeClr val="bg1"/>
              </a:solidFill>
            </a:endParaRPr>
          </a:p>
          <a:p>
            <a:pPr algn="r"/>
            <a:r>
              <a:rPr lang="fr-FR" sz="2400" b="1" dirty="0">
                <a:solidFill>
                  <a:schemeClr val="bg1"/>
                </a:solidFill>
              </a:rPr>
              <a:t>P=</a:t>
            </a:r>
            <a:r>
              <a:rPr lang="fr-FR" sz="2400" b="1" dirty="0" err="1">
                <a:solidFill>
                  <a:schemeClr val="bg1"/>
                </a:solidFill>
              </a:rPr>
              <a:t>mxg</a:t>
            </a:r>
            <a:r>
              <a:rPr lang="fr-FR" sz="2400" b="1" dirty="0">
                <a:solidFill>
                  <a:schemeClr val="bg1"/>
                </a:solidFill>
              </a:rPr>
              <a:t>=</a:t>
            </a:r>
            <a:r>
              <a:rPr lang="ar-DZ" sz="2400" b="1" dirty="0">
                <a:solidFill>
                  <a:schemeClr val="bg1"/>
                </a:solidFill>
              </a:rPr>
              <a:t>   </a:t>
            </a:r>
            <a:r>
              <a:rPr lang="fr-FR" sz="2400" b="1" dirty="0">
                <a:solidFill>
                  <a:schemeClr val="bg1"/>
                </a:solidFill>
              </a:rPr>
              <a:t>2000x10=20000N</a:t>
            </a:r>
          </a:p>
          <a:p>
            <a:pPr algn="r"/>
            <a:r>
              <a:rPr lang="ar-DZ" sz="2400" b="1" dirty="0">
                <a:solidFill>
                  <a:schemeClr val="bg1"/>
                </a:solidFill>
              </a:rPr>
              <a:t>-تمثيل الفعلين المتبادلين بين الجسم و الحبل</a:t>
            </a:r>
            <a:endParaRPr lang="fr-FR" sz="2400" b="1" dirty="0">
              <a:solidFill>
                <a:schemeClr val="bg1"/>
              </a:solidFill>
            </a:endParaRPr>
          </a:p>
          <a:p>
            <a:pPr algn="r"/>
            <a:r>
              <a:rPr lang="fr-FR" sz="2400" b="1" dirty="0">
                <a:solidFill>
                  <a:schemeClr val="bg1"/>
                </a:solidFill>
              </a:rPr>
              <a:t>10000N </a:t>
            </a:r>
            <a:r>
              <a:rPr lang="ar-DZ" sz="2400" b="1" dirty="0">
                <a:solidFill>
                  <a:schemeClr val="bg1"/>
                </a:solidFill>
              </a:rPr>
              <a:t>       </a:t>
            </a:r>
            <a:r>
              <a:rPr lang="fr-FR" sz="2400" b="1" dirty="0">
                <a:solidFill>
                  <a:schemeClr val="bg1"/>
                </a:solidFill>
              </a:rPr>
              <a:t>  1cm</a:t>
            </a:r>
            <a:r>
              <a:rPr lang="ar-DZ" sz="2400" b="1" dirty="0">
                <a:solidFill>
                  <a:schemeClr val="bg1"/>
                </a:solidFill>
              </a:rPr>
              <a:t> لدينا من السلم   كل </a:t>
            </a:r>
          </a:p>
          <a:p>
            <a:pPr algn="r"/>
            <a:r>
              <a:rPr lang="fr-FR" sz="2400" b="1" dirty="0">
                <a:solidFill>
                  <a:schemeClr val="bg1"/>
                </a:solidFill>
              </a:rPr>
              <a:t>20000N </a:t>
            </a:r>
            <a:r>
              <a:rPr lang="ar-DZ" sz="2400" b="1" dirty="0">
                <a:solidFill>
                  <a:schemeClr val="bg1"/>
                </a:solidFill>
              </a:rPr>
              <a:t>      </a:t>
            </a:r>
            <a:r>
              <a:rPr lang="fr-FR" sz="2400" b="1" dirty="0">
                <a:solidFill>
                  <a:schemeClr val="bg1"/>
                </a:solidFill>
              </a:rPr>
              <a:t>  X</a:t>
            </a:r>
            <a:r>
              <a:rPr lang="ar-DZ" sz="2400" b="1" dirty="0">
                <a:solidFill>
                  <a:schemeClr val="bg1"/>
                </a:solidFill>
              </a:rPr>
              <a:t> معناه  كل</a:t>
            </a:r>
          </a:p>
          <a:p>
            <a:pPr algn="r"/>
            <a:r>
              <a:rPr lang="fr-FR" sz="2400" b="1" dirty="0">
                <a:solidFill>
                  <a:schemeClr val="bg1"/>
                </a:solidFill>
              </a:rPr>
              <a:t>X=20000x1/10000=2cm</a:t>
            </a:r>
            <a:endParaRPr lang="ar-DZ" sz="2400" b="1" dirty="0">
              <a:solidFill>
                <a:schemeClr val="bg1"/>
              </a:solidFill>
            </a:endParaRPr>
          </a:p>
          <a:p>
            <a:pPr algn="r"/>
            <a:r>
              <a:rPr lang="ar-DZ" sz="2400" b="1" dirty="0">
                <a:solidFill>
                  <a:schemeClr val="bg1"/>
                </a:solidFill>
              </a:rPr>
              <a:t>2-استنتاج قيمة دافعة </a:t>
            </a:r>
            <a:r>
              <a:rPr lang="ar-DZ" sz="2400" b="1" dirty="0" err="1">
                <a:solidFill>
                  <a:schemeClr val="bg1"/>
                </a:solidFill>
              </a:rPr>
              <a:t>ارخميدس</a:t>
            </a:r>
            <a:r>
              <a:rPr lang="ar-DZ" sz="2400" b="1" dirty="0">
                <a:solidFill>
                  <a:schemeClr val="bg1"/>
                </a:solidFill>
              </a:rPr>
              <a:t> في حالة الجسم طافي لدينا</a:t>
            </a:r>
          </a:p>
          <a:p>
            <a:pPr algn="r"/>
            <a:r>
              <a:rPr lang="fr-FR" sz="2400" b="1" dirty="0">
                <a:solidFill>
                  <a:schemeClr val="bg1"/>
                </a:solidFill>
              </a:rPr>
              <a:t>FA=P=20000N</a:t>
            </a:r>
            <a:endParaRPr lang="ar-DZ" sz="2400" b="1" dirty="0">
              <a:solidFill>
                <a:schemeClr val="bg1"/>
              </a:solidFill>
            </a:endParaRPr>
          </a:p>
          <a:p>
            <a:pPr algn="r"/>
            <a:r>
              <a:rPr lang="ar-DZ" sz="2400" b="1" dirty="0">
                <a:solidFill>
                  <a:schemeClr val="bg1"/>
                </a:solidFill>
              </a:rPr>
              <a:t>3-شرط توازن حالة شكل 1</a:t>
            </a:r>
          </a:p>
          <a:p>
            <a:pPr algn="r"/>
            <a:r>
              <a:rPr lang="fr-FR" sz="2400" b="1" dirty="0">
                <a:solidFill>
                  <a:schemeClr val="bg1"/>
                </a:solidFill>
              </a:rPr>
              <a:t>P  +  Ff/s   =0</a:t>
            </a:r>
            <a:endParaRPr lang="ar-DZ" sz="2400" b="1" dirty="0">
              <a:solidFill>
                <a:schemeClr val="bg1"/>
              </a:solidFill>
            </a:endParaRPr>
          </a:p>
          <a:p>
            <a:pPr algn="r"/>
            <a:r>
              <a:rPr lang="ar-DZ" sz="2400" b="1" dirty="0">
                <a:solidFill>
                  <a:schemeClr val="bg1"/>
                </a:solidFill>
              </a:rPr>
              <a:t>شرط توازن حالة </a:t>
            </a:r>
            <a:r>
              <a:rPr lang="ar-DZ" sz="2400" b="1" dirty="0" err="1">
                <a:solidFill>
                  <a:schemeClr val="bg1"/>
                </a:solidFill>
              </a:rPr>
              <a:t>شكل2</a:t>
            </a:r>
            <a:endParaRPr lang="ar-DZ" sz="2400" b="1" dirty="0">
              <a:solidFill>
                <a:schemeClr val="bg1"/>
              </a:solidFill>
            </a:endParaRPr>
          </a:p>
          <a:p>
            <a:pPr algn="r"/>
            <a:r>
              <a:rPr lang="fr-FR" sz="2400" b="1" dirty="0">
                <a:solidFill>
                  <a:schemeClr val="bg1"/>
                </a:solidFill>
              </a:rPr>
              <a:t>P   +FA  =0</a:t>
            </a:r>
          </a:p>
          <a:p>
            <a:pPr algn="r"/>
            <a:r>
              <a:rPr lang="ar-DZ" sz="2400" b="1" dirty="0">
                <a:solidFill>
                  <a:schemeClr val="bg1"/>
                </a:solidFill>
              </a:rPr>
              <a:t>نلاحظ ان شرط التوازن نفسه في الحالتين </a:t>
            </a:r>
          </a:p>
          <a:p>
            <a:pPr algn="r"/>
            <a:r>
              <a:rPr lang="ar-DZ" sz="2400" b="1" dirty="0">
                <a:solidFill>
                  <a:schemeClr val="bg1"/>
                </a:solidFill>
              </a:rPr>
              <a:t>وبنفس الخصائص لان الثقل يساوي </a:t>
            </a:r>
          </a:p>
          <a:p>
            <a:pPr algn="r"/>
            <a:r>
              <a:rPr lang="ar-DZ" sz="2400" b="1" dirty="0">
                <a:solidFill>
                  <a:schemeClr val="bg1"/>
                </a:solidFill>
              </a:rPr>
              <a:t>كل من قوة </a:t>
            </a:r>
            <a:r>
              <a:rPr lang="ar-DZ" sz="2400" b="1" dirty="0" err="1">
                <a:solidFill>
                  <a:schemeClr val="bg1"/>
                </a:solidFill>
              </a:rPr>
              <a:t>تاثير</a:t>
            </a:r>
            <a:r>
              <a:rPr lang="ar-DZ" sz="2400" b="1" dirty="0">
                <a:solidFill>
                  <a:schemeClr val="bg1"/>
                </a:solidFill>
              </a:rPr>
              <a:t> الحبل في الشكل 1 والدافعة في الشكل 2    </a:t>
            </a:r>
            <a:endParaRPr lang="fr-FR" sz="2400" b="1" dirty="0">
              <a:solidFill>
                <a:schemeClr val="bg1"/>
              </a:solidFill>
            </a:endParaRPr>
          </a:p>
          <a:p>
            <a:pPr algn="r"/>
            <a:endParaRPr lang="fr-FR" sz="2400" b="1" dirty="0">
              <a:solidFill>
                <a:schemeClr val="bg1"/>
              </a:solidFill>
            </a:endParaRPr>
          </a:p>
        </p:txBody>
      </p:sp>
      <p:sp>
        <p:nvSpPr>
          <p:cNvPr id="14" name="Rectangle à coins arrondis 13"/>
          <p:cNvSpPr/>
          <p:nvPr/>
        </p:nvSpPr>
        <p:spPr>
          <a:xfrm>
            <a:off x="0" y="0"/>
            <a:ext cx="9144000" cy="83671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cxnSp>
        <p:nvCxnSpPr>
          <p:cNvPr id="17" name="Connecteur droit avec flèche 16"/>
          <p:cNvCxnSpPr/>
          <p:nvPr/>
        </p:nvCxnSpPr>
        <p:spPr>
          <a:xfrm>
            <a:off x="7164288" y="256490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a:off x="5652120" y="22048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19"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836712"/>
            <a:ext cx="2736304" cy="2016224"/>
          </a:xfrm>
          <a:prstGeom prst="rect">
            <a:avLst/>
          </a:prstGeom>
          <a:noFill/>
          <a:ln w="9525">
            <a:noFill/>
            <a:miter lim="800000"/>
            <a:headEnd/>
            <a:tailEnd/>
          </a:ln>
        </p:spPr>
      </p:pic>
      <p:pic>
        <p:nvPicPr>
          <p:cNvPr id="2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9672" y="1556792"/>
            <a:ext cx="720080" cy="432048"/>
          </a:xfrm>
          <a:prstGeom prst="rect">
            <a:avLst/>
          </a:prstGeom>
          <a:noFill/>
          <a:ln w="9525">
            <a:noFill/>
            <a:miter lim="800000"/>
            <a:headEnd/>
            <a:tailEnd/>
          </a:ln>
        </p:spPr>
      </p:pic>
      <p:cxnSp>
        <p:nvCxnSpPr>
          <p:cNvPr id="21" name="Connecteur droit avec flèche 20"/>
          <p:cNvCxnSpPr/>
          <p:nvPr/>
        </p:nvCxnSpPr>
        <p:spPr>
          <a:xfrm>
            <a:off x="1979712" y="1556792"/>
            <a:ext cx="0" cy="792088"/>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V="1">
            <a:off x="1979712" y="908720"/>
            <a:ext cx="0" cy="648072"/>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à coins arrondis 22"/>
          <p:cNvSpPr/>
          <p:nvPr/>
        </p:nvSpPr>
        <p:spPr>
          <a:xfrm>
            <a:off x="2051720" y="1196752"/>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f/s</a:t>
            </a:r>
          </a:p>
        </p:txBody>
      </p:sp>
      <p:sp>
        <p:nvSpPr>
          <p:cNvPr id="25" name="Rectangle à coins arrondis 24"/>
          <p:cNvSpPr/>
          <p:nvPr/>
        </p:nvSpPr>
        <p:spPr>
          <a:xfrm>
            <a:off x="2051720" y="2204864"/>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s</a:t>
            </a:r>
            <a:r>
              <a:rPr lang="fr-FR" sz="2000" b="1" dirty="0">
                <a:solidFill>
                  <a:schemeClr val="bg1"/>
                </a:solidFill>
              </a:rPr>
              <a:t>/f</a:t>
            </a:r>
          </a:p>
        </p:txBody>
      </p:sp>
      <p:cxnSp>
        <p:nvCxnSpPr>
          <p:cNvPr id="26" name="Connecteur droit avec flèche 25"/>
          <p:cNvCxnSpPr/>
          <p:nvPr/>
        </p:nvCxnSpPr>
        <p:spPr>
          <a:xfrm>
            <a:off x="2411760" y="119675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p:nvPr/>
        </p:nvCxnSpPr>
        <p:spPr>
          <a:xfrm>
            <a:off x="2411760" y="22048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8" name="Ellipse 27"/>
          <p:cNvSpPr/>
          <p:nvPr/>
        </p:nvSpPr>
        <p:spPr>
          <a:xfrm>
            <a:off x="1907704" y="1484784"/>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4509120"/>
            <a:ext cx="2736304" cy="1800200"/>
          </a:xfrm>
          <a:prstGeom prst="rect">
            <a:avLst/>
          </a:prstGeom>
          <a:noFill/>
          <a:ln w="9525">
            <a:noFill/>
            <a:miter lim="800000"/>
            <a:headEnd/>
            <a:tailEnd/>
          </a:ln>
        </p:spPr>
      </p:pic>
      <p:sp>
        <p:nvSpPr>
          <p:cNvPr id="31" name="Rectangle 30"/>
          <p:cNvSpPr/>
          <p:nvPr/>
        </p:nvSpPr>
        <p:spPr>
          <a:xfrm>
            <a:off x="395536" y="5157192"/>
            <a:ext cx="2304256" cy="792088"/>
          </a:xfrm>
          <a:prstGeom prst="rect">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27584" y="4797152"/>
            <a:ext cx="1296144" cy="720080"/>
          </a:xfrm>
          <a:prstGeom prst="rect">
            <a:avLst/>
          </a:prstGeom>
          <a:noFill/>
          <a:ln w="9525">
            <a:noFill/>
            <a:miter lim="800000"/>
            <a:headEnd/>
            <a:tailEnd/>
          </a:ln>
        </p:spPr>
      </p:pic>
      <p:cxnSp>
        <p:nvCxnSpPr>
          <p:cNvPr id="33" name="Connecteur droit avec flèche 32"/>
          <p:cNvCxnSpPr>
            <a:endCxn id="31" idx="2"/>
          </p:cNvCxnSpPr>
          <p:nvPr/>
        </p:nvCxnSpPr>
        <p:spPr>
          <a:xfrm>
            <a:off x="1547664" y="5229200"/>
            <a:ext cx="0" cy="72008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Connecteur droit avec flèche 33"/>
          <p:cNvCxnSpPr/>
          <p:nvPr/>
        </p:nvCxnSpPr>
        <p:spPr>
          <a:xfrm flipV="1">
            <a:off x="1475656" y="4509120"/>
            <a:ext cx="0" cy="792088"/>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36" name="Rectangle à coins arrondis 35"/>
          <p:cNvSpPr/>
          <p:nvPr/>
        </p:nvSpPr>
        <p:spPr>
          <a:xfrm>
            <a:off x="1691680" y="5589240"/>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sp>
        <p:nvSpPr>
          <p:cNvPr id="37" name="Rectangle à coins arrondis 36"/>
          <p:cNvSpPr/>
          <p:nvPr/>
        </p:nvSpPr>
        <p:spPr>
          <a:xfrm>
            <a:off x="1691680" y="4509120"/>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A</a:t>
            </a:r>
          </a:p>
        </p:txBody>
      </p:sp>
      <p:cxnSp>
        <p:nvCxnSpPr>
          <p:cNvPr id="38" name="Connecteur droit avec flèche 37"/>
          <p:cNvCxnSpPr/>
          <p:nvPr/>
        </p:nvCxnSpPr>
        <p:spPr>
          <a:xfrm>
            <a:off x="2051720" y="436510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p:nvPr/>
        </p:nvCxnSpPr>
        <p:spPr>
          <a:xfrm>
            <a:off x="2051720" y="55172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40" name="Ellipse 39"/>
          <p:cNvSpPr/>
          <p:nvPr/>
        </p:nvSpPr>
        <p:spPr>
          <a:xfrm>
            <a:off x="1475656" y="5085184"/>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avec flèche 40"/>
          <p:cNvCxnSpPr/>
          <p:nvPr/>
        </p:nvCxnSpPr>
        <p:spPr>
          <a:xfrm>
            <a:off x="6948264"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a:off x="7668344"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a:off x="8460432"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4" name="Connecteur droit avec flèche 43"/>
          <p:cNvCxnSpPr/>
          <p:nvPr/>
        </p:nvCxnSpPr>
        <p:spPr>
          <a:xfrm>
            <a:off x="7236296" y="49411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7884368" y="49411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p:cNvCxnSpPr/>
          <p:nvPr/>
        </p:nvCxnSpPr>
        <p:spPr>
          <a:xfrm>
            <a:off x="8532440" y="49411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5" name="Ellipse 34"/>
          <p:cNvSpPr/>
          <p:nvPr/>
        </p:nvSpPr>
        <p:spPr>
          <a:xfrm>
            <a:off x="1403648" y="5229200"/>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000" b="1" dirty="0">
                <a:solidFill>
                  <a:schemeClr val="bg1"/>
                </a:solidFill>
              </a:rPr>
              <a:t>1-المشكلة الممكن حدوثها عند تشغيل الثلاجة ومكيف الهواء لكل واحد منهما هو الاصابة بصدمة كهربائية بعد لمس هيكلهما في حالة سلط الطور لهما يلمس هيكلهما </a:t>
            </a:r>
            <a:r>
              <a:rPr lang="ar-DZ" sz="2000" b="1" dirty="0" err="1">
                <a:solidFill>
                  <a:schemeClr val="bg1"/>
                </a:solidFill>
              </a:rPr>
              <a:t>لانه</a:t>
            </a:r>
            <a:r>
              <a:rPr lang="ar-DZ" sz="2000" b="1" dirty="0">
                <a:solidFill>
                  <a:schemeClr val="bg1"/>
                </a:solidFill>
              </a:rPr>
              <a:t> لا يوجد توصيل ارضي للثلاجة ولا يوجد توصيل بين </a:t>
            </a:r>
            <a:r>
              <a:rPr lang="ar-DZ" sz="2000" b="1" dirty="0" err="1">
                <a:solidFill>
                  <a:schemeClr val="bg1"/>
                </a:solidFill>
              </a:rPr>
              <a:t>الماخذ</a:t>
            </a:r>
            <a:r>
              <a:rPr lang="ar-DZ" sz="2000" b="1" dirty="0">
                <a:solidFill>
                  <a:schemeClr val="bg1"/>
                </a:solidFill>
              </a:rPr>
              <a:t> الارضي للمكيف وهيكل المكيف الذي يحميهما من الصدمات الكهربائية</a:t>
            </a:r>
          </a:p>
          <a:p>
            <a:pPr algn="r"/>
            <a:r>
              <a:rPr lang="fr-FR" sz="2000" b="1" dirty="0">
                <a:solidFill>
                  <a:schemeClr val="bg1"/>
                </a:solidFill>
              </a:rPr>
              <a:t>(7A+6A)</a:t>
            </a:r>
            <a:r>
              <a:rPr lang="ar-DZ" sz="2000" b="1" dirty="0">
                <a:solidFill>
                  <a:schemeClr val="bg1"/>
                </a:solidFill>
              </a:rPr>
              <a:t> اما المشكلة التي تحدث عند تشغيلهما معا هو ان شدة تشغيلهما</a:t>
            </a:r>
          </a:p>
          <a:p>
            <a:pPr algn="r"/>
            <a:r>
              <a:rPr lang="fr-FR" sz="2000" b="1" dirty="0">
                <a:solidFill>
                  <a:schemeClr val="bg1"/>
                </a:solidFill>
              </a:rPr>
              <a:t>(10A)</a:t>
            </a:r>
            <a:r>
              <a:rPr lang="ar-DZ" sz="2000" b="1" dirty="0">
                <a:solidFill>
                  <a:schemeClr val="bg1"/>
                </a:solidFill>
              </a:rPr>
              <a:t> اكبر من الشدة  العظمى </a:t>
            </a:r>
            <a:r>
              <a:rPr lang="ar-DZ" sz="2000" b="1" dirty="0" err="1">
                <a:solidFill>
                  <a:schemeClr val="bg1"/>
                </a:solidFill>
              </a:rPr>
              <a:t>المسموحة</a:t>
            </a:r>
            <a:r>
              <a:rPr lang="ar-DZ" sz="2000" b="1" dirty="0">
                <a:solidFill>
                  <a:schemeClr val="bg1"/>
                </a:solidFill>
              </a:rPr>
              <a:t> من القاطع الالي </a:t>
            </a:r>
            <a:endParaRPr lang="fr-FR" sz="2000" b="1" dirty="0">
              <a:solidFill>
                <a:schemeClr val="bg1"/>
              </a:solidFill>
            </a:endParaRPr>
          </a:p>
          <a:p>
            <a:pPr algn="r"/>
            <a:r>
              <a:rPr lang="ar-DZ" sz="2000" b="1" dirty="0">
                <a:solidFill>
                  <a:schemeClr val="bg1"/>
                </a:solidFill>
              </a:rPr>
              <a:t>لان في هذه الحالة القاطع الالي لا يتحمل هذه الشدة فيفتح القاطع اليا</a:t>
            </a:r>
          </a:p>
          <a:p>
            <a:pPr algn="r"/>
            <a:r>
              <a:rPr lang="ar-DZ" sz="2000" b="1" dirty="0">
                <a:solidFill>
                  <a:schemeClr val="bg1"/>
                </a:solidFill>
              </a:rPr>
              <a:t>2-لا يصاب من يريد استبدال المصباح و يلمس سلك الطور لان القاطعة مفتوحة و مركبة في سلط الطور فلا ينتقل التيار الكهربائي عبره </a:t>
            </a:r>
          </a:p>
          <a:p>
            <a:pPr algn="r"/>
            <a:r>
              <a:rPr lang="ar-DZ" sz="2000" b="1" dirty="0">
                <a:solidFill>
                  <a:schemeClr val="bg1"/>
                </a:solidFill>
              </a:rPr>
              <a:t>3-الحلول المقترحة </a:t>
            </a:r>
          </a:p>
          <a:p>
            <a:pPr algn="r"/>
            <a:r>
              <a:rPr lang="ar-DZ" sz="2000" b="1" dirty="0">
                <a:solidFill>
                  <a:schemeClr val="bg1"/>
                </a:solidFill>
              </a:rPr>
              <a:t>-في حالة الاصابة بصدمة كهربائية عند لمس </a:t>
            </a:r>
          </a:p>
          <a:p>
            <a:pPr algn="r"/>
            <a:r>
              <a:rPr lang="ar-DZ" sz="2000" b="1" dirty="0">
                <a:solidFill>
                  <a:schemeClr val="bg1"/>
                </a:solidFill>
              </a:rPr>
              <a:t>هيكل الثلاجة هو تركيب </a:t>
            </a:r>
            <a:r>
              <a:rPr lang="ar-DZ" sz="2000" b="1" dirty="0" err="1">
                <a:solidFill>
                  <a:schemeClr val="bg1"/>
                </a:solidFill>
              </a:rPr>
              <a:t>الماخذ</a:t>
            </a:r>
            <a:r>
              <a:rPr lang="ar-DZ" sz="2000" b="1" dirty="0">
                <a:solidFill>
                  <a:schemeClr val="bg1"/>
                </a:solidFill>
              </a:rPr>
              <a:t> الارضي </a:t>
            </a:r>
          </a:p>
          <a:p>
            <a:pPr algn="r"/>
            <a:r>
              <a:rPr lang="ar-DZ" sz="2000" b="1" dirty="0">
                <a:solidFill>
                  <a:schemeClr val="bg1"/>
                </a:solidFill>
              </a:rPr>
              <a:t>وتوصيل بينه وبين هيكل الثلاجة </a:t>
            </a:r>
          </a:p>
          <a:p>
            <a:pPr algn="r"/>
            <a:r>
              <a:rPr lang="ar-DZ" sz="2000" b="1" dirty="0">
                <a:solidFill>
                  <a:schemeClr val="bg1"/>
                </a:solidFill>
              </a:rPr>
              <a:t>وفي حالة المكيف الهوائي تركيب توصيل بين </a:t>
            </a:r>
          </a:p>
          <a:p>
            <a:pPr algn="r"/>
            <a:r>
              <a:rPr lang="ar-DZ" sz="2000" b="1" dirty="0" err="1">
                <a:solidFill>
                  <a:schemeClr val="bg1"/>
                </a:solidFill>
              </a:rPr>
              <a:t>الماخذ</a:t>
            </a:r>
            <a:r>
              <a:rPr lang="ar-DZ" sz="2000" b="1" dirty="0">
                <a:solidFill>
                  <a:schemeClr val="bg1"/>
                </a:solidFill>
              </a:rPr>
              <a:t> الارضي له وهيكل المكيف </a:t>
            </a:r>
          </a:p>
          <a:p>
            <a:pPr algn="r"/>
            <a:r>
              <a:rPr lang="ar-DZ" sz="2000" b="1" dirty="0">
                <a:solidFill>
                  <a:schemeClr val="bg1"/>
                </a:solidFill>
              </a:rPr>
              <a:t>اما لتشغيلهما معا اعادة ضبط زر القاطع الالي</a:t>
            </a:r>
          </a:p>
          <a:p>
            <a:pPr algn="r"/>
            <a:r>
              <a:rPr lang="ar-DZ" sz="2000" b="1" dirty="0">
                <a:solidFill>
                  <a:schemeClr val="bg1"/>
                </a:solidFill>
              </a:rPr>
              <a:t> في قيمة اكبر من قيمتي الثلاجة</a:t>
            </a:r>
            <a:r>
              <a:rPr lang="fr-FR" sz="2000" b="1" dirty="0">
                <a:solidFill>
                  <a:schemeClr val="bg1"/>
                </a:solidFill>
              </a:rPr>
              <a:t>-</a:t>
            </a:r>
          </a:p>
          <a:p>
            <a:pPr algn="r"/>
            <a:r>
              <a:rPr lang="ar-DZ" sz="2000" b="1" dirty="0">
                <a:solidFill>
                  <a:schemeClr val="bg1"/>
                </a:solidFill>
              </a:rPr>
              <a:t> </a:t>
            </a:r>
            <a:r>
              <a:rPr lang="fr-FR" sz="2000" b="1" dirty="0">
                <a:solidFill>
                  <a:schemeClr val="bg1"/>
                </a:solidFill>
              </a:rPr>
              <a:t>(15A</a:t>
            </a:r>
            <a:r>
              <a:rPr lang="ar-DZ" sz="2000" b="1" dirty="0">
                <a:solidFill>
                  <a:schemeClr val="bg1"/>
                </a:solidFill>
              </a:rPr>
              <a:t> والمكيف والمصباح </a:t>
            </a:r>
            <a:r>
              <a:rPr lang="ar-DZ" sz="2000" b="1" dirty="0" err="1">
                <a:solidFill>
                  <a:schemeClr val="bg1"/>
                </a:solidFill>
              </a:rPr>
              <a:t>معا (</a:t>
            </a:r>
            <a:r>
              <a:rPr lang="ar-DZ" sz="2000" b="1" dirty="0">
                <a:solidFill>
                  <a:schemeClr val="bg1"/>
                </a:solidFill>
              </a:rPr>
              <a:t> </a:t>
            </a:r>
          </a:p>
          <a:p>
            <a:pPr algn="r"/>
            <a:endParaRPr lang="ar-DZ" sz="2400" b="1" dirty="0">
              <a:solidFill>
                <a:schemeClr val="bg1"/>
              </a:solidFill>
            </a:endParaRP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501008"/>
            <a:ext cx="5004048" cy="2636912"/>
          </a:xfrm>
          <a:prstGeom prst="rect">
            <a:avLst/>
          </a:prstGeom>
          <a:noFill/>
          <a:ln w="9525">
            <a:noFill/>
            <a:miter lim="800000"/>
            <a:headEnd/>
            <a:tailEnd/>
          </a:ln>
        </p:spPr>
      </p:pic>
      <p:cxnSp>
        <p:nvCxnSpPr>
          <p:cNvPr id="8" name="Connecteur droit 7"/>
          <p:cNvCxnSpPr/>
          <p:nvPr/>
        </p:nvCxnSpPr>
        <p:spPr>
          <a:xfrm>
            <a:off x="3707904" y="5445224"/>
            <a:ext cx="0" cy="432048"/>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flipH="1">
            <a:off x="3563888" y="5733256"/>
            <a:ext cx="279648" cy="8384"/>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flipH="1">
            <a:off x="3563888" y="5805264"/>
            <a:ext cx="279648"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flipH="1">
            <a:off x="3635896" y="5877272"/>
            <a:ext cx="207640" cy="8384"/>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Arc 18"/>
          <p:cNvSpPr/>
          <p:nvPr/>
        </p:nvSpPr>
        <p:spPr>
          <a:xfrm rot="9707380" flipH="1">
            <a:off x="3412829" y="5072007"/>
            <a:ext cx="437134" cy="378260"/>
          </a:xfrm>
          <a:prstGeom prst="arc">
            <a:avLst/>
          </a:prstGeom>
          <a:ln w="317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0" name="Arc 19"/>
          <p:cNvSpPr/>
          <p:nvPr/>
        </p:nvSpPr>
        <p:spPr>
          <a:xfrm rot="15180846" flipH="1">
            <a:off x="1569922" y="5352155"/>
            <a:ext cx="93303" cy="185564"/>
          </a:xfrm>
          <a:prstGeom prst="arc">
            <a:avLst/>
          </a:prstGeom>
          <a:ln w="317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1" name="Rectangle à coins arrondis 20"/>
          <p:cNvSpPr/>
          <p:nvPr/>
        </p:nvSpPr>
        <p:spPr>
          <a:xfrm>
            <a:off x="251520" y="4509120"/>
            <a:ext cx="648072" cy="2880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15A</a:t>
            </a:r>
          </a:p>
        </p:txBody>
      </p:sp>
      <p:pic>
        <p:nvPicPr>
          <p:cNvPr id="2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707904" y="4221088"/>
            <a:ext cx="144016" cy="360040"/>
          </a:xfrm>
          <a:prstGeom prst="rect">
            <a:avLst/>
          </a:prstGeom>
          <a:noFill/>
          <a:ln w="9525">
            <a:noFill/>
            <a:miter lim="800000"/>
            <a:headEnd/>
            <a:tailEnd/>
          </a:ln>
        </p:spPr>
      </p:pic>
      <p:pic>
        <p:nvPicPr>
          <p:cNvPr id="23"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03648" y="4221088"/>
            <a:ext cx="144016" cy="36004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الثالث</a:t>
            </a:r>
            <a:endParaRPr lang="fr-FR" sz="6000" b="1"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اراد وليد التحقق من ان الرخام يتكون اساسا من كربونات</a:t>
            </a:r>
          </a:p>
          <a:p>
            <a:pPr algn="r"/>
            <a:r>
              <a:rPr lang="ar-DZ" sz="2400" b="1" dirty="0" err="1">
                <a:solidFill>
                  <a:schemeClr val="bg1"/>
                </a:solidFill>
              </a:rPr>
              <a:t>الكالسيوم </a:t>
            </a:r>
            <a:r>
              <a:rPr lang="ar-DZ" sz="2400" b="1" dirty="0">
                <a:solidFill>
                  <a:schemeClr val="bg1"/>
                </a:solidFill>
              </a:rPr>
              <a:t>(</a:t>
            </a:r>
            <a:r>
              <a:rPr lang="ar-DZ" sz="2400" b="1" dirty="0" err="1">
                <a:solidFill>
                  <a:schemeClr val="bg1"/>
                </a:solidFill>
              </a:rPr>
              <a:t>الكلس</a:t>
            </a:r>
            <a:r>
              <a:rPr lang="ar-DZ" sz="2400" b="1" dirty="0">
                <a:solidFill>
                  <a:schemeClr val="bg1"/>
                </a:solidFill>
              </a:rPr>
              <a:t>) فوضع قطعة من الرخام داخل وعاء</a:t>
            </a:r>
          </a:p>
          <a:p>
            <a:pPr algn="r"/>
            <a:r>
              <a:rPr lang="ar-DZ" sz="2400" b="1" dirty="0">
                <a:solidFill>
                  <a:schemeClr val="bg1"/>
                </a:solidFill>
              </a:rPr>
              <a:t>متصل بقارورة </a:t>
            </a:r>
            <a:r>
              <a:rPr lang="fr-FR" sz="2400" b="1" dirty="0">
                <a:solidFill>
                  <a:schemeClr val="bg1"/>
                </a:solidFill>
              </a:rPr>
              <a:t>(H</a:t>
            </a:r>
            <a:r>
              <a:rPr lang="fr-FR" sz="2400" b="1" baseline="30000" dirty="0">
                <a:solidFill>
                  <a:schemeClr val="bg1"/>
                </a:solidFill>
              </a:rPr>
              <a:t>+</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ar-DZ" sz="2400" b="1" dirty="0">
                <a:solidFill>
                  <a:schemeClr val="bg1"/>
                </a:solidFill>
              </a:rPr>
              <a:t> </a:t>
            </a:r>
            <a:r>
              <a:rPr lang="ar-DZ" sz="2400" b="1" dirty="0" err="1">
                <a:solidFill>
                  <a:schemeClr val="bg1"/>
                </a:solidFill>
              </a:rPr>
              <a:t>به</a:t>
            </a:r>
            <a:r>
              <a:rPr lang="ar-DZ" sz="2400" b="1" dirty="0">
                <a:solidFill>
                  <a:schemeClr val="bg1"/>
                </a:solidFill>
              </a:rPr>
              <a:t> محلول حمض </a:t>
            </a:r>
            <a:r>
              <a:rPr lang="ar-DZ" sz="2400" b="1" dirty="0" err="1">
                <a:solidFill>
                  <a:schemeClr val="bg1"/>
                </a:solidFill>
              </a:rPr>
              <a:t>كلور</a:t>
            </a:r>
            <a:r>
              <a:rPr lang="ar-DZ" sz="2400" b="1" dirty="0">
                <a:solidFill>
                  <a:schemeClr val="bg1"/>
                </a:solidFill>
              </a:rPr>
              <a:t> الماء</a:t>
            </a:r>
          </a:p>
          <a:p>
            <a:pPr algn="r"/>
            <a:r>
              <a:rPr lang="ar-DZ" sz="2400" b="1" dirty="0">
                <a:solidFill>
                  <a:schemeClr val="bg1"/>
                </a:solidFill>
              </a:rPr>
              <a:t> تحتوي على رائق </a:t>
            </a:r>
            <a:r>
              <a:rPr lang="ar-DZ" sz="2400" b="1" dirty="0" err="1">
                <a:solidFill>
                  <a:schemeClr val="bg1"/>
                </a:solidFill>
              </a:rPr>
              <a:t>الكلس</a:t>
            </a:r>
            <a:r>
              <a:rPr lang="ar-DZ" sz="2400" b="1" dirty="0">
                <a:solidFill>
                  <a:schemeClr val="bg1"/>
                </a:solidFill>
              </a:rPr>
              <a:t> فلاحظ حدوث فوران </a:t>
            </a:r>
            <a:r>
              <a:rPr lang="ar-DZ" sz="2400" b="1" dirty="0" err="1">
                <a:solidFill>
                  <a:schemeClr val="bg1"/>
                </a:solidFill>
              </a:rPr>
              <a:t>ونطلاق</a:t>
            </a:r>
            <a:r>
              <a:rPr lang="ar-DZ" sz="2400" b="1" dirty="0">
                <a:solidFill>
                  <a:schemeClr val="bg1"/>
                </a:solidFill>
              </a:rPr>
              <a:t> </a:t>
            </a:r>
          </a:p>
          <a:p>
            <a:pPr algn="r"/>
            <a:r>
              <a:rPr lang="ar-DZ" sz="2400" b="1" dirty="0">
                <a:solidFill>
                  <a:schemeClr val="bg1"/>
                </a:solidFill>
              </a:rPr>
              <a:t>غاز عكر رائق </a:t>
            </a:r>
            <a:r>
              <a:rPr lang="ar-DZ" sz="2400" b="1" dirty="0" err="1">
                <a:solidFill>
                  <a:schemeClr val="bg1"/>
                </a:solidFill>
              </a:rPr>
              <a:t>الكلس</a:t>
            </a:r>
            <a:r>
              <a:rPr lang="ar-DZ" sz="2400" b="1" dirty="0">
                <a:solidFill>
                  <a:schemeClr val="bg1"/>
                </a:solidFill>
              </a:rPr>
              <a:t> كما في الوثيقة 1 </a:t>
            </a:r>
          </a:p>
          <a:p>
            <a:pPr algn="r"/>
            <a:r>
              <a:rPr lang="ar-DZ" sz="2400" b="1" dirty="0">
                <a:solidFill>
                  <a:schemeClr val="bg1"/>
                </a:solidFill>
              </a:rPr>
              <a:t>1-سم الغاز المنطلق واكتب صيغته الكيميائية </a:t>
            </a:r>
          </a:p>
          <a:p>
            <a:pPr algn="r"/>
            <a:r>
              <a:rPr lang="ar-DZ" sz="2400" b="1" dirty="0">
                <a:solidFill>
                  <a:schemeClr val="bg1"/>
                </a:solidFill>
              </a:rPr>
              <a:t>2-اكتب المعادلة </a:t>
            </a:r>
            <a:r>
              <a:rPr lang="ar-DZ" sz="2400" b="1" dirty="0" err="1">
                <a:solidFill>
                  <a:schemeClr val="bg1"/>
                </a:solidFill>
              </a:rPr>
              <a:t>الكيائية</a:t>
            </a:r>
            <a:r>
              <a:rPr lang="ar-DZ" sz="2400" b="1" dirty="0">
                <a:solidFill>
                  <a:schemeClr val="bg1"/>
                </a:solidFill>
              </a:rPr>
              <a:t> بالصيغتين </a:t>
            </a:r>
            <a:r>
              <a:rPr lang="ar-DZ" sz="2400" b="1" dirty="0" err="1">
                <a:solidFill>
                  <a:schemeClr val="bg1"/>
                </a:solidFill>
              </a:rPr>
              <a:t>الشاردية</a:t>
            </a:r>
            <a:r>
              <a:rPr lang="ar-DZ" sz="2400" b="1" dirty="0">
                <a:solidFill>
                  <a:schemeClr val="bg1"/>
                </a:solidFill>
              </a:rPr>
              <a:t> و الاحصائية </a:t>
            </a:r>
          </a:p>
          <a:p>
            <a:pPr algn="r"/>
            <a:r>
              <a:rPr lang="ar-DZ" sz="2400" b="1" dirty="0">
                <a:solidFill>
                  <a:schemeClr val="bg1"/>
                </a:solidFill>
              </a:rPr>
              <a:t>3-  لماذا ينصح بعدم استعمال روح </a:t>
            </a:r>
            <a:r>
              <a:rPr lang="ar-DZ" sz="2400" b="1" dirty="0" err="1">
                <a:solidFill>
                  <a:schemeClr val="bg1"/>
                </a:solidFill>
              </a:rPr>
              <a:t>الملح </a:t>
            </a:r>
            <a:r>
              <a:rPr lang="ar-DZ" sz="2400" b="1" dirty="0">
                <a:solidFill>
                  <a:schemeClr val="bg1"/>
                </a:solidFill>
              </a:rPr>
              <a:t>(حمض </a:t>
            </a:r>
            <a:r>
              <a:rPr lang="ar-DZ" sz="2400" b="1" dirty="0" err="1">
                <a:solidFill>
                  <a:schemeClr val="bg1"/>
                </a:solidFill>
              </a:rPr>
              <a:t>كلور</a:t>
            </a:r>
            <a:r>
              <a:rPr lang="ar-DZ" sz="2400" b="1" dirty="0">
                <a:solidFill>
                  <a:schemeClr val="bg1"/>
                </a:solidFill>
              </a:rPr>
              <a:t> الماء) في تنظيف </a:t>
            </a:r>
            <a:r>
              <a:rPr lang="ar-DZ" sz="2400" b="1" dirty="0" err="1">
                <a:solidFill>
                  <a:schemeClr val="bg1"/>
                </a:solidFill>
              </a:rPr>
              <a:t>الراخام</a:t>
            </a:r>
            <a:r>
              <a:rPr lang="ar-DZ" sz="2400" b="1" dirty="0">
                <a:solidFill>
                  <a:schemeClr val="bg1"/>
                </a:solidFill>
              </a:rPr>
              <a:t> </a:t>
            </a:r>
            <a:r>
              <a:rPr lang="ar-DZ" sz="2400" b="1" dirty="0" err="1">
                <a:solidFill>
                  <a:schemeClr val="bg1"/>
                </a:solidFill>
              </a:rPr>
              <a:t>؟</a:t>
            </a:r>
            <a:endParaRPr lang="ar-DZ" sz="2400" b="1" dirty="0">
              <a:solidFill>
                <a:schemeClr val="bg1"/>
              </a:solidFill>
            </a:endParaRPr>
          </a:p>
          <a:p>
            <a:pPr algn="r"/>
            <a:r>
              <a:rPr lang="ar-DZ" sz="2400" b="1" dirty="0">
                <a:solidFill>
                  <a:schemeClr val="bg1"/>
                </a:solidFill>
              </a:rPr>
              <a:t>4-كيف يمكن </a:t>
            </a:r>
            <a:r>
              <a:rPr lang="ar-DZ" sz="2400" b="1" dirty="0" err="1">
                <a:solidFill>
                  <a:schemeClr val="bg1"/>
                </a:solidFill>
              </a:rPr>
              <a:t>التاكد</a:t>
            </a:r>
            <a:r>
              <a:rPr lang="ar-DZ" sz="2400" b="1" dirty="0">
                <a:solidFill>
                  <a:schemeClr val="bg1"/>
                </a:solidFill>
              </a:rPr>
              <a:t> من ان محلول حمض </a:t>
            </a:r>
            <a:r>
              <a:rPr lang="ar-DZ" sz="2400" b="1" dirty="0" err="1">
                <a:solidFill>
                  <a:schemeClr val="bg1"/>
                </a:solidFill>
              </a:rPr>
              <a:t>كلور</a:t>
            </a:r>
            <a:r>
              <a:rPr lang="ar-DZ" sz="2400" b="1" dirty="0">
                <a:solidFill>
                  <a:schemeClr val="bg1"/>
                </a:solidFill>
              </a:rPr>
              <a:t> الماء يحتوي على </a:t>
            </a:r>
            <a:r>
              <a:rPr lang="ar-DZ" sz="2400" b="1" dirty="0" err="1">
                <a:solidFill>
                  <a:schemeClr val="bg1"/>
                </a:solidFill>
              </a:rPr>
              <a:t>شوارد</a:t>
            </a:r>
            <a:r>
              <a:rPr lang="ar-DZ" sz="2400" b="1" dirty="0">
                <a:solidFill>
                  <a:schemeClr val="bg1"/>
                </a:solidFill>
              </a:rPr>
              <a:t> </a:t>
            </a:r>
            <a:r>
              <a:rPr lang="ar-DZ" sz="2400" b="1" dirty="0" err="1">
                <a:solidFill>
                  <a:schemeClr val="bg1"/>
                </a:solidFill>
              </a:rPr>
              <a:t>الكلور</a:t>
            </a:r>
            <a:r>
              <a:rPr lang="ar-DZ" sz="2400" b="1" dirty="0">
                <a:solidFill>
                  <a:schemeClr val="bg1"/>
                </a:solidFill>
              </a:rPr>
              <a:t> </a:t>
            </a:r>
            <a:r>
              <a:rPr lang="ar-DZ" sz="2400" b="1" dirty="0" err="1">
                <a:solidFill>
                  <a:schemeClr val="bg1"/>
                </a:solidFill>
              </a:rPr>
              <a:t>؟</a:t>
            </a:r>
            <a:endParaRPr lang="ar-DZ" sz="2400" b="1" dirty="0">
              <a:solidFill>
                <a:schemeClr val="bg1"/>
              </a:solidFill>
            </a:endParaRPr>
          </a:p>
          <a:p>
            <a:pPr algn="r"/>
            <a:r>
              <a:rPr lang="ar-DZ" sz="2400" b="1" dirty="0">
                <a:solidFill>
                  <a:schemeClr val="bg1"/>
                </a:solidFill>
              </a:rPr>
              <a:t> </a:t>
            </a:r>
            <a:endParaRPr lang="fr-FR" sz="2400" b="1" dirty="0">
              <a:solidFill>
                <a:schemeClr val="bg1"/>
              </a:solidFill>
            </a:endParaRPr>
          </a:p>
        </p:txBody>
      </p:sp>
      <p:pic>
        <p:nvPicPr>
          <p:cNvPr id="5"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196752"/>
            <a:ext cx="2987824" cy="2376264"/>
          </a:xfrm>
          <a:prstGeom prst="rect">
            <a:avLst/>
          </a:prstGeom>
          <a:noFill/>
          <a:ln w="9525">
            <a:noFill/>
            <a:miter lim="800000"/>
            <a:headEnd/>
            <a:tailEnd/>
          </a:ln>
        </p:spPr>
      </p:pic>
      <p:pic>
        <p:nvPicPr>
          <p:cNvPr id="6" name="Image 5" descr="téléchargement.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83568" y="3068960"/>
            <a:ext cx="360040" cy="448408"/>
          </a:xfrm>
          <a:prstGeom prst="rect">
            <a:avLst/>
          </a:prstGeom>
        </p:spPr>
      </p:pic>
      <p:sp>
        <p:nvSpPr>
          <p:cNvPr id="8" name="Rectangle à coins arrondis 7"/>
          <p:cNvSpPr/>
          <p:nvPr/>
        </p:nvSpPr>
        <p:spPr>
          <a:xfrm>
            <a:off x="2483768" y="2924944"/>
            <a:ext cx="792088" cy="648072"/>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000" b="1" dirty="0">
                <a:solidFill>
                  <a:schemeClr val="bg1"/>
                </a:solidFill>
              </a:rPr>
              <a:t>رائق </a:t>
            </a:r>
          </a:p>
          <a:p>
            <a:pPr algn="ctr"/>
            <a:r>
              <a:rPr lang="ar-DZ" sz="2000" b="1" dirty="0" err="1">
                <a:solidFill>
                  <a:schemeClr val="bg1"/>
                </a:solidFill>
              </a:rPr>
              <a:t>الكلس</a:t>
            </a:r>
            <a:endParaRPr lang="fr-FR" sz="2000" b="1" dirty="0">
              <a:solidFill>
                <a:schemeClr val="bg1"/>
              </a:solidFill>
            </a:endParaRPr>
          </a:p>
        </p:txBody>
      </p:sp>
      <p:sp>
        <p:nvSpPr>
          <p:cNvPr id="9" name="Rectangle à coins arrondis 8"/>
          <p:cNvSpPr/>
          <p:nvPr/>
        </p:nvSpPr>
        <p:spPr>
          <a:xfrm>
            <a:off x="-180528" y="3068960"/>
            <a:ext cx="792088" cy="720080"/>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ا</a:t>
            </a:r>
            <a:r>
              <a:rPr lang="ar-DZ" sz="2000" b="1" dirty="0">
                <a:solidFill>
                  <a:schemeClr val="bg1"/>
                </a:solidFill>
              </a:rPr>
              <a:t>لرخام</a:t>
            </a:r>
            <a:endParaRPr lang="fr-FR" sz="2000" b="1" dirty="0">
              <a:solidFill>
                <a:schemeClr val="bg1"/>
              </a:solidFill>
            </a:endParaRPr>
          </a:p>
        </p:txBody>
      </p:sp>
      <p:sp>
        <p:nvSpPr>
          <p:cNvPr id="10" name="Rectangle à coins arrondis 9"/>
          <p:cNvSpPr/>
          <p:nvPr/>
        </p:nvSpPr>
        <p:spPr>
          <a:xfrm>
            <a:off x="0" y="1196752"/>
            <a:ext cx="64807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err="1">
                <a:solidFill>
                  <a:schemeClr val="bg1"/>
                </a:solidFill>
              </a:rPr>
              <a:t>HCl</a:t>
            </a:r>
            <a:endParaRPr lang="fr-FR" sz="1400"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2400" b="1" dirty="0">
                <a:solidFill>
                  <a:schemeClr val="bg1"/>
                </a:solidFill>
              </a:rPr>
              <a:t>m=2kg</a:t>
            </a:r>
            <a:r>
              <a:rPr lang="ar-DZ" sz="2400" b="1" dirty="0">
                <a:solidFill>
                  <a:schemeClr val="bg1"/>
                </a:solidFill>
              </a:rPr>
              <a:t> كتلته </a:t>
            </a:r>
            <a:r>
              <a:rPr lang="fr-FR" sz="2400" b="1" dirty="0">
                <a:solidFill>
                  <a:schemeClr val="bg1"/>
                </a:solidFill>
              </a:rPr>
              <a:t>(L)</a:t>
            </a:r>
            <a:r>
              <a:rPr lang="ar-DZ" sz="2400" b="1" dirty="0">
                <a:solidFill>
                  <a:schemeClr val="bg1"/>
                </a:solidFill>
              </a:rPr>
              <a:t> ثبت  اب وليد مصباح  </a:t>
            </a:r>
          </a:p>
          <a:p>
            <a:pPr algn="r"/>
            <a:r>
              <a:rPr lang="fr-FR" sz="2400" b="1" dirty="0">
                <a:solidFill>
                  <a:schemeClr val="bg1"/>
                </a:solidFill>
              </a:rPr>
              <a:t>f1</a:t>
            </a:r>
            <a:r>
              <a:rPr lang="ar-DZ" sz="2400" b="1" dirty="0">
                <a:solidFill>
                  <a:schemeClr val="bg1"/>
                </a:solidFill>
              </a:rPr>
              <a:t>و </a:t>
            </a:r>
            <a:r>
              <a:rPr lang="fr-FR" sz="2400" b="1" dirty="0">
                <a:solidFill>
                  <a:schemeClr val="bg1"/>
                </a:solidFill>
              </a:rPr>
              <a:t>  f2</a:t>
            </a:r>
            <a:r>
              <a:rPr lang="ar-DZ" sz="2400" b="1" dirty="0">
                <a:solidFill>
                  <a:schemeClr val="bg1"/>
                </a:solidFill>
              </a:rPr>
              <a:t> كما في الشكل بواسطة </a:t>
            </a:r>
            <a:r>
              <a:rPr lang="ar-DZ" sz="2400" b="1" dirty="0" err="1">
                <a:solidFill>
                  <a:schemeClr val="bg1"/>
                </a:solidFill>
              </a:rPr>
              <a:t>خيطين</a:t>
            </a:r>
            <a:r>
              <a:rPr lang="ar-DZ" sz="2400" b="1" dirty="0">
                <a:solidFill>
                  <a:schemeClr val="bg1"/>
                </a:solidFill>
              </a:rPr>
              <a:t> </a:t>
            </a:r>
          </a:p>
          <a:p>
            <a:pPr algn="r"/>
            <a:r>
              <a:rPr lang="ar-DZ" sz="2400" b="1" dirty="0">
                <a:solidFill>
                  <a:schemeClr val="bg1"/>
                </a:solidFill>
              </a:rPr>
              <a:t> </a:t>
            </a:r>
          </a:p>
          <a:p>
            <a:pPr algn="r"/>
            <a:r>
              <a:rPr lang="ar-DZ" sz="2400" b="1" dirty="0">
                <a:solidFill>
                  <a:schemeClr val="bg1"/>
                </a:solidFill>
              </a:rPr>
              <a:t>1-احسب ثقل المصباح</a:t>
            </a:r>
          </a:p>
          <a:p>
            <a:pPr algn="r"/>
            <a:r>
              <a:rPr lang="ar-DZ" sz="2400" b="1" dirty="0">
                <a:solidFill>
                  <a:schemeClr val="bg1"/>
                </a:solidFill>
              </a:rPr>
              <a:t>2- مثل القوى المؤثرة على المصباح كيفيا</a:t>
            </a:r>
          </a:p>
          <a:p>
            <a:pPr algn="r"/>
            <a:r>
              <a:rPr lang="ar-DZ" sz="2400" b="1" dirty="0">
                <a:solidFill>
                  <a:schemeClr val="bg1"/>
                </a:solidFill>
              </a:rPr>
              <a:t>3 مثل شعاعي مركبتي الثقل  باختيار محوري</a:t>
            </a:r>
          </a:p>
          <a:p>
            <a:pPr algn="r"/>
            <a:r>
              <a:rPr lang="fr-FR" sz="2400" b="1" dirty="0">
                <a:solidFill>
                  <a:schemeClr val="bg1"/>
                </a:solidFill>
              </a:rPr>
              <a:t>10N          2cm </a:t>
            </a:r>
            <a:r>
              <a:rPr lang="ar-DZ" sz="2400" b="1" dirty="0">
                <a:solidFill>
                  <a:schemeClr val="bg1"/>
                </a:solidFill>
              </a:rPr>
              <a:t> الحبلين  بسلم </a:t>
            </a:r>
          </a:p>
          <a:p>
            <a:pPr algn="r"/>
            <a:r>
              <a:rPr lang="ar-DZ" sz="2400" b="1" dirty="0">
                <a:solidFill>
                  <a:schemeClr val="bg1"/>
                </a:solidFill>
              </a:rPr>
              <a:t>على ورق </a:t>
            </a:r>
            <a:r>
              <a:rPr lang="ar-DZ" sz="2400" b="1" dirty="0" err="1">
                <a:solidFill>
                  <a:schemeClr val="bg1"/>
                </a:solidFill>
              </a:rPr>
              <a:t>ملمتري</a:t>
            </a:r>
            <a:r>
              <a:rPr lang="ar-DZ" sz="2400" b="1" dirty="0">
                <a:solidFill>
                  <a:schemeClr val="bg1"/>
                </a:solidFill>
              </a:rPr>
              <a:t> ثم  استنتج خصائص</a:t>
            </a:r>
          </a:p>
          <a:p>
            <a:pPr algn="r"/>
            <a:r>
              <a:rPr lang="ar-DZ" sz="2400" b="1" dirty="0">
                <a:solidFill>
                  <a:schemeClr val="bg1"/>
                </a:solidFill>
              </a:rPr>
              <a:t> قوتي </a:t>
            </a:r>
            <a:r>
              <a:rPr lang="ar-DZ" sz="2400" b="1" dirty="0" err="1">
                <a:solidFill>
                  <a:schemeClr val="bg1"/>
                </a:solidFill>
              </a:rPr>
              <a:t>تاثير</a:t>
            </a:r>
            <a:r>
              <a:rPr lang="ar-DZ" sz="2400" b="1" dirty="0">
                <a:solidFill>
                  <a:schemeClr val="bg1"/>
                </a:solidFill>
              </a:rPr>
              <a:t> الحبلين  من خلال شرط التوازن</a:t>
            </a:r>
          </a:p>
          <a:p>
            <a:pPr algn="r"/>
            <a:endParaRPr lang="ar-DZ" sz="2400" b="1" dirty="0">
              <a:solidFill>
                <a:schemeClr val="bg1"/>
              </a:solidFill>
            </a:endParaRPr>
          </a:p>
        </p:txBody>
      </p:sp>
      <p:pic>
        <p:nvPicPr>
          <p:cNvPr id="30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764704"/>
            <a:ext cx="2195736" cy="1944216"/>
          </a:xfrm>
          <a:prstGeom prst="rect">
            <a:avLst/>
          </a:prstGeom>
          <a:noFill/>
          <a:ln w="9525">
            <a:noFill/>
            <a:miter lim="800000"/>
            <a:headEnd/>
            <a:tailEnd/>
          </a:ln>
        </p:spPr>
      </p:pic>
      <p:cxnSp>
        <p:nvCxnSpPr>
          <p:cNvPr id="7" name="Connecteur droit avec flèche 6"/>
          <p:cNvCxnSpPr/>
          <p:nvPr/>
        </p:nvCxnSpPr>
        <p:spPr>
          <a:xfrm>
            <a:off x="6084168" y="429309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à coins arrondis 7"/>
          <p:cNvSpPr/>
          <p:nvPr/>
        </p:nvSpPr>
        <p:spPr>
          <a:xfrm>
            <a:off x="1403648" y="1988840"/>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L</a:t>
            </a:r>
            <a:endParaRPr lang="fr-FR" sz="2000" b="1" dirty="0">
              <a:solidFill>
                <a:schemeClr val="bg1"/>
              </a:solidFill>
            </a:endParaRPr>
          </a:p>
        </p:txBody>
      </p:sp>
      <p:sp>
        <p:nvSpPr>
          <p:cNvPr id="9" name="Arc 8"/>
          <p:cNvSpPr/>
          <p:nvPr/>
        </p:nvSpPr>
        <p:spPr>
          <a:xfrm rot="4336036" flipH="1">
            <a:off x="517215" y="1102404"/>
            <a:ext cx="535463" cy="797645"/>
          </a:xfrm>
          <a:prstGeom prst="arc">
            <a:avLst>
              <a:gd name="adj1" fmla="val 15902759"/>
              <a:gd name="adj2" fmla="val 1694465"/>
            </a:avLst>
          </a:prstGeom>
          <a:ln w="476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Rectangle 9"/>
          <p:cNvSpPr/>
          <p:nvPr/>
        </p:nvSpPr>
        <p:spPr>
          <a:xfrm>
            <a:off x="683568" y="1268760"/>
            <a:ext cx="492444" cy="369332"/>
          </a:xfrm>
          <a:prstGeom prst="rect">
            <a:avLst/>
          </a:prstGeom>
          <a:noFill/>
        </p:spPr>
        <p:txBody>
          <a:bodyPr wrap="none">
            <a:spAutoFit/>
          </a:bodyPr>
          <a:lstStyle/>
          <a:p>
            <a:pPr algn="ctr"/>
            <a:r>
              <a:rPr lang="ar-DZ" b="1" dirty="0">
                <a:solidFill>
                  <a:schemeClr val="bg1"/>
                </a:solidFill>
              </a:rPr>
              <a:t>60</a:t>
            </a:r>
            <a:r>
              <a:rPr lang="fr-FR" b="1" baseline="30000" dirty="0">
                <a:solidFill>
                  <a:schemeClr val="bg1"/>
                </a:solidFill>
              </a:rPr>
              <a:t>0</a:t>
            </a:r>
            <a:endParaRPr lang="fr-FR"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عندما كان وليد يشاهد اللقاء النهائي لكاس افريقيا بين الجزائر و السنغال</a:t>
            </a:r>
          </a:p>
          <a:p>
            <a:pPr algn="r"/>
            <a:r>
              <a:rPr lang="ar-DZ" sz="2400" b="1" dirty="0">
                <a:solidFill>
                  <a:schemeClr val="bg1"/>
                </a:solidFill>
              </a:rPr>
              <a:t>في شاشة </a:t>
            </a:r>
            <a:r>
              <a:rPr lang="ar-DZ" sz="2400" b="1" dirty="0" err="1">
                <a:solidFill>
                  <a:schemeClr val="bg1"/>
                </a:solidFill>
              </a:rPr>
              <a:t>التلفزة</a:t>
            </a:r>
            <a:r>
              <a:rPr lang="ar-DZ" sz="2400" b="1" dirty="0">
                <a:solidFill>
                  <a:schemeClr val="bg1"/>
                </a:solidFill>
              </a:rPr>
              <a:t> حدث توقف جهاز التلفزيون وتلفه و تلف المصباح كلك ولما اراد استبدال المصباح بمصباح اخر جديد اصيب بصدمة كهربائية فاحتار من حدوث هذه المشاكل مما جعله يتصل بكهربائي لإصلاح المشكلتين  </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a:t>
            </a:r>
            <a:r>
              <a:rPr lang="ar-DZ" sz="2400" b="1" dirty="0" err="1">
                <a:solidFill>
                  <a:schemeClr val="bg1"/>
                </a:solidFill>
              </a:rPr>
              <a:t>ماهو</a:t>
            </a:r>
            <a:r>
              <a:rPr lang="ar-DZ" sz="2400" b="1" dirty="0">
                <a:solidFill>
                  <a:schemeClr val="bg1"/>
                </a:solidFill>
              </a:rPr>
              <a:t> سبب توقف جهاز التلفزيون وتلف </a:t>
            </a:r>
            <a:r>
              <a:rPr lang="ar-DZ" sz="2400" b="1" dirty="0" err="1">
                <a:solidFill>
                  <a:schemeClr val="bg1"/>
                </a:solidFill>
              </a:rPr>
              <a:t>المصباح ؟</a:t>
            </a:r>
            <a:endParaRPr lang="ar-DZ" sz="2400" b="1" dirty="0">
              <a:solidFill>
                <a:schemeClr val="bg1"/>
              </a:solidFill>
            </a:endParaRPr>
          </a:p>
          <a:p>
            <a:pPr algn="r"/>
            <a:r>
              <a:rPr lang="ar-DZ" sz="2400" b="1" dirty="0">
                <a:solidFill>
                  <a:schemeClr val="bg1"/>
                </a:solidFill>
              </a:rPr>
              <a:t>2-لماذا اصيب وليد بصدمة كهربائية </a:t>
            </a:r>
          </a:p>
          <a:p>
            <a:pPr algn="r"/>
            <a:r>
              <a:rPr lang="ar-DZ" sz="2400" b="1" dirty="0">
                <a:solidFill>
                  <a:schemeClr val="bg1"/>
                </a:solidFill>
              </a:rPr>
              <a:t>عند ما اراد استبدال المصباح مع </a:t>
            </a:r>
            <a:r>
              <a:rPr lang="ar-DZ" sz="2400" b="1" dirty="0" err="1">
                <a:solidFill>
                  <a:schemeClr val="bg1"/>
                </a:solidFill>
              </a:rPr>
              <a:t>التبرير  ؟</a:t>
            </a:r>
            <a:endParaRPr lang="ar-DZ" sz="2400" b="1" dirty="0">
              <a:solidFill>
                <a:schemeClr val="bg1"/>
              </a:solidFill>
            </a:endParaRPr>
          </a:p>
          <a:p>
            <a:pPr algn="r"/>
            <a:r>
              <a:rPr lang="ar-DZ" sz="2400" b="1" dirty="0">
                <a:solidFill>
                  <a:schemeClr val="bg1"/>
                </a:solidFill>
              </a:rPr>
              <a:t>3-اقترح حلا لمشكلة</a:t>
            </a:r>
          </a:p>
          <a:p>
            <a:pPr algn="r"/>
            <a:r>
              <a:rPr lang="ar-DZ" sz="2400" b="1" dirty="0">
                <a:solidFill>
                  <a:schemeClr val="bg1"/>
                </a:solidFill>
              </a:rPr>
              <a:t> تلف التلفزيون و تلف المصباح </a:t>
            </a:r>
          </a:p>
          <a:p>
            <a:pPr algn="r"/>
            <a:r>
              <a:rPr lang="ar-DZ" sz="2400" b="1" dirty="0">
                <a:solidFill>
                  <a:schemeClr val="bg1"/>
                </a:solidFill>
              </a:rPr>
              <a:t>مرة اخرى وحل لمشكلة الاصابة </a:t>
            </a:r>
          </a:p>
          <a:p>
            <a:pPr algn="r"/>
            <a:r>
              <a:rPr lang="ar-DZ" sz="2400" b="1" dirty="0">
                <a:solidFill>
                  <a:schemeClr val="bg1"/>
                </a:solidFill>
              </a:rPr>
              <a:t>بصدمة كهربائية عند استبدال المصباح</a:t>
            </a:r>
          </a:p>
          <a:p>
            <a:pPr algn="r"/>
            <a:r>
              <a:rPr lang="ar-DZ" sz="2400" b="1" dirty="0">
                <a:solidFill>
                  <a:schemeClr val="bg1"/>
                </a:solidFill>
              </a:rPr>
              <a:t>مع الرسم الصحيح     </a:t>
            </a: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    </a:t>
            </a:r>
          </a:p>
          <a:p>
            <a:pPr algn="r"/>
            <a:endParaRPr lang="ar-DZ" sz="2400" b="1" dirty="0">
              <a:solidFill>
                <a:schemeClr val="bg1"/>
              </a:solidFill>
            </a:endParaRPr>
          </a:p>
          <a:p>
            <a:pPr algn="r"/>
            <a:r>
              <a:rPr lang="ar-DZ" sz="24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7"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12" y="3573016"/>
            <a:ext cx="4248472" cy="2736304"/>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sz="2400" b="1" dirty="0">
              <a:solidFill>
                <a:schemeClr val="dk1"/>
              </a:solidFill>
            </a:endParaRPr>
          </a:p>
          <a:p>
            <a:pPr algn="r"/>
            <a:endParaRPr lang="fr-FR" sz="2400" b="1" dirty="0">
              <a:solidFill>
                <a:schemeClr val="dk1"/>
              </a:solidFill>
            </a:endParaRPr>
          </a:p>
          <a:p>
            <a:pPr algn="r"/>
            <a:endParaRPr lang="fr-FR" sz="2400" b="1" dirty="0">
              <a:solidFill>
                <a:schemeClr val="dk1"/>
              </a:solidFill>
            </a:endParaRPr>
          </a:p>
          <a:p>
            <a:pPr algn="r"/>
            <a:endParaRPr lang="ar-DZ" sz="2400" b="1" dirty="0">
              <a:solidFill>
                <a:schemeClr val="dk1"/>
              </a:solidFill>
            </a:endParaRPr>
          </a:p>
          <a:p>
            <a:pPr algn="r"/>
            <a:r>
              <a:rPr lang="fr-FR" sz="2400" b="1" dirty="0">
                <a:solidFill>
                  <a:schemeClr val="dk1"/>
                </a:solidFill>
              </a:rPr>
              <a:t>C</a:t>
            </a:r>
            <a:r>
              <a:rPr lang="fr-FR" sz="2400" b="1" dirty="0">
                <a:solidFill>
                  <a:schemeClr val="bg1"/>
                </a:solidFill>
              </a:rPr>
              <a:t>O</a:t>
            </a:r>
            <a:r>
              <a:rPr lang="fr-FR" sz="2400" b="1" baseline="-25000" dirty="0">
                <a:solidFill>
                  <a:schemeClr val="bg1"/>
                </a:solidFill>
              </a:rPr>
              <a:t>2</a:t>
            </a:r>
            <a:r>
              <a:rPr lang="ar-DZ" sz="2400" b="1" dirty="0">
                <a:solidFill>
                  <a:schemeClr val="bg1"/>
                </a:solidFill>
              </a:rPr>
              <a:t>1-اسم الغاز المنطلق هو غاز ثنائي اكسيد الكربون صيغته الكيميائية </a:t>
            </a:r>
            <a:endParaRPr lang="fr-FR" sz="2400" b="1" dirty="0">
              <a:solidFill>
                <a:schemeClr val="bg1"/>
              </a:solidFill>
            </a:endParaRPr>
          </a:p>
          <a:p>
            <a:pPr algn="r"/>
            <a:r>
              <a:rPr lang="ar-DZ" sz="2400" b="1" dirty="0">
                <a:solidFill>
                  <a:schemeClr val="bg1"/>
                </a:solidFill>
              </a:rPr>
              <a:t>2-كتابة المعادلة الكيميائية بالصيغة </a:t>
            </a:r>
            <a:r>
              <a:rPr lang="ar-DZ" sz="2400" b="1" dirty="0" err="1">
                <a:solidFill>
                  <a:schemeClr val="bg1"/>
                </a:solidFill>
              </a:rPr>
              <a:t>الشاردية</a:t>
            </a:r>
            <a:endParaRPr lang="ar-DZ" sz="2400" b="1" dirty="0">
              <a:solidFill>
                <a:schemeClr val="bg1"/>
              </a:solidFill>
            </a:endParaRPr>
          </a:p>
          <a:p>
            <a:pPr algn="r"/>
            <a:r>
              <a:rPr lang="fr-FR" sz="2400" b="1" dirty="0">
                <a:solidFill>
                  <a:schemeClr val="bg1"/>
                </a:solidFill>
                <a:latin typeface="Calibri" pitchFamily="34" charset="0"/>
                <a:ea typeface="Calibri" pitchFamily="34" charset="0"/>
                <a:cs typeface="Arial" pitchFamily="34" charset="0"/>
              </a:rPr>
              <a:t>CaC</a:t>
            </a:r>
            <a:r>
              <a:rPr lang="fr-FR" sz="2400" b="1" dirty="0">
                <a:solidFill>
                  <a:schemeClr val="dk1"/>
                </a:solidFill>
              </a:rPr>
              <a:t>O</a:t>
            </a:r>
            <a:r>
              <a:rPr lang="fr-FR" sz="2400" b="1" baseline="-25000" dirty="0">
                <a:solidFill>
                  <a:schemeClr val="dk1"/>
                </a:solidFill>
              </a:rPr>
              <a:t>3</a:t>
            </a:r>
            <a:r>
              <a:rPr lang="fr-FR" sz="2400" b="1" dirty="0">
                <a:solidFill>
                  <a:schemeClr val="bg1"/>
                </a:solidFill>
              </a:rPr>
              <a:t>(s)+2 </a:t>
            </a:r>
            <a:r>
              <a:rPr lang="fr-FR" sz="2400" b="1" dirty="0">
                <a:solidFill>
                  <a:schemeClr val="bg1"/>
                </a:solidFill>
                <a:latin typeface="Calibri" pitchFamily="34" charset="0"/>
                <a:ea typeface="Calibri" pitchFamily="34" charset="0"/>
                <a:cs typeface="Arial" pitchFamily="34" charset="0"/>
              </a:rPr>
              <a:t>(H</a:t>
            </a:r>
            <a:r>
              <a:rPr lang="fr-FR" sz="2400" b="1" baseline="30000" dirty="0">
                <a:solidFill>
                  <a:schemeClr val="bg1"/>
                </a:solidFill>
                <a:latin typeface="Calibri" pitchFamily="34" charset="0"/>
                <a:ea typeface="Calibri" pitchFamily="34" charset="0"/>
                <a:cs typeface="Arial" pitchFamily="34" charset="0"/>
              </a:rPr>
              <a:t>+</a:t>
            </a:r>
            <a:r>
              <a:rPr lang="fr-FR" sz="2400" b="1" dirty="0">
                <a:solidFill>
                  <a:schemeClr val="bg1"/>
                </a:solidFill>
                <a:latin typeface="Calibri" pitchFamily="34" charset="0"/>
                <a:ea typeface="Calibri" pitchFamily="34" charset="0"/>
                <a:cs typeface="Arial" pitchFamily="34" charset="0"/>
              </a:rPr>
              <a:t> +</a:t>
            </a:r>
            <a:r>
              <a:rPr lang="fr-FR" sz="2400" b="1" dirty="0">
                <a:solidFill>
                  <a:schemeClr val="dk1"/>
                </a:solidFill>
              </a:rPr>
              <a:t>Cl</a:t>
            </a:r>
            <a:r>
              <a:rPr lang="fr-FR" sz="2400" b="1" baseline="30000" dirty="0">
                <a:solidFill>
                  <a:schemeClr val="dk1"/>
                </a:solidFill>
              </a:rPr>
              <a:t>-</a:t>
            </a:r>
            <a:r>
              <a:rPr lang="fr-FR" sz="2400" b="1" dirty="0">
                <a:solidFill>
                  <a:schemeClr val="bg1"/>
                </a:solidFill>
                <a:latin typeface="Calibri" pitchFamily="34" charset="0"/>
                <a:ea typeface="Calibri" pitchFamily="34" charset="0"/>
                <a:cs typeface="Arial" pitchFamily="34" charset="0"/>
              </a:rPr>
              <a:t>) (</a:t>
            </a:r>
            <a:r>
              <a:rPr lang="fr-FR" sz="2400" b="1" dirty="0" err="1">
                <a:solidFill>
                  <a:schemeClr val="bg1"/>
                </a:solidFill>
                <a:latin typeface="Calibri" pitchFamily="34" charset="0"/>
                <a:ea typeface="Calibri" pitchFamily="34" charset="0"/>
                <a:cs typeface="Arial" pitchFamily="34" charset="0"/>
              </a:rPr>
              <a:t>aq</a:t>
            </a:r>
            <a:r>
              <a:rPr lang="fr-FR" sz="2400" b="1" dirty="0">
                <a:solidFill>
                  <a:schemeClr val="bg1"/>
                </a:solidFill>
                <a:latin typeface="Calibri" pitchFamily="34" charset="0"/>
                <a:ea typeface="Calibri" pitchFamily="34" charset="0"/>
                <a:cs typeface="Arial" pitchFamily="34" charset="0"/>
              </a:rPr>
              <a:t>)  </a:t>
            </a:r>
            <a:r>
              <a:rPr lang="ar-DZ" sz="2400" b="1" dirty="0">
                <a:solidFill>
                  <a:schemeClr val="bg1"/>
                </a:solidFill>
                <a:latin typeface="Calibri" pitchFamily="34" charset="0"/>
                <a:ea typeface="Calibri" pitchFamily="34" charset="0"/>
                <a:cs typeface="Arial" pitchFamily="34" charset="0"/>
              </a:rPr>
              <a:t>      </a:t>
            </a:r>
            <a:r>
              <a:rPr lang="fr-FR" sz="2400" b="1" dirty="0">
                <a:solidFill>
                  <a:schemeClr val="bg1"/>
                </a:solidFill>
                <a:latin typeface="Calibri" pitchFamily="34" charset="0"/>
                <a:ea typeface="Calibri" pitchFamily="34" charset="0"/>
                <a:cs typeface="Arial" pitchFamily="34" charset="0"/>
              </a:rPr>
              <a:t>  ( Ca</a:t>
            </a:r>
            <a:r>
              <a:rPr lang="fr-FR" sz="2400" b="1" baseline="30000" dirty="0">
                <a:solidFill>
                  <a:schemeClr val="bg1"/>
                </a:solidFill>
                <a:latin typeface="Calibri" pitchFamily="34" charset="0"/>
                <a:ea typeface="Calibri" pitchFamily="34" charset="0"/>
                <a:cs typeface="Arial" pitchFamily="34" charset="0"/>
              </a:rPr>
              <a:t>2+</a:t>
            </a:r>
            <a:r>
              <a:rPr lang="fr-FR" sz="2400" b="1" dirty="0">
                <a:solidFill>
                  <a:schemeClr val="bg1"/>
                </a:solidFill>
                <a:latin typeface="Calibri" pitchFamily="34" charset="0"/>
                <a:ea typeface="Calibri" pitchFamily="34" charset="0"/>
                <a:cs typeface="Arial" pitchFamily="34" charset="0"/>
              </a:rPr>
              <a:t> +</a:t>
            </a:r>
            <a:r>
              <a:rPr lang="fr-FR" sz="2400" b="1" dirty="0">
                <a:solidFill>
                  <a:schemeClr val="dk1"/>
                </a:solidFill>
              </a:rPr>
              <a:t>2Cl</a:t>
            </a:r>
            <a:r>
              <a:rPr lang="fr-FR" sz="2400" b="1" baseline="30000" dirty="0">
                <a:solidFill>
                  <a:schemeClr val="dk1"/>
                </a:solidFill>
              </a:rPr>
              <a:t>-</a:t>
            </a:r>
            <a:r>
              <a:rPr lang="fr-FR" sz="2400" b="1" dirty="0">
                <a:solidFill>
                  <a:schemeClr val="bg1"/>
                </a:solidFill>
                <a:latin typeface="Calibri" pitchFamily="34" charset="0"/>
                <a:ea typeface="Calibri" pitchFamily="34" charset="0"/>
                <a:cs typeface="Arial" pitchFamily="34" charset="0"/>
              </a:rPr>
              <a:t>)(</a:t>
            </a:r>
            <a:r>
              <a:rPr lang="fr-FR" sz="2400" b="1" dirty="0" err="1">
                <a:solidFill>
                  <a:schemeClr val="bg1"/>
                </a:solidFill>
                <a:latin typeface="Calibri" pitchFamily="34" charset="0"/>
                <a:ea typeface="Calibri" pitchFamily="34" charset="0"/>
                <a:cs typeface="Arial" pitchFamily="34" charset="0"/>
              </a:rPr>
              <a:t>aq</a:t>
            </a:r>
            <a:r>
              <a:rPr lang="fr-FR" sz="2400" b="1" dirty="0">
                <a:solidFill>
                  <a:schemeClr val="bg1"/>
                </a:solidFill>
                <a:latin typeface="Calibri" pitchFamily="34" charset="0"/>
                <a:ea typeface="Calibri" pitchFamily="34" charset="0"/>
                <a:cs typeface="Arial" pitchFamily="34" charset="0"/>
              </a:rPr>
              <a:t>)+</a:t>
            </a:r>
            <a:r>
              <a:rPr lang="fr-FR" sz="2400" b="1" dirty="0">
                <a:solidFill>
                  <a:schemeClr val="dk1"/>
                </a:solidFill>
              </a:rPr>
              <a:t>C</a:t>
            </a:r>
            <a:r>
              <a:rPr lang="fr-FR" sz="2400" b="1" dirty="0">
                <a:solidFill>
                  <a:schemeClr val="bg1"/>
                </a:solidFill>
              </a:rPr>
              <a:t>O</a:t>
            </a:r>
            <a:r>
              <a:rPr lang="fr-FR" sz="2400" b="1" baseline="-25000" dirty="0">
                <a:solidFill>
                  <a:schemeClr val="bg1"/>
                </a:solidFill>
              </a:rPr>
              <a:t>2</a:t>
            </a:r>
            <a:r>
              <a:rPr lang="fr-FR" sz="2400" b="1" dirty="0">
                <a:solidFill>
                  <a:schemeClr val="dk1"/>
                </a:solidFill>
              </a:rPr>
              <a:t>(g)+</a:t>
            </a:r>
            <a:r>
              <a:rPr lang="fr-FR" sz="2400" b="1" dirty="0">
                <a:solidFill>
                  <a:schemeClr val="bg1"/>
                </a:solidFill>
              </a:rPr>
              <a:t>H</a:t>
            </a:r>
            <a:r>
              <a:rPr lang="fr-FR" sz="2400" b="1" baseline="-25000" dirty="0">
                <a:solidFill>
                  <a:schemeClr val="bg1"/>
                </a:solidFill>
              </a:rPr>
              <a:t>2</a:t>
            </a:r>
            <a:r>
              <a:rPr lang="fr-FR" sz="2400" b="1" dirty="0">
                <a:solidFill>
                  <a:schemeClr val="bg1"/>
                </a:solidFill>
              </a:rPr>
              <a:t>O(l)</a:t>
            </a:r>
            <a:endParaRPr lang="ar-DZ" sz="2400" b="1" dirty="0">
              <a:solidFill>
                <a:schemeClr val="bg1"/>
              </a:solidFill>
            </a:endParaRPr>
          </a:p>
          <a:p>
            <a:pPr algn="r"/>
            <a:r>
              <a:rPr lang="ar-DZ" sz="2400" b="1" dirty="0">
                <a:solidFill>
                  <a:schemeClr val="bg1"/>
                </a:solidFill>
              </a:rPr>
              <a:t>-كتابة المعادلة الكيميائية بالصيغة الاحصائية </a:t>
            </a:r>
          </a:p>
          <a:p>
            <a:pPr algn="r"/>
            <a:r>
              <a:rPr lang="fr-FR" sz="2400" b="1" dirty="0">
                <a:solidFill>
                  <a:schemeClr val="bg1"/>
                </a:solidFill>
                <a:latin typeface="Calibri" pitchFamily="34" charset="0"/>
                <a:ea typeface="Calibri" pitchFamily="34" charset="0"/>
                <a:cs typeface="Arial" pitchFamily="34" charset="0"/>
              </a:rPr>
              <a:t>CaC</a:t>
            </a:r>
            <a:r>
              <a:rPr lang="fr-FR" sz="2400" b="1" dirty="0">
                <a:solidFill>
                  <a:schemeClr val="dk1"/>
                </a:solidFill>
              </a:rPr>
              <a:t>O</a:t>
            </a:r>
            <a:r>
              <a:rPr lang="fr-FR" sz="2400" b="1" baseline="-25000" dirty="0">
                <a:solidFill>
                  <a:schemeClr val="dk1"/>
                </a:solidFill>
              </a:rPr>
              <a:t>3</a:t>
            </a:r>
            <a:r>
              <a:rPr lang="fr-FR" sz="2400" b="1" dirty="0">
                <a:solidFill>
                  <a:schemeClr val="bg1"/>
                </a:solidFill>
              </a:rPr>
              <a:t>(s)+2 </a:t>
            </a:r>
            <a:r>
              <a:rPr lang="fr-FR" sz="2400" b="1" dirty="0">
                <a:solidFill>
                  <a:schemeClr val="bg1"/>
                </a:solidFill>
                <a:latin typeface="Calibri" pitchFamily="34" charset="0"/>
                <a:ea typeface="Calibri" pitchFamily="34" charset="0"/>
                <a:cs typeface="Arial" pitchFamily="34" charset="0"/>
              </a:rPr>
              <a:t>H </a:t>
            </a:r>
            <a:r>
              <a:rPr lang="fr-FR" sz="2400" b="1" dirty="0">
                <a:solidFill>
                  <a:schemeClr val="dk1"/>
                </a:solidFill>
              </a:rPr>
              <a:t>Cl </a:t>
            </a:r>
            <a:r>
              <a:rPr lang="fr-FR" sz="2400" b="1" dirty="0">
                <a:solidFill>
                  <a:schemeClr val="bg1"/>
                </a:solidFill>
                <a:latin typeface="Calibri" pitchFamily="34" charset="0"/>
                <a:ea typeface="Calibri" pitchFamily="34" charset="0"/>
                <a:cs typeface="Arial" pitchFamily="34" charset="0"/>
              </a:rPr>
              <a:t>(</a:t>
            </a:r>
            <a:r>
              <a:rPr lang="fr-FR" sz="2400" b="1" dirty="0" err="1">
                <a:solidFill>
                  <a:schemeClr val="bg1"/>
                </a:solidFill>
                <a:latin typeface="Calibri" pitchFamily="34" charset="0"/>
                <a:ea typeface="Calibri" pitchFamily="34" charset="0"/>
                <a:cs typeface="Arial" pitchFamily="34" charset="0"/>
              </a:rPr>
              <a:t>aq</a:t>
            </a:r>
            <a:r>
              <a:rPr lang="fr-FR" sz="2400" b="1" dirty="0">
                <a:solidFill>
                  <a:schemeClr val="bg1"/>
                </a:solidFill>
                <a:latin typeface="Calibri" pitchFamily="34" charset="0"/>
                <a:ea typeface="Calibri" pitchFamily="34" charset="0"/>
                <a:cs typeface="Arial" pitchFamily="34" charset="0"/>
              </a:rPr>
              <a:t>)                        Ca</a:t>
            </a:r>
            <a:r>
              <a:rPr lang="fr-FR" sz="2400" b="1" dirty="0">
                <a:solidFill>
                  <a:schemeClr val="dk1"/>
                </a:solidFill>
              </a:rPr>
              <a:t>Cl</a:t>
            </a:r>
            <a:r>
              <a:rPr lang="fr-FR" sz="2400" b="1" baseline="-25000" dirty="0">
                <a:solidFill>
                  <a:schemeClr val="dk1"/>
                </a:solidFill>
              </a:rPr>
              <a:t>2</a:t>
            </a:r>
            <a:r>
              <a:rPr lang="fr-FR" sz="2400" b="1" dirty="0">
                <a:solidFill>
                  <a:schemeClr val="bg1"/>
                </a:solidFill>
                <a:latin typeface="Calibri" pitchFamily="34" charset="0"/>
                <a:ea typeface="Calibri" pitchFamily="34" charset="0"/>
                <a:cs typeface="Arial" pitchFamily="34" charset="0"/>
              </a:rPr>
              <a:t> (</a:t>
            </a:r>
            <a:r>
              <a:rPr lang="fr-FR" sz="2400" b="1" dirty="0" err="1">
                <a:solidFill>
                  <a:schemeClr val="bg1"/>
                </a:solidFill>
                <a:latin typeface="Calibri" pitchFamily="34" charset="0"/>
                <a:ea typeface="Calibri" pitchFamily="34" charset="0"/>
                <a:cs typeface="Arial" pitchFamily="34" charset="0"/>
              </a:rPr>
              <a:t>aq</a:t>
            </a:r>
            <a:r>
              <a:rPr lang="fr-FR" sz="2400" b="1" dirty="0">
                <a:solidFill>
                  <a:schemeClr val="bg1"/>
                </a:solidFill>
                <a:latin typeface="Calibri" pitchFamily="34" charset="0"/>
                <a:ea typeface="Calibri" pitchFamily="34" charset="0"/>
                <a:cs typeface="Arial" pitchFamily="34" charset="0"/>
              </a:rPr>
              <a:t>) +</a:t>
            </a:r>
            <a:r>
              <a:rPr lang="fr-FR" sz="2400" b="1" dirty="0">
                <a:solidFill>
                  <a:schemeClr val="dk1"/>
                </a:solidFill>
              </a:rPr>
              <a:t>C</a:t>
            </a:r>
            <a:r>
              <a:rPr lang="fr-FR" sz="2400" b="1" dirty="0">
                <a:solidFill>
                  <a:schemeClr val="bg1"/>
                </a:solidFill>
              </a:rPr>
              <a:t>O</a:t>
            </a:r>
            <a:r>
              <a:rPr lang="fr-FR" sz="2400" b="1" baseline="-25000" dirty="0">
                <a:solidFill>
                  <a:schemeClr val="bg1"/>
                </a:solidFill>
              </a:rPr>
              <a:t>2</a:t>
            </a:r>
            <a:r>
              <a:rPr lang="fr-FR" sz="2400" b="1" dirty="0">
                <a:solidFill>
                  <a:schemeClr val="dk1"/>
                </a:solidFill>
              </a:rPr>
              <a:t> (g)+</a:t>
            </a:r>
            <a:r>
              <a:rPr lang="fr-FR" sz="2400" b="1" dirty="0">
                <a:solidFill>
                  <a:schemeClr val="bg1"/>
                </a:solidFill>
              </a:rPr>
              <a:t>H</a:t>
            </a:r>
            <a:r>
              <a:rPr lang="fr-FR" sz="2400" b="1" baseline="-25000" dirty="0">
                <a:solidFill>
                  <a:schemeClr val="bg1"/>
                </a:solidFill>
              </a:rPr>
              <a:t>2</a:t>
            </a:r>
            <a:r>
              <a:rPr lang="fr-FR" sz="2400" b="1" dirty="0">
                <a:solidFill>
                  <a:schemeClr val="bg1"/>
                </a:solidFill>
              </a:rPr>
              <a:t>O(l</a:t>
            </a:r>
            <a:r>
              <a:rPr lang="ar-DZ" sz="2400" b="1" dirty="0">
                <a:solidFill>
                  <a:schemeClr val="bg1"/>
                </a:solidFill>
              </a:rPr>
              <a:t> </a:t>
            </a:r>
            <a:r>
              <a:rPr lang="fr-FR" sz="2400" b="1" dirty="0">
                <a:solidFill>
                  <a:schemeClr val="bg1"/>
                </a:solidFill>
              </a:rPr>
              <a:t>)</a:t>
            </a:r>
          </a:p>
          <a:p>
            <a:pPr algn="r"/>
            <a:r>
              <a:rPr lang="ar-DZ" sz="2400" b="1" dirty="0">
                <a:solidFill>
                  <a:schemeClr val="bg1"/>
                </a:solidFill>
              </a:rPr>
              <a:t>3-ينصح بعدم استعمال روح الملح في تنظيف الرخام </a:t>
            </a:r>
            <a:r>
              <a:rPr lang="ar-DZ" sz="2400" b="1" dirty="0" err="1">
                <a:solidFill>
                  <a:schemeClr val="bg1"/>
                </a:solidFill>
              </a:rPr>
              <a:t>لانه</a:t>
            </a:r>
            <a:r>
              <a:rPr lang="ar-DZ" sz="2400" b="1" dirty="0">
                <a:solidFill>
                  <a:schemeClr val="bg1"/>
                </a:solidFill>
              </a:rPr>
              <a:t> يتفاعل معه وبالتالي يتحلل و يفسد ويصبح غير صالح للاستعمال </a:t>
            </a:r>
          </a:p>
          <a:p>
            <a:pPr algn="r"/>
            <a:r>
              <a:rPr lang="ar-DZ" sz="2400" b="1" dirty="0">
                <a:solidFill>
                  <a:schemeClr val="bg1"/>
                </a:solidFill>
              </a:rPr>
              <a:t>4-يمكن الكشف عن </a:t>
            </a:r>
            <a:r>
              <a:rPr lang="ar-DZ" sz="2400" b="1" dirty="0" err="1">
                <a:solidFill>
                  <a:schemeClr val="bg1"/>
                </a:solidFill>
              </a:rPr>
              <a:t>شوارد</a:t>
            </a:r>
            <a:r>
              <a:rPr lang="ar-DZ" sz="2400" b="1" dirty="0">
                <a:solidFill>
                  <a:schemeClr val="bg1"/>
                </a:solidFill>
              </a:rPr>
              <a:t> </a:t>
            </a:r>
            <a:r>
              <a:rPr lang="ar-DZ" sz="2400" b="1" dirty="0" err="1">
                <a:solidFill>
                  <a:schemeClr val="bg1"/>
                </a:solidFill>
              </a:rPr>
              <a:t>الكلور</a:t>
            </a:r>
            <a:r>
              <a:rPr lang="ar-DZ" sz="2400" b="1" dirty="0">
                <a:solidFill>
                  <a:schemeClr val="bg1"/>
                </a:solidFill>
              </a:rPr>
              <a:t> في محلول حمض </a:t>
            </a:r>
            <a:r>
              <a:rPr lang="ar-DZ" sz="2400" b="1" dirty="0" err="1">
                <a:solidFill>
                  <a:schemeClr val="bg1"/>
                </a:solidFill>
              </a:rPr>
              <a:t>كلور</a:t>
            </a:r>
            <a:r>
              <a:rPr lang="ar-DZ" sz="2400" b="1" dirty="0">
                <a:solidFill>
                  <a:schemeClr val="bg1"/>
                </a:solidFill>
              </a:rPr>
              <a:t> الماء </a:t>
            </a:r>
            <a:r>
              <a:rPr lang="ar-DZ" sz="2400" b="1" dirty="0" err="1">
                <a:solidFill>
                  <a:schemeClr val="bg1"/>
                </a:solidFill>
              </a:rPr>
              <a:t>باضافة</a:t>
            </a:r>
            <a:r>
              <a:rPr lang="ar-DZ" sz="2400" b="1" dirty="0">
                <a:solidFill>
                  <a:schemeClr val="bg1"/>
                </a:solidFill>
              </a:rPr>
              <a:t> قطرات من محلول </a:t>
            </a:r>
            <a:r>
              <a:rPr lang="ar-DZ" sz="2400" b="1" dirty="0" err="1">
                <a:solidFill>
                  <a:schemeClr val="bg1"/>
                </a:solidFill>
              </a:rPr>
              <a:t>نترات</a:t>
            </a:r>
            <a:r>
              <a:rPr lang="ar-DZ" sz="2400" b="1" dirty="0">
                <a:solidFill>
                  <a:schemeClr val="bg1"/>
                </a:solidFill>
              </a:rPr>
              <a:t> الفضة اليه فيشكل راسب ابيض يسود بوجود الضوء  </a:t>
            </a:r>
          </a:p>
          <a:p>
            <a:pPr algn="r"/>
            <a:endParaRPr lang="ar-DZ" sz="2400" b="1" dirty="0">
              <a:solidFill>
                <a:schemeClr val="bg1"/>
              </a:solidFill>
            </a:endParaRPr>
          </a:p>
          <a:p>
            <a:pPr algn="r"/>
            <a:endParaRPr lang="ar-DZ" sz="2400" b="1" dirty="0">
              <a:solidFill>
                <a:schemeClr val="bg1"/>
              </a:solidFill>
            </a:endParaRPr>
          </a:p>
          <a:p>
            <a:pPr algn="r"/>
            <a:r>
              <a:rPr lang="fr-FR" sz="2400" b="1" dirty="0">
                <a:solidFill>
                  <a:schemeClr val="bg1"/>
                </a:solidFill>
              </a:rPr>
              <a:t>         </a:t>
            </a:r>
          </a:p>
          <a:p>
            <a:pPr algn="r"/>
            <a:r>
              <a:rPr lang="fr-FR" sz="2400" b="1" dirty="0">
                <a:solidFill>
                  <a:schemeClr val="bg1"/>
                </a:solidFill>
              </a:rPr>
              <a:t>       </a:t>
            </a:r>
          </a:p>
        </p:txBody>
      </p:sp>
      <p:sp>
        <p:nvSpPr>
          <p:cNvPr id="5" name="Rectangle à coins arrondis 4"/>
          <p:cNvSpPr/>
          <p:nvPr/>
        </p:nvSpPr>
        <p:spPr>
          <a:xfrm>
            <a:off x="179512"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cxnSp>
        <p:nvCxnSpPr>
          <p:cNvPr id="8" name="Connecteur droit avec flèche 7"/>
          <p:cNvCxnSpPr/>
          <p:nvPr/>
        </p:nvCxnSpPr>
        <p:spPr>
          <a:xfrm>
            <a:off x="3923928" y="3140968"/>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3923928" y="393305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108520" y="936104"/>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000" b="1" dirty="0">
              <a:solidFill>
                <a:schemeClr val="bg1"/>
              </a:solidFill>
            </a:endParaRPr>
          </a:p>
          <a:p>
            <a:pPr algn="r"/>
            <a:r>
              <a:rPr lang="fr-FR" sz="2000" b="1" dirty="0">
                <a:solidFill>
                  <a:schemeClr val="bg1"/>
                </a:solidFill>
              </a:rPr>
              <a:t>  </a:t>
            </a:r>
            <a:r>
              <a:rPr lang="ar-DZ" sz="2000" b="1" dirty="0">
                <a:solidFill>
                  <a:schemeClr val="bg1"/>
                </a:solidFill>
              </a:rPr>
              <a:t> </a:t>
            </a:r>
          </a:p>
          <a:p>
            <a:pPr algn="r"/>
            <a:r>
              <a:rPr lang="fr-FR" sz="2000" b="1" dirty="0">
                <a:solidFill>
                  <a:schemeClr val="bg1"/>
                </a:solidFill>
              </a:rPr>
              <a:t>P=</a:t>
            </a:r>
            <a:r>
              <a:rPr lang="fr-FR" sz="2000" b="1" dirty="0" err="1">
                <a:solidFill>
                  <a:schemeClr val="bg1"/>
                </a:solidFill>
              </a:rPr>
              <a:t>mxg</a:t>
            </a:r>
            <a:r>
              <a:rPr lang="fr-FR" sz="2000" b="1" dirty="0">
                <a:solidFill>
                  <a:schemeClr val="bg1"/>
                </a:solidFill>
              </a:rPr>
              <a:t>=</a:t>
            </a:r>
            <a:r>
              <a:rPr lang="ar-DZ" sz="2000" b="1" dirty="0">
                <a:solidFill>
                  <a:schemeClr val="bg1"/>
                </a:solidFill>
              </a:rPr>
              <a:t>   </a:t>
            </a:r>
            <a:r>
              <a:rPr lang="fr-FR" sz="2000" b="1" dirty="0">
                <a:solidFill>
                  <a:schemeClr val="bg1"/>
                </a:solidFill>
              </a:rPr>
              <a:t>2x10=20N</a:t>
            </a:r>
            <a:r>
              <a:rPr lang="ar-DZ" sz="2000" b="1" dirty="0">
                <a:solidFill>
                  <a:schemeClr val="bg1"/>
                </a:solidFill>
              </a:rPr>
              <a:t>1-حساب الثقل  المصباح لدينا </a:t>
            </a:r>
          </a:p>
          <a:p>
            <a:pPr algn="r"/>
            <a:r>
              <a:rPr lang="ar-DZ" sz="2000" b="1" dirty="0">
                <a:solidFill>
                  <a:schemeClr val="bg1"/>
                </a:solidFill>
              </a:rPr>
              <a:t>القوى المؤثرة على المصباح    هي </a:t>
            </a:r>
          </a:p>
          <a:p>
            <a:pPr algn="r"/>
            <a:r>
              <a:rPr lang="fr-FR" sz="2000" b="1" dirty="0">
                <a:solidFill>
                  <a:schemeClr val="bg1"/>
                </a:solidFill>
              </a:rPr>
              <a:t>p </a:t>
            </a:r>
            <a:r>
              <a:rPr lang="ar-DZ" sz="2000" b="1" dirty="0" err="1">
                <a:solidFill>
                  <a:schemeClr val="bg1"/>
                </a:solidFill>
              </a:rPr>
              <a:t>او  </a:t>
            </a:r>
            <a:r>
              <a:rPr lang="ar-DZ" sz="2000" b="1" dirty="0">
                <a:solidFill>
                  <a:schemeClr val="bg1"/>
                </a:solidFill>
              </a:rPr>
              <a:t>(الثقل</a:t>
            </a:r>
            <a:r>
              <a:rPr lang="ar-DZ" sz="2000" b="1" dirty="0" err="1">
                <a:solidFill>
                  <a:schemeClr val="bg1"/>
                </a:solidFill>
              </a:rPr>
              <a:t>)</a:t>
            </a:r>
            <a:r>
              <a:rPr lang="fr-FR" sz="2000" b="1" dirty="0">
                <a:solidFill>
                  <a:schemeClr val="bg1"/>
                </a:solidFill>
              </a:rPr>
              <a:t> FT/L</a:t>
            </a:r>
            <a:r>
              <a:rPr lang="ar-DZ" sz="2000" b="1" dirty="0">
                <a:solidFill>
                  <a:schemeClr val="bg1"/>
                </a:solidFill>
              </a:rPr>
              <a:t> قوة </a:t>
            </a:r>
            <a:r>
              <a:rPr lang="ar-DZ" sz="2000" b="1" dirty="0" err="1">
                <a:solidFill>
                  <a:schemeClr val="bg1"/>
                </a:solidFill>
              </a:rPr>
              <a:t>تاثير</a:t>
            </a:r>
            <a:r>
              <a:rPr lang="ar-DZ" sz="2000" b="1" dirty="0">
                <a:solidFill>
                  <a:schemeClr val="bg1"/>
                </a:solidFill>
              </a:rPr>
              <a:t> الارض</a:t>
            </a:r>
          </a:p>
          <a:p>
            <a:pPr algn="r"/>
            <a:r>
              <a:rPr lang="fr-FR" sz="2000" b="1" dirty="0">
                <a:solidFill>
                  <a:schemeClr val="bg1"/>
                </a:solidFill>
              </a:rPr>
              <a:t>Ff1/L</a:t>
            </a:r>
            <a:r>
              <a:rPr lang="ar-DZ" sz="2000" b="1" dirty="0">
                <a:solidFill>
                  <a:schemeClr val="bg1"/>
                </a:solidFill>
              </a:rPr>
              <a:t> -قوة </a:t>
            </a:r>
            <a:r>
              <a:rPr lang="ar-DZ" sz="2000" b="1" dirty="0" err="1">
                <a:solidFill>
                  <a:schemeClr val="bg1"/>
                </a:solidFill>
              </a:rPr>
              <a:t>تاثير</a:t>
            </a:r>
            <a:r>
              <a:rPr lang="ar-DZ" sz="2000" b="1" dirty="0">
                <a:solidFill>
                  <a:schemeClr val="bg1"/>
                </a:solidFill>
              </a:rPr>
              <a:t> </a:t>
            </a:r>
            <a:r>
              <a:rPr lang="ar-DZ" sz="2000" b="1" dirty="0" err="1">
                <a:solidFill>
                  <a:schemeClr val="bg1"/>
                </a:solidFill>
              </a:rPr>
              <a:t>الحبل1</a:t>
            </a:r>
            <a:r>
              <a:rPr lang="ar-DZ" sz="2000" b="1" dirty="0">
                <a:solidFill>
                  <a:schemeClr val="bg1"/>
                </a:solidFill>
              </a:rPr>
              <a:t>     </a:t>
            </a:r>
          </a:p>
          <a:p>
            <a:pPr algn="r"/>
            <a:r>
              <a:rPr lang="fr-FR" sz="2000" b="1" dirty="0">
                <a:solidFill>
                  <a:schemeClr val="bg1"/>
                </a:solidFill>
              </a:rPr>
              <a:t>Ff2/L</a:t>
            </a:r>
            <a:r>
              <a:rPr lang="ar-DZ" sz="2000" b="1" dirty="0">
                <a:solidFill>
                  <a:schemeClr val="bg1"/>
                </a:solidFill>
              </a:rPr>
              <a:t> -قوة </a:t>
            </a:r>
            <a:r>
              <a:rPr lang="ar-DZ" sz="2000" b="1" dirty="0" err="1">
                <a:solidFill>
                  <a:schemeClr val="bg1"/>
                </a:solidFill>
              </a:rPr>
              <a:t>تاثير</a:t>
            </a:r>
            <a:r>
              <a:rPr lang="ar-DZ" sz="2000" b="1" dirty="0">
                <a:solidFill>
                  <a:schemeClr val="bg1"/>
                </a:solidFill>
              </a:rPr>
              <a:t> الحبل 2     </a:t>
            </a:r>
          </a:p>
          <a:p>
            <a:pPr algn="r"/>
            <a:r>
              <a:rPr lang="ar-DZ" sz="2000" b="1" dirty="0">
                <a:solidFill>
                  <a:schemeClr val="bg1"/>
                </a:solidFill>
              </a:rPr>
              <a:t>2-تمثيل القوى </a:t>
            </a:r>
            <a:r>
              <a:rPr lang="ar-DZ" sz="2000" b="1" dirty="0" err="1">
                <a:solidFill>
                  <a:schemeClr val="bg1"/>
                </a:solidFill>
              </a:rPr>
              <a:t>المؤرة</a:t>
            </a:r>
            <a:r>
              <a:rPr lang="ar-DZ" sz="2000" b="1" dirty="0">
                <a:solidFill>
                  <a:schemeClr val="bg1"/>
                </a:solidFill>
              </a:rPr>
              <a:t> على المصباح كيفيا </a:t>
            </a:r>
          </a:p>
          <a:p>
            <a:pPr algn="r"/>
            <a:r>
              <a:rPr lang="ar-DZ" sz="2000" b="1" dirty="0">
                <a:solidFill>
                  <a:schemeClr val="bg1"/>
                </a:solidFill>
              </a:rPr>
              <a:t>3-تمثيل مركبتي شعاع الثقل باختيار محوري الحبلين  </a:t>
            </a:r>
          </a:p>
          <a:p>
            <a:pPr algn="r"/>
            <a:r>
              <a:rPr lang="fr-FR" sz="2000" b="1" dirty="0">
                <a:solidFill>
                  <a:schemeClr val="bg1"/>
                </a:solidFill>
              </a:rPr>
              <a:t>P</a:t>
            </a:r>
            <a:r>
              <a:rPr lang="ar-DZ" sz="2000" b="1" dirty="0">
                <a:solidFill>
                  <a:schemeClr val="bg1"/>
                </a:solidFill>
              </a:rPr>
              <a:t>  </a:t>
            </a:r>
            <a:r>
              <a:rPr lang="fr-FR" sz="2000" b="1" dirty="0">
                <a:solidFill>
                  <a:schemeClr val="bg1"/>
                </a:solidFill>
              </a:rPr>
              <a:t>+</a:t>
            </a:r>
            <a:r>
              <a:rPr lang="ar-DZ" sz="2000" b="1" dirty="0">
                <a:solidFill>
                  <a:schemeClr val="bg1"/>
                </a:solidFill>
              </a:rPr>
              <a:t>  </a:t>
            </a:r>
            <a:r>
              <a:rPr lang="fr-FR" sz="2000" b="1" dirty="0">
                <a:solidFill>
                  <a:schemeClr val="bg1"/>
                </a:solidFill>
              </a:rPr>
              <a:t>Ff1/L+Ff2/L=0</a:t>
            </a:r>
            <a:r>
              <a:rPr lang="ar-DZ" sz="2000" b="1" dirty="0">
                <a:solidFill>
                  <a:schemeClr val="bg1"/>
                </a:solidFill>
              </a:rPr>
              <a:t> -من خلال شرط التوازن لدينا     </a:t>
            </a:r>
            <a:endParaRPr lang="fr-FR" sz="2000" b="1" dirty="0">
              <a:solidFill>
                <a:schemeClr val="bg1"/>
              </a:solidFill>
            </a:endParaRPr>
          </a:p>
          <a:p>
            <a:pPr algn="r"/>
            <a:r>
              <a:rPr lang="fr-FR" sz="2000" b="1" dirty="0">
                <a:solidFill>
                  <a:schemeClr val="bg1"/>
                </a:solidFill>
              </a:rPr>
              <a:t>Fx=- Ff1/L</a:t>
            </a:r>
            <a:r>
              <a:rPr lang="ar-DZ" sz="2000" b="1" dirty="0">
                <a:solidFill>
                  <a:schemeClr val="bg1"/>
                </a:solidFill>
              </a:rPr>
              <a:t>و</a:t>
            </a:r>
            <a:r>
              <a:rPr lang="fr-FR" sz="2000" b="1" dirty="0">
                <a:solidFill>
                  <a:schemeClr val="bg1"/>
                </a:solidFill>
              </a:rPr>
              <a:t> Fy=-Ff2/L</a:t>
            </a:r>
            <a:r>
              <a:rPr lang="ar-DZ" sz="2000" b="1" dirty="0">
                <a:solidFill>
                  <a:schemeClr val="bg1"/>
                </a:solidFill>
              </a:rPr>
              <a:t> ومنه خصائص قوة </a:t>
            </a:r>
            <a:r>
              <a:rPr lang="ar-DZ" sz="2000" b="1" dirty="0" err="1">
                <a:solidFill>
                  <a:schemeClr val="bg1"/>
                </a:solidFill>
              </a:rPr>
              <a:t>تاير</a:t>
            </a:r>
            <a:r>
              <a:rPr lang="ar-DZ" sz="2000" b="1" dirty="0">
                <a:solidFill>
                  <a:schemeClr val="bg1"/>
                </a:solidFill>
              </a:rPr>
              <a:t> الحبلين  لدينا </a:t>
            </a:r>
          </a:p>
          <a:p>
            <a:pPr algn="r"/>
            <a:r>
              <a:rPr lang="fr-FR" sz="2000" b="1" dirty="0">
                <a:solidFill>
                  <a:schemeClr val="bg1"/>
                </a:solidFill>
              </a:rPr>
              <a:t>10N </a:t>
            </a:r>
            <a:r>
              <a:rPr lang="ar-DZ" sz="2000" b="1" dirty="0">
                <a:solidFill>
                  <a:schemeClr val="bg1"/>
                </a:solidFill>
              </a:rPr>
              <a:t>       </a:t>
            </a:r>
            <a:r>
              <a:rPr lang="fr-FR" sz="2000" b="1" dirty="0">
                <a:solidFill>
                  <a:schemeClr val="bg1"/>
                </a:solidFill>
              </a:rPr>
              <a:t>  2cm</a:t>
            </a:r>
            <a:r>
              <a:rPr lang="ar-DZ" sz="2000" b="1" dirty="0">
                <a:solidFill>
                  <a:schemeClr val="bg1"/>
                </a:solidFill>
              </a:rPr>
              <a:t> لدينا من السلم كل   </a:t>
            </a:r>
          </a:p>
          <a:p>
            <a:pPr algn="r"/>
            <a:r>
              <a:rPr lang="fr-FR" sz="2000" b="1" dirty="0">
                <a:solidFill>
                  <a:schemeClr val="bg1"/>
                </a:solidFill>
              </a:rPr>
              <a:t>X=20x2/10=4cm</a:t>
            </a:r>
            <a:r>
              <a:rPr lang="ar-DZ" sz="2000" b="1" dirty="0">
                <a:solidFill>
                  <a:schemeClr val="bg1"/>
                </a:solidFill>
              </a:rPr>
              <a:t>   ومنه  </a:t>
            </a:r>
            <a:r>
              <a:rPr lang="fr-FR" sz="2000" b="1" dirty="0">
                <a:solidFill>
                  <a:schemeClr val="bg1"/>
                </a:solidFill>
              </a:rPr>
              <a:t>20N </a:t>
            </a:r>
            <a:r>
              <a:rPr lang="ar-DZ" sz="2000" b="1" dirty="0">
                <a:solidFill>
                  <a:schemeClr val="bg1"/>
                </a:solidFill>
              </a:rPr>
              <a:t>      </a:t>
            </a:r>
            <a:r>
              <a:rPr lang="fr-FR" sz="2000" b="1" dirty="0">
                <a:solidFill>
                  <a:schemeClr val="bg1"/>
                </a:solidFill>
              </a:rPr>
              <a:t>  X</a:t>
            </a:r>
            <a:r>
              <a:rPr lang="ar-DZ" sz="2000" b="1" dirty="0">
                <a:solidFill>
                  <a:schemeClr val="bg1"/>
                </a:solidFill>
              </a:rPr>
              <a:t> معناه  </a:t>
            </a:r>
          </a:p>
          <a:p>
            <a:pPr algn="r"/>
            <a:r>
              <a:rPr lang="ar-DZ" sz="2000" b="1" dirty="0">
                <a:solidFill>
                  <a:schemeClr val="bg1"/>
                </a:solidFill>
              </a:rPr>
              <a:t>خصائص قوتي </a:t>
            </a:r>
            <a:r>
              <a:rPr lang="ar-DZ" sz="2000" b="1" dirty="0" err="1">
                <a:solidFill>
                  <a:schemeClr val="bg1"/>
                </a:solidFill>
              </a:rPr>
              <a:t>تاثي</a:t>
            </a:r>
            <a:r>
              <a:rPr lang="ar-DZ" sz="2000" b="1" dirty="0">
                <a:solidFill>
                  <a:schemeClr val="bg1"/>
                </a:solidFill>
              </a:rPr>
              <a:t> الحبلين</a:t>
            </a:r>
          </a:p>
          <a:p>
            <a:pPr algn="r"/>
            <a:endParaRPr lang="ar-DZ" sz="2000" b="1" dirty="0">
              <a:solidFill>
                <a:schemeClr val="bg1"/>
              </a:solidFill>
            </a:endParaRPr>
          </a:p>
          <a:p>
            <a:pPr algn="r"/>
            <a:endParaRPr lang="ar-DZ" sz="2000" b="1" dirty="0">
              <a:solidFill>
                <a:schemeClr val="bg1"/>
              </a:solidFill>
            </a:endParaRPr>
          </a:p>
          <a:p>
            <a:pPr algn="r"/>
            <a:endParaRPr lang="ar-DZ" sz="2000" b="1" dirty="0">
              <a:solidFill>
                <a:schemeClr val="bg1"/>
              </a:solidFill>
            </a:endParaRPr>
          </a:p>
          <a:p>
            <a:pPr algn="r"/>
            <a:endParaRPr lang="ar-DZ" sz="2000" b="1" dirty="0">
              <a:solidFill>
                <a:schemeClr val="bg1"/>
              </a:solidFill>
            </a:endParaRPr>
          </a:p>
          <a:p>
            <a:pPr algn="r"/>
            <a:endParaRPr lang="ar-DZ" sz="2000" b="1" dirty="0">
              <a:solidFill>
                <a:schemeClr val="bg1"/>
              </a:solidFill>
            </a:endParaRPr>
          </a:p>
          <a:p>
            <a:pPr algn="r"/>
            <a:endParaRPr lang="ar-DZ" sz="2000" b="1" dirty="0">
              <a:solidFill>
                <a:schemeClr val="bg1"/>
              </a:solidFill>
            </a:endParaRPr>
          </a:p>
          <a:p>
            <a:pPr algn="r"/>
            <a:endParaRPr lang="fr-FR" sz="2000" b="1" dirty="0">
              <a:solidFill>
                <a:schemeClr val="bg1"/>
              </a:solidFill>
            </a:endParaRP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cxnSp>
        <p:nvCxnSpPr>
          <p:cNvPr id="6" name="Connecteur droit avec flèche 5"/>
          <p:cNvCxnSpPr/>
          <p:nvPr/>
        </p:nvCxnSpPr>
        <p:spPr>
          <a:xfrm>
            <a:off x="6444208" y="22048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6372200" y="249289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6876256" y="19168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580112" y="19168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980728"/>
            <a:ext cx="1944216" cy="1944216"/>
          </a:xfrm>
          <a:prstGeom prst="rect">
            <a:avLst/>
          </a:prstGeom>
          <a:noFill/>
          <a:ln w="9525">
            <a:noFill/>
            <a:miter lim="800000"/>
            <a:headEnd/>
            <a:tailEnd/>
          </a:ln>
        </p:spPr>
      </p:pic>
      <p:cxnSp>
        <p:nvCxnSpPr>
          <p:cNvPr id="11" name="Connecteur droit avec flèche 10"/>
          <p:cNvCxnSpPr/>
          <p:nvPr/>
        </p:nvCxnSpPr>
        <p:spPr>
          <a:xfrm>
            <a:off x="1115616" y="2276872"/>
            <a:ext cx="0" cy="864096"/>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flipV="1">
            <a:off x="1115616" y="1268760"/>
            <a:ext cx="432048" cy="728464"/>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flipH="1" flipV="1">
            <a:off x="683568" y="1268760"/>
            <a:ext cx="512440" cy="736848"/>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a:off x="5796136" y="342900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5292080" y="342900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a:off x="5148064"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23" name="Image 22" descr="og9k3w71pn3g246wgt9c.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284984"/>
            <a:ext cx="2195736" cy="1584176"/>
          </a:xfrm>
          <a:prstGeom prst="rect">
            <a:avLst/>
          </a:prstGeom>
          <a:ln>
            <a:solidFill>
              <a:srgbClr val="1ADC1F"/>
            </a:solidFill>
          </a:ln>
        </p:spPr>
      </p:pic>
      <p:cxnSp>
        <p:nvCxnSpPr>
          <p:cNvPr id="24" name="Connecteur droit avec flèche 23"/>
          <p:cNvCxnSpPr/>
          <p:nvPr/>
        </p:nvCxnSpPr>
        <p:spPr>
          <a:xfrm flipH="1">
            <a:off x="1115616" y="4149080"/>
            <a:ext cx="17748" cy="93610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a:off x="3851920" y="342900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a:off x="2771800" y="508518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a:xfrm>
            <a:off x="539552" y="3573016"/>
            <a:ext cx="1296144" cy="1224136"/>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a:xfrm flipV="1">
            <a:off x="467544" y="3501008"/>
            <a:ext cx="1296144" cy="1152128"/>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a:off x="1115616" y="4149080"/>
            <a:ext cx="576064" cy="576064"/>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p:nvPr/>
        </p:nvCxnSpPr>
        <p:spPr>
          <a:xfrm flipH="1">
            <a:off x="539552" y="4149080"/>
            <a:ext cx="504056" cy="50405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à coins arrondis 41"/>
          <p:cNvSpPr/>
          <p:nvPr/>
        </p:nvSpPr>
        <p:spPr>
          <a:xfrm>
            <a:off x="1187624" y="2924944"/>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sp>
        <p:nvSpPr>
          <p:cNvPr id="43" name="Rectangle à coins arrondis 42"/>
          <p:cNvSpPr/>
          <p:nvPr/>
        </p:nvSpPr>
        <p:spPr>
          <a:xfrm>
            <a:off x="1547664" y="1340768"/>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f2/L</a:t>
            </a:r>
          </a:p>
        </p:txBody>
      </p:sp>
      <p:sp>
        <p:nvSpPr>
          <p:cNvPr id="45" name="Rectangle à coins arrondis 44"/>
          <p:cNvSpPr/>
          <p:nvPr/>
        </p:nvSpPr>
        <p:spPr>
          <a:xfrm>
            <a:off x="-180528" y="1484784"/>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f1/L</a:t>
            </a:r>
          </a:p>
        </p:txBody>
      </p:sp>
      <p:cxnSp>
        <p:nvCxnSpPr>
          <p:cNvPr id="46" name="Connecteur droit avec flèche 45"/>
          <p:cNvCxnSpPr/>
          <p:nvPr/>
        </p:nvCxnSpPr>
        <p:spPr>
          <a:xfrm>
            <a:off x="1763688" y="134076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Connecteur droit avec flèche 47"/>
          <p:cNvCxnSpPr/>
          <p:nvPr/>
        </p:nvCxnSpPr>
        <p:spPr>
          <a:xfrm>
            <a:off x="1403648" y="2852936"/>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p:cNvCxnSpPr/>
          <p:nvPr/>
        </p:nvCxnSpPr>
        <p:spPr>
          <a:xfrm>
            <a:off x="0" y="1484784"/>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flipV="1">
            <a:off x="1115616" y="3573016"/>
            <a:ext cx="576064" cy="504056"/>
          </a:xfrm>
          <a:prstGeom prst="straightConnector1">
            <a:avLst/>
          </a:prstGeom>
          <a:ln w="53975">
            <a:solidFill>
              <a:srgbClr val="00FFFF"/>
            </a:solidFill>
            <a:tailEnd type="arrow"/>
          </a:ln>
        </p:spPr>
        <p:style>
          <a:lnRef idx="1">
            <a:schemeClr val="accent1"/>
          </a:lnRef>
          <a:fillRef idx="0">
            <a:schemeClr val="accent1"/>
          </a:fillRef>
          <a:effectRef idx="0">
            <a:schemeClr val="accent1"/>
          </a:effectRef>
          <a:fontRef idx="minor">
            <a:schemeClr val="tx1"/>
          </a:fontRef>
        </p:style>
      </p:cxnSp>
      <p:cxnSp>
        <p:nvCxnSpPr>
          <p:cNvPr id="53" name="Connecteur droit avec flèche 52"/>
          <p:cNvCxnSpPr/>
          <p:nvPr/>
        </p:nvCxnSpPr>
        <p:spPr>
          <a:xfrm flipH="1" flipV="1">
            <a:off x="611560" y="3573016"/>
            <a:ext cx="512440" cy="512440"/>
          </a:xfrm>
          <a:prstGeom prst="straightConnector1">
            <a:avLst/>
          </a:prstGeom>
          <a:ln w="53975">
            <a:solidFill>
              <a:srgbClr val="00FFFF"/>
            </a:solidFill>
            <a:tailEnd type="arrow"/>
          </a:ln>
        </p:spPr>
        <p:style>
          <a:lnRef idx="1">
            <a:schemeClr val="accent1"/>
          </a:lnRef>
          <a:fillRef idx="0">
            <a:schemeClr val="accent1"/>
          </a:fillRef>
          <a:effectRef idx="0">
            <a:schemeClr val="accent1"/>
          </a:effectRef>
          <a:fontRef idx="minor">
            <a:schemeClr val="tx1"/>
          </a:fontRef>
        </p:style>
      </p:cxnSp>
      <p:sp>
        <p:nvSpPr>
          <p:cNvPr id="55" name="Rectangle à coins arrondis 54"/>
          <p:cNvSpPr/>
          <p:nvPr/>
        </p:nvSpPr>
        <p:spPr>
          <a:xfrm>
            <a:off x="1691680" y="3717032"/>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f2/L</a:t>
            </a:r>
          </a:p>
        </p:txBody>
      </p:sp>
      <p:sp>
        <p:nvSpPr>
          <p:cNvPr id="56" name="Rectangle à coins arrondis 55"/>
          <p:cNvSpPr/>
          <p:nvPr/>
        </p:nvSpPr>
        <p:spPr>
          <a:xfrm>
            <a:off x="-252536" y="3717032"/>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f1/L</a:t>
            </a:r>
          </a:p>
        </p:txBody>
      </p:sp>
      <p:cxnSp>
        <p:nvCxnSpPr>
          <p:cNvPr id="57" name="Connecteur droit avec flèche 56"/>
          <p:cNvCxnSpPr/>
          <p:nvPr/>
        </p:nvCxnSpPr>
        <p:spPr>
          <a:xfrm>
            <a:off x="1907704" y="3717032"/>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a:off x="0" y="3717032"/>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9" name="Rectangle à coins arrondis 58"/>
          <p:cNvSpPr/>
          <p:nvPr/>
        </p:nvSpPr>
        <p:spPr>
          <a:xfrm>
            <a:off x="1475656" y="5013176"/>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fy</a:t>
            </a:r>
            <a:endParaRPr lang="fr-FR" sz="2000" b="1" dirty="0">
              <a:solidFill>
                <a:schemeClr val="bg1"/>
              </a:solidFill>
            </a:endParaRPr>
          </a:p>
        </p:txBody>
      </p:sp>
      <p:sp>
        <p:nvSpPr>
          <p:cNvPr id="60" name="Rectangle à coins arrondis 59"/>
          <p:cNvSpPr/>
          <p:nvPr/>
        </p:nvSpPr>
        <p:spPr>
          <a:xfrm>
            <a:off x="-252536" y="4941168"/>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fx</a:t>
            </a:r>
            <a:endParaRPr lang="fr-FR" sz="2000" b="1" dirty="0">
              <a:solidFill>
                <a:schemeClr val="bg1"/>
              </a:solidFill>
            </a:endParaRPr>
          </a:p>
        </p:txBody>
      </p:sp>
      <p:cxnSp>
        <p:nvCxnSpPr>
          <p:cNvPr id="61" name="Connecteur droit avec flèche 60"/>
          <p:cNvCxnSpPr/>
          <p:nvPr/>
        </p:nvCxnSpPr>
        <p:spPr>
          <a:xfrm>
            <a:off x="1763688" y="5013176"/>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avec flèche 61"/>
          <p:cNvCxnSpPr/>
          <p:nvPr/>
        </p:nvCxnSpPr>
        <p:spPr>
          <a:xfrm>
            <a:off x="0" y="4869160"/>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3" name="Rectangle à coins arrondis 62"/>
          <p:cNvSpPr/>
          <p:nvPr/>
        </p:nvSpPr>
        <p:spPr>
          <a:xfrm>
            <a:off x="1043608" y="5013176"/>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cxnSp>
        <p:nvCxnSpPr>
          <p:cNvPr id="64" name="Connecteur droit avec flèche 63"/>
          <p:cNvCxnSpPr/>
          <p:nvPr/>
        </p:nvCxnSpPr>
        <p:spPr>
          <a:xfrm>
            <a:off x="1115616" y="494116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5" name="Connecteur droit avec flèche 64"/>
          <p:cNvCxnSpPr/>
          <p:nvPr/>
        </p:nvCxnSpPr>
        <p:spPr>
          <a:xfrm>
            <a:off x="3851920"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p:nvPr/>
        </p:nvCxnSpPr>
        <p:spPr>
          <a:xfrm>
            <a:off x="4572000"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7" name="Connecteur droit avec flèche 66"/>
          <p:cNvCxnSpPr/>
          <p:nvPr/>
        </p:nvCxnSpPr>
        <p:spPr>
          <a:xfrm>
            <a:off x="3275856"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8" name="Connecteur droit avec flèche 67"/>
          <p:cNvCxnSpPr/>
          <p:nvPr/>
        </p:nvCxnSpPr>
        <p:spPr>
          <a:xfrm>
            <a:off x="4499992" y="342900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9" name="Tableau 68"/>
          <p:cNvGraphicFramePr>
            <a:graphicFrameLocks noGrp="1"/>
          </p:cNvGraphicFramePr>
          <p:nvPr/>
        </p:nvGraphicFramePr>
        <p:xfrm>
          <a:off x="2987824" y="4725144"/>
          <a:ext cx="5730325" cy="1163568"/>
        </p:xfrm>
        <a:graphic>
          <a:graphicData uri="http://schemas.openxmlformats.org/drawingml/2006/table">
            <a:tbl>
              <a:tblPr firstRow="1" bandRow="1">
                <a:tableStyleId>{5C22544A-7EE6-4342-B048-85BDC9FD1C3A}</a:tableStyleId>
              </a:tblPr>
              <a:tblGrid>
                <a:gridCol w="934559">
                  <a:extLst>
                    <a:ext uri="{9D8B030D-6E8A-4147-A177-3AD203B41FA5}">
                      <a16:colId xmlns:a16="http://schemas.microsoft.com/office/drawing/2014/main" val="20000"/>
                    </a:ext>
                  </a:extLst>
                </a:gridCol>
                <a:gridCol w="1090319">
                  <a:extLst>
                    <a:ext uri="{9D8B030D-6E8A-4147-A177-3AD203B41FA5}">
                      <a16:colId xmlns:a16="http://schemas.microsoft.com/office/drawing/2014/main" val="20001"/>
                    </a:ext>
                  </a:extLst>
                </a:gridCol>
                <a:gridCol w="856679">
                  <a:extLst>
                    <a:ext uri="{9D8B030D-6E8A-4147-A177-3AD203B41FA5}">
                      <a16:colId xmlns:a16="http://schemas.microsoft.com/office/drawing/2014/main" val="20002"/>
                    </a:ext>
                  </a:extLst>
                </a:gridCol>
                <a:gridCol w="856679">
                  <a:extLst>
                    <a:ext uri="{9D8B030D-6E8A-4147-A177-3AD203B41FA5}">
                      <a16:colId xmlns:a16="http://schemas.microsoft.com/office/drawing/2014/main" val="20003"/>
                    </a:ext>
                  </a:extLst>
                </a:gridCol>
                <a:gridCol w="1239984">
                  <a:extLst>
                    <a:ext uri="{9D8B030D-6E8A-4147-A177-3AD203B41FA5}">
                      <a16:colId xmlns:a16="http://schemas.microsoft.com/office/drawing/2014/main" val="20004"/>
                    </a:ext>
                  </a:extLst>
                </a:gridCol>
                <a:gridCol w="752105">
                  <a:extLst>
                    <a:ext uri="{9D8B030D-6E8A-4147-A177-3AD203B41FA5}">
                      <a16:colId xmlns:a16="http://schemas.microsoft.com/office/drawing/2014/main" val="20005"/>
                    </a:ext>
                  </a:extLst>
                </a:gridCol>
              </a:tblGrid>
              <a:tr h="432048">
                <a:tc>
                  <a:txBody>
                    <a:bodyPr/>
                    <a:lstStyle/>
                    <a:p>
                      <a:pPr algn="ctr"/>
                      <a:r>
                        <a:rPr lang="ar-DZ" dirty="0">
                          <a:solidFill>
                            <a:schemeClr val="bg1"/>
                          </a:solidFill>
                        </a:rPr>
                        <a:t>الشدة </a:t>
                      </a:r>
                      <a:endParaRPr lang="fr-FR" dirty="0">
                        <a:solidFill>
                          <a:schemeClr val="bg1"/>
                        </a:solidFill>
                      </a:endParaRPr>
                    </a:p>
                  </a:txBody>
                  <a:tcPr>
                    <a:solidFill>
                      <a:schemeClr val="tx1"/>
                    </a:solidFill>
                  </a:tcPr>
                </a:tc>
                <a:tc>
                  <a:txBody>
                    <a:bodyPr/>
                    <a:lstStyle/>
                    <a:p>
                      <a:pPr algn="ctr"/>
                      <a:r>
                        <a:rPr lang="ar-DZ" dirty="0">
                          <a:solidFill>
                            <a:schemeClr val="bg1"/>
                          </a:solidFill>
                        </a:rPr>
                        <a:t>طول</a:t>
                      </a:r>
                      <a:r>
                        <a:rPr lang="ar-DZ" baseline="0" dirty="0">
                          <a:solidFill>
                            <a:schemeClr val="bg1"/>
                          </a:solidFill>
                        </a:rPr>
                        <a:t> الشعاع</a:t>
                      </a:r>
                      <a:endParaRPr lang="fr-FR" dirty="0">
                        <a:solidFill>
                          <a:schemeClr val="bg1"/>
                        </a:solidFill>
                      </a:endParaRPr>
                    </a:p>
                  </a:txBody>
                  <a:tcPr>
                    <a:solidFill>
                      <a:schemeClr val="tx1"/>
                    </a:solidFill>
                  </a:tcPr>
                </a:tc>
                <a:tc>
                  <a:txBody>
                    <a:bodyPr/>
                    <a:lstStyle/>
                    <a:p>
                      <a:pPr algn="ctr"/>
                      <a:r>
                        <a:rPr lang="ar-DZ" dirty="0">
                          <a:solidFill>
                            <a:schemeClr val="bg1"/>
                          </a:solidFill>
                        </a:rPr>
                        <a:t>الجهة </a:t>
                      </a:r>
                      <a:endParaRPr lang="fr-FR" dirty="0">
                        <a:solidFill>
                          <a:schemeClr val="bg1"/>
                        </a:solidFill>
                      </a:endParaRPr>
                    </a:p>
                  </a:txBody>
                  <a:tcPr>
                    <a:solidFill>
                      <a:schemeClr val="tx1"/>
                    </a:solidFill>
                  </a:tcPr>
                </a:tc>
                <a:tc>
                  <a:txBody>
                    <a:bodyPr/>
                    <a:lstStyle/>
                    <a:p>
                      <a:pPr algn="ctr"/>
                      <a:r>
                        <a:rPr lang="ar-DZ" dirty="0">
                          <a:solidFill>
                            <a:schemeClr val="bg1"/>
                          </a:solidFill>
                        </a:rPr>
                        <a:t>المنحى </a:t>
                      </a:r>
                      <a:endParaRPr lang="fr-FR" dirty="0">
                        <a:solidFill>
                          <a:schemeClr val="bg1"/>
                        </a:solidFill>
                      </a:endParaRPr>
                    </a:p>
                  </a:txBody>
                  <a:tcPr>
                    <a:solidFill>
                      <a:schemeClr val="tx1"/>
                    </a:solidFill>
                  </a:tcPr>
                </a:tc>
                <a:tc>
                  <a:txBody>
                    <a:bodyPr/>
                    <a:lstStyle/>
                    <a:p>
                      <a:pPr algn="ctr"/>
                      <a:r>
                        <a:rPr lang="ar-DZ" dirty="0">
                          <a:solidFill>
                            <a:schemeClr val="bg1"/>
                          </a:solidFill>
                        </a:rPr>
                        <a:t>نقطة التأثير</a:t>
                      </a:r>
                      <a:endParaRPr lang="fr-FR" dirty="0">
                        <a:solidFill>
                          <a:schemeClr val="bg1"/>
                        </a:solidFill>
                      </a:endParaRPr>
                    </a:p>
                  </a:txBody>
                  <a:tcPr>
                    <a:solidFill>
                      <a:schemeClr val="tx1"/>
                    </a:solidFill>
                  </a:tcPr>
                </a:tc>
                <a:tc>
                  <a:txBody>
                    <a:bodyPr/>
                    <a:lstStyle/>
                    <a:p>
                      <a:r>
                        <a:rPr lang="ar-DZ" dirty="0">
                          <a:solidFill>
                            <a:schemeClr val="bg1"/>
                          </a:solidFill>
                        </a:rPr>
                        <a:t>القوى</a:t>
                      </a:r>
                      <a:endParaRPr lang="fr-FR" dirty="0"/>
                    </a:p>
                  </a:txBody>
                  <a:tcPr>
                    <a:solidFill>
                      <a:schemeClr val="tx1"/>
                    </a:solidFill>
                  </a:tcPr>
                </a:tc>
                <a:extLst>
                  <a:ext uri="{0D108BD9-81ED-4DB2-BD59-A6C34878D82A}">
                    <a16:rowId xmlns:a16="http://schemas.microsoft.com/office/drawing/2014/main" val="10000"/>
                  </a:ext>
                </a:extLst>
              </a:tr>
              <a:tr h="185420">
                <a:tc>
                  <a:txBody>
                    <a:bodyPr/>
                    <a:lstStyle/>
                    <a:p>
                      <a:r>
                        <a:rPr lang="fr-FR" b="1" dirty="0"/>
                        <a:t>11.56N</a:t>
                      </a:r>
                    </a:p>
                  </a:txBody>
                  <a:tcPr>
                    <a:solidFill>
                      <a:schemeClr val="tx1"/>
                    </a:solidFill>
                  </a:tcPr>
                </a:tc>
                <a:tc>
                  <a:txBody>
                    <a:bodyPr/>
                    <a:lstStyle/>
                    <a:p>
                      <a:pPr algn="ctr"/>
                      <a:r>
                        <a:rPr lang="fr-FR" b="1" dirty="0">
                          <a:solidFill>
                            <a:schemeClr val="bg1"/>
                          </a:solidFill>
                        </a:rPr>
                        <a:t>2.3cm</a:t>
                      </a:r>
                    </a:p>
                  </a:txBody>
                  <a:tcPr>
                    <a:solidFill>
                      <a:schemeClr val="tx1"/>
                    </a:solidFill>
                  </a:tcPr>
                </a:tc>
                <a:tc>
                  <a:txBody>
                    <a:bodyPr/>
                    <a:lstStyle/>
                    <a:p>
                      <a:endParaRPr lang="fr-FR" dirty="0"/>
                    </a:p>
                  </a:txBody>
                  <a:tcPr>
                    <a:solidFill>
                      <a:schemeClr val="tx1"/>
                    </a:solidFill>
                  </a:tcPr>
                </a:tc>
                <a:tc>
                  <a:txBody>
                    <a:bodyPr/>
                    <a:lstStyle/>
                    <a:p>
                      <a:endParaRPr lang="fr-FR" dirty="0"/>
                    </a:p>
                  </a:txBody>
                  <a:tcPr>
                    <a:solidFill>
                      <a:schemeClr val="tx1"/>
                    </a:solidFill>
                  </a:tcPr>
                </a:tc>
                <a:tc>
                  <a:txBody>
                    <a:bodyPr/>
                    <a:lstStyle/>
                    <a:p>
                      <a:pPr algn="ctr"/>
                      <a:r>
                        <a:rPr lang="fr-FR" b="1" dirty="0"/>
                        <a:t>G</a:t>
                      </a:r>
                    </a:p>
                  </a:txBody>
                  <a:tcPr>
                    <a:solidFill>
                      <a:schemeClr val="tx1"/>
                    </a:solidFill>
                  </a:tcPr>
                </a:tc>
                <a:tc>
                  <a:txBody>
                    <a:bodyPr/>
                    <a:lstStyle/>
                    <a:p>
                      <a:pPr algn="ctr"/>
                      <a:r>
                        <a:rPr lang="fr-FR" sz="1800" b="1" dirty="0">
                          <a:solidFill>
                            <a:schemeClr val="bg1"/>
                          </a:solidFill>
                        </a:rPr>
                        <a:t>Ff1/L</a:t>
                      </a:r>
                      <a:endParaRPr lang="fr-FR" b="1" dirty="0"/>
                    </a:p>
                  </a:txBody>
                  <a:tcPr>
                    <a:solidFill>
                      <a:schemeClr val="tx1"/>
                    </a:solidFill>
                  </a:tcPr>
                </a:tc>
                <a:extLst>
                  <a:ext uri="{0D108BD9-81ED-4DB2-BD59-A6C34878D82A}">
                    <a16:rowId xmlns:a16="http://schemas.microsoft.com/office/drawing/2014/main" val="10001"/>
                  </a:ext>
                </a:extLst>
              </a:tr>
              <a:tr h="185420">
                <a:tc>
                  <a:txBody>
                    <a:bodyPr/>
                    <a:lstStyle/>
                    <a:p>
                      <a:r>
                        <a:rPr lang="fr-FR" b="1" dirty="0"/>
                        <a:t>11.56N</a:t>
                      </a:r>
                    </a:p>
                  </a:txBody>
                  <a:tcPr>
                    <a:solidFill>
                      <a:schemeClr val="tx1"/>
                    </a:solidFill>
                  </a:tcPr>
                </a:tc>
                <a:tc>
                  <a:txBody>
                    <a:bodyPr/>
                    <a:lstStyle/>
                    <a:p>
                      <a:pPr algn="ctr"/>
                      <a:r>
                        <a:rPr lang="fr-FR" b="1" dirty="0">
                          <a:solidFill>
                            <a:schemeClr val="bg1"/>
                          </a:solidFill>
                        </a:rPr>
                        <a:t>2.3cm</a:t>
                      </a:r>
                    </a:p>
                  </a:txBody>
                  <a:tcPr>
                    <a:solidFill>
                      <a:schemeClr val="tx1"/>
                    </a:solidFill>
                  </a:tcPr>
                </a:tc>
                <a:tc>
                  <a:txBody>
                    <a:bodyPr/>
                    <a:lstStyle/>
                    <a:p>
                      <a:endParaRPr lang="fr-FR" dirty="0"/>
                    </a:p>
                  </a:txBody>
                  <a:tcPr>
                    <a:solidFill>
                      <a:schemeClr val="tx1"/>
                    </a:solidFill>
                  </a:tcPr>
                </a:tc>
                <a:tc>
                  <a:txBody>
                    <a:bodyPr/>
                    <a:lstStyle/>
                    <a:p>
                      <a:endParaRPr lang="fr-FR" dirty="0"/>
                    </a:p>
                  </a:txBody>
                  <a:tcPr>
                    <a:solidFill>
                      <a:schemeClr val="tx1"/>
                    </a:solidFill>
                  </a:tcPr>
                </a:tc>
                <a:tc>
                  <a:txBody>
                    <a:bodyPr/>
                    <a:lstStyle/>
                    <a:p>
                      <a:pPr algn="ctr"/>
                      <a:r>
                        <a:rPr lang="fr-FR" b="1" dirty="0"/>
                        <a:t>G</a:t>
                      </a:r>
                    </a:p>
                  </a:txBody>
                  <a:tcPr>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800" b="1" dirty="0">
                          <a:solidFill>
                            <a:schemeClr val="bg1"/>
                          </a:solidFill>
                        </a:rPr>
                        <a:t>Ff2/L</a:t>
                      </a:r>
                      <a:endParaRPr lang="fr-FR" b="1" dirty="0"/>
                    </a:p>
                  </a:txBody>
                  <a:tcPr>
                    <a:solidFill>
                      <a:schemeClr val="tx1"/>
                    </a:solidFill>
                  </a:tcPr>
                </a:tc>
                <a:extLst>
                  <a:ext uri="{0D108BD9-81ED-4DB2-BD59-A6C34878D82A}">
                    <a16:rowId xmlns:a16="http://schemas.microsoft.com/office/drawing/2014/main" val="10002"/>
                  </a:ext>
                </a:extLst>
              </a:tr>
            </a:tbl>
          </a:graphicData>
        </a:graphic>
      </p:graphicFrame>
      <p:cxnSp>
        <p:nvCxnSpPr>
          <p:cNvPr id="70" name="Connecteur droit avec flèche 69"/>
          <p:cNvCxnSpPr/>
          <p:nvPr/>
        </p:nvCxnSpPr>
        <p:spPr>
          <a:xfrm flipH="1" flipV="1">
            <a:off x="5364088" y="5157192"/>
            <a:ext cx="216024" cy="288032"/>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1" name="Connecteur droit avec flèche 70"/>
          <p:cNvCxnSpPr/>
          <p:nvPr/>
        </p:nvCxnSpPr>
        <p:spPr>
          <a:xfrm flipV="1">
            <a:off x="5292080" y="5517232"/>
            <a:ext cx="216024" cy="288032"/>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2" name="Connecteur droit avec flèche 71"/>
          <p:cNvCxnSpPr/>
          <p:nvPr/>
        </p:nvCxnSpPr>
        <p:spPr>
          <a:xfrm>
            <a:off x="6084168"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3" name="Connecteur droit avec flèche 72"/>
          <p:cNvCxnSpPr/>
          <p:nvPr/>
        </p:nvCxnSpPr>
        <p:spPr>
          <a:xfrm>
            <a:off x="7524328" y="450912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4" name="Connecteur droit 73"/>
          <p:cNvCxnSpPr/>
          <p:nvPr/>
        </p:nvCxnSpPr>
        <p:spPr>
          <a:xfrm>
            <a:off x="6228184" y="5157192"/>
            <a:ext cx="216024" cy="36004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Connecteur droit 74"/>
          <p:cNvCxnSpPr/>
          <p:nvPr/>
        </p:nvCxnSpPr>
        <p:spPr>
          <a:xfrm flipH="1">
            <a:off x="6156176" y="5589240"/>
            <a:ext cx="360040" cy="288032"/>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Connecteur droit 80"/>
          <p:cNvCxnSpPr/>
          <p:nvPr/>
        </p:nvCxnSpPr>
        <p:spPr>
          <a:xfrm flipH="1">
            <a:off x="1115616" y="4725144"/>
            <a:ext cx="504056" cy="368424"/>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85" name="Connecteur droit 84"/>
          <p:cNvCxnSpPr/>
          <p:nvPr/>
        </p:nvCxnSpPr>
        <p:spPr>
          <a:xfrm flipH="1" flipV="1">
            <a:off x="611560" y="4581128"/>
            <a:ext cx="504056" cy="504056"/>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1-سبب توقف جهاز التلفزيون وتلف المصباح هو الارتفاع المفاجئ لشدة التيار الكهربائي  في المنزل  </a:t>
            </a:r>
          </a:p>
          <a:p>
            <a:pPr algn="r"/>
            <a:r>
              <a:rPr lang="ar-DZ" sz="2400" b="1" dirty="0">
                <a:solidFill>
                  <a:schemeClr val="bg1"/>
                </a:solidFill>
              </a:rPr>
              <a:t>2-سبب اصابة وليد بصدمة كهربائية عند استبدال المصباح هو لمسه لسلك الطور مع تركيب القاطعة في سلك الحيادي </a:t>
            </a:r>
            <a:r>
              <a:rPr lang="ar-DZ" sz="2400" b="1" dirty="0" err="1">
                <a:solidFill>
                  <a:schemeClr val="bg1"/>
                </a:solidFill>
              </a:rPr>
              <a:t>لانه</a:t>
            </a:r>
            <a:r>
              <a:rPr lang="ar-DZ" sz="2400" b="1" dirty="0">
                <a:solidFill>
                  <a:schemeClr val="bg1"/>
                </a:solidFill>
              </a:rPr>
              <a:t> في هذه الحالة يمر التيار مباشرة عبر سلك الطور الى المصباح  </a:t>
            </a:r>
          </a:p>
          <a:p>
            <a:pPr algn="r"/>
            <a:r>
              <a:rPr lang="ar-DZ" sz="2400" b="1" dirty="0">
                <a:solidFill>
                  <a:schemeClr val="bg1"/>
                </a:solidFill>
              </a:rPr>
              <a:t>3-الحلول المقترحة </a:t>
            </a:r>
          </a:p>
          <a:p>
            <a:pPr algn="r"/>
            <a:r>
              <a:rPr lang="ar-DZ" sz="2400" b="1" dirty="0">
                <a:solidFill>
                  <a:schemeClr val="bg1"/>
                </a:solidFill>
              </a:rPr>
              <a:t>-في حالة تلف جهاز التلفزيون والمصباح بسبب </a:t>
            </a:r>
          </a:p>
          <a:p>
            <a:pPr algn="r"/>
            <a:r>
              <a:rPr lang="ar-DZ" sz="2400" b="1" dirty="0">
                <a:solidFill>
                  <a:schemeClr val="bg1"/>
                </a:solidFill>
              </a:rPr>
              <a:t>حدوث ارتفاع مفاجئ لشدة التيار يجب استعمال </a:t>
            </a:r>
          </a:p>
          <a:p>
            <a:pPr algn="r"/>
            <a:r>
              <a:rPr lang="ar-DZ" sz="2400" b="1" dirty="0">
                <a:solidFill>
                  <a:schemeClr val="bg1"/>
                </a:solidFill>
              </a:rPr>
              <a:t>قاطع الي يسمح بقطع  التيار الكهربائي وحماية</a:t>
            </a:r>
          </a:p>
          <a:p>
            <a:pPr algn="r"/>
            <a:r>
              <a:rPr lang="ar-DZ" sz="2400" b="1" dirty="0">
                <a:solidFill>
                  <a:schemeClr val="bg1"/>
                </a:solidFill>
              </a:rPr>
              <a:t> الاجهزة الكهربائية من التلف</a:t>
            </a:r>
          </a:p>
          <a:p>
            <a:pPr algn="r"/>
            <a:r>
              <a:rPr lang="ar-DZ" sz="2400" b="1" dirty="0">
                <a:solidFill>
                  <a:schemeClr val="bg1"/>
                </a:solidFill>
              </a:rPr>
              <a:t>-في حالة الاصابة بصدمة كهربائية هو تغيير </a:t>
            </a:r>
          </a:p>
          <a:p>
            <a:pPr algn="r"/>
            <a:r>
              <a:rPr lang="ar-DZ" sz="2400" b="1" dirty="0">
                <a:solidFill>
                  <a:schemeClr val="bg1"/>
                </a:solidFill>
              </a:rPr>
              <a:t>تركيب القاطعة من سلك الحيادي الى سلك </a:t>
            </a:r>
          </a:p>
          <a:p>
            <a:pPr algn="r"/>
            <a:r>
              <a:rPr lang="ar-DZ" sz="2400" b="1" dirty="0">
                <a:solidFill>
                  <a:schemeClr val="bg1"/>
                </a:solidFill>
              </a:rPr>
              <a:t>الطور و عزل ناقل مثبت  المصباح    </a:t>
            </a:r>
          </a:p>
          <a:p>
            <a:pPr algn="r"/>
            <a:endParaRPr lang="fr-FR" sz="2400" b="1" dirty="0">
              <a:solidFill>
                <a:schemeClr val="bg1"/>
              </a:solidFill>
            </a:endParaRPr>
          </a:p>
        </p:txBody>
      </p:sp>
      <p:pic>
        <p:nvPicPr>
          <p:cNvPr id="6"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717032"/>
            <a:ext cx="3995936" cy="2736304"/>
          </a:xfrm>
          <a:prstGeom prst="rect">
            <a:avLst/>
          </a:prstGeom>
          <a:noFill/>
          <a:ln w="9525">
            <a:noFill/>
            <a:miter lim="800000"/>
            <a:headEnd/>
            <a:tailEnd/>
          </a:ln>
        </p:spPr>
      </p:pic>
      <p:pic>
        <p:nvPicPr>
          <p:cNvPr id="7"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23528" y="3645024"/>
            <a:ext cx="1044624" cy="936104"/>
          </a:xfrm>
          <a:prstGeom prst="rect">
            <a:avLst/>
          </a:prstGeom>
          <a:noFill/>
          <a:ln w="9525">
            <a:noFill/>
            <a:miter lim="800000"/>
            <a:headEnd/>
            <a:tailEnd/>
          </a:ln>
        </p:spPr>
      </p:pic>
      <p:pic>
        <p:nvPicPr>
          <p:cNvPr id="8"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347864" y="4365104"/>
            <a:ext cx="144016" cy="528060"/>
          </a:xfrm>
          <a:prstGeom prst="rect">
            <a:avLst/>
          </a:prstGeom>
          <a:noFill/>
          <a:ln w="9525">
            <a:noFill/>
            <a:miter lim="800000"/>
            <a:headEnd/>
            <a:tailEnd/>
          </a:ln>
        </p:spPr>
      </p:pic>
      <p:sp>
        <p:nvSpPr>
          <p:cNvPr id="9" name="Rectangle à coins arrondis 8"/>
          <p:cNvSpPr/>
          <p:nvPr/>
        </p:nvSpPr>
        <p:spPr>
          <a:xfrm>
            <a:off x="3131840" y="4221088"/>
            <a:ext cx="216024" cy="50405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10"/>
          <p:cNvCxnSpPr/>
          <p:nvPr/>
        </p:nvCxnSpPr>
        <p:spPr>
          <a:xfrm>
            <a:off x="3275856" y="4149080"/>
            <a:ext cx="0" cy="648072"/>
          </a:xfrm>
          <a:prstGeom prst="line">
            <a:avLst/>
          </a:prstGeom>
          <a:ln w="22225">
            <a:solidFill>
              <a:srgbClr val="00B0F0"/>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672" y="4293096"/>
            <a:ext cx="144016" cy="360040"/>
          </a:xfrm>
          <a:prstGeom prst="rect">
            <a:avLst/>
          </a:prstGeom>
          <a:noFill/>
          <a:ln w="9525">
            <a:noFill/>
            <a:miter lim="800000"/>
            <a:headEnd/>
            <a:tailEnd/>
          </a:ln>
        </p:spPr>
      </p:pic>
      <p:pic>
        <p:nvPicPr>
          <p:cNvPr id="15"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347864" y="4077072"/>
            <a:ext cx="144016" cy="360040"/>
          </a:xfrm>
          <a:prstGeom prst="rect">
            <a:avLst/>
          </a:prstGeom>
          <a:noFill/>
          <a:ln w="9525">
            <a:noFill/>
            <a:miter lim="800000"/>
            <a:headEnd/>
            <a:tailEnd/>
          </a:ln>
        </p:spPr>
      </p:pic>
      <p:cxnSp>
        <p:nvCxnSpPr>
          <p:cNvPr id="16" name="Connecteur droit 15"/>
          <p:cNvCxnSpPr/>
          <p:nvPr/>
        </p:nvCxnSpPr>
        <p:spPr>
          <a:xfrm>
            <a:off x="1619672" y="5229200"/>
            <a:ext cx="0" cy="648072"/>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flipH="1">
            <a:off x="1475656" y="5733256"/>
            <a:ext cx="351656"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flipH="1">
            <a:off x="1475656" y="5805264"/>
            <a:ext cx="288032"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flipH="1">
            <a:off x="1475656" y="5877272"/>
            <a:ext cx="288032"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flipH="1">
            <a:off x="1259632" y="5229200"/>
            <a:ext cx="360040" cy="656456"/>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339752" y="4365104"/>
            <a:ext cx="144016" cy="36004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الرابع </a:t>
            </a:r>
            <a:endParaRPr lang="fr-FR" sz="6000" b="1"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(5 نقاط</a:t>
            </a:r>
            <a:r>
              <a:rPr lang="ar-DZ" sz="2800" b="1" dirty="0" err="1">
                <a:solidFill>
                  <a:schemeClr val="bg1"/>
                </a:solidFill>
              </a:rPr>
              <a:t>)</a:t>
            </a:r>
            <a:endParaRPr lang="fr-FR" sz="2800" b="1" dirty="0">
              <a:solidFill>
                <a:schemeClr val="bg1"/>
              </a:solidFill>
            </a:endParaRPr>
          </a:p>
        </p:txBody>
      </p:sp>
      <p:sp>
        <p:nvSpPr>
          <p:cNvPr id="4" name="Rectangle à coins arrondis 3"/>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2400" b="1" dirty="0">
                <a:solidFill>
                  <a:schemeClr val="bg1"/>
                </a:solidFill>
              </a:rPr>
              <a:t>(2H</a:t>
            </a:r>
            <a:r>
              <a:rPr lang="fr-FR" sz="2400" b="1" baseline="30000" dirty="0">
                <a:solidFill>
                  <a:schemeClr val="bg1"/>
                </a:solidFill>
              </a:rPr>
              <a:t>+</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 </a:t>
            </a:r>
            <a:r>
              <a:rPr lang="ar-DZ" sz="2400" b="1" dirty="0">
                <a:solidFill>
                  <a:schemeClr val="bg1"/>
                </a:solidFill>
              </a:rPr>
              <a:t>نسكب كمية من محلول حمض الكبريت</a:t>
            </a:r>
          </a:p>
          <a:p>
            <a:pPr algn="r"/>
            <a:r>
              <a:rPr lang="ar-DZ" sz="2400" b="1" dirty="0">
                <a:solidFill>
                  <a:schemeClr val="bg1"/>
                </a:solidFill>
              </a:rPr>
              <a:t> في وعاء </a:t>
            </a:r>
            <a:r>
              <a:rPr lang="ar-DZ" sz="2400" b="1" dirty="0" err="1">
                <a:solidFill>
                  <a:schemeClr val="bg1"/>
                </a:solidFill>
              </a:rPr>
              <a:t>به</a:t>
            </a:r>
            <a:r>
              <a:rPr lang="ar-DZ" sz="2400" b="1" dirty="0">
                <a:solidFill>
                  <a:schemeClr val="bg1"/>
                </a:solidFill>
              </a:rPr>
              <a:t> قطعة  معدنية  فيحدث فوران </a:t>
            </a:r>
          </a:p>
          <a:p>
            <a:pPr algn="r"/>
            <a:r>
              <a:rPr lang="ar-DZ" sz="2400" b="1" dirty="0">
                <a:solidFill>
                  <a:schemeClr val="bg1"/>
                </a:solidFill>
              </a:rPr>
              <a:t>و انطلاق غاز نكشف عنه </a:t>
            </a:r>
            <a:r>
              <a:rPr lang="ar-DZ" sz="2400" b="1" dirty="0" err="1">
                <a:solidFill>
                  <a:schemeClr val="bg1"/>
                </a:solidFill>
              </a:rPr>
              <a:t>يتقريب</a:t>
            </a:r>
            <a:r>
              <a:rPr lang="ar-DZ" sz="2400" b="1" dirty="0">
                <a:solidFill>
                  <a:schemeClr val="bg1"/>
                </a:solidFill>
              </a:rPr>
              <a:t> عود ثقاب مشتعل </a:t>
            </a:r>
          </a:p>
          <a:p>
            <a:pPr algn="r"/>
            <a:r>
              <a:rPr lang="ar-DZ" sz="2400" b="1" dirty="0">
                <a:solidFill>
                  <a:schemeClr val="bg1"/>
                </a:solidFill>
              </a:rPr>
              <a:t>فتحدث فرقعة وتشكل محلول جديد   </a:t>
            </a:r>
          </a:p>
          <a:p>
            <a:pPr algn="r"/>
            <a:r>
              <a:rPr lang="fr-FR" sz="2400" b="1" dirty="0">
                <a:solidFill>
                  <a:schemeClr val="bg1"/>
                </a:solidFill>
              </a:rPr>
              <a:t>(Fe</a:t>
            </a:r>
            <a:r>
              <a:rPr lang="fr-FR" sz="2400" b="1" baseline="30000" dirty="0">
                <a:solidFill>
                  <a:schemeClr val="bg1"/>
                </a:solidFill>
              </a:rPr>
              <a:t>2+</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ar-DZ" sz="2400" b="1" dirty="0">
                <a:solidFill>
                  <a:schemeClr val="bg1"/>
                </a:solidFill>
              </a:rPr>
              <a:t> وهو كبريتات الحديد الثاني</a:t>
            </a:r>
          </a:p>
          <a:p>
            <a:pPr algn="r"/>
            <a:r>
              <a:rPr lang="ar-DZ" sz="2400" b="1" dirty="0">
                <a:solidFill>
                  <a:schemeClr val="bg1"/>
                </a:solidFill>
              </a:rPr>
              <a:t>1-سم الغاز المنطلق ثم اكتب صيغته الكيميائية ثم حدد المعدن المستعمل  </a:t>
            </a:r>
          </a:p>
          <a:p>
            <a:pPr algn="r"/>
            <a:r>
              <a:rPr lang="ar-DZ" sz="2400" b="1" dirty="0">
                <a:solidFill>
                  <a:schemeClr val="bg1"/>
                </a:solidFill>
              </a:rPr>
              <a:t>2-كيف يمكن الكشف عن </a:t>
            </a:r>
            <a:r>
              <a:rPr lang="ar-DZ" sz="2400" b="1" dirty="0" err="1">
                <a:solidFill>
                  <a:schemeClr val="bg1"/>
                </a:solidFill>
              </a:rPr>
              <a:t>شوارد</a:t>
            </a:r>
            <a:r>
              <a:rPr lang="ar-DZ" sz="2400" b="1" dirty="0">
                <a:solidFill>
                  <a:schemeClr val="bg1"/>
                </a:solidFill>
              </a:rPr>
              <a:t> المحلول </a:t>
            </a:r>
            <a:r>
              <a:rPr lang="ar-DZ" sz="2400" b="1" dirty="0" err="1">
                <a:solidFill>
                  <a:schemeClr val="bg1"/>
                </a:solidFill>
              </a:rPr>
              <a:t>الناتج </a:t>
            </a:r>
            <a:r>
              <a:rPr lang="ar-DZ" sz="2400" b="1" dirty="0">
                <a:solidFill>
                  <a:schemeClr val="bg1"/>
                </a:solidFill>
              </a:rPr>
              <a:t>(كبريتات الحديد</a:t>
            </a:r>
            <a:r>
              <a:rPr lang="ar-DZ" sz="2400" b="1" dirty="0" err="1">
                <a:solidFill>
                  <a:schemeClr val="bg1"/>
                </a:solidFill>
              </a:rPr>
              <a:t>)</a:t>
            </a:r>
            <a:endParaRPr lang="ar-DZ" sz="2400" b="1" dirty="0">
              <a:solidFill>
                <a:schemeClr val="bg1"/>
              </a:solidFill>
            </a:endParaRPr>
          </a:p>
          <a:p>
            <a:pPr algn="r"/>
            <a:r>
              <a:rPr lang="ar-DZ" sz="2400" b="1" dirty="0">
                <a:solidFill>
                  <a:schemeClr val="bg1"/>
                </a:solidFill>
              </a:rPr>
              <a:t>3-اكمل معادلة التفاعل  بالصيغة </a:t>
            </a:r>
            <a:r>
              <a:rPr lang="ar-DZ" sz="2400" b="1" dirty="0" err="1">
                <a:solidFill>
                  <a:schemeClr val="bg1"/>
                </a:solidFill>
              </a:rPr>
              <a:t>الشاردية</a:t>
            </a:r>
            <a:r>
              <a:rPr lang="ar-DZ" sz="2400" b="1" dirty="0">
                <a:solidFill>
                  <a:schemeClr val="bg1"/>
                </a:solidFill>
              </a:rPr>
              <a:t> ثم استنتج المعادلة بالصيغة الاحصائية</a:t>
            </a:r>
          </a:p>
          <a:p>
            <a:pPr algn="r"/>
            <a:r>
              <a:rPr lang="fr-FR" sz="2400" b="1" dirty="0">
                <a:solidFill>
                  <a:schemeClr val="bg1"/>
                </a:solidFill>
              </a:rPr>
              <a:t>……(S)+</a:t>
            </a:r>
            <a:r>
              <a:rPr lang="ar-DZ" sz="2400" b="1" dirty="0">
                <a:solidFill>
                  <a:schemeClr val="bg1"/>
                </a:solidFill>
              </a:rPr>
              <a:t> </a:t>
            </a:r>
            <a:r>
              <a:rPr lang="fr-FR" sz="2400" b="1" dirty="0">
                <a:solidFill>
                  <a:schemeClr val="bg1"/>
                </a:solidFill>
              </a:rPr>
              <a:t>(2H</a:t>
            </a:r>
            <a:r>
              <a:rPr lang="fr-FR" sz="2400" b="1" baseline="30000" dirty="0">
                <a:solidFill>
                  <a:schemeClr val="bg1"/>
                </a:solidFill>
              </a:rPr>
              <a:t>+</a:t>
            </a:r>
            <a:r>
              <a:rPr lang="en-US" sz="2400" b="1" dirty="0">
                <a:solidFill>
                  <a:schemeClr val="bg1"/>
                </a:solidFill>
              </a:rPr>
              <a:t>+</a:t>
            </a:r>
            <a:r>
              <a:rPr lang="fr-FR" sz="2400" b="1" dirty="0">
                <a:solidFill>
                  <a:schemeClr val="bg1"/>
                </a:solidFill>
              </a:rPr>
              <a:t>…… )(…….)</a:t>
            </a:r>
            <a:r>
              <a:rPr lang="ar-DZ" sz="2400" b="1" dirty="0">
                <a:solidFill>
                  <a:schemeClr val="bg1"/>
                </a:solidFill>
              </a:rPr>
              <a:t> </a:t>
            </a:r>
            <a:r>
              <a:rPr lang="fr-FR" sz="2400" b="1" dirty="0">
                <a:solidFill>
                  <a:schemeClr val="bg1"/>
                </a:solidFill>
              </a:rPr>
              <a:t>         (……..+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a:t>
            </a:r>
            <a:r>
              <a:rPr lang="fr-FR" sz="2400" b="1" baseline="-25000" dirty="0">
                <a:solidFill>
                  <a:schemeClr val="bg1"/>
                </a:solidFill>
              </a:rPr>
              <a:t> </a:t>
            </a:r>
            <a:r>
              <a:rPr lang="fr-FR" sz="2400" b="1" dirty="0">
                <a:solidFill>
                  <a:schemeClr val="bg1"/>
                </a:solidFill>
              </a:rPr>
              <a:t>(g</a:t>
            </a:r>
            <a:r>
              <a:rPr lang="ar-DZ" sz="2400" b="1" dirty="0">
                <a:solidFill>
                  <a:schemeClr val="bg1"/>
                </a:solidFill>
              </a:rPr>
              <a:t> </a:t>
            </a:r>
            <a:r>
              <a:rPr lang="fr-FR" sz="2400" b="1" dirty="0">
                <a:solidFill>
                  <a:schemeClr val="bg1"/>
                </a:solidFill>
              </a:rPr>
              <a:t>)</a:t>
            </a:r>
            <a:endParaRPr lang="ar-DZ" sz="2400" b="1" dirty="0">
              <a:solidFill>
                <a:schemeClr val="bg1"/>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12" y="1124744"/>
            <a:ext cx="2664296" cy="1872208"/>
          </a:xfrm>
          <a:prstGeom prst="rect">
            <a:avLst/>
          </a:prstGeom>
          <a:noFill/>
          <a:ln w="9525">
            <a:noFill/>
            <a:miter lim="800000"/>
            <a:headEnd/>
            <a:tailEnd/>
          </a:ln>
        </p:spPr>
      </p:pic>
      <p:cxnSp>
        <p:nvCxnSpPr>
          <p:cNvPr id="6" name="Connecteur droit avec flèche 5"/>
          <p:cNvCxnSpPr/>
          <p:nvPr/>
        </p:nvCxnSpPr>
        <p:spPr>
          <a:xfrm>
            <a:off x="4355976" y="537321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(7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في ورشة البناء بحي </a:t>
            </a:r>
            <a:r>
              <a:rPr lang="ar-DZ" sz="2400" b="1" dirty="0" err="1">
                <a:solidFill>
                  <a:schemeClr val="bg1"/>
                </a:solidFill>
              </a:rPr>
              <a:t>بوينان</a:t>
            </a:r>
            <a:r>
              <a:rPr lang="ar-DZ" sz="2400" b="1" dirty="0">
                <a:solidFill>
                  <a:schemeClr val="bg1"/>
                </a:solidFill>
              </a:rPr>
              <a:t> شاهد سليم رافعة متوقفة </a:t>
            </a:r>
          </a:p>
          <a:p>
            <a:pPr algn="r"/>
            <a:r>
              <a:rPr lang="fr-FR" sz="2400" b="1" dirty="0">
                <a:solidFill>
                  <a:schemeClr val="bg1"/>
                </a:solidFill>
              </a:rPr>
              <a:t>f1 </a:t>
            </a:r>
            <a:r>
              <a:rPr lang="ar-DZ" sz="2400" b="1" dirty="0">
                <a:solidFill>
                  <a:schemeClr val="bg1"/>
                </a:solidFill>
              </a:rPr>
              <a:t>و</a:t>
            </a:r>
            <a:r>
              <a:rPr lang="fr-FR" sz="2400" b="1" dirty="0">
                <a:solidFill>
                  <a:schemeClr val="bg1"/>
                </a:solidFill>
              </a:rPr>
              <a:t> f2</a:t>
            </a:r>
            <a:r>
              <a:rPr lang="ar-DZ" sz="2400" b="1" dirty="0">
                <a:solidFill>
                  <a:schemeClr val="bg1"/>
                </a:solidFill>
              </a:rPr>
              <a:t> مربوطة بحبلين </a:t>
            </a:r>
            <a:r>
              <a:rPr lang="fr-FR" sz="2400" b="1" dirty="0">
                <a:solidFill>
                  <a:schemeClr val="bg1"/>
                </a:solidFill>
              </a:rPr>
              <a:t>(C)</a:t>
            </a:r>
            <a:r>
              <a:rPr lang="ar-DZ" sz="2400" b="1" dirty="0">
                <a:solidFill>
                  <a:schemeClr val="bg1"/>
                </a:solidFill>
              </a:rPr>
              <a:t> رافعة حمولة </a:t>
            </a:r>
          </a:p>
          <a:p>
            <a:pPr algn="r"/>
            <a:r>
              <a:rPr lang="ar-DZ" sz="2400" b="1" dirty="0">
                <a:solidFill>
                  <a:schemeClr val="bg1"/>
                </a:solidFill>
              </a:rPr>
              <a:t> كما في الوثيقة 3     وبعد مدة انقطع احد الحبال</a:t>
            </a:r>
          </a:p>
          <a:p>
            <a:pPr algn="r"/>
            <a:r>
              <a:rPr lang="ar-DZ" sz="2400" b="1" dirty="0">
                <a:solidFill>
                  <a:schemeClr val="bg1"/>
                </a:solidFill>
              </a:rPr>
              <a:t>فبقيت في حالة توازن كما في الوثيقة  4</a:t>
            </a:r>
          </a:p>
          <a:p>
            <a:pPr algn="r"/>
            <a:r>
              <a:rPr lang="ar-DZ" sz="2400" b="1" dirty="0">
                <a:solidFill>
                  <a:schemeClr val="bg1"/>
                </a:solidFill>
              </a:rPr>
              <a:t>1-اذكر القوى المؤثر ة على الحمولة ثم مثلها كيفيا</a:t>
            </a:r>
          </a:p>
          <a:p>
            <a:pPr algn="r"/>
            <a:r>
              <a:rPr lang="fr-FR" sz="2400" b="1" dirty="0">
                <a:solidFill>
                  <a:schemeClr val="bg1"/>
                </a:solidFill>
              </a:rPr>
              <a:t>F1=F2=20000N</a:t>
            </a:r>
            <a:r>
              <a:rPr lang="ar-DZ" sz="2400" b="1" dirty="0">
                <a:solidFill>
                  <a:schemeClr val="bg1"/>
                </a:solidFill>
              </a:rPr>
              <a:t> 2-مثل </a:t>
            </a:r>
            <a:r>
              <a:rPr lang="ar-DZ" sz="2400" b="1" dirty="0" err="1">
                <a:solidFill>
                  <a:schemeClr val="bg1"/>
                </a:solidFill>
              </a:rPr>
              <a:t>قوتير</a:t>
            </a:r>
            <a:r>
              <a:rPr lang="ar-DZ" sz="2400" b="1" dirty="0">
                <a:solidFill>
                  <a:schemeClr val="bg1"/>
                </a:solidFill>
              </a:rPr>
              <a:t> </a:t>
            </a:r>
            <a:r>
              <a:rPr lang="ar-DZ" sz="2400" b="1" dirty="0" err="1">
                <a:solidFill>
                  <a:schemeClr val="bg1"/>
                </a:solidFill>
              </a:rPr>
              <a:t>تاثير</a:t>
            </a:r>
            <a:r>
              <a:rPr lang="ar-DZ" sz="2400" b="1" dirty="0">
                <a:solidFill>
                  <a:schemeClr val="bg1"/>
                </a:solidFill>
              </a:rPr>
              <a:t> الحبلين اذا كانتا </a:t>
            </a:r>
          </a:p>
          <a:p>
            <a:pPr algn="r"/>
            <a:r>
              <a:rPr lang="fr-FR" sz="2400" b="1" dirty="0">
                <a:solidFill>
                  <a:schemeClr val="bg1"/>
                </a:solidFill>
              </a:rPr>
              <a:t>10000N   </a:t>
            </a:r>
            <a:r>
              <a:rPr lang="ar-DZ" sz="2400" b="1" dirty="0">
                <a:solidFill>
                  <a:schemeClr val="bg1"/>
                </a:solidFill>
              </a:rPr>
              <a:t>  </a:t>
            </a:r>
            <a:r>
              <a:rPr lang="fr-FR" sz="2400" b="1" dirty="0">
                <a:solidFill>
                  <a:schemeClr val="bg1"/>
                </a:solidFill>
              </a:rPr>
              <a:t>  1cm</a:t>
            </a:r>
            <a:r>
              <a:rPr lang="ar-DZ" sz="2400" b="1" dirty="0">
                <a:solidFill>
                  <a:schemeClr val="bg1"/>
                </a:solidFill>
              </a:rPr>
              <a:t> على ورق </a:t>
            </a:r>
            <a:r>
              <a:rPr lang="ar-DZ" sz="2400" b="1" dirty="0" err="1">
                <a:solidFill>
                  <a:schemeClr val="bg1"/>
                </a:solidFill>
              </a:rPr>
              <a:t>ملمتري</a:t>
            </a:r>
            <a:r>
              <a:rPr lang="ar-DZ" sz="2400" b="1" dirty="0">
                <a:solidFill>
                  <a:schemeClr val="bg1"/>
                </a:solidFill>
              </a:rPr>
              <a:t> بسلم </a:t>
            </a:r>
          </a:p>
          <a:p>
            <a:pPr algn="r"/>
            <a:r>
              <a:rPr lang="ar-DZ" sz="2400" b="1" dirty="0">
                <a:solidFill>
                  <a:schemeClr val="bg1"/>
                </a:solidFill>
              </a:rPr>
              <a:t>3-اكتب شرط التوازن ثم استنتج </a:t>
            </a:r>
            <a:r>
              <a:rPr lang="ar-DZ" sz="2400" b="1" dirty="0" err="1">
                <a:solidFill>
                  <a:schemeClr val="bg1"/>
                </a:solidFill>
              </a:rPr>
              <a:t>خصاص</a:t>
            </a:r>
            <a:r>
              <a:rPr lang="ar-DZ" sz="2400" b="1" dirty="0">
                <a:solidFill>
                  <a:schemeClr val="bg1"/>
                </a:solidFill>
              </a:rPr>
              <a:t> الثقل  </a:t>
            </a:r>
          </a:p>
          <a:p>
            <a:pPr algn="r"/>
            <a:r>
              <a:rPr lang="ar-DZ" sz="2400" b="1" dirty="0">
                <a:solidFill>
                  <a:schemeClr val="bg1"/>
                </a:solidFill>
              </a:rPr>
              <a:t>4-مثل الفعلين المتبادلين بنفس السلم  في حالة </a:t>
            </a:r>
            <a:r>
              <a:rPr lang="ar-DZ" sz="2400" b="1" dirty="0" err="1">
                <a:solidFill>
                  <a:schemeClr val="bg1"/>
                </a:solidFill>
              </a:rPr>
              <a:t>وثقية</a:t>
            </a:r>
            <a:r>
              <a:rPr lang="ar-DZ" sz="2400" b="1" dirty="0">
                <a:solidFill>
                  <a:schemeClr val="bg1"/>
                </a:solidFill>
              </a:rPr>
              <a:t> 4  </a:t>
            </a:r>
          </a:p>
          <a:p>
            <a:pPr algn="r"/>
            <a:r>
              <a:rPr lang="ar-DZ" sz="2400" b="1" dirty="0">
                <a:solidFill>
                  <a:schemeClr val="bg1"/>
                </a:solidFill>
              </a:rPr>
              <a:t>  </a:t>
            </a:r>
          </a:p>
        </p:txBody>
      </p:sp>
      <p:pic>
        <p:nvPicPr>
          <p:cNvPr id="409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196752"/>
            <a:ext cx="2915816" cy="5040560"/>
          </a:xfrm>
          <a:prstGeom prst="rect">
            <a:avLst/>
          </a:prstGeom>
          <a:noFill/>
          <a:ln w="9525">
            <a:noFill/>
            <a:miter lim="800000"/>
            <a:headEnd/>
            <a:tailEnd/>
          </a:ln>
        </p:spPr>
      </p:pic>
      <p:cxnSp>
        <p:nvCxnSpPr>
          <p:cNvPr id="6" name="Connecteur droit avec flèche 5"/>
          <p:cNvCxnSpPr/>
          <p:nvPr/>
        </p:nvCxnSpPr>
        <p:spPr>
          <a:xfrm>
            <a:off x="5364088" y="443711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 name="Arc 6"/>
          <p:cNvSpPr/>
          <p:nvPr/>
        </p:nvSpPr>
        <p:spPr>
          <a:xfrm rot="15033297" flipH="1">
            <a:off x="856515" y="1398580"/>
            <a:ext cx="211731" cy="725304"/>
          </a:xfrm>
          <a:prstGeom prst="arc">
            <a:avLst>
              <a:gd name="adj1" fmla="val 15902759"/>
              <a:gd name="adj2" fmla="val 1694465"/>
            </a:avLst>
          </a:prstGeom>
          <a:ln w="476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 name="Rectangle 7"/>
          <p:cNvSpPr/>
          <p:nvPr/>
        </p:nvSpPr>
        <p:spPr>
          <a:xfrm>
            <a:off x="611560" y="1556792"/>
            <a:ext cx="492444" cy="369332"/>
          </a:xfrm>
          <a:prstGeom prst="rect">
            <a:avLst/>
          </a:prstGeom>
          <a:noFill/>
        </p:spPr>
        <p:txBody>
          <a:bodyPr wrap="none">
            <a:spAutoFit/>
          </a:bodyPr>
          <a:lstStyle/>
          <a:p>
            <a:pPr algn="ctr"/>
            <a:r>
              <a:rPr lang="ar-DZ" b="1" dirty="0">
                <a:solidFill>
                  <a:schemeClr val="bg1"/>
                </a:solidFill>
              </a:rPr>
              <a:t>30</a:t>
            </a:r>
            <a:r>
              <a:rPr lang="fr-FR" b="1" baseline="30000" dirty="0">
                <a:solidFill>
                  <a:schemeClr val="bg1"/>
                </a:solidFill>
              </a:rPr>
              <a:t>0</a:t>
            </a:r>
            <a:endParaRPr lang="fr-FR"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بعد زيارة احمد الكهربائي بيت اخيه من اجل مساعدته على تركيب الشبكة الكهربائية في مطبخه الجديد ولما شاهد المخطط قال له انك ارتكبت ثلاثة اخطاء ربما تسبب لك اخطار كهربائية   انت غنى عنها عليك بتغيير تصميم المخطط</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a:t>
            </a:r>
            <a:r>
              <a:rPr lang="ar-DZ" sz="2400" b="1" dirty="0" err="1">
                <a:solidFill>
                  <a:schemeClr val="bg1"/>
                </a:solidFill>
              </a:rPr>
              <a:t>ماهي</a:t>
            </a:r>
            <a:r>
              <a:rPr lang="ar-DZ" sz="2400" b="1" dirty="0">
                <a:solidFill>
                  <a:schemeClr val="bg1"/>
                </a:solidFill>
              </a:rPr>
              <a:t> الاخطاء الثلاثة التي توجد في المخطط برر كل </a:t>
            </a:r>
            <a:r>
              <a:rPr lang="ar-DZ" sz="2400" b="1" dirty="0" err="1">
                <a:solidFill>
                  <a:schemeClr val="bg1"/>
                </a:solidFill>
              </a:rPr>
              <a:t>حالة ؟</a:t>
            </a:r>
            <a:endParaRPr lang="ar-DZ" sz="2400" b="1" dirty="0">
              <a:solidFill>
                <a:schemeClr val="bg1"/>
              </a:solidFill>
            </a:endParaRPr>
          </a:p>
          <a:p>
            <a:pPr algn="r"/>
            <a:r>
              <a:rPr lang="ar-DZ" sz="2400" b="1" dirty="0">
                <a:solidFill>
                  <a:schemeClr val="bg1"/>
                </a:solidFill>
              </a:rPr>
              <a:t>2-متى يمكن للغسالة ان </a:t>
            </a:r>
            <a:r>
              <a:rPr lang="ar-DZ" sz="2400" b="1" dirty="0" err="1">
                <a:solidFill>
                  <a:schemeClr val="bg1"/>
                </a:solidFill>
              </a:rPr>
              <a:t>تشتغل</a:t>
            </a:r>
            <a:r>
              <a:rPr lang="ar-DZ" sz="2400" b="1" dirty="0">
                <a:solidFill>
                  <a:schemeClr val="bg1"/>
                </a:solidFill>
              </a:rPr>
              <a:t>  بشكل عادي دون فساد </a:t>
            </a:r>
            <a:r>
              <a:rPr lang="ar-DZ" sz="2400" b="1" dirty="0" err="1">
                <a:solidFill>
                  <a:schemeClr val="bg1"/>
                </a:solidFill>
              </a:rPr>
              <a:t>الصهورة</a:t>
            </a:r>
            <a:r>
              <a:rPr lang="ar-DZ" sz="2400" b="1" dirty="0">
                <a:solidFill>
                  <a:schemeClr val="bg1"/>
                </a:solidFill>
              </a:rPr>
              <a:t>  </a:t>
            </a:r>
            <a:r>
              <a:rPr lang="ar-DZ" sz="2400" b="1" dirty="0" err="1">
                <a:solidFill>
                  <a:schemeClr val="bg1"/>
                </a:solidFill>
              </a:rPr>
              <a:t>لماذا ؟</a:t>
            </a:r>
            <a:endParaRPr lang="ar-DZ" sz="2400" b="1" dirty="0">
              <a:solidFill>
                <a:schemeClr val="bg1"/>
              </a:solidFill>
            </a:endParaRPr>
          </a:p>
          <a:p>
            <a:pPr algn="r"/>
            <a:r>
              <a:rPr lang="ar-DZ" sz="2400" b="1" dirty="0">
                <a:solidFill>
                  <a:schemeClr val="bg1"/>
                </a:solidFill>
              </a:rPr>
              <a:t>3-اقترح حلولا لكل من الاخطاء السابقة مع اعادة تصميم المخطط بشكل صحيح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12" y="3645024"/>
            <a:ext cx="4176464" cy="266429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r>
              <a:rPr lang="fr-FR" sz="2400" b="1" dirty="0">
                <a:solidFill>
                  <a:schemeClr val="dk1"/>
                </a:solidFill>
              </a:rPr>
              <a:t>H</a:t>
            </a:r>
            <a:r>
              <a:rPr lang="fr-FR" sz="2400" b="1" baseline="-25000" dirty="0">
                <a:solidFill>
                  <a:schemeClr val="bg1"/>
                </a:solidFill>
              </a:rPr>
              <a:t>2 </a:t>
            </a:r>
            <a:r>
              <a:rPr lang="ar-DZ" sz="2400" b="1" dirty="0">
                <a:solidFill>
                  <a:schemeClr val="bg1"/>
                </a:solidFill>
              </a:rPr>
              <a:t>1-الغاز المنطلق عند التفاعل الكيميائي هو غاز </a:t>
            </a:r>
            <a:r>
              <a:rPr lang="ar-DZ" sz="2400" b="1" dirty="0" err="1">
                <a:solidFill>
                  <a:schemeClr val="bg1"/>
                </a:solidFill>
              </a:rPr>
              <a:t>الهيدروجينن</a:t>
            </a:r>
            <a:r>
              <a:rPr lang="ar-DZ" sz="2400" b="1" dirty="0">
                <a:solidFill>
                  <a:schemeClr val="bg1"/>
                </a:solidFill>
              </a:rPr>
              <a:t> صيغته الكيميائية </a:t>
            </a:r>
          </a:p>
          <a:p>
            <a:pPr algn="r"/>
            <a:r>
              <a:rPr lang="ar-DZ" sz="2400" b="1" dirty="0">
                <a:solidFill>
                  <a:schemeClr val="bg1"/>
                </a:solidFill>
              </a:rPr>
              <a:t>واسم المعدن المستعمل هو الحديد  </a:t>
            </a:r>
          </a:p>
          <a:p>
            <a:pPr algn="r"/>
            <a:r>
              <a:rPr lang="ar-DZ" sz="2400" b="1" dirty="0">
                <a:solidFill>
                  <a:schemeClr val="bg1"/>
                </a:solidFill>
              </a:rPr>
              <a:t>2-يتم الكشف عن </a:t>
            </a:r>
            <a:r>
              <a:rPr lang="ar-DZ" sz="2400" b="1" dirty="0" err="1">
                <a:solidFill>
                  <a:schemeClr val="bg1"/>
                </a:solidFill>
              </a:rPr>
              <a:t>شوارد</a:t>
            </a:r>
            <a:r>
              <a:rPr lang="ar-DZ" sz="2400" b="1" dirty="0">
                <a:solidFill>
                  <a:schemeClr val="bg1"/>
                </a:solidFill>
              </a:rPr>
              <a:t> المحلول الجديد </a:t>
            </a:r>
            <a:r>
              <a:rPr lang="ar-DZ" sz="2400" b="1" dirty="0" err="1">
                <a:solidFill>
                  <a:schemeClr val="bg1"/>
                </a:solidFill>
              </a:rPr>
              <a:t>كمايلي</a:t>
            </a:r>
            <a:endParaRPr lang="ar-DZ" sz="2400" b="1" dirty="0">
              <a:solidFill>
                <a:schemeClr val="bg1"/>
              </a:solidFill>
            </a:endParaRPr>
          </a:p>
          <a:p>
            <a:pPr algn="r"/>
            <a:r>
              <a:rPr lang="ar-DZ" sz="2400" b="1" dirty="0">
                <a:solidFill>
                  <a:schemeClr val="bg1"/>
                </a:solidFill>
              </a:rPr>
              <a:t>نقسم المحلول الى قسمين ونضع كل كمية في انبوب اختيار </a:t>
            </a:r>
          </a:p>
          <a:p>
            <a:pPr algn="r"/>
            <a:r>
              <a:rPr lang="ar-DZ" sz="2400" b="1" dirty="0">
                <a:solidFill>
                  <a:schemeClr val="bg1"/>
                </a:solidFill>
              </a:rPr>
              <a:t>-نكشف عن </a:t>
            </a:r>
            <a:r>
              <a:rPr lang="ar-DZ" sz="2400" b="1" dirty="0" err="1">
                <a:solidFill>
                  <a:schemeClr val="bg1"/>
                </a:solidFill>
              </a:rPr>
              <a:t>شوارد</a:t>
            </a:r>
            <a:r>
              <a:rPr lang="ar-DZ" sz="2400" b="1" dirty="0">
                <a:solidFill>
                  <a:schemeClr val="bg1"/>
                </a:solidFill>
              </a:rPr>
              <a:t> الحديد الثنائي  </a:t>
            </a:r>
            <a:r>
              <a:rPr lang="ar-DZ" sz="2400" b="1" dirty="0" err="1">
                <a:solidFill>
                  <a:schemeClr val="bg1"/>
                </a:solidFill>
              </a:rPr>
              <a:t>باضافة</a:t>
            </a:r>
            <a:r>
              <a:rPr lang="ar-DZ" sz="2400" b="1" dirty="0">
                <a:solidFill>
                  <a:schemeClr val="bg1"/>
                </a:solidFill>
              </a:rPr>
              <a:t>  قطرات من محلول </a:t>
            </a:r>
            <a:r>
              <a:rPr lang="ar-DZ" sz="2400" b="1" dirty="0" err="1">
                <a:solidFill>
                  <a:schemeClr val="bg1"/>
                </a:solidFill>
              </a:rPr>
              <a:t>هيدروكسيد</a:t>
            </a:r>
            <a:r>
              <a:rPr lang="ar-DZ" sz="2400" b="1" dirty="0">
                <a:solidFill>
                  <a:schemeClr val="bg1"/>
                </a:solidFill>
              </a:rPr>
              <a:t> الصوديوم   في الانبوب  الاول فنحصل على راسب   اخضر فاتح </a:t>
            </a:r>
          </a:p>
          <a:p>
            <a:pPr algn="r"/>
            <a:r>
              <a:rPr lang="ar-DZ" sz="2400" b="1" dirty="0">
                <a:solidFill>
                  <a:schemeClr val="bg1"/>
                </a:solidFill>
              </a:rPr>
              <a:t>نكشف عن </a:t>
            </a:r>
            <a:r>
              <a:rPr lang="ar-DZ" sz="2400" b="1" dirty="0" err="1">
                <a:solidFill>
                  <a:schemeClr val="bg1"/>
                </a:solidFill>
              </a:rPr>
              <a:t>شوارد</a:t>
            </a:r>
            <a:r>
              <a:rPr lang="ar-DZ" sz="2400" b="1" dirty="0">
                <a:solidFill>
                  <a:schemeClr val="bg1"/>
                </a:solidFill>
              </a:rPr>
              <a:t> الكبريتات   </a:t>
            </a:r>
            <a:r>
              <a:rPr lang="ar-DZ" sz="2400" b="1" dirty="0" err="1">
                <a:solidFill>
                  <a:schemeClr val="bg1"/>
                </a:solidFill>
              </a:rPr>
              <a:t>باضافة</a:t>
            </a:r>
            <a:r>
              <a:rPr lang="ar-DZ" sz="2400" b="1" dirty="0">
                <a:solidFill>
                  <a:schemeClr val="bg1"/>
                </a:solidFill>
              </a:rPr>
              <a:t>  قطرات من محلول </a:t>
            </a:r>
            <a:r>
              <a:rPr lang="ar-DZ" sz="2400" b="1" dirty="0" err="1">
                <a:solidFill>
                  <a:schemeClr val="bg1"/>
                </a:solidFill>
              </a:rPr>
              <a:t>كلور</a:t>
            </a:r>
            <a:r>
              <a:rPr lang="ar-DZ" sz="2400" b="1" dirty="0">
                <a:solidFill>
                  <a:schemeClr val="bg1"/>
                </a:solidFill>
              </a:rPr>
              <a:t> </a:t>
            </a:r>
            <a:r>
              <a:rPr lang="ar-DZ" sz="2400" b="1" dirty="0" err="1">
                <a:solidFill>
                  <a:schemeClr val="bg1"/>
                </a:solidFill>
              </a:rPr>
              <a:t>الباريوم</a:t>
            </a:r>
            <a:r>
              <a:rPr lang="ar-DZ" sz="2400" b="1" dirty="0">
                <a:solidFill>
                  <a:schemeClr val="bg1"/>
                </a:solidFill>
              </a:rPr>
              <a:t> في الانبوب الثاني فنحصل على راسب ابيض</a:t>
            </a:r>
          </a:p>
          <a:p>
            <a:pPr algn="r"/>
            <a:r>
              <a:rPr lang="ar-DZ" sz="2400" b="1" dirty="0">
                <a:solidFill>
                  <a:schemeClr val="bg1"/>
                </a:solidFill>
              </a:rPr>
              <a:t>3-اكمال معادلة التفاعل بالصيغة </a:t>
            </a:r>
            <a:r>
              <a:rPr lang="ar-DZ" sz="2400" b="1" dirty="0" err="1">
                <a:solidFill>
                  <a:schemeClr val="bg1"/>
                </a:solidFill>
              </a:rPr>
              <a:t>الشاردية</a:t>
            </a:r>
            <a:r>
              <a:rPr lang="ar-DZ" sz="2400" b="1" dirty="0">
                <a:solidFill>
                  <a:schemeClr val="bg1"/>
                </a:solidFill>
              </a:rPr>
              <a:t> </a:t>
            </a:r>
          </a:p>
          <a:p>
            <a:pPr algn="r"/>
            <a:r>
              <a:rPr lang="fr-FR" sz="2400" b="1" dirty="0">
                <a:solidFill>
                  <a:srgbClr val="FF0000"/>
                </a:solidFill>
              </a:rPr>
              <a:t>Fe</a:t>
            </a:r>
            <a:r>
              <a:rPr lang="fr-FR" sz="2400" b="1" dirty="0">
                <a:solidFill>
                  <a:schemeClr val="bg1"/>
                </a:solidFill>
              </a:rPr>
              <a:t>(S)+</a:t>
            </a:r>
            <a:r>
              <a:rPr lang="ar-DZ" sz="2400" b="1" dirty="0">
                <a:solidFill>
                  <a:schemeClr val="bg1"/>
                </a:solidFill>
              </a:rPr>
              <a:t> </a:t>
            </a:r>
            <a:r>
              <a:rPr lang="fr-FR" sz="2400" b="1" dirty="0">
                <a:solidFill>
                  <a:schemeClr val="bg1"/>
                </a:solidFill>
              </a:rPr>
              <a:t>(2H</a:t>
            </a:r>
            <a:r>
              <a:rPr lang="fr-FR" sz="2400" b="1" baseline="30000" dirty="0">
                <a:solidFill>
                  <a:schemeClr val="bg1"/>
                </a:solidFill>
              </a:rPr>
              <a:t>+</a:t>
            </a:r>
            <a:r>
              <a:rPr lang="en-US" sz="2400" b="1" dirty="0">
                <a:solidFill>
                  <a:schemeClr val="bg1"/>
                </a:solidFill>
              </a:rPr>
              <a:t>+</a:t>
            </a:r>
            <a:r>
              <a:rPr lang="fr-FR" sz="2400" b="1" dirty="0">
                <a:solidFill>
                  <a:schemeClr val="bg1"/>
                </a:solidFill>
              </a:rPr>
              <a:t> </a:t>
            </a:r>
            <a:r>
              <a:rPr lang="fr-FR" sz="2400" b="1" dirty="0">
                <a:solidFill>
                  <a:srgbClr val="FF0000"/>
                </a:solidFill>
              </a:rPr>
              <a:t>SO</a:t>
            </a:r>
            <a:r>
              <a:rPr lang="fr-FR" sz="2400" b="1" baseline="-25000" dirty="0">
                <a:solidFill>
                  <a:srgbClr val="FF0000"/>
                </a:solidFill>
              </a:rPr>
              <a:t>4</a:t>
            </a:r>
            <a:r>
              <a:rPr lang="fr-FR" sz="2400" b="1" baseline="30000" dirty="0">
                <a:solidFill>
                  <a:srgbClr val="FF0000"/>
                </a:solidFill>
              </a:rPr>
              <a:t>2-</a:t>
            </a:r>
            <a:r>
              <a:rPr lang="fr-FR" sz="2400" b="1" dirty="0">
                <a:solidFill>
                  <a:schemeClr val="bg1"/>
                </a:solidFill>
              </a:rPr>
              <a:t> )(</a:t>
            </a:r>
            <a:r>
              <a:rPr lang="fr-FR" sz="2400" b="1" dirty="0" err="1">
                <a:solidFill>
                  <a:srgbClr val="FF0000"/>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a:t>
            </a:r>
            <a:r>
              <a:rPr lang="fr-FR" sz="2400" b="1" dirty="0">
                <a:solidFill>
                  <a:srgbClr val="FF0000"/>
                </a:solidFill>
              </a:rPr>
              <a:t>Fe</a:t>
            </a:r>
            <a:r>
              <a:rPr lang="fr-FR" sz="2400" b="1" baseline="30000" dirty="0">
                <a:solidFill>
                  <a:srgbClr val="FF0000"/>
                </a:solidFill>
              </a:rPr>
              <a:t>2+</a:t>
            </a:r>
            <a:r>
              <a:rPr lang="fr-FR" sz="2400" b="1" dirty="0">
                <a:solidFill>
                  <a:schemeClr val="bg1"/>
                </a:solidFill>
              </a:rPr>
              <a:t> +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a:t>
            </a:r>
            <a:r>
              <a:rPr lang="fr-FR" sz="2400" b="1" dirty="0">
                <a:solidFill>
                  <a:srgbClr val="FF0000"/>
                </a:solidFill>
              </a:rPr>
              <a:t>H</a:t>
            </a:r>
            <a:r>
              <a:rPr lang="fr-FR" sz="2400" b="1" baseline="-25000" dirty="0">
                <a:solidFill>
                  <a:srgbClr val="FF0000"/>
                </a:solidFill>
              </a:rPr>
              <a:t>2</a:t>
            </a:r>
            <a:r>
              <a:rPr lang="fr-FR" sz="2400" b="1" dirty="0">
                <a:solidFill>
                  <a:schemeClr val="bg1"/>
                </a:solidFill>
              </a:rPr>
              <a:t>  (g</a:t>
            </a:r>
            <a:r>
              <a:rPr lang="ar-DZ" sz="2400" b="1" dirty="0">
                <a:solidFill>
                  <a:schemeClr val="bg1"/>
                </a:solidFill>
              </a:rPr>
              <a:t> </a:t>
            </a:r>
            <a:r>
              <a:rPr lang="fr-FR" sz="2400" b="1" dirty="0">
                <a:solidFill>
                  <a:schemeClr val="bg1"/>
                </a:solidFill>
              </a:rPr>
              <a:t>)</a:t>
            </a:r>
            <a:endParaRPr lang="ar-DZ" sz="2400" b="1" dirty="0">
              <a:solidFill>
                <a:schemeClr val="bg1"/>
              </a:solidFill>
            </a:endParaRPr>
          </a:p>
          <a:p>
            <a:pPr algn="r"/>
            <a:r>
              <a:rPr lang="ar-DZ" sz="2400" b="1" dirty="0">
                <a:solidFill>
                  <a:schemeClr val="bg1"/>
                </a:solidFill>
              </a:rPr>
              <a:t>-كتابة المعادلة بالصيغة الاحصائية  </a:t>
            </a:r>
          </a:p>
          <a:p>
            <a:pPr algn="r"/>
            <a:r>
              <a:rPr lang="fr-FR" sz="2400" b="1" dirty="0">
                <a:solidFill>
                  <a:schemeClr val="bg1"/>
                </a:solidFill>
              </a:rPr>
              <a:t>Fe(S)+</a:t>
            </a:r>
            <a:r>
              <a:rPr lang="ar-DZ" sz="2400" b="1" dirty="0">
                <a:solidFill>
                  <a:schemeClr val="bg1"/>
                </a:solidFill>
              </a:rPr>
              <a:t> </a:t>
            </a:r>
            <a:r>
              <a:rPr lang="fr-FR" sz="2400" b="1" dirty="0">
                <a:solidFill>
                  <a:schemeClr val="bg1"/>
                </a:solidFill>
              </a:rPr>
              <a:t>H</a:t>
            </a:r>
            <a:r>
              <a:rPr lang="fr-FR" sz="2400" b="1" baseline="-25000" dirty="0">
                <a:solidFill>
                  <a:schemeClr val="bg1"/>
                </a:solidFill>
              </a:rPr>
              <a:t>2</a:t>
            </a:r>
            <a:r>
              <a:rPr lang="fr-FR" sz="2400" b="1" dirty="0">
                <a:solidFill>
                  <a:schemeClr val="bg1"/>
                </a:solidFill>
              </a:rPr>
              <a:t>SO</a:t>
            </a:r>
            <a:r>
              <a:rPr lang="fr-FR" sz="2400" b="1" baseline="-25000" dirty="0">
                <a:solidFill>
                  <a:schemeClr val="bg1"/>
                </a:solidFill>
              </a:rPr>
              <a:t>4</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FeSO</a:t>
            </a:r>
            <a:r>
              <a:rPr lang="fr-FR" sz="2400" b="1" baseline="-25000" dirty="0">
                <a:solidFill>
                  <a:schemeClr val="bg1"/>
                </a:solidFill>
              </a:rPr>
              <a:t>4</a:t>
            </a:r>
            <a:r>
              <a:rPr lang="fr-FR" sz="2400" b="1" dirty="0">
                <a:solidFill>
                  <a:schemeClr val="bg1"/>
                </a:solidFill>
              </a:rPr>
              <a:t> (</a:t>
            </a:r>
            <a:r>
              <a:rPr lang="fr-FR" sz="2400" b="1" dirty="0" err="1">
                <a:solidFill>
                  <a:schemeClr val="bg1"/>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  (g</a:t>
            </a:r>
            <a:r>
              <a:rPr lang="ar-DZ" sz="2400" b="1" dirty="0">
                <a:solidFill>
                  <a:schemeClr val="bg1"/>
                </a:solidFill>
              </a:rPr>
              <a:t> </a:t>
            </a:r>
            <a:r>
              <a:rPr lang="fr-FR" sz="2400" b="1" dirty="0">
                <a:solidFill>
                  <a:schemeClr val="bg1"/>
                </a:solidFill>
              </a:rPr>
              <a:t>)</a:t>
            </a:r>
            <a:endParaRPr lang="ar-DZ" sz="2400" b="1" dirty="0">
              <a:solidFill>
                <a:schemeClr val="bg1"/>
              </a:solidFill>
            </a:endParaRPr>
          </a:p>
          <a:p>
            <a:pPr algn="r"/>
            <a:r>
              <a:rPr lang="ar-DZ" sz="24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cxnSp>
        <p:nvCxnSpPr>
          <p:cNvPr id="6" name="Connecteur droit avec flèche 5"/>
          <p:cNvCxnSpPr/>
          <p:nvPr/>
        </p:nvCxnSpPr>
        <p:spPr>
          <a:xfrm>
            <a:off x="4499992" y="5157192"/>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5004048" y="5805264"/>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sp>
        <p:nvSpPr>
          <p:cNvPr id="4" name="Rectangle à coins arrondis 3"/>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1-القوى المؤثرة على الحمولة     هي </a:t>
            </a:r>
          </a:p>
          <a:p>
            <a:pPr algn="r"/>
            <a:r>
              <a:rPr lang="fr-FR" sz="2400" b="1" dirty="0">
                <a:solidFill>
                  <a:schemeClr val="bg1"/>
                </a:solidFill>
              </a:rPr>
              <a:t>p </a:t>
            </a:r>
            <a:r>
              <a:rPr lang="ar-DZ" sz="2400" b="1" dirty="0" err="1">
                <a:solidFill>
                  <a:schemeClr val="bg1"/>
                </a:solidFill>
              </a:rPr>
              <a:t>او  </a:t>
            </a:r>
            <a:r>
              <a:rPr lang="ar-DZ" sz="2400" b="1" dirty="0">
                <a:solidFill>
                  <a:schemeClr val="bg1"/>
                </a:solidFill>
              </a:rPr>
              <a:t>(الثقل</a:t>
            </a:r>
            <a:r>
              <a:rPr lang="ar-DZ" sz="2400" b="1" dirty="0" err="1">
                <a:solidFill>
                  <a:schemeClr val="bg1"/>
                </a:solidFill>
              </a:rPr>
              <a:t>)</a:t>
            </a:r>
            <a:r>
              <a:rPr lang="fr-FR" sz="2400" b="1" dirty="0">
                <a:solidFill>
                  <a:schemeClr val="bg1"/>
                </a:solidFill>
              </a:rPr>
              <a:t> FT/C</a:t>
            </a:r>
            <a:r>
              <a:rPr lang="ar-DZ" sz="2400" b="1" dirty="0">
                <a:solidFill>
                  <a:schemeClr val="bg1"/>
                </a:solidFill>
              </a:rPr>
              <a:t> قوة </a:t>
            </a:r>
            <a:r>
              <a:rPr lang="ar-DZ" sz="2400" b="1" dirty="0" err="1">
                <a:solidFill>
                  <a:schemeClr val="bg1"/>
                </a:solidFill>
              </a:rPr>
              <a:t>تاثير</a:t>
            </a:r>
            <a:r>
              <a:rPr lang="ar-DZ" sz="2400" b="1" dirty="0">
                <a:solidFill>
                  <a:schemeClr val="bg1"/>
                </a:solidFill>
              </a:rPr>
              <a:t> الارض</a:t>
            </a:r>
          </a:p>
          <a:p>
            <a:pPr algn="r"/>
            <a:r>
              <a:rPr lang="fr-FR" sz="2400" b="1" dirty="0">
                <a:solidFill>
                  <a:schemeClr val="bg1"/>
                </a:solidFill>
              </a:rPr>
              <a:t>Ff1/C</a:t>
            </a:r>
            <a:r>
              <a:rPr lang="ar-DZ" sz="2400" b="1" dirty="0">
                <a:solidFill>
                  <a:schemeClr val="bg1"/>
                </a:solidFill>
              </a:rPr>
              <a:t> -قوة </a:t>
            </a:r>
            <a:r>
              <a:rPr lang="ar-DZ" sz="2400" b="1" dirty="0" err="1">
                <a:solidFill>
                  <a:schemeClr val="bg1"/>
                </a:solidFill>
              </a:rPr>
              <a:t>تاثير</a:t>
            </a:r>
            <a:r>
              <a:rPr lang="ar-DZ" sz="2400" b="1" dirty="0">
                <a:solidFill>
                  <a:schemeClr val="bg1"/>
                </a:solidFill>
              </a:rPr>
              <a:t> </a:t>
            </a:r>
            <a:r>
              <a:rPr lang="ar-DZ" sz="2400" b="1" dirty="0" err="1">
                <a:solidFill>
                  <a:schemeClr val="bg1"/>
                </a:solidFill>
              </a:rPr>
              <a:t>الحبل1</a:t>
            </a:r>
            <a:r>
              <a:rPr lang="ar-DZ" sz="2400" b="1" dirty="0">
                <a:solidFill>
                  <a:schemeClr val="bg1"/>
                </a:solidFill>
              </a:rPr>
              <a:t>       </a:t>
            </a:r>
          </a:p>
          <a:p>
            <a:pPr algn="r"/>
            <a:r>
              <a:rPr lang="fr-FR" sz="2400" b="1" dirty="0">
                <a:solidFill>
                  <a:schemeClr val="bg1"/>
                </a:solidFill>
              </a:rPr>
              <a:t>Ff2/C</a:t>
            </a:r>
            <a:r>
              <a:rPr lang="ar-DZ" sz="2400" b="1" dirty="0">
                <a:solidFill>
                  <a:schemeClr val="bg1"/>
                </a:solidFill>
              </a:rPr>
              <a:t> -قوة </a:t>
            </a:r>
            <a:r>
              <a:rPr lang="ar-DZ" sz="2400" b="1" dirty="0" err="1">
                <a:solidFill>
                  <a:schemeClr val="bg1"/>
                </a:solidFill>
              </a:rPr>
              <a:t>تاثير</a:t>
            </a:r>
            <a:r>
              <a:rPr lang="ar-DZ" sz="2400" b="1" dirty="0">
                <a:solidFill>
                  <a:schemeClr val="bg1"/>
                </a:solidFill>
              </a:rPr>
              <a:t> الحبل 2    </a:t>
            </a:r>
          </a:p>
          <a:p>
            <a:pPr algn="r"/>
            <a:r>
              <a:rPr lang="ar-DZ" sz="2400" b="1" dirty="0">
                <a:solidFill>
                  <a:schemeClr val="bg1"/>
                </a:solidFill>
              </a:rPr>
              <a:t>2-تمثيل قوتي </a:t>
            </a:r>
            <a:r>
              <a:rPr lang="ar-DZ" sz="2400" b="1" dirty="0" err="1">
                <a:solidFill>
                  <a:schemeClr val="bg1"/>
                </a:solidFill>
              </a:rPr>
              <a:t>تاثير</a:t>
            </a:r>
            <a:r>
              <a:rPr lang="ar-DZ" sz="2400" b="1" dirty="0">
                <a:solidFill>
                  <a:schemeClr val="bg1"/>
                </a:solidFill>
              </a:rPr>
              <a:t> الحبلين </a:t>
            </a:r>
          </a:p>
          <a:p>
            <a:pPr algn="r"/>
            <a:r>
              <a:rPr lang="fr-FR" sz="2400" b="1" dirty="0">
                <a:solidFill>
                  <a:schemeClr val="bg1"/>
                </a:solidFill>
              </a:rPr>
              <a:t>10000N </a:t>
            </a:r>
            <a:r>
              <a:rPr lang="ar-DZ" sz="2400" b="1" dirty="0">
                <a:solidFill>
                  <a:schemeClr val="bg1"/>
                </a:solidFill>
              </a:rPr>
              <a:t>       </a:t>
            </a:r>
            <a:r>
              <a:rPr lang="fr-FR" sz="2400" b="1" dirty="0">
                <a:solidFill>
                  <a:schemeClr val="bg1"/>
                </a:solidFill>
              </a:rPr>
              <a:t>  1cm</a:t>
            </a:r>
            <a:r>
              <a:rPr lang="ar-DZ" sz="2400" b="1" dirty="0">
                <a:solidFill>
                  <a:schemeClr val="bg1"/>
                </a:solidFill>
              </a:rPr>
              <a:t> لدينا من السلم كل   </a:t>
            </a:r>
          </a:p>
          <a:p>
            <a:pPr algn="r"/>
            <a:r>
              <a:rPr lang="fr-FR" sz="2400" b="1" dirty="0">
                <a:solidFill>
                  <a:schemeClr val="bg1"/>
                </a:solidFill>
              </a:rPr>
              <a:t>X=20000x1/10000=2 cm</a:t>
            </a:r>
            <a:r>
              <a:rPr lang="ar-DZ" sz="2400" b="1" dirty="0">
                <a:solidFill>
                  <a:schemeClr val="bg1"/>
                </a:solidFill>
              </a:rPr>
              <a:t>   ومنه  </a:t>
            </a:r>
            <a:r>
              <a:rPr lang="fr-FR" sz="2400" b="1" dirty="0">
                <a:solidFill>
                  <a:schemeClr val="bg1"/>
                </a:solidFill>
              </a:rPr>
              <a:t>20000N </a:t>
            </a:r>
            <a:r>
              <a:rPr lang="ar-DZ" sz="2400" b="1" dirty="0">
                <a:solidFill>
                  <a:schemeClr val="bg1"/>
                </a:solidFill>
              </a:rPr>
              <a:t>      </a:t>
            </a:r>
            <a:r>
              <a:rPr lang="fr-FR" sz="2400" b="1" dirty="0">
                <a:solidFill>
                  <a:schemeClr val="bg1"/>
                </a:solidFill>
              </a:rPr>
              <a:t>  X</a:t>
            </a:r>
            <a:r>
              <a:rPr lang="ar-DZ" sz="2400" b="1" dirty="0">
                <a:solidFill>
                  <a:schemeClr val="bg1"/>
                </a:solidFill>
              </a:rPr>
              <a:t> معناه</a:t>
            </a:r>
            <a:endParaRPr lang="fr-FR" sz="2400" b="1" dirty="0">
              <a:solidFill>
                <a:schemeClr val="bg1"/>
              </a:solidFill>
            </a:endParaRPr>
          </a:p>
          <a:p>
            <a:pPr algn="r"/>
            <a:r>
              <a:rPr lang="fr-FR" sz="2400" b="1" dirty="0">
                <a:solidFill>
                  <a:schemeClr val="bg1"/>
                </a:solidFill>
              </a:rPr>
              <a:t>P</a:t>
            </a:r>
            <a:r>
              <a:rPr lang="ar-DZ" sz="2400" b="1" dirty="0">
                <a:solidFill>
                  <a:schemeClr val="bg1"/>
                </a:solidFill>
              </a:rPr>
              <a:t>  </a:t>
            </a:r>
            <a:r>
              <a:rPr lang="fr-FR" sz="2400" b="1" dirty="0">
                <a:solidFill>
                  <a:schemeClr val="bg1"/>
                </a:solidFill>
              </a:rPr>
              <a:t>+</a:t>
            </a:r>
            <a:r>
              <a:rPr lang="ar-DZ" sz="2400" b="1" dirty="0">
                <a:solidFill>
                  <a:schemeClr val="bg1"/>
                </a:solidFill>
              </a:rPr>
              <a:t>  </a:t>
            </a:r>
            <a:r>
              <a:rPr lang="fr-FR" sz="2400" b="1" dirty="0">
                <a:solidFill>
                  <a:schemeClr val="bg1"/>
                </a:solidFill>
              </a:rPr>
              <a:t>Ff1/L+Ff2/L=0</a:t>
            </a:r>
            <a:r>
              <a:rPr lang="ar-DZ" sz="2400" b="1" dirty="0">
                <a:solidFill>
                  <a:schemeClr val="bg1"/>
                </a:solidFill>
              </a:rPr>
              <a:t> 3-من خلال شرط التوازن لدينا     </a:t>
            </a:r>
            <a:endParaRPr lang="fr-FR" sz="2400" b="1" dirty="0">
              <a:solidFill>
                <a:schemeClr val="bg1"/>
              </a:solidFill>
            </a:endParaRPr>
          </a:p>
          <a:p>
            <a:pPr algn="r"/>
            <a:r>
              <a:rPr lang="fr-FR" sz="2400" b="1" dirty="0">
                <a:solidFill>
                  <a:schemeClr val="bg1"/>
                </a:solidFill>
              </a:rPr>
              <a:t>Ff1/L+Ff2/L=-P </a:t>
            </a:r>
            <a:r>
              <a:rPr lang="ar-DZ" sz="2400" b="1" dirty="0">
                <a:solidFill>
                  <a:schemeClr val="bg1"/>
                </a:solidFill>
              </a:rPr>
              <a:t>=-ومنه  </a:t>
            </a:r>
            <a:endParaRPr lang="fr-FR" sz="2400" b="1" dirty="0">
              <a:solidFill>
                <a:schemeClr val="bg1"/>
              </a:solidFill>
            </a:endParaRPr>
          </a:p>
          <a:p>
            <a:pPr algn="r"/>
            <a:r>
              <a:rPr lang="fr-FR" sz="2400" b="1" dirty="0">
                <a:solidFill>
                  <a:schemeClr val="bg1"/>
                </a:solidFill>
              </a:rPr>
              <a:t>Ff1/L=Ff2/L=-P</a:t>
            </a:r>
            <a:r>
              <a:rPr lang="ar-DZ" sz="2400" b="1" dirty="0">
                <a:solidFill>
                  <a:schemeClr val="bg1"/>
                </a:solidFill>
              </a:rPr>
              <a:t>ومنه    </a:t>
            </a:r>
            <a:endParaRPr lang="fr-FR" sz="2400" b="1" dirty="0">
              <a:solidFill>
                <a:schemeClr val="bg1"/>
              </a:solidFill>
            </a:endParaRPr>
          </a:p>
          <a:p>
            <a:pPr algn="r"/>
            <a:r>
              <a:rPr lang="ar-DZ" sz="2400" b="1" dirty="0">
                <a:solidFill>
                  <a:schemeClr val="bg1"/>
                </a:solidFill>
              </a:rPr>
              <a:t>-خصائص قوة الثقل لدينا</a:t>
            </a:r>
          </a:p>
          <a:p>
            <a:pPr algn="r"/>
            <a:endParaRPr lang="ar-DZ" sz="2400" b="1" dirty="0">
              <a:solidFill>
                <a:schemeClr val="bg1"/>
              </a:solidFill>
            </a:endParaRPr>
          </a:p>
          <a:p>
            <a:pPr algn="r"/>
            <a:r>
              <a:rPr lang="ar-DZ" sz="2400" b="1" dirty="0">
                <a:solidFill>
                  <a:schemeClr val="bg1"/>
                </a:solidFill>
              </a:rPr>
              <a:t> </a:t>
            </a:r>
            <a:endParaRPr lang="fr-FR"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p:txBody>
      </p:sp>
      <p:pic>
        <p:nvPicPr>
          <p:cNvPr id="5"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908720"/>
            <a:ext cx="2195736" cy="2520280"/>
          </a:xfrm>
          <a:prstGeom prst="rect">
            <a:avLst/>
          </a:prstGeom>
          <a:noFill/>
          <a:ln w="9525">
            <a:noFill/>
            <a:miter lim="800000"/>
            <a:headEnd/>
            <a:tailEnd/>
          </a:ln>
        </p:spPr>
      </p:pic>
      <p:cxnSp>
        <p:nvCxnSpPr>
          <p:cNvPr id="6" name="Connecteur droit avec flèche 5"/>
          <p:cNvCxnSpPr/>
          <p:nvPr/>
        </p:nvCxnSpPr>
        <p:spPr>
          <a:xfrm flipH="1" flipV="1">
            <a:off x="971600" y="1268760"/>
            <a:ext cx="288032" cy="51244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flipV="1">
            <a:off x="683568" y="1196752"/>
            <a:ext cx="288032" cy="648072"/>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971600" y="1844824"/>
            <a:ext cx="0" cy="72008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à coins arrondis 15"/>
          <p:cNvSpPr/>
          <p:nvPr/>
        </p:nvSpPr>
        <p:spPr>
          <a:xfrm>
            <a:off x="1259632" y="1340768"/>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f2/C</a:t>
            </a:r>
          </a:p>
        </p:txBody>
      </p:sp>
      <p:sp>
        <p:nvSpPr>
          <p:cNvPr id="17" name="Rectangle à coins arrondis 16"/>
          <p:cNvSpPr/>
          <p:nvPr/>
        </p:nvSpPr>
        <p:spPr>
          <a:xfrm>
            <a:off x="-252536" y="1412776"/>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f1/C</a:t>
            </a:r>
          </a:p>
        </p:txBody>
      </p:sp>
      <p:cxnSp>
        <p:nvCxnSpPr>
          <p:cNvPr id="18" name="Connecteur droit avec flèche 17"/>
          <p:cNvCxnSpPr/>
          <p:nvPr/>
        </p:nvCxnSpPr>
        <p:spPr>
          <a:xfrm>
            <a:off x="1331640" y="134076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251520" y="134076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à coins arrondis 19"/>
          <p:cNvSpPr/>
          <p:nvPr/>
        </p:nvSpPr>
        <p:spPr>
          <a:xfrm>
            <a:off x="1043608" y="2348880"/>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cxnSp>
        <p:nvCxnSpPr>
          <p:cNvPr id="21" name="Connecteur droit avec flèche 20"/>
          <p:cNvCxnSpPr/>
          <p:nvPr/>
        </p:nvCxnSpPr>
        <p:spPr>
          <a:xfrm>
            <a:off x="1043608" y="2204864"/>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22" name="Image 21" descr="og9k3w71pn3g246wgt9c.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528" y="3501008"/>
            <a:ext cx="2195736" cy="1584176"/>
          </a:xfrm>
          <a:prstGeom prst="rect">
            <a:avLst/>
          </a:prstGeom>
          <a:ln>
            <a:solidFill>
              <a:srgbClr val="1ADC1F"/>
            </a:solidFill>
          </a:ln>
        </p:spPr>
      </p:pic>
      <p:cxnSp>
        <p:nvCxnSpPr>
          <p:cNvPr id="24" name="Connecteur droit avec flèche 23"/>
          <p:cNvCxnSpPr/>
          <p:nvPr/>
        </p:nvCxnSpPr>
        <p:spPr>
          <a:xfrm flipH="1" flipV="1">
            <a:off x="539552" y="3501008"/>
            <a:ext cx="1080120" cy="648072"/>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V="1">
            <a:off x="539552" y="4077072"/>
            <a:ext cx="1080120" cy="86409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Connecteur droit avec flèche 31"/>
          <p:cNvCxnSpPr/>
          <p:nvPr/>
        </p:nvCxnSpPr>
        <p:spPr>
          <a:xfrm>
            <a:off x="539552" y="3501008"/>
            <a:ext cx="0" cy="144016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4" name="Rectangle à coins arrondis 33"/>
          <p:cNvSpPr/>
          <p:nvPr/>
        </p:nvSpPr>
        <p:spPr>
          <a:xfrm>
            <a:off x="0" y="4149080"/>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cxnSp>
        <p:nvCxnSpPr>
          <p:cNvPr id="35" name="Connecteur droit avec flèche 34"/>
          <p:cNvCxnSpPr/>
          <p:nvPr/>
        </p:nvCxnSpPr>
        <p:spPr>
          <a:xfrm>
            <a:off x="0" y="3933056"/>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6" name="Rectangle à coins arrondis 35"/>
          <p:cNvSpPr/>
          <p:nvPr/>
        </p:nvSpPr>
        <p:spPr>
          <a:xfrm>
            <a:off x="1043608" y="3501008"/>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f2/C</a:t>
            </a:r>
          </a:p>
        </p:txBody>
      </p:sp>
      <p:sp>
        <p:nvSpPr>
          <p:cNvPr id="37" name="Rectangle à coins arrondis 36"/>
          <p:cNvSpPr/>
          <p:nvPr/>
        </p:nvSpPr>
        <p:spPr>
          <a:xfrm>
            <a:off x="971600" y="4509120"/>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f1/C</a:t>
            </a:r>
          </a:p>
        </p:txBody>
      </p:sp>
      <p:cxnSp>
        <p:nvCxnSpPr>
          <p:cNvPr id="38" name="Connecteur droit avec flèche 37"/>
          <p:cNvCxnSpPr/>
          <p:nvPr/>
        </p:nvCxnSpPr>
        <p:spPr>
          <a:xfrm>
            <a:off x="1331640" y="350100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p:nvPr/>
        </p:nvCxnSpPr>
        <p:spPr>
          <a:xfrm>
            <a:off x="1259632" y="4437112"/>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p:nvPr/>
        </p:nvCxnSpPr>
        <p:spPr>
          <a:xfrm>
            <a:off x="5724128" y="31409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avec flèche 40"/>
          <p:cNvCxnSpPr/>
          <p:nvPr/>
        </p:nvCxnSpPr>
        <p:spPr>
          <a:xfrm>
            <a:off x="7452320" y="350100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3" name="Tableau 42"/>
          <p:cNvGraphicFramePr>
            <a:graphicFrameLocks noGrp="1"/>
          </p:cNvGraphicFramePr>
          <p:nvPr/>
        </p:nvGraphicFramePr>
        <p:xfrm>
          <a:off x="2411762" y="5229200"/>
          <a:ext cx="6450404" cy="797808"/>
        </p:xfrm>
        <a:graphic>
          <a:graphicData uri="http://schemas.openxmlformats.org/drawingml/2006/table">
            <a:tbl>
              <a:tblPr firstRow="1" bandRow="1">
                <a:tableStyleId>{5C22544A-7EE6-4342-B048-85BDC9FD1C3A}</a:tableStyleId>
              </a:tblPr>
              <a:tblGrid>
                <a:gridCol w="122413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723379">
                  <a:extLst>
                    <a:ext uri="{9D8B030D-6E8A-4147-A177-3AD203B41FA5}">
                      <a16:colId xmlns:a16="http://schemas.microsoft.com/office/drawing/2014/main" val="20002"/>
                    </a:ext>
                  </a:extLst>
                </a:gridCol>
                <a:gridCol w="964330">
                  <a:extLst>
                    <a:ext uri="{9D8B030D-6E8A-4147-A177-3AD203B41FA5}">
                      <a16:colId xmlns:a16="http://schemas.microsoft.com/office/drawing/2014/main" val="20003"/>
                    </a:ext>
                  </a:extLst>
                </a:gridCol>
                <a:gridCol w="1395802">
                  <a:extLst>
                    <a:ext uri="{9D8B030D-6E8A-4147-A177-3AD203B41FA5}">
                      <a16:colId xmlns:a16="http://schemas.microsoft.com/office/drawing/2014/main" val="20004"/>
                    </a:ext>
                  </a:extLst>
                </a:gridCol>
                <a:gridCol w="846615">
                  <a:extLst>
                    <a:ext uri="{9D8B030D-6E8A-4147-A177-3AD203B41FA5}">
                      <a16:colId xmlns:a16="http://schemas.microsoft.com/office/drawing/2014/main" val="20005"/>
                    </a:ext>
                  </a:extLst>
                </a:gridCol>
              </a:tblGrid>
              <a:tr h="432048">
                <a:tc>
                  <a:txBody>
                    <a:bodyPr/>
                    <a:lstStyle/>
                    <a:p>
                      <a:pPr algn="ctr"/>
                      <a:r>
                        <a:rPr lang="ar-DZ" b="1" dirty="0">
                          <a:solidFill>
                            <a:schemeClr val="bg1"/>
                          </a:solidFill>
                        </a:rPr>
                        <a:t>الشدة </a:t>
                      </a:r>
                      <a:endParaRPr lang="fr-FR" b="1" dirty="0">
                        <a:solidFill>
                          <a:schemeClr val="bg1"/>
                        </a:solidFill>
                      </a:endParaRPr>
                    </a:p>
                  </a:txBody>
                  <a:tcPr>
                    <a:solidFill>
                      <a:schemeClr val="tx1"/>
                    </a:solidFill>
                  </a:tcPr>
                </a:tc>
                <a:tc>
                  <a:txBody>
                    <a:bodyPr/>
                    <a:lstStyle/>
                    <a:p>
                      <a:pPr algn="ctr"/>
                      <a:r>
                        <a:rPr lang="ar-DZ" b="1" dirty="0">
                          <a:solidFill>
                            <a:schemeClr val="bg1"/>
                          </a:solidFill>
                        </a:rPr>
                        <a:t>طول</a:t>
                      </a:r>
                      <a:r>
                        <a:rPr lang="ar-DZ" b="1" baseline="0" dirty="0">
                          <a:solidFill>
                            <a:schemeClr val="bg1"/>
                          </a:solidFill>
                        </a:rPr>
                        <a:t> الشعاع</a:t>
                      </a:r>
                      <a:endParaRPr lang="fr-FR" b="1" dirty="0">
                        <a:solidFill>
                          <a:schemeClr val="bg1"/>
                        </a:solidFill>
                      </a:endParaRPr>
                    </a:p>
                  </a:txBody>
                  <a:tcPr>
                    <a:solidFill>
                      <a:schemeClr val="tx1"/>
                    </a:solidFill>
                  </a:tcPr>
                </a:tc>
                <a:tc>
                  <a:txBody>
                    <a:bodyPr/>
                    <a:lstStyle/>
                    <a:p>
                      <a:pPr algn="ctr"/>
                      <a:r>
                        <a:rPr lang="ar-DZ" b="1" dirty="0">
                          <a:solidFill>
                            <a:schemeClr val="bg1"/>
                          </a:solidFill>
                        </a:rPr>
                        <a:t>الجهة </a:t>
                      </a:r>
                      <a:endParaRPr lang="fr-FR" b="1" dirty="0">
                        <a:solidFill>
                          <a:schemeClr val="bg1"/>
                        </a:solidFill>
                      </a:endParaRPr>
                    </a:p>
                  </a:txBody>
                  <a:tcPr>
                    <a:solidFill>
                      <a:schemeClr val="tx1"/>
                    </a:solidFill>
                  </a:tcPr>
                </a:tc>
                <a:tc>
                  <a:txBody>
                    <a:bodyPr/>
                    <a:lstStyle/>
                    <a:p>
                      <a:pPr algn="ctr"/>
                      <a:r>
                        <a:rPr lang="ar-DZ" b="1" dirty="0">
                          <a:solidFill>
                            <a:schemeClr val="bg1"/>
                          </a:solidFill>
                        </a:rPr>
                        <a:t>المنحى </a:t>
                      </a:r>
                      <a:endParaRPr lang="fr-FR" b="1" dirty="0">
                        <a:solidFill>
                          <a:schemeClr val="bg1"/>
                        </a:solidFill>
                      </a:endParaRPr>
                    </a:p>
                  </a:txBody>
                  <a:tcPr>
                    <a:solidFill>
                      <a:schemeClr val="tx1"/>
                    </a:solidFill>
                  </a:tcPr>
                </a:tc>
                <a:tc>
                  <a:txBody>
                    <a:bodyPr/>
                    <a:lstStyle/>
                    <a:p>
                      <a:pPr algn="ctr"/>
                      <a:r>
                        <a:rPr lang="ar-DZ" b="1" dirty="0">
                          <a:solidFill>
                            <a:schemeClr val="bg1"/>
                          </a:solidFill>
                        </a:rPr>
                        <a:t>نقطة التأثير</a:t>
                      </a:r>
                      <a:endParaRPr lang="fr-FR" b="1" dirty="0">
                        <a:solidFill>
                          <a:schemeClr val="bg1"/>
                        </a:solidFill>
                      </a:endParaRPr>
                    </a:p>
                  </a:txBody>
                  <a:tcPr>
                    <a:solidFill>
                      <a:schemeClr val="tx1"/>
                    </a:solidFill>
                  </a:tcPr>
                </a:tc>
                <a:tc>
                  <a:txBody>
                    <a:bodyPr/>
                    <a:lstStyle/>
                    <a:p>
                      <a:r>
                        <a:rPr lang="ar-DZ" b="1" dirty="0">
                          <a:solidFill>
                            <a:schemeClr val="bg1"/>
                          </a:solidFill>
                        </a:rPr>
                        <a:t>القوى</a:t>
                      </a:r>
                      <a:endParaRPr lang="fr-FR" b="1" dirty="0"/>
                    </a:p>
                  </a:txBody>
                  <a:tcPr>
                    <a:solidFill>
                      <a:schemeClr val="tx1"/>
                    </a:solidFill>
                  </a:tcPr>
                </a:tc>
                <a:extLst>
                  <a:ext uri="{0D108BD9-81ED-4DB2-BD59-A6C34878D82A}">
                    <a16:rowId xmlns:a16="http://schemas.microsoft.com/office/drawing/2014/main" val="10000"/>
                  </a:ext>
                </a:extLst>
              </a:tr>
              <a:tr h="185420">
                <a:tc>
                  <a:txBody>
                    <a:bodyPr/>
                    <a:lstStyle/>
                    <a:p>
                      <a:r>
                        <a:rPr lang="fr-FR" b="1" dirty="0"/>
                        <a:t>43451N</a:t>
                      </a:r>
                    </a:p>
                  </a:txBody>
                  <a:tcPr>
                    <a:solidFill>
                      <a:schemeClr val="tx1"/>
                    </a:solidFill>
                  </a:tcPr>
                </a:tc>
                <a:tc>
                  <a:txBody>
                    <a:bodyPr/>
                    <a:lstStyle/>
                    <a:p>
                      <a:pPr algn="ctr"/>
                      <a:r>
                        <a:rPr lang="fr-FR" b="1">
                          <a:solidFill>
                            <a:schemeClr val="bg1"/>
                          </a:solidFill>
                        </a:rPr>
                        <a:t>4.38cm</a:t>
                      </a:r>
                      <a:endParaRPr lang="fr-FR" b="1" dirty="0">
                        <a:solidFill>
                          <a:schemeClr val="bg1"/>
                        </a:solidFill>
                      </a:endParaRPr>
                    </a:p>
                  </a:txBody>
                  <a:tcPr>
                    <a:solidFill>
                      <a:schemeClr val="tx1"/>
                    </a:solidFill>
                  </a:tcPr>
                </a:tc>
                <a:tc>
                  <a:txBody>
                    <a:bodyPr/>
                    <a:lstStyle/>
                    <a:p>
                      <a:endParaRPr lang="fr-FR" b="1" dirty="0"/>
                    </a:p>
                  </a:txBody>
                  <a:tcPr>
                    <a:solidFill>
                      <a:schemeClr val="tx1"/>
                    </a:solidFill>
                  </a:tcPr>
                </a:tc>
                <a:tc>
                  <a:txBody>
                    <a:bodyPr/>
                    <a:lstStyle/>
                    <a:p>
                      <a:endParaRPr lang="fr-FR" b="1" dirty="0"/>
                    </a:p>
                  </a:txBody>
                  <a:tcPr>
                    <a:solidFill>
                      <a:schemeClr val="tx1"/>
                    </a:solidFill>
                  </a:tcPr>
                </a:tc>
                <a:tc>
                  <a:txBody>
                    <a:bodyPr/>
                    <a:lstStyle/>
                    <a:p>
                      <a:pPr algn="ctr"/>
                      <a:r>
                        <a:rPr lang="fr-FR" b="1" dirty="0"/>
                        <a:t>G</a:t>
                      </a:r>
                    </a:p>
                  </a:txBody>
                  <a:tcPr>
                    <a:solidFill>
                      <a:schemeClr val="tx1"/>
                    </a:solidFill>
                  </a:tcPr>
                </a:tc>
                <a:tc>
                  <a:txBody>
                    <a:bodyPr/>
                    <a:lstStyle/>
                    <a:p>
                      <a:pPr algn="ctr"/>
                      <a:r>
                        <a:rPr lang="fr-FR" sz="1800" b="1" dirty="0">
                          <a:solidFill>
                            <a:schemeClr val="bg1"/>
                          </a:solidFill>
                        </a:rPr>
                        <a:t>P</a:t>
                      </a:r>
                      <a:endParaRPr lang="fr-FR" b="1" dirty="0"/>
                    </a:p>
                  </a:txBody>
                  <a:tcPr>
                    <a:solidFill>
                      <a:schemeClr val="tx1"/>
                    </a:solidFill>
                  </a:tcPr>
                </a:tc>
                <a:extLst>
                  <a:ext uri="{0D108BD9-81ED-4DB2-BD59-A6C34878D82A}">
                    <a16:rowId xmlns:a16="http://schemas.microsoft.com/office/drawing/2014/main" val="10001"/>
                  </a:ext>
                </a:extLst>
              </a:tr>
            </a:tbl>
          </a:graphicData>
        </a:graphic>
      </p:graphicFrame>
      <p:cxnSp>
        <p:nvCxnSpPr>
          <p:cNvPr id="44" name="Connecteur droit avec flèche 43"/>
          <p:cNvCxnSpPr/>
          <p:nvPr/>
        </p:nvCxnSpPr>
        <p:spPr>
          <a:xfrm>
            <a:off x="5004048" y="155679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6444208" y="148478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p:cNvCxnSpPr/>
          <p:nvPr/>
        </p:nvCxnSpPr>
        <p:spPr>
          <a:xfrm>
            <a:off x="5796136" y="184482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7" name="Connecteur droit avec flèche 46"/>
          <p:cNvCxnSpPr/>
          <p:nvPr/>
        </p:nvCxnSpPr>
        <p:spPr>
          <a:xfrm>
            <a:off x="5868144" y="22048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Connecteur droit avec flèche 47"/>
          <p:cNvCxnSpPr/>
          <p:nvPr/>
        </p:nvCxnSpPr>
        <p:spPr>
          <a:xfrm>
            <a:off x="2843808"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p:cNvCxnSpPr/>
          <p:nvPr/>
        </p:nvCxnSpPr>
        <p:spPr>
          <a:xfrm>
            <a:off x="3635896"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a:off x="4427984"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1" name="Connecteur droit avec flèche 50"/>
          <p:cNvCxnSpPr/>
          <p:nvPr/>
        </p:nvCxnSpPr>
        <p:spPr>
          <a:xfrm>
            <a:off x="5148064"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avec flèche 51"/>
          <p:cNvCxnSpPr/>
          <p:nvPr/>
        </p:nvCxnSpPr>
        <p:spPr>
          <a:xfrm>
            <a:off x="5868144" y="407707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3" name="Connecteur droit avec flèche 52"/>
          <p:cNvCxnSpPr/>
          <p:nvPr/>
        </p:nvCxnSpPr>
        <p:spPr>
          <a:xfrm>
            <a:off x="6804248" y="40050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4" name="Connecteur droit avec flèche 53"/>
          <p:cNvCxnSpPr/>
          <p:nvPr/>
        </p:nvCxnSpPr>
        <p:spPr>
          <a:xfrm>
            <a:off x="7524328" y="407707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Connecteur droit avec flèche 54"/>
          <p:cNvCxnSpPr/>
          <p:nvPr/>
        </p:nvCxnSpPr>
        <p:spPr>
          <a:xfrm>
            <a:off x="6012160" y="443711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6" name="Connecteur droit avec flèche 55"/>
          <p:cNvCxnSpPr/>
          <p:nvPr/>
        </p:nvCxnSpPr>
        <p:spPr>
          <a:xfrm>
            <a:off x="6948264" y="443711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7" name="Connecteur droit avec flèche 56"/>
          <p:cNvCxnSpPr/>
          <p:nvPr/>
        </p:nvCxnSpPr>
        <p:spPr>
          <a:xfrm>
            <a:off x="7668344" y="436510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a:off x="8244408"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58"/>
          <p:cNvCxnSpPr/>
          <p:nvPr/>
        </p:nvCxnSpPr>
        <p:spPr>
          <a:xfrm>
            <a:off x="6444208" y="5589240"/>
            <a:ext cx="0" cy="36004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Connecteur droit avec flèche 60"/>
          <p:cNvCxnSpPr/>
          <p:nvPr/>
        </p:nvCxnSpPr>
        <p:spPr>
          <a:xfrm flipH="1">
            <a:off x="5436096" y="5589240"/>
            <a:ext cx="8384" cy="495672"/>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63"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51520" y="4941168"/>
            <a:ext cx="2160240" cy="1772816"/>
          </a:xfrm>
          <a:prstGeom prst="rect">
            <a:avLst/>
          </a:prstGeom>
          <a:noFill/>
          <a:ln w="9525">
            <a:noFill/>
            <a:miter lim="800000"/>
            <a:headEnd/>
            <a:tailEnd/>
          </a:ln>
        </p:spPr>
      </p:pic>
      <p:cxnSp>
        <p:nvCxnSpPr>
          <p:cNvPr id="65" name="Connecteur droit avec flèche 64"/>
          <p:cNvCxnSpPr/>
          <p:nvPr/>
        </p:nvCxnSpPr>
        <p:spPr>
          <a:xfrm>
            <a:off x="683568" y="5805264"/>
            <a:ext cx="0" cy="1052736"/>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9" name="Connecteur droit avec flèche 68"/>
          <p:cNvCxnSpPr/>
          <p:nvPr/>
        </p:nvCxnSpPr>
        <p:spPr>
          <a:xfrm flipV="1">
            <a:off x="683568" y="4725144"/>
            <a:ext cx="0" cy="108012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2" name="Rectangle à coins arrondis 71"/>
          <p:cNvSpPr/>
          <p:nvPr/>
        </p:nvSpPr>
        <p:spPr>
          <a:xfrm>
            <a:off x="755576" y="5229200"/>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f/C</a:t>
            </a:r>
          </a:p>
        </p:txBody>
      </p:sp>
      <p:sp>
        <p:nvSpPr>
          <p:cNvPr id="73" name="Rectangle à coins arrondis 72"/>
          <p:cNvSpPr/>
          <p:nvPr/>
        </p:nvSpPr>
        <p:spPr>
          <a:xfrm>
            <a:off x="899592" y="6497960"/>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C/f</a:t>
            </a:r>
          </a:p>
        </p:txBody>
      </p:sp>
      <p:cxnSp>
        <p:nvCxnSpPr>
          <p:cNvPr id="74" name="Connecteur droit avec flèche 73"/>
          <p:cNvCxnSpPr/>
          <p:nvPr/>
        </p:nvCxnSpPr>
        <p:spPr>
          <a:xfrm>
            <a:off x="1115616" y="5229200"/>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5" name="Connecteur droit avec flèche 74"/>
          <p:cNvCxnSpPr/>
          <p:nvPr/>
        </p:nvCxnSpPr>
        <p:spPr>
          <a:xfrm>
            <a:off x="1187624" y="6525344"/>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6" name="Ellipse 75"/>
          <p:cNvSpPr/>
          <p:nvPr/>
        </p:nvSpPr>
        <p:spPr>
          <a:xfrm>
            <a:off x="611560" y="5733256"/>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1-الاخطاء التي ارتكبها صاحب المنزل هي </a:t>
            </a:r>
          </a:p>
          <a:p>
            <a:pPr algn="r"/>
            <a:r>
              <a:rPr lang="ar-DZ" sz="2400" b="1" dirty="0">
                <a:solidFill>
                  <a:schemeClr val="bg1"/>
                </a:solidFill>
              </a:rPr>
              <a:t>-تركيب القاطعة في سلك الحيادي ربما تسبب له صدمة كهربائية عندما يريد استبدال المصباح ويلمس سلك الطور  </a:t>
            </a:r>
          </a:p>
          <a:p>
            <a:pPr algn="r"/>
            <a:r>
              <a:rPr lang="ar-DZ" sz="2400" b="1" dirty="0">
                <a:solidFill>
                  <a:schemeClr val="bg1"/>
                </a:solidFill>
              </a:rPr>
              <a:t>-تركيب </a:t>
            </a:r>
            <a:r>
              <a:rPr lang="ar-DZ" sz="2400" b="1" dirty="0" err="1">
                <a:solidFill>
                  <a:schemeClr val="bg1"/>
                </a:solidFill>
              </a:rPr>
              <a:t>االصهورة</a:t>
            </a:r>
            <a:r>
              <a:rPr lang="ar-DZ" sz="2400" b="1" dirty="0">
                <a:solidFill>
                  <a:schemeClr val="bg1"/>
                </a:solidFill>
              </a:rPr>
              <a:t> الخاصة بالمصباح  في سلك الحيادي لا تحمي في هذه الحالة المصباح من الارتفاع المفاجئ لشدة التيار الكهربائي</a:t>
            </a:r>
          </a:p>
          <a:p>
            <a:pPr algn="r"/>
            <a:r>
              <a:rPr lang="ar-DZ" sz="2400" b="1" dirty="0">
                <a:solidFill>
                  <a:schemeClr val="bg1"/>
                </a:solidFill>
              </a:rPr>
              <a:t>-عدم وجود توصيل بين </a:t>
            </a:r>
            <a:r>
              <a:rPr lang="ar-DZ" sz="2400" b="1" dirty="0" err="1">
                <a:solidFill>
                  <a:schemeClr val="bg1"/>
                </a:solidFill>
              </a:rPr>
              <a:t>الماخذ</a:t>
            </a:r>
            <a:r>
              <a:rPr lang="ar-DZ" sz="2400" b="1" dirty="0">
                <a:solidFill>
                  <a:schemeClr val="bg1"/>
                </a:solidFill>
              </a:rPr>
              <a:t> الارضي و الارض الخاص بالثلاجة ربما يصاب من يشغلها ويلمس هيكل الثلاجة بوجود سلك الطور ملامس لهيكلها </a:t>
            </a:r>
          </a:p>
          <a:p>
            <a:pPr algn="r"/>
            <a:r>
              <a:rPr lang="ar-DZ" sz="2400" b="1" dirty="0">
                <a:solidFill>
                  <a:schemeClr val="bg1"/>
                </a:solidFill>
              </a:rPr>
              <a:t>2-يمكن للغسالة الاشتغال بشكل عادي دون فساد </a:t>
            </a:r>
            <a:r>
              <a:rPr lang="ar-DZ" sz="2400" b="1" dirty="0" err="1">
                <a:solidFill>
                  <a:schemeClr val="bg1"/>
                </a:solidFill>
              </a:rPr>
              <a:t>الصهورة</a:t>
            </a:r>
            <a:r>
              <a:rPr lang="ar-DZ" sz="2400" b="1" dirty="0">
                <a:solidFill>
                  <a:schemeClr val="bg1"/>
                </a:solidFill>
              </a:rPr>
              <a:t> عندما تكون قيمتها اكبر من قيمة شدة التيار التي تشغلها </a:t>
            </a:r>
            <a:r>
              <a:rPr lang="ar-DZ" sz="2400" b="1" dirty="0" err="1">
                <a:solidFill>
                  <a:schemeClr val="bg1"/>
                </a:solidFill>
              </a:rPr>
              <a:t>الغسالةة</a:t>
            </a:r>
            <a:r>
              <a:rPr lang="ar-DZ" sz="2400" b="1" dirty="0">
                <a:solidFill>
                  <a:schemeClr val="bg1"/>
                </a:solidFill>
              </a:rPr>
              <a:t> </a:t>
            </a:r>
            <a:r>
              <a:rPr lang="ar-DZ" sz="2400" b="1" dirty="0" err="1">
                <a:solidFill>
                  <a:schemeClr val="bg1"/>
                </a:solidFill>
              </a:rPr>
              <a:t>لانه</a:t>
            </a:r>
            <a:r>
              <a:rPr lang="ar-DZ" sz="2400" b="1" dirty="0">
                <a:solidFill>
                  <a:schemeClr val="bg1"/>
                </a:solidFill>
              </a:rPr>
              <a:t> في هذه</a:t>
            </a:r>
          </a:p>
          <a:p>
            <a:pPr algn="r"/>
            <a:r>
              <a:rPr lang="ar-DZ" sz="2400" b="1" dirty="0">
                <a:solidFill>
                  <a:schemeClr val="bg1"/>
                </a:solidFill>
              </a:rPr>
              <a:t> الحالة تستطيع </a:t>
            </a:r>
            <a:r>
              <a:rPr lang="ar-DZ" sz="2400" b="1" dirty="0" err="1">
                <a:solidFill>
                  <a:schemeClr val="bg1"/>
                </a:solidFill>
              </a:rPr>
              <a:t>الصهورة</a:t>
            </a:r>
            <a:r>
              <a:rPr lang="ar-DZ" sz="2400" b="1" dirty="0">
                <a:solidFill>
                  <a:schemeClr val="bg1"/>
                </a:solidFill>
              </a:rPr>
              <a:t> تحمل الشدة المناسبة لها </a:t>
            </a:r>
          </a:p>
          <a:p>
            <a:pPr algn="r"/>
            <a:r>
              <a:rPr lang="ar-DZ" sz="2400" b="1" dirty="0">
                <a:solidFill>
                  <a:schemeClr val="bg1"/>
                </a:solidFill>
              </a:rPr>
              <a:t>3- الحلول المقترحة للمشاكل الثلاثة هي </a:t>
            </a:r>
          </a:p>
          <a:p>
            <a:pPr algn="r"/>
            <a:r>
              <a:rPr lang="ar-DZ" sz="2400" b="1" dirty="0">
                <a:solidFill>
                  <a:schemeClr val="bg1"/>
                </a:solidFill>
              </a:rPr>
              <a:t>-استبدال تركيب القاطعة من سلك الحيادي</a:t>
            </a:r>
          </a:p>
          <a:p>
            <a:pPr algn="r"/>
            <a:r>
              <a:rPr lang="ar-DZ" sz="2400" b="1" dirty="0">
                <a:solidFill>
                  <a:schemeClr val="bg1"/>
                </a:solidFill>
              </a:rPr>
              <a:t> الى سلك الطور </a:t>
            </a:r>
          </a:p>
          <a:p>
            <a:pPr algn="r"/>
            <a:r>
              <a:rPr lang="ar-DZ" sz="2400" b="1" dirty="0">
                <a:solidFill>
                  <a:schemeClr val="bg1"/>
                </a:solidFill>
              </a:rPr>
              <a:t>-استبدال تركيب </a:t>
            </a:r>
            <a:r>
              <a:rPr lang="ar-DZ" sz="2400" b="1" dirty="0" err="1">
                <a:solidFill>
                  <a:schemeClr val="bg1"/>
                </a:solidFill>
              </a:rPr>
              <a:t>الصاهورة</a:t>
            </a:r>
            <a:r>
              <a:rPr lang="ar-DZ" sz="2400" b="1" dirty="0">
                <a:solidFill>
                  <a:schemeClr val="bg1"/>
                </a:solidFill>
              </a:rPr>
              <a:t> للمصباح من سلك </a:t>
            </a:r>
          </a:p>
          <a:p>
            <a:pPr algn="r"/>
            <a:r>
              <a:rPr lang="ar-DZ" sz="2400" b="1" dirty="0">
                <a:solidFill>
                  <a:schemeClr val="bg1"/>
                </a:solidFill>
              </a:rPr>
              <a:t>الحيادي الى سلك الطور </a:t>
            </a:r>
          </a:p>
          <a:p>
            <a:pPr algn="r"/>
            <a:r>
              <a:rPr lang="ar-DZ" sz="2400" b="1" dirty="0">
                <a:solidFill>
                  <a:schemeClr val="bg1"/>
                </a:solidFill>
              </a:rPr>
              <a:t>-وضع توصيل بين </a:t>
            </a:r>
            <a:r>
              <a:rPr lang="ar-DZ" sz="2400" b="1" dirty="0" err="1">
                <a:solidFill>
                  <a:schemeClr val="bg1"/>
                </a:solidFill>
              </a:rPr>
              <a:t>الماخذ</a:t>
            </a:r>
            <a:r>
              <a:rPr lang="ar-DZ" sz="2400" b="1" dirty="0">
                <a:solidFill>
                  <a:schemeClr val="bg1"/>
                </a:solidFill>
              </a:rPr>
              <a:t> الارضي للغسالة </a:t>
            </a:r>
            <a:r>
              <a:rPr lang="ar-DZ" sz="2400" b="1" dirty="0" err="1">
                <a:solidFill>
                  <a:schemeClr val="bg1"/>
                </a:solidFill>
              </a:rPr>
              <a:t>والارض</a:t>
            </a:r>
            <a:r>
              <a:rPr lang="ar-DZ" sz="2400" b="1" dirty="0">
                <a:solidFill>
                  <a:schemeClr val="bg1"/>
                </a:solidFill>
              </a:rPr>
              <a:t> </a:t>
            </a:r>
          </a:p>
          <a:p>
            <a:pPr algn="r"/>
            <a:r>
              <a:rPr lang="ar-DZ" sz="24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861048"/>
            <a:ext cx="3779912" cy="2448272"/>
          </a:xfrm>
          <a:prstGeom prst="rect">
            <a:avLst/>
          </a:prstGeom>
          <a:noFill/>
          <a:ln w="9525">
            <a:noFill/>
            <a:miter lim="800000"/>
            <a:headEnd/>
            <a:tailEnd/>
          </a:ln>
        </p:spPr>
      </p:pic>
      <p:pic>
        <p:nvPicPr>
          <p:cNvPr id="7"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1600" y="4365104"/>
            <a:ext cx="144016" cy="360040"/>
          </a:xfrm>
          <a:prstGeom prst="rect">
            <a:avLst/>
          </a:prstGeom>
          <a:noFill/>
          <a:ln w="9525">
            <a:noFill/>
            <a:miter lim="800000"/>
            <a:headEnd/>
            <a:tailEnd/>
          </a:ln>
        </p:spPr>
      </p:pic>
      <p:pic>
        <p:nvPicPr>
          <p:cNvPr id="8"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71600" y="4725144"/>
            <a:ext cx="216024" cy="792088"/>
          </a:xfrm>
          <a:prstGeom prst="rect">
            <a:avLst/>
          </a:prstGeom>
          <a:noFill/>
          <a:ln w="9525">
            <a:noFill/>
            <a:miter lim="800000"/>
            <a:headEnd/>
            <a:tailEnd/>
          </a:ln>
        </p:spPr>
      </p:pic>
      <p:sp>
        <p:nvSpPr>
          <p:cNvPr id="9" name="Rectangle à coins arrondis 8"/>
          <p:cNvSpPr/>
          <p:nvPr/>
        </p:nvSpPr>
        <p:spPr>
          <a:xfrm>
            <a:off x="1331640" y="4869160"/>
            <a:ext cx="288032" cy="50405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195736" y="4365104"/>
            <a:ext cx="144016" cy="360040"/>
          </a:xfrm>
          <a:prstGeom prst="rect">
            <a:avLst/>
          </a:prstGeom>
          <a:noFill/>
          <a:ln w="9525">
            <a:noFill/>
            <a:miter lim="800000"/>
            <a:headEnd/>
            <a:tailEnd/>
          </a:ln>
        </p:spPr>
      </p:pic>
      <p:cxnSp>
        <p:nvCxnSpPr>
          <p:cNvPr id="17" name="Connecteur droit 16"/>
          <p:cNvCxnSpPr/>
          <p:nvPr/>
        </p:nvCxnSpPr>
        <p:spPr>
          <a:xfrm>
            <a:off x="2339752" y="5589240"/>
            <a:ext cx="0" cy="57606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flipH="1">
            <a:off x="2123728" y="5949280"/>
            <a:ext cx="423664"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a:xfrm flipH="1">
            <a:off x="2195736" y="6021288"/>
            <a:ext cx="351656" cy="16768"/>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flipH="1">
            <a:off x="2195736" y="6093296"/>
            <a:ext cx="279648" cy="16768"/>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à coins arrondis 25"/>
          <p:cNvSpPr/>
          <p:nvPr/>
        </p:nvSpPr>
        <p:spPr>
          <a:xfrm>
            <a:off x="1331640" y="4365104"/>
            <a:ext cx="288032" cy="50405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7" name="Connecteur droit 26"/>
          <p:cNvCxnSpPr/>
          <p:nvPr/>
        </p:nvCxnSpPr>
        <p:spPr>
          <a:xfrm>
            <a:off x="1475656" y="4077072"/>
            <a:ext cx="0" cy="1584176"/>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الخامس  </a:t>
            </a:r>
            <a:endParaRPr lang="fr-FR" sz="6000" b="1"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a:t>
            </a:r>
            <a:r>
              <a:rPr lang="ar-DZ" sz="2800" b="1" dirty="0" err="1">
                <a:solidFill>
                  <a:schemeClr val="bg1"/>
                </a:solidFill>
              </a:rPr>
              <a:t>6نقاط)</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 </a:t>
            </a:r>
          </a:p>
          <a:p>
            <a:pPr algn="r"/>
            <a:endParaRPr lang="ar-DZ" sz="2400" b="1" dirty="0">
              <a:solidFill>
                <a:schemeClr val="dk1"/>
              </a:solidFill>
            </a:endParaRPr>
          </a:p>
          <a:p>
            <a:pPr algn="r"/>
            <a:r>
              <a:rPr lang="ar-DZ" sz="2400" b="1" dirty="0">
                <a:solidFill>
                  <a:schemeClr val="dk1"/>
                </a:solidFill>
              </a:rPr>
              <a:t>قسم الاستاذ التلاميذ الى ثلاثة افواج </a:t>
            </a:r>
          </a:p>
          <a:p>
            <a:pPr algn="r"/>
            <a:r>
              <a:rPr lang="ar-DZ" sz="2400" b="1" dirty="0">
                <a:solidFill>
                  <a:schemeClr val="dk1"/>
                </a:solidFill>
              </a:rPr>
              <a:t>حيث وضع الفوج الاول في وعاء التحليل الكهربائي 1 </a:t>
            </a:r>
          </a:p>
          <a:p>
            <a:pPr algn="r"/>
            <a:r>
              <a:rPr lang="ar-DZ" sz="2400" b="1" dirty="0">
                <a:solidFill>
                  <a:schemeClr val="dk1"/>
                </a:solidFill>
              </a:rPr>
              <a:t>مسحوق  كبريات النحاس  والفوج الثاني وضع في وعاء  2 محلولا مائيا سكري </a:t>
            </a:r>
          </a:p>
          <a:p>
            <a:pPr algn="r"/>
            <a:r>
              <a:rPr lang="ar-DZ" sz="2400" b="1" dirty="0">
                <a:solidFill>
                  <a:schemeClr val="dk1"/>
                </a:solidFill>
              </a:rPr>
              <a:t>ووضع الفوج الثالث في وعاء  3  محلول </a:t>
            </a:r>
            <a:r>
              <a:rPr lang="ar-DZ" sz="2400" b="1" dirty="0" err="1">
                <a:solidFill>
                  <a:schemeClr val="dk1"/>
                </a:solidFill>
              </a:rPr>
              <a:t>كلور</a:t>
            </a:r>
            <a:r>
              <a:rPr lang="ar-DZ" sz="2400" b="1" dirty="0">
                <a:solidFill>
                  <a:schemeClr val="dk1"/>
                </a:solidFill>
              </a:rPr>
              <a:t> الزنك كما في الشكل  </a:t>
            </a:r>
          </a:p>
          <a:p>
            <a:pPr algn="r"/>
            <a:r>
              <a:rPr lang="ar-DZ" sz="2400" b="1" dirty="0">
                <a:solidFill>
                  <a:schemeClr val="dk1"/>
                </a:solidFill>
              </a:rPr>
              <a:t>1-صف ما يحدث للمصباح في كل حالة برر </a:t>
            </a:r>
            <a:r>
              <a:rPr lang="ar-DZ" sz="2400" b="1" dirty="0" err="1">
                <a:solidFill>
                  <a:schemeClr val="dk1"/>
                </a:solidFill>
              </a:rPr>
              <a:t>اجابتك  ؟</a:t>
            </a:r>
            <a:endParaRPr lang="ar-DZ" sz="2400" b="1" dirty="0">
              <a:solidFill>
                <a:schemeClr val="dk1"/>
              </a:solidFill>
            </a:endParaRPr>
          </a:p>
          <a:p>
            <a:pPr algn="r"/>
            <a:r>
              <a:rPr lang="ar-DZ" sz="2400" b="1" dirty="0">
                <a:solidFill>
                  <a:schemeClr val="dk1"/>
                </a:solidFill>
              </a:rPr>
              <a:t>2- اكتب معادلة التفاعل الذي يحدث في كل مسرى ثم استنتج المعادلة الاجمالية </a:t>
            </a:r>
          </a:p>
          <a:p>
            <a:pPr algn="r"/>
            <a:r>
              <a:rPr lang="ar-DZ" sz="2400" b="1" dirty="0">
                <a:solidFill>
                  <a:schemeClr val="dk1"/>
                </a:solidFill>
              </a:rPr>
              <a:t>3-ماذا يحدث للمصباح عند اضافة ماء مقطرا لمسحوق كبريتات النحاس </a:t>
            </a:r>
            <a:r>
              <a:rPr lang="ar-DZ" sz="2400" b="1" dirty="0" err="1">
                <a:solidFill>
                  <a:schemeClr val="dk1"/>
                </a:solidFill>
              </a:rPr>
              <a:t>لماذا ؟</a:t>
            </a:r>
            <a:endParaRPr lang="ar-DZ" sz="2400" b="1" dirty="0">
              <a:solidFill>
                <a:schemeClr val="dk1"/>
              </a:solidFill>
            </a:endParaRPr>
          </a:p>
          <a:p>
            <a:pPr algn="r"/>
            <a:r>
              <a:rPr lang="ar-DZ" sz="2400" b="1" dirty="0">
                <a:solidFill>
                  <a:schemeClr val="dk1"/>
                </a:solidFill>
              </a:rPr>
              <a:t>4-كيف يمكن الكشف عن </a:t>
            </a:r>
            <a:r>
              <a:rPr lang="ar-DZ" sz="2400" b="1" dirty="0" err="1">
                <a:solidFill>
                  <a:schemeClr val="dk1"/>
                </a:solidFill>
              </a:rPr>
              <a:t>شوارد</a:t>
            </a:r>
            <a:r>
              <a:rPr lang="ar-DZ" sz="2400" b="1" dirty="0">
                <a:solidFill>
                  <a:schemeClr val="dk1"/>
                </a:solidFill>
              </a:rPr>
              <a:t> المحلول الناتج عند اضافة الماء </a:t>
            </a:r>
            <a:r>
              <a:rPr lang="ar-DZ" sz="2400" b="1" dirty="0" err="1">
                <a:solidFill>
                  <a:schemeClr val="dk1"/>
                </a:solidFill>
              </a:rPr>
              <a:t>المقطر  ؟</a:t>
            </a:r>
            <a:endParaRPr lang="ar-DZ" sz="2400" b="1" dirty="0">
              <a:solidFill>
                <a:schemeClr val="dk1"/>
              </a:solidFill>
            </a:endParaRPr>
          </a:p>
          <a:p>
            <a:pPr algn="r"/>
            <a:endParaRPr lang="ar-DZ" sz="2400" b="1" dirty="0">
              <a:solidFill>
                <a:schemeClr val="dk1"/>
              </a:solidFill>
            </a:endParaRPr>
          </a:p>
          <a:p>
            <a:pPr algn="r"/>
            <a:endParaRPr lang="ar-DZ" sz="2400" b="1" dirty="0">
              <a:solidFill>
                <a:schemeClr val="bg1"/>
              </a:solidFill>
            </a:endParaRPr>
          </a:p>
        </p:txBody>
      </p:sp>
      <p:pic>
        <p:nvPicPr>
          <p:cNvPr id="30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764704"/>
            <a:ext cx="4860032" cy="18002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a:t>
            </a:r>
            <a:r>
              <a:rPr lang="ar-DZ" sz="2800" b="1" dirty="0" err="1">
                <a:solidFill>
                  <a:schemeClr val="bg1"/>
                </a:solidFill>
              </a:rPr>
              <a:t>6نقاط)</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قام فوج التلاميذ بدلك انبوب من الزجاج  بالقماش </a:t>
            </a:r>
          </a:p>
          <a:p>
            <a:pPr algn="r"/>
            <a:r>
              <a:rPr lang="ar-DZ" sz="2400" b="1" dirty="0">
                <a:solidFill>
                  <a:schemeClr val="dk1"/>
                </a:solidFill>
              </a:rPr>
              <a:t>ثم قربوه حتى اللمس من عمود نحاسي مستند </a:t>
            </a:r>
          </a:p>
          <a:p>
            <a:pPr algn="r"/>
            <a:r>
              <a:rPr lang="ar-DZ" sz="2400" b="1" dirty="0">
                <a:solidFill>
                  <a:schemeClr val="dk1"/>
                </a:solidFill>
              </a:rPr>
              <a:t>على حامل خشبي ملامس </a:t>
            </a:r>
            <a:r>
              <a:rPr lang="ar-DZ" sz="2400" b="1" dirty="0" err="1">
                <a:solidFill>
                  <a:schemeClr val="dk1"/>
                </a:solidFill>
              </a:rPr>
              <a:t>لكرية</a:t>
            </a:r>
            <a:r>
              <a:rPr lang="ar-DZ" sz="2400" b="1" dirty="0">
                <a:solidFill>
                  <a:schemeClr val="dk1"/>
                </a:solidFill>
              </a:rPr>
              <a:t> مغلفة </a:t>
            </a:r>
            <a:r>
              <a:rPr lang="ar-DZ" sz="2400" b="1" dirty="0" err="1">
                <a:solidFill>
                  <a:schemeClr val="dk1"/>
                </a:solidFill>
              </a:rPr>
              <a:t>بالالومنيوم</a:t>
            </a:r>
            <a:r>
              <a:rPr lang="ar-DZ" sz="2400" b="1" dirty="0">
                <a:solidFill>
                  <a:schemeClr val="dk1"/>
                </a:solidFill>
              </a:rPr>
              <a:t> </a:t>
            </a:r>
          </a:p>
          <a:p>
            <a:pPr algn="r"/>
            <a:r>
              <a:rPr lang="ar-DZ" sz="2400" b="1" dirty="0">
                <a:solidFill>
                  <a:schemeClr val="dk1"/>
                </a:solidFill>
              </a:rPr>
              <a:t>وغير مشحونة كما في الشكل 1</a:t>
            </a:r>
          </a:p>
          <a:p>
            <a:pPr algn="r"/>
            <a:r>
              <a:rPr lang="ar-DZ" sz="2400" b="1" dirty="0">
                <a:solidFill>
                  <a:schemeClr val="dk1"/>
                </a:solidFill>
              </a:rPr>
              <a:t>اما الفوج الثاني دلك انبوب من البلاستيك بالقماش</a:t>
            </a:r>
          </a:p>
          <a:p>
            <a:pPr algn="r"/>
            <a:r>
              <a:rPr lang="ar-DZ" sz="2400" b="1" dirty="0">
                <a:solidFill>
                  <a:schemeClr val="dk1"/>
                </a:solidFill>
              </a:rPr>
              <a:t> وقربوه من </a:t>
            </a:r>
            <a:r>
              <a:rPr lang="ar-DZ" sz="2400" b="1" dirty="0" err="1">
                <a:solidFill>
                  <a:schemeClr val="dk1"/>
                </a:solidFill>
              </a:rPr>
              <a:t>كرية</a:t>
            </a:r>
            <a:r>
              <a:rPr lang="ar-DZ" sz="2400" b="1" dirty="0">
                <a:solidFill>
                  <a:schemeClr val="dk1"/>
                </a:solidFill>
              </a:rPr>
              <a:t> مغلفة </a:t>
            </a:r>
            <a:r>
              <a:rPr lang="ar-DZ" sz="2400" b="1" dirty="0" err="1">
                <a:solidFill>
                  <a:schemeClr val="dk1"/>
                </a:solidFill>
              </a:rPr>
              <a:t>بالالومنيوم</a:t>
            </a:r>
            <a:r>
              <a:rPr lang="ar-DZ" sz="2400" b="1" dirty="0">
                <a:solidFill>
                  <a:schemeClr val="dk1"/>
                </a:solidFill>
              </a:rPr>
              <a:t> وغير مشحونة </a:t>
            </a:r>
          </a:p>
          <a:p>
            <a:pPr algn="r"/>
            <a:r>
              <a:rPr lang="ar-DZ" sz="2400" b="1" dirty="0">
                <a:solidFill>
                  <a:schemeClr val="dk1"/>
                </a:solidFill>
              </a:rPr>
              <a:t>بدون لمس  كما في الشكل 2</a:t>
            </a:r>
          </a:p>
          <a:p>
            <a:pPr algn="r"/>
            <a:r>
              <a:rPr lang="ar-DZ" sz="2400" b="1" dirty="0">
                <a:solidFill>
                  <a:schemeClr val="dk1"/>
                </a:solidFill>
              </a:rPr>
              <a:t>1-صف ما يحدث </a:t>
            </a:r>
            <a:r>
              <a:rPr lang="ar-DZ" sz="2400" b="1" dirty="0" err="1">
                <a:solidFill>
                  <a:schemeClr val="dk1"/>
                </a:solidFill>
              </a:rPr>
              <a:t>للكرية</a:t>
            </a:r>
            <a:r>
              <a:rPr lang="ar-DZ" sz="2400" b="1" dirty="0">
                <a:solidFill>
                  <a:schemeClr val="dk1"/>
                </a:solidFill>
              </a:rPr>
              <a:t> عند كل فوج مع الرسم  </a:t>
            </a:r>
          </a:p>
          <a:p>
            <a:pPr algn="r"/>
            <a:r>
              <a:rPr lang="ar-DZ" sz="2400" b="1" dirty="0">
                <a:solidFill>
                  <a:schemeClr val="dk1"/>
                </a:solidFill>
              </a:rPr>
              <a:t>2-</a:t>
            </a:r>
            <a:r>
              <a:rPr lang="ar-DZ" sz="2400" b="1" dirty="0" err="1">
                <a:solidFill>
                  <a:schemeClr val="dk1"/>
                </a:solidFill>
              </a:rPr>
              <a:t>مانوع</a:t>
            </a:r>
            <a:r>
              <a:rPr lang="ar-DZ" sz="2400" b="1" dirty="0">
                <a:solidFill>
                  <a:schemeClr val="dk1"/>
                </a:solidFill>
              </a:rPr>
              <a:t> التكهرب بالنسبة </a:t>
            </a:r>
            <a:r>
              <a:rPr lang="ar-DZ" sz="2400" b="1" dirty="0" err="1">
                <a:solidFill>
                  <a:schemeClr val="dk1"/>
                </a:solidFill>
              </a:rPr>
              <a:t>للانبوب</a:t>
            </a:r>
            <a:r>
              <a:rPr lang="ar-DZ" sz="2400" b="1" dirty="0">
                <a:solidFill>
                  <a:schemeClr val="dk1"/>
                </a:solidFill>
              </a:rPr>
              <a:t> </a:t>
            </a:r>
            <a:r>
              <a:rPr lang="ar-DZ" sz="2400" b="1" dirty="0" err="1">
                <a:solidFill>
                  <a:schemeClr val="dk1"/>
                </a:solidFill>
              </a:rPr>
              <a:t>والكرية</a:t>
            </a:r>
            <a:r>
              <a:rPr lang="ar-DZ" sz="2400" b="1" dirty="0">
                <a:solidFill>
                  <a:schemeClr val="dk1"/>
                </a:solidFill>
              </a:rPr>
              <a:t> عند كل فوج</a:t>
            </a:r>
          </a:p>
          <a:p>
            <a:pPr algn="r"/>
            <a:r>
              <a:rPr lang="ar-DZ" sz="2400" b="1" dirty="0">
                <a:solidFill>
                  <a:schemeClr val="dk1"/>
                </a:solidFill>
              </a:rPr>
              <a:t>بالنسبة </a:t>
            </a:r>
            <a:r>
              <a:rPr lang="ar-DZ" sz="2400" b="1" dirty="0" err="1">
                <a:solidFill>
                  <a:schemeClr val="dk1"/>
                </a:solidFill>
              </a:rPr>
              <a:t>للانبوب</a:t>
            </a:r>
            <a:r>
              <a:rPr lang="ar-DZ" sz="2400" b="1" dirty="0">
                <a:solidFill>
                  <a:schemeClr val="dk1"/>
                </a:solidFill>
              </a:rPr>
              <a:t>  و </a:t>
            </a:r>
            <a:r>
              <a:rPr lang="ar-DZ" sz="2400" b="1" dirty="0" err="1">
                <a:solidFill>
                  <a:schemeClr val="dk1"/>
                </a:solidFill>
              </a:rPr>
              <a:t>الكرية</a:t>
            </a:r>
            <a:r>
              <a:rPr lang="ar-DZ" sz="2400" b="1" dirty="0">
                <a:solidFill>
                  <a:schemeClr val="dk1"/>
                </a:solidFill>
              </a:rPr>
              <a:t>   </a:t>
            </a:r>
            <a:r>
              <a:rPr lang="ar-DZ" sz="2400" b="1" dirty="0" err="1">
                <a:solidFill>
                  <a:schemeClr val="dk1"/>
                </a:solidFill>
              </a:rPr>
              <a:t>؟</a:t>
            </a:r>
            <a:endParaRPr lang="ar-DZ" sz="2400" b="1" dirty="0">
              <a:solidFill>
                <a:schemeClr val="dk1"/>
              </a:solidFill>
            </a:endParaRPr>
          </a:p>
          <a:p>
            <a:pPr algn="r"/>
            <a:r>
              <a:rPr lang="ar-DZ" sz="2400" b="1" dirty="0">
                <a:solidFill>
                  <a:schemeClr val="dk1"/>
                </a:solidFill>
              </a:rPr>
              <a:t>3-</a:t>
            </a:r>
            <a:r>
              <a:rPr lang="ar-DZ" sz="2400" b="1" dirty="0" err="1">
                <a:solidFill>
                  <a:schemeClr val="dk1"/>
                </a:solidFill>
              </a:rPr>
              <a:t>برايك</a:t>
            </a:r>
            <a:r>
              <a:rPr lang="ar-DZ" sz="2400" b="1" dirty="0">
                <a:solidFill>
                  <a:schemeClr val="dk1"/>
                </a:solidFill>
              </a:rPr>
              <a:t> ماذا يحدث </a:t>
            </a:r>
            <a:r>
              <a:rPr lang="ar-DZ" sz="2400" b="1" dirty="0" err="1">
                <a:solidFill>
                  <a:schemeClr val="dk1"/>
                </a:solidFill>
              </a:rPr>
              <a:t>للكرية</a:t>
            </a:r>
            <a:r>
              <a:rPr lang="ar-DZ" sz="2400" b="1" dirty="0">
                <a:solidFill>
                  <a:schemeClr val="dk1"/>
                </a:solidFill>
              </a:rPr>
              <a:t> عند استبدال الحامل الخشبي بحامل </a:t>
            </a:r>
          </a:p>
          <a:p>
            <a:pPr algn="r"/>
            <a:r>
              <a:rPr lang="ar-DZ" sz="2400" b="1" dirty="0">
                <a:solidFill>
                  <a:schemeClr val="dk1"/>
                </a:solidFill>
              </a:rPr>
              <a:t>معدني متصل </a:t>
            </a:r>
            <a:r>
              <a:rPr lang="ar-DZ" sz="2400" b="1" dirty="0" err="1">
                <a:solidFill>
                  <a:schemeClr val="dk1"/>
                </a:solidFill>
              </a:rPr>
              <a:t>بالارض</a:t>
            </a:r>
            <a:r>
              <a:rPr lang="ar-DZ" sz="2400" b="1" dirty="0">
                <a:solidFill>
                  <a:schemeClr val="dk1"/>
                </a:solidFill>
              </a:rPr>
              <a:t> بالنسبة للفوج الاول برر اجابتك</a:t>
            </a:r>
          </a:p>
          <a:p>
            <a:pPr algn="r"/>
            <a:r>
              <a:rPr lang="ar-DZ" sz="2400" b="1" dirty="0">
                <a:solidFill>
                  <a:schemeClr val="dk1"/>
                </a:solidFill>
              </a:rPr>
              <a:t>مع  </a:t>
            </a:r>
            <a:r>
              <a:rPr lang="ar-DZ" sz="2400" b="1" dirty="0" err="1">
                <a:solidFill>
                  <a:schemeClr val="dk1"/>
                </a:solidFill>
              </a:rPr>
              <a:t>بالرسم ؟</a:t>
            </a:r>
            <a:endParaRPr lang="ar-DZ" sz="2400" b="1" dirty="0">
              <a:solidFill>
                <a:schemeClr val="dk1"/>
              </a:solidFill>
            </a:endParaRPr>
          </a:p>
          <a:p>
            <a:pPr algn="r"/>
            <a:r>
              <a:rPr lang="ar-DZ" sz="2400" b="1" dirty="0">
                <a:solidFill>
                  <a:schemeClr val="dk1"/>
                </a:solidFill>
              </a:rPr>
              <a:t>    </a:t>
            </a:r>
          </a:p>
          <a:p>
            <a:pPr algn="r"/>
            <a:endParaRPr lang="ar-DZ"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51520" y="1340768"/>
            <a:ext cx="2448272" cy="2016224"/>
          </a:xfrm>
          <a:prstGeom prst="rect">
            <a:avLst/>
          </a:prstGeom>
          <a:noFill/>
          <a:ln w="9525">
            <a:noFill/>
            <a:miter lim="800000"/>
            <a:headEnd/>
            <a:tailEnd/>
          </a:ln>
        </p:spPr>
      </p:pic>
      <p:pic>
        <p:nvPicPr>
          <p:cNvPr id="7"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67544" y="3933056"/>
            <a:ext cx="968108" cy="2010685"/>
          </a:xfrm>
          <a:prstGeom prst="rect">
            <a:avLst/>
          </a:prstGeom>
          <a:noFill/>
          <a:ln w="9525">
            <a:noFill/>
            <a:miter lim="800000"/>
            <a:headEnd/>
            <a:tailEnd/>
          </a:ln>
        </p:spPr>
      </p:pic>
      <p:pic>
        <p:nvPicPr>
          <p:cNvPr id="8"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619672" y="3789040"/>
            <a:ext cx="432048" cy="2232248"/>
          </a:xfrm>
          <a:prstGeom prst="rect">
            <a:avLst/>
          </a:prstGeom>
          <a:noFill/>
          <a:ln w="9525">
            <a:noFill/>
            <a:miter lim="800000"/>
            <a:headEnd/>
            <a:tailEnd/>
          </a:ln>
        </p:spPr>
      </p:pic>
      <p:sp>
        <p:nvSpPr>
          <p:cNvPr id="9" name="Rectangle à coins arrondis 8"/>
          <p:cNvSpPr/>
          <p:nvPr/>
        </p:nvSpPr>
        <p:spPr>
          <a:xfrm>
            <a:off x="755576" y="3284984"/>
            <a:ext cx="158417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1</a:t>
            </a:r>
            <a:endParaRPr lang="fr-FR" sz="2000" b="1" dirty="0">
              <a:solidFill>
                <a:schemeClr val="bg1"/>
              </a:solidFill>
            </a:endParaRPr>
          </a:p>
        </p:txBody>
      </p:sp>
      <p:sp>
        <p:nvSpPr>
          <p:cNvPr id="10" name="Rectangle à coins arrondis 9"/>
          <p:cNvSpPr/>
          <p:nvPr/>
        </p:nvSpPr>
        <p:spPr>
          <a:xfrm>
            <a:off x="539552" y="5373216"/>
            <a:ext cx="158417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شكل2</a:t>
            </a:r>
            <a:endParaRPr lang="fr-FR" sz="2000" b="1"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a:t>
            </a:r>
            <a:r>
              <a:rPr lang="ar-DZ" sz="2800" b="1" dirty="0" err="1">
                <a:solidFill>
                  <a:schemeClr val="bg1"/>
                </a:solidFill>
              </a:rPr>
              <a:t>الادماجية </a:t>
            </a:r>
            <a:r>
              <a:rPr lang="ar-DZ" sz="2800" b="1" dirty="0">
                <a:solidFill>
                  <a:schemeClr val="bg1"/>
                </a:solidFill>
              </a:rPr>
              <a:t>(8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39937" name="AutoShape 1"/>
          <p:cNvSpPr>
            <a:spLocks noChangeArrowheads="1"/>
          </p:cNvSpPr>
          <p:nvPr/>
        </p:nvSpPr>
        <p:spPr bwMode="auto">
          <a:xfrm>
            <a:off x="-108520" y="692696"/>
            <a:ext cx="9252521" cy="6171655"/>
          </a:xfrm>
          <a:prstGeom prst="roundRect">
            <a:avLst>
              <a:gd name="adj" fmla="val 16667"/>
            </a:avLst>
          </a:pr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عندما كان محمد يبحث عن مواضيع علمية في شبكة الانترنت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وجد انه يحدث تأكل هياكل السيارات الحديدية التي تترك</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في الهواء بسبب الامطار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الحمضية </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(احتوائها على حمض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الكبريت </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فاندهش من هذه المعلومة المحيرة كما وجد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ان العالم  و الفضائي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امسترونغ</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اندهش من قلة ثقله ست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مرات و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كأته</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يطير فوق القمر فلم يفهم محمد هذه الاشكالية</a:t>
            </a:r>
            <a:r>
              <a:rPr kumimoji="0" lang="fr-FR" sz="2400" b="1" i="0" u="none" strike="noStrike" cap="none" normalizeH="0" baseline="0" dirty="0">
                <a:ln>
                  <a:noFill/>
                </a:ln>
                <a:solidFill>
                  <a:schemeClr val="bg1"/>
                </a:solidFill>
                <a:effectLst/>
                <a:latin typeface="Arial" pitchFamily="34" charset="0"/>
                <a:ea typeface="Arial" pitchFamily="34" charset="0"/>
                <a:cs typeface="Arial" pitchFamily="34" charset="0"/>
              </a:rPr>
              <a:t>  </a:t>
            </a:r>
            <a:endParaRPr kumimoji="0" lang="en-US" sz="2400" b="1" i="0" u="none" strike="noStrike" cap="none" normalizeH="0" baseline="0" dirty="0">
              <a:ln>
                <a:noFill/>
              </a:ln>
              <a:solidFill>
                <a:schemeClr val="bg1"/>
              </a:solidFill>
              <a:effectLst/>
              <a:latin typeface="Arial" pitchFamily="34" charset="0"/>
              <a:ea typeface="Arial" pitchFamily="34" charset="0"/>
              <a:cs typeface="Arial" pitchFamily="34" charset="0"/>
            </a:endParaRP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1-كيف تفسر له  ان سبب تأكل السيارات هو الامطار الحمضية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مبييا</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له ذلك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بنمذجة</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المعادلة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المناسبة ؟</a:t>
            </a:r>
            <a:endParaRPr kumimoji="0" lang="en-US" sz="2400" b="1" i="0" u="none" strike="noStrike" cap="none" normalizeH="0" baseline="0" dirty="0">
              <a:ln>
                <a:noFill/>
              </a:ln>
              <a:solidFill>
                <a:schemeClr val="bg1"/>
              </a:solidFill>
              <a:effectLst/>
              <a:latin typeface="Arial" pitchFamily="34" charset="0"/>
              <a:ea typeface="Arial" pitchFamily="34" charset="0"/>
              <a:cs typeface="Arial" pitchFamily="34" charset="0"/>
            </a:endParaRP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2-لماذا وجد العالم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امسترونغ</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ان ثقله قل ست مرات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بين الارض و القمر  مدعما ذلك بمثال عددي </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وتمثيل القوى المؤثرة عليه بسلم من اختيارك</a:t>
            </a:r>
            <a:r>
              <a:rPr kumimoji="0" lang="ar-DZ" sz="2400" b="1" i="0" u="none" strike="noStrike" cap="none" normalizeH="0" dirty="0">
                <a:ln>
                  <a:noFill/>
                </a:ln>
                <a:solidFill>
                  <a:schemeClr val="bg1"/>
                </a:solidFill>
                <a:effectLst/>
                <a:latin typeface="Arial" pitchFamily="34" charset="0"/>
                <a:ea typeface="Arial" pitchFamily="34" charset="0"/>
                <a:cs typeface="Arial" pitchFamily="34" charset="0"/>
              </a:rPr>
              <a:t> وهو واقف في حالة </a:t>
            </a:r>
            <a:r>
              <a:rPr kumimoji="0" lang="ar-DZ" sz="2400" b="1" i="0" u="none" strike="noStrike" cap="none" normalizeH="0" dirty="0" err="1">
                <a:ln>
                  <a:noFill/>
                </a:ln>
                <a:solidFill>
                  <a:schemeClr val="bg1"/>
                </a:solidFill>
                <a:effectLst/>
                <a:latin typeface="Arial" pitchFamily="34" charset="0"/>
                <a:ea typeface="Arial" pitchFamily="34" charset="0"/>
                <a:cs typeface="Arial" pitchFamily="34" charset="0"/>
              </a:rPr>
              <a:t>توازن  ؟</a:t>
            </a:r>
            <a:r>
              <a:rPr kumimoji="0" lang="ar-DZ" sz="2400" b="1" i="0" u="none" strike="noStrike" cap="none" normalizeH="0" dirty="0">
                <a:ln>
                  <a:noFill/>
                </a:ln>
                <a:solidFill>
                  <a:schemeClr val="bg1"/>
                </a:solidFill>
                <a:effectLst/>
                <a:latin typeface="Arial" pitchFamily="34" charset="0"/>
                <a:ea typeface="Arial" pitchFamily="34" charset="0"/>
                <a:cs typeface="Arial" pitchFamily="34" charset="0"/>
              </a:rPr>
              <a:t> </a:t>
            </a:r>
            <a:endParaRPr kumimoji="0" lang="en-US" sz="2400" b="1" i="0" u="none" strike="noStrike" cap="none" normalizeH="0" baseline="0" dirty="0">
              <a:ln>
                <a:noFill/>
              </a:ln>
              <a:solidFill>
                <a:schemeClr val="bg1"/>
              </a:solidFill>
              <a:effectLst/>
              <a:latin typeface="Arial" pitchFamily="34" charset="0"/>
              <a:ea typeface="Arial" pitchFamily="34" charset="0"/>
              <a:cs typeface="Arial" pitchFamily="34" charset="0"/>
            </a:endParaRP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3-</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برايك</a:t>
            </a:r>
            <a:r>
              <a:rPr kumimoji="0" lang="ar-DZ" sz="2400" b="1" i="0" u="none" strike="noStrike" cap="none" normalizeH="0" baseline="0" dirty="0">
                <a:ln>
                  <a:noFill/>
                </a:ln>
                <a:solidFill>
                  <a:schemeClr val="bg1"/>
                </a:solidFill>
                <a:effectLst/>
                <a:latin typeface="Arial" pitchFamily="34" charset="0"/>
                <a:ea typeface="Arial" pitchFamily="34" charset="0"/>
                <a:cs typeface="Arial" pitchFamily="34" charset="0"/>
              </a:rPr>
              <a:t> هل كتلة الاجسام على القمر تقل ام تزداد برر </a:t>
            </a:r>
            <a:r>
              <a:rPr kumimoji="0" lang="ar-DZ" sz="2400" b="1" i="0" u="none" strike="noStrike" cap="none" normalizeH="0" baseline="0" dirty="0" err="1">
                <a:ln>
                  <a:noFill/>
                </a:ln>
                <a:solidFill>
                  <a:schemeClr val="bg1"/>
                </a:solidFill>
                <a:effectLst/>
                <a:latin typeface="Arial" pitchFamily="34" charset="0"/>
                <a:ea typeface="Arial" pitchFamily="34" charset="0"/>
                <a:cs typeface="Arial" pitchFamily="34" charset="0"/>
              </a:rPr>
              <a:t>اجابتك ؟</a:t>
            </a:r>
            <a:endParaRPr kumimoji="0" lang="en-US" sz="2400" b="1" i="0" u="none" strike="noStrike" cap="none" normalizeH="0" baseline="0" dirty="0">
              <a:ln>
                <a:noFill/>
              </a:ln>
              <a:solidFill>
                <a:schemeClr val="bg1"/>
              </a:solidFill>
              <a:effectLst/>
              <a:latin typeface="Arial" pitchFamily="34" charset="0"/>
              <a:ea typeface="Arial" pitchFamily="34"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endParaRPr kumimoji="0" lang="en-US" sz="1400" b="1" i="0" u="none" strike="noStrike" cap="none" normalizeH="0" baseline="0" dirty="0">
              <a:ln>
                <a:noFill/>
              </a:ln>
              <a:solidFill>
                <a:schemeClr val="tx1"/>
              </a:solidFill>
              <a:effectLst/>
              <a:latin typeface="Arial" pitchFamily="34" charset="0"/>
              <a:ea typeface="Arial" pitchFamily="34" charset="0"/>
              <a:cs typeface="Arial" pitchFamily="34" charset="0"/>
            </a:endParaRPr>
          </a:p>
          <a:p>
            <a:pPr marL="0" marR="0" lvl="0" indent="0" algn="r"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a:ln>
                <a:noFill/>
              </a:ln>
              <a:solidFill>
                <a:schemeClr val="tx1"/>
              </a:solidFill>
              <a:effectLst/>
              <a:latin typeface="Arial" pitchFamily="34" charset="0"/>
              <a:ea typeface="Arial" pitchFamily="34" charset="0"/>
              <a:cs typeface="Arial" pitchFamily="34" charset="0"/>
            </a:endParaRPr>
          </a:p>
          <a:p>
            <a:pPr marL="0" marR="0" lvl="0" indent="0" algn="r"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a:ln>
                <a:noFill/>
              </a:ln>
              <a:solidFill>
                <a:schemeClr val="tx1"/>
              </a:solidFill>
              <a:effectLst/>
              <a:latin typeface="Arial" pitchFamily="34" charset="0"/>
              <a:ea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pic>
        <p:nvPicPr>
          <p:cNvPr id="6" name="Image 5" descr="20180721020150150.jpg"/>
          <p:cNvPicPr/>
          <p:nvPr/>
        </p:nvPicPr>
        <p:blipFill>
          <a:blip r:embed="rId2" cstate="email">
            <a:extLst>
              <a:ext uri="{28A0092B-C50C-407E-A947-70E740481C1C}">
                <a14:useLocalDpi xmlns:a14="http://schemas.microsoft.com/office/drawing/2010/main"/>
              </a:ext>
            </a:extLst>
          </a:blip>
          <a:srcRect/>
          <a:stretch>
            <a:fillRect/>
          </a:stretch>
        </p:blipFill>
        <p:spPr>
          <a:xfrm>
            <a:off x="-180528" y="3140968"/>
            <a:ext cx="2664296" cy="2095500"/>
          </a:xfrm>
          <a:prstGeom prst="rect">
            <a:avLst/>
          </a:prstGeom>
        </p:spPr>
      </p:pic>
      <p:pic>
        <p:nvPicPr>
          <p:cNvPr id="7" name="Image 6" descr="220px-Abandoned_Ford_Escort_in_old_quarry_-_geograph.org.uk_-_620761.jpg"/>
          <p:cNvPicPr/>
          <p:nvPr/>
        </p:nvPicPr>
        <p:blipFill>
          <a:blip r:embed="rId3" cstate="print"/>
          <a:stretch>
            <a:fillRect/>
          </a:stretch>
        </p:blipFill>
        <p:spPr>
          <a:xfrm>
            <a:off x="0" y="980728"/>
            <a:ext cx="2483769" cy="2095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000" b="1" dirty="0">
              <a:solidFill>
                <a:schemeClr val="dk1"/>
              </a:solidFill>
            </a:endParaRPr>
          </a:p>
          <a:p>
            <a:pPr algn="r"/>
            <a:endParaRPr lang="ar-DZ" sz="2000" b="1" dirty="0">
              <a:solidFill>
                <a:schemeClr val="dk1"/>
              </a:solidFill>
            </a:endParaRPr>
          </a:p>
          <a:p>
            <a:pPr algn="r"/>
            <a:endParaRPr lang="ar-DZ" sz="2000" b="1" dirty="0">
              <a:solidFill>
                <a:schemeClr val="dk1"/>
              </a:solidFill>
            </a:endParaRPr>
          </a:p>
          <a:p>
            <a:pPr algn="r"/>
            <a:r>
              <a:rPr lang="ar-DZ" sz="2000" b="1" dirty="0">
                <a:solidFill>
                  <a:schemeClr val="dk1"/>
                </a:solidFill>
              </a:rPr>
              <a:t>1-بالنسبة للفوج الاول لا يتوهج المصباح لان مسحوق كبريتات النحاس هو جسم صلب شاردي لا ينقل التيار الكهربائي</a:t>
            </a:r>
          </a:p>
          <a:p>
            <a:pPr algn="r"/>
            <a:r>
              <a:rPr lang="ar-DZ" sz="2000" b="1" dirty="0">
                <a:solidFill>
                  <a:schemeClr val="dk1"/>
                </a:solidFill>
              </a:rPr>
              <a:t>-بالنسبة للفوج الثاني  لا يتوهج المصباح لان محلول المائي السكري هو محلول جزيئي لا ينقل التيار الكهربائي</a:t>
            </a:r>
          </a:p>
          <a:p>
            <a:pPr algn="r"/>
            <a:r>
              <a:rPr lang="ar-DZ" sz="2000" b="1" dirty="0">
                <a:solidFill>
                  <a:schemeClr val="dk1"/>
                </a:solidFill>
              </a:rPr>
              <a:t>-بالنسبة للفوج الثالث يتوهج المصباح لان محلول </a:t>
            </a:r>
            <a:r>
              <a:rPr lang="ar-DZ" sz="2000" b="1" dirty="0" err="1">
                <a:solidFill>
                  <a:schemeClr val="dk1"/>
                </a:solidFill>
              </a:rPr>
              <a:t>كلور</a:t>
            </a:r>
            <a:r>
              <a:rPr lang="ar-DZ" sz="2000" b="1" dirty="0">
                <a:solidFill>
                  <a:schemeClr val="dk1"/>
                </a:solidFill>
              </a:rPr>
              <a:t> الزنك  هو محلول شاردي ينقل التيار الكهربائي</a:t>
            </a:r>
          </a:p>
          <a:p>
            <a:pPr algn="r"/>
            <a:r>
              <a:rPr lang="ar-DZ" sz="2000" b="1" dirty="0">
                <a:solidFill>
                  <a:schemeClr val="bg1"/>
                </a:solidFill>
              </a:rPr>
              <a:t>2-المعادلة الكيميائية التي تحدث هي لمحلول </a:t>
            </a:r>
            <a:r>
              <a:rPr lang="ar-DZ" sz="2000" b="1" dirty="0" err="1">
                <a:solidFill>
                  <a:schemeClr val="bg1"/>
                </a:solidFill>
              </a:rPr>
              <a:t>كلور</a:t>
            </a:r>
            <a:r>
              <a:rPr lang="ar-DZ" sz="2000" b="1" dirty="0">
                <a:solidFill>
                  <a:schemeClr val="bg1"/>
                </a:solidFill>
              </a:rPr>
              <a:t> الزنك في كل مسرى</a:t>
            </a:r>
          </a:p>
          <a:p>
            <a:pPr algn="r"/>
            <a:r>
              <a:rPr lang="fr-FR" sz="2000" b="1" dirty="0">
                <a:solidFill>
                  <a:schemeClr val="bg1"/>
                </a:solidFill>
              </a:rPr>
              <a:t>2 Cl</a:t>
            </a:r>
            <a:r>
              <a:rPr lang="fr-FR" sz="2000" b="1" baseline="30000" dirty="0">
                <a:solidFill>
                  <a:schemeClr val="bg1"/>
                </a:solidFill>
              </a:rPr>
              <a:t>-</a:t>
            </a:r>
            <a:r>
              <a:rPr lang="fr-FR" sz="2000" b="1" dirty="0">
                <a:solidFill>
                  <a:schemeClr val="bg1"/>
                </a:solidFill>
              </a:rPr>
              <a:t> </a:t>
            </a:r>
            <a:r>
              <a:rPr lang="ar-DZ" sz="2000" b="1" dirty="0">
                <a:solidFill>
                  <a:schemeClr val="bg1"/>
                </a:solidFill>
              </a:rPr>
              <a:t>          </a:t>
            </a:r>
            <a:r>
              <a:rPr lang="fr-FR" sz="2000" b="1" dirty="0">
                <a:solidFill>
                  <a:schemeClr val="bg1"/>
                </a:solidFill>
              </a:rPr>
              <a:t> Cl</a:t>
            </a:r>
            <a:r>
              <a:rPr lang="fr-FR" sz="2000" b="1" baseline="-25000" dirty="0">
                <a:solidFill>
                  <a:schemeClr val="bg1"/>
                </a:solidFill>
              </a:rPr>
              <a:t>2</a:t>
            </a:r>
            <a:r>
              <a:rPr lang="ar-DZ" sz="2000" b="1" baseline="-25000" dirty="0">
                <a:solidFill>
                  <a:schemeClr val="bg1"/>
                </a:solidFill>
              </a:rPr>
              <a:t> </a:t>
            </a:r>
            <a:r>
              <a:rPr lang="fr-FR" sz="2000" b="1" dirty="0">
                <a:solidFill>
                  <a:schemeClr val="bg1"/>
                </a:solidFill>
              </a:rPr>
              <a:t>+2e         </a:t>
            </a:r>
            <a:r>
              <a:rPr lang="ar-DZ" sz="2000" b="1" dirty="0">
                <a:solidFill>
                  <a:schemeClr val="bg1"/>
                </a:solidFill>
              </a:rPr>
              <a:t> في المصعد</a:t>
            </a:r>
            <a:r>
              <a:rPr lang="fr-FR" sz="2000" b="1" dirty="0">
                <a:solidFill>
                  <a:schemeClr val="bg1"/>
                </a:solidFill>
              </a:rPr>
              <a:t>  </a:t>
            </a:r>
            <a:r>
              <a:rPr lang="ar-DZ" sz="2000" b="1" dirty="0">
                <a:solidFill>
                  <a:schemeClr val="bg1"/>
                </a:solidFill>
              </a:rPr>
              <a:t> </a:t>
            </a:r>
          </a:p>
          <a:p>
            <a:pPr algn="r"/>
            <a:r>
              <a:rPr lang="fr-FR" sz="2000" b="1" dirty="0">
                <a:solidFill>
                  <a:schemeClr val="bg1"/>
                </a:solidFill>
              </a:rPr>
              <a:t>Zn</a:t>
            </a:r>
            <a:r>
              <a:rPr lang="fr-FR" sz="2000" b="1" baseline="30000" dirty="0">
                <a:solidFill>
                  <a:schemeClr val="bg1"/>
                </a:solidFill>
              </a:rPr>
              <a:t>2+ </a:t>
            </a:r>
            <a:r>
              <a:rPr lang="fr-FR" sz="2000" b="1" dirty="0">
                <a:solidFill>
                  <a:schemeClr val="bg1"/>
                </a:solidFill>
              </a:rPr>
              <a:t>+2e               Zn</a:t>
            </a:r>
            <a:r>
              <a:rPr lang="ar-DZ" sz="2000" b="1" baseline="-25000" dirty="0">
                <a:solidFill>
                  <a:schemeClr val="bg1"/>
                </a:solidFill>
              </a:rPr>
              <a:t>                   </a:t>
            </a:r>
            <a:r>
              <a:rPr lang="fr-FR" sz="2000" b="1" dirty="0">
                <a:solidFill>
                  <a:schemeClr val="bg1"/>
                </a:solidFill>
              </a:rPr>
              <a:t> </a:t>
            </a:r>
            <a:r>
              <a:rPr lang="ar-DZ" sz="2000" b="1" dirty="0">
                <a:solidFill>
                  <a:schemeClr val="bg1"/>
                </a:solidFill>
              </a:rPr>
              <a:t>في المهبط</a:t>
            </a:r>
            <a:endParaRPr lang="fr-FR" sz="2000" b="1" dirty="0">
              <a:solidFill>
                <a:schemeClr val="bg1"/>
              </a:solidFill>
            </a:endParaRPr>
          </a:p>
          <a:p>
            <a:pPr algn="r"/>
            <a:r>
              <a:rPr lang="fr-FR" sz="2000" b="1" dirty="0">
                <a:solidFill>
                  <a:schemeClr val="bg1"/>
                </a:solidFill>
              </a:rPr>
              <a:t>2 Cl</a:t>
            </a:r>
            <a:r>
              <a:rPr lang="fr-FR" sz="2000" b="1" baseline="30000" dirty="0">
                <a:solidFill>
                  <a:schemeClr val="bg1"/>
                </a:solidFill>
              </a:rPr>
              <a:t>-</a:t>
            </a:r>
            <a:r>
              <a:rPr lang="fr-FR" sz="2000" b="1" dirty="0">
                <a:solidFill>
                  <a:schemeClr val="bg1"/>
                </a:solidFill>
              </a:rPr>
              <a:t> (</a:t>
            </a:r>
            <a:r>
              <a:rPr lang="fr-FR" sz="2000" b="1" dirty="0" err="1">
                <a:solidFill>
                  <a:schemeClr val="bg1"/>
                </a:solidFill>
              </a:rPr>
              <a:t>aq</a:t>
            </a:r>
            <a:r>
              <a:rPr lang="fr-FR" sz="2000" b="1" dirty="0">
                <a:solidFill>
                  <a:schemeClr val="bg1"/>
                </a:solidFill>
              </a:rPr>
              <a:t>)</a:t>
            </a:r>
            <a:r>
              <a:rPr lang="ar-DZ" sz="2000" b="1" dirty="0">
                <a:solidFill>
                  <a:schemeClr val="bg1"/>
                </a:solidFill>
              </a:rPr>
              <a:t>  </a:t>
            </a:r>
            <a:r>
              <a:rPr lang="ar-DZ" sz="2000" b="1" dirty="0" err="1">
                <a:solidFill>
                  <a:schemeClr val="bg1"/>
                </a:solidFill>
              </a:rPr>
              <a:t>+</a:t>
            </a:r>
            <a:r>
              <a:rPr lang="ar-DZ" sz="2000" b="1" dirty="0">
                <a:solidFill>
                  <a:schemeClr val="bg1"/>
                </a:solidFill>
              </a:rPr>
              <a:t> </a:t>
            </a:r>
            <a:r>
              <a:rPr lang="fr-FR" sz="2000" b="1" dirty="0">
                <a:solidFill>
                  <a:schemeClr val="bg1"/>
                </a:solidFill>
              </a:rPr>
              <a:t>Zn</a:t>
            </a:r>
            <a:r>
              <a:rPr lang="fr-FR" sz="2000" b="1" baseline="30000" dirty="0">
                <a:solidFill>
                  <a:schemeClr val="bg1"/>
                </a:solidFill>
              </a:rPr>
              <a:t>2+ </a:t>
            </a:r>
            <a:r>
              <a:rPr lang="fr-FR" sz="2000" b="1" dirty="0">
                <a:solidFill>
                  <a:schemeClr val="bg1"/>
                </a:solidFill>
              </a:rPr>
              <a:t>(</a:t>
            </a:r>
            <a:r>
              <a:rPr lang="fr-FR" sz="2000" b="1" dirty="0" err="1">
                <a:solidFill>
                  <a:schemeClr val="bg1"/>
                </a:solidFill>
              </a:rPr>
              <a:t>aq</a:t>
            </a:r>
            <a:r>
              <a:rPr lang="fr-FR" sz="2000" b="1" dirty="0">
                <a:solidFill>
                  <a:schemeClr val="bg1"/>
                </a:solidFill>
              </a:rPr>
              <a:t>)</a:t>
            </a:r>
            <a:r>
              <a:rPr lang="fr-FR" sz="2000" b="1" baseline="30000" dirty="0">
                <a:solidFill>
                  <a:schemeClr val="bg1"/>
                </a:solidFill>
              </a:rPr>
              <a:t>                </a:t>
            </a:r>
            <a:r>
              <a:rPr lang="fr-FR" sz="2000" b="1" dirty="0">
                <a:solidFill>
                  <a:schemeClr val="bg1"/>
                </a:solidFill>
              </a:rPr>
              <a:t>Cl</a:t>
            </a:r>
            <a:r>
              <a:rPr lang="fr-FR" sz="2000" b="1" baseline="-25000" dirty="0">
                <a:solidFill>
                  <a:schemeClr val="bg1"/>
                </a:solidFill>
              </a:rPr>
              <a:t>2</a:t>
            </a:r>
            <a:r>
              <a:rPr lang="fr-FR" sz="2000" b="1" dirty="0">
                <a:solidFill>
                  <a:schemeClr val="bg1"/>
                </a:solidFill>
              </a:rPr>
              <a:t> (g)   </a:t>
            </a:r>
            <a:r>
              <a:rPr lang="ar-DZ" sz="2000" b="1" dirty="0" err="1">
                <a:solidFill>
                  <a:schemeClr val="bg1"/>
                </a:solidFill>
              </a:rPr>
              <a:t>+</a:t>
            </a:r>
            <a:r>
              <a:rPr lang="fr-FR" sz="2000" b="1" dirty="0">
                <a:solidFill>
                  <a:schemeClr val="bg1"/>
                </a:solidFill>
              </a:rPr>
              <a:t>   Zn</a:t>
            </a:r>
            <a:r>
              <a:rPr lang="ar-DZ" sz="2000" b="1" baseline="-25000" dirty="0">
                <a:solidFill>
                  <a:schemeClr val="bg1"/>
                </a:solidFill>
              </a:rPr>
              <a:t> </a:t>
            </a:r>
            <a:r>
              <a:rPr lang="fr-FR" sz="2000" b="1" dirty="0">
                <a:solidFill>
                  <a:schemeClr val="bg1"/>
                </a:solidFill>
              </a:rPr>
              <a:t>(s)</a:t>
            </a:r>
            <a:r>
              <a:rPr lang="ar-DZ" sz="2000" b="1" dirty="0">
                <a:solidFill>
                  <a:schemeClr val="bg1"/>
                </a:solidFill>
              </a:rPr>
              <a:t> المعادلة الاجمالية     </a:t>
            </a:r>
            <a:r>
              <a:rPr lang="fr-FR" sz="2000" b="1" dirty="0">
                <a:solidFill>
                  <a:schemeClr val="bg1"/>
                </a:solidFill>
              </a:rPr>
              <a:t> </a:t>
            </a:r>
            <a:endParaRPr lang="ar-DZ" sz="2000" b="1" dirty="0">
              <a:solidFill>
                <a:schemeClr val="bg1"/>
              </a:solidFill>
            </a:endParaRPr>
          </a:p>
          <a:p>
            <a:pPr algn="r"/>
            <a:r>
              <a:rPr lang="ar-DZ" sz="2000" b="1" dirty="0">
                <a:solidFill>
                  <a:schemeClr val="dk1"/>
                </a:solidFill>
              </a:rPr>
              <a:t>3-عند اضافة </a:t>
            </a:r>
            <a:r>
              <a:rPr lang="ar-DZ" sz="2000" b="1" dirty="0" err="1">
                <a:solidFill>
                  <a:schemeClr val="dk1"/>
                </a:solidFill>
              </a:rPr>
              <a:t>المء</a:t>
            </a:r>
            <a:r>
              <a:rPr lang="ar-DZ" sz="2000" b="1" dirty="0">
                <a:solidFill>
                  <a:schemeClr val="dk1"/>
                </a:solidFill>
              </a:rPr>
              <a:t> المقطر لمسحوق كبريتات النحاس فان المصباح يتوهج </a:t>
            </a:r>
            <a:r>
              <a:rPr lang="ar-DZ" sz="2000" b="1" dirty="0" err="1">
                <a:solidFill>
                  <a:schemeClr val="dk1"/>
                </a:solidFill>
              </a:rPr>
              <a:t>لانه</a:t>
            </a:r>
            <a:r>
              <a:rPr lang="ar-DZ" sz="2000" b="1" dirty="0">
                <a:solidFill>
                  <a:schemeClr val="dk1"/>
                </a:solidFill>
              </a:rPr>
              <a:t> يصبح محلولا </a:t>
            </a:r>
            <a:r>
              <a:rPr lang="ar-DZ" sz="2000" b="1" dirty="0" err="1">
                <a:solidFill>
                  <a:schemeClr val="dk1"/>
                </a:solidFill>
              </a:rPr>
              <a:t>شارديا</a:t>
            </a:r>
            <a:r>
              <a:rPr lang="ar-DZ" sz="2000" b="1" dirty="0">
                <a:solidFill>
                  <a:schemeClr val="dk1"/>
                </a:solidFill>
              </a:rPr>
              <a:t> </a:t>
            </a:r>
          </a:p>
          <a:p>
            <a:pPr algn="r"/>
            <a:r>
              <a:rPr lang="ar-DZ" sz="2000" b="1" dirty="0">
                <a:solidFill>
                  <a:schemeClr val="bg1"/>
                </a:solidFill>
              </a:rPr>
              <a:t>4-يتم الكشف عن </a:t>
            </a:r>
            <a:r>
              <a:rPr lang="ar-DZ" sz="2000" b="1" dirty="0" err="1">
                <a:solidFill>
                  <a:schemeClr val="bg1"/>
                </a:solidFill>
              </a:rPr>
              <a:t>شوارد</a:t>
            </a:r>
            <a:r>
              <a:rPr lang="ar-DZ" sz="2000" b="1" dirty="0">
                <a:solidFill>
                  <a:schemeClr val="bg1"/>
                </a:solidFill>
              </a:rPr>
              <a:t> المحلول الجديد </a:t>
            </a:r>
            <a:r>
              <a:rPr lang="ar-DZ" sz="2000" b="1" dirty="0" err="1">
                <a:solidFill>
                  <a:schemeClr val="bg1"/>
                </a:solidFill>
              </a:rPr>
              <a:t>كمايلي</a:t>
            </a:r>
            <a:endParaRPr lang="ar-DZ" sz="2000" b="1" dirty="0">
              <a:solidFill>
                <a:schemeClr val="bg1"/>
              </a:solidFill>
            </a:endParaRPr>
          </a:p>
          <a:p>
            <a:pPr algn="r"/>
            <a:r>
              <a:rPr lang="ar-DZ" sz="2000" b="1" dirty="0">
                <a:solidFill>
                  <a:schemeClr val="bg1"/>
                </a:solidFill>
              </a:rPr>
              <a:t>نقسم المحلول الى قسمين ونضع كل كمية في انبوب اختيار </a:t>
            </a:r>
          </a:p>
          <a:p>
            <a:pPr algn="r"/>
            <a:r>
              <a:rPr lang="ar-DZ" sz="2000" b="1" dirty="0">
                <a:solidFill>
                  <a:schemeClr val="bg1"/>
                </a:solidFill>
              </a:rPr>
              <a:t>-نكشف عن </a:t>
            </a:r>
            <a:r>
              <a:rPr lang="ar-DZ" sz="2000" b="1" dirty="0" err="1">
                <a:solidFill>
                  <a:schemeClr val="bg1"/>
                </a:solidFill>
              </a:rPr>
              <a:t>شوارد</a:t>
            </a:r>
            <a:r>
              <a:rPr lang="ar-DZ" sz="2000" b="1" dirty="0">
                <a:solidFill>
                  <a:schemeClr val="bg1"/>
                </a:solidFill>
              </a:rPr>
              <a:t> النحاس </a:t>
            </a:r>
            <a:r>
              <a:rPr lang="ar-DZ" sz="2000" b="1" dirty="0" err="1">
                <a:solidFill>
                  <a:schemeClr val="bg1"/>
                </a:solidFill>
              </a:rPr>
              <a:t>باضافة</a:t>
            </a:r>
            <a:r>
              <a:rPr lang="ar-DZ" sz="2000" b="1" dirty="0">
                <a:solidFill>
                  <a:schemeClr val="bg1"/>
                </a:solidFill>
              </a:rPr>
              <a:t>  قطرات من محلول </a:t>
            </a:r>
            <a:r>
              <a:rPr lang="ar-DZ" sz="2000" b="1" dirty="0" err="1">
                <a:solidFill>
                  <a:schemeClr val="bg1"/>
                </a:solidFill>
              </a:rPr>
              <a:t>هيدروكسيد</a:t>
            </a:r>
            <a:r>
              <a:rPr lang="ar-DZ" sz="2000" b="1" dirty="0">
                <a:solidFill>
                  <a:schemeClr val="bg1"/>
                </a:solidFill>
              </a:rPr>
              <a:t> الصوديوم   في الانبوب  الاول فنحصل على راسب   ازرق </a:t>
            </a:r>
          </a:p>
          <a:p>
            <a:pPr algn="r"/>
            <a:r>
              <a:rPr lang="ar-DZ" sz="2000" b="1" dirty="0">
                <a:solidFill>
                  <a:schemeClr val="bg1"/>
                </a:solidFill>
              </a:rPr>
              <a:t>نكشف عن </a:t>
            </a:r>
            <a:r>
              <a:rPr lang="ar-DZ" sz="2000" b="1" dirty="0" err="1">
                <a:solidFill>
                  <a:schemeClr val="bg1"/>
                </a:solidFill>
              </a:rPr>
              <a:t>شوارد</a:t>
            </a:r>
            <a:r>
              <a:rPr lang="ar-DZ" sz="2000" b="1" dirty="0">
                <a:solidFill>
                  <a:schemeClr val="bg1"/>
                </a:solidFill>
              </a:rPr>
              <a:t> الكبريتات   </a:t>
            </a:r>
            <a:r>
              <a:rPr lang="ar-DZ" sz="2000" b="1" dirty="0" err="1">
                <a:solidFill>
                  <a:schemeClr val="bg1"/>
                </a:solidFill>
              </a:rPr>
              <a:t>باضافة</a:t>
            </a:r>
            <a:r>
              <a:rPr lang="ar-DZ" sz="2000" b="1" dirty="0">
                <a:solidFill>
                  <a:schemeClr val="bg1"/>
                </a:solidFill>
              </a:rPr>
              <a:t>  قطرات من محلول </a:t>
            </a:r>
            <a:r>
              <a:rPr lang="ar-DZ" sz="2000" b="1" dirty="0" err="1">
                <a:solidFill>
                  <a:schemeClr val="bg1"/>
                </a:solidFill>
              </a:rPr>
              <a:t>كلور</a:t>
            </a:r>
            <a:r>
              <a:rPr lang="ar-DZ" sz="2000" b="1" dirty="0">
                <a:solidFill>
                  <a:schemeClr val="bg1"/>
                </a:solidFill>
              </a:rPr>
              <a:t> </a:t>
            </a:r>
            <a:r>
              <a:rPr lang="ar-DZ" sz="2000" b="1" dirty="0" err="1">
                <a:solidFill>
                  <a:schemeClr val="bg1"/>
                </a:solidFill>
              </a:rPr>
              <a:t>الباريوم</a:t>
            </a:r>
            <a:r>
              <a:rPr lang="ar-DZ" sz="2000" b="1" dirty="0">
                <a:solidFill>
                  <a:schemeClr val="bg1"/>
                </a:solidFill>
              </a:rPr>
              <a:t> في الانبوب الثاني فنحصل على راسب ابيض</a:t>
            </a:r>
          </a:p>
          <a:p>
            <a:pPr algn="r"/>
            <a:endParaRPr lang="ar-DZ" sz="2400" b="1" dirty="0">
              <a:solidFill>
                <a:schemeClr val="dk1"/>
              </a:solidFill>
            </a:endParaRPr>
          </a:p>
          <a:p>
            <a:pPr algn="r"/>
            <a:r>
              <a:rPr lang="ar-DZ" sz="2400" b="1" dirty="0">
                <a:solidFill>
                  <a:schemeClr val="dk1"/>
                </a:solidFill>
              </a:rPr>
              <a:t>  </a:t>
            </a:r>
          </a:p>
          <a:p>
            <a:pPr algn="r"/>
            <a:endParaRPr lang="ar-DZ" sz="2400" b="1" dirty="0">
              <a:solidFill>
                <a:schemeClr val="dk1"/>
              </a:solidFill>
            </a:endParaRPr>
          </a:p>
          <a:p>
            <a:pPr algn="r"/>
            <a:r>
              <a:rPr lang="ar-DZ" sz="2400" b="1" dirty="0">
                <a:solidFill>
                  <a:schemeClr val="dk1"/>
                </a:solidFill>
              </a:rPr>
              <a:t>  </a:t>
            </a:r>
          </a:p>
          <a:p>
            <a:pPr algn="r"/>
            <a:endParaRPr lang="ar-DZ" sz="2400" b="1" dirty="0">
              <a:solidFill>
                <a:schemeClr val="bg1"/>
              </a:solidFill>
            </a:endParaRPr>
          </a:p>
        </p:txBody>
      </p:sp>
      <p:sp>
        <p:nvSpPr>
          <p:cNvPr id="5" name="Rectangle à coins arrondis 4"/>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cxnSp>
        <p:nvCxnSpPr>
          <p:cNvPr id="8" name="Connecteur droit avec flèche 7"/>
          <p:cNvCxnSpPr/>
          <p:nvPr/>
        </p:nvCxnSpPr>
        <p:spPr>
          <a:xfrm>
            <a:off x="5796136" y="285293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6012160" y="321297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4572000" y="3501008"/>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a:t>
            </a:r>
            <a:r>
              <a:rPr lang="ar-DZ" sz="2800" b="1" dirty="0" err="1">
                <a:solidFill>
                  <a:schemeClr val="bg1"/>
                </a:solidFill>
              </a:rPr>
              <a:t>الثاني </a:t>
            </a:r>
            <a:r>
              <a:rPr lang="ar-DZ" sz="2800" b="1" dirty="0">
                <a:solidFill>
                  <a:schemeClr val="bg1"/>
                </a:solidFill>
              </a:rPr>
              <a:t>(</a:t>
            </a:r>
            <a:r>
              <a:rPr lang="ar-DZ" sz="2800" b="1" dirty="0" err="1">
                <a:solidFill>
                  <a:schemeClr val="bg1"/>
                </a:solidFill>
              </a:rPr>
              <a:t>6نقاط)</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1- </a:t>
            </a:r>
            <a:r>
              <a:rPr lang="ar-DZ" sz="2000" b="1" dirty="0">
                <a:solidFill>
                  <a:schemeClr val="bg1"/>
                </a:solidFill>
              </a:rPr>
              <a:t>في حالة الفوج الاول  عند لمس الانبوب</a:t>
            </a:r>
          </a:p>
          <a:p>
            <a:pPr algn="r"/>
            <a:r>
              <a:rPr lang="ar-DZ" sz="2000" b="1" dirty="0">
                <a:solidFill>
                  <a:schemeClr val="bg1"/>
                </a:solidFill>
              </a:rPr>
              <a:t> المشحون بالموجب   طرف العمود النحاسي الملامس</a:t>
            </a:r>
          </a:p>
          <a:p>
            <a:pPr algn="r"/>
            <a:r>
              <a:rPr lang="ar-DZ" sz="2000" b="1" dirty="0">
                <a:solidFill>
                  <a:schemeClr val="bg1"/>
                </a:solidFill>
              </a:rPr>
              <a:t> </a:t>
            </a:r>
            <a:r>
              <a:rPr lang="ar-DZ" sz="2000" b="1" dirty="0" err="1">
                <a:solidFill>
                  <a:schemeClr val="bg1"/>
                </a:solidFill>
              </a:rPr>
              <a:t>للكرية</a:t>
            </a:r>
            <a:r>
              <a:rPr lang="ar-DZ" sz="2000" b="1" dirty="0">
                <a:solidFill>
                  <a:schemeClr val="bg1"/>
                </a:solidFill>
              </a:rPr>
              <a:t> في الطرف الثاني فان الشحنات السالبة تنتقل</a:t>
            </a:r>
          </a:p>
          <a:p>
            <a:pPr algn="r"/>
            <a:r>
              <a:rPr lang="ar-DZ" sz="2000" b="1" dirty="0">
                <a:solidFill>
                  <a:schemeClr val="bg1"/>
                </a:solidFill>
              </a:rPr>
              <a:t> عبر العمود  من </a:t>
            </a:r>
            <a:r>
              <a:rPr lang="ar-DZ" sz="2000" b="1" dirty="0" err="1">
                <a:solidFill>
                  <a:schemeClr val="bg1"/>
                </a:solidFill>
              </a:rPr>
              <a:t>الكرية</a:t>
            </a:r>
            <a:r>
              <a:rPr lang="ar-DZ" sz="2000" b="1" dirty="0">
                <a:solidFill>
                  <a:schemeClr val="bg1"/>
                </a:solidFill>
              </a:rPr>
              <a:t> الى الانبوب ومنه تصبح</a:t>
            </a:r>
          </a:p>
          <a:p>
            <a:pPr algn="r"/>
            <a:r>
              <a:rPr lang="ar-DZ" sz="2000" b="1" dirty="0">
                <a:solidFill>
                  <a:schemeClr val="bg1"/>
                </a:solidFill>
              </a:rPr>
              <a:t> العمود  و </a:t>
            </a:r>
            <a:r>
              <a:rPr lang="ar-DZ" sz="2000" b="1" dirty="0" err="1">
                <a:solidFill>
                  <a:schemeClr val="bg1"/>
                </a:solidFill>
              </a:rPr>
              <a:t>الكرية</a:t>
            </a:r>
            <a:r>
              <a:rPr lang="ar-DZ" sz="2000" b="1" dirty="0">
                <a:solidFill>
                  <a:schemeClr val="bg1"/>
                </a:solidFill>
              </a:rPr>
              <a:t> مشحونان </a:t>
            </a:r>
            <a:r>
              <a:rPr lang="ar-DZ" sz="2000" b="1" dirty="0" err="1">
                <a:solidFill>
                  <a:schemeClr val="bg1"/>
                </a:solidFill>
              </a:rPr>
              <a:t>بالموجب </a:t>
            </a:r>
            <a:r>
              <a:rPr lang="ar-DZ" sz="2000" b="1" dirty="0">
                <a:solidFill>
                  <a:schemeClr val="bg1"/>
                </a:solidFill>
              </a:rPr>
              <a:t>(نفس </a:t>
            </a:r>
            <a:r>
              <a:rPr lang="ar-DZ" sz="2000" b="1" dirty="0" err="1">
                <a:solidFill>
                  <a:schemeClr val="bg1"/>
                </a:solidFill>
              </a:rPr>
              <a:t>الشحنة )</a:t>
            </a:r>
            <a:r>
              <a:rPr lang="ar-DZ" sz="2000" b="1" dirty="0">
                <a:solidFill>
                  <a:schemeClr val="bg1"/>
                </a:solidFill>
              </a:rPr>
              <a:t> </a:t>
            </a:r>
          </a:p>
          <a:p>
            <a:pPr algn="r"/>
            <a:r>
              <a:rPr lang="ar-DZ" sz="2000" b="1" dirty="0">
                <a:solidFill>
                  <a:schemeClr val="bg1"/>
                </a:solidFill>
              </a:rPr>
              <a:t>فيحدث بينهما تنافر</a:t>
            </a:r>
          </a:p>
          <a:p>
            <a:pPr algn="r"/>
            <a:r>
              <a:rPr lang="ar-DZ" sz="2000" b="1" dirty="0">
                <a:solidFill>
                  <a:schemeClr val="bg1"/>
                </a:solidFill>
              </a:rPr>
              <a:t>-في حالة الفوج الاول عند تقريب الانبوب المشحون </a:t>
            </a:r>
          </a:p>
          <a:p>
            <a:pPr algn="r"/>
            <a:r>
              <a:rPr lang="ar-DZ" sz="2000" b="1" dirty="0">
                <a:solidFill>
                  <a:schemeClr val="bg1"/>
                </a:solidFill>
              </a:rPr>
              <a:t>بالسالب نحو </a:t>
            </a:r>
            <a:r>
              <a:rPr lang="ar-DZ" sz="2000" b="1" dirty="0" err="1">
                <a:solidFill>
                  <a:schemeClr val="bg1"/>
                </a:solidFill>
              </a:rPr>
              <a:t>الكرية</a:t>
            </a:r>
            <a:r>
              <a:rPr lang="ar-DZ" sz="2000" b="1" dirty="0">
                <a:solidFill>
                  <a:schemeClr val="bg1"/>
                </a:solidFill>
              </a:rPr>
              <a:t> غير المشحونة فان الشحنات </a:t>
            </a:r>
          </a:p>
          <a:p>
            <a:pPr algn="r"/>
            <a:r>
              <a:rPr lang="ar-DZ" sz="2000" b="1" dirty="0">
                <a:solidFill>
                  <a:schemeClr val="bg1"/>
                </a:solidFill>
              </a:rPr>
              <a:t>السالبة  داخل </a:t>
            </a:r>
            <a:r>
              <a:rPr lang="ar-DZ" sz="2000" b="1" dirty="0" err="1">
                <a:solidFill>
                  <a:schemeClr val="bg1"/>
                </a:solidFill>
              </a:rPr>
              <a:t>الكرية</a:t>
            </a:r>
            <a:r>
              <a:rPr lang="ar-DZ" sz="2000" b="1" dirty="0">
                <a:solidFill>
                  <a:schemeClr val="bg1"/>
                </a:solidFill>
              </a:rPr>
              <a:t> </a:t>
            </a:r>
            <a:r>
              <a:rPr lang="ar-DZ" sz="2000" b="1" dirty="0" err="1">
                <a:solidFill>
                  <a:schemeClr val="bg1"/>
                </a:solidFill>
              </a:rPr>
              <a:t>تتنتقل</a:t>
            </a:r>
            <a:r>
              <a:rPr lang="ar-DZ" sz="2000" b="1" dirty="0">
                <a:solidFill>
                  <a:schemeClr val="bg1"/>
                </a:solidFill>
              </a:rPr>
              <a:t> نحو الطرف </a:t>
            </a:r>
          </a:p>
          <a:p>
            <a:pPr algn="r"/>
            <a:r>
              <a:rPr lang="ar-DZ" sz="2000" b="1" dirty="0" err="1">
                <a:solidFill>
                  <a:schemeClr val="bg1"/>
                </a:solidFill>
              </a:rPr>
              <a:t>الاخر </a:t>
            </a:r>
            <a:r>
              <a:rPr lang="ar-DZ" sz="2000" b="1" dirty="0">
                <a:solidFill>
                  <a:schemeClr val="bg1"/>
                </a:solidFill>
              </a:rPr>
              <a:t>(المعاكس) </a:t>
            </a:r>
            <a:r>
              <a:rPr lang="ar-DZ" sz="2000" b="1" dirty="0" err="1">
                <a:solidFill>
                  <a:schemeClr val="bg1"/>
                </a:solidFill>
              </a:rPr>
              <a:t>للانبوب</a:t>
            </a:r>
            <a:r>
              <a:rPr lang="ar-DZ" sz="2000" b="1" dirty="0">
                <a:solidFill>
                  <a:schemeClr val="bg1"/>
                </a:solidFill>
              </a:rPr>
              <a:t> ومنه يبقى الطرف</a:t>
            </a:r>
          </a:p>
          <a:p>
            <a:pPr algn="r"/>
            <a:r>
              <a:rPr lang="ar-DZ" sz="2000" b="1" dirty="0">
                <a:solidFill>
                  <a:schemeClr val="bg1"/>
                </a:solidFill>
              </a:rPr>
              <a:t> المقابل </a:t>
            </a:r>
            <a:r>
              <a:rPr lang="ar-DZ" sz="2000" b="1" dirty="0" err="1">
                <a:solidFill>
                  <a:schemeClr val="bg1"/>
                </a:solidFill>
              </a:rPr>
              <a:t>للانبوب</a:t>
            </a:r>
            <a:r>
              <a:rPr lang="ar-DZ" sz="2000" b="1" dirty="0">
                <a:solidFill>
                  <a:schemeClr val="bg1"/>
                </a:solidFill>
              </a:rPr>
              <a:t> مشحون بالموجب فيحدث تجاذب بينهما</a:t>
            </a:r>
          </a:p>
          <a:p>
            <a:pPr algn="r"/>
            <a:r>
              <a:rPr lang="ar-DZ" sz="2000" b="1" dirty="0">
                <a:solidFill>
                  <a:schemeClr val="bg1"/>
                </a:solidFill>
              </a:rPr>
              <a:t>2-في حالة الفوج الاول نوع التكهرب بالنسبة </a:t>
            </a:r>
            <a:r>
              <a:rPr lang="ar-DZ" sz="2000" b="1" dirty="0" err="1">
                <a:solidFill>
                  <a:schemeClr val="bg1"/>
                </a:solidFill>
              </a:rPr>
              <a:t>للانبوب</a:t>
            </a:r>
            <a:r>
              <a:rPr lang="ar-DZ" sz="2000" b="1" dirty="0">
                <a:solidFill>
                  <a:schemeClr val="bg1"/>
                </a:solidFill>
              </a:rPr>
              <a:t> هو تكهرب </a:t>
            </a:r>
          </a:p>
          <a:p>
            <a:pPr algn="r"/>
            <a:r>
              <a:rPr lang="ar-DZ" sz="2000" b="1" dirty="0" err="1">
                <a:solidFill>
                  <a:schemeClr val="bg1"/>
                </a:solidFill>
              </a:rPr>
              <a:t>بالدلك</a:t>
            </a:r>
            <a:r>
              <a:rPr lang="ar-DZ" sz="2000" b="1" dirty="0">
                <a:solidFill>
                  <a:schemeClr val="bg1"/>
                </a:solidFill>
              </a:rPr>
              <a:t> وبالنسبة </a:t>
            </a:r>
            <a:r>
              <a:rPr lang="ar-DZ" sz="2000" b="1" dirty="0" err="1">
                <a:solidFill>
                  <a:schemeClr val="bg1"/>
                </a:solidFill>
              </a:rPr>
              <a:t>للكرية</a:t>
            </a:r>
            <a:r>
              <a:rPr lang="ar-DZ" sz="2000" b="1" dirty="0">
                <a:solidFill>
                  <a:schemeClr val="bg1"/>
                </a:solidFill>
              </a:rPr>
              <a:t> تكهرب باللمس</a:t>
            </a:r>
          </a:p>
          <a:p>
            <a:pPr algn="r"/>
            <a:r>
              <a:rPr lang="ar-DZ" sz="2000" b="1" dirty="0">
                <a:solidFill>
                  <a:schemeClr val="bg1"/>
                </a:solidFill>
              </a:rPr>
              <a:t>في حالة الفوج الثاني نوع التكهرب بالنسبة </a:t>
            </a:r>
            <a:r>
              <a:rPr lang="ar-DZ" sz="2000" b="1" dirty="0" err="1">
                <a:solidFill>
                  <a:schemeClr val="bg1"/>
                </a:solidFill>
              </a:rPr>
              <a:t>لانبوب</a:t>
            </a:r>
            <a:r>
              <a:rPr lang="ar-DZ" sz="2000" b="1" dirty="0">
                <a:solidFill>
                  <a:schemeClr val="bg1"/>
                </a:solidFill>
              </a:rPr>
              <a:t> تكهرب </a:t>
            </a:r>
            <a:r>
              <a:rPr lang="ar-DZ" sz="2000" b="1" dirty="0" err="1">
                <a:solidFill>
                  <a:schemeClr val="bg1"/>
                </a:solidFill>
              </a:rPr>
              <a:t>بالدلك</a:t>
            </a:r>
            <a:r>
              <a:rPr lang="ar-DZ" sz="2000" b="1" dirty="0">
                <a:solidFill>
                  <a:schemeClr val="bg1"/>
                </a:solidFill>
              </a:rPr>
              <a:t> </a:t>
            </a:r>
          </a:p>
          <a:p>
            <a:pPr algn="r"/>
            <a:r>
              <a:rPr lang="ar-DZ" sz="2000" b="1" dirty="0">
                <a:solidFill>
                  <a:schemeClr val="bg1"/>
                </a:solidFill>
              </a:rPr>
              <a:t>اما بالنسبة </a:t>
            </a:r>
            <a:r>
              <a:rPr lang="ar-DZ" sz="2000" b="1" dirty="0" err="1">
                <a:solidFill>
                  <a:schemeClr val="bg1"/>
                </a:solidFill>
              </a:rPr>
              <a:t>للكرية</a:t>
            </a:r>
            <a:r>
              <a:rPr lang="ar-DZ" sz="2000" b="1" dirty="0">
                <a:solidFill>
                  <a:schemeClr val="bg1"/>
                </a:solidFill>
              </a:rPr>
              <a:t> تكهرب </a:t>
            </a:r>
            <a:r>
              <a:rPr lang="ar-DZ" sz="2000" b="1" dirty="0" err="1">
                <a:solidFill>
                  <a:schemeClr val="bg1"/>
                </a:solidFill>
              </a:rPr>
              <a:t>بالتاثير</a:t>
            </a:r>
            <a:endParaRPr lang="ar-DZ" sz="2000" b="1" dirty="0">
              <a:solidFill>
                <a:schemeClr val="bg1"/>
              </a:solidFill>
            </a:endParaRPr>
          </a:p>
          <a:p>
            <a:pPr algn="r"/>
            <a:r>
              <a:rPr lang="ar-DZ" sz="2000" b="1" dirty="0">
                <a:solidFill>
                  <a:schemeClr val="bg1"/>
                </a:solidFill>
              </a:rPr>
              <a:t>3-عند استعمال حامل من النحاس فان </a:t>
            </a:r>
            <a:r>
              <a:rPr lang="ar-DZ" sz="2000" b="1" dirty="0" err="1">
                <a:solidFill>
                  <a:schemeClr val="bg1"/>
                </a:solidFill>
              </a:rPr>
              <a:t>الكرية</a:t>
            </a:r>
            <a:r>
              <a:rPr lang="ar-DZ" sz="2000" b="1" dirty="0">
                <a:solidFill>
                  <a:schemeClr val="bg1"/>
                </a:solidFill>
              </a:rPr>
              <a:t> لا يحدث لها </a:t>
            </a:r>
            <a:r>
              <a:rPr lang="ar-DZ" sz="2000" b="1" dirty="0" err="1">
                <a:solidFill>
                  <a:schemeClr val="bg1"/>
                </a:solidFill>
              </a:rPr>
              <a:t>شيئ</a:t>
            </a:r>
            <a:r>
              <a:rPr lang="ar-DZ" sz="2000" b="1" dirty="0">
                <a:solidFill>
                  <a:schemeClr val="bg1"/>
                </a:solidFill>
              </a:rPr>
              <a:t> </a:t>
            </a:r>
          </a:p>
          <a:p>
            <a:pPr algn="r"/>
            <a:r>
              <a:rPr lang="ar-DZ" sz="2000" b="1" dirty="0">
                <a:solidFill>
                  <a:schemeClr val="bg1"/>
                </a:solidFill>
              </a:rPr>
              <a:t>لان الشحنات السالبة </a:t>
            </a:r>
            <a:r>
              <a:rPr lang="ar-DZ" sz="2000" b="1" dirty="0" err="1">
                <a:solidFill>
                  <a:schemeClr val="bg1"/>
                </a:solidFill>
              </a:rPr>
              <a:t>للارض</a:t>
            </a:r>
            <a:r>
              <a:rPr lang="ar-DZ" sz="2000" b="1" dirty="0">
                <a:solidFill>
                  <a:schemeClr val="bg1"/>
                </a:solidFill>
              </a:rPr>
              <a:t> تنتقل عبر </a:t>
            </a:r>
            <a:r>
              <a:rPr lang="ar-DZ" sz="2000" b="1" dirty="0" err="1">
                <a:solidFill>
                  <a:schemeClr val="bg1"/>
                </a:solidFill>
              </a:rPr>
              <a:t>التصيل</a:t>
            </a:r>
            <a:r>
              <a:rPr lang="ar-DZ" sz="2000" b="1" dirty="0">
                <a:solidFill>
                  <a:schemeClr val="bg1"/>
                </a:solidFill>
              </a:rPr>
              <a:t> ثم الحامل وتتعادل </a:t>
            </a:r>
          </a:p>
          <a:p>
            <a:pPr algn="r"/>
            <a:r>
              <a:rPr lang="ar-DZ" sz="2000" b="1" dirty="0">
                <a:solidFill>
                  <a:schemeClr val="bg1"/>
                </a:solidFill>
              </a:rPr>
              <a:t>مع الشحنات الموجبة الزائدة  </a:t>
            </a:r>
          </a:p>
          <a:p>
            <a:pPr algn="r"/>
            <a:endParaRPr lang="ar-DZ" sz="2000" b="1" dirty="0">
              <a:solidFill>
                <a:schemeClr val="bg1"/>
              </a:solidFill>
            </a:endParaRPr>
          </a:p>
          <a:p>
            <a:pPr algn="r"/>
            <a:endParaRPr lang="fr-FR" sz="2000" b="1" dirty="0">
              <a:solidFill>
                <a:schemeClr val="bg1"/>
              </a:solidFill>
            </a:endParaRPr>
          </a:p>
          <a:p>
            <a:pPr algn="r"/>
            <a:r>
              <a:rPr lang="ar-DZ" sz="2000" b="1" dirty="0">
                <a:solidFill>
                  <a:schemeClr val="bg1"/>
                </a:solidFill>
              </a:rPr>
              <a:t> </a:t>
            </a:r>
          </a:p>
          <a:p>
            <a:pPr algn="r"/>
            <a:r>
              <a:rPr lang="ar-DZ" sz="2400" b="1" dirty="0">
                <a:solidFill>
                  <a:schemeClr val="bg1"/>
                </a:solidFill>
              </a:rPr>
              <a:t>  </a:t>
            </a:r>
          </a:p>
        </p:txBody>
      </p:sp>
      <p:sp>
        <p:nvSpPr>
          <p:cNvPr id="12" name="Rectangle à coins arrondis 11"/>
          <p:cNvSpPr/>
          <p:nvPr/>
        </p:nvSpPr>
        <p:spPr>
          <a:xfrm rot="1153906">
            <a:off x="266809" y="1378465"/>
            <a:ext cx="115212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à coins arrondis 12"/>
          <p:cNvSpPr/>
          <p:nvPr/>
        </p:nvSpPr>
        <p:spPr>
          <a:xfrm>
            <a:off x="1403648" y="1556792"/>
            <a:ext cx="115212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à coins arrondis 13"/>
          <p:cNvSpPr/>
          <p:nvPr/>
        </p:nvSpPr>
        <p:spPr>
          <a:xfrm>
            <a:off x="1619672" y="1844824"/>
            <a:ext cx="691460" cy="5688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p:cNvSpPr/>
          <p:nvPr/>
        </p:nvSpPr>
        <p:spPr>
          <a:xfrm>
            <a:off x="2915816" y="1556792"/>
            <a:ext cx="64807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a:off x="2843808" y="836712"/>
            <a:ext cx="372395" cy="78335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Ellipse 20"/>
          <p:cNvSpPr/>
          <p:nvPr/>
        </p:nvSpPr>
        <p:spPr>
          <a:xfrm>
            <a:off x="467544" y="126876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2" name="Ellipse 21"/>
          <p:cNvSpPr/>
          <p:nvPr/>
        </p:nvSpPr>
        <p:spPr>
          <a:xfrm>
            <a:off x="755576" y="141277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3" name="Ellipse 22"/>
          <p:cNvSpPr/>
          <p:nvPr/>
        </p:nvSpPr>
        <p:spPr>
          <a:xfrm>
            <a:off x="1043608" y="1484784"/>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4" name="Ellipse 23"/>
          <p:cNvSpPr/>
          <p:nvPr/>
        </p:nvSpPr>
        <p:spPr>
          <a:xfrm>
            <a:off x="1403648" y="155679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5" name="Ellipse 24"/>
          <p:cNvSpPr/>
          <p:nvPr/>
        </p:nvSpPr>
        <p:spPr>
          <a:xfrm>
            <a:off x="1691680" y="155679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6" name="Ellipse 25"/>
          <p:cNvSpPr/>
          <p:nvPr/>
        </p:nvSpPr>
        <p:spPr>
          <a:xfrm>
            <a:off x="2267744" y="155679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7" name="Ellipse 26"/>
          <p:cNvSpPr/>
          <p:nvPr/>
        </p:nvSpPr>
        <p:spPr>
          <a:xfrm>
            <a:off x="3059832" y="155679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8" name="Ellipse 27"/>
          <p:cNvSpPr/>
          <p:nvPr/>
        </p:nvSpPr>
        <p:spPr>
          <a:xfrm>
            <a:off x="2987824" y="177281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29" name="Ellipse 28"/>
          <p:cNvSpPr/>
          <p:nvPr/>
        </p:nvSpPr>
        <p:spPr>
          <a:xfrm>
            <a:off x="2051720" y="155679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cxnSp>
        <p:nvCxnSpPr>
          <p:cNvPr id="30" name="Connecteur droit 29"/>
          <p:cNvCxnSpPr/>
          <p:nvPr/>
        </p:nvCxnSpPr>
        <p:spPr>
          <a:xfrm flipH="1">
            <a:off x="1691680" y="2708920"/>
            <a:ext cx="360040" cy="7920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Ellipse 31"/>
          <p:cNvSpPr/>
          <p:nvPr/>
        </p:nvSpPr>
        <p:spPr>
          <a:xfrm>
            <a:off x="1331640" y="3429000"/>
            <a:ext cx="64807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à coins arrondis 32"/>
          <p:cNvSpPr/>
          <p:nvPr/>
        </p:nvSpPr>
        <p:spPr>
          <a:xfrm rot="1153906">
            <a:off x="15290" y="3106657"/>
            <a:ext cx="115212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p:cNvSpPr/>
          <p:nvPr/>
        </p:nvSpPr>
        <p:spPr>
          <a:xfrm>
            <a:off x="251520" y="306896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35" name="Ellipse 34"/>
          <p:cNvSpPr/>
          <p:nvPr/>
        </p:nvSpPr>
        <p:spPr>
          <a:xfrm>
            <a:off x="539552" y="3140968"/>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36" name="Ellipse 35"/>
          <p:cNvSpPr/>
          <p:nvPr/>
        </p:nvSpPr>
        <p:spPr>
          <a:xfrm>
            <a:off x="827584" y="3284984"/>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37" name="Ellipse 36"/>
          <p:cNvSpPr/>
          <p:nvPr/>
        </p:nvSpPr>
        <p:spPr>
          <a:xfrm>
            <a:off x="1691680" y="3501008"/>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38" name="Ellipse 37"/>
          <p:cNvSpPr/>
          <p:nvPr/>
        </p:nvSpPr>
        <p:spPr>
          <a:xfrm>
            <a:off x="1619672" y="378904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39" name="Ellipse 38"/>
          <p:cNvSpPr/>
          <p:nvPr/>
        </p:nvSpPr>
        <p:spPr>
          <a:xfrm>
            <a:off x="1403648" y="342900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40" name="Ellipse 39"/>
          <p:cNvSpPr/>
          <p:nvPr/>
        </p:nvSpPr>
        <p:spPr>
          <a:xfrm>
            <a:off x="1403648" y="371703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cxnSp>
        <p:nvCxnSpPr>
          <p:cNvPr id="42" name="Connecteur droit 41"/>
          <p:cNvCxnSpPr/>
          <p:nvPr/>
        </p:nvCxnSpPr>
        <p:spPr>
          <a:xfrm>
            <a:off x="2627784" y="3861048"/>
            <a:ext cx="0" cy="100811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Rectangle à coins arrondis 43"/>
          <p:cNvSpPr/>
          <p:nvPr/>
        </p:nvSpPr>
        <p:spPr>
          <a:xfrm>
            <a:off x="1403648" y="5301208"/>
            <a:ext cx="691460" cy="5688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à coins arrondis 44"/>
          <p:cNvSpPr/>
          <p:nvPr/>
        </p:nvSpPr>
        <p:spPr>
          <a:xfrm>
            <a:off x="1187624" y="5013176"/>
            <a:ext cx="115212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Ellipse 47"/>
          <p:cNvSpPr/>
          <p:nvPr/>
        </p:nvSpPr>
        <p:spPr>
          <a:xfrm>
            <a:off x="2339752" y="4797152"/>
            <a:ext cx="64807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1" name="Connecteur droit 50"/>
          <p:cNvCxnSpPr/>
          <p:nvPr/>
        </p:nvCxnSpPr>
        <p:spPr>
          <a:xfrm>
            <a:off x="1763688" y="5805264"/>
            <a:ext cx="0" cy="57606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Connecteur droit 54"/>
          <p:cNvCxnSpPr/>
          <p:nvPr/>
        </p:nvCxnSpPr>
        <p:spPr>
          <a:xfrm flipH="1">
            <a:off x="1547664" y="6237312"/>
            <a:ext cx="504056" cy="838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flipH="1">
            <a:off x="1619672" y="6309320"/>
            <a:ext cx="279648" cy="838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Rectangle à coins arrondis 60"/>
          <p:cNvSpPr/>
          <p:nvPr/>
        </p:nvSpPr>
        <p:spPr>
          <a:xfrm rot="1153906">
            <a:off x="15288" y="4834848"/>
            <a:ext cx="115212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Ellipse 62"/>
          <p:cNvSpPr/>
          <p:nvPr/>
        </p:nvSpPr>
        <p:spPr>
          <a:xfrm>
            <a:off x="1619672" y="587727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4" name="Ellipse 63"/>
          <p:cNvSpPr/>
          <p:nvPr/>
        </p:nvSpPr>
        <p:spPr>
          <a:xfrm>
            <a:off x="1619672" y="5517232"/>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5" name="Ellipse 64"/>
          <p:cNvSpPr/>
          <p:nvPr/>
        </p:nvSpPr>
        <p:spPr>
          <a:xfrm>
            <a:off x="1619672" y="522920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6" name="Ellipse 65"/>
          <p:cNvSpPr/>
          <p:nvPr/>
        </p:nvSpPr>
        <p:spPr>
          <a:xfrm>
            <a:off x="1403648" y="501317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7" name="Ellipse 66"/>
          <p:cNvSpPr/>
          <p:nvPr/>
        </p:nvSpPr>
        <p:spPr>
          <a:xfrm>
            <a:off x="755576" y="4941168"/>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8" name="Ellipse 67"/>
          <p:cNvSpPr/>
          <p:nvPr/>
        </p:nvSpPr>
        <p:spPr>
          <a:xfrm>
            <a:off x="467544" y="4869160"/>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69" name="Ellipse 68"/>
          <p:cNvSpPr/>
          <p:nvPr/>
        </p:nvSpPr>
        <p:spPr>
          <a:xfrm>
            <a:off x="2411760" y="4941168"/>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70" name="Ellipse 69"/>
          <p:cNvSpPr/>
          <p:nvPr/>
        </p:nvSpPr>
        <p:spPr>
          <a:xfrm>
            <a:off x="2699792" y="501317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71" name="Ellipse 70"/>
          <p:cNvSpPr/>
          <p:nvPr/>
        </p:nvSpPr>
        <p:spPr>
          <a:xfrm>
            <a:off x="1979712" y="501317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sp>
        <p:nvSpPr>
          <p:cNvPr id="72" name="Ellipse 71"/>
          <p:cNvSpPr/>
          <p:nvPr/>
        </p:nvSpPr>
        <p:spPr>
          <a:xfrm>
            <a:off x="1691680" y="5013176"/>
            <a:ext cx="288032" cy="288032"/>
          </a:xfrm>
          <a:prstGeom prst="ellipse">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err="1">
                <a:solidFill>
                  <a:schemeClr val="bg1"/>
                </a:solidFill>
              </a:rPr>
              <a:t>+</a:t>
            </a:r>
            <a:endParaRPr lang="fr-FR" sz="2400" b="1" dirty="0">
              <a:solidFill>
                <a:schemeClr val="bg1"/>
              </a:solidFill>
            </a:endParaRPr>
          </a:p>
        </p:txBody>
      </p:sp>
      <p:cxnSp>
        <p:nvCxnSpPr>
          <p:cNvPr id="74" name="Connecteur droit avec flèche 73"/>
          <p:cNvCxnSpPr/>
          <p:nvPr/>
        </p:nvCxnSpPr>
        <p:spPr>
          <a:xfrm flipV="1">
            <a:off x="1979712" y="5733256"/>
            <a:ext cx="0" cy="432048"/>
          </a:xfrm>
          <a:prstGeom prst="straightConnector1">
            <a:avLst/>
          </a:prstGeom>
          <a:ln w="412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avec flèche 75"/>
          <p:cNvCxnSpPr/>
          <p:nvPr/>
        </p:nvCxnSpPr>
        <p:spPr>
          <a:xfrm flipV="1">
            <a:off x="1979712" y="5301208"/>
            <a:ext cx="0" cy="432048"/>
          </a:xfrm>
          <a:prstGeom prst="straightConnector1">
            <a:avLst/>
          </a:prstGeom>
          <a:ln w="412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7" name="Connecteur droit avec flèche 76"/>
          <p:cNvCxnSpPr/>
          <p:nvPr/>
        </p:nvCxnSpPr>
        <p:spPr>
          <a:xfrm flipH="1">
            <a:off x="1547664" y="1412776"/>
            <a:ext cx="432048" cy="0"/>
          </a:xfrm>
          <a:prstGeom prst="straightConnector1">
            <a:avLst/>
          </a:prstGeom>
          <a:ln w="412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9" name="Connecteur droit avec flèche 78"/>
          <p:cNvCxnSpPr/>
          <p:nvPr/>
        </p:nvCxnSpPr>
        <p:spPr>
          <a:xfrm>
            <a:off x="1763688" y="3356992"/>
            <a:ext cx="360040" cy="0"/>
          </a:xfrm>
          <a:prstGeom prst="straightConnector1">
            <a:avLst/>
          </a:prstGeom>
          <a:ln w="412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 </a:t>
            </a:r>
            <a:endParaRPr lang="fr-FR" sz="2800" b="1" dirty="0">
              <a:solidFill>
                <a:schemeClr val="bg1"/>
              </a:solidFill>
            </a:endParaRPr>
          </a:p>
        </p:txBody>
      </p:sp>
      <p:sp>
        <p:nvSpPr>
          <p:cNvPr id="5" name="AutoShape 1"/>
          <p:cNvSpPr>
            <a:spLocks noChangeArrowheads="1"/>
          </p:cNvSpPr>
          <p:nvPr/>
        </p:nvSpPr>
        <p:spPr bwMode="auto">
          <a:xfrm>
            <a:off x="-108521" y="692697"/>
            <a:ext cx="9252521" cy="6165304"/>
          </a:xfrm>
          <a:prstGeom prst="roundRect">
            <a:avLst>
              <a:gd name="adj" fmla="val 16667"/>
            </a:avLst>
          </a:pr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baseline="0" dirty="0">
                <a:ln>
                  <a:noFill/>
                </a:ln>
                <a:solidFill>
                  <a:schemeClr val="bg1"/>
                </a:solidFill>
                <a:effectLst/>
                <a:latin typeface="Arial" pitchFamily="34" charset="0"/>
                <a:ea typeface="Arial" pitchFamily="34" charset="0"/>
                <a:cs typeface="Arial" pitchFamily="34" charset="0"/>
              </a:rPr>
              <a:t>1-افسر سبب </a:t>
            </a:r>
            <a:r>
              <a:rPr kumimoji="0" lang="ar-DZ" sz="2000" b="1" i="0" u="none" strike="noStrike" cap="none" normalizeH="0" baseline="0" dirty="0" err="1">
                <a:ln>
                  <a:noFill/>
                </a:ln>
                <a:solidFill>
                  <a:schemeClr val="bg1"/>
                </a:solidFill>
                <a:effectLst/>
                <a:latin typeface="Arial" pitchFamily="34" charset="0"/>
                <a:ea typeface="Arial" pitchFamily="34" charset="0"/>
                <a:cs typeface="Arial" pitchFamily="34" charset="0"/>
              </a:rPr>
              <a:t>تاكل</a:t>
            </a:r>
            <a:r>
              <a:rPr kumimoji="0" lang="ar-DZ" sz="2000" b="1" i="0" u="none" strike="noStrike" cap="none" normalizeH="0" baseline="0" dirty="0">
                <a:ln>
                  <a:noFill/>
                </a:ln>
                <a:solidFill>
                  <a:schemeClr val="bg1"/>
                </a:solidFill>
                <a:effectLst/>
                <a:latin typeface="Arial" pitchFamily="34" charset="0"/>
                <a:ea typeface="Arial" pitchFamily="34" charset="0"/>
                <a:cs typeface="Arial" pitchFamily="34" charset="0"/>
              </a:rPr>
              <a:t> هياكل السيارات</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الحديدية </a:t>
            </a:r>
            <a:r>
              <a:rPr kumimoji="0" lang="ar-DZ" sz="2000" b="1" i="0" u="none" strike="noStrike" cap="none" normalizeH="0" baseline="0" dirty="0">
                <a:ln>
                  <a:noFill/>
                </a:ln>
                <a:solidFill>
                  <a:schemeClr val="bg1"/>
                </a:solidFill>
                <a:effectLst/>
                <a:latin typeface="Arial" pitchFamily="34" charset="0"/>
                <a:ea typeface="Arial" pitchFamily="34" charset="0"/>
                <a:cs typeface="Arial" pitchFamily="34" charset="0"/>
              </a:rPr>
              <a:t>هو الامطار الحمضية </a:t>
            </a:r>
            <a:r>
              <a:rPr kumimoji="0" lang="ar-DZ" sz="2000" b="1" i="0" u="none" strike="noStrike" cap="none" normalizeH="0" baseline="0" dirty="0" err="1">
                <a:ln>
                  <a:noFill/>
                </a:ln>
                <a:solidFill>
                  <a:schemeClr val="bg1"/>
                </a:solidFill>
                <a:effectLst/>
                <a:latin typeface="Arial" pitchFamily="34" charset="0"/>
                <a:ea typeface="Arial" pitchFamily="34" charset="0"/>
                <a:cs typeface="Arial" pitchFamily="34" charset="0"/>
              </a:rPr>
              <a:t>لانها</a:t>
            </a:r>
            <a:r>
              <a:rPr kumimoji="0" lang="ar-DZ" sz="2000" b="1" i="0" u="none" strike="noStrike" cap="none" normalizeH="0" baseline="0" dirty="0">
                <a:ln>
                  <a:noFill/>
                </a:ln>
                <a:solidFill>
                  <a:schemeClr val="bg1"/>
                </a:solidFill>
                <a:effectLst/>
                <a:latin typeface="Arial" pitchFamily="34" charset="0"/>
                <a:ea typeface="Arial" pitchFamily="34" charset="0"/>
                <a:cs typeface="Arial" pitchFamily="34" charset="0"/>
              </a:rPr>
              <a:t> تحتوي على</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حمض الكبريت الذي يتفاعل كيميائيا  مع الحديد ويؤدي الى </a:t>
            </a:r>
            <a:r>
              <a:rPr kumimoji="0" lang="ar-DZ" sz="2000" b="1" i="0" u="none" strike="noStrike" cap="none" normalizeH="0" dirty="0" err="1">
                <a:ln>
                  <a:noFill/>
                </a:ln>
                <a:solidFill>
                  <a:schemeClr val="bg1"/>
                </a:solidFill>
                <a:effectLst/>
                <a:latin typeface="Arial" pitchFamily="34" charset="0"/>
                <a:ea typeface="Arial" pitchFamily="34" charset="0"/>
                <a:cs typeface="Arial" pitchFamily="34" charset="0"/>
              </a:rPr>
              <a:t>تاكلها</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وفق المعادلة  الاتية </a:t>
            </a:r>
          </a:p>
          <a:p>
            <a:pPr algn="r" fontAlgn="base">
              <a:spcBef>
                <a:spcPct val="0"/>
              </a:spcBef>
              <a:spcAft>
                <a:spcPts val="1000"/>
              </a:spcAft>
            </a:pPr>
            <a:r>
              <a:rPr lang="fr-FR" sz="2000" b="1" dirty="0">
                <a:solidFill>
                  <a:schemeClr val="bg1"/>
                </a:solidFill>
              </a:rPr>
              <a:t>Fe(S)+</a:t>
            </a:r>
            <a:r>
              <a:rPr lang="ar-DZ" sz="2000" b="1" dirty="0">
                <a:solidFill>
                  <a:schemeClr val="bg1"/>
                </a:solidFill>
              </a:rPr>
              <a:t> </a:t>
            </a:r>
            <a:r>
              <a:rPr lang="fr-FR" sz="2000" b="1" dirty="0">
                <a:solidFill>
                  <a:schemeClr val="bg1"/>
                </a:solidFill>
              </a:rPr>
              <a:t>(2H</a:t>
            </a:r>
            <a:r>
              <a:rPr lang="fr-FR" sz="2000" b="1" baseline="30000" dirty="0">
                <a:solidFill>
                  <a:schemeClr val="bg1"/>
                </a:solidFill>
              </a:rPr>
              <a:t>+</a:t>
            </a:r>
            <a:r>
              <a:rPr lang="en-US" sz="2000" b="1" dirty="0">
                <a:solidFill>
                  <a:schemeClr val="bg1"/>
                </a:solidFill>
              </a:rPr>
              <a:t>+</a:t>
            </a:r>
            <a:r>
              <a:rPr lang="fr-FR" sz="2000" b="1" dirty="0">
                <a:solidFill>
                  <a:schemeClr val="bg1"/>
                </a:solidFill>
              </a:rPr>
              <a:t> SO</a:t>
            </a:r>
            <a:r>
              <a:rPr lang="fr-FR" sz="2000" b="1" baseline="-25000" dirty="0">
                <a:solidFill>
                  <a:schemeClr val="bg1"/>
                </a:solidFill>
              </a:rPr>
              <a:t>4</a:t>
            </a:r>
            <a:r>
              <a:rPr lang="fr-FR" sz="2000" b="1" baseline="30000" dirty="0">
                <a:solidFill>
                  <a:schemeClr val="bg1"/>
                </a:solidFill>
              </a:rPr>
              <a:t>2-</a:t>
            </a:r>
            <a:r>
              <a:rPr lang="fr-FR" sz="2000" b="1" dirty="0">
                <a:solidFill>
                  <a:schemeClr val="bg1"/>
                </a:solidFill>
              </a:rPr>
              <a:t> )(</a:t>
            </a:r>
            <a:r>
              <a:rPr lang="fr-FR" sz="2000" b="1" dirty="0" err="1">
                <a:solidFill>
                  <a:schemeClr val="bg1"/>
                </a:solidFill>
              </a:rPr>
              <a:t>aq</a:t>
            </a:r>
            <a:r>
              <a:rPr lang="fr-FR" sz="2000" b="1" dirty="0">
                <a:solidFill>
                  <a:schemeClr val="bg1"/>
                </a:solidFill>
              </a:rPr>
              <a:t>.)</a:t>
            </a:r>
            <a:r>
              <a:rPr lang="ar-DZ" sz="2000" b="1" dirty="0">
                <a:solidFill>
                  <a:schemeClr val="bg1"/>
                </a:solidFill>
              </a:rPr>
              <a:t> </a:t>
            </a:r>
            <a:r>
              <a:rPr lang="fr-FR" sz="2000" b="1" dirty="0">
                <a:solidFill>
                  <a:schemeClr val="bg1"/>
                </a:solidFill>
              </a:rPr>
              <a:t>         (Fe</a:t>
            </a:r>
            <a:r>
              <a:rPr lang="fr-FR" sz="2000" b="1" baseline="30000" dirty="0">
                <a:solidFill>
                  <a:schemeClr val="bg1"/>
                </a:solidFill>
              </a:rPr>
              <a:t>2+</a:t>
            </a:r>
            <a:r>
              <a:rPr lang="fr-FR" sz="2000" b="1" dirty="0">
                <a:solidFill>
                  <a:schemeClr val="bg1"/>
                </a:solidFill>
              </a:rPr>
              <a:t> + SO</a:t>
            </a:r>
            <a:r>
              <a:rPr lang="fr-FR" sz="2000" b="1" baseline="-25000" dirty="0">
                <a:solidFill>
                  <a:schemeClr val="bg1"/>
                </a:solidFill>
              </a:rPr>
              <a:t>4</a:t>
            </a:r>
            <a:r>
              <a:rPr lang="fr-FR" sz="2000" b="1" baseline="30000" dirty="0">
                <a:solidFill>
                  <a:schemeClr val="bg1"/>
                </a:solidFill>
              </a:rPr>
              <a:t>2-</a:t>
            </a:r>
            <a:r>
              <a:rPr lang="fr-FR" sz="2000" b="1" dirty="0">
                <a:solidFill>
                  <a:schemeClr val="bg1"/>
                </a:solidFill>
              </a:rPr>
              <a:t> )(</a:t>
            </a:r>
            <a:r>
              <a:rPr lang="fr-FR" sz="2000" b="1" dirty="0" err="1">
                <a:solidFill>
                  <a:schemeClr val="bg1"/>
                </a:solidFill>
              </a:rPr>
              <a:t>aq</a:t>
            </a:r>
            <a:r>
              <a:rPr lang="fr-FR" sz="2000" b="1" dirty="0">
                <a:solidFill>
                  <a:schemeClr val="bg1"/>
                </a:solidFill>
              </a:rPr>
              <a:t>) +  H</a:t>
            </a:r>
            <a:r>
              <a:rPr lang="fr-FR" sz="2000" b="1" baseline="-25000" dirty="0">
                <a:solidFill>
                  <a:schemeClr val="bg1"/>
                </a:solidFill>
              </a:rPr>
              <a:t>2</a:t>
            </a:r>
            <a:r>
              <a:rPr lang="fr-FR" sz="2000" b="1" dirty="0">
                <a:solidFill>
                  <a:schemeClr val="bg1"/>
                </a:solidFill>
              </a:rPr>
              <a:t>  (g</a:t>
            </a:r>
            <a:r>
              <a:rPr lang="ar-DZ" sz="2000" b="1" dirty="0">
                <a:solidFill>
                  <a:schemeClr val="bg1"/>
                </a:solidFill>
              </a:rPr>
              <a:t> </a:t>
            </a:r>
            <a:r>
              <a:rPr lang="fr-FR" sz="2000" b="1" dirty="0">
                <a:solidFill>
                  <a:schemeClr val="bg1"/>
                </a:solidFill>
              </a:rPr>
              <a:t>)</a:t>
            </a:r>
            <a:endParaRPr lang="ar-DZ" sz="2000" b="1" dirty="0">
              <a:solidFill>
                <a:schemeClr val="bg1"/>
              </a:solidFill>
            </a:endParaRP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2- وجد العالم </a:t>
            </a:r>
            <a:r>
              <a:rPr kumimoji="0" lang="ar-DZ" sz="2000" b="1" i="0" u="none" strike="noStrike" cap="none" normalizeH="0" dirty="0" err="1">
                <a:ln>
                  <a:noFill/>
                </a:ln>
                <a:solidFill>
                  <a:schemeClr val="bg1"/>
                </a:solidFill>
                <a:effectLst/>
                <a:latin typeface="Arial" pitchFamily="34" charset="0"/>
                <a:ea typeface="Arial" pitchFamily="34" charset="0"/>
                <a:cs typeface="Arial" pitchFamily="34" charset="0"/>
              </a:rPr>
              <a:t>امسترونغ</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ان ثقله اقل 6 مرات من ثقله في الارض</a:t>
            </a:r>
          </a:p>
          <a:p>
            <a:pPr marL="0" marR="0" lvl="0" indent="0" algn="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لان الجاذبية على القمر اقل من الارض 6 مرات </a:t>
            </a:r>
          </a:p>
          <a:p>
            <a:pPr lvl="0" algn="r" fontAlgn="base">
              <a:spcBef>
                <a:spcPct val="0"/>
              </a:spcBef>
              <a:spcAft>
                <a:spcPts val="1000"/>
              </a:spcAft>
            </a:pPr>
            <a:r>
              <a:rPr lang="fr-FR" sz="2000" b="1" dirty="0">
                <a:solidFill>
                  <a:schemeClr val="bg1"/>
                </a:solidFill>
                <a:latin typeface="Arial" pitchFamily="34" charset="0"/>
                <a:ea typeface="Arial" pitchFamily="34" charset="0"/>
                <a:cs typeface="Arial" pitchFamily="34" charset="0"/>
              </a:rPr>
              <a:t>m=70kg</a:t>
            </a:r>
            <a:r>
              <a:rPr lang="ar-DZ" sz="2000" b="1" dirty="0">
                <a:solidFill>
                  <a:schemeClr val="bg1"/>
                </a:solidFill>
                <a:latin typeface="Arial" pitchFamily="34" charset="0"/>
                <a:ea typeface="Arial" pitchFamily="34" charset="0"/>
                <a:cs typeface="Arial" pitchFamily="34" charset="0"/>
              </a:rPr>
              <a:t> </a:t>
            </a:r>
            <a:r>
              <a:rPr lang="ar-DZ" sz="2000" b="1" dirty="0" err="1">
                <a:solidFill>
                  <a:schemeClr val="bg1"/>
                </a:solidFill>
                <a:latin typeface="Arial" pitchFamily="34" charset="0"/>
                <a:ea typeface="Arial" pitchFamily="34" charset="0"/>
                <a:cs typeface="Arial" pitchFamily="34" charset="0"/>
              </a:rPr>
              <a:t>مثال  </a:t>
            </a:r>
            <a:r>
              <a:rPr lang="ar-DZ" sz="2000" b="1" dirty="0">
                <a:solidFill>
                  <a:schemeClr val="bg1"/>
                </a:solidFill>
                <a:latin typeface="Arial" pitchFamily="34" charset="0"/>
                <a:ea typeface="Arial" pitchFamily="34" charset="0"/>
                <a:cs typeface="Arial" pitchFamily="34" charset="0"/>
              </a:rPr>
              <a:t>-اذا كانت كتلة </a:t>
            </a:r>
            <a:r>
              <a:rPr lang="ar-DZ" sz="2000" b="1" dirty="0" err="1">
                <a:solidFill>
                  <a:schemeClr val="bg1"/>
                </a:solidFill>
                <a:latin typeface="Arial" pitchFamily="34" charset="0"/>
                <a:ea typeface="Arial" pitchFamily="34" charset="0"/>
                <a:cs typeface="Arial" pitchFamily="34" charset="0"/>
              </a:rPr>
              <a:t>امسترونغ</a:t>
            </a:r>
            <a:r>
              <a:rPr lang="ar-DZ" sz="2000" b="1" dirty="0">
                <a:solidFill>
                  <a:schemeClr val="bg1"/>
                </a:solidFill>
                <a:latin typeface="Arial" pitchFamily="34" charset="0"/>
                <a:ea typeface="Arial" pitchFamily="34" charset="0"/>
                <a:cs typeface="Arial" pitchFamily="34" charset="0"/>
              </a:rPr>
              <a:t> </a:t>
            </a:r>
            <a:endParaRPr kumimoji="0" lang="ar-DZ" sz="2000" b="1" i="0" u="none" strike="noStrike" cap="none" normalizeH="0" dirty="0">
              <a:ln>
                <a:noFill/>
              </a:ln>
              <a:solidFill>
                <a:schemeClr val="bg1"/>
              </a:solidFill>
              <a:effectLst/>
              <a:latin typeface="Arial" pitchFamily="34" charset="0"/>
              <a:ea typeface="Arial" pitchFamily="34" charset="0"/>
              <a:cs typeface="Arial" pitchFamily="34" charset="0"/>
            </a:endParaRPr>
          </a:p>
          <a:p>
            <a:pPr algn="r" fontAlgn="base">
              <a:spcBef>
                <a:spcPct val="0"/>
              </a:spcBef>
              <a:spcAft>
                <a:spcPts val="1000"/>
              </a:spcAft>
            </a:pPr>
            <a:r>
              <a:rPr lang="fr-FR" sz="2000" b="1" dirty="0">
                <a:solidFill>
                  <a:schemeClr val="bg1"/>
                </a:solidFill>
                <a:latin typeface="Arial" pitchFamily="34" charset="0"/>
                <a:ea typeface="Arial" pitchFamily="34" charset="0"/>
                <a:cs typeface="Arial" pitchFamily="34" charset="0"/>
              </a:rPr>
              <a:t>Pt=</a:t>
            </a:r>
            <a:r>
              <a:rPr lang="fr-FR" sz="2000" b="1" dirty="0" err="1">
                <a:solidFill>
                  <a:schemeClr val="bg1"/>
                </a:solidFill>
                <a:latin typeface="Arial" pitchFamily="34" charset="0"/>
                <a:ea typeface="Arial" pitchFamily="34" charset="0"/>
                <a:cs typeface="Arial" pitchFamily="34" charset="0"/>
              </a:rPr>
              <a:t>mxg</a:t>
            </a:r>
            <a:r>
              <a:rPr lang="fr-FR" sz="2000" b="1" dirty="0">
                <a:solidFill>
                  <a:schemeClr val="bg1"/>
                </a:solidFill>
                <a:latin typeface="Arial" pitchFamily="34" charset="0"/>
                <a:ea typeface="Arial" pitchFamily="34" charset="0"/>
                <a:cs typeface="Arial" pitchFamily="34" charset="0"/>
              </a:rPr>
              <a:t>=70x10=700N</a:t>
            </a:r>
            <a:r>
              <a:rPr lang="ar-DZ" sz="2000" b="1" dirty="0">
                <a:solidFill>
                  <a:schemeClr val="bg1"/>
                </a:solidFill>
                <a:latin typeface="Arial" pitchFamily="34" charset="0"/>
                <a:ea typeface="Arial" pitchFamily="34" charset="0"/>
                <a:cs typeface="Arial" pitchFamily="34" charset="0"/>
              </a:rPr>
              <a:t> فان ثقله على الارض </a:t>
            </a:r>
          </a:p>
          <a:p>
            <a:pPr algn="r" fontAlgn="base">
              <a:spcBef>
                <a:spcPct val="0"/>
              </a:spcBef>
              <a:spcAft>
                <a:spcPts val="1000"/>
              </a:spcAft>
            </a:pPr>
            <a:r>
              <a:rPr lang="fr-FR" sz="2000" b="1" dirty="0">
                <a:solidFill>
                  <a:schemeClr val="bg1"/>
                </a:solidFill>
                <a:latin typeface="Arial" pitchFamily="34" charset="0"/>
                <a:ea typeface="Arial" pitchFamily="34" charset="0"/>
                <a:cs typeface="Arial" pitchFamily="34" charset="0"/>
              </a:rPr>
              <a:t>Pl=</a:t>
            </a:r>
            <a:r>
              <a:rPr lang="fr-FR" sz="2000" b="1" dirty="0" err="1">
                <a:solidFill>
                  <a:schemeClr val="bg1"/>
                </a:solidFill>
                <a:latin typeface="Arial" pitchFamily="34" charset="0"/>
                <a:ea typeface="Arial" pitchFamily="34" charset="0"/>
                <a:cs typeface="Arial" pitchFamily="34" charset="0"/>
              </a:rPr>
              <a:t>mxg</a:t>
            </a:r>
            <a:r>
              <a:rPr lang="fr-FR" sz="2000" b="1" dirty="0">
                <a:solidFill>
                  <a:schemeClr val="bg1"/>
                </a:solidFill>
                <a:latin typeface="Arial" pitchFamily="34" charset="0"/>
                <a:ea typeface="Arial" pitchFamily="34" charset="0"/>
                <a:cs typeface="Arial" pitchFamily="34" charset="0"/>
              </a:rPr>
              <a:t>=70x1.6=112N</a:t>
            </a:r>
            <a:r>
              <a:rPr lang="ar-DZ" sz="2000" b="1" dirty="0">
                <a:solidFill>
                  <a:schemeClr val="bg1"/>
                </a:solidFill>
                <a:latin typeface="Arial" pitchFamily="34" charset="0"/>
                <a:ea typeface="Arial" pitchFamily="34" charset="0"/>
                <a:cs typeface="Arial" pitchFamily="34" charset="0"/>
              </a:rPr>
              <a:t> ويكون  ثقله على القمر  هو </a:t>
            </a:r>
            <a:endParaRPr lang="en-US" sz="2000" dirty="0">
              <a:solidFill>
                <a:schemeClr val="bg1"/>
              </a:solidFill>
              <a:latin typeface="Arial" pitchFamily="34" charset="0"/>
              <a:ea typeface="Arial" pitchFamily="34" charset="0"/>
              <a:cs typeface="Arial" pitchFamily="34" charset="0"/>
            </a:endParaRPr>
          </a:p>
          <a:p>
            <a:pPr algn="r" fontAlgn="base">
              <a:spcBef>
                <a:spcPct val="0"/>
              </a:spcBef>
              <a:spcAft>
                <a:spcPts val="1000"/>
              </a:spcAft>
            </a:pPr>
            <a:r>
              <a:rPr lang="fr-FR" sz="2000" b="1" dirty="0">
                <a:solidFill>
                  <a:schemeClr val="bg1"/>
                </a:solidFill>
                <a:latin typeface="Arial" pitchFamily="34" charset="0"/>
                <a:ea typeface="Arial" pitchFamily="34" charset="0"/>
                <a:cs typeface="Arial" pitchFamily="34" charset="0"/>
              </a:rPr>
              <a:t>Pt/Pl=700/112=6</a:t>
            </a:r>
            <a:r>
              <a:rPr lang="ar-DZ" sz="2000" b="1" dirty="0">
                <a:solidFill>
                  <a:schemeClr val="bg1"/>
                </a:solidFill>
                <a:latin typeface="Arial" pitchFamily="34" charset="0"/>
                <a:ea typeface="Arial" pitchFamily="34" charset="0"/>
                <a:cs typeface="Arial" pitchFamily="34" charset="0"/>
              </a:rPr>
              <a:t>ومنه   العلاقة بين الثقل في الارض والقمر </a:t>
            </a:r>
            <a:endParaRPr lang="fr-FR" sz="2000" b="1" dirty="0">
              <a:solidFill>
                <a:schemeClr val="bg1"/>
              </a:solidFill>
              <a:latin typeface="Arial" pitchFamily="34" charset="0"/>
              <a:ea typeface="Arial" pitchFamily="34" charset="0"/>
              <a:cs typeface="Arial" pitchFamily="34" charset="0"/>
            </a:endParaRPr>
          </a:p>
          <a:p>
            <a:pPr lvl="0" algn="r" fontAlgn="base">
              <a:spcBef>
                <a:spcPct val="0"/>
              </a:spcBef>
              <a:spcAft>
                <a:spcPts val="1000"/>
              </a:spcAft>
            </a:pP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اذن ثقله على القمر اقل من الارض 6 مرات</a:t>
            </a:r>
          </a:p>
          <a:p>
            <a:pPr lvl="0" algn="r" fontAlgn="base">
              <a:spcBef>
                <a:spcPct val="0"/>
              </a:spcBef>
              <a:spcAft>
                <a:spcPts val="1000"/>
              </a:spcAft>
            </a:pPr>
            <a:r>
              <a:rPr lang="fr-FR" sz="2000" b="1" dirty="0">
                <a:solidFill>
                  <a:schemeClr val="bg1"/>
                </a:solidFill>
                <a:latin typeface="Arial" pitchFamily="34" charset="0"/>
                <a:ea typeface="Arial" pitchFamily="34" charset="0"/>
                <a:cs typeface="Arial" pitchFamily="34" charset="0"/>
              </a:rPr>
              <a:t>200N          1cm</a:t>
            </a:r>
            <a:r>
              <a:rPr lang="ar-DZ" sz="2000" b="1" dirty="0">
                <a:solidFill>
                  <a:schemeClr val="bg1"/>
                </a:solidFill>
                <a:latin typeface="Arial" pitchFamily="34" charset="0"/>
                <a:ea typeface="Arial" pitchFamily="34" charset="0"/>
                <a:cs typeface="Arial" pitchFamily="34" charset="0"/>
              </a:rPr>
              <a:t>السلم المناسب للتمثيل هو </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a:t>
            </a:r>
          </a:p>
          <a:p>
            <a:pPr lvl="0" algn="r" fontAlgn="base">
              <a:spcBef>
                <a:spcPct val="0"/>
              </a:spcBef>
              <a:spcAft>
                <a:spcPts val="1000"/>
              </a:spcAft>
            </a:pP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3-كتلته على سطح القمر لا تزداد ولا تقل  لان الكتلة مقدار </a:t>
            </a:r>
            <a:r>
              <a:rPr kumimoji="0" lang="ar-DZ" sz="2000" b="1" i="0" u="none" strike="noStrike" cap="none" normalizeH="0" dirty="0" err="1">
                <a:ln>
                  <a:noFill/>
                </a:ln>
                <a:solidFill>
                  <a:schemeClr val="bg1"/>
                </a:solidFill>
                <a:effectLst/>
                <a:latin typeface="Arial" pitchFamily="34" charset="0"/>
                <a:ea typeface="Arial" pitchFamily="34" charset="0"/>
                <a:cs typeface="Arial" pitchFamily="34" charset="0"/>
              </a:rPr>
              <a:t>ثابت </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(تبقى محفوظة</a:t>
            </a:r>
            <a:r>
              <a:rPr kumimoji="0" lang="ar-DZ" sz="2000" b="1" i="0" u="none" strike="noStrike" cap="none" normalizeH="0" dirty="0" err="1">
                <a:ln>
                  <a:noFill/>
                </a:ln>
                <a:solidFill>
                  <a:schemeClr val="bg1"/>
                </a:solidFill>
                <a:effectLst/>
                <a:latin typeface="Arial" pitchFamily="34" charset="0"/>
                <a:ea typeface="Arial" pitchFamily="34" charset="0"/>
                <a:cs typeface="Arial" pitchFamily="34" charset="0"/>
              </a:rPr>
              <a:t>)</a:t>
            </a:r>
            <a:r>
              <a:rPr kumimoji="0" lang="ar-DZ" sz="2000" b="1" i="0" u="none" strike="noStrike" cap="none" normalizeH="0" dirty="0">
                <a:ln>
                  <a:noFill/>
                </a:ln>
                <a:solidFill>
                  <a:schemeClr val="bg1"/>
                </a:solidFill>
                <a:effectLst/>
                <a:latin typeface="Arial" pitchFamily="34" charset="0"/>
                <a:ea typeface="Arial" pitchFamily="34" charset="0"/>
                <a:cs typeface="Arial" pitchFamily="34" charset="0"/>
              </a:rPr>
              <a:t>   </a:t>
            </a:r>
            <a:endParaRPr kumimoji="0" lang="fr-FR" sz="2000" b="1" i="0" u="none" strike="noStrike" cap="none" normalizeH="0" dirty="0">
              <a:ln>
                <a:noFill/>
              </a:ln>
              <a:solidFill>
                <a:schemeClr val="bg1"/>
              </a:solidFill>
              <a:effectLst/>
              <a:latin typeface="Arial" pitchFamily="34" charset="0"/>
              <a:ea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cxnSp>
        <p:nvCxnSpPr>
          <p:cNvPr id="6" name="Connecteur droit avec flèche 5"/>
          <p:cNvCxnSpPr/>
          <p:nvPr/>
        </p:nvCxnSpPr>
        <p:spPr>
          <a:xfrm>
            <a:off x="5076056" y="1988840"/>
            <a:ext cx="432048"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7" name="Image 6" descr="20180721020150150.jpg"/>
          <p:cNvPicPr/>
          <p:nvPr/>
        </p:nvPicPr>
        <p:blipFill>
          <a:blip r:embed="rId2" cstate="email">
            <a:extLst>
              <a:ext uri="{28A0092B-C50C-407E-A947-70E740481C1C}">
                <a14:useLocalDpi xmlns:a14="http://schemas.microsoft.com/office/drawing/2010/main"/>
              </a:ext>
            </a:extLst>
          </a:blip>
          <a:srcRect/>
          <a:stretch>
            <a:fillRect/>
          </a:stretch>
        </p:blipFill>
        <p:spPr>
          <a:xfrm>
            <a:off x="0" y="4869160"/>
            <a:ext cx="1043608" cy="1584176"/>
          </a:xfrm>
          <a:prstGeom prst="rect">
            <a:avLst/>
          </a:prstGeom>
        </p:spPr>
      </p:pic>
      <p:cxnSp>
        <p:nvCxnSpPr>
          <p:cNvPr id="8" name="Connecteur droit avec flèche 7"/>
          <p:cNvCxnSpPr/>
          <p:nvPr/>
        </p:nvCxnSpPr>
        <p:spPr>
          <a:xfrm>
            <a:off x="539552" y="5517232"/>
            <a:ext cx="0" cy="72008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flipH="1" flipV="1">
            <a:off x="611560" y="5589240"/>
            <a:ext cx="8384" cy="800472"/>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à coins arrondis 12"/>
          <p:cNvSpPr/>
          <p:nvPr/>
        </p:nvSpPr>
        <p:spPr>
          <a:xfrm>
            <a:off x="899592" y="5085184"/>
            <a:ext cx="792088"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l</a:t>
            </a:r>
            <a:r>
              <a:rPr lang="fr-FR" sz="2000" b="1" dirty="0">
                <a:solidFill>
                  <a:schemeClr val="bg1"/>
                </a:solidFill>
              </a:rPr>
              <a:t>/a</a:t>
            </a:r>
          </a:p>
        </p:txBody>
      </p:sp>
      <p:sp>
        <p:nvSpPr>
          <p:cNvPr id="14" name="Rectangle à coins arrondis 13"/>
          <p:cNvSpPr/>
          <p:nvPr/>
        </p:nvSpPr>
        <p:spPr>
          <a:xfrm>
            <a:off x="899592" y="6237312"/>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cxnSp>
        <p:nvCxnSpPr>
          <p:cNvPr id="15" name="Connecteur droit avec flèche 14"/>
          <p:cNvCxnSpPr/>
          <p:nvPr/>
        </p:nvCxnSpPr>
        <p:spPr>
          <a:xfrm>
            <a:off x="1115616" y="5013176"/>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1043608" y="6093296"/>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a:off x="5508104" y="5445224"/>
            <a:ext cx="432048"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à coins arrondis 17"/>
          <p:cNvSpPr/>
          <p:nvPr/>
        </p:nvSpPr>
        <p:spPr>
          <a:xfrm>
            <a:off x="251520" y="4365104"/>
            <a:ext cx="158417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على القمر </a:t>
            </a:r>
            <a:endParaRPr lang="fr-FR" sz="2000" b="1" dirty="0">
              <a:solidFill>
                <a:schemeClr val="bg1"/>
              </a:solidFill>
            </a:endParaRPr>
          </a:p>
        </p:txBody>
      </p:sp>
      <p:sp>
        <p:nvSpPr>
          <p:cNvPr id="19" name="Rectangle à coins arrondis 18"/>
          <p:cNvSpPr/>
          <p:nvPr/>
        </p:nvSpPr>
        <p:spPr>
          <a:xfrm>
            <a:off x="179512" y="1484784"/>
            <a:ext cx="158417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على الارض  </a:t>
            </a:r>
            <a:endParaRPr lang="fr-FR" sz="2000" b="1" dirty="0">
              <a:solidFill>
                <a:schemeClr val="bg1"/>
              </a:solidFill>
            </a:endParaRPr>
          </a:p>
        </p:txBody>
      </p:sp>
      <p:pic>
        <p:nvPicPr>
          <p:cNvPr id="24" name="Image 23" descr="170px-Neil_Armstrong_in_Gemini_G-2C_training_suit.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528" y="2276872"/>
            <a:ext cx="1296144" cy="1510474"/>
          </a:xfrm>
          <a:prstGeom prst="rect">
            <a:avLst/>
          </a:prstGeom>
        </p:spPr>
      </p:pic>
      <p:cxnSp>
        <p:nvCxnSpPr>
          <p:cNvPr id="26" name="Connecteur droit avec flèche 25"/>
          <p:cNvCxnSpPr/>
          <p:nvPr/>
        </p:nvCxnSpPr>
        <p:spPr>
          <a:xfrm flipH="1" flipV="1">
            <a:off x="971600" y="2276872"/>
            <a:ext cx="8384" cy="144854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p:nvPr/>
        </p:nvCxnSpPr>
        <p:spPr>
          <a:xfrm flipH="1">
            <a:off x="899592" y="2924944"/>
            <a:ext cx="16768" cy="129614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2" name="Rectangle à coins arrondis 31"/>
          <p:cNvSpPr/>
          <p:nvPr/>
        </p:nvSpPr>
        <p:spPr>
          <a:xfrm>
            <a:off x="1043608" y="3933056"/>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sp>
        <p:nvSpPr>
          <p:cNvPr id="33" name="Rectangle à coins arrondis 32"/>
          <p:cNvSpPr/>
          <p:nvPr/>
        </p:nvSpPr>
        <p:spPr>
          <a:xfrm>
            <a:off x="1115616" y="2132856"/>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b="1" dirty="0">
              <a:solidFill>
                <a:schemeClr val="bg1"/>
              </a:solidFill>
            </a:endParaRPr>
          </a:p>
        </p:txBody>
      </p:sp>
      <p:sp>
        <p:nvSpPr>
          <p:cNvPr id="34" name="Rectangle à coins arrondis 33"/>
          <p:cNvSpPr/>
          <p:nvPr/>
        </p:nvSpPr>
        <p:spPr>
          <a:xfrm>
            <a:off x="1043608" y="2348880"/>
            <a:ext cx="86409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t</a:t>
            </a:r>
            <a:r>
              <a:rPr lang="fr-FR" sz="2000" b="1" dirty="0">
                <a:solidFill>
                  <a:schemeClr val="bg1"/>
                </a:solidFill>
              </a:rPr>
              <a:t>/a</a:t>
            </a:r>
          </a:p>
        </p:txBody>
      </p:sp>
      <p:cxnSp>
        <p:nvCxnSpPr>
          <p:cNvPr id="35" name="Connecteur droit avec flèche 34"/>
          <p:cNvCxnSpPr/>
          <p:nvPr/>
        </p:nvCxnSpPr>
        <p:spPr>
          <a:xfrm>
            <a:off x="1259632" y="3861048"/>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p:nvPr/>
        </p:nvCxnSpPr>
        <p:spPr>
          <a:xfrm>
            <a:off x="1331640" y="2348880"/>
            <a:ext cx="43204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a:solidFill>
                  <a:schemeClr val="bg1"/>
                </a:solidFill>
              </a:rPr>
              <a:t>الموضوع السادس   </a:t>
            </a:r>
            <a:endParaRPr lang="fr-FR" sz="6000" b="1"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 </a:t>
            </a:r>
          </a:p>
          <a:p>
            <a:pPr algn="r"/>
            <a:endParaRPr lang="ar-DZ" sz="2400" b="1" dirty="0">
              <a:solidFill>
                <a:schemeClr val="dk1"/>
              </a:solidFill>
            </a:endParaRPr>
          </a:p>
          <a:p>
            <a:pPr algn="r"/>
            <a:endParaRPr lang="ar-DZ" sz="2400" b="1" dirty="0">
              <a:solidFill>
                <a:schemeClr val="dk1"/>
              </a:solidFill>
            </a:endParaRPr>
          </a:p>
          <a:p>
            <a:pPr algn="r"/>
            <a:r>
              <a:rPr lang="ar-DZ" sz="2400" b="1" dirty="0">
                <a:solidFill>
                  <a:schemeClr val="dk1"/>
                </a:solidFill>
              </a:rPr>
              <a:t>لمعالجة بعض </a:t>
            </a:r>
            <a:r>
              <a:rPr lang="ar-DZ" sz="2400" b="1" dirty="0" err="1">
                <a:solidFill>
                  <a:schemeClr val="dk1"/>
                </a:solidFill>
              </a:rPr>
              <a:t>النباتات </a:t>
            </a:r>
            <a:r>
              <a:rPr lang="ar-DZ" sz="2400" b="1" dirty="0">
                <a:solidFill>
                  <a:schemeClr val="dk1"/>
                </a:solidFill>
              </a:rPr>
              <a:t>(الطماطم و الكروم و </a:t>
            </a:r>
            <a:r>
              <a:rPr lang="ar-DZ" sz="2400" b="1" dirty="0" err="1">
                <a:solidFill>
                  <a:schemeClr val="dk1"/>
                </a:solidFill>
              </a:rPr>
              <a:t>البطاطا)</a:t>
            </a:r>
            <a:r>
              <a:rPr lang="ar-DZ" sz="2400" b="1" dirty="0">
                <a:solidFill>
                  <a:schemeClr val="dk1"/>
                </a:solidFill>
              </a:rPr>
              <a:t> </a:t>
            </a:r>
          </a:p>
          <a:p>
            <a:pPr algn="r"/>
            <a:r>
              <a:rPr lang="ar-DZ" sz="2400" b="1" dirty="0">
                <a:solidFill>
                  <a:schemeClr val="dk1"/>
                </a:solidFill>
              </a:rPr>
              <a:t>ضد مرض العفونة الفطرية قام المزارع بتحضير </a:t>
            </a:r>
          </a:p>
          <a:p>
            <a:pPr algn="r"/>
            <a:r>
              <a:rPr lang="ar-DZ" sz="2400" b="1" dirty="0">
                <a:solidFill>
                  <a:schemeClr val="dk1"/>
                </a:solidFill>
              </a:rPr>
              <a:t>في دلو</a:t>
            </a:r>
            <a:r>
              <a:rPr lang="fr-FR" sz="2400" b="1" dirty="0">
                <a:solidFill>
                  <a:schemeClr val="bg1"/>
                </a:solidFill>
              </a:rPr>
              <a:t>(Cu</a:t>
            </a:r>
            <a:r>
              <a:rPr lang="fr-FR" sz="2400" b="1" baseline="30000" dirty="0">
                <a:solidFill>
                  <a:schemeClr val="bg1"/>
                </a:solidFill>
              </a:rPr>
              <a:t>2+</a:t>
            </a:r>
            <a:r>
              <a:rPr lang="fr-FR" sz="2400" b="1" dirty="0">
                <a:solidFill>
                  <a:schemeClr val="bg1"/>
                </a:solidFill>
              </a:rPr>
              <a:t>+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 </a:t>
            </a:r>
            <a:r>
              <a:rPr lang="ar-DZ" sz="2400" b="1" dirty="0">
                <a:solidFill>
                  <a:schemeClr val="dk1"/>
                </a:solidFill>
              </a:rPr>
              <a:t>محلول كبريتات النحاس</a:t>
            </a:r>
          </a:p>
          <a:p>
            <a:pPr algn="r"/>
            <a:r>
              <a:rPr lang="ar-DZ" sz="2400" b="1" dirty="0">
                <a:solidFill>
                  <a:schemeClr val="dk1"/>
                </a:solidFill>
              </a:rPr>
              <a:t>من الحديد ثم  تركه وبعد مدة اندهش المزارع </a:t>
            </a:r>
          </a:p>
          <a:p>
            <a:pPr algn="r"/>
            <a:r>
              <a:rPr lang="ar-DZ" sz="2400" b="1" dirty="0">
                <a:solidFill>
                  <a:schemeClr val="dk1"/>
                </a:solidFill>
              </a:rPr>
              <a:t>من تشكل طبقة حمراء على سطح الدلو وتغير</a:t>
            </a:r>
          </a:p>
          <a:p>
            <a:pPr algn="r"/>
            <a:r>
              <a:rPr lang="ar-DZ" sz="2400" b="1" dirty="0">
                <a:solidFill>
                  <a:schemeClr val="dk1"/>
                </a:solidFill>
              </a:rPr>
              <a:t> لون المحلول الى الاخضر فضن ان المحلول فسد</a:t>
            </a:r>
          </a:p>
          <a:p>
            <a:pPr algn="r"/>
            <a:r>
              <a:rPr lang="ar-DZ" sz="2400" b="1" dirty="0">
                <a:solidFill>
                  <a:schemeClr val="dk1"/>
                </a:solidFill>
              </a:rPr>
              <a:t> ولكن ابنه الذي يدرس السنة الرابعة متوسط  قال له</a:t>
            </a:r>
          </a:p>
          <a:p>
            <a:pPr algn="r"/>
            <a:r>
              <a:rPr lang="ar-DZ" sz="2400" b="1" dirty="0">
                <a:solidFill>
                  <a:schemeClr val="dk1"/>
                </a:solidFill>
              </a:rPr>
              <a:t> </a:t>
            </a:r>
            <a:r>
              <a:rPr lang="ar-DZ" sz="2400" b="1" dirty="0" err="1">
                <a:solidFill>
                  <a:schemeClr val="dk1"/>
                </a:solidFill>
              </a:rPr>
              <a:t>سافسر</a:t>
            </a:r>
            <a:r>
              <a:rPr lang="ar-DZ" sz="2400" b="1" dirty="0">
                <a:solidFill>
                  <a:schemeClr val="dk1"/>
                </a:solidFill>
              </a:rPr>
              <a:t> لك ذلك </a:t>
            </a:r>
            <a:r>
              <a:rPr lang="ar-DZ" sz="2400" b="1" dirty="0" err="1">
                <a:solidFill>
                  <a:schemeClr val="dk1"/>
                </a:solidFill>
              </a:rPr>
              <a:t>يابي</a:t>
            </a:r>
            <a:endParaRPr lang="ar-DZ" sz="2400" b="1" dirty="0">
              <a:solidFill>
                <a:schemeClr val="dk1"/>
              </a:solidFill>
            </a:endParaRPr>
          </a:p>
          <a:p>
            <a:pPr algn="r"/>
            <a:r>
              <a:rPr lang="ar-DZ" sz="2400" b="1" dirty="0">
                <a:solidFill>
                  <a:schemeClr val="dk1"/>
                </a:solidFill>
              </a:rPr>
              <a:t> 1-كيف يفسر له الابن  الطبقة الحمراء التي ظهرت على سطح الدلو  وكيف تم ذلك    مبينا </a:t>
            </a:r>
            <a:r>
              <a:rPr lang="ar-DZ" sz="2400" b="1" dirty="0" err="1">
                <a:solidFill>
                  <a:schemeClr val="dk1"/>
                </a:solidFill>
              </a:rPr>
              <a:t>بنمجة</a:t>
            </a:r>
            <a:r>
              <a:rPr lang="ar-DZ" sz="2400" b="1" dirty="0">
                <a:solidFill>
                  <a:schemeClr val="dk1"/>
                </a:solidFill>
              </a:rPr>
              <a:t> بمعادلة </a:t>
            </a:r>
            <a:r>
              <a:rPr lang="ar-DZ" sz="2400" b="1" dirty="0" err="1">
                <a:solidFill>
                  <a:schemeClr val="dk1"/>
                </a:solidFill>
              </a:rPr>
              <a:t>كيميائية ؟</a:t>
            </a:r>
            <a:endParaRPr lang="ar-DZ" sz="2400" b="1" dirty="0">
              <a:solidFill>
                <a:schemeClr val="dk1"/>
              </a:solidFill>
            </a:endParaRPr>
          </a:p>
          <a:p>
            <a:pPr algn="r"/>
            <a:r>
              <a:rPr lang="ar-DZ" sz="2400" b="1" dirty="0">
                <a:solidFill>
                  <a:schemeClr val="dk1"/>
                </a:solidFill>
              </a:rPr>
              <a:t>2-</a:t>
            </a:r>
            <a:r>
              <a:rPr lang="ar-DZ" sz="2400" b="1" dirty="0" err="1">
                <a:solidFill>
                  <a:schemeClr val="dk1"/>
                </a:solidFill>
              </a:rPr>
              <a:t>ماهي</a:t>
            </a:r>
            <a:r>
              <a:rPr lang="ar-DZ" sz="2400" b="1" dirty="0">
                <a:solidFill>
                  <a:schemeClr val="dk1"/>
                </a:solidFill>
              </a:rPr>
              <a:t> الطريقة التي يمكن ان يوضح </a:t>
            </a:r>
            <a:r>
              <a:rPr lang="ar-DZ" sz="2400" b="1" dirty="0" err="1">
                <a:solidFill>
                  <a:schemeClr val="dk1"/>
                </a:solidFill>
              </a:rPr>
              <a:t>بها</a:t>
            </a:r>
            <a:r>
              <a:rPr lang="ar-DZ" sz="2400" b="1" dirty="0">
                <a:solidFill>
                  <a:schemeClr val="dk1"/>
                </a:solidFill>
              </a:rPr>
              <a:t> الابن </a:t>
            </a:r>
            <a:r>
              <a:rPr lang="ar-DZ" sz="2400" b="1" dirty="0" err="1">
                <a:solidFill>
                  <a:schemeClr val="dk1"/>
                </a:solidFill>
              </a:rPr>
              <a:t>لابيه</a:t>
            </a:r>
            <a:r>
              <a:rPr lang="ar-DZ" sz="2400" b="1" dirty="0">
                <a:solidFill>
                  <a:schemeClr val="dk1"/>
                </a:solidFill>
              </a:rPr>
              <a:t> الى ماذا يرجع اللون الازرق في الاول و اللون </a:t>
            </a:r>
            <a:r>
              <a:rPr lang="ar-DZ" sz="2400" b="1" dirty="0" err="1">
                <a:solidFill>
                  <a:schemeClr val="dk1"/>
                </a:solidFill>
              </a:rPr>
              <a:t>الاخصر</a:t>
            </a:r>
            <a:r>
              <a:rPr lang="ar-DZ" sz="2400" b="1" dirty="0">
                <a:solidFill>
                  <a:schemeClr val="dk1"/>
                </a:solidFill>
              </a:rPr>
              <a:t> بعد </a:t>
            </a:r>
            <a:r>
              <a:rPr lang="ar-DZ" sz="2400" b="1" dirty="0" err="1">
                <a:solidFill>
                  <a:schemeClr val="dk1"/>
                </a:solidFill>
              </a:rPr>
              <a:t>مدة   ؟</a:t>
            </a:r>
            <a:endParaRPr lang="ar-DZ" sz="2400" b="1" dirty="0">
              <a:solidFill>
                <a:schemeClr val="dk1"/>
              </a:solidFill>
            </a:endParaRPr>
          </a:p>
          <a:p>
            <a:pPr algn="r"/>
            <a:r>
              <a:rPr lang="ar-DZ" sz="2400" b="1" dirty="0">
                <a:solidFill>
                  <a:schemeClr val="dk1"/>
                </a:solidFill>
              </a:rPr>
              <a:t>3-اقترح النصيحة التي يقدمها الابن </a:t>
            </a:r>
            <a:r>
              <a:rPr lang="ar-DZ" sz="2400" b="1" dirty="0" err="1">
                <a:solidFill>
                  <a:schemeClr val="dk1"/>
                </a:solidFill>
              </a:rPr>
              <a:t>لابيه</a:t>
            </a:r>
            <a:r>
              <a:rPr lang="ar-DZ" sz="2400" b="1" dirty="0">
                <a:solidFill>
                  <a:schemeClr val="dk1"/>
                </a:solidFill>
              </a:rPr>
              <a:t> من اجل عدم الوقوع في هذه المشكلة مرة اخرى </a:t>
            </a:r>
          </a:p>
          <a:p>
            <a:pPr algn="r"/>
            <a:endParaRPr lang="ar-DZ" sz="2400" b="1" dirty="0">
              <a:solidFill>
                <a:schemeClr val="dk1"/>
              </a:solidFill>
            </a:endParaRPr>
          </a:p>
          <a:p>
            <a:pPr algn="r"/>
            <a:endParaRPr lang="ar-DZ" sz="2400" b="1" dirty="0">
              <a:solidFill>
                <a:schemeClr val="bg1"/>
              </a:solidFill>
            </a:endParaRPr>
          </a:p>
          <a:p>
            <a:pPr algn="r"/>
            <a:endParaRPr lang="ar-DZ" sz="2400" b="1" dirty="0">
              <a:solidFill>
                <a:schemeClr val="bg1"/>
              </a:solidFill>
            </a:endParaRPr>
          </a:p>
        </p:txBody>
      </p:sp>
      <p:pic>
        <p:nvPicPr>
          <p:cNvPr id="4" name="Image 3" descr="téléchargement.jpg"/>
          <p:cNvPicPr>
            <a:picLocks noChangeAspect="1"/>
          </p:cNvPicPr>
          <p:nvPr/>
        </p:nvPicPr>
        <p:blipFill>
          <a:blip r:embed="rId2" cstate="print"/>
          <a:stretch>
            <a:fillRect/>
          </a:stretch>
        </p:blipFill>
        <p:spPr>
          <a:xfrm>
            <a:off x="395536" y="1052736"/>
            <a:ext cx="3219450" cy="2304256"/>
          </a:xfrm>
          <a:prstGeom prst="rect">
            <a:avLst/>
          </a:prstGeom>
        </p:spPr>
      </p:pic>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(5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800" b="1" dirty="0">
                <a:solidFill>
                  <a:schemeClr val="dk1"/>
                </a:solidFill>
              </a:rPr>
              <a:t>من اجل ان يختبر استعداد ابنه طلب الكهربائي منه تحديد الاخطاء الواردة في المخطط الكهربائي الذي صممه ثم اقتراح الحلول المناسبة لهذه الاخطاء من اجل تصحيحها </a:t>
            </a:r>
            <a:r>
              <a:rPr lang="ar-DZ" sz="2800" b="1" dirty="0" err="1">
                <a:solidFill>
                  <a:schemeClr val="dk1"/>
                </a:solidFill>
              </a:rPr>
              <a:t>واعادة</a:t>
            </a:r>
            <a:r>
              <a:rPr lang="ar-DZ" sz="2800" b="1" dirty="0">
                <a:solidFill>
                  <a:schemeClr val="dk1"/>
                </a:solidFill>
              </a:rPr>
              <a:t> الرسم بشكل صحيح</a:t>
            </a:r>
          </a:p>
          <a:p>
            <a:pPr algn="r"/>
            <a:r>
              <a:rPr lang="ar-DZ" sz="2800" b="1" dirty="0">
                <a:solidFill>
                  <a:schemeClr val="dk1"/>
                </a:solidFill>
              </a:rPr>
              <a:t>1-اذكر الاخطاء الممكنة في هذا المخطط</a:t>
            </a:r>
          </a:p>
          <a:p>
            <a:pPr algn="r"/>
            <a:r>
              <a:rPr lang="ar-DZ" sz="2800" b="1" dirty="0">
                <a:solidFill>
                  <a:schemeClr val="dk1"/>
                </a:solidFill>
              </a:rPr>
              <a:t>2- </a:t>
            </a:r>
            <a:r>
              <a:rPr lang="ar-DZ" sz="2800" b="1" dirty="0" err="1">
                <a:solidFill>
                  <a:schemeClr val="dk1"/>
                </a:solidFill>
              </a:rPr>
              <a:t>ماهو</a:t>
            </a:r>
            <a:r>
              <a:rPr lang="ar-DZ" sz="2800" b="1" dirty="0">
                <a:solidFill>
                  <a:schemeClr val="dk1"/>
                </a:solidFill>
              </a:rPr>
              <a:t> الهدف من استعمال الون الاحمر و الازرق في </a:t>
            </a:r>
            <a:r>
              <a:rPr lang="ar-DZ" sz="2800" b="1" dirty="0" err="1">
                <a:solidFill>
                  <a:schemeClr val="dk1"/>
                </a:solidFill>
              </a:rPr>
              <a:t>النواقل</a:t>
            </a:r>
            <a:r>
              <a:rPr lang="ar-DZ" sz="2800" b="1" dirty="0">
                <a:solidFill>
                  <a:schemeClr val="dk1"/>
                </a:solidFill>
              </a:rPr>
              <a:t> </a:t>
            </a:r>
            <a:r>
              <a:rPr lang="ar-DZ" sz="2800" b="1" dirty="0" err="1">
                <a:solidFill>
                  <a:schemeClr val="dk1"/>
                </a:solidFill>
              </a:rPr>
              <a:t>؟</a:t>
            </a:r>
            <a:endParaRPr lang="ar-DZ" sz="2800" b="1" dirty="0">
              <a:solidFill>
                <a:schemeClr val="dk1"/>
              </a:solidFill>
            </a:endParaRPr>
          </a:p>
          <a:p>
            <a:pPr algn="r"/>
            <a:r>
              <a:rPr lang="ar-DZ" sz="2800" b="1" dirty="0">
                <a:solidFill>
                  <a:schemeClr val="dk1"/>
                </a:solidFill>
              </a:rPr>
              <a:t>3-اقترح حلولا مناسبة لكل خطأ مع اعادة الرسم    </a:t>
            </a: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4077072"/>
            <a:ext cx="4499992" cy="252028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a:t>
            </a:r>
            <a:r>
              <a:rPr lang="ar-DZ" sz="2800" b="1" dirty="0" err="1">
                <a:solidFill>
                  <a:schemeClr val="bg1"/>
                </a:solidFill>
              </a:rPr>
              <a:t>الادماجية </a:t>
            </a:r>
            <a:r>
              <a:rPr lang="ar-DZ" sz="2800" b="1" dirty="0">
                <a:solidFill>
                  <a:schemeClr val="bg1"/>
                </a:solidFill>
              </a:rPr>
              <a:t>(8 نقاط</a:t>
            </a:r>
            <a:r>
              <a:rPr lang="ar-DZ" sz="2800" b="1" dirty="0" err="1">
                <a:solidFill>
                  <a:schemeClr val="bg1"/>
                </a:solidFill>
              </a:rPr>
              <a:t>)</a:t>
            </a:r>
            <a:r>
              <a:rPr lang="ar-DZ" sz="2800" b="1" dirty="0">
                <a:solidFill>
                  <a:schemeClr val="bg1"/>
                </a:solidFill>
              </a:rPr>
              <a:t> </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عندما  ذهب احمد مع مجموعة التلاميذ في رحلة مدرسية علمية الى احدى مكتبة الامل     مع عمودي الانارة </a:t>
            </a:r>
            <a:r>
              <a:rPr lang="fr-FR" sz="2400" b="1" dirty="0">
                <a:solidFill>
                  <a:schemeClr val="bg1"/>
                </a:solidFill>
              </a:rPr>
              <a:t>f1</a:t>
            </a:r>
            <a:r>
              <a:rPr lang="ar-DZ" sz="2400" b="1" dirty="0">
                <a:solidFill>
                  <a:schemeClr val="bg1"/>
                </a:solidFill>
              </a:rPr>
              <a:t> و </a:t>
            </a:r>
            <a:r>
              <a:rPr lang="fr-FR" sz="2400" b="1" dirty="0">
                <a:solidFill>
                  <a:schemeClr val="bg1"/>
                </a:solidFill>
              </a:rPr>
              <a:t> f2</a:t>
            </a:r>
            <a:r>
              <a:rPr lang="ar-DZ" sz="2400" b="1" dirty="0">
                <a:solidFill>
                  <a:schemeClr val="bg1"/>
                </a:solidFill>
              </a:rPr>
              <a:t> شاهد لافتة معلقة فوق الباب ومربوطة بحبلين </a:t>
            </a:r>
          </a:p>
          <a:p>
            <a:pPr algn="r"/>
            <a:r>
              <a:rPr lang="ar-DZ" sz="2400" b="1" dirty="0">
                <a:solidFill>
                  <a:schemeClr val="bg1"/>
                </a:solidFill>
              </a:rPr>
              <a:t>وبعد خروجها شاهد ان الحبل الاول انقطع وبقيت اللافتة في حالة توازن لمدة           ثم انقطع الحبل الثاني وسقطت  اللافتة فوق مسبح مائي ثم غاصت ولكنها ارتفعت       و  بقيت طافية فوق الماء في حالة توازن </a:t>
            </a:r>
          </a:p>
          <a:p>
            <a:pPr algn="r"/>
            <a:r>
              <a:rPr lang="ar-DZ" sz="2400" b="1" dirty="0" err="1">
                <a:solidFill>
                  <a:schemeClr val="bg1"/>
                </a:solidFill>
              </a:rPr>
              <a:t>فاراد</a:t>
            </a:r>
            <a:r>
              <a:rPr lang="ar-DZ" sz="2400" b="1" dirty="0">
                <a:solidFill>
                  <a:schemeClr val="bg1"/>
                </a:solidFill>
              </a:rPr>
              <a:t> استغلال  هذه الظواهر لتفسيرها لزملائه من السنوات الرابعة متوسط</a:t>
            </a:r>
          </a:p>
          <a:p>
            <a:pPr algn="r"/>
            <a:r>
              <a:rPr lang="ar-DZ" sz="2400" b="1" dirty="0">
                <a:solidFill>
                  <a:schemeClr val="bg1"/>
                </a:solidFill>
              </a:rPr>
              <a:t>1-كيف يفسر  لهم بقاء اللافتة في حالة توازن قبل وبعد انقطاع احد الحبلين مع ذكر شرطي  التوازن لكل حالة و تمثيل القوى المؤثرة عليها في الحالتين بشكل </a:t>
            </a:r>
            <a:r>
              <a:rPr lang="ar-DZ" sz="2400" b="1" dirty="0" err="1">
                <a:solidFill>
                  <a:schemeClr val="bg1"/>
                </a:solidFill>
              </a:rPr>
              <a:t>كيفي ؟</a:t>
            </a:r>
            <a:endParaRPr lang="ar-DZ" sz="2400" b="1" dirty="0">
              <a:solidFill>
                <a:schemeClr val="bg1"/>
              </a:solidFill>
            </a:endParaRPr>
          </a:p>
          <a:p>
            <a:pPr algn="r"/>
            <a:r>
              <a:rPr lang="ar-DZ" sz="2400" b="1" dirty="0">
                <a:solidFill>
                  <a:schemeClr val="bg1"/>
                </a:solidFill>
              </a:rPr>
              <a:t>2-</a:t>
            </a:r>
            <a:r>
              <a:rPr lang="ar-DZ" sz="2400" b="1" dirty="0" err="1">
                <a:solidFill>
                  <a:schemeClr val="bg1"/>
                </a:solidFill>
              </a:rPr>
              <a:t>ماهي</a:t>
            </a:r>
            <a:r>
              <a:rPr lang="ar-DZ" sz="2400" b="1" dirty="0">
                <a:solidFill>
                  <a:schemeClr val="bg1"/>
                </a:solidFill>
              </a:rPr>
              <a:t> القوة التي يذكرها لهم </a:t>
            </a:r>
            <a:r>
              <a:rPr lang="ar-DZ" sz="2400" b="1" dirty="0" err="1">
                <a:solidFill>
                  <a:schemeClr val="bg1"/>
                </a:solidFill>
              </a:rPr>
              <a:t>وادت</a:t>
            </a:r>
            <a:r>
              <a:rPr lang="ar-DZ" sz="2400" b="1" dirty="0">
                <a:solidFill>
                  <a:schemeClr val="bg1"/>
                </a:solidFill>
              </a:rPr>
              <a:t> الى جعل </a:t>
            </a:r>
            <a:r>
              <a:rPr lang="ar-DZ" sz="2400" b="1" dirty="0" err="1">
                <a:solidFill>
                  <a:schemeClr val="bg1"/>
                </a:solidFill>
              </a:rPr>
              <a:t>الافتة</a:t>
            </a:r>
            <a:r>
              <a:rPr lang="ar-DZ" sz="2400" b="1" dirty="0">
                <a:solidFill>
                  <a:schemeClr val="bg1"/>
                </a:solidFill>
              </a:rPr>
              <a:t> ترتفع الى سطح الماء و ذكر </a:t>
            </a:r>
            <a:r>
              <a:rPr lang="ar-DZ" sz="2400" b="1" dirty="0" err="1">
                <a:solidFill>
                  <a:schemeClr val="bg1"/>
                </a:solidFill>
              </a:rPr>
              <a:t>خصائصها  ؟</a:t>
            </a:r>
            <a:r>
              <a:rPr lang="ar-DZ" sz="2400" b="1" dirty="0">
                <a:solidFill>
                  <a:schemeClr val="bg1"/>
                </a:solidFill>
              </a:rPr>
              <a:t> </a:t>
            </a:r>
          </a:p>
          <a:p>
            <a:pPr algn="r"/>
            <a:r>
              <a:rPr lang="ar-DZ" sz="2400" b="1" dirty="0">
                <a:solidFill>
                  <a:schemeClr val="bg1"/>
                </a:solidFill>
              </a:rPr>
              <a:t>3- هل تكون في هذه الحالة </a:t>
            </a:r>
          </a:p>
          <a:p>
            <a:pPr algn="r"/>
            <a:r>
              <a:rPr lang="ar-DZ" sz="2400" b="1" dirty="0">
                <a:solidFill>
                  <a:schemeClr val="bg1"/>
                </a:solidFill>
              </a:rPr>
              <a:t>شدة دافعة </a:t>
            </a:r>
            <a:r>
              <a:rPr lang="ar-DZ" sz="2400" b="1" dirty="0" err="1">
                <a:solidFill>
                  <a:schemeClr val="bg1"/>
                </a:solidFill>
              </a:rPr>
              <a:t>ارخميدس</a:t>
            </a:r>
            <a:r>
              <a:rPr lang="ar-DZ" sz="2400" b="1" dirty="0">
                <a:solidFill>
                  <a:schemeClr val="bg1"/>
                </a:solidFill>
              </a:rPr>
              <a:t> اكبر</a:t>
            </a:r>
          </a:p>
          <a:p>
            <a:pPr algn="r"/>
            <a:r>
              <a:rPr lang="ar-DZ" sz="2400" b="1" dirty="0">
                <a:solidFill>
                  <a:schemeClr val="bg1"/>
                </a:solidFill>
              </a:rPr>
              <a:t> ام اصغر ام تساوي </a:t>
            </a:r>
          </a:p>
          <a:p>
            <a:pPr algn="r"/>
            <a:r>
              <a:rPr lang="ar-DZ" sz="2400" b="1" dirty="0">
                <a:solidFill>
                  <a:schemeClr val="bg1"/>
                </a:solidFill>
              </a:rPr>
              <a:t>الى شدة الثقل </a:t>
            </a:r>
          </a:p>
          <a:p>
            <a:pPr algn="r"/>
            <a:r>
              <a:rPr lang="ar-DZ" sz="2400" b="1" dirty="0">
                <a:solidFill>
                  <a:schemeClr val="bg1"/>
                </a:solidFill>
              </a:rPr>
              <a:t>مع التبرير </a:t>
            </a:r>
            <a:r>
              <a:rPr lang="ar-DZ" sz="2400" b="1" dirty="0" err="1">
                <a:solidFill>
                  <a:schemeClr val="bg1"/>
                </a:solidFill>
              </a:rPr>
              <a:t>والتمثيل  ؟</a:t>
            </a: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  </a:t>
            </a:r>
          </a:p>
          <a:p>
            <a:pPr algn="r"/>
            <a:r>
              <a:rPr lang="ar-DZ" sz="2400" b="1" dirty="0">
                <a:solidFill>
                  <a:schemeClr val="bg1"/>
                </a:solidFill>
              </a:rPr>
              <a:t>  </a:t>
            </a:r>
          </a:p>
          <a:p>
            <a:pPr algn="r"/>
            <a:r>
              <a:rPr lang="ar-DZ" sz="2400" b="1" dirty="0">
                <a:solidFill>
                  <a:schemeClr val="bg1"/>
                </a:solidFill>
              </a:rPr>
              <a:t> </a:t>
            </a:r>
          </a:p>
          <a:p>
            <a:pPr algn="r"/>
            <a:endParaRPr lang="fr-FR" sz="2400" b="1" dirty="0">
              <a:solidFill>
                <a:schemeClr val="bg1"/>
              </a:solidFill>
            </a:endParaRPr>
          </a:p>
        </p:txBody>
      </p:sp>
      <p:pic>
        <p:nvPicPr>
          <p:cNvPr id="205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4653136"/>
            <a:ext cx="5508104" cy="1800200"/>
          </a:xfrm>
          <a:prstGeom prst="rect">
            <a:avLst/>
          </a:prstGeom>
          <a:noFill/>
          <a:ln w="9525">
            <a:noFill/>
            <a:miter lim="800000"/>
            <a:headEnd/>
            <a:tailEnd/>
          </a:ln>
        </p:spPr>
      </p:pic>
      <p:sp>
        <p:nvSpPr>
          <p:cNvPr id="7" name="Rectangle à coins arrondis 6"/>
          <p:cNvSpPr/>
          <p:nvPr/>
        </p:nvSpPr>
        <p:spPr>
          <a:xfrm>
            <a:off x="3779912" y="5229200"/>
            <a:ext cx="1224136" cy="360040"/>
          </a:xfrm>
          <a:prstGeom prst="roundRect">
            <a:avLst/>
          </a:prstGeom>
          <a:solidFill>
            <a:srgbClr val="99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000" b="1" dirty="0">
                <a:solidFill>
                  <a:schemeClr val="bg1"/>
                </a:solidFill>
              </a:rPr>
              <a:t>مكتبة الامل </a:t>
            </a:r>
            <a:endParaRPr lang="fr-FR" sz="2000" b="1" dirty="0">
              <a:solidFill>
                <a:schemeClr val="bg1"/>
              </a:solidFill>
            </a:endParaRPr>
          </a:p>
        </p:txBody>
      </p:sp>
      <p:sp>
        <p:nvSpPr>
          <p:cNvPr id="8" name="Rectangle à coins arrondis 7"/>
          <p:cNvSpPr/>
          <p:nvPr/>
        </p:nvSpPr>
        <p:spPr>
          <a:xfrm rot="16200000">
            <a:off x="1907704" y="5445224"/>
            <a:ext cx="936104" cy="360040"/>
          </a:xfrm>
          <a:prstGeom prst="roundRect">
            <a:avLst/>
          </a:prstGeom>
          <a:solidFill>
            <a:srgbClr val="99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1400" b="1" dirty="0">
                <a:solidFill>
                  <a:schemeClr val="bg1"/>
                </a:solidFill>
              </a:rPr>
              <a:t>مكتبة الامل </a:t>
            </a:r>
            <a:endParaRPr lang="fr-FR" sz="1400" b="1" dirty="0">
              <a:solidFill>
                <a:schemeClr val="bg1"/>
              </a:solidFill>
            </a:endParaRPr>
          </a:p>
        </p:txBody>
      </p:sp>
      <p:sp>
        <p:nvSpPr>
          <p:cNvPr id="9" name="Rectangle à coins arrondis 8"/>
          <p:cNvSpPr/>
          <p:nvPr/>
        </p:nvSpPr>
        <p:spPr>
          <a:xfrm>
            <a:off x="5004048" y="4941168"/>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a:t>
            </a:r>
            <a:r>
              <a:rPr lang="ar-DZ" sz="1600" b="1" dirty="0">
                <a:solidFill>
                  <a:schemeClr val="bg1"/>
                </a:solidFill>
              </a:rPr>
              <a:t>2</a:t>
            </a:r>
            <a:endParaRPr lang="fr-FR" sz="1600" b="1" dirty="0">
              <a:solidFill>
                <a:schemeClr val="bg1"/>
              </a:solidFill>
            </a:endParaRPr>
          </a:p>
        </p:txBody>
      </p:sp>
      <p:sp>
        <p:nvSpPr>
          <p:cNvPr id="10" name="Rectangle à coins arrondis 9"/>
          <p:cNvSpPr/>
          <p:nvPr/>
        </p:nvSpPr>
        <p:spPr>
          <a:xfrm>
            <a:off x="3347864" y="5013176"/>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f1</a:t>
            </a:r>
          </a:p>
        </p:txBody>
      </p:sp>
      <p:sp>
        <p:nvSpPr>
          <p:cNvPr id="11" name="Rectangle à coins arrondis 10"/>
          <p:cNvSpPr/>
          <p:nvPr/>
        </p:nvSpPr>
        <p:spPr>
          <a:xfrm>
            <a:off x="2411760" y="4797152"/>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a:t>
            </a:r>
            <a:r>
              <a:rPr lang="ar-DZ" sz="1600" b="1" dirty="0">
                <a:solidFill>
                  <a:schemeClr val="bg1"/>
                </a:solidFill>
              </a:rPr>
              <a:t>2</a:t>
            </a:r>
            <a:endParaRPr lang="fr-FR" sz="1600" b="1"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1-ظهور الطبقة الحمراء يعود الى  حدوث تفاعل بين محلول كبريتات النحاس والحديد مما ينتج عنه تشكل طبقة حمراء من النحاس ويتم ذلك وفق المعادلة الاتية </a:t>
            </a:r>
          </a:p>
          <a:p>
            <a:pPr algn="r"/>
            <a:r>
              <a:rPr lang="fr-FR" sz="2400" b="1" dirty="0">
                <a:solidFill>
                  <a:schemeClr val="bg1"/>
                </a:solidFill>
              </a:rPr>
              <a:t>Fe(S)+</a:t>
            </a:r>
            <a:r>
              <a:rPr lang="ar-DZ" sz="2400" b="1" dirty="0">
                <a:solidFill>
                  <a:schemeClr val="bg1"/>
                </a:solidFill>
              </a:rPr>
              <a:t> </a:t>
            </a:r>
            <a:r>
              <a:rPr lang="fr-FR" sz="2400" b="1" dirty="0">
                <a:solidFill>
                  <a:schemeClr val="bg1"/>
                </a:solidFill>
              </a:rPr>
              <a:t>(Cu</a:t>
            </a:r>
            <a:r>
              <a:rPr lang="fr-FR" sz="2400" b="1" baseline="30000" dirty="0">
                <a:solidFill>
                  <a:schemeClr val="bg1"/>
                </a:solidFill>
              </a:rPr>
              <a:t>2+</a:t>
            </a:r>
            <a:r>
              <a:rPr lang="en-US" sz="2400" b="1" dirty="0">
                <a:solidFill>
                  <a:schemeClr val="bg1"/>
                </a:solidFill>
              </a:rPr>
              <a:t>+</a:t>
            </a:r>
            <a:r>
              <a:rPr lang="fr-FR" sz="2400" b="1" dirty="0">
                <a:solidFill>
                  <a:schemeClr val="bg1"/>
                </a:solidFill>
              </a:rPr>
              <a:t>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(Fe</a:t>
            </a:r>
            <a:r>
              <a:rPr lang="fr-FR" sz="2400" b="1" baseline="30000" dirty="0">
                <a:solidFill>
                  <a:schemeClr val="bg1"/>
                </a:solidFill>
              </a:rPr>
              <a:t>2+</a:t>
            </a:r>
            <a:r>
              <a:rPr lang="fr-FR" sz="2400" b="1" dirty="0">
                <a:solidFill>
                  <a:schemeClr val="bg1"/>
                </a:solidFill>
              </a:rPr>
              <a:t> +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Cu  (s</a:t>
            </a:r>
            <a:r>
              <a:rPr lang="ar-DZ" sz="2400" b="1" dirty="0">
                <a:solidFill>
                  <a:schemeClr val="bg1"/>
                </a:solidFill>
              </a:rPr>
              <a:t> </a:t>
            </a:r>
            <a:r>
              <a:rPr lang="fr-FR" sz="2400" b="1" dirty="0">
                <a:solidFill>
                  <a:schemeClr val="bg1"/>
                </a:solidFill>
              </a:rPr>
              <a:t>)</a:t>
            </a:r>
            <a:endParaRPr lang="ar-DZ" sz="2400" b="1" dirty="0">
              <a:solidFill>
                <a:schemeClr val="bg1"/>
              </a:solidFill>
            </a:endParaRPr>
          </a:p>
          <a:p>
            <a:pPr algn="r"/>
            <a:r>
              <a:rPr lang="ar-DZ" sz="2400" b="1" dirty="0">
                <a:solidFill>
                  <a:schemeClr val="dk1"/>
                </a:solidFill>
              </a:rPr>
              <a:t>2-الطريقة التي يبين </a:t>
            </a:r>
            <a:r>
              <a:rPr lang="ar-DZ" sz="2400" b="1" dirty="0" err="1">
                <a:solidFill>
                  <a:schemeClr val="dk1"/>
                </a:solidFill>
              </a:rPr>
              <a:t>بها</a:t>
            </a:r>
            <a:r>
              <a:rPr lang="ar-DZ" sz="2400" b="1" dirty="0">
                <a:solidFill>
                  <a:schemeClr val="dk1"/>
                </a:solidFill>
              </a:rPr>
              <a:t> الى ماذا يرجع اللون الازرق في الاول هو انه </a:t>
            </a:r>
            <a:r>
              <a:rPr lang="ar-DZ" sz="2400" b="1" dirty="0" err="1">
                <a:solidFill>
                  <a:schemeClr val="dk1"/>
                </a:solidFill>
              </a:rPr>
              <a:t>ياتي</a:t>
            </a:r>
            <a:r>
              <a:rPr lang="ar-DZ" sz="2400" b="1" dirty="0">
                <a:solidFill>
                  <a:schemeClr val="dk1"/>
                </a:solidFill>
              </a:rPr>
              <a:t> </a:t>
            </a:r>
            <a:r>
              <a:rPr lang="ar-DZ" sz="2400" b="1" dirty="0" err="1">
                <a:solidFill>
                  <a:schemeClr val="dk1"/>
                </a:solidFill>
              </a:rPr>
              <a:t>بكمبة</a:t>
            </a:r>
            <a:r>
              <a:rPr lang="ar-DZ" sz="2400" b="1" dirty="0">
                <a:solidFill>
                  <a:schemeClr val="dk1"/>
                </a:solidFill>
              </a:rPr>
              <a:t> من محلول  كبريتات النحاس شفاف ثم يضيف له قطرات من محلول </a:t>
            </a:r>
            <a:r>
              <a:rPr lang="ar-DZ" sz="2400" b="1" dirty="0" err="1">
                <a:solidFill>
                  <a:schemeClr val="dk1"/>
                </a:solidFill>
              </a:rPr>
              <a:t>هيدروكسيد</a:t>
            </a:r>
            <a:r>
              <a:rPr lang="ar-DZ" sz="2400" b="1" dirty="0">
                <a:solidFill>
                  <a:schemeClr val="dk1"/>
                </a:solidFill>
              </a:rPr>
              <a:t> الصوديوم فيحصل على راسب ازرق دليل على وجود </a:t>
            </a:r>
            <a:r>
              <a:rPr lang="ar-DZ" sz="2400" b="1" dirty="0" err="1">
                <a:solidFill>
                  <a:schemeClr val="dk1"/>
                </a:solidFill>
              </a:rPr>
              <a:t>شوارد</a:t>
            </a:r>
            <a:r>
              <a:rPr lang="ar-DZ" sz="2400" b="1" dirty="0">
                <a:solidFill>
                  <a:schemeClr val="dk1"/>
                </a:solidFill>
              </a:rPr>
              <a:t> النحاس </a:t>
            </a:r>
          </a:p>
          <a:p>
            <a:pPr algn="r"/>
            <a:r>
              <a:rPr lang="ar-DZ" sz="2400" b="1" dirty="0">
                <a:solidFill>
                  <a:schemeClr val="dk1"/>
                </a:solidFill>
              </a:rPr>
              <a:t> ماذا يرجع اللون الاخضر </a:t>
            </a:r>
            <a:r>
              <a:rPr lang="ar-DZ" sz="2400" b="1" dirty="0" err="1">
                <a:solidFill>
                  <a:schemeClr val="dk1"/>
                </a:solidFill>
              </a:rPr>
              <a:t>ياتي</a:t>
            </a:r>
            <a:r>
              <a:rPr lang="ar-DZ" sz="2400" b="1" dirty="0">
                <a:solidFill>
                  <a:schemeClr val="dk1"/>
                </a:solidFill>
              </a:rPr>
              <a:t> </a:t>
            </a:r>
            <a:r>
              <a:rPr lang="ar-DZ" sz="2400" b="1" dirty="0" err="1">
                <a:solidFill>
                  <a:schemeClr val="dk1"/>
                </a:solidFill>
              </a:rPr>
              <a:t>بكمبة</a:t>
            </a:r>
            <a:r>
              <a:rPr lang="ar-DZ" sz="2400" b="1" dirty="0">
                <a:solidFill>
                  <a:schemeClr val="dk1"/>
                </a:solidFill>
              </a:rPr>
              <a:t> من محلول  كبريتات الحديد شفاف ثم يضيف له قطرات من محلول </a:t>
            </a:r>
            <a:r>
              <a:rPr lang="ar-DZ" sz="2400" b="1" dirty="0" err="1">
                <a:solidFill>
                  <a:schemeClr val="dk1"/>
                </a:solidFill>
              </a:rPr>
              <a:t>هيدروكسيد</a:t>
            </a:r>
            <a:r>
              <a:rPr lang="ar-DZ" sz="2400" b="1" dirty="0">
                <a:solidFill>
                  <a:schemeClr val="dk1"/>
                </a:solidFill>
              </a:rPr>
              <a:t> الصوديوم فيحصل على راسب ااخضر  دليل على وجود </a:t>
            </a:r>
            <a:r>
              <a:rPr lang="ar-DZ" sz="2400" b="1" dirty="0" err="1">
                <a:solidFill>
                  <a:schemeClr val="dk1"/>
                </a:solidFill>
              </a:rPr>
              <a:t>شوارد</a:t>
            </a:r>
            <a:r>
              <a:rPr lang="ar-DZ" sz="2400" b="1" dirty="0">
                <a:solidFill>
                  <a:schemeClr val="dk1"/>
                </a:solidFill>
              </a:rPr>
              <a:t> الحديد الثنائي  </a:t>
            </a:r>
          </a:p>
          <a:p>
            <a:pPr algn="r"/>
            <a:r>
              <a:rPr lang="ar-DZ" sz="2400" b="1" dirty="0">
                <a:solidFill>
                  <a:schemeClr val="dk1"/>
                </a:solidFill>
              </a:rPr>
              <a:t>3-النصيحة التي يقدمها له الابن وهي عدم استعمال دلاء من بعض </a:t>
            </a:r>
            <a:r>
              <a:rPr lang="ar-DZ" sz="2400" b="1" dirty="0" err="1">
                <a:solidFill>
                  <a:schemeClr val="dk1"/>
                </a:solidFill>
              </a:rPr>
              <a:t>المعادن (حديد </a:t>
            </a:r>
            <a:r>
              <a:rPr lang="ar-DZ" sz="2400" b="1" dirty="0">
                <a:solidFill>
                  <a:schemeClr val="dk1"/>
                </a:solidFill>
              </a:rPr>
              <a:t>–زنك او </a:t>
            </a:r>
            <a:r>
              <a:rPr lang="ar-DZ" sz="2400" b="1" dirty="0" err="1">
                <a:solidFill>
                  <a:schemeClr val="dk1"/>
                </a:solidFill>
              </a:rPr>
              <a:t>الومنيوم</a:t>
            </a:r>
            <a:r>
              <a:rPr lang="ar-DZ" sz="2400" b="1" dirty="0">
                <a:solidFill>
                  <a:schemeClr val="dk1"/>
                </a:solidFill>
              </a:rPr>
              <a:t> ) </a:t>
            </a:r>
            <a:r>
              <a:rPr lang="ar-DZ" sz="2400" b="1" dirty="0" err="1">
                <a:solidFill>
                  <a:schemeClr val="dk1"/>
                </a:solidFill>
              </a:rPr>
              <a:t>لانها</a:t>
            </a:r>
            <a:r>
              <a:rPr lang="ar-DZ" sz="2400" b="1" dirty="0">
                <a:solidFill>
                  <a:schemeClr val="dk1"/>
                </a:solidFill>
              </a:rPr>
              <a:t> تتفاعل مع محلول كبريتات النحاس بل  استعمال دلاء من البلاستيك </a:t>
            </a:r>
            <a:r>
              <a:rPr lang="ar-DZ" sz="2400" b="1" dirty="0" err="1">
                <a:solidFill>
                  <a:schemeClr val="dk1"/>
                </a:solidFill>
              </a:rPr>
              <a:t>لانه</a:t>
            </a:r>
            <a:r>
              <a:rPr lang="ar-DZ" sz="2400" b="1" dirty="0">
                <a:solidFill>
                  <a:schemeClr val="dk1"/>
                </a:solidFill>
              </a:rPr>
              <a:t> لا يتفاعل مع محلول كبريتات النحاس  </a:t>
            </a:r>
          </a:p>
          <a:p>
            <a:pPr algn="r"/>
            <a:endParaRPr lang="ar-DZ" sz="2400" b="1" dirty="0">
              <a:solidFill>
                <a:schemeClr val="dk1"/>
              </a:solidFill>
            </a:endParaRPr>
          </a:p>
          <a:p>
            <a:pPr algn="r"/>
            <a:r>
              <a:rPr lang="ar-DZ" sz="2400" b="1" dirty="0">
                <a:solidFill>
                  <a:schemeClr val="dk1"/>
                </a:solidFill>
              </a:rPr>
              <a:t> </a:t>
            </a:r>
            <a:endParaRPr lang="ar-DZ" sz="2400" b="1" dirty="0">
              <a:solidFill>
                <a:schemeClr val="bg1"/>
              </a:solidFill>
            </a:endParaRPr>
          </a:p>
        </p:txBody>
      </p:sp>
      <p:sp>
        <p:nvSpPr>
          <p:cNvPr id="5" name="Rectangle à coins arrondis 4"/>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cxnSp>
        <p:nvCxnSpPr>
          <p:cNvPr id="6" name="Connecteur droit avec flèche 5"/>
          <p:cNvCxnSpPr/>
          <p:nvPr/>
        </p:nvCxnSpPr>
        <p:spPr>
          <a:xfrm>
            <a:off x="4427984" y="2204864"/>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a:t>
            </a:r>
            <a:endParaRPr lang="fr-FR" sz="2800" b="1" dirty="0">
              <a:solidFill>
                <a:schemeClr val="bg1"/>
              </a:solidFill>
            </a:endParaRPr>
          </a:p>
        </p:txBody>
      </p:sp>
      <p:sp>
        <p:nvSpPr>
          <p:cNvPr id="4" name="Rectangle à coins arrondis 3"/>
          <p:cNvSpPr/>
          <p:nvPr/>
        </p:nvSpPr>
        <p:spPr>
          <a:xfrm>
            <a:off x="0" y="692696"/>
            <a:ext cx="925252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r>
              <a:rPr lang="ar-DZ" sz="2400" b="1" dirty="0">
                <a:solidFill>
                  <a:schemeClr val="dk1"/>
                </a:solidFill>
              </a:rPr>
              <a:t>1-الاخطاء الممكنة في المخطط هي </a:t>
            </a:r>
          </a:p>
          <a:p>
            <a:pPr algn="r"/>
            <a:r>
              <a:rPr lang="ar-DZ" sz="2400" b="1" dirty="0">
                <a:solidFill>
                  <a:schemeClr val="dk1"/>
                </a:solidFill>
              </a:rPr>
              <a:t>-تركيب القاطعة في سلك الحيادي </a:t>
            </a:r>
          </a:p>
          <a:p>
            <a:pPr algn="r"/>
            <a:r>
              <a:rPr lang="ar-DZ" sz="2400" b="1" dirty="0">
                <a:solidFill>
                  <a:schemeClr val="dk1"/>
                </a:solidFill>
              </a:rPr>
              <a:t>-استعمال </a:t>
            </a:r>
            <a:r>
              <a:rPr lang="ar-DZ" sz="2400" b="1" dirty="0" err="1">
                <a:solidFill>
                  <a:schemeClr val="dk1"/>
                </a:solidFill>
              </a:rPr>
              <a:t>ماخذ</a:t>
            </a:r>
            <a:r>
              <a:rPr lang="ar-DZ" sz="2400" b="1" dirty="0">
                <a:solidFill>
                  <a:schemeClr val="dk1"/>
                </a:solidFill>
              </a:rPr>
              <a:t> عادي للغسالة بدون توصيل ارضي </a:t>
            </a:r>
          </a:p>
          <a:p>
            <a:pPr algn="r"/>
            <a:r>
              <a:rPr lang="ar-DZ" sz="2400" b="1" dirty="0">
                <a:solidFill>
                  <a:schemeClr val="dk1"/>
                </a:solidFill>
              </a:rPr>
              <a:t>-استعمال </a:t>
            </a:r>
            <a:r>
              <a:rPr lang="ar-DZ" sz="2400" b="1" dirty="0" err="1">
                <a:solidFill>
                  <a:schemeClr val="dk1"/>
                </a:solidFill>
              </a:rPr>
              <a:t>صهورة</a:t>
            </a:r>
            <a:r>
              <a:rPr lang="ar-DZ" sz="2400" b="1" dirty="0">
                <a:solidFill>
                  <a:schemeClr val="dk1"/>
                </a:solidFill>
              </a:rPr>
              <a:t> للفرن الكهربائي قيمتها اقل من القيمة التي يشغلها الفرن</a:t>
            </a:r>
          </a:p>
          <a:p>
            <a:pPr algn="r"/>
            <a:r>
              <a:rPr lang="ar-DZ" sz="2400" b="1" dirty="0">
                <a:solidFill>
                  <a:schemeClr val="dk1"/>
                </a:solidFill>
              </a:rPr>
              <a:t>-تركيب </a:t>
            </a:r>
            <a:r>
              <a:rPr lang="ar-DZ" sz="2400" b="1" dirty="0" err="1">
                <a:solidFill>
                  <a:schemeClr val="dk1"/>
                </a:solidFill>
              </a:rPr>
              <a:t>صهورة</a:t>
            </a:r>
            <a:r>
              <a:rPr lang="ar-DZ" sz="2400" b="1" dirty="0">
                <a:solidFill>
                  <a:schemeClr val="dk1"/>
                </a:solidFill>
              </a:rPr>
              <a:t> الغسالة في سلك الحيادي  </a:t>
            </a:r>
          </a:p>
          <a:p>
            <a:pPr algn="r"/>
            <a:r>
              <a:rPr lang="ar-DZ" sz="2400" b="1" dirty="0">
                <a:solidFill>
                  <a:schemeClr val="dk1"/>
                </a:solidFill>
              </a:rPr>
              <a:t>2-الهدف من استعمال اللون الاحمر </a:t>
            </a:r>
            <a:r>
              <a:rPr lang="ar-DZ" sz="2400" b="1" dirty="0" err="1">
                <a:solidFill>
                  <a:schemeClr val="dk1"/>
                </a:solidFill>
              </a:rPr>
              <a:t>والازرق</a:t>
            </a:r>
            <a:r>
              <a:rPr lang="ar-DZ" sz="2400" b="1" dirty="0">
                <a:solidFill>
                  <a:schemeClr val="dk1"/>
                </a:solidFill>
              </a:rPr>
              <a:t> </a:t>
            </a:r>
            <a:r>
              <a:rPr lang="ar-DZ" sz="2400" b="1" dirty="0" err="1">
                <a:solidFill>
                  <a:schemeClr val="dk1"/>
                </a:solidFill>
              </a:rPr>
              <a:t>للنواقل</a:t>
            </a:r>
            <a:r>
              <a:rPr lang="ar-DZ" sz="2400" b="1" dirty="0">
                <a:solidFill>
                  <a:schemeClr val="dk1"/>
                </a:solidFill>
              </a:rPr>
              <a:t> للتمييز بينها حيث يكون سلك الطور باللون الاحمر وسلك الحيادي باللون الازرق</a:t>
            </a:r>
          </a:p>
          <a:p>
            <a:pPr algn="r"/>
            <a:r>
              <a:rPr lang="ar-DZ" sz="2400" b="1" dirty="0">
                <a:solidFill>
                  <a:schemeClr val="dk1"/>
                </a:solidFill>
              </a:rPr>
              <a:t>3-الحلول المقترحة هي </a:t>
            </a:r>
          </a:p>
          <a:p>
            <a:pPr algn="r"/>
            <a:r>
              <a:rPr lang="ar-DZ" sz="2400" b="1" dirty="0">
                <a:solidFill>
                  <a:schemeClr val="dk1"/>
                </a:solidFill>
              </a:rPr>
              <a:t>-استعمال </a:t>
            </a:r>
            <a:r>
              <a:rPr lang="ar-DZ" sz="2400" b="1" dirty="0" err="1">
                <a:solidFill>
                  <a:schemeClr val="dk1"/>
                </a:solidFill>
              </a:rPr>
              <a:t>ماخذ</a:t>
            </a:r>
            <a:r>
              <a:rPr lang="ar-DZ" sz="2400" b="1" dirty="0">
                <a:solidFill>
                  <a:schemeClr val="dk1"/>
                </a:solidFill>
              </a:rPr>
              <a:t> ثلاثي الاطراف  مع توصيله </a:t>
            </a:r>
          </a:p>
          <a:p>
            <a:pPr algn="r"/>
            <a:r>
              <a:rPr lang="ar-DZ" sz="2400" b="1" dirty="0" err="1">
                <a:solidFill>
                  <a:schemeClr val="dk1"/>
                </a:solidFill>
              </a:rPr>
              <a:t>بالارض</a:t>
            </a:r>
            <a:r>
              <a:rPr lang="ar-DZ" sz="2400" b="1" dirty="0">
                <a:solidFill>
                  <a:schemeClr val="dk1"/>
                </a:solidFill>
              </a:rPr>
              <a:t> و بهيكل الغسالة </a:t>
            </a:r>
          </a:p>
          <a:p>
            <a:pPr algn="r"/>
            <a:r>
              <a:rPr lang="ar-DZ" sz="2400" b="1" dirty="0">
                <a:solidFill>
                  <a:schemeClr val="dk1"/>
                </a:solidFill>
              </a:rPr>
              <a:t>-استبدال تركيب القاطعة من سلك الحيادي </a:t>
            </a:r>
          </a:p>
          <a:p>
            <a:pPr algn="r"/>
            <a:r>
              <a:rPr lang="ar-DZ" sz="2400" b="1" dirty="0">
                <a:solidFill>
                  <a:schemeClr val="dk1"/>
                </a:solidFill>
              </a:rPr>
              <a:t>الى سلك الطور </a:t>
            </a:r>
          </a:p>
          <a:p>
            <a:pPr algn="r"/>
            <a:r>
              <a:rPr lang="ar-DZ" sz="2400" b="1" dirty="0">
                <a:solidFill>
                  <a:schemeClr val="dk1"/>
                </a:solidFill>
              </a:rPr>
              <a:t>-استبدال </a:t>
            </a:r>
            <a:r>
              <a:rPr lang="ar-DZ" sz="2400" b="1" dirty="0" err="1">
                <a:solidFill>
                  <a:schemeClr val="dk1"/>
                </a:solidFill>
              </a:rPr>
              <a:t>الصهورة</a:t>
            </a:r>
            <a:r>
              <a:rPr lang="ar-DZ" sz="2400" b="1" dirty="0">
                <a:solidFill>
                  <a:schemeClr val="dk1"/>
                </a:solidFill>
              </a:rPr>
              <a:t> الخاصة بالفرن </a:t>
            </a:r>
            <a:r>
              <a:rPr lang="ar-DZ" sz="2400" b="1" dirty="0" err="1">
                <a:solidFill>
                  <a:schemeClr val="dk1"/>
                </a:solidFill>
              </a:rPr>
              <a:t>بصهورة</a:t>
            </a:r>
            <a:r>
              <a:rPr lang="ar-DZ" sz="2400" b="1" dirty="0">
                <a:solidFill>
                  <a:schemeClr val="dk1"/>
                </a:solidFill>
              </a:rPr>
              <a:t> </a:t>
            </a:r>
          </a:p>
          <a:p>
            <a:pPr algn="r"/>
            <a:r>
              <a:rPr lang="ar-DZ" sz="2400" b="1" dirty="0">
                <a:solidFill>
                  <a:schemeClr val="dk1"/>
                </a:solidFill>
              </a:rPr>
              <a:t>قيمتها تساوي او اكبر من قيمة الشدة التي </a:t>
            </a:r>
          </a:p>
          <a:p>
            <a:pPr algn="r"/>
            <a:r>
              <a:rPr lang="ar-DZ" sz="2400" b="1" dirty="0">
                <a:solidFill>
                  <a:schemeClr val="dk1"/>
                </a:solidFill>
              </a:rPr>
              <a:t>تعمل </a:t>
            </a:r>
            <a:r>
              <a:rPr lang="ar-DZ" sz="2400" b="1" dirty="0" err="1">
                <a:solidFill>
                  <a:schemeClr val="dk1"/>
                </a:solidFill>
              </a:rPr>
              <a:t>بها</a:t>
            </a:r>
            <a:r>
              <a:rPr lang="ar-DZ" sz="2400" b="1" dirty="0">
                <a:solidFill>
                  <a:schemeClr val="dk1"/>
                </a:solidFill>
              </a:rPr>
              <a:t> الفرن</a:t>
            </a:r>
          </a:p>
          <a:p>
            <a:pPr algn="r"/>
            <a:r>
              <a:rPr lang="ar-DZ" sz="2400" b="1" dirty="0">
                <a:solidFill>
                  <a:schemeClr val="dk1"/>
                </a:solidFill>
              </a:rPr>
              <a:t>-استبدال تركيب </a:t>
            </a:r>
            <a:r>
              <a:rPr lang="ar-DZ" sz="2400" b="1" dirty="0" err="1">
                <a:solidFill>
                  <a:schemeClr val="dk1"/>
                </a:solidFill>
              </a:rPr>
              <a:t>صهورة</a:t>
            </a:r>
            <a:r>
              <a:rPr lang="ar-DZ" sz="2400" b="1" dirty="0">
                <a:solidFill>
                  <a:schemeClr val="dk1"/>
                </a:solidFill>
              </a:rPr>
              <a:t> الغسالة من سلك الحيادي الى الطور   </a:t>
            </a:r>
          </a:p>
          <a:p>
            <a:pPr algn="r"/>
            <a:r>
              <a:rPr lang="ar-DZ" sz="2400" b="1" dirty="0">
                <a:solidFill>
                  <a:schemeClr val="dk1"/>
                </a:solidFill>
              </a:rPr>
              <a:t> </a:t>
            </a:r>
          </a:p>
          <a:p>
            <a:pPr algn="r"/>
            <a:endParaRPr lang="ar-DZ" sz="24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a:p>
            <a:pPr algn="r"/>
            <a:endParaRPr lang="ar-DZ" sz="2800" b="1" dirty="0">
              <a:solidFill>
                <a:schemeClr val="dk1"/>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789040"/>
            <a:ext cx="4499992" cy="2520280"/>
          </a:xfrm>
          <a:prstGeom prst="rect">
            <a:avLst/>
          </a:prstGeom>
          <a:noFill/>
          <a:ln w="9525">
            <a:noFill/>
            <a:miter lim="800000"/>
            <a:headEnd/>
            <a:tailEnd/>
          </a:ln>
        </p:spPr>
      </p:pic>
      <p:sp>
        <p:nvSpPr>
          <p:cNvPr id="7" name="Rectangle à coins arrondis 6"/>
          <p:cNvSpPr/>
          <p:nvPr/>
        </p:nvSpPr>
        <p:spPr>
          <a:xfrm>
            <a:off x="1403648" y="4221088"/>
            <a:ext cx="144016" cy="432048"/>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1547664" y="4365104"/>
            <a:ext cx="216024" cy="432048"/>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p:cNvCxnSpPr>
            <a:stCxn id="7" idx="0"/>
          </p:cNvCxnSpPr>
          <p:nvPr/>
        </p:nvCxnSpPr>
        <p:spPr>
          <a:xfrm>
            <a:off x="1475656" y="4221088"/>
            <a:ext cx="0" cy="576064"/>
          </a:xfrm>
          <a:prstGeom prst="line">
            <a:avLst/>
          </a:prstGeom>
          <a:ln w="2222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flipH="1">
            <a:off x="1259632" y="4221088"/>
            <a:ext cx="648072" cy="0"/>
          </a:xfrm>
          <a:prstGeom prst="line">
            <a:avLst/>
          </a:prstGeom>
          <a:ln w="22225">
            <a:solidFill>
              <a:srgbClr val="00FFFF"/>
            </a:solidFill>
          </a:ln>
        </p:spPr>
        <p:style>
          <a:lnRef idx="1">
            <a:schemeClr val="accent1"/>
          </a:lnRef>
          <a:fillRef idx="0">
            <a:schemeClr val="accent1"/>
          </a:fillRef>
          <a:effectRef idx="0">
            <a:schemeClr val="accent1"/>
          </a:effectRef>
          <a:fontRef idx="minor">
            <a:schemeClr val="tx1"/>
          </a:fontRef>
        </p:style>
      </p:cxnSp>
      <p:pic>
        <p:nvPicPr>
          <p:cNvPr id="17"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47664" y="4293096"/>
            <a:ext cx="216024" cy="504056"/>
          </a:xfrm>
          <a:prstGeom prst="rect">
            <a:avLst/>
          </a:prstGeom>
          <a:noFill/>
          <a:ln w="9525">
            <a:noFill/>
            <a:miter lim="800000"/>
            <a:headEnd/>
            <a:tailEnd/>
          </a:ln>
        </p:spPr>
      </p:pic>
      <p:cxnSp>
        <p:nvCxnSpPr>
          <p:cNvPr id="18" name="Connecteur droit 17"/>
          <p:cNvCxnSpPr/>
          <p:nvPr/>
        </p:nvCxnSpPr>
        <p:spPr>
          <a:xfrm>
            <a:off x="1691680" y="4005064"/>
            <a:ext cx="0" cy="360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a:endCxn id="17" idx="2"/>
          </p:cNvCxnSpPr>
          <p:nvPr/>
        </p:nvCxnSpPr>
        <p:spPr>
          <a:xfrm flipH="1">
            <a:off x="1655676" y="4653136"/>
            <a:ext cx="36004" cy="144016"/>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pic>
        <p:nvPicPr>
          <p:cNvPr id="36"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555776" y="4149080"/>
            <a:ext cx="216024" cy="288032"/>
          </a:xfrm>
          <a:prstGeom prst="rect">
            <a:avLst/>
          </a:prstGeom>
          <a:noFill/>
          <a:ln w="9525">
            <a:noFill/>
            <a:miter lim="800000"/>
            <a:headEnd/>
            <a:tailEnd/>
          </a:ln>
        </p:spPr>
      </p:pic>
      <p:pic>
        <p:nvPicPr>
          <p:cNvPr id="37"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619672" y="4077072"/>
            <a:ext cx="216024" cy="288032"/>
          </a:xfrm>
          <a:prstGeom prst="rect">
            <a:avLst/>
          </a:prstGeom>
          <a:noFill/>
          <a:ln w="9525">
            <a:noFill/>
            <a:miter lim="800000"/>
            <a:headEnd/>
            <a:tailEnd/>
          </a:ln>
        </p:spPr>
      </p:pic>
      <p:sp>
        <p:nvSpPr>
          <p:cNvPr id="38" name="Rectangle à coins arrondis 37"/>
          <p:cNvSpPr/>
          <p:nvPr/>
        </p:nvSpPr>
        <p:spPr>
          <a:xfrm>
            <a:off x="2771800" y="4293096"/>
            <a:ext cx="144016" cy="36004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9" name="Connecteur droit 38"/>
          <p:cNvCxnSpPr/>
          <p:nvPr/>
        </p:nvCxnSpPr>
        <p:spPr>
          <a:xfrm>
            <a:off x="2843808" y="4221088"/>
            <a:ext cx="0" cy="792088"/>
          </a:xfrm>
          <a:prstGeom prst="line">
            <a:avLst/>
          </a:prstGeom>
          <a:ln w="22225">
            <a:solidFill>
              <a:srgbClr val="00FFFF"/>
            </a:solidFill>
          </a:ln>
        </p:spPr>
        <p:style>
          <a:lnRef idx="1">
            <a:schemeClr val="accent1"/>
          </a:lnRef>
          <a:fillRef idx="0">
            <a:schemeClr val="accent1"/>
          </a:fillRef>
          <a:effectRef idx="0">
            <a:schemeClr val="accent1"/>
          </a:effectRef>
          <a:fontRef idx="minor">
            <a:schemeClr val="tx1"/>
          </a:fontRef>
        </p:style>
      </p:cxnSp>
      <p:sp>
        <p:nvSpPr>
          <p:cNvPr id="41" name="Rectangle à coins arrondis 40"/>
          <p:cNvSpPr/>
          <p:nvPr/>
        </p:nvSpPr>
        <p:spPr>
          <a:xfrm>
            <a:off x="4283968" y="4293096"/>
            <a:ext cx="648072" cy="2880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10A</a:t>
            </a:r>
          </a:p>
        </p:txBody>
      </p:sp>
      <p:cxnSp>
        <p:nvCxnSpPr>
          <p:cNvPr id="50" name="Connecteur droit 49"/>
          <p:cNvCxnSpPr/>
          <p:nvPr/>
        </p:nvCxnSpPr>
        <p:spPr>
          <a:xfrm>
            <a:off x="2699792" y="5157192"/>
            <a:ext cx="0" cy="864096"/>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a:xfrm flipH="1">
            <a:off x="2483768" y="5157192"/>
            <a:ext cx="216024" cy="57606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a:xfrm flipH="1">
            <a:off x="2483768" y="5877272"/>
            <a:ext cx="432048"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Connecteur droit 58"/>
          <p:cNvCxnSpPr/>
          <p:nvPr/>
        </p:nvCxnSpPr>
        <p:spPr>
          <a:xfrm flipH="1">
            <a:off x="2483768" y="5949280"/>
            <a:ext cx="432048"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Connecteur droit 59"/>
          <p:cNvCxnSpPr/>
          <p:nvPr/>
        </p:nvCxnSpPr>
        <p:spPr>
          <a:xfrm flipH="1">
            <a:off x="2555776" y="6021288"/>
            <a:ext cx="279648" cy="16768"/>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000" b="1" dirty="0">
                <a:solidFill>
                  <a:schemeClr val="bg1"/>
                </a:solidFill>
              </a:rPr>
              <a:t>1-يفسر لهم سبب بقاء اللافتة  في حالة توازن حسب شرطي التوازن الاول  اثرت عليها ثلاث قوى حواملها غير متوازية و الشرط الثاني المجموع الشعاعي للقوى الثلاثة وهي قوة </a:t>
            </a:r>
            <a:r>
              <a:rPr lang="ar-DZ" sz="2000" b="1" dirty="0" err="1">
                <a:solidFill>
                  <a:schemeClr val="bg1"/>
                </a:solidFill>
              </a:rPr>
              <a:t>تاثير</a:t>
            </a:r>
            <a:r>
              <a:rPr lang="ar-DZ" sz="2000" b="1" dirty="0">
                <a:solidFill>
                  <a:schemeClr val="bg1"/>
                </a:solidFill>
              </a:rPr>
              <a:t> ثقل اللافتة وقوة </a:t>
            </a:r>
            <a:r>
              <a:rPr lang="fr-FR" sz="2000" b="1" dirty="0">
                <a:solidFill>
                  <a:schemeClr val="bg1"/>
                </a:solidFill>
              </a:rPr>
              <a:t>P+f1+f2=0</a:t>
            </a:r>
            <a:r>
              <a:rPr lang="ar-DZ" sz="2000" b="1" dirty="0">
                <a:solidFill>
                  <a:schemeClr val="bg1"/>
                </a:solidFill>
              </a:rPr>
              <a:t>تأثير الحبل الاول وقوة </a:t>
            </a:r>
            <a:r>
              <a:rPr lang="ar-DZ" sz="2000" b="1" dirty="0" err="1">
                <a:solidFill>
                  <a:schemeClr val="bg1"/>
                </a:solidFill>
              </a:rPr>
              <a:t>تاثير</a:t>
            </a:r>
            <a:r>
              <a:rPr lang="ar-DZ" sz="2000" b="1" dirty="0">
                <a:solidFill>
                  <a:schemeClr val="bg1"/>
                </a:solidFill>
              </a:rPr>
              <a:t> الحبل الثاني معدوم اي </a:t>
            </a:r>
          </a:p>
          <a:p>
            <a:pPr algn="r"/>
            <a:r>
              <a:rPr lang="ar-DZ" sz="2000" b="1" dirty="0">
                <a:solidFill>
                  <a:schemeClr val="bg1"/>
                </a:solidFill>
              </a:rPr>
              <a:t> -سبب بقاء اللافتة في حالة توازن بعد انقطاع الحبل الاول </a:t>
            </a:r>
          </a:p>
          <a:p>
            <a:pPr algn="r"/>
            <a:r>
              <a:rPr lang="ar-DZ" sz="2000" b="1" dirty="0">
                <a:solidFill>
                  <a:schemeClr val="bg1"/>
                </a:solidFill>
              </a:rPr>
              <a:t>حسب شرطي التوازن الاول  انها اصبحت تحت </a:t>
            </a:r>
            <a:r>
              <a:rPr lang="ar-DZ" sz="2000" b="1" dirty="0" err="1">
                <a:solidFill>
                  <a:schemeClr val="bg1"/>
                </a:solidFill>
              </a:rPr>
              <a:t>تاثير</a:t>
            </a:r>
            <a:r>
              <a:rPr lang="ar-DZ" sz="2000" b="1" dirty="0">
                <a:solidFill>
                  <a:schemeClr val="bg1"/>
                </a:solidFill>
              </a:rPr>
              <a:t> قوتين</a:t>
            </a:r>
          </a:p>
          <a:p>
            <a:pPr algn="r"/>
            <a:r>
              <a:rPr lang="ar-DZ" sz="2000" b="1" dirty="0">
                <a:solidFill>
                  <a:schemeClr val="bg1"/>
                </a:solidFill>
              </a:rPr>
              <a:t> متعاكستين في الاتجاه ومتساويتين في الشدة هما قوة </a:t>
            </a:r>
            <a:r>
              <a:rPr lang="ar-DZ" sz="2000" b="1" dirty="0" err="1">
                <a:solidFill>
                  <a:schemeClr val="bg1"/>
                </a:solidFill>
              </a:rPr>
              <a:t>تاثير</a:t>
            </a:r>
            <a:r>
              <a:rPr lang="ar-DZ" sz="2000" b="1" dirty="0">
                <a:solidFill>
                  <a:schemeClr val="bg1"/>
                </a:solidFill>
              </a:rPr>
              <a:t> </a:t>
            </a:r>
          </a:p>
          <a:p>
            <a:pPr algn="r"/>
            <a:r>
              <a:rPr lang="ar-DZ" sz="2000" b="1" dirty="0">
                <a:solidFill>
                  <a:schemeClr val="bg1"/>
                </a:solidFill>
              </a:rPr>
              <a:t>ثقل اللافتة و قوة </a:t>
            </a:r>
            <a:r>
              <a:rPr lang="ar-DZ" sz="2000" b="1" dirty="0" err="1">
                <a:solidFill>
                  <a:schemeClr val="bg1"/>
                </a:solidFill>
              </a:rPr>
              <a:t>تاثير</a:t>
            </a:r>
            <a:r>
              <a:rPr lang="ar-DZ" sz="2000" b="1" dirty="0">
                <a:solidFill>
                  <a:schemeClr val="bg1"/>
                </a:solidFill>
              </a:rPr>
              <a:t> الحبل الثاني</a:t>
            </a:r>
          </a:p>
          <a:p>
            <a:pPr algn="r"/>
            <a:r>
              <a:rPr lang="fr-FR" sz="2000" b="1" dirty="0">
                <a:solidFill>
                  <a:schemeClr val="bg1"/>
                </a:solidFill>
              </a:rPr>
              <a:t>P+f2=0      </a:t>
            </a:r>
            <a:r>
              <a:rPr lang="ar-DZ" sz="2000" b="1" dirty="0">
                <a:solidFill>
                  <a:schemeClr val="bg1"/>
                </a:solidFill>
              </a:rPr>
              <a:t> مجموعهما الشعاعي معدوم   اي </a:t>
            </a:r>
          </a:p>
          <a:p>
            <a:pPr algn="r"/>
            <a:r>
              <a:rPr lang="ar-DZ" sz="2000" b="1" dirty="0">
                <a:solidFill>
                  <a:schemeClr val="bg1"/>
                </a:solidFill>
              </a:rPr>
              <a:t>والثاني ان لمها نفس الحامل   </a:t>
            </a:r>
          </a:p>
          <a:p>
            <a:pPr algn="r"/>
            <a:r>
              <a:rPr lang="ar-DZ" sz="2000" b="1" dirty="0">
                <a:solidFill>
                  <a:schemeClr val="bg1"/>
                </a:solidFill>
              </a:rPr>
              <a:t>2-القوة التي اثرت غلى اللافتة وجعلتها ترتفع الى سطح الماء </a:t>
            </a:r>
          </a:p>
          <a:p>
            <a:pPr algn="r"/>
            <a:r>
              <a:rPr lang="ar-DZ" sz="2000" b="1" dirty="0">
                <a:solidFill>
                  <a:schemeClr val="bg1"/>
                </a:solidFill>
              </a:rPr>
              <a:t> هي قوة دافعة </a:t>
            </a:r>
            <a:r>
              <a:rPr lang="ar-DZ" sz="2000" b="1" dirty="0" err="1">
                <a:solidFill>
                  <a:schemeClr val="bg1"/>
                </a:solidFill>
              </a:rPr>
              <a:t>ارخميدس</a:t>
            </a:r>
            <a:r>
              <a:rPr lang="ar-DZ" sz="2000" b="1" dirty="0">
                <a:solidFill>
                  <a:schemeClr val="bg1"/>
                </a:solidFill>
              </a:rPr>
              <a:t> </a:t>
            </a:r>
            <a:r>
              <a:rPr lang="ar-DZ" sz="2000" b="1" dirty="0" err="1">
                <a:solidFill>
                  <a:schemeClr val="bg1"/>
                </a:solidFill>
              </a:rPr>
              <a:t>وخصائصا</a:t>
            </a:r>
            <a:r>
              <a:rPr lang="ar-DZ" sz="2000" b="1" dirty="0">
                <a:solidFill>
                  <a:schemeClr val="bg1"/>
                </a:solidFill>
              </a:rPr>
              <a:t> هي </a:t>
            </a:r>
          </a:p>
          <a:p>
            <a:pPr algn="r"/>
            <a:r>
              <a:rPr lang="ar-DZ" sz="2000" b="1" dirty="0">
                <a:solidFill>
                  <a:schemeClr val="bg1"/>
                </a:solidFill>
              </a:rPr>
              <a:t>-حاملها </a:t>
            </a:r>
            <a:r>
              <a:rPr lang="ar-DZ" sz="2000" b="1" dirty="0" err="1">
                <a:solidFill>
                  <a:schemeClr val="bg1"/>
                </a:solidFill>
              </a:rPr>
              <a:t>شاقولي</a:t>
            </a:r>
            <a:r>
              <a:rPr lang="ar-DZ" sz="2000" b="1" dirty="0">
                <a:solidFill>
                  <a:schemeClr val="bg1"/>
                </a:solidFill>
              </a:rPr>
              <a:t> –اتجاهها نحو </a:t>
            </a:r>
            <a:r>
              <a:rPr lang="ar-DZ" sz="2000" b="1" dirty="0" err="1">
                <a:solidFill>
                  <a:schemeClr val="bg1"/>
                </a:solidFill>
              </a:rPr>
              <a:t>الاعلى </a:t>
            </a:r>
            <a:r>
              <a:rPr lang="ar-DZ" sz="2000" b="1" dirty="0">
                <a:solidFill>
                  <a:schemeClr val="bg1"/>
                </a:solidFill>
              </a:rPr>
              <a:t>–شدتها لها علاقة </a:t>
            </a:r>
          </a:p>
          <a:p>
            <a:pPr algn="r"/>
            <a:r>
              <a:rPr lang="ar-DZ" sz="2000" b="1" dirty="0">
                <a:solidFill>
                  <a:schemeClr val="bg1"/>
                </a:solidFill>
              </a:rPr>
              <a:t>بحجم اللافتة و الكتلة الحجمية للماء والجاذبية الارضية ونقطة </a:t>
            </a:r>
            <a:r>
              <a:rPr lang="ar-DZ" sz="2000" b="1" dirty="0" err="1">
                <a:solidFill>
                  <a:schemeClr val="bg1"/>
                </a:solidFill>
              </a:rPr>
              <a:t>تاثيرها</a:t>
            </a:r>
            <a:r>
              <a:rPr lang="ar-DZ" sz="2000" b="1" dirty="0">
                <a:solidFill>
                  <a:schemeClr val="bg1"/>
                </a:solidFill>
              </a:rPr>
              <a:t> مركز اللافتة </a:t>
            </a:r>
          </a:p>
          <a:p>
            <a:pPr algn="r"/>
            <a:r>
              <a:rPr lang="ar-DZ" sz="2000" b="1" dirty="0">
                <a:solidFill>
                  <a:schemeClr val="bg1"/>
                </a:solidFill>
              </a:rPr>
              <a:t>3-في هذه الحالة تكون شدة دافعة </a:t>
            </a:r>
            <a:r>
              <a:rPr lang="ar-DZ" sz="2000" b="1" dirty="0" err="1">
                <a:solidFill>
                  <a:schemeClr val="bg1"/>
                </a:solidFill>
              </a:rPr>
              <a:t>ارخميدس</a:t>
            </a:r>
            <a:r>
              <a:rPr lang="ar-DZ" sz="2000" b="1" dirty="0">
                <a:solidFill>
                  <a:schemeClr val="bg1"/>
                </a:solidFill>
              </a:rPr>
              <a:t> تساوي الى شدة الثقل لان اللافتة طافية وفي حالة توازن فهي تحت </a:t>
            </a:r>
            <a:r>
              <a:rPr lang="ar-DZ" sz="2000" b="1" dirty="0" err="1">
                <a:solidFill>
                  <a:schemeClr val="bg1"/>
                </a:solidFill>
              </a:rPr>
              <a:t>تاثير</a:t>
            </a:r>
            <a:r>
              <a:rPr lang="ar-DZ" sz="2000" b="1" dirty="0">
                <a:solidFill>
                  <a:schemeClr val="bg1"/>
                </a:solidFill>
              </a:rPr>
              <a:t> قوتين متعاكستين في الاتجاه ومتساويتين في الشدة</a:t>
            </a:r>
          </a:p>
          <a:p>
            <a:pPr algn="r"/>
            <a:r>
              <a:rPr lang="ar-DZ" sz="2000" b="1" dirty="0">
                <a:solidFill>
                  <a:schemeClr val="bg1"/>
                </a:solidFill>
              </a:rPr>
              <a:t>   </a:t>
            </a:r>
          </a:p>
          <a:p>
            <a:pPr algn="r"/>
            <a:endParaRPr lang="ar-DZ" sz="20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cxnSp>
        <p:nvCxnSpPr>
          <p:cNvPr id="6" name="Connecteur droit avec flèche 5"/>
          <p:cNvCxnSpPr/>
          <p:nvPr/>
        </p:nvCxnSpPr>
        <p:spPr>
          <a:xfrm>
            <a:off x="3347864" y="141277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3635896" y="141277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3995936" y="141277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4427984" y="141277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4716016" y="2924944"/>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5148064" y="2924944"/>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5436096" y="2924944"/>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1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67544" y="1484784"/>
            <a:ext cx="2160240" cy="1296144"/>
          </a:xfrm>
          <a:prstGeom prst="rect">
            <a:avLst/>
          </a:prstGeom>
          <a:noFill/>
          <a:ln w="9525">
            <a:noFill/>
            <a:miter lim="800000"/>
            <a:headEnd/>
            <a:tailEnd/>
          </a:ln>
        </p:spPr>
      </p:pic>
      <p:sp>
        <p:nvSpPr>
          <p:cNvPr id="17" name="Rectangle à coins arrondis 16"/>
          <p:cNvSpPr/>
          <p:nvPr/>
        </p:nvSpPr>
        <p:spPr>
          <a:xfrm>
            <a:off x="2051720" y="1844824"/>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Ff1/s</a:t>
            </a:r>
          </a:p>
        </p:txBody>
      </p:sp>
      <p:cxnSp>
        <p:nvCxnSpPr>
          <p:cNvPr id="19" name="Connecteur droit avec flèche 18"/>
          <p:cNvCxnSpPr/>
          <p:nvPr/>
        </p:nvCxnSpPr>
        <p:spPr>
          <a:xfrm>
            <a:off x="1475656" y="2132856"/>
            <a:ext cx="0" cy="576064"/>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9"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87624" y="3068960"/>
            <a:ext cx="792088" cy="1368152"/>
          </a:xfrm>
          <a:prstGeom prst="rect">
            <a:avLst/>
          </a:prstGeom>
          <a:noFill/>
          <a:ln w="9525">
            <a:noFill/>
            <a:miter lim="800000"/>
            <a:headEnd/>
            <a:tailEnd/>
          </a:ln>
        </p:spPr>
      </p:pic>
      <p:sp>
        <p:nvSpPr>
          <p:cNvPr id="34" name="Rectangle à coins arrondis 33"/>
          <p:cNvSpPr/>
          <p:nvPr/>
        </p:nvSpPr>
        <p:spPr>
          <a:xfrm>
            <a:off x="1619672" y="2492896"/>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P</a:t>
            </a:r>
          </a:p>
        </p:txBody>
      </p:sp>
      <p:sp>
        <p:nvSpPr>
          <p:cNvPr id="35" name="Rectangle à coins arrondis 34"/>
          <p:cNvSpPr/>
          <p:nvPr/>
        </p:nvSpPr>
        <p:spPr>
          <a:xfrm>
            <a:off x="179512" y="1772816"/>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Ff2/s</a:t>
            </a:r>
          </a:p>
        </p:txBody>
      </p:sp>
      <p:cxnSp>
        <p:nvCxnSpPr>
          <p:cNvPr id="36" name="Connecteur droit avec flèche 35"/>
          <p:cNvCxnSpPr/>
          <p:nvPr/>
        </p:nvCxnSpPr>
        <p:spPr>
          <a:xfrm>
            <a:off x="2267744" y="1844824"/>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a:off x="1763688" y="249289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8" name="Connecteur droit avec flèche 37"/>
          <p:cNvCxnSpPr/>
          <p:nvPr/>
        </p:nvCxnSpPr>
        <p:spPr>
          <a:xfrm>
            <a:off x="395536" y="1772816"/>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à coins arrondis 38"/>
          <p:cNvSpPr/>
          <p:nvPr/>
        </p:nvSpPr>
        <p:spPr>
          <a:xfrm>
            <a:off x="1619672" y="2996952"/>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Ff2/s</a:t>
            </a:r>
          </a:p>
        </p:txBody>
      </p:sp>
      <p:cxnSp>
        <p:nvCxnSpPr>
          <p:cNvPr id="40" name="Connecteur droit avec flèche 39"/>
          <p:cNvCxnSpPr/>
          <p:nvPr/>
        </p:nvCxnSpPr>
        <p:spPr>
          <a:xfrm>
            <a:off x="1835696" y="2996952"/>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a:off x="1691680" y="4221088"/>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43"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27584" y="5301208"/>
            <a:ext cx="1224136" cy="1080120"/>
          </a:xfrm>
          <a:prstGeom prst="rect">
            <a:avLst/>
          </a:prstGeom>
          <a:noFill/>
          <a:ln w="9525">
            <a:noFill/>
            <a:miter lim="800000"/>
            <a:headEnd/>
            <a:tailEnd/>
          </a:ln>
        </p:spPr>
      </p:pic>
      <p:cxnSp>
        <p:nvCxnSpPr>
          <p:cNvPr id="44" name="Connecteur droit avec flèche 43"/>
          <p:cNvCxnSpPr/>
          <p:nvPr/>
        </p:nvCxnSpPr>
        <p:spPr>
          <a:xfrm flipH="1" flipV="1">
            <a:off x="1475656" y="5157192"/>
            <a:ext cx="8384" cy="584448"/>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1475656" y="5661248"/>
            <a:ext cx="0" cy="50405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6" name="Rectangle à coins arrondis 45"/>
          <p:cNvSpPr/>
          <p:nvPr/>
        </p:nvSpPr>
        <p:spPr>
          <a:xfrm>
            <a:off x="1547664" y="4221088"/>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P</a:t>
            </a:r>
          </a:p>
        </p:txBody>
      </p:sp>
      <p:sp>
        <p:nvSpPr>
          <p:cNvPr id="47" name="Rectangle à coins arrondis 46"/>
          <p:cNvSpPr/>
          <p:nvPr/>
        </p:nvSpPr>
        <p:spPr>
          <a:xfrm>
            <a:off x="1619672" y="5949280"/>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P</a:t>
            </a:r>
          </a:p>
        </p:txBody>
      </p:sp>
      <p:sp>
        <p:nvSpPr>
          <p:cNvPr id="48" name="Rectangle à coins arrondis 47"/>
          <p:cNvSpPr/>
          <p:nvPr/>
        </p:nvSpPr>
        <p:spPr>
          <a:xfrm>
            <a:off x="1619672" y="5157192"/>
            <a:ext cx="504056"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FA</a:t>
            </a:r>
          </a:p>
        </p:txBody>
      </p:sp>
      <p:cxnSp>
        <p:nvCxnSpPr>
          <p:cNvPr id="49" name="Connecteur droit avec flèche 48"/>
          <p:cNvCxnSpPr/>
          <p:nvPr/>
        </p:nvCxnSpPr>
        <p:spPr>
          <a:xfrm>
            <a:off x="1835696" y="5949280"/>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a:off x="1763688" y="5157192"/>
            <a:ext cx="288032"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à coins arrondis 50"/>
          <p:cNvSpPr/>
          <p:nvPr/>
        </p:nvSpPr>
        <p:spPr>
          <a:xfrm>
            <a:off x="971600" y="1988840"/>
            <a:ext cx="1080120" cy="288032"/>
          </a:xfrm>
          <a:prstGeom prst="roundRect">
            <a:avLst/>
          </a:prstGeom>
          <a:solidFill>
            <a:srgbClr val="99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1600" b="1" dirty="0">
                <a:solidFill>
                  <a:schemeClr val="bg1"/>
                </a:solidFill>
              </a:rPr>
              <a:t>مكتبة الامل </a:t>
            </a:r>
            <a:endParaRPr lang="fr-FR" sz="1600" b="1" dirty="0">
              <a:solidFill>
                <a:schemeClr val="bg1"/>
              </a:solidFill>
            </a:endParaRPr>
          </a:p>
        </p:txBody>
      </p:sp>
      <p:sp>
        <p:nvSpPr>
          <p:cNvPr id="52" name="Rectangle à coins arrondis 51"/>
          <p:cNvSpPr/>
          <p:nvPr/>
        </p:nvSpPr>
        <p:spPr>
          <a:xfrm rot="16044178">
            <a:off x="1103940" y="3621368"/>
            <a:ext cx="792372" cy="275277"/>
          </a:xfrm>
          <a:prstGeom prst="roundRect">
            <a:avLst/>
          </a:prstGeom>
          <a:solidFill>
            <a:srgbClr val="99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1200" b="1" dirty="0">
                <a:solidFill>
                  <a:schemeClr val="bg1"/>
                </a:solidFill>
              </a:rPr>
              <a:t>مكتبة الامل </a:t>
            </a:r>
            <a:endParaRPr lang="fr-FR" sz="1200" b="1" dirty="0">
              <a:solidFill>
                <a:schemeClr val="bg1"/>
              </a:solidFill>
            </a:endParaRPr>
          </a:p>
        </p:txBody>
      </p:sp>
      <p:cxnSp>
        <p:nvCxnSpPr>
          <p:cNvPr id="53" name="Connecteur droit avec flèche 52"/>
          <p:cNvCxnSpPr/>
          <p:nvPr/>
        </p:nvCxnSpPr>
        <p:spPr>
          <a:xfrm>
            <a:off x="1475656" y="3789040"/>
            <a:ext cx="0" cy="50405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4" name="Connecteur droit avec flèche 53"/>
          <p:cNvCxnSpPr/>
          <p:nvPr/>
        </p:nvCxnSpPr>
        <p:spPr>
          <a:xfrm flipH="1" flipV="1">
            <a:off x="1475656" y="2924944"/>
            <a:ext cx="8384" cy="440432"/>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flipV="1">
            <a:off x="1979712" y="1700808"/>
            <a:ext cx="288032" cy="29641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avec flèche 58"/>
          <p:cNvCxnSpPr/>
          <p:nvPr/>
        </p:nvCxnSpPr>
        <p:spPr>
          <a:xfrm flipH="1" flipV="1">
            <a:off x="755576" y="1700808"/>
            <a:ext cx="296416" cy="29641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السابع   </a:t>
            </a:r>
            <a:endParaRPr lang="fr-FR" sz="6000" b="1"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عندما ارادت الام تنظيف المطبخ من الترسبات </a:t>
            </a:r>
            <a:r>
              <a:rPr lang="ar-DZ" sz="2400" b="1" dirty="0" err="1">
                <a:solidFill>
                  <a:schemeClr val="dk1"/>
                </a:solidFill>
              </a:rPr>
              <a:t>الكلسية</a:t>
            </a:r>
            <a:r>
              <a:rPr lang="ar-DZ" sz="2400" b="1" dirty="0">
                <a:solidFill>
                  <a:schemeClr val="dk1"/>
                </a:solidFill>
              </a:rPr>
              <a:t> بمناسبة قدوم شهر رمضان المبارك استعملت قارورة بلاستيكية لروح </a:t>
            </a:r>
            <a:r>
              <a:rPr lang="ar-DZ" sz="2400" b="1" dirty="0" err="1">
                <a:solidFill>
                  <a:schemeClr val="dk1"/>
                </a:solidFill>
              </a:rPr>
              <a:t>الملح </a:t>
            </a:r>
            <a:r>
              <a:rPr lang="ar-DZ" sz="2400" b="1" dirty="0">
                <a:solidFill>
                  <a:schemeClr val="dk1"/>
                </a:solidFill>
              </a:rPr>
              <a:t>(حمض </a:t>
            </a:r>
            <a:r>
              <a:rPr lang="ar-DZ" sz="2400" b="1" dirty="0" err="1">
                <a:solidFill>
                  <a:schemeClr val="dk1"/>
                </a:solidFill>
              </a:rPr>
              <a:t>كلور</a:t>
            </a:r>
            <a:r>
              <a:rPr lang="ar-DZ" sz="2400" b="1" dirty="0">
                <a:solidFill>
                  <a:schemeClr val="dk1"/>
                </a:solidFill>
              </a:rPr>
              <a:t> الماء) ولما سقت قطرات منه      على سدادة مجرى </a:t>
            </a:r>
            <a:r>
              <a:rPr lang="ar-DZ" sz="2400" b="1" dirty="0" err="1">
                <a:solidFill>
                  <a:schemeClr val="dk1"/>
                </a:solidFill>
              </a:rPr>
              <a:t>المضبخ</a:t>
            </a:r>
            <a:r>
              <a:rPr lang="ar-DZ" sz="2400" b="1" dirty="0">
                <a:solidFill>
                  <a:schemeClr val="dk1"/>
                </a:solidFill>
              </a:rPr>
              <a:t> الحديدية انهشت  من حدوث فوران مما جعلها تقول لابنها انك اشتريت لي منظف غير مناسب </a:t>
            </a:r>
          </a:p>
          <a:p>
            <a:pPr algn="r"/>
            <a:r>
              <a:rPr lang="ar-DZ" sz="2400" b="1" dirty="0">
                <a:solidFill>
                  <a:schemeClr val="dk1"/>
                </a:solidFill>
              </a:rPr>
              <a:t>1-كيف تفسر حدوث فوران عند سقوط قطرات من روح الملح على السدادة الحديدية مدعما اجابتك بكتابة المعادلة بالصيغة </a:t>
            </a:r>
            <a:r>
              <a:rPr lang="ar-DZ" sz="2400" b="1" dirty="0" err="1">
                <a:solidFill>
                  <a:schemeClr val="dk1"/>
                </a:solidFill>
              </a:rPr>
              <a:t>الشاردية</a:t>
            </a:r>
            <a:r>
              <a:rPr lang="ar-DZ" sz="2400" b="1" dirty="0">
                <a:solidFill>
                  <a:schemeClr val="dk1"/>
                </a:solidFill>
              </a:rPr>
              <a:t> </a:t>
            </a:r>
            <a:r>
              <a:rPr lang="ar-DZ" sz="2400" b="1" dirty="0" err="1">
                <a:solidFill>
                  <a:schemeClr val="dk1"/>
                </a:solidFill>
              </a:rPr>
              <a:t>؟</a:t>
            </a:r>
            <a:endParaRPr lang="ar-DZ" sz="2400" b="1" dirty="0">
              <a:solidFill>
                <a:schemeClr val="dk1"/>
              </a:solidFill>
            </a:endParaRPr>
          </a:p>
          <a:p>
            <a:pPr algn="r"/>
            <a:r>
              <a:rPr lang="ar-DZ" sz="2400" b="1" dirty="0">
                <a:solidFill>
                  <a:schemeClr val="dk1"/>
                </a:solidFill>
              </a:rPr>
              <a:t>2-</a:t>
            </a:r>
            <a:r>
              <a:rPr lang="ar-DZ" sz="2400" b="1" dirty="0" err="1">
                <a:solidFill>
                  <a:schemeClr val="dk1"/>
                </a:solidFill>
              </a:rPr>
              <a:t>ماهو</a:t>
            </a:r>
            <a:r>
              <a:rPr lang="ar-DZ" sz="2400" b="1" dirty="0">
                <a:solidFill>
                  <a:schemeClr val="dk1"/>
                </a:solidFill>
              </a:rPr>
              <a:t> السبب الذي يجعل وضع مثل هذه المحاليل في قارورات </a:t>
            </a:r>
            <a:r>
              <a:rPr lang="ar-DZ" sz="2400" b="1" dirty="0" err="1">
                <a:solidFill>
                  <a:schemeClr val="dk1"/>
                </a:solidFill>
              </a:rPr>
              <a:t>بلاستيكية ؟</a:t>
            </a:r>
            <a:endParaRPr lang="ar-DZ" sz="2400" b="1" dirty="0">
              <a:solidFill>
                <a:schemeClr val="dk1"/>
              </a:solidFill>
            </a:endParaRPr>
          </a:p>
          <a:p>
            <a:pPr algn="r"/>
            <a:r>
              <a:rPr lang="ar-DZ" sz="2400" b="1" dirty="0">
                <a:solidFill>
                  <a:schemeClr val="dk1"/>
                </a:solidFill>
              </a:rPr>
              <a:t>3-</a:t>
            </a:r>
            <a:r>
              <a:rPr lang="ar-DZ" sz="2400" b="1" dirty="0" err="1">
                <a:solidFill>
                  <a:schemeClr val="dk1"/>
                </a:solidFill>
              </a:rPr>
              <a:t>ماهو</a:t>
            </a:r>
            <a:r>
              <a:rPr lang="ar-DZ" sz="2400" b="1" dirty="0">
                <a:solidFill>
                  <a:schemeClr val="dk1"/>
                </a:solidFill>
              </a:rPr>
              <a:t> الحل الذي تقترحه على الام حتى تستعمل هذه المادة في تنظيف المطبخ بدون حدوث فوران السدادة مرة اخرى  برر </a:t>
            </a:r>
            <a:r>
              <a:rPr lang="ar-DZ" sz="2400" b="1" dirty="0" err="1">
                <a:solidFill>
                  <a:schemeClr val="dk1"/>
                </a:solidFill>
              </a:rPr>
              <a:t>اجابتك ؟</a:t>
            </a: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endParaRPr lang="ar-DZ" sz="2400" b="1" dirty="0">
              <a:solidFill>
                <a:schemeClr val="dk1"/>
              </a:solidFill>
            </a:endParaRPr>
          </a:p>
          <a:p>
            <a:pPr algn="r"/>
            <a:r>
              <a:rPr lang="ar-DZ" sz="2400" b="1" dirty="0">
                <a:solidFill>
                  <a:schemeClr val="dk1"/>
                </a:solidFill>
              </a:rPr>
              <a:t> </a:t>
            </a:r>
            <a:endParaRPr lang="ar-DZ" sz="2400" b="1" dirty="0">
              <a:solidFill>
                <a:schemeClr val="bg1"/>
              </a:solidFill>
            </a:endParaRPr>
          </a:p>
          <a:p>
            <a:pPr algn="r"/>
            <a:endParaRPr lang="ar-DZ" sz="2400" b="1" dirty="0">
              <a:solidFill>
                <a:schemeClr val="bg1"/>
              </a:solidFill>
            </a:endParaRP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(5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2052" name="Rectangle 4"/>
          <p:cNvSpPr>
            <a:spLocks noChangeArrowheads="1"/>
          </p:cNvSpPr>
          <p:nvPr/>
        </p:nvSpPr>
        <p:spPr bwMode="auto">
          <a:xfrm>
            <a:off x="0" y="4572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pic>
        <p:nvPicPr>
          <p:cNvPr id="11" name="Image 10" descr="12747-14-310x165.jpg"/>
          <p:cNvPicPr>
            <a:picLocks noChangeAspect="1"/>
          </p:cNvPicPr>
          <p:nvPr/>
        </p:nvPicPr>
        <p:blipFill>
          <a:blip r:embed="rId2" cstate="print"/>
          <a:stretch>
            <a:fillRect/>
          </a:stretch>
        </p:blipFill>
        <p:spPr>
          <a:xfrm>
            <a:off x="4440615" y="4615997"/>
            <a:ext cx="3528392" cy="1872208"/>
          </a:xfrm>
          <a:prstGeom prst="rect">
            <a:avLst/>
          </a:prstGeom>
        </p:spPr>
      </p:pic>
      <p:pic>
        <p:nvPicPr>
          <p:cNvPr id="12" name="Image 11" descr="téléchargement.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63688" y="4653136"/>
            <a:ext cx="1296144" cy="188846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(7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800" b="1" dirty="0">
                <a:solidFill>
                  <a:schemeClr val="dk1"/>
                </a:solidFill>
              </a:rPr>
              <a:t> </a:t>
            </a:r>
          </a:p>
          <a:p>
            <a:pPr algn="r"/>
            <a:r>
              <a:rPr lang="fr-FR" sz="3200" b="1" dirty="0">
                <a:solidFill>
                  <a:schemeClr val="dk1"/>
                </a:solidFill>
              </a:rPr>
              <a:t>m</a:t>
            </a:r>
            <a:r>
              <a:rPr lang="fr-FR" sz="2400" b="1" dirty="0">
                <a:solidFill>
                  <a:schemeClr val="dk1"/>
                </a:solidFill>
              </a:rPr>
              <a:t>A</a:t>
            </a:r>
            <a:r>
              <a:rPr lang="fr-FR" sz="2800" b="1" dirty="0">
                <a:solidFill>
                  <a:schemeClr val="dk1"/>
                </a:solidFill>
              </a:rPr>
              <a:t>=</a:t>
            </a:r>
            <a:r>
              <a:rPr lang="ar-DZ" sz="2800" b="1" dirty="0">
                <a:solidFill>
                  <a:schemeClr val="dk1"/>
                </a:solidFill>
              </a:rPr>
              <a:t>1.5</a:t>
            </a:r>
            <a:r>
              <a:rPr lang="fr-FR" sz="2800" b="1" dirty="0">
                <a:solidFill>
                  <a:schemeClr val="dk1"/>
                </a:solidFill>
              </a:rPr>
              <a:t>kg</a:t>
            </a:r>
            <a:r>
              <a:rPr lang="ar-DZ" sz="2800" b="1" dirty="0">
                <a:solidFill>
                  <a:schemeClr val="dk1"/>
                </a:solidFill>
              </a:rPr>
              <a:t> كتلتهما </a:t>
            </a:r>
            <a:r>
              <a:rPr lang="fr-FR" sz="2800" b="1" dirty="0">
                <a:solidFill>
                  <a:schemeClr val="dk1"/>
                </a:solidFill>
              </a:rPr>
              <a:t>A </a:t>
            </a:r>
            <a:r>
              <a:rPr lang="ar-DZ" sz="2800" b="1" dirty="0">
                <a:solidFill>
                  <a:schemeClr val="dk1"/>
                </a:solidFill>
              </a:rPr>
              <a:t>و</a:t>
            </a:r>
            <a:r>
              <a:rPr lang="fr-FR" sz="2800" b="1" dirty="0">
                <a:solidFill>
                  <a:schemeClr val="dk1"/>
                </a:solidFill>
              </a:rPr>
              <a:t> B</a:t>
            </a:r>
            <a:r>
              <a:rPr lang="ar-DZ" sz="2800" b="1" dirty="0">
                <a:solidFill>
                  <a:schemeClr val="dk1"/>
                </a:solidFill>
              </a:rPr>
              <a:t>  نعلق  جسمان </a:t>
            </a:r>
          </a:p>
          <a:p>
            <a:pPr algn="r"/>
            <a:r>
              <a:rPr lang="fr-FR" sz="3600" b="1" dirty="0">
                <a:solidFill>
                  <a:schemeClr val="dk1"/>
                </a:solidFill>
              </a:rPr>
              <a:t>f</a:t>
            </a:r>
            <a:r>
              <a:rPr lang="fr-FR" sz="2800" b="1" dirty="0">
                <a:solidFill>
                  <a:schemeClr val="dk1"/>
                </a:solidFill>
              </a:rPr>
              <a:t>2</a:t>
            </a:r>
            <a:r>
              <a:rPr lang="fr-FR" sz="3200" b="1" dirty="0">
                <a:solidFill>
                  <a:schemeClr val="dk1"/>
                </a:solidFill>
              </a:rPr>
              <a:t> </a:t>
            </a:r>
            <a:r>
              <a:rPr lang="ar-DZ" sz="3200" b="1" dirty="0">
                <a:solidFill>
                  <a:schemeClr val="dk1"/>
                </a:solidFill>
              </a:rPr>
              <a:t>و </a:t>
            </a:r>
            <a:r>
              <a:rPr lang="fr-FR" sz="3200" b="1" dirty="0">
                <a:solidFill>
                  <a:schemeClr val="dk1"/>
                </a:solidFill>
              </a:rPr>
              <a:t>  </a:t>
            </a:r>
            <a:r>
              <a:rPr lang="fr-FR" sz="3600" b="1" dirty="0">
                <a:solidFill>
                  <a:schemeClr val="dk1"/>
                </a:solidFill>
              </a:rPr>
              <a:t>f</a:t>
            </a:r>
            <a:r>
              <a:rPr lang="fr-FR" sz="2800" b="1" dirty="0">
                <a:solidFill>
                  <a:schemeClr val="dk1"/>
                </a:solidFill>
              </a:rPr>
              <a:t>1</a:t>
            </a:r>
            <a:r>
              <a:rPr lang="ar-DZ" sz="2800" b="1" dirty="0">
                <a:solidFill>
                  <a:schemeClr val="dk1"/>
                </a:solidFill>
              </a:rPr>
              <a:t>مربوطين </a:t>
            </a:r>
            <a:r>
              <a:rPr lang="ar-DZ" sz="3200" b="1" dirty="0">
                <a:solidFill>
                  <a:schemeClr val="dk1"/>
                </a:solidFill>
              </a:rPr>
              <a:t> بحبلين </a:t>
            </a:r>
            <a:r>
              <a:rPr lang="fr-FR" sz="3200" b="1" dirty="0" err="1">
                <a:solidFill>
                  <a:schemeClr val="dk1"/>
                </a:solidFill>
              </a:rPr>
              <a:t>m</a:t>
            </a:r>
            <a:r>
              <a:rPr lang="fr-FR" sz="2400" b="1" dirty="0" err="1">
                <a:solidFill>
                  <a:schemeClr val="dk1"/>
                </a:solidFill>
              </a:rPr>
              <a:t>B</a:t>
            </a:r>
            <a:r>
              <a:rPr lang="fr-FR" sz="2800" b="1" dirty="0">
                <a:solidFill>
                  <a:schemeClr val="dk1"/>
                </a:solidFill>
              </a:rPr>
              <a:t>=3kg</a:t>
            </a:r>
            <a:r>
              <a:rPr lang="ar-DZ" sz="2800" b="1" dirty="0">
                <a:solidFill>
                  <a:schemeClr val="dk1"/>
                </a:solidFill>
              </a:rPr>
              <a:t>   و  </a:t>
            </a:r>
          </a:p>
          <a:p>
            <a:pPr algn="r"/>
            <a:r>
              <a:rPr lang="ar-DZ" sz="2800" b="1" dirty="0">
                <a:solidFill>
                  <a:schemeClr val="dk1"/>
                </a:solidFill>
              </a:rPr>
              <a:t>في حالة توازن كما في  الشكل</a:t>
            </a:r>
          </a:p>
          <a:p>
            <a:pPr algn="r"/>
            <a:r>
              <a:rPr lang="fr-FR" sz="2400" b="1" dirty="0">
                <a:solidFill>
                  <a:schemeClr val="dk1"/>
                </a:solidFill>
              </a:rPr>
              <a:t>A</a:t>
            </a:r>
            <a:r>
              <a:rPr lang="ar-DZ" sz="2400" b="1" dirty="0">
                <a:solidFill>
                  <a:schemeClr val="dk1"/>
                </a:solidFill>
              </a:rPr>
              <a:t>1-اذكر القوى المؤثرة على جسم </a:t>
            </a:r>
          </a:p>
          <a:p>
            <a:pPr algn="r"/>
            <a:r>
              <a:rPr lang="ar-DZ" sz="2400" b="1" dirty="0">
                <a:solidFill>
                  <a:schemeClr val="dk1"/>
                </a:solidFill>
              </a:rPr>
              <a:t>  ثم مثل الفعلين المتبادلين </a:t>
            </a:r>
            <a:r>
              <a:rPr lang="fr-FR" sz="2400" b="1" dirty="0">
                <a:solidFill>
                  <a:schemeClr val="dk1"/>
                </a:solidFill>
              </a:rPr>
              <a:t>B  </a:t>
            </a:r>
            <a:r>
              <a:rPr lang="ar-DZ" sz="2400" b="1" dirty="0">
                <a:solidFill>
                  <a:schemeClr val="dk1"/>
                </a:solidFill>
              </a:rPr>
              <a:t>و </a:t>
            </a:r>
            <a:r>
              <a:rPr lang="fr-FR" sz="2400" b="1" dirty="0">
                <a:solidFill>
                  <a:schemeClr val="dk1"/>
                </a:solidFill>
              </a:rPr>
              <a:t>A</a:t>
            </a:r>
            <a:r>
              <a:rPr lang="ar-DZ" sz="2400" b="1" dirty="0">
                <a:solidFill>
                  <a:schemeClr val="dk1"/>
                </a:solidFill>
              </a:rPr>
              <a:t>2-احسب ثقل الجسمين  </a:t>
            </a:r>
          </a:p>
          <a:p>
            <a:pPr algn="r"/>
            <a:r>
              <a:rPr lang="fr-FR" sz="2400" b="1" dirty="0">
                <a:solidFill>
                  <a:schemeClr val="dk1"/>
                </a:solidFill>
              </a:rPr>
              <a:t>10N     1cm </a:t>
            </a:r>
            <a:r>
              <a:rPr lang="ar-DZ" sz="2400" b="1" dirty="0">
                <a:solidFill>
                  <a:schemeClr val="dk1"/>
                </a:solidFill>
              </a:rPr>
              <a:t>  بسلم  </a:t>
            </a:r>
            <a:r>
              <a:rPr lang="fr-FR" sz="2400" b="1" dirty="0">
                <a:solidFill>
                  <a:schemeClr val="dk1"/>
                </a:solidFill>
              </a:rPr>
              <a:t>f1 </a:t>
            </a:r>
            <a:r>
              <a:rPr lang="ar-DZ" sz="2400" b="1" dirty="0">
                <a:solidFill>
                  <a:schemeClr val="dk1"/>
                </a:solidFill>
              </a:rPr>
              <a:t>   و الحبل </a:t>
            </a:r>
            <a:r>
              <a:rPr lang="fr-FR" sz="2400" b="1" dirty="0">
                <a:solidFill>
                  <a:schemeClr val="dk1"/>
                </a:solidFill>
              </a:rPr>
              <a:t>A</a:t>
            </a:r>
            <a:r>
              <a:rPr lang="ar-DZ" sz="2400" b="1" dirty="0">
                <a:solidFill>
                  <a:schemeClr val="dk1"/>
                </a:solidFill>
              </a:rPr>
              <a:t> بين الجسم </a:t>
            </a:r>
            <a:endParaRPr lang="ar-DZ" sz="2400" b="1" dirty="0">
              <a:solidFill>
                <a:schemeClr val="bg1"/>
              </a:solidFill>
            </a:endParaRPr>
          </a:p>
          <a:p>
            <a:pPr algn="r"/>
            <a:r>
              <a:rPr lang="ar-DZ" sz="2400" b="1" dirty="0">
                <a:solidFill>
                  <a:schemeClr val="dk1"/>
                </a:solidFill>
              </a:rPr>
              <a:t> محصلة الثقل و قوة </a:t>
            </a:r>
            <a:r>
              <a:rPr lang="ar-DZ" sz="2400" b="1" dirty="0" err="1">
                <a:solidFill>
                  <a:schemeClr val="dk1"/>
                </a:solidFill>
              </a:rPr>
              <a:t>تاير</a:t>
            </a:r>
            <a:r>
              <a:rPr lang="ar-DZ" sz="2400" b="1" dirty="0">
                <a:solidFill>
                  <a:schemeClr val="dk1"/>
                </a:solidFill>
              </a:rPr>
              <a:t> الحبل اذا كانت قيمتها </a:t>
            </a:r>
            <a:r>
              <a:rPr lang="fr-FR" sz="2400" b="1" dirty="0">
                <a:solidFill>
                  <a:schemeClr val="dk1"/>
                </a:solidFill>
              </a:rPr>
              <a:t>F</a:t>
            </a:r>
            <a:r>
              <a:rPr lang="ar-DZ" sz="2400" b="1" dirty="0">
                <a:solidFill>
                  <a:schemeClr val="dk1"/>
                </a:solidFill>
              </a:rPr>
              <a:t> 3-مثل القوة  </a:t>
            </a:r>
          </a:p>
          <a:p>
            <a:pPr algn="r"/>
            <a:r>
              <a:rPr lang="ar-DZ" sz="2400" b="1" dirty="0">
                <a:solidFill>
                  <a:schemeClr val="dk1"/>
                </a:solidFill>
              </a:rPr>
              <a:t>   على ورق </a:t>
            </a:r>
            <a:r>
              <a:rPr lang="ar-DZ" sz="2400" b="1" dirty="0" err="1">
                <a:solidFill>
                  <a:schemeClr val="dk1"/>
                </a:solidFill>
              </a:rPr>
              <a:t>مامتري</a:t>
            </a:r>
            <a:r>
              <a:rPr lang="ar-DZ" sz="2400" b="1" dirty="0">
                <a:solidFill>
                  <a:schemeClr val="dk1"/>
                </a:solidFill>
              </a:rPr>
              <a:t>   ثم استنتج خصائصها   </a:t>
            </a:r>
            <a:r>
              <a:rPr lang="fr-FR" sz="2400" b="1" dirty="0">
                <a:solidFill>
                  <a:schemeClr val="dk1"/>
                </a:solidFill>
              </a:rPr>
              <a:t>F</a:t>
            </a:r>
            <a:r>
              <a:rPr lang="fr-FR" sz="2000" b="1" dirty="0">
                <a:solidFill>
                  <a:schemeClr val="dk1"/>
                </a:solidFill>
              </a:rPr>
              <a:t>f2/B</a:t>
            </a:r>
            <a:r>
              <a:rPr lang="fr-FR" sz="2400" b="1" dirty="0">
                <a:solidFill>
                  <a:schemeClr val="dk1"/>
                </a:solidFill>
              </a:rPr>
              <a:t>=</a:t>
            </a:r>
            <a:r>
              <a:rPr lang="ar-DZ" sz="2400" b="1" dirty="0">
                <a:solidFill>
                  <a:schemeClr val="dk1"/>
                </a:solidFill>
              </a:rPr>
              <a:t>15</a:t>
            </a:r>
            <a:r>
              <a:rPr lang="fr-FR" sz="2400" b="1" dirty="0">
                <a:solidFill>
                  <a:schemeClr val="dk1"/>
                </a:solidFill>
              </a:rPr>
              <a:t>N</a:t>
            </a:r>
          </a:p>
          <a:p>
            <a:pPr algn="r"/>
            <a:r>
              <a:rPr lang="ar-DZ" sz="2400" b="1" dirty="0">
                <a:solidFill>
                  <a:schemeClr val="dk1"/>
                </a:solidFill>
              </a:rPr>
              <a:t>4-اكتب شرط التوازن للجسم  ثم استنتج خصائص</a:t>
            </a:r>
          </a:p>
          <a:p>
            <a:pPr algn="r"/>
            <a:r>
              <a:rPr lang="ar-DZ" sz="2400" b="1" dirty="0">
                <a:solidFill>
                  <a:schemeClr val="dk1"/>
                </a:solidFill>
              </a:rPr>
              <a:t>قوة </a:t>
            </a:r>
            <a:r>
              <a:rPr lang="ar-DZ" sz="2400" b="1" dirty="0" err="1">
                <a:solidFill>
                  <a:schemeClr val="dk1"/>
                </a:solidFill>
              </a:rPr>
              <a:t>تاثير</a:t>
            </a:r>
            <a:r>
              <a:rPr lang="ar-DZ" sz="2400" b="1" dirty="0">
                <a:solidFill>
                  <a:schemeClr val="dk1"/>
                </a:solidFill>
              </a:rPr>
              <a:t> السطح على الجسم     </a:t>
            </a:r>
          </a:p>
          <a:p>
            <a:pPr algn="r"/>
            <a:r>
              <a:rPr lang="fr-FR" sz="2400" b="1" dirty="0">
                <a:solidFill>
                  <a:schemeClr val="bg1"/>
                </a:solidFill>
              </a:rPr>
              <a:t> </a:t>
            </a:r>
            <a:endParaRPr lang="ar-DZ" sz="2400" b="1" dirty="0">
              <a:solidFill>
                <a:schemeClr val="bg1"/>
              </a:solidFill>
            </a:endParaRPr>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836712"/>
            <a:ext cx="3203848" cy="2376264"/>
          </a:xfrm>
          <a:prstGeom prst="rect">
            <a:avLst/>
          </a:prstGeom>
          <a:noFill/>
          <a:ln w="9525">
            <a:noFill/>
            <a:miter lim="800000"/>
            <a:headEnd/>
            <a:tailEnd/>
          </a:ln>
        </p:spPr>
      </p:pic>
      <p:sp>
        <p:nvSpPr>
          <p:cNvPr id="6" name="Rectangle 5"/>
          <p:cNvSpPr/>
          <p:nvPr/>
        </p:nvSpPr>
        <p:spPr>
          <a:xfrm>
            <a:off x="755576" y="2204864"/>
            <a:ext cx="492444" cy="369332"/>
          </a:xfrm>
          <a:prstGeom prst="rect">
            <a:avLst/>
          </a:prstGeom>
          <a:noFill/>
        </p:spPr>
        <p:txBody>
          <a:bodyPr wrap="none">
            <a:spAutoFit/>
          </a:bodyPr>
          <a:lstStyle/>
          <a:p>
            <a:pPr algn="ctr"/>
            <a:r>
              <a:rPr lang="ar-DZ" b="1" dirty="0">
                <a:solidFill>
                  <a:schemeClr val="bg1"/>
                </a:solidFill>
              </a:rPr>
              <a:t>60</a:t>
            </a:r>
            <a:r>
              <a:rPr lang="fr-FR" b="1" baseline="30000" dirty="0">
                <a:solidFill>
                  <a:schemeClr val="bg1"/>
                </a:solidFill>
              </a:rPr>
              <a:t>0</a:t>
            </a:r>
            <a:endParaRPr lang="fr-FR" dirty="0">
              <a:solidFill>
                <a:schemeClr val="bg1"/>
              </a:solidFill>
            </a:endParaRPr>
          </a:p>
        </p:txBody>
      </p:sp>
      <p:sp>
        <p:nvSpPr>
          <p:cNvPr id="7" name="Arc 6"/>
          <p:cNvSpPr/>
          <p:nvPr/>
        </p:nvSpPr>
        <p:spPr>
          <a:xfrm rot="7634297" flipH="1">
            <a:off x="807160" y="1856607"/>
            <a:ext cx="602408" cy="790167"/>
          </a:xfrm>
          <a:prstGeom prst="arc">
            <a:avLst>
              <a:gd name="adj1" fmla="val 15902759"/>
              <a:gd name="adj2" fmla="val 1694465"/>
            </a:avLst>
          </a:prstGeom>
          <a:ln w="476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 name="Rectangle à coins arrondis 7"/>
          <p:cNvSpPr/>
          <p:nvPr/>
        </p:nvSpPr>
        <p:spPr>
          <a:xfrm>
            <a:off x="2339752" y="1268760"/>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1</a:t>
            </a:r>
          </a:p>
        </p:txBody>
      </p:sp>
      <p:sp>
        <p:nvSpPr>
          <p:cNvPr id="9" name="Rectangle à coins arrondis 8"/>
          <p:cNvSpPr/>
          <p:nvPr/>
        </p:nvSpPr>
        <p:spPr>
          <a:xfrm>
            <a:off x="1187624" y="1052736"/>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2</a:t>
            </a:r>
          </a:p>
        </p:txBody>
      </p:sp>
      <p:cxnSp>
        <p:nvCxnSpPr>
          <p:cNvPr id="10" name="Connecteur droit avec flèche 9"/>
          <p:cNvCxnSpPr/>
          <p:nvPr/>
        </p:nvCxnSpPr>
        <p:spPr>
          <a:xfrm>
            <a:off x="4355976" y="429309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à coins arrondis 10"/>
          <p:cNvSpPr/>
          <p:nvPr/>
        </p:nvSpPr>
        <p:spPr>
          <a:xfrm>
            <a:off x="2195736" y="1772816"/>
            <a:ext cx="57606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a:t>
            </a:r>
          </a:p>
        </p:txBody>
      </p:sp>
      <p:sp>
        <p:nvSpPr>
          <p:cNvPr id="12" name="Rectangle à coins arrondis 11"/>
          <p:cNvSpPr/>
          <p:nvPr/>
        </p:nvSpPr>
        <p:spPr>
          <a:xfrm rot="19604799">
            <a:off x="846611" y="1457440"/>
            <a:ext cx="57606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B</a:t>
            </a:r>
          </a:p>
        </p:txBody>
      </p:sp>
      <p:sp>
        <p:nvSpPr>
          <p:cNvPr id="14" name="Rectangle à coins arrondis 13"/>
          <p:cNvSpPr/>
          <p:nvPr/>
        </p:nvSpPr>
        <p:spPr>
          <a:xfrm>
            <a:off x="179512" y="1988840"/>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S</a:t>
            </a:r>
            <a:endParaRPr lang="fr-FR" sz="2000" b="1"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الادماجية</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بعد انتقال عائلة محمد الى مسكنها الجديد لاحظوا انه تحدث لهم عدة مشاكل بسبب الشبكة الكهربائية المنجزة فيه حديثا  </a:t>
            </a:r>
          </a:p>
          <a:p>
            <a:pPr algn="r"/>
            <a:r>
              <a:rPr lang="ar-DZ" sz="2400" b="1" dirty="0">
                <a:solidFill>
                  <a:schemeClr val="bg1"/>
                </a:solidFill>
              </a:rPr>
              <a:t>-مشكل ان المكيف الهوائي لا يعمل عند تشغيله رغم انه غير فاسد</a:t>
            </a:r>
          </a:p>
          <a:p>
            <a:pPr algn="r"/>
            <a:r>
              <a:rPr lang="ar-DZ" sz="2400" b="1" dirty="0">
                <a:solidFill>
                  <a:schemeClr val="bg1"/>
                </a:solidFill>
              </a:rPr>
              <a:t>-مشكل الاصابة بصدمة كهربائية عند استبدال المصباح الفاسد </a:t>
            </a:r>
            <a:r>
              <a:rPr lang="ar-DZ" sz="2400" b="1" dirty="0" err="1">
                <a:solidFill>
                  <a:schemeClr val="bg1"/>
                </a:solidFill>
              </a:rPr>
              <a:t>واخر</a:t>
            </a:r>
            <a:r>
              <a:rPr lang="ar-DZ" sz="2400" b="1" dirty="0">
                <a:solidFill>
                  <a:schemeClr val="bg1"/>
                </a:solidFill>
              </a:rPr>
              <a:t> جديد </a:t>
            </a:r>
          </a:p>
          <a:p>
            <a:pPr algn="r"/>
            <a:r>
              <a:rPr lang="ar-DZ" sz="2400" b="1" dirty="0">
                <a:solidFill>
                  <a:schemeClr val="bg1"/>
                </a:solidFill>
              </a:rPr>
              <a:t>-مشكل انقطاع التيار الكهربائي عند تشغيل الاجهزة الكهربائية  في ان واحد</a:t>
            </a:r>
          </a:p>
          <a:p>
            <a:pPr algn="r"/>
            <a:r>
              <a:rPr lang="ar-DZ" sz="2400" b="1" dirty="0" err="1">
                <a:solidFill>
                  <a:schemeClr val="bg1"/>
                </a:solidFill>
              </a:rPr>
              <a:t>فاراد</a:t>
            </a:r>
            <a:r>
              <a:rPr lang="ar-DZ" sz="2400" b="1" dirty="0">
                <a:solidFill>
                  <a:schemeClr val="bg1"/>
                </a:solidFill>
              </a:rPr>
              <a:t> محمد معرفة سبب هذه المشاكل وطريقة حلها بسرعة  </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a:t>
            </a:r>
            <a:r>
              <a:rPr lang="ar-DZ" sz="2400" b="1" dirty="0" err="1">
                <a:solidFill>
                  <a:schemeClr val="bg1"/>
                </a:solidFill>
              </a:rPr>
              <a:t>ماهو</a:t>
            </a:r>
            <a:r>
              <a:rPr lang="ar-DZ" sz="2400" b="1" dirty="0">
                <a:solidFill>
                  <a:schemeClr val="bg1"/>
                </a:solidFill>
              </a:rPr>
              <a:t> سبب كل </a:t>
            </a:r>
            <a:r>
              <a:rPr lang="ar-DZ" sz="2400" b="1" dirty="0" err="1">
                <a:solidFill>
                  <a:schemeClr val="bg1"/>
                </a:solidFill>
              </a:rPr>
              <a:t>مشكلة  ؟</a:t>
            </a:r>
            <a:endParaRPr lang="ar-DZ" sz="2400" b="1" dirty="0">
              <a:solidFill>
                <a:schemeClr val="bg1"/>
              </a:solidFill>
            </a:endParaRPr>
          </a:p>
          <a:p>
            <a:pPr algn="r"/>
            <a:r>
              <a:rPr lang="ar-DZ" sz="2400" b="1" dirty="0">
                <a:solidFill>
                  <a:schemeClr val="bg1"/>
                </a:solidFill>
              </a:rPr>
              <a:t>2-هل يمكن ان تحدث مشاكل </a:t>
            </a:r>
          </a:p>
          <a:p>
            <a:pPr algn="r"/>
            <a:r>
              <a:rPr lang="ar-DZ" sz="2400" b="1" dirty="0">
                <a:solidFill>
                  <a:schemeClr val="bg1"/>
                </a:solidFill>
              </a:rPr>
              <a:t>عند تشغيل الغسالة برر </a:t>
            </a:r>
            <a:r>
              <a:rPr lang="ar-DZ" sz="2400" b="1" dirty="0" err="1">
                <a:solidFill>
                  <a:schemeClr val="bg1"/>
                </a:solidFill>
              </a:rPr>
              <a:t>اجابتك ؟</a:t>
            </a:r>
            <a:endParaRPr lang="ar-DZ" sz="2400" b="1" dirty="0">
              <a:solidFill>
                <a:schemeClr val="bg1"/>
              </a:solidFill>
            </a:endParaRPr>
          </a:p>
          <a:p>
            <a:pPr algn="r"/>
            <a:r>
              <a:rPr lang="ar-DZ" sz="2400" b="1" dirty="0">
                <a:solidFill>
                  <a:schemeClr val="bg1"/>
                </a:solidFill>
              </a:rPr>
              <a:t>3-اقترح حلولا مناسبة لكل مشكل  </a:t>
            </a:r>
          </a:p>
          <a:p>
            <a:pPr algn="r"/>
            <a:r>
              <a:rPr lang="ar-DZ" sz="2400" b="1" dirty="0">
                <a:solidFill>
                  <a:schemeClr val="bg1"/>
                </a:solidFill>
              </a:rPr>
              <a:t>مع الرسم الصحيح للمخطط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66562"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429000"/>
            <a:ext cx="5328592" cy="3024336"/>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1-سبب حدوث فوران هو انه حدث تفاعل كيميائي بين روح </a:t>
            </a:r>
            <a:r>
              <a:rPr lang="ar-DZ" sz="2400" b="1" dirty="0" err="1">
                <a:solidFill>
                  <a:schemeClr val="dk1"/>
                </a:solidFill>
              </a:rPr>
              <a:t>الملح </a:t>
            </a:r>
            <a:r>
              <a:rPr lang="ar-DZ" sz="2400" b="1" dirty="0">
                <a:solidFill>
                  <a:schemeClr val="dk1"/>
                </a:solidFill>
              </a:rPr>
              <a:t>(حمض </a:t>
            </a:r>
            <a:r>
              <a:rPr lang="ar-DZ" sz="2400" b="1" dirty="0" err="1">
                <a:solidFill>
                  <a:schemeClr val="dk1"/>
                </a:solidFill>
              </a:rPr>
              <a:t>كلور</a:t>
            </a:r>
            <a:r>
              <a:rPr lang="ar-DZ" sz="2400" b="1" dirty="0">
                <a:solidFill>
                  <a:schemeClr val="dk1"/>
                </a:solidFill>
              </a:rPr>
              <a:t> </a:t>
            </a:r>
            <a:r>
              <a:rPr lang="ar-DZ" sz="2400" b="1" dirty="0" err="1">
                <a:solidFill>
                  <a:schemeClr val="dk1"/>
                </a:solidFill>
              </a:rPr>
              <a:t>الماء </a:t>
            </a:r>
            <a:r>
              <a:rPr lang="ar-DZ" sz="2400" b="1" dirty="0">
                <a:solidFill>
                  <a:schemeClr val="dk1"/>
                </a:solidFill>
              </a:rPr>
              <a:t>) وسدادة الحديد وذلك وفق المعادلة </a:t>
            </a:r>
            <a:r>
              <a:rPr lang="ar-DZ" sz="2400" b="1" dirty="0" err="1">
                <a:solidFill>
                  <a:schemeClr val="dk1"/>
                </a:solidFill>
              </a:rPr>
              <a:t>الشاردية</a:t>
            </a:r>
            <a:r>
              <a:rPr lang="ar-DZ" sz="2400" b="1" dirty="0">
                <a:solidFill>
                  <a:schemeClr val="dk1"/>
                </a:solidFill>
              </a:rPr>
              <a:t>  الاتية</a:t>
            </a:r>
          </a:p>
          <a:p>
            <a:pPr algn="r"/>
            <a:r>
              <a:rPr lang="fr-FR" sz="2400" b="1" dirty="0">
                <a:solidFill>
                  <a:schemeClr val="bg1"/>
                </a:solidFill>
              </a:rPr>
              <a:t>Fe(S)+</a:t>
            </a:r>
            <a:r>
              <a:rPr lang="ar-DZ" sz="2400" b="1" dirty="0">
                <a:solidFill>
                  <a:schemeClr val="bg1"/>
                </a:solidFill>
              </a:rPr>
              <a:t> </a:t>
            </a:r>
            <a:r>
              <a:rPr lang="fr-FR" sz="2400" b="1" dirty="0">
                <a:solidFill>
                  <a:schemeClr val="bg1"/>
                </a:solidFill>
              </a:rPr>
              <a:t>(2H</a:t>
            </a:r>
            <a:r>
              <a:rPr lang="fr-FR" sz="2400" b="1" baseline="30000" dirty="0">
                <a:solidFill>
                  <a:schemeClr val="bg1"/>
                </a:solidFill>
              </a:rPr>
              <a:t>+</a:t>
            </a:r>
            <a:r>
              <a:rPr lang="en-US" sz="2400" b="1" dirty="0">
                <a:solidFill>
                  <a:schemeClr val="bg1"/>
                </a:solidFill>
              </a:rPr>
              <a:t>+</a:t>
            </a:r>
            <a:r>
              <a:rPr lang="fr-FR" sz="2400" b="1" dirty="0">
                <a:solidFill>
                  <a:schemeClr val="bg1"/>
                </a:solidFill>
              </a:rPr>
              <a:t>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(Fe</a:t>
            </a:r>
            <a:r>
              <a:rPr lang="fr-FR" sz="2400" b="1" baseline="30000" dirty="0">
                <a:solidFill>
                  <a:schemeClr val="bg1"/>
                </a:solidFill>
              </a:rPr>
              <a:t>2+</a:t>
            </a:r>
            <a:r>
              <a:rPr lang="fr-FR" sz="2400" b="1" dirty="0">
                <a:solidFill>
                  <a:schemeClr val="bg1"/>
                </a:solidFill>
              </a:rPr>
              <a:t> +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  (g</a:t>
            </a:r>
            <a:r>
              <a:rPr lang="ar-DZ" sz="2400" b="1" dirty="0">
                <a:solidFill>
                  <a:schemeClr val="bg1"/>
                </a:solidFill>
              </a:rPr>
              <a:t> </a:t>
            </a:r>
            <a:r>
              <a:rPr lang="fr-FR" sz="2400" b="1" dirty="0">
                <a:solidFill>
                  <a:schemeClr val="bg1"/>
                </a:solidFill>
              </a:rPr>
              <a:t>)</a:t>
            </a:r>
            <a:endParaRPr lang="ar-DZ" sz="2400" b="1" dirty="0">
              <a:solidFill>
                <a:schemeClr val="bg1"/>
              </a:solidFill>
            </a:endParaRPr>
          </a:p>
          <a:p>
            <a:pPr algn="r"/>
            <a:r>
              <a:rPr lang="ar-DZ" sz="2400" b="1" dirty="0">
                <a:solidFill>
                  <a:schemeClr val="dk1"/>
                </a:solidFill>
              </a:rPr>
              <a:t>2-السبب الذي يجعل وضع مثل هذه المواد في قارورات بلاستيكية حتى لا يحدث تفاعل بينها و بين المادة الموضوعة فيها وبالتالي تفسد وتصبح غير صالحة للاستعمال </a:t>
            </a:r>
          </a:p>
          <a:p>
            <a:pPr algn="r"/>
            <a:r>
              <a:rPr lang="ar-DZ" sz="2400" b="1" dirty="0">
                <a:solidFill>
                  <a:schemeClr val="dk1"/>
                </a:solidFill>
              </a:rPr>
              <a:t>3-الحل الذي اقترحه على الام حتى يمكن استعمال روح الملح في تنظيف المطبخ         هو تغيير السدادة الحديدية بسدادة بلاستيكية ومنه لا يحدث تفاعل بينهما   </a:t>
            </a:r>
          </a:p>
          <a:p>
            <a:pPr algn="r"/>
            <a:r>
              <a:rPr lang="ar-DZ" sz="2400" b="1" dirty="0">
                <a:solidFill>
                  <a:schemeClr val="dk1"/>
                </a:solidFill>
              </a:rPr>
              <a:t> </a:t>
            </a:r>
            <a:endParaRPr lang="ar-DZ" sz="2400" b="1" dirty="0">
              <a:solidFill>
                <a:schemeClr val="bg1"/>
              </a:solidFill>
            </a:endParaRPr>
          </a:p>
          <a:p>
            <a:pPr algn="r"/>
            <a:endParaRPr lang="ar-DZ" sz="2400" b="1" dirty="0">
              <a:solidFill>
                <a:schemeClr val="bg1"/>
              </a:solidFill>
            </a:endParaRP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sp>
        <p:nvSpPr>
          <p:cNvPr id="2052" name="Rectangle 4"/>
          <p:cNvSpPr>
            <a:spLocks noChangeArrowheads="1"/>
          </p:cNvSpPr>
          <p:nvPr/>
        </p:nvSpPr>
        <p:spPr bwMode="auto">
          <a:xfrm>
            <a:off x="0" y="272534"/>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cxnSp>
        <p:nvCxnSpPr>
          <p:cNvPr id="8" name="Connecteur droit avec flèche 7"/>
          <p:cNvCxnSpPr/>
          <p:nvPr/>
        </p:nvCxnSpPr>
        <p:spPr>
          <a:xfrm>
            <a:off x="4427984" y="3212976"/>
            <a:ext cx="576064"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692696"/>
            <a:ext cx="9252520" cy="6165304"/>
          </a:xfrm>
          <a:prstGeom prst="round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000" b="1" dirty="0">
                <a:solidFill>
                  <a:schemeClr val="bg1"/>
                </a:solidFill>
              </a:rPr>
              <a:t>هي </a:t>
            </a:r>
            <a:r>
              <a:rPr lang="fr-FR" sz="2000" b="1" dirty="0">
                <a:solidFill>
                  <a:schemeClr val="bg1"/>
                </a:solidFill>
              </a:rPr>
              <a:t>A</a:t>
            </a:r>
            <a:r>
              <a:rPr lang="ar-DZ" sz="2400" b="1" dirty="0">
                <a:solidFill>
                  <a:schemeClr val="bg1"/>
                </a:solidFill>
              </a:rPr>
              <a:t> </a:t>
            </a:r>
            <a:r>
              <a:rPr lang="ar-DZ" sz="2000" b="1" dirty="0">
                <a:solidFill>
                  <a:schemeClr val="bg1"/>
                </a:solidFill>
              </a:rPr>
              <a:t>1-القوى المؤثرة على الجسم </a:t>
            </a:r>
          </a:p>
          <a:p>
            <a:pPr algn="r"/>
            <a:r>
              <a:rPr lang="fr-FR" sz="2000" b="1" dirty="0">
                <a:solidFill>
                  <a:schemeClr val="bg1"/>
                </a:solidFill>
              </a:rPr>
              <a:t>Ff1/A</a:t>
            </a:r>
            <a:r>
              <a:rPr lang="ar-DZ" sz="2000" b="1" dirty="0">
                <a:solidFill>
                  <a:schemeClr val="bg1"/>
                </a:solidFill>
              </a:rPr>
              <a:t>   - قوة </a:t>
            </a:r>
            <a:r>
              <a:rPr lang="ar-DZ" sz="2000" b="1" dirty="0" err="1">
                <a:solidFill>
                  <a:schemeClr val="bg1"/>
                </a:solidFill>
              </a:rPr>
              <a:t>تاثير</a:t>
            </a:r>
            <a:r>
              <a:rPr lang="ar-DZ" sz="2000" b="1" dirty="0">
                <a:solidFill>
                  <a:schemeClr val="bg1"/>
                </a:solidFill>
              </a:rPr>
              <a:t> الحبل و</a:t>
            </a:r>
            <a:r>
              <a:rPr lang="fr-FR" sz="2000" b="1" dirty="0">
                <a:solidFill>
                  <a:schemeClr val="bg1"/>
                </a:solidFill>
              </a:rPr>
              <a:t>p </a:t>
            </a:r>
            <a:r>
              <a:rPr lang="ar-DZ" sz="2000" b="1" dirty="0" err="1">
                <a:solidFill>
                  <a:schemeClr val="bg1"/>
                </a:solidFill>
              </a:rPr>
              <a:t>او  </a:t>
            </a:r>
            <a:r>
              <a:rPr lang="ar-DZ" sz="2000" b="1" dirty="0">
                <a:solidFill>
                  <a:schemeClr val="bg1"/>
                </a:solidFill>
              </a:rPr>
              <a:t>(الثقل</a:t>
            </a:r>
            <a:r>
              <a:rPr lang="ar-DZ" sz="2000" b="1" dirty="0" err="1">
                <a:solidFill>
                  <a:schemeClr val="bg1"/>
                </a:solidFill>
              </a:rPr>
              <a:t>)</a:t>
            </a:r>
            <a:r>
              <a:rPr lang="fr-FR" sz="2000" b="1" dirty="0">
                <a:solidFill>
                  <a:schemeClr val="bg1"/>
                </a:solidFill>
              </a:rPr>
              <a:t> FT/A</a:t>
            </a:r>
            <a:r>
              <a:rPr lang="ar-DZ" sz="2000" b="1" dirty="0">
                <a:solidFill>
                  <a:schemeClr val="bg1"/>
                </a:solidFill>
              </a:rPr>
              <a:t> قوة </a:t>
            </a:r>
            <a:r>
              <a:rPr lang="ar-DZ" sz="2000" b="1" dirty="0" err="1">
                <a:solidFill>
                  <a:schemeClr val="bg1"/>
                </a:solidFill>
              </a:rPr>
              <a:t>تاثير</a:t>
            </a:r>
            <a:r>
              <a:rPr lang="ar-DZ" sz="2000" b="1" dirty="0">
                <a:solidFill>
                  <a:schemeClr val="bg1"/>
                </a:solidFill>
              </a:rPr>
              <a:t> الارض</a:t>
            </a:r>
          </a:p>
          <a:p>
            <a:pPr algn="r"/>
            <a:r>
              <a:rPr lang="fr-FR" sz="2400" b="1" dirty="0">
                <a:solidFill>
                  <a:schemeClr val="bg1"/>
                </a:solidFill>
              </a:rPr>
              <a:t>P</a:t>
            </a:r>
            <a:r>
              <a:rPr lang="fr-FR" sz="2000" b="1" dirty="0">
                <a:solidFill>
                  <a:schemeClr val="bg1"/>
                </a:solidFill>
              </a:rPr>
              <a:t>A=</a:t>
            </a:r>
            <a:r>
              <a:rPr lang="fr-FR" sz="2000" b="1" dirty="0" err="1">
                <a:solidFill>
                  <a:schemeClr val="bg1"/>
                </a:solidFill>
              </a:rPr>
              <a:t>mxg</a:t>
            </a:r>
            <a:r>
              <a:rPr lang="fr-FR" sz="2000" b="1" dirty="0">
                <a:solidFill>
                  <a:schemeClr val="bg1"/>
                </a:solidFill>
              </a:rPr>
              <a:t>=</a:t>
            </a:r>
            <a:r>
              <a:rPr lang="ar-DZ" sz="2000" b="1" dirty="0">
                <a:solidFill>
                  <a:schemeClr val="bg1"/>
                </a:solidFill>
              </a:rPr>
              <a:t>   1.5</a:t>
            </a:r>
            <a:r>
              <a:rPr lang="fr-FR" sz="2000" b="1" dirty="0">
                <a:solidFill>
                  <a:schemeClr val="bg1"/>
                </a:solidFill>
              </a:rPr>
              <a:t>x10=</a:t>
            </a:r>
            <a:r>
              <a:rPr lang="ar-DZ" sz="2000" b="1" dirty="0">
                <a:solidFill>
                  <a:schemeClr val="bg1"/>
                </a:solidFill>
              </a:rPr>
              <a:t>15</a:t>
            </a:r>
            <a:r>
              <a:rPr lang="fr-FR" sz="2000" b="1" dirty="0">
                <a:solidFill>
                  <a:schemeClr val="bg1"/>
                </a:solidFill>
              </a:rPr>
              <a:t>N</a:t>
            </a:r>
            <a:r>
              <a:rPr lang="ar-DZ" sz="2000" b="1" dirty="0">
                <a:solidFill>
                  <a:schemeClr val="bg1"/>
                </a:solidFill>
              </a:rPr>
              <a:t> لدينا </a:t>
            </a:r>
            <a:r>
              <a:rPr lang="fr-FR" sz="2000" b="1" dirty="0">
                <a:solidFill>
                  <a:schemeClr val="bg1"/>
                </a:solidFill>
              </a:rPr>
              <a:t>A</a:t>
            </a:r>
            <a:r>
              <a:rPr lang="ar-DZ" sz="2000" b="1" dirty="0">
                <a:solidFill>
                  <a:schemeClr val="bg1"/>
                </a:solidFill>
              </a:rPr>
              <a:t> 2-حساب ثقل الجسم </a:t>
            </a:r>
          </a:p>
          <a:p>
            <a:pPr algn="r"/>
            <a:r>
              <a:rPr lang="fr-FR" sz="2400" b="1" dirty="0">
                <a:solidFill>
                  <a:schemeClr val="bg1"/>
                </a:solidFill>
              </a:rPr>
              <a:t>P</a:t>
            </a:r>
            <a:r>
              <a:rPr lang="fr-FR" sz="2000" b="1" dirty="0">
                <a:solidFill>
                  <a:schemeClr val="bg1"/>
                </a:solidFill>
              </a:rPr>
              <a:t>B=</a:t>
            </a:r>
            <a:r>
              <a:rPr lang="fr-FR" sz="2000" b="1" dirty="0" err="1">
                <a:solidFill>
                  <a:schemeClr val="bg1"/>
                </a:solidFill>
              </a:rPr>
              <a:t>mxg</a:t>
            </a:r>
            <a:r>
              <a:rPr lang="fr-FR" sz="2000" b="1" dirty="0">
                <a:solidFill>
                  <a:schemeClr val="bg1"/>
                </a:solidFill>
              </a:rPr>
              <a:t>=</a:t>
            </a:r>
            <a:r>
              <a:rPr lang="ar-DZ" sz="2000" b="1" dirty="0">
                <a:solidFill>
                  <a:schemeClr val="bg1"/>
                </a:solidFill>
              </a:rPr>
              <a:t>   </a:t>
            </a:r>
            <a:r>
              <a:rPr lang="fr-FR" sz="2000" b="1" dirty="0">
                <a:solidFill>
                  <a:schemeClr val="bg1"/>
                </a:solidFill>
              </a:rPr>
              <a:t>3x10=30N</a:t>
            </a:r>
            <a:r>
              <a:rPr lang="ar-DZ" sz="2000" b="1" dirty="0">
                <a:solidFill>
                  <a:schemeClr val="bg1"/>
                </a:solidFill>
              </a:rPr>
              <a:t> لدينا </a:t>
            </a:r>
            <a:r>
              <a:rPr lang="fr-FR" sz="2000" b="1" dirty="0">
                <a:solidFill>
                  <a:schemeClr val="bg1"/>
                </a:solidFill>
              </a:rPr>
              <a:t>B</a:t>
            </a:r>
            <a:r>
              <a:rPr lang="ar-DZ" sz="2000" b="1" dirty="0">
                <a:solidFill>
                  <a:schemeClr val="bg1"/>
                </a:solidFill>
              </a:rPr>
              <a:t> -حساب ثقل الجسم </a:t>
            </a:r>
          </a:p>
          <a:p>
            <a:pPr algn="r"/>
            <a:r>
              <a:rPr lang="fr-FR" sz="2000" b="1" dirty="0">
                <a:solidFill>
                  <a:schemeClr val="dk1"/>
                </a:solidFill>
              </a:rPr>
              <a:t>f1 </a:t>
            </a:r>
            <a:r>
              <a:rPr lang="ar-DZ" sz="2000" b="1" dirty="0">
                <a:solidFill>
                  <a:schemeClr val="dk1"/>
                </a:solidFill>
              </a:rPr>
              <a:t>   و الحبل </a:t>
            </a:r>
            <a:r>
              <a:rPr lang="fr-FR" sz="2000" b="1" dirty="0">
                <a:solidFill>
                  <a:schemeClr val="dk1"/>
                </a:solidFill>
              </a:rPr>
              <a:t>A</a:t>
            </a:r>
            <a:r>
              <a:rPr lang="ar-DZ" sz="2000" b="1" dirty="0">
                <a:solidFill>
                  <a:schemeClr val="dk1"/>
                </a:solidFill>
              </a:rPr>
              <a:t> </a:t>
            </a:r>
            <a:r>
              <a:rPr lang="ar-DZ" sz="2000" b="1" dirty="0">
                <a:solidFill>
                  <a:schemeClr val="bg1"/>
                </a:solidFill>
              </a:rPr>
              <a:t>-تمثيل الفعلين المتبادلين </a:t>
            </a:r>
            <a:r>
              <a:rPr lang="ar-DZ" sz="2000" b="1" dirty="0">
                <a:solidFill>
                  <a:schemeClr val="dk1"/>
                </a:solidFill>
              </a:rPr>
              <a:t>بين الجسم</a:t>
            </a:r>
            <a:endParaRPr lang="fr-FR" sz="2000" b="1" dirty="0">
              <a:solidFill>
                <a:schemeClr val="bg1"/>
              </a:solidFill>
            </a:endParaRPr>
          </a:p>
          <a:p>
            <a:pPr algn="r">
              <a:defRPr/>
            </a:pPr>
            <a:r>
              <a:rPr lang="fr-FR" sz="2000" b="1" dirty="0">
                <a:solidFill>
                  <a:schemeClr val="bg1"/>
                </a:solidFill>
              </a:rPr>
              <a:t>1</a:t>
            </a:r>
            <a:r>
              <a:rPr lang="ar-DZ" sz="2000" b="1" dirty="0">
                <a:solidFill>
                  <a:schemeClr val="bg1"/>
                </a:solidFill>
              </a:rPr>
              <a:t>0</a:t>
            </a:r>
            <a:r>
              <a:rPr lang="fr-FR" sz="2000" b="1" dirty="0">
                <a:solidFill>
                  <a:schemeClr val="bg1"/>
                </a:solidFill>
              </a:rPr>
              <a:t>N </a:t>
            </a:r>
            <a:r>
              <a:rPr lang="ar-DZ" sz="2000" b="1" dirty="0">
                <a:solidFill>
                  <a:schemeClr val="bg1"/>
                </a:solidFill>
              </a:rPr>
              <a:t>       </a:t>
            </a:r>
            <a:r>
              <a:rPr lang="fr-FR" sz="2000" b="1" dirty="0">
                <a:solidFill>
                  <a:schemeClr val="bg1"/>
                </a:solidFill>
              </a:rPr>
              <a:t>  1cm</a:t>
            </a:r>
            <a:r>
              <a:rPr lang="ar-DZ" sz="2000" b="1" dirty="0">
                <a:solidFill>
                  <a:schemeClr val="bg1"/>
                </a:solidFill>
              </a:rPr>
              <a:t> من السلم كل   </a:t>
            </a:r>
          </a:p>
          <a:p>
            <a:pPr algn="r">
              <a:defRPr/>
            </a:pPr>
            <a:r>
              <a:rPr lang="fr-FR" sz="2000" b="1" dirty="0">
                <a:solidFill>
                  <a:schemeClr val="bg1"/>
                </a:solidFill>
              </a:rPr>
              <a:t>X=</a:t>
            </a:r>
            <a:r>
              <a:rPr lang="ar-DZ" sz="2000" b="1" dirty="0">
                <a:solidFill>
                  <a:schemeClr val="bg1"/>
                </a:solidFill>
              </a:rPr>
              <a:t>15</a:t>
            </a:r>
            <a:r>
              <a:rPr lang="fr-FR" sz="2000" b="1" dirty="0">
                <a:solidFill>
                  <a:schemeClr val="bg1"/>
                </a:solidFill>
              </a:rPr>
              <a:t>/10=1.5 cm</a:t>
            </a:r>
            <a:r>
              <a:rPr lang="ar-DZ" sz="2000" b="1" dirty="0">
                <a:solidFill>
                  <a:schemeClr val="bg1"/>
                </a:solidFill>
              </a:rPr>
              <a:t>   ومنه  </a:t>
            </a:r>
            <a:r>
              <a:rPr lang="fr-FR" sz="2000" b="1" dirty="0">
                <a:solidFill>
                  <a:schemeClr val="bg1"/>
                </a:solidFill>
              </a:rPr>
              <a:t>15N </a:t>
            </a:r>
            <a:r>
              <a:rPr lang="ar-DZ" sz="2000" b="1" dirty="0">
                <a:solidFill>
                  <a:schemeClr val="bg1"/>
                </a:solidFill>
              </a:rPr>
              <a:t>      </a:t>
            </a:r>
            <a:r>
              <a:rPr lang="fr-FR" sz="2000" b="1" dirty="0">
                <a:solidFill>
                  <a:schemeClr val="bg1"/>
                </a:solidFill>
              </a:rPr>
              <a:t>  X</a:t>
            </a:r>
            <a:r>
              <a:rPr lang="ar-DZ" sz="2000" b="1" dirty="0">
                <a:solidFill>
                  <a:schemeClr val="bg1"/>
                </a:solidFill>
              </a:rPr>
              <a:t> معناه  كل  </a:t>
            </a:r>
          </a:p>
          <a:p>
            <a:pPr algn="r"/>
            <a:r>
              <a:rPr lang="ar-DZ" sz="2000" b="1" dirty="0">
                <a:solidFill>
                  <a:schemeClr val="dk1"/>
                </a:solidFill>
              </a:rPr>
              <a:t> محصلة الثقل و قوة </a:t>
            </a:r>
            <a:r>
              <a:rPr lang="ar-DZ" sz="2000" b="1" dirty="0" err="1">
                <a:solidFill>
                  <a:schemeClr val="dk1"/>
                </a:solidFill>
              </a:rPr>
              <a:t>تاير</a:t>
            </a:r>
            <a:r>
              <a:rPr lang="ar-DZ" sz="2000" b="1" dirty="0">
                <a:solidFill>
                  <a:schemeClr val="dk1"/>
                </a:solidFill>
              </a:rPr>
              <a:t> الحبل </a:t>
            </a:r>
            <a:r>
              <a:rPr lang="fr-FR" sz="2000" b="1" dirty="0">
                <a:solidFill>
                  <a:schemeClr val="dk1"/>
                </a:solidFill>
              </a:rPr>
              <a:t>F</a:t>
            </a:r>
            <a:r>
              <a:rPr lang="ar-DZ" sz="2000" b="1" dirty="0">
                <a:solidFill>
                  <a:schemeClr val="dk1"/>
                </a:solidFill>
              </a:rPr>
              <a:t> 3-تمثيل  </a:t>
            </a:r>
            <a:r>
              <a:rPr lang="ar-DZ" sz="2000" b="1" dirty="0">
                <a:solidFill>
                  <a:schemeClr val="bg1"/>
                </a:solidFill>
              </a:rPr>
              <a:t>القوة </a:t>
            </a:r>
          </a:p>
          <a:p>
            <a:pPr algn="r">
              <a:defRPr/>
            </a:pPr>
            <a:r>
              <a:rPr lang="fr-FR" sz="2000" b="1" dirty="0">
                <a:solidFill>
                  <a:schemeClr val="bg1"/>
                </a:solidFill>
              </a:rPr>
              <a:t>1</a:t>
            </a:r>
            <a:r>
              <a:rPr lang="ar-DZ" sz="2000" b="1" dirty="0">
                <a:solidFill>
                  <a:schemeClr val="bg1"/>
                </a:solidFill>
              </a:rPr>
              <a:t>0</a:t>
            </a:r>
            <a:r>
              <a:rPr lang="fr-FR" sz="2000" b="1" dirty="0">
                <a:solidFill>
                  <a:schemeClr val="bg1"/>
                </a:solidFill>
              </a:rPr>
              <a:t>N </a:t>
            </a:r>
            <a:r>
              <a:rPr lang="ar-DZ" sz="2000" b="1" dirty="0">
                <a:solidFill>
                  <a:schemeClr val="bg1"/>
                </a:solidFill>
              </a:rPr>
              <a:t>       </a:t>
            </a:r>
            <a:r>
              <a:rPr lang="fr-FR" sz="2000" b="1" dirty="0">
                <a:solidFill>
                  <a:schemeClr val="bg1"/>
                </a:solidFill>
              </a:rPr>
              <a:t>  1cm</a:t>
            </a:r>
            <a:r>
              <a:rPr lang="ar-DZ" sz="2000" b="1" dirty="0">
                <a:solidFill>
                  <a:schemeClr val="bg1"/>
                </a:solidFill>
              </a:rPr>
              <a:t> من السلم كل   </a:t>
            </a:r>
          </a:p>
          <a:p>
            <a:pPr algn="r">
              <a:defRPr/>
            </a:pPr>
            <a:r>
              <a:rPr lang="fr-FR" sz="2000" b="1" dirty="0">
                <a:solidFill>
                  <a:schemeClr val="bg1"/>
                </a:solidFill>
              </a:rPr>
              <a:t>X=30/10=3 cm</a:t>
            </a:r>
            <a:r>
              <a:rPr lang="ar-DZ" sz="2000" b="1" dirty="0">
                <a:solidFill>
                  <a:schemeClr val="bg1"/>
                </a:solidFill>
              </a:rPr>
              <a:t>   ومنه  </a:t>
            </a:r>
            <a:r>
              <a:rPr lang="fr-FR" sz="2000" b="1" dirty="0">
                <a:solidFill>
                  <a:schemeClr val="bg1"/>
                </a:solidFill>
              </a:rPr>
              <a:t>30N </a:t>
            </a:r>
            <a:r>
              <a:rPr lang="ar-DZ" sz="2000" b="1" dirty="0">
                <a:solidFill>
                  <a:schemeClr val="bg1"/>
                </a:solidFill>
              </a:rPr>
              <a:t>      </a:t>
            </a:r>
            <a:r>
              <a:rPr lang="fr-FR" sz="2000" b="1" dirty="0">
                <a:solidFill>
                  <a:schemeClr val="bg1"/>
                </a:solidFill>
              </a:rPr>
              <a:t>  X</a:t>
            </a:r>
            <a:r>
              <a:rPr lang="ar-DZ" sz="2000" b="1" dirty="0">
                <a:solidFill>
                  <a:schemeClr val="bg1"/>
                </a:solidFill>
              </a:rPr>
              <a:t> معناه  كل  </a:t>
            </a:r>
          </a:p>
          <a:p>
            <a:pPr algn="r">
              <a:defRPr/>
            </a:pPr>
            <a:r>
              <a:rPr lang="fr-FR" sz="2000" b="1" dirty="0">
                <a:solidFill>
                  <a:schemeClr val="bg1"/>
                </a:solidFill>
              </a:rPr>
              <a:t>X=15/10=1.5 cm</a:t>
            </a:r>
            <a:r>
              <a:rPr lang="ar-DZ" sz="2000" b="1" dirty="0">
                <a:solidFill>
                  <a:schemeClr val="bg1"/>
                </a:solidFill>
              </a:rPr>
              <a:t>   ومنه  </a:t>
            </a:r>
            <a:r>
              <a:rPr lang="fr-FR" sz="2000" b="1" dirty="0">
                <a:solidFill>
                  <a:schemeClr val="bg1"/>
                </a:solidFill>
              </a:rPr>
              <a:t>15N </a:t>
            </a:r>
            <a:r>
              <a:rPr lang="ar-DZ" sz="2000" b="1" dirty="0">
                <a:solidFill>
                  <a:schemeClr val="bg1"/>
                </a:solidFill>
              </a:rPr>
              <a:t>      </a:t>
            </a:r>
            <a:r>
              <a:rPr lang="fr-FR" sz="2000" b="1" dirty="0">
                <a:solidFill>
                  <a:schemeClr val="bg1"/>
                </a:solidFill>
              </a:rPr>
              <a:t>  X</a:t>
            </a:r>
            <a:r>
              <a:rPr lang="ar-DZ" sz="2000" b="1" dirty="0">
                <a:solidFill>
                  <a:schemeClr val="bg1"/>
                </a:solidFill>
              </a:rPr>
              <a:t> معناه  كل  </a:t>
            </a:r>
          </a:p>
          <a:p>
            <a:pPr algn="r"/>
            <a:r>
              <a:rPr lang="ar-DZ" sz="2000" b="1" dirty="0">
                <a:solidFill>
                  <a:schemeClr val="bg1"/>
                </a:solidFill>
              </a:rPr>
              <a:t>  </a:t>
            </a:r>
            <a:r>
              <a:rPr lang="fr-FR" sz="2000" b="1" dirty="0">
                <a:solidFill>
                  <a:schemeClr val="bg1"/>
                </a:solidFill>
              </a:rPr>
              <a:t>F</a:t>
            </a:r>
            <a:r>
              <a:rPr lang="ar-DZ" sz="2000" b="1" dirty="0">
                <a:solidFill>
                  <a:schemeClr val="bg1"/>
                </a:solidFill>
              </a:rPr>
              <a:t> -خصائص القوة</a:t>
            </a:r>
          </a:p>
          <a:p>
            <a:pPr algn="r"/>
            <a:r>
              <a:rPr lang="fr-FR" sz="2000" b="1" dirty="0">
                <a:solidFill>
                  <a:schemeClr val="bg1"/>
                </a:solidFill>
              </a:rPr>
              <a:t> </a:t>
            </a:r>
            <a:endParaRPr lang="ar-DZ" sz="2000" b="1" dirty="0">
              <a:solidFill>
                <a:schemeClr val="bg1"/>
              </a:solidFill>
            </a:endParaRPr>
          </a:p>
          <a:p>
            <a:pPr algn="r"/>
            <a:endParaRPr lang="ar-DZ" sz="2000" b="1" dirty="0">
              <a:solidFill>
                <a:schemeClr val="bg1"/>
              </a:solidFill>
            </a:endParaRPr>
          </a:p>
          <a:p>
            <a:pPr algn="r"/>
            <a:endParaRPr lang="ar-DZ" sz="2000" b="1" dirty="0">
              <a:solidFill>
                <a:schemeClr val="bg1"/>
              </a:solidFill>
            </a:endParaRPr>
          </a:p>
          <a:p>
            <a:pPr algn="r"/>
            <a:r>
              <a:rPr lang="fr-FR" sz="2000" b="1" dirty="0">
                <a:solidFill>
                  <a:schemeClr val="bg1"/>
                </a:solidFill>
              </a:rPr>
              <a:t>F=P+Ff2/B </a:t>
            </a:r>
            <a:r>
              <a:rPr lang="ar-DZ" sz="2000" b="1" dirty="0">
                <a:solidFill>
                  <a:schemeClr val="bg1"/>
                </a:solidFill>
              </a:rPr>
              <a:t>ولدينا   </a:t>
            </a:r>
            <a:r>
              <a:rPr lang="fr-FR" sz="2000" b="1" dirty="0">
                <a:solidFill>
                  <a:schemeClr val="bg1"/>
                </a:solidFill>
              </a:rPr>
              <a:t>     P</a:t>
            </a:r>
            <a:r>
              <a:rPr lang="ar-DZ" sz="2000" b="1" dirty="0">
                <a:solidFill>
                  <a:schemeClr val="bg1"/>
                </a:solidFill>
              </a:rPr>
              <a:t>  </a:t>
            </a:r>
            <a:r>
              <a:rPr lang="fr-FR" sz="2000" b="1" dirty="0">
                <a:solidFill>
                  <a:schemeClr val="bg1"/>
                </a:solidFill>
              </a:rPr>
              <a:t>+</a:t>
            </a:r>
            <a:r>
              <a:rPr lang="ar-DZ" sz="2000" b="1" dirty="0">
                <a:solidFill>
                  <a:schemeClr val="bg1"/>
                </a:solidFill>
              </a:rPr>
              <a:t>  </a:t>
            </a:r>
            <a:r>
              <a:rPr lang="fr-FR" sz="2000" b="1" dirty="0">
                <a:solidFill>
                  <a:schemeClr val="bg1"/>
                </a:solidFill>
              </a:rPr>
              <a:t>Ff2/B+FS/B=0</a:t>
            </a:r>
            <a:r>
              <a:rPr lang="ar-DZ" sz="2000" b="1" dirty="0">
                <a:solidFill>
                  <a:schemeClr val="bg1"/>
                </a:solidFill>
              </a:rPr>
              <a:t> 4-شرط التوازن</a:t>
            </a:r>
          </a:p>
          <a:p>
            <a:pPr algn="r"/>
            <a:r>
              <a:rPr lang="fr-FR" sz="2000" b="1" dirty="0" err="1">
                <a:solidFill>
                  <a:schemeClr val="bg1"/>
                </a:solidFill>
              </a:rPr>
              <a:t>Fs</a:t>
            </a:r>
            <a:r>
              <a:rPr lang="fr-FR" sz="2000" b="1" dirty="0">
                <a:solidFill>
                  <a:schemeClr val="bg1"/>
                </a:solidFill>
              </a:rPr>
              <a:t>/B=  -P</a:t>
            </a:r>
            <a:r>
              <a:rPr lang="ar-DZ" sz="2000" b="1" dirty="0">
                <a:solidFill>
                  <a:schemeClr val="bg1"/>
                </a:solidFill>
              </a:rPr>
              <a:t> ومنه           </a:t>
            </a:r>
            <a:endParaRPr lang="fr-FR" sz="2000" b="1" dirty="0">
              <a:solidFill>
                <a:schemeClr val="bg1"/>
              </a:solidFill>
            </a:endParaRPr>
          </a:p>
          <a:p>
            <a:pPr algn="r"/>
            <a:r>
              <a:rPr lang="ar-DZ" sz="2000" b="1" dirty="0">
                <a:solidFill>
                  <a:schemeClr val="bg1"/>
                </a:solidFill>
              </a:rPr>
              <a:t>-خصائص قوة </a:t>
            </a:r>
            <a:r>
              <a:rPr lang="ar-DZ" sz="2000" b="1" dirty="0" err="1">
                <a:solidFill>
                  <a:schemeClr val="bg1"/>
                </a:solidFill>
              </a:rPr>
              <a:t>تاثير</a:t>
            </a:r>
            <a:r>
              <a:rPr lang="ar-DZ" sz="2000" b="1" dirty="0">
                <a:solidFill>
                  <a:schemeClr val="bg1"/>
                </a:solidFill>
              </a:rPr>
              <a:t> السطح   </a:t>
            </a:r>
          </a:p>
        </p:txBody>
      </p:sp>
      <p:sp>
        <p:nvSpPr>
          <p:cNvPr id="5" name="Rectangle à coins arrondis 4"/>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cxnSp>
        <p:nvCxnSpPr>
          <p:cNvPr id="6" name="Connecteur droit avec flèche 5"/>
          <p:cNvCxnSpPr/>
          <p:nvPr/>
        </p:nvCxnSpPr>
        <p:spPr>
          <a:xfrm>
            <a:off x="7380312" y="31409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6660232"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8" name="Image 7" descr="og9k3w71pn3g246wgt9c.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528" y="3645024"/>
            <a:ext cx="2195736" cy="1584176"/>
          </a:xfrm>
          <a:prstGeom prst="rect">
            <a:avLst/>
          </a:prstGeom>
          <a:ln>
            <a:solidFill>
              <a:srgbClr val="1ADC1F"/>
            </a:solidFill>
          </a:ln>
        </p:spPr>
      </p:pic>
      <p:pic>
        <p:nvPicPr>
          <p:cNvPr id="9"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1052736"/>
            <a:ext cx="2411760" cy="2376264"/>
          </a:xfrm>
          <a:prstGeom prst="rect">
            <a:avLst/>
          </a:prstGeom>
          <a:noFill/>
          <a:ln w="9525">
            <a:noFill/>
            <a:miter lim="800000"/>
            <a:headEnd/>
            <a:tailEnd/>
          </a:ln>
        </p:spPr>
      </p:pic>
      <p:sp>
        <p:nvSpPr>
          <p:cNvPr id="11" name="Rectangle à coins arrondis 10"/>
          <p:cNvSpPr/>
          <p:nvPr/>
        </p:nvSpPr>
        <p:spPr>
          <a:xfrm>
            <a:off x="1619672" y="1988840"/>
            <a:ext cx="57606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2400" b="1" dirty="0">
                <a:solidFill>
                  <a:schemeClr val="bg1"/>
                </a:solidFill>
              </a:rPr>
              <a:t>A</a:t>
            </a:r>
          </a:p>
        </p:txBody>
      </p:sp>
      <p:cxnSp>
        <p:nvCxnSpPr>
          <p:cNvPr id="12" name="Connecteur droit avec flèche 11"/>
          <p:cNvCxnSpPr/>
          <p:nvPr/>
        </p:nvCxnSpPr>
        <p:spPr>
          <a:xfrm>
            <a:off x="1835696" y="1988840"/>
            <a:ext cx="0" cy="72008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flipH="1" flipV="1">
            <a:off x="1835696" y="1268760"/>
            <a:ext cx="8384" cy="65645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Ellipse 14"/>
          <p:cNvSpPr/>
          <p:nvPr/>
        </p:nvSpPr>
        <p:spPr>
          <a:xfrm>
            <a:off x="1763688" y="1916832"/>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à coins arrondis 15"/>
          <p:cNvSpPr/>
          <p:nvPr/>
        </p:nvSpPr>
        <p:spPr>
          <a:xfrm>
            <a:off x="1979712" y="1268760"/>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f1/A</a:t>
            </a:r>
          </a:p>
        </p:txBody>
      </p:sp>
      <p:cxnSp>
        <p:nvCxnSpPr>
          <p:cNvPr id="18" name="Connecteur droit avec flèche 17"/>
          <p:cNvCxnSpPr/>
          <p:nvPr/>
        </p:nvCxnSpPr>
        <p:spPr>
          <a:xfrm>
            <a:off x="1475656" y="4077072"/>
            <a:ext cx="17748" cy="1152128"/>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a:off x="6732240" y="278092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7308304" y="393305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a:off x="7380312" y="558924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flipV="1">
            <a:off x="1475656" y="3645024"/>
            <a:ext cx="504056" cy="440432"/>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a:xfrm flipV="1">
            <a:off x="1979712" y="3645024"/>
            <a:ext cx="0" cy="1008112"/>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a:xfrm flipH="1">
            <a:off x="1547664" y="4653136"/>
            <a:ext cx="432048" cy="432048"/>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p:cNvCxnSpPr/>
          <p:nvPr/>
        </p:nvCxnSpPr>
        <p:spPr>
          <a:xfrm>
            <a:off x="1475656" y="4077072"/>
            <a:ext cx="504056" cy="57606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à coins arrondis 34"/>
          <p:cNvSpPr/>
          <p:nvPr/>
        </p:nvSpPr>
        <p:spPr>
          <a:xfrm>
            <a:off x="1907704" y="2420888"/>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A/f1</a:t>
            </a:r>
          </a:p>
        </p:txBody>
      </p:sp>
      <p:cxnSp>
        <p:nvCxnSpPr>
          <p:cNvPr id="36" name="Connecteur droit avec flèche 35"/>
          <p:cNvCxnSpPr/>
          <p:nvPr/>
        </p:nvCxnSpPr>
        <p:spPr>
          <a:xfrm>
            <a:off x="2267744"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a:off x="2267744" y="227687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à coins arrondis 37"/>
          <p:cNvSpPr/>
          <p:nvPr/>
        </p:nvSpPr>
        <p:spPr>
          <a:xfrm>
            <a:off x="2051720" y="3501008"/>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f2/B</a:t>
            </a:r>
          </a:p>
        </p:txBody>
      </p:sp>
      <p:sp>
        <p:nvSpPr>
          <p:cNvPr id="39" name="Rectangle à coins arrondis 38"/>
          <p:cNvSpPr/>
          <p:nvPr/>
        </p:nvSpPr>
        <p:spPr>
          <a:xfrm>
            <a:off x="1115616" y="5373216"/>
            <a:ext cx="61156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sp>
        <p:nvSpPr>
          <p:cNvPr id="40" name="Rectangle à coins arrondis 39"/>
          <p:cNvSpPr/>
          <p:nvPr/>
        </p:nvSpPr>
        <p:spPr>
          <a:xfrm>
            <a:off x="2051720" y="4509120"/>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endParaRPr lang="fr-FR" sz="2000" b="1" dirty="0">
              <a:solidFill>
                <a:schemeClr val="bg1"/>
              </a:solidFill>
            </a:endParaRPr>
          </a:p>
        </p:txBody>
      </p:sp>
      <p:cxnSp>
        <p:nvCxnSpPr>
          <p:cNvPr id="41" name="Connecteur droit avec flèche 40"/>
          <p:cNvCxnSpPr/>
          <p:nvPr/>
        </p:nvCxnSpPr>
        <p:spPr>
          <a:xfrm>
            <a:off x="2123728" y="443711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a:off x="2195736" y="350100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a:off x="1403648" y="530120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4" name="Tableau 43"/>
          <p:cNvGraphicFramePr>
            <a:graphicFrameLocks noGrp="1"/>
          </p:cNvGraphicFramePr>
          <p:nvPr/>
        </p:nvGraphicFramePr>
        <p:xfrm>
          <a:off x="3203848" y="4797152"/>
          <a:ext cx="5658318" cy="797808"/>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368152">
                  <a:extLst>
                    <a:ext uri="{9D8B030D-6E8A-4147-A177-3AD203B41FA5}">
                      <a16:colId xmlns:a16="http://schemas.microsoft.com/office/drawing/2014/main" val="20004"/>
                    </a:ext>
                  </a:extLst>
                </a:gridCol>
                <a:gridCol w="617758">
                  <a:extLst>
                    <a:ext uri="{9D8B030D-6E8A-4147-A177-3AD203B41FA5}">
                      <a16:colId xmlns:a16="http://schemas.microsoft.com/office/drawing/2014/main" val="20005"/>
                    </a:ext>
                  </a:extLst>
                </a:gridCol>
              </a:tblGrid>
              <a:tr h="432048">
                <a:tc>
                  <a:txBody>
                    <a:bodyPr/>
                    <a:lstStyle/>
                    <a:p>
                      <a:pPr algn="ctr"/>
                      <a:r>
                        <a:rPr lang="ar-DZ" b="1" dirty="0">
                          <a:solidFill>
                            <a:schemeClr val="bg1"/>
                          </a:solidFill>
                        </a:rPr>
                        <a:t>الشدة </a:t>
                      </a:r>
                      <a:endParaRPr lang="fr-FR" b="1" dirty="0">
                        <a:solidFill>
                          <a:schemeClr val="bg1"/>
                        </a:solidFill>
                      </a:endParaRPr>
                    </a:p>
                  </a:txBody>
                  <a:tcPr>
                    <a:solidFill>
                      <a:srgbClr val="FF6699"/>
                    </a:solidFill>
                  </a:tcPr>
                </a:tc>
                <a:tc>
                  <a:txBody>
                    <a:bodyPr/>
                    <a:lstStyle/>
                    <a:p>
                      <a:pPr algn="ctr"/>
                      <a:r>
                        <a:rPr lang="ar-DZ" b="1" dirty="0">
                          <a:solidFill>
                            <a:schemeClr val="bg1"/>
                          </a:solidFill>
                        </a:rPr>
                        <a:t>طول</a:t>
                      </a:r>
                      <a:r>
                        <a:rPr lang="ar-DZ" b="1" baseline="0" dirty="0">
                          <a:solidFill>
                            <a:schemeClr val="bg1"/>
                          </a:solidFill>
                        </a:rPr>
                        <a:t> الشعاع</a:t>
                      </a:r>
                      <a:endParaRPr lang="fr-FR" b="1" dirty="0">
                        <a:solidFill>
                          <a:schemeClr val="bg1"/>
                        </a:solidFill>
                      </a:endParaRPr>
                    </a:p>
                  </a:txBody>
                  <a:tcPr>
                    <a:solidFill>
                      <a:srgbClr val="FF6699"/>
                    </a:solidFill>
                  </a:tcPr>
                </a:tc>
                <a:tc>
                  <a:txBody>
                    <a:bodyPr/>
                    <a:lstStyle/>
                    <a:p>
                      <a:pPr algn="ctr"/>
                      <a:r>
                        <a:rPr lang="ar-DZ" b="1" dirty="0">
                          <a:solidFill>
                            <a:schemeClr val="bg1"/>
                          </a:solidFill>
                        </a:rPr>
                        <a:t>الجهة </a:t>
                      </a:r>
                      <a:endParaRPr lang="fr-FR" b="1" dirty="0">
                        <a:solidFill>
                          <a:schemeClr val="bg1"/>
                        </a:solidFill>
                      </a:endParaRPr>
                    </a:p>
                  </a:txBody>
                  <a:tcPr>
                    <a:solidFill>
                      <a:srgbClr val="FF6699"/>
                    </a:solidFill>
                  </a:tcPr>
                </a:tc>
                <a:tc>
                  <a:txBody>
                    <a:bodyPr/>
                    <a:lstStyle/>
                    <a:p>
                      <a:pPr algn="ctr"/>
                      <a:r>
                        <a:rPr lang="ar-DZ" b="1" dirty="0">
                          <a:solidFill>
                            <a:schemeClr val="bg1"/>
                          </a:solidFill>
                        </a:rPr>
                        <a:t>المنحى </a:t>
                      </a:r>
                      <a:endParaRPr lang="fr-FR" b="1" dirty="0">
                        <a:solidFill>
                          <a:schemeClr val="bg1"/>
                        </a:solidFill>
                      </a:endParaRPr>
                    </a:p>
                  </a:txBody>
                  <a:tcPr>
                    <a:solidFill>
                      <a:srgbClr val="FF6699"/>
                    </a:solidFill>
                  </a:tcPr>
                </a:tc>
                <a:tc>
                  <a:txBody>
                    <a:bodyPr/>
                    <a:lstStyle/>
                    <a:p>
                      <a:pPr algn="ctr"/>
                      <a:r>
                        <a:rPr lang="ar-DZ" b="1" dirty="0">
                          <a:solidFill>
                            <a:schemeClr val="bg1"/>
                          </a:solidFill>
                        </a:rPr>
                        <a:t>نقطة التأثير</a:t>
                      </a:r>
                      <a:endParaRPr lang="fr-FR" b="1" dirty="0">
                        <a:solidFill>
                          <a:schemeClr val="bg1"/>
                        </a:solidFill>
                      </a:endParaRPr>
                    </a:p>
                  </a:txBody>
                  <a:tcPr>
                    <a:solidFill>
                      <a:srgbClr val="FF6699"/>
                    </a:solidFill>
                  </a:tcPr>
                </a:tc>
                <a:tc>
                  <a:txBody>
                    <a:bodyPr/>
                    <a:lstStyle/>
                    <a:p>
                      <a:r>
                        <a:rPr lang="ar-DZ" b="1" dirty="0">
                          <a:solidFill>
                            <a:schemeClr val="bg1"/>
                          </a:solidFill>
                        </a:rPr>
                        <a:t>القوى</a:t>
                      </a:r>
                      <a:endParaRPr lang="fr-FR" b="1" dirty="0"/>
                    </a:p>
                  </a:txBody>
                  <a:tcPr>
                    <a:solidFill>
                      <a:srgbClr val="FF6699"/>
                    </a:solidFill>
                  </a:tcPr>
                </a:tc>
                <a:extLst>
                  <a:ext uri="{0D108BD9-81ED-4DB2-BD59-A6C34878D82A}">
                    <a16:rowId xmlns:a16="http://schemas.microsoft.com/office/drawing/2014/main" val="10000"/>
                  </a:ext>
                </a:extLst>
              </a:tr>
              <a:tr h="185420">
                <a:tc>
                  <a:txBody>
                    <a:bodyPr/>
                    <a:lstStyle/>
                    <a:p>
                      <a:r>
                        <a:rPr lang="fr-FR" b="1" dirty="0"/>
                        <a:t>25.8N</a:t>
                      </a:r>
                    </a:p>
                  </a:txBody>
                  <a:tcPr>
                    <a:solidFill>
                      <a:srgbClr val="FFFF00"/>
                    </a:solidFill>
                  </a:tcPr>
                </a:tc>
                <a:tc>
                  <a:txBody>
                    <a:bodyPr/>
                    <a:lstStyle/>
                    <a:p>
                      <a:pPr algn="ctr"/>
                      <a:r>
                        <a:rPr lang="fr-FR" b="1" dirty="0">
                          <a:solidFill>
                            <a:schemeClr val="bg1"/>
                          </a:solidFill>
                        </a:rPr>
                        <a:t>2.6cm</a:t>
                      </a:r>
                    </a:p>
                  </a:txBody>
                  <a:tcPr>
                    <a:solidFill>
                      <a:srgbClr val="FFFF00"/>
                    </a:solidFill>
                  </a:tcPr>
                </a:tc>
                <a:tc>
                  <a:txBody>
                    <a:bodyPr/>
                    <a:lstStyle/>
                    <a:p>
                      <a:endParaRPr lang="fr-FR" b="1" dirty="0"/>
                    </a:p>
                  </a:txBody>
                  <a:tcPr>
                    <a:solidFill>
                      <a:srgbClr val="FFFF00"/>
                    </a:solidFill>
                  </a:tcPr>
                </a:tc>
                <a:tc>
                  <a:txBody>
                    <a:bodyPr/>
                    <a:lstStyle/>
                    <a:p>
                      <a:endParaRPr lang="fr-FR" b="1" dirty="0"/>
                    </a:p>
                  </a:txBody>
                  <a:tcPr>
                    <a:solidFill>
                      <a:srgbClr val="FFFF00"/>
                    </a:solidFill>
                  </a:tcPr>
                </a:tc>
                <a:tc>
                  <a:txBody>
                    <a:bodyPr/>
                    <a:lstStyle/>
                    <a:p>
                      <a:pPr algn="ctr"/>
                      <a:r>
                        <a:rPr lang="fr-FR" b="1" dirty="0"/>
                        <a:t>G</a:t>
                      </a:r>
                    </a:p>
                  </a:txBody>
                  <a:tcPr>
                    <a:solidFill>
                      <a:srgbClr val="FFFF00"/>
                    </a:solidFill>
                  </a:tcPr>
                </a:tc>
                <a:tc>
                  <a:txBody>
                    <a:bodyPr/>
                    <a:lstStyle/>
                    <a:p>
                      <a:pPr algn="ctr"/>
                      <a:r>
                        <a:rPr lang="fr-FR" sz="1800" b="1" dirty="0">
                          <a:solidFill>
                            <a:schemeClr val="bg1"/>
                          </a:solidFill>
                        </a:rPr>
                        <a:t>F</a:t>
                      </a:r>
                      <a:endParaRPr lang="fr-FR" b="1" dirty="0"/>
                    </a:p>
                  </a:txBody>
                  <a:tcPr>
                    <a:solidFill>
                      <a:srgbClr val="FFFF00"/>
                    </a:solidFill>
                  </a:tcPr>
                </a:tc>
                <a:extLst>
                  <a:ext uri="{0D108BD9-81ED-4DB2-BD59-A6C34878D82A}">
                    <a16:rowId xmlns:a16="http://schemas.microsoft.com/office/drawing/2014/main" val="10001"/>
                  </a:ext>
                </a:extLst>
              </a:tr>
            </a:tbl>
          </a:graphicData>
        </a:graphic>
      </p:graphicFrame>
      <p:cxnSp>
        <p:nvCxnSpPr>
          <p:cNvPr id="45" name="Connecteur droit avec flèche 44"/>
          <p:cNvCxnSpPr/>
          <p:nvPr/>
        </p:nvCxnSpPr>
        <p:spPr>
          <a:xfrm>
            <a:off x="7308304"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a:off x="6300192" y="5229200"/>
            <a:ext cx="288032" cy="288032"/>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Connecteur droit avec flèche 47"/>
          <p:cNvCxnSpPr/>
          <p:nvPr/>
        </p:nvCxnSpPr>
        <p:spPr>
          <a:xfrm>
            <a:off x="5580112" y="5229200"/>
            <a:ext cx="207640" cy="351656"/>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flipH="1" flipV="1">
            <a:off x="971600" y="3573016"/>
            <a:ext cx="504056" cy="504056"/>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5" name="Rectangle à coins arrondis 54"/>
          <p:cNvSpPr/>
          <p:nvPr/>
        </p:nvSpPr>
        <p:spPr>
          <a:xfrm rot="19263022">
            <a:off x="630586" y="1601456"/>
            <a:ext cx="57606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B</a:t>
            </a:r>
          </a:p>
        </p:txBody>
      </p:sp>
      <p:graphicFrame>
        <p:nvGraphicFramePr>
          <p:cNvPr id="56" name="Tableau 55"/>
          <p:cNvGraphicFramePr>
            <a:graphicFrameLocks noGrp="1"/>
          </p:cNvGraphicFramePr>
          <p:nvPr/>
        </p:nvGraphicFramePr>
        <p:xfrm>
          <a:off x="467544" y="6060192"/>
          <a:ext cx="5658318" cy="797808"/>
        </p:xfrm>
        <a:graphic>
          <a:graphicData uri="http://schemas.openxmlformats.org/drawingml/2006/table">
            <a:tbl>
              <a:tblPr firstRow="1" bandRow="1">
                <a:tableStyleId>{5C22544A-7EE6-4342-B048-85BDC9FD1C3A}</a:tableStyleId>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gridCol w="833782">
                  <a:extLst>
                    <a:ext uri="{9D8B030D-6E8A-4147-A177-3AD203B41FA5}">
                      <a16:colId xmlns:a16="http://schemas.microsoft.com/office/drawing/2014/main" val="20005"/>
                    </a:ext>
                  </a:extLst>
                </a:gridCol>
              </a:tblGrid>
              <a:tr h="432048">
                <a:tc>
                  <a:txBody>
                    <a:bodyPr/>
                    <a:lstStyle/>
                    <a:p>
                      <a:pPr algn="ctr"/>
                      <a:r>
                        <a:rPr lang="ar-DZ" b="1" dirty="0">
                          <a:solidFill>
                            <a:schemeClr val="bg1"/>
                          </a:solidFill>
                        </a:rPr>
                        <a:t>الشدة </a:t>
                      </a:r>
                      <a:endParaRPr lang="fr-FR" b="1" dirty="0">
                        <a:solidFill>
                          <a:schemeClr val="bg1"/>
                        </a:solidFill>
                      </a:endParaRPr>
                    </a:p>
                  </a:txBody>
                  <a:tcPr>
                    <a:solidFill>
                      <a:srgbClr val="FF6699"/>
                    </a:solidFill>
                  </a:tcPr>
                </a:tc>
                <a:tc>
                  <a:txBody>
                    <a:bodyPr/>
                    <a:lstStyle/>
                    <a:p>
                      <a:pPr algn="ctr"/>
                      <a:r>
                        <a:rPr lang="ar-DZ" b="1" dirty="0">
                          <a:solidFill>
                            <a:schemeClr val="bg1"/>
                          </a:solidFill>
                        </a:rPr>
                        <a:t>طول</a:t>
                      </a:r>
                      <a:r>
                        <a:rPr lang="ar-DZ" b="1" baseline="0" dirty="0">
                          <a:solidFill>
                            <a:schemeClr val="bg1"/>
                          </a:solidFill>
                        </a:rPr>
                        <a:t> الشعاع</a:t>
                      </a:r>
                      <a:endParaRPr lang="fr-FR" b="1" dirty="0">
                        <a:solidFill>
                          <a:schemeClr val="bg1"/>
                        </a:solidFill>
                      </a:endParaRPr>
                    </a:p>
                  </a:txBody>
                  <a:tcPr>
                    <a:solidFill>
                      <a:srgbClr val="FF6699"/>
                    </a:solidFill>
                  </a:tcPr>
                </a:tc>
                <a:tc>
                  <a:txBody>
                    <a:bodyPr/>
                    <a:lstStyle/>
                    <a:p>
                      <a:pPr algn="ctr"/>
                      <a:r>
                        <a:rPr lang="ar-DZ" b="1" dirty="0">
                          <a:solidFill>
                            <a:schemeClr val="bg1"/>
                          </a:solidFill>
                        </a:rPr>
                        <a:t>الجهة </a:t>
                      </a:r>
                      <a:endParaRPr lang="fr-FR" b="1" dirty="0">
                        <a:solidFill>
                          <a:schemeClr val="bg1"/>
                        </a:solidFill>
                      </a:endParaRPr>
                    </a:p>
                  </a:txBody>
                  <a:tcPr>
                    <a:solidFill>
                      <a:srgbClr val="FF6699"/>
                    </a:solidFill>
                  </a:tcPr>
                </a:tc>
                <a:tc>
                  <a:txBody>
                    <a:bodyPr/>
                    <a:lstStyle/>
                    <a:p>
                      <a:pPr algn="ctr"/>
                      <a:r>
                        <a:rPr lang="ar-DZ" b="1" dirty="0">
                          <a:solidFill>
                            <a:schemeClr val="bg1"/>
                          </a:solidFill>
                        </a:rPr>
                        <a:t>المنحى </a:t>
                      </a:r>
                      <a:endParaRPr lang="fr-FR" b="1" dirty="0">
                        <a:solidFill>
                          <a:schemeClr val="bg1"/>
                        </a:solidFill>
                      </a:endParaRPr>
                    </a:p>
                  </a:txBody>
                  <a:tcPr>
                    <a:solidFill>
                      <a:srgbClr val="FF6699"/>
                    </a:solidFill>
                  </a:tcPr>
                </a:tc>
                <a:tc>
                  <a:txBody>
                    <a:bodyPr/>
                    <a:lstStyle/>
                    <a:p>
                      <a:pPr algn="ctr"/>
                      <a:r>
                        <a:rPr lang="ar-DZ" b="1" dirty="0">
                          <a:solidFill>
                            <a:schemeClr val="bg1"/>
                          </a:solidFill>
                        </a:rPr>
                        <a:t>نقطة التأثير</a:t>
                      </a:r>
                      <a:endParaRPr lang="fr-FR" b="1" dirty="0">
                        <a:solidFill>
                          <a:schemeClr val="bg1"/>
                        </a:solidFill>
                      </a:endParaRPr>
                    </a:p>
                  </a:txBody>
                  <a:tcPr>
                    <a:solidFill>
                      <a:srgbClr val="FF6699"/>
                    </a:solidFill>
                  </a:tcPr>
                </a:tc>
                <a:tc>
                  <a:txBody>
                    <a:bodyPr/>
                    <a:lstStyle/>
                    <a:p>
                      <a:r>
                        <a:rPr lang="ar-DZ" b="1" dirty="0">
                          <a:solidFill>
                            <a:schemeClr val="bg1"/>
                          </a:solidFill>
                        </a:rPr>
                        <a:t>القوى</a:t>
                      </a:r>
                      <a:endParaRPr lang="fr-FR" b="1" dirty="0"/>
                    </a:p>
                  </a:txBody>
                  <a:tcPr>
                    <a:solidFill>
                      <a:srgbClr val="FF6699"/>
                    </a:solidFill>
                  </a:tcPr>
                </a:tc>
                <a:extLst>
                  <a:ext uri="{0D108BD9-81ED-4DB2-BD59-A6C34878D82A}">
                    <a16:rowId xmlns:a16="http://schemas.microsoft.com/office/drawing/2014/main" val="10000"/>
                  </a:ext>
                </a:extLst>
              </a:tr>
              <a:tr h="185420">
                <a:tc>
                  <a:txBody>
                    <a:bodyPr/>
                    <a:lstStyle/>
                    <a:p>
                      <a:r>
                        <a:rPr lang="fr-FR" b="1" dirty="0"/>
                        <a:t>25.8N</a:t>
                      </a:r>
                    </a:p>
                  </a:txBody>
                  <a:tcPr>
                    <a:solidFill>
                      <a:srgbClr val="FFFF00"/>
                    </a:solidFill>
                  </a:tcPr>
                </a:tc>
                <a:tc>
                  <a:txBody>
                    <a:bodyPr/>
                    <a:lstStyle/>
                    <a:p>
                      <a:pPr algn="ctr"/>
                      <a:r>
                        <a:rPr lang="fr-FR" b="1" dirty="0">
                          <a:solidFill>
                            <a:schemeClr val="bg1"/>
                          </a:solidFill>
                        </a:rPr>
                        <a:t>2.6cm</a:t>
                      </a:r>
                    </a:p>
                  </a:txBody>
                  <a:tcPr>
                    <a:solidFill>
                      <a:srgbClr val="FFFF00"/>
                    </a:solidFill>
                  </a:tcPr>
                </a:tc>
                <a:tc>
                  <a:txBody>
                    <a:bodyPr/>
                    <a:lstStyle/>
                    <a:p>
                      <a:endParaRPr lang="fr-FR" b="1" dirty="0"/>
                    </a:p>
                  </a:txBody>
                  <a:tcPr>
                    <a:solidFill>
                      <a:srgbClr val="FFFF00"/>
                    </a:solidFill>
                  </a:tcPr>
                </a:tc>
                <a:tc>
                  <a:txBody>
                    <a:bodyPr/>
                    <a:lstStyle/>
                    <a:p>
                      <a:endParaRPr lang="fr-FR" b="1" dirty="0"/>
                    </a:p>
                  </a:txBody>
                  <a:tcPr>
                    <a:solidFill>
                      <a:srgbClr val="FFFF00"/>
                    </a:solidFill>
                  </a:tcPr>
                </a:tc>
                <a:tc>
                  <a:txBody>
                    <a:bodyPr/>
                    <a:lstStyle/>
                    <a:p>
                      <a:pPr algn="ctr"/>
                      <a:r>
                        <a:rPr lang="fr-FR" b="1" dirty="0"/>
                        <a:t>G</a:t>
                      </a:r>
                    </a:p>
                  </a:txBody>
                  <a:tcPr>
                    <a:solidFill>
                      <a:srgbClr val="FFFF00"/>
                    </a:solidFill>
                  </a:tcPr>
                </a:tc>
                <a:tc>
                  <a:txBody>
                    <a:bodyPr/>
                    <a:lstStyle/>
                    <a:p>
                      <a:pPr algn="ctr"/>
                      <a:r>
                        <a:rPr lang="fr-FR" sz="1800" b="1" dirty="0" err="1">
                          <a:solidFill>
                            <a:schemeClr val="bg1"/>
                          </a:solidFill>
                        </a:rPr>
                        <a:t>Fs</a:t>
                      </a:r>
                      <a:r>
                        <a:rPr lang="fr-FR" sz="1800" b="1" dirty="0">
                          <a:solidFill>
                            <a:schemeClr val="bg1"/>
                          </a:solidFill>
                        </a:rPr>
                        <a:t>/B</a:t>
                      </a:r>
                      <a:endParaRPr lang="fr-FR" b="1" dirty="0"/>
                    </a:p>
                  </a:txBody>
                  <a:tcPr>
                    <a:solidFill>
                      <a:srgbClr val="FFFF00"/>
                    </a:solidFill>
                  </a:tcPr>
                </a:tc>
                <a:extLst>
                  <a:ext uri="{0D108BD9-81ED-4DB2-BD59-A6C34878D82A}">
                    <a16:rowId xmlns:a16="http://schemas.microsoft.com/office/drawing/2014/main" val="10001"/>
                  </a:ext>
                </a:extLst>
              </a:tr>
            </a:tbl>
          </a:graphicData>
        </a:graphic>
      </p:graphicFrame>
      <p:cxnSp>
        <p:nvCxnSpPr>
          <p:cNvPr id="57" name="Connecteur droit avec flèche 56"/>
          <p:cNvCxnSpPr/>
          <p:nvPr/>
        </p:nvCxnSpPr>
        <p:spPr>
          <a:xfrm>
            <a:off x="8388424" y="530120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a:off x="5508104" y="652534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avec flèche 58"/>
          <p:cNvCxnSpPr/>
          <p:nvPr/>
        </p:nvCxnSpPr>
        <p:spPr>
          <a:xfrm>
            <a:off x="7308304"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0" name="Connecteur droit avec flèche 59"/>
          <p:cNvCxnSpPr/>
          <p:nvPr/>
        </p:nvCxnSpPr>
        <p:spPr>
          <a:xfrm>
            <a:off x="6732240"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1" name="Connecteur droit avec flèche 60"/>
          <p:cNvCxnSpPr/>
          <p:nvPr/>
        </p:nvCxnSpPr>
        <p:spPr>
          <a:xfrm>
            <a:off x="6084168" y="573325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avec flèche 61"/>
          <p:cNvCxnSpPr/>
          <p:nvPr/>
        </p:nvCxnSpPr>
        <p:spPr>
          <a:xfrm>
            <a:off x="5436096" y="573325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3" name="Connecteur droit avec flèche 62"/>
          <p:cNvCxnSpPr/>
          <p:nvPr/>
        </p:nvCxnSpPr>
        <p:spPr>
          <a:xfrm>
            <a:off x="3995936"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4" name="Connecteur droit avec flèche 63"/>
          <p:cNvCxnSpPr/>
          <p:nvPr/>
        </p:nvCxnSpPr>
        <p:spPr>
          <a:xfrm>
            <a:off x="3059832"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5" name="Connecteur droit avec flèche 64"/>
          <p:cNvCxnSpPr/>
          <p:nvPr/>
        </p:nvCxnSpPr>
        <p:spPr>
          <a:xfrm>
            <a:off x="3491880" y="56612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p:nvPr/>
        </p:nvCxnSpPr>
        <p:spPr>
          <a:xfrm>
            <a:off x="5580112"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7" name="Connecteur droit avec flèche 66"/>
          <p:cNvCxnSpPr/>
          <p:nvPr/>
        </p:nvCxnSpPr>
        <p:spPr>
          <a:xfrm>
            <a:off x="6804248"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8" name="Connecteur droit avec flèche 67"/>
          <p:cNvCxnSpPr/>
          <p:nvPr/>
        </p:nvCxnSpPr>
        <p:spPr>
          <a:xfrm>
            <a:off x="3491880"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3635896" y="6569968"/>
            <a:ext cx="288032" cy="288032"/>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Connecteur droit avec flèche 69"/>
          <p:cNvCxnSpPr/>
          <p:nvPr/>
        </p:nvCxnSpPr>
        <p:spPr>
          <a:xfrm flipH="1" flipV="1">
            <a:off x="2771800" y="6489576"/>
            <a:ext cx="360040" cy="368424"/>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3" name="Rectangle à coins arrondis 72"/>
          <p:cNvSpPr/>
          <p:nvPr/>
        </p:nvSpPr>
        <p:spPr>
          <a:xfrm>
            <a:off x="107504" y="3789040"/>
            <a:ext cx="100811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a:t>
            </a:r>
            <a:r>
              <a:rPr lang="fr-FR" sz="2000" b="1" dirty="0" err="1">
                <a:solidFill>
                  <a:schemeClr val="bg1"/>
                </a:solidFill>
              </a:rPr>
              <a:t>s</a:t>
            </a:r>
            <a:r>
              <a:rPr lang="fr-FR" sz="2000" b="1" dirty="0">
                <a:solidFill>
                  <a:schemeClr val="bg1"/>
                </a:solidFill>
              </a:rPr>
              <a:t>/B</a:t>
            </a:r>
          </a:p>
        </p:txBody>
      </p:sp>
      <p:cxnSp>
        <p:nvCxnSpPr>
          <p:cNvPr id="74" name="Connecteur droit avec flèche 73"/>
          <p:cNvCxnSpPr/>
          <p:nvPr/>
        </p:nvCxnSpPr>
        <p:spPr>
          <a:xfrm>
            <a:off x="467544" y="371703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5" name="Connecteur droit avec flèche 74"/>
          <p:cNvCxnSpPr/>
          <p:nvPr/>
        </p:nvCxnSpPr>
        <p:spPr>
          <a:xfrm>
            <a:off x="6804248" y="60212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avec flèche 75"/>
          <p:cNvCxnSpPr/>
          <p:nvPr/>
        </p:nvCxnSpPr>
        <p:spPr>
          <a:xfrm>
            <a:off x="7380312" y="60212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 </a:t>
            </a:r>
            <a:endParaRPr lang="fr-FR" sz="4000" b="1" dirty="0">
              <a:solidFill>
                <a:schemeClr val="bg1"/>
              </a:solidFill>
            </a:endParaRPr>
          </a:p>
        </p:txBody>
      </p:sp>
      <p:sp>
        <p:nvSpPr>
          <p:cNvPr id="5" name="Rectangle à coins arrondis 4"/>
          <p:cNvSpPr/>
          <p:nvPr/>
        </p:nvSpPr>
        <p:spPr>
          <a:xfrm>
            <a:off x="0" y="692696"/>
            <a:ext cx="9144000" cy="61653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000" b="1" dirty="0">
              <a:solidFill>
                <a:schemeClr val="bg1"/>
              </a:solidFill>
            </a:endParaRPr>
          </a:p>
          <a:p>
            <a:pPr algn="r"/>
            <a:r>
              <a:rPr lang="ar-DZ" sz="2000" b="1" dirty="0">
                <a:solidFill>
                  <a:schemeClr val="bg1"/>
                </a:solidFill>
              </a:rPr>
              <a:t>1-الاسباب هي حسب كل مشكلة </a:t>
            </a:r>
          </a:p>
          <a:p>
            <a:pPr algn="r"/>
            <a:r>
              <a:rPr lang="ar-DZ" sz="2000" b="1" dirty="0">
                <a:solidFill>
                  <a:schemeClr val="bg1"/>
                </a:solidFill>
              </a:rPr>
              <a:t>-مشكلة عدم اشتغال مكيف  الهواء السبب هو ان شدة </a:t>
            </a:r>
            <a:r>
              <a:rPr lang="ar-DZ" sz="2000" b="1" dirty="0" err="1">
                <a:solidFill>
                  <a:schemeClr val="bg1"/>
                </a:solidFill>
              </a:rPr>
              <a:t>الصاهورة</a:t>
            </a:r>
            <a:r>
              <a:rPr lang="ar-DZ" sz="2000" b="1" dirty="0">
                <a:solidFill>
                  <a:schemeClr val="bg1"/>
                </a:solidFill>
              </a:rPr>
              <a:t> الخاصة </a:t>
            </a:r>
            <a:r>
              <a:rPr lang="ar-DZ" sz="2000" b="1" dirty="0" err="1">
                <a:solidFill>
                  <a:schemeClr val="bg1"/>
                </a:solidFill>
              </a:rPr>
              <a:t>به</a:t>
            </a:r>
            <a:r>
              <a:rPr lang="ar-DZ" sz="2000" b="1" dirty="0">
                <a:solidFill>
                  <a:schemeClr val="bg1"/>
                </a:solidFill>
              </a:rPr>
              <a:t> اقل من شدة التيار التي </a:t>
            </a:r>
            <a:r>
              <a:rPr lang="ar-DZ" sz="2000" b="1" dirty="0" err="1">
                <a:solidFill>
                  <a:schemeClr val="bg1"/>
                </a:solidFill>
              </a:rPr>
              <a:t>يشتغل</a:t>
            </a:r>
            <a:r>
              <a:rPr lang="ar-DZ" sz="2000" b="1" dirty="0">
                <a:solidFill>
                  <a:schemeClr val="bg1"/>
                </a:solidFill>
              </a:rPr>
              <a:t> </a:t>
            </a:r>
            <a:r>
              <a:rPr lang="ar-DZ" sz="2000" b="1" dirty="0" err="1">
                <a:solidFill>
                  <a:schemeClr val="bg1"/>
                </a:solidFill>
              </a:rPr>
              <a:t>بها</a:t>
            </a:r>
            <a:r>
              <a:rPr lang="ar-DZ" sz="2000" b="1" dirty="0">
                <a:solidFill>
                  <a:schemeClr val="bg1"/>
                </a:solidFill>
              </a:rPr>
              <a:t> الجهاز </a:t>
            </a:r>
          </a:p>
          <a:p>
            <a:pPr algn="r"/>
            <a:r>
              <a:rPr lang="ar-DZ" sz="2000" b="1" dirty="0">
                <a:solidFill>
                  <a:schemeClr val="bg1"/>
                </a:solidFill>
              </a:rPr>
              <a:t>-مشكلة الاصابة بصدمة كهربائية عند تركيب المصباح ولمس سلك الطور  السبب هو وجود القاطعة في سلك الحيادي  </a:t>
            </a:r>
          </a:p>
          <a:p>
            <a:pPr algn="r"/>
            <a:r>
              <a:rPr lang="ar-DZ" sz="2000" b="1" dirty="0">
                <a:solidFill>
                  <a:schemeClr val="bg1"/>
                </a:solidFill>
              </a:rPr>
              <a:t>-مشكلة انقطاع التيار الكهربائي عند تشغيل الاجهزة الكهربائية معا السبب هو ان الشدة التي </a:t>
            </a:r>
            <a:r>
              <a:rPr lang="ar-DZ" sz="2000" b="1" dirty="0" err="1">
                <a:solidFill>
                  <a:schemeClr val="bg1"/>
                </a:solidFill>
              </a:rPr>
              <a:t>تشتغل</a:t>
            </a:r>
            <a:r>
              <a:rPr lang="ar-DZ" sz="2000" b="1" dirty="0">
                <a:solidFill>
                  <a:schemeClr val="bg1"/>
                </a:solidFill>
              </a:rPr>
              <a:t> </a:t>
            </a:r>
            <a:r>
              <a:rPr lang="ar-DZ" sz="2000" b="1" dirty="0" err="1">
                <a:solidFill>
                  <a:schemeClr val="bg1"/>
                </a:solidFill>
              </a:rPr>
              <a:t>بها</a:t>
            </a:r>
            <a:r>
              <a:rPr lang="ar-DZ" sz="2000" b="1" dirty="0">
                <a:solidFill>
                  <a:schemeClr val="bg1"/>
                </a:solidFill>
              </a:rPr>
              <a:t> معا تكون اكبر من شدة التيار التي يسمح </a:t>
            </a:r>
            <a:r>
              <a:rPr lang="ar-DZ" sz="2000" b="1" dirty="0" err="1">
                <a:solidFill>
                  <a:schemeClr val="bg1"/>
                </a:solidFill>
              </a:rPr>
              <a:t>بها</a:t>
            </a:r>
            <a:r>
              <a:rPr lang="ar-DZ" sz="2000" b="1" dirty="0">
                <a:solidFill>
                  <a:schemeClr val="bg1"/>
                </a:solidFill>
              </a:rPr>
              <a:t> القاطع الالي</a:t>
            </a:r>
          </a:p>
          <a:p>
            <a:pPr algn="r"/>
            <a:r>
              <a:rPr lang="ar-DZ" sz="2000" b="1" dirty="0">
                <a:solidFill>
                  <a:schemeClr val="bg1"/>
                </a:solidFill>
              </a:rPr>
              <a:t>2-نعم يمكن ان يحدث عند تشغيل الغسالة  و لمسها مع وجود لمس لسلك الطور مع </a:t>
            </a:r>
            <a:r>
              <a:rPr lang="ar-DZ" sz="2000" b="1" dirty="0" err="1">
                <a:solidFill>
                  <a:schemeClr val="bg1"/>
                </a:solidFill>
              </a:rPr>
              <a:t>هيكلهامشكل</a:t>
            </a:r>
            <a:r>
              <a:rPr lang="ar-DZ" sz="2000" b="1" dirty="0">
                <a:solidFill>
                  <a:schemeClr val="bg1"/>
                </a:solidFill>
              </a:rPr>
              <a:t> الاصابة  بصدمة كهربائية وهذا </a:t>
            </a:r>
            <a:r>
              <a:rPr lang="ar-DZ" sz="2000" b="1" dirty="0" err="1">
                <a:solidFill>
                  <a:schemeClr val="bg1"/>
                </a:solidFill>
              </a:rPr>
              <a:t>لانه</a:t>
            </a:r>
            <a:r>
              <a:rPr lang="ar-DZ" sz="2000" b="1" dirty="0">
                <a:solidFill>
                  <a:schemeClr val="bg1"/>
                </a:solidFill>
              </a:rPr>
              <a:t> لا يوجد توصيل بين </a:t>
            </a:r>
            <a:r>
              <a:rPr lang="ar-DZ" sz="2000" b="1" dirty="0" err="1">
                <a:solidFill>
                  <a:schemeClr val="bg1"/>
                </a:solidFill>
              </a:rPr>
              <a:t>الماخذ</a:t>
            </a:r>
            <a:r>
              <a:rPr lang="ar-DZ" sz="2000" b="1" dirty="0">
                <a:solidFill>
                  <a:schemeClr val="bg1"/>
                </a:solidFill>
              </a:rPr>
              <a:t> الارضي للغسالة </a:t>
            </a:r>
            <a:r>
              <a:rPr lang="ar-DZ" sz="2000" b="1" dirty="0" err="1">
                <a:solidFill>
                  <a:schemeClr val="bg1"/>
                </a:solidFill>
              </a:rPr>
              <a:t>والارض</a:t>
            </a:r>
            <a:r>
              <a:rPr lang="ar-DZ" sz="2000" b="1" dirty="0">
                <a:solidFill>
                  <a:schemeClr val="bg1"/>
                </a:solidFill>
              </a:rPr>
              <a:t> او مشكل عدم اشتغال الغسالة </a:t>
            </a:r>
          </a:p>
          <a:p>
            <a:pPr algn="r"/>
            <a:r>
              <a:rPr lang="ar-DZ" sz="2000" b="1" dirty="0">
                <a:solidFill>
                  <a:schemeClr val="bg1"/>
                </a:solidFill>
              </a:rPr>
              <a:t>3-الحلول المقترحة لكل مشكلة هي </a:t>
            </a:r>
          </a:p>
          <a:p>
            <a:pPr algn="r"/>
            <a:r>
              <a:rPr lang="ar-DZ" sz="2000" b="1" dirty="0">
                <a:solidFill>
                  <a:schemeClr val="bg1"/>
                </a:solidFill>
              </a:rPr>
              <a:t>-ااستبدال  تركيب القاطعة الخاصة بالمصباح </a:t>
            </a:r>
          </a:p>
          <a:p>
            <a:pPr algn="r"/>
            <a:r>
              <a:rPr lang="ar-DZ" sz="2000" b="1" dirty="0">
                <a:solidFill>
                  <a:schemeClr val="bg1"/>
                </a:solidFill>
              </a:rPr>
              <a:t>من سلك الحيادي الى سلك الطور</a:t>
            </a:r>
          </a:p>
          <a:p>
            <a:pPr algn="r">
              <a:buFontTx/>
              <a:buChar char="-"/>
            </a:pPr>
            <a:r>
              <a:rPr lang="ar-DZ" sz="2000" b="1" dirty="0">
                <a:solidFill>
                  <a:schemeClr val="bg1"/>
                </a:solidFill>
              </a:rPr>
              <a:t>تغيير </a:t>
            </a:r>
            <a:r>
              <a:rPr lang="ar-DZ" sz="2000" b="1" dirty="0" err="1">
                <a:solidFill>
                  <a:schemeClr val="bg1"/>
                </a:solidFill>
              </a:rPr>
              <a:t>الصاهورة</a:t>
            </a:r>
            <a:r>
              <a:rPr lang="ar-DZ" sz="2000" b="1" dirty="0">
                <a:solidFill>
                  <a:schemeClr val="bg1"/>
                </a:solidFill>
              </a:rPr>
              <a:t> الخاصة بالمكيف </a:t>
            </a:r>
            <a:r>
              <a:rPr lang="ar-DZ" sz="2000" b="1" dirty="0" err="1">
                <a:solidFill>
                  <a:schemeClr val="bg1"/>
                </a:solidFill>
              </a:rPr>
              <a:t>بصاهورة</a:t>
            </a:r>
            <a:r>
              <a:rPr lang="ar-DZ" sz="2000" b="1" dirty="0">
                <a:solidFill>
                  <a:schemeClr val="bg1"/>
                </a:solidFill>
              </a:rPr>
              <a:t> اخرى</a:t>
            </a:r>
          </a:p>
          <a:p>
            <a:pPr algn="r">
              <a:buFontTx/>
              <a:buChar char="-"/>
            </a:pPr>
            <a:r>
              <a:rPr lang="ar-DZ" sz="2000" b="1" dirty="0">
                <a:solidFill>
                  <a:schemeClr val="bg1"/>
                </a:solidFill>
              </a:rPr>
              <a:t> لها قيمة اكبر او تساوي شدة التيار التي يعمل </a:t>
            </a:r>
            <a:r>
              <a:rPr lang="ar-DZ" sz="2000" b="1" dirty="0" err="1">
                <a:solidFill>
                  <a:schemeClr val="bg1"/>
                </a:solidFill>
              </a:rPr>
              <a:t>بها</a:t>
            </a:r>
            <a:r>
              <a:rPr lang="ar-DZ" sz="2000" b="1" dirty="0">
                <a:solidFill>
                  <a:schemeClr val="bg1"/>
                </a:solidFill>
              </a:rPr>
              <a:t> المكيف </a:t>
            </a:r>
          </a:p>
          <a:p>
            <a:pPr algn="r">
              <a:buFontTx/>
              <a:buChar char="-"/>
            </a:pPr>
            <a:r>
              <a:rPr lang="ar-DZ" sz="2000" b="1" dirty="0">
                <a:solidFill>
                  <a:schemeClr val="bg1"/>
                </a:solidFill>
              </a:rPr>
              <a:t>-تغيير ضبط زر القاطع في قيمة اكبر بحيث توافق </a:t>
            </a:r>
          </a:p>
          <a:p>
            <a:pPr algn="r">
              <a:buFontTx/>
              <a:buChar char="-"/>
            </a:pPr>
            <a:r>
              <a:rPr lang="ar-DZ" sz="2000" b="1" dirty="0">
                <a:solidFill>
                  <a:schemeClr val="bg1"/>
                </a:solidFill>
              </a:rPr>
              <a:t>قيم </a:t>
            </a:r>
            <a:r>
              <a:rPr lang="ar-DZ" sz="2000" b="1" dirty="0" err="1">
                <a:solidFill>
                  <a:schemeClr val="bg1"/>
                </a:solidFill>
              </a:rPr>
              <a:t>الشدات</a:t>
            </a:r>
            <a:r>
              <a:rPr lang="ar-DZ" sz="2000" b="1" dirty="0">
                <a:solidFill>
                  <a:schemeClr val="bg1"/>
                </a:solidFill>
              </a:rPr>
              <a:t> لكل الاجهزة معا </a:t>
            </a:r>
          </a:p>
          <a:p>
            <a:pPr algn="r"/>
            <a:r>
              <a:rPr lang="ar-DZ" sz="2000" b="1" dirty="0">
                <a:solidFill>
                  <a:schemeClr val="bg1"/>
                </a:solidFill>
              </a:rPr>
              <a:t>-اضافة توصيل بين </a:t>
            </a:r>
            <a:r>
              <a:rPr lang="ar-DZ" sz="2000" b="1" dirty="0" err="1">
                <a:solidFill>
                  <a:schemeClr val="bg1"/>
                </a:solidFill>
              </a:rPr>
              <a:t>الماخذ</a:t>
            </a:r>
            <a:r>
              <a:rPr lang="ar-DZ" sz="2000" b="1" dirty="0">
                <a:solidFill>
                  <a:schemeClr val="bg1"/>
                </a:solidFill>
              </a:rPr>
              <a:t> الارضي </a:t>
            </a:r>
            <a:r>
              <a:rPr lang="ar-DZ" sz="2000" b="1" dirty="0" err="1">
                <a:solidFill>
                  <a:schemeClr val="bg1"/>
                </a:solidFill>
              </a:rPr>
              <a:t>والارض</a:t>
            </a:r>
            <a:r>
              <a:rPr lang="ar-DZ" sz="2000" b="1" dirty="0">
                <a:solidFill>
                  <a:schemeClr val="bg1"/>
                </a:solidFill>
              </a:rPr>
              <a:t> للثلاجة </a:t>
            </a:r>
          </a:p>
          <a:p>
            <a:pPr algn="r"/>
            <a:r>
              <a:rPr lang="ar-DZ" sz="2000" b="1" dirty="0">
                <a:solidFill>
                  <a:schemeClr val="bg1"/>
                </a:solidFill>
              </a:rPr>
              <a:t>للغسالة </a:t>
            </a:r>
            <a:r>
              <a:rPr lang="ar-DZ" sz="2000" b="1" dirty="0" err="1">
                <a:solidFill>
                  <a:schemeClr val="bg1"/>
                </a:solidFill>
              </a:rPr>
              <a:t>واخر</a:t>
            </a:r>
            <a:r>
              <a:rPr lang="ar-DZ" sz="2000" b="1" dirty="0">
                <a:solidFill>
                  <a:schemeClr val="bg1"/>
                </a:solidFill>
              </a:rPr>
              <a:t> مع هيكلها   </a:t>
            </a:r>
          </a:p>
          <a:p>
            <a:pPr algn="r"/>
            <a:r>
              <a:rPr lang="ar-DZ" sz="2400" b="1" dirty="0">
                <a:solidFill>
                  <a:schemeClr val="bg1"/>
                </a:solidFill>
              </a:rPr>
              <a:t> </a:t>
            </a: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3645024"/>
            <a:ext cx="4067944" cy="2592288"/>
          </a:xfrm>
          <a:prstGeom prst="rect">
            <a:avLst/>
          </a:prstGeom>
          <a:noFill/>
          <a:ln w="9525">
            <a:noFill/>
            <a:miter lim="800000"/>
            <a:headEnd/>
            <a:tailEnd/>
          </a:ln>
        </p:spPr>
      </p:pic>
      <p:cxnSp>
        <p:nvCxnSpPr>
          <p:cNvPr id="7" name="Connecteur droit 6"/>
          <p:cNvCxnSpPr/>
          <p:nvPr/>
        </p:nvCxnSpPr>
        <p:spPr>
          <a:xfrm>
            <a:off x="2555776" y="5229200"/>
            <a:ext cx="0" cy="72008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flipH="1">
            <a:off x="2339752" y="5805264"/>
            <a:ext cx="360040"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flipH="1">
            <a:off x="2411760" y="5877272"/>
            <a:ext cx="288032"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flipH="1">
            <a:off x="2411760" y="5949280"/>
            <a:ext cx="288032" cy="838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flipH="1" flipV="1">
            <a:off x="2555776" y="5229200"/>
            <a:ext cx="216024" cy="21602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Rectangle à coins arrondis 19"/>
          <p:cNvSpPr/>
          <p:nvPr/>
        </p:nvSpPr>
        <p:spPr>
          <a:xfrm>
            <a:off x="179512" y="4725144"/>
            <a:ext cx="648072" cy="2160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15A</a:t>
            </a:r>
          </a:p>
        </p:txBody>
      </p:sp>
      <p:pic>
        <p:nvPicPr>
          <p:cNvPr id="2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779912" y="3933056"/>
            <a:ext cx="216024" cy="504056"/>
          </a:xfrm>
          <a:prstGeom prst="rect">
            <a:avLst/>
          </a:prstGeom>
          <a:noFill/>
          <a:ln w="9525">
            <a:noFill/>
            <a:miter lim="800000"/>
            <a:headEnd/>
            <a:tailEnd/>
          </a:ln>
        </p:spPr>
      </p:pic>
      <p:sp>
        <p:nvSpPr>
          <p:cNvPr id="23" name="Rectangle à coins arrondis 22"/>
          <p:cNvSpPr/>
          <p:nvPr/>
        </p:nvSpPr>
        <p:spPr>
          <a:xfrm>
            <a:off x="1475656" y="4077072"/>
            <a:ext cx="360040" cy="50405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à coins arrondis 23"/>
          <p:cNvSpPr/>
          <p:nvPr/>
        </p:nvSpPr>
        <p:spPr>
          <a:xfrm>
            <a:off x="3491880" y="4149080"/>
            <a:ext cx="360040" cy="50405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6" name="Connecteur droit 25"/>
          <p:cNvCxnSpPr/>
          <p:nvPr/>
        </p:nvCxnSpPr>
        <p:spPr>
          <a:xfrm>
            <a:off x="1619672" y="3861048"/>
            <a:ext cx="0" cy="1440160"/>
          </a:xfrm>
          <a:prstGeom prst="line">
            <a:avLst/>
          </a:prstGeom>
          <a:ln w="25400">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a:xfrm>
            <a:off x="3779912" y="3933056"/>
            <a:ext cx="0" cy="720080"/>
          </a:xfrm>
          <a:prstGeom prst="line">
            <a:avLst/>
          </a:prstGeom>
          <a:ln w="25400">
            <a:solidFill>
              <a:srgbClr val="00FFFF"/>
            </a:solidFill>
          </a:ln>
        </p:spPr>
        <p:style>
          <a:lnRef idx="1">
            <a:schemeClr val="accent1"/>
          </a:lnRef>
          <a:fillRef idx="0">
            <a:schemeClr val="accent1"/>
          </a:fillRef>
          <a:effectRef idx="0">
            <a:schemeClr val="accent1"/>
          </a:effectRef>
          <a:fontRef idx="minor">
            <a:schemeClr val="tx1"/>
          </a:fontRef>
        </p:style>
      </p:cxnSp>
      <p:sp>
        <p:nvSpPr>
          <p:cNvPr id="34" name="Rectangle à coins arrondis 33"/>
          <p:cNvSpPr/>
          <p:nvPr/>
        </p:nvSpPr>
        <p:spPr>
          <a:xfrm>
            <a:off x="4067944" y="4149080"/>
            <a:ext cx="648072" cy="2160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b="1" dirty="0">
                <a:solidFill>
                  <a:schemeClr val="bg1"/>
                </a:solidFill>
              </a:rPr>
              <a:t>5</a:t>
            </a:r>
            <a:r>
              <a:rPr lang="fr-FR" b="1" dirty="0">
                <a:solidFill>
                  <a:schemeClr val="bg1"/>
                </a:solidFill>
              </a:rPr>
              <a:t>A</a:t>
            </a:r>
          </a:p>
        </p:txBody>
      </p:sp>
      <p:pic>
        <p:nvPicPr>
          <p:cNvPr id="35"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15616" y="4005064"/>
            <a:ext cx="432048" cy="504056"/>
          </a:xfrm>
          <a:prstGeom prst="rect">
            <a:avLst/>
          </a:prstGeom>
          <a:noFill/>
          <a:ln w="9525">
            <a:noFill/>
            <a:miter lim="800000"/>
            <a:headEnd/>
            <a:tailEnd/>
          </a:ln>
        </p:spPr>
      </p:pic>
      <p:sp>
        <p:nvSpPr>
          <p:cNvPr id="36" name="Rectangle à coins arrondis 35"/>
          <p:cNvSpPr/>
          <p:nvPr/>
        </p:nvSpPr>
        <p:spPr>
          <a:xfrm>
            <a:off x="1763688" y="4149080"/>
            <a:ext cx="648072" cy="2160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b="1" dirty="0">
                <a:solidFill>
                  <a:schemeClr val="bg1"/>
                </a:solidFill>
              </a:rPr>
              <a:t>20</a:t>
            </a:r>
            <a:r>
              <a:rPr lang="fr-FR" b="1" dirty="0">
                <a:solidFill>
                  <a:schemeClr val="bg1"/>
                </a:solidFill>
              </a:rPr>
              <a:t>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الثامن    </a:t>
            </a:r>
            <a:endParaRPr lang="fr-FR" sz="6000" b="1"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122413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4000" b="1" dirty="0">
              <a:solidFill>
                <a:schemeClr val="bg1"/>
              </a:solidFill>
            </a:endParaRPr>
          </a:p>
        </p:txBody>
      </p:sp>
      <p:sp>
        <p:nvSpPr>
          <p:cNvPr id="5" name="Rectangle à coins arrondis 4"/>
          <p:cNvSpPr/>
          <p:nvPr/>
        </p:nvSpPr>
        <p:spPr>
          <a:xfrm>
            <a:off x="0" y="1268760"/>
            <a:ext cx="9144000" cy="558924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نغمر جزء من صفيحة معدنية من الزنك  في وعاء </a:t>
            </a:r>
          </a:p>
          <a:p>
            <a:pPr algn="r"/>
            <a:r>
              <a:rPr lang="ar-DZ" sz="2400" b="1" dirty="0">
                <a:solidFill>
                  <a:schemeClr val="bg1"/>
                </a:solidFill>
              </a:rPr>
              <a:t>بعد فترة </a:t>
            </a:r>
            <a:r>
              <a:rPr lang="ar-DZ" sz="2400" b="1" dirty="0" err="1">
                <a:solidFill>
                  <a:schemeClr val="bg1"/>
                </a:solidFill>
              </a:rPr>
              <a:t>يتأكل</a:t>
            </a:r>
            <a:r>
              <a:rPr lang="en-US" sz="2400" b="1" dirty="0">
                <a:solidFill>
                  <a:schemeClr val="bg1"/>
                </a:solidFill>
              </a:rPr>
              <a:t>(</a:t>
            </a:r>
            <a:r>
              <a:rPr lang="fr-FR" sz="2400" b="1" dirty="0">
                <a:solidFill>
                  <a:schemeClr val="bg1"/>
                </a:solidFill>
              </a:rPr>
              <a:t>Cu</a:t>
            </a:r>
            <a:r>
              <a:rPr lang="fr-FR" sz="2400" b="1" baseline="30000" dirty="0">
                <a:solidFill>
                  <a:schemeClr val="bg1"/>
                </a:solidFill>
              </a:rPr>
              <a:t>2+</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en-US" sz="2400" b="1" dirty="0">
                <a:solidFill>
                  <a:schemeClr val="bg1"/>
                </a:solidFill>
              </a:rPr>
              <a:t>) </a:t>
            </a:r>
            <a:r>
              <a:rPr lang="ar-DZ" sz="2400" b="1" dirty="0" err="1">
                <a:solidFill>
                  <a:schemeClr val="bg1"/>
                </a:solidFill>
              </a:rPr>
              <a:t>به</a:t>
            </a:r>
            <a:r>
              <a:rPr lang="ar-DZ" sz="2400" b="1" dirty="0">
                <a:solidFill>
                  <a:schemeClr val="bg1"/>
                </a:solidFill>
              </a:rPr>
              <a:t> محلول كبريتات النحاس</a:t>
            </a:r>
          </a:p>
          <a:p>
            <a:pPr algn="r"/>
            <a:r>
              <a:rPr lang="ar-DZ" sz="2400" b="1" dirty="0">
                <a:solidFill>
                  <a:schemeClr val="bg1"/>
                </a:solidFill>
              </a:rPr>
              <a:t>الجزء المغمور ويغطى بطبقة حمراء   </a:t>
            </a:r>
          </a:p>
          <a:p>
            <a:pPr algn="r"/>
            <a:r>
              <a:rPr lang="en-US" sz="2400" b="1" dirty="0">
                <a:solidFill>
                  <a:schemeClr val="bg1"/>
                </a:solidFill>
              </a:rPr>
              <a:t>(</a:t>
            </a:r>
            <a:r>
              <a:rPr lang="fr-FR" sz="2400" b="1" dirty="0">
                <a:solidFill>
                  <a:schemeClr val="bg1"/>
                </a:solidFill>
              </a:rPr>
              <a:t>Zn</a:t>
            </a:r>
            <a:r>
              <a:rPr lang="fr-FR" sz="2400" b="1" baseline="30000" dirty="0">
                <a:solidFill>
                  <a:schemeClr val="bg1"/>
                </a:solidFill>
              </a:rPr>
              <a:t>2+</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en-US" sz="2400" b="1" dirty="0">
                <a:solidFill>
                  <a:schemeClr val="bg1"/>
                </a:solidFill>
              </a:rPr>
              <a:t>) </a:t>
            </a:r>
            <a:r>
              <a:rPr lang="ar-DZ" sz="2400" b="1" dirty="0">
                <a:solidFill>
                  <a:schemeClr val="bg1"/>
                </a:solidFill>
              </a:rPr>
              <a:t>و يتشكل محلول جديد هو كبريتات الزنك </a:t>
            </a:r>
          </a:p>
          <a:p>
            <a:pPr algn="r"/>
            <a:r>
              <a:rPr lang="ar-DZ" sz="2400" b="1" dirty="0">
                <a:solidFill>
                  <a:schemeClr val="bg1"/>
                </a:solidFill>
              </a:rPr>
              <a:t>واختفاء اللون الازرق للمحلول وظهور اللون الابيض   </a:t>
            </a:r>
          </a:p>
          <a:p>
            <a:pPr algn="r"/>
            <a:r>
              <a:rPr lang="ar-DZ" sz="2400" b="1" dirty="0">
                <a:solidFill>
                  <a:schemeClr val="bg1"/>
                </a:solidFill>
              </a:rPr>
              <a:t>1-</a:t>
            </a:r>
            <a:r>
              <a:rPr lang="ar-DZ" sz="2400" b="1" dirty="0" err="1">
                <a:solidFill>
                  <a:schemeClr val="bg1"/>
                </a:solidFill>
              </a:rPr>
              <a:t>ماهي</a:t>
            </a:r>
            <a:r>
              <a:rPr lang="ar-DZ" sz="2400" b="1" dirty="0">
                <a:solidFill>
                  <a:schemeClr val="bg1"/>
                </a:solidFill>
              </a:rPr>
              <a:t> الافراد الكيميائية </a:t>
            </a:r>
            <a:r>
              <a:rPr lang="ar-DZ" sz="2400" b="1" dirty="0" err="1">
                <a:solidFill>
                  <a:schemeClr val="bg1"/>
                </a:solidFill>
              </a:rPr>
              <a:t>المسؤولة</a:t>
            </a:r>
            <a:r>
              <a:rPr lang="ar-DZ" sz="2400" b="1" dirty="0">
                <a:solidFill>
                  <a:schemeClr val="bg1"/>
                </a:solidFill>
              </a:rPr>
              <a:t> عن الطبقة </a:t>
            </a:r>
            <a:r>
              <a:rPr lang="ar-DZ" sz="2400" b="1" dirty="0" err="1">
                <a:solidFill>
                  <a:schemeClr val="bg1"/>
                </a:solidFill>
              </a:rPr>
              <a:t>الحمراء </a:t>
            </a:r>
            <a:r>
              <a:rPr lang="ar-DZ" sz="2400" b="1" dirty="0">
                <a:solidFill>
                  <a:schemeClr val="bg1"/>
                </a:solidFill>
              </a:rPr>
              <a:t>–اللون </a:t>
            </a:r>
            <a:r>
              <a:rPr lang="ar-DZ" sz="2400" b="1" dirty="0" err="1">
                <a:solidFill>
                  <a:schemeClr val="bg1"/>
                </a:solidFill>
              </a:rPr>
              <a:t>الازرق </a:t>
            </a:r>
            <a:r>
              <a:rPr lang="ar-DZ" sz="2400" b="1" dirty="0">
                <a:solidFill>
                  <a:schemeClr val="bg1"/>
                </a:solidFill>
              </a:rPr>
              <a:t>–اللون الابيض </a:t>
            </a:r>
          </a:p>
          <a:p>
            <a:pPr algn="r"/>
            <a:r>
              <a:rPr lang="ar-DZ" sz="2400" b="1" dirty="0">
                <a:solidFill>
                  <a:schemeClr val="bg1"/>
                </a:solidFill>
              </a:rPr>
              <a:t>ثم حدد صيغها </a:t>
            </a:r>
            <a:r>
              <a:rPr lang="ar-DZ" sz="2400" b="1" dirty="0" err="1">
                <a:solidFill>
                  <a:schemeClr val="bg1"/>
                </a:solidFill>
              </a:rPr>
              <a:t>الكيميائية؟</a:t>
            </a:r>
            <a:r>
              <a:rPr lang="ar-DZ" sz="2400" b="1" dirty="0">
                <a:solidFill>
                  <a:schemeClr val="bg1"/>
                </a:solidFill>
              </a:rPr>
              <a:t> </a:t>
            </a:r>
          </a:p>
          <a:p>
            <a:pPr algn="r"/>
            <a:r>
              <a:rPr lang="ar-DZ" sz="2400" b="1" dirty="0">
                <a:solidFill>
                  <a:schemeClr val="bg1"/>
                </a:solidFill>
              </a:rPr>
              <a:t>2-اكتب المعادلة الكيميائية  للتفاعل الحادث بالصيغتين </a:t>
            </a:r>
            <a:r>
              <a:rPr lang="ar-DZ" sz="2400" b="1" dirty="0" err="1">
                <a:solidFill>
                  <a:schemeClr val="bg1"/>
                </a:solidFill>
              </a:rPr>
              <a:t>الشاردية</a:t>
            </a:r>
            <a:r>
              <a:rPr lang="ar-DZ" sz="2400" b="1" dirty="0">
                <a:solidFill>
                  <a:schemeClr val="bg1"/>
                </a:solidFill>
              </a:rPr>
              <a:t> و الاحصائية </a:t>
            </a:r>
          </a:p>
          <a:p>
            <a:pPr algn="r"/>
            <a:r>
              <a:rPr lang="ar-DZ" sz="2400" b="1" dirty="0">
                <a:solidFill>
                  <a:schemeClr val="bg1"/>
                </a:solidFill>
              </a:rPr>
              <a:t>3-كيف يمكن الحصول على محلول كبريتات النحاس انطلاقا من حدوث تفاعل بين معدن معين و محلول كبريتات الفضة محددا المعدن الممكن استعماله والمعادلة </a:t>
            </a:r>
            <a:r>
              <a:rPr lang="ar-DZ" sz="2400" b="1" dirty="0" err="1">
                <a:solidFill>
                  <a:schemeClr val="bg1"/>
                </a:solidFill>
              </a:rPr>
              <a:t>المناسبة ؟</a:t>
            </a:r>
            <a:endParaRPr lang="ar-DZ" sz="2400" b="1" dirty="0">
              <a:solidFill>
                <a:schemeClr val="bg1"/>
              </a:solidFill>
            </a:endParaRPr>
          </a:p>
          <a:p>
            <a:pPr algn="r"/>
            <a:r>
              <a:rPr lang="ar-DZ" sz="2400" b="1" dirty="0">
                <a:solidFill>
                  <a:schemeClr val="bg1"/>
                </a:solidFill>
              </a:rPr>
              <a:t> </a:t>
            </a:r>
          </a:p>
          <a:p>
            <a:pPr algn="r"/>
            <a:r>
              <a:rPr lang="ar-DZ" sz="2400" b="1" dirty="0">
                <a:solidFill>
                  <a:schemeClr val="bg1"/>
                </a:solidFill>
              </a:rPr>
              <a:t>  </a:t>
            </a:r>
            <a:r>
              <a:rPr lang="fr-FR" sz="2400" b="1" dirty="0">
                <a:solidFill>
                  <a:schemeClr val="bg1"/>
                </a:solidFill>
              </a:rPr>
              <a:t> </a:t>
            </a:r>
            <a:endParaRPr lang="ar-DZ"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196752"/>
            <a:ext cx="2843808" cy="1944216"/>
          </a:xfrm>
          <a:prstGeom prst="rect">
            <a:avLst/>
          </a:prstGeom>
          <a:noFill/>
          <a:ln w="9525">
            <a:noFill/>
            <a:miter lim="800000"/>
            <a:headEnd/>
            <a:tailEnd/>
          </a:ln>
        </p:spPr>
      </p:pic>
      <p:sp>
        <p:nvSpPr>
          <p:cNvPr id="7" name="Rectangle 6"/>
          <p:cNvSpPr/>
          <p:nvPr/>
        </p:nvSpPr>
        <p:spPr>
          <a:xfrm>
            <a:off x="1907704" y="1196752"/>
            <a:ext cx="1440160" cy="369332"/>
          </a:xfrm>
          <a:prstGeom prst="rect">
            <a:avLst/>
          </a:prstGeom>
          <a:solidFill>
            <a:schemeClr val="tx1"/>
          </a:solidFill>
        </p:spPr>
        <p:txBody>
          <a:bodyPr wrap="square">
            <a:spAutoFit/>
          </a:bodyPr>
          <a:lstStyle/>
          <a:p>
            <a:pPr algn="ctr"/>
            <a:r>
              <a:rPr lang="ar-DZ" b="1" dirty="0">
                <a:solidFill>
                  <a:schemeClr val="bg1"/>
                </a:solidFill>
              </a:rPr>
              <a:t>صفيحة من الزنك</a:t>
            </a:r>
            <a:endParaRPr lang="fr-FR" b="1"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dk1"/>
                </a:solidFill>
              </a:rPr>
              <a:t>من اجل دراسة شرط توازن جسم صلب ركب التلاميذ التجربة </a:t>
            </a:r>
          </a:p>
          <a:p>
            <a:pPr algn="r"/>
            <a:r>
              <a:rPr lang="fr-FR" sz="2800" b="1" dirty="0">
                <a:solidFill>
                  <a:schemeClr val="dk1"/>
                </a:solidFill>
              </a:rPr>
              <a:t>D</a:t>
            </a:r>
            <a:r>
              <a:rPr lang="fr-FR" sz="2000" b="1" dirty="0">
                <a:solidFill>
                  <a:schemeClr val="dk1"/>
                </a:solidFill>
              </a:rPr>
              <a:t>1</a:t>
            </a:r>
            <a:r>
              <a:rPr lang="fr-FR" sz="2400" b="1" dirty="0">
                <a:solidFill>
                  <a:schemeClr val="dk1"/>
                </a:solidFill>
              </a:rPr>
              <a:t>=20N</a:t>
            </a:r>
            <a:r>
              <a:rPr lang="ar-DZ" sz="2400" b="1" dirty="0">
                <a:solidFill>
                  <a:schemeClr val="dk1"/>
                </a:solidFill>
              </a:rPr>
              <a:t>سجلتا   </a:t>
            </a:r>
            <a:r>
              <a:rPr lang="fr-FR" sz="2400" b="1" dirty="0">
                <a:solidFill>
                  <a:schemeClr val="dk1"/>
                </a:solidFill>
              </a:rPr>
              <a:t>D2 </a:t>
            </a:r>
            <a:r>
              <a:rPr lang="ar-DZ" sz="2400" b="1" dirty="0">
                <a:solidFill>
                  <a:schemeClr val="dk1"/>
                </a:solidFill>
              </a:rPr>
              <a:t>و</a:t>
            </a:r>
            <a:r>
              <a:rPr lang="fr-FR" sz="2400" b="1" dirty="0">
                <a:solidFill>
                  <a:schemeClr val="dk1"/>
                </a:solidFill>
              </a:rPr>
              <a:t> D1</a:t>
            </a:r>
            <a:r>
              <a:rPr lang="ar-DZ" sz="2400" b="1" dirty="0">
                <a:solidFill>
                  <a:schemeClr val="dk1"/>
                </a:solidFill>
              </a:rPr>
              <a:t>  حيث تتكون من   </a:t>
            </a:r>
            <a:r>
              <a:rPr lang="ar-DZ" sz="2400" b="1" dirty="0" err="1">
                <a:solidFill>
                  <a:schemeClr val="dk1"/>
                </a:solidFill>
              </a:rPr>
              <a:t>ربيعتان</a:t>
            </a:r>
            <a:r>
              <a:rPr lang="ar-DZ" sz="2400" b="1" dirty="0">
                <a:solidFill>
                  <a:schemeClr val="dk1"/>
                </a:solidFill>
              </a:rPr>
              <a:t>  </a:t>
            </a:r>
          </a:p>
          <a:p>
            <a:pPr algn="r"/>
            <a:r>
              <a:rPr lang="fr-FR" sz="2800" b="1" dirty="0">
                <a:solidFill>
                  <a:schemeClr val="dk1"/>
                </a:solidFill>
              </a:rPr>
              <a:t>m=2kg</a:t>
            </a:r>
            <a:r>
              <a:rPr lang="ar-DZ" sz="2800" b="1" dirty="0">
                <a:solidFill>
                  <a:schemeClr val="dk1"/>
                </a:solidFill>
              </a:rPr>
              <a:t> مقدارها </a:t>
            </a:r>
            <a:r>
              <a:rPr lang="fr-FR" sz="2800" b="1" dirty="0">
                <a:solidFill>
                  <a:schemeClr val="dk1"/>
                </a:solidFill>
              </a:rPr>
              <a:t>C</a:t>
            </a:r>
            <a:r>
              <a:rPr lang="ar-DZ" sz="2800" b="1" dirty="0">
                <a:solidFill>
                  <a:schemeClr val="dk1"/>
                </a:solidFill>
              </a:rPr>
              <a:t> وكتلة </a:t>
            </a:r>
            <a:r>
              <a:rPr lang="fr-FR" sz="2800" b="1" dirty="0">
                <a:solidFill>
                  <a:schemeClr val="dk1"/>
                </a:solidFill>
              </a:rPr>
              <a:t>D</a:t>
            </a:r>
            <a:r>
              <a:rPr lang="fr-FR" sz="2000" b="1" dirty="0">
                <a:solidFill>
                  <a:schemeClr val="dk1"/>
                </a:solidFill>
              </a:rPr>
              <a:t>2</a:t>
            </a:r>
            <a:r>
              <a:rPr lang="fr-FR" sz="2400" b="1" dirty="0">
                <a:solidFill>
                  <a:schemeClr val="dk1"/>
                </a:solidFill>
              </a:rPr>
              <a:t>=</a:t>
            </a:r>
            <a:r>
              <a:rPr lang="ar-DZ" sz="2400" b="1" dirty="0">
                <a:solidFill>
                  <a:schemeClr val="dk1"/>
                </a:solidFill>
              </a:rPr>
              <a:t>2</a:t>
            </a:r>
            <a:r>
              <a:rPr lang="fr-FR" sz="2400" b="1" dirty="0">
                <a:solidFill>
                  <a:schemeClr val="dk1"/>
                </a:solidFill>
              </a:rPr>
              <a:t>0N</a:t>
            </a:r>
            <a:r>
              <a:rPr lang="ar-DZ" sz="2400" b="1" dirty="0">
                <a:solidFill>
                  <a:schemeClr val="dk1"/>
                </a:solidFill>
              </a:rPr>
              <a:t>   و  </a:t>
            </a:r>
          </a:p>
          <a:p>
            <a:pPr algn="r"/>
            <a:r>
              <a:rPr lang="ar-DZ" sz="2400" b="1" dirty="0">
                <a:solidFill>
                  <a:schemeClr val="dk1"/>
                </a:solidFill>
              </a:rPr>
              <a:t> في حالة توازن كما في الشكل  </a:t>
            </a:r>
            <a:r>
              <a:rPr lang="fr-FR" sz="2400" b="1" dirty="0">
                <a:solidFill>
                  <a:schemeClr val="dk1"/>
                </a:solidFill>
              </a:rPr>
              <a:t>S</a:t>
            </a:r>
            <a:r>
              <a:rPr lang="ar-DZ" sz="2400" b="1" dirty="0">
                <a:solidFill>
                  <a:schemeClr val="dk1"/>
                </a:solidFill>
              </a:rPr>
              <a:t> متصلة بجسم  </a:t>
            </a:r>
            <a:endParaRPr lang="fr-FR" sz="2400" b="1" dirty="0">
              <a:solidFill>
                <a:schemeClr val="dk1"/>
              </a:solidFill>
            </a:endParaRPr>
          </a:p>
          <a:p>
            <a:pPr algn="r"/>
            <a:r>
              <a:rPr lang="fr-FR" sz="2400" b="1" dirty="0">
                <a:solidFill>
                  <a:schemeClr val="dk1"/>
                </a:solidFill>
              </a:rPr>
              <a:t>C</a:t>
            </a:r>
            <a:r>
              <a:rPr lang="ar-DZ" sz="2400" b="1" dirty="0">
                <a:solidFill>
                  <a:schemeClr val="dk1"/>
                </a:solidFill>
              </a:rPr>
              <a:t>1-اذكر القوى المؤثرة على  كل جسم </a:t>
            </a:r>
          </a:p>
          <a:p>
            <a:pPr algn="r"/>
            <a:r>
              <a:rPr lang="ar-DZ" sz="2400" b="1" dirty="0">
                <a:solidFill>
                  <a:schemeClr val="dk1"/>
                </a:solidFill>
              </a:rPr>
              <a:t>  ثم مثل الفعلين المتبادلين </a:t>
            </a:r>
            <a:r>
              <a:rPr lang="fr-FR" sz="2400" b="1" dirty="0">
                <a:solidFill>
                  <a:schemeClr val="dk1"/>
                </a:solidFill>
              </a:rPr>
              <a:t>C</a:t>
            </a:r>
            <a:r>
              <a:rPr lang="ar-DZ" sz="2400" b="1" dirty="0">
                <a:solidFill>
                  <a:schemeClr val="dk1"/>
                </a:solidFill>
              </a:rPr>
              <a:t>2-احسب ثقل الجسم    </a:t>
            </a:r>
          </a:p>
          <a:p>
            <a:pPr algn="r"/>
            <a:r>
              <a:rPr lang="ar-DZ" sz="2400" b="1" dirty="0">
                <a:solidFill>
                  <a:schemeClr val="dk1"/>
                </a:solidFill>
              </a:rPr>
              <a:t> </a:t>
            </a:r>
            <a:r>
              <a:rPr lang="fr-FR" sz="2400" b="1" dirty="0">
                <a:solidFill>
                  <a:schemeClr val="dk1"/>
                </a:solidFill>
              </a:rPr>
              <a:t>10N        1cm </a:t>
            </a:r>
            <a:r>
              <a:rPr lang="ar-DZ" sz="2400" b="1" dirty="0">
                <a:solidFill>
                  <a:schemeClr val="dk1"/>
                </a:solidFill>
              </a:rPr>
              <a:t>  بسلم  </a:t>
            </a:r>
            <a:r>
              <a:rPr lang="fr-FR" sz="2400" b="1" dirty="0">
                <a:solidFill>
                  <a:schemeClr val="dk1"/>
                </a:solidFill>
              </a:rPr>
              <a:t>f </a:t>
            </a:r>
            <a:r>
              <a:rPr lang="ar-DZ" sz="2400" b="1" dirty="0">
                <a:solidFill>
                  <a:schemeClr val="dk1"/>
                </a:solidFill>
              </a:rPr>
              <a:t>   و الحبل </a:t>
            </a:r>
            <a:r>
              <a:rPr lang="fr-FR" sz="2400" b="1" dirty="0">
                <a:solidFill>
                  <a:schemeClr val="dk1"/>
                </a:solidFill>
              </a:rPr>
              <a:t>C</a:t>
            </a:r>
            <a:r>
              <a:rPr lang="ar-DZ" sz="2400" b="1" dirty="0">
                <a:solidFill>
                  <a:schemeClr val="dk1"/>
                </a:solidFill>
              </a:rPr>
              <a:t> بين الجسم </a:t>
            </a:r>
            <a:endParaRPr lang="ar-DZ" sz="2400" b="1" dirty="0">
              <a:solidFill>
                <a:schemeClr val="bg1"/>
              </a:solidFill>
            </a:endParaRPr>
          </a:p>
          <a:p>
            <a:pPr algn="r"/>
            <a:r>
              <a:rPr lang="ar-DZ" sz="2400" b="1" dirty="0">
                <a:solidFill>
                  <a:schemeClr val="dk1"/>
                </a:solidFill>
              </a:rPr>
              <a:t>  ثم تحقق منه باستعمال طريقة محصلة قوتي </a:t>
            </a:r>
            <a:r>
              <a:rPr lang="ar-DZ" sz="2400" b="1" dirty="0" err="1">
                <a:solidFill>
                  <a:schemeClr val="dk1"/>
                </a:solidFill>
              </a:rPr>
              <a:t>الربيعتين</a:t>
            </a:r>
            <a:r>
              <a:rPr lang="ar-DZ" sz="2400" b="1" dirty="0">
                <a:solidFill>
                  <a:schemeClr val="dk1"/>
                </a:solidFill>
              </a:rPr>
              <a:t>  </a:t>
            </a:r>
            <a:r>
              <a:rPr lang="fr-FR" sz="2400" b="1" dirty="0">
                <a:solidFill>
                  <a:schemeClr val="dk1"/>
                </a:solidFill>
              </a:rPr>
              <a:t>S</a:t>
            </a:r>
            <a:r>
              <a:rPr lang="ar-DZ" sz="2400" b="1" dirty="0">
                <a:solidFill>
                  <a:schemeClr val="dk1"/>
                </a:solidFill>
              </a:rPr>
              <a:t>3-اكتب شرط التوازن للجسم </a:t>
            </a:r>
          </a:p>
          <a:p>
            <a:pPr algn="r"/>
            <a:r>
              <a:rPr lang="ar-DZ" sz="2400" b="1" dirty="0">
                <a:solidFill>
                  <a:schemeClr val="dk1"/>
                </a:solidFill>
              </a:rPr>
              <a:t>ثم استنتج خصائص القوى الثلاثة  </a:t>
            </a:r>
          </a:p>
          <a:p>
            <a:pPr algn="r"/>
            <a:r>
              <a:rPr lang="ar-DZ" sz="2400" b="1" dirty="0">
                <a:solidFill>
                  <a:schemeClr val="dk1"/>
                </a:solidFill>
              </a:rPr>
              <a:t> </a:t>
            </a:r>
          </a:p>
          <a:p>
            <a:pPr algn="r"/>
            <a:endParaRPr lang="ar-DZ" sz="2400" b="1" dirty="0">
              <a:solidFill>
                <a:schemeClr val="bg1"/>
              </a:solidFill>
            </a:endParaRPr>
          </a:p>
        </p:txBody>
      </p:sp>
      <p:cxnSp>
        <p:nvCxnSpPr>
          <p:cNvPr id="11" name="Connecteur droit avec flèche 10"/>
          <p:cNvCxnSpPr/>
          <p:nvPr/>
        </p:nvCxnSpPr>
        <p:spPr>
          <a:xfrm>
            <a:off x="4427984" y="42210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12" name="Image 11" descr="téléchargement.jpg"/>
          <p:cNvPicPr>
            <a:picLocks noChangeAspect="1"/>
          </p:cNvPicPr>
          <p:nvPr/>
        </p:nvPicPr>
        <p:blipFill>
          <a:blip r:embed="rId2" cstate="print"/>
          <a:stretch>
            <a:fillRect/>
          </a:stretch>
        </p:blipFill>
        <p:spPr>
          <a:xfrm>
            <a:off x="0" y="764704"/>
            <a:ext cx="2627784" cy="2193032"/>
          </a:xfrm>
          <a:prstGeom prst="rect">
            <a:avLst/>
          </a:prstGeom>
        </p:spPr>
      </p:pic>
      <p:sp>
        <p:nvSpPr>
          <p:cNvPr id="13" name="Rectangle à coins arrondis 12"/>
          <p:cNvSpPr/>
          <p:nvPr/>
        </p:nvSpPr>
        <p:spPr>
          <a:xfrm>
            <a:off x="1331640" y="1124744"/>
            <a:ext cx="648072"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D2</a:t>
            </a:r>
            <a:endParaRPr lang="fr-FR" sz="2000" b="1" dirty="0">
              <a:solidFill>
                <a:schemeClr val="bg1"/>
              </a:solidFill>
            </a:endParaRPr>
          </a:p>
        </p:txBody>
      </p:sp>
      <p:sp>
        <p:nvSpPr>
          <p:cNvPr id="14" name="Rectangle à coins arrondis 13"/>
          <p:cNvSpPr/>
          <p:nvPr/>
        </p:nvSpPr>
        <p:spPr>
          <a:xfrm>
            <a:off x="539552" y="908720"/>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D1</a:t>
            </a:r>
            <a:endParaRPr lang="fr-FR" sz="2000" b="1" dirty="0">
              <a:solidFill>
                <a:schemeClr val="bg1"/>
              </a:solidFill>
            </a:endParaRPr>
          </a:p>
        </p:txBody>
      </p:sp>
      <p:sp>
        <p:nvSpPr>
          <p:cNvPr id="15" name="Rectangle à coins arrondis 14"/>
          <p:cNvSpPr/>
          <p:nvPr/>
        </p:nvSpPr>
        <p:spPr>
          <a:xfrm>
            <a:off x="827584" y="1772816"/>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S</a:t>
            </a:r>
            <a:endParaRPr lang="fr-FR" sz="2000" b="1" dirty="0">
              <a:solidFill>
                <a:schemeClr val="bg1"/>
              </a:solidFill>
            </a:endParaRPr>
          </a:p>
        </p:txBody>
      </p:sp>
      <p:sp>
        <p:nvSpPr>
          <p:cNvPr id="16" name="Organigramme : Affichage 15"/>
          <p:cNvSpPr/>
          <p:nvPr/>
        </p:nvSpPr>
        <p:spPr>
          <a:xfrm>
            <a:off x="899592" y="1772816"/>
            <a:ext cx="432048" cy="360040"/>
          </a:xfrm>
          <a:prstGeom prst="flowChartDisplay">
            <a:avLst/>
          </a:prstGeom>
          <a:solidFill>
            <a:srgbClr val="00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rPr>
              <a:t>S</a:t>
            </a:r>
          </a:p>
        </p:txBody>
      </p:sp>
      <p:sp>
        <p:nvSpPr>
          <p:cNvPr id="17" name="Rectangle à coins arrondis 16"/>
          <p:cNvSpPr/>
          <p:nvPr/>
        </p:nvSpPr>
        <p:spPr>
          <a:xfrm>
            <a:off x="1331640" y="2348880"/>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C</a:t>
            </a:r>
            <a:endParaRPr lang="fr-FR" sz="2000" b="1" dirty="0">
              <a:solidFill>
                <a:schemeClr val="bg1"/>
              </a:solidFill>
            </a:endParaRPr>
          </a:p>
        </p:txBody>
      </p:sp>
      <p:sp>
        <p:nvSpPr>
          <p:cNvPr id="18" name="Rectangle à coins arrondis 17"/>
          <p:cNvSpPr/>
          <p:nvPr/>
        </p:nvSpPr>
        <p:spPr>
          <a:xfrm>
            <a:off x="323528" y="2060848"/>
            <a:ext cx="648072"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endParaRPr lang="fr-FR" sz="2000" b="1" dirty="0">
              <a:solidFill>
                <a:schemeClr val="bg1"/>
              </a:solidFill>
            </a:endParaRPr>
          </a:p>
        </p:txBody>
      </p:sp>
      <p:sp>
        <p:nvSpPr>
          <p:cNvPr id="21" name="Arc 20"/>
          <p:cNvSpPr/>
          <p:nvPr/>
        </p:nvSpPr>
        <p:spPr>
          <a:xfrm rot="3995497" flipH="1">
            <a:off x="761057" y="1427064"/>
            <a:ext cx="925141" cy="933416"/>
          </a:xfrm>
          <a:prstGeom prst="arc">
            <a:avLst>
              <a:gd name="adj1" fmla="val 15902759"/>
              <a:gd name="adj2" fmla="val 1694465"/>
            </a:avLst>
          </a:prstGeom>
          <a:ln w="476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2" name="Rectangle 21"/>
          <p:cNvSpPr/>
          <p:nvPr/>
        </p:nvSpPr>
        <p:spPr>
          <a:xfrm>
            <a:off x="913893" y="1484784"/>
            <a:ext cx="607859" cy="369332"/>
          </a:xfrm>
          <a:prstGeom prst="rect">
            <a:avLst/>
          </a:prstGeom>
          <a:noFill/>
        </p:spPr>
        <p:txBody>
          <a:bodyPr wrap="none">
            <a:spAutoFit/>
          </a:bodyPr>
          <a:lstStyle/>
          <a:p>
            <a:pPr algn="ctr"/>
            <a:r>
              <a:rPr lang="ar-DZ" b="1" dirty="0">
                <a:solidFill>
                  <a:schemeClr val="bg1"/>
                </a:solidFill>
              </a:rPr>
              <a:t>120</a:t>
            </a:r>
            <a:r>
              <a:rPr lang="fr-FR" b="1" baseline="30000" dirty="0">
                <a:solidFill>
                  <a:schemeClr val="bg1"/>
                </a:solidFill>
              </a:rPr>
              <a:t>0</a:t>
            </a:r>
            <a:endParaRPr lang="fr-FR" dirty="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122413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a:t>
            </a:r>
            <a:r>
              <a:rPr lang="ar-DZ" sz="2800" b="1" dirty="0" err="1">
                <a:solidFill>
                  <a:schemeClr val="bg1"/>
                </a:solidFill>
              </a:rPr>
              <a:t>الادماجية </a:t>
            </a:r>
            <a:r>
              <a:rPr lang="ar-DZ" sz="2800" b="1" dirty="0">
                <a:solidFill>
                  <a:schemeClr val="bg1"/>
                </a:solidFill>
              </a:rPr>
              <a:t>(8 نقاط</a:t>
            </a:r>
            <a:r>
              <a:rPr lang="ar-DZ" sz="2800" b="1" dirty="0" err="1">
                <a:solidFill>
                  <a:schemeClr val="bg1"/>
                </a:solidFill>
              </a:rPr>
              <a:t>)</a:t>
            </a:r>
            <a:r>
              <a:rPr lang="ar-DZ" sz="2800" b="1" dirty="0">
                <a:solidFill>
                  <a:schemeClr val="bg1"/>
                </a:solidFill>
              </a:rPr>
              <a:t> </a:t>
            </a:r>
            <a:endParaRPr lang="fr-FR" sz="4000" b="1" dirty="0">
              <a:solidFill>
                <a:schemeClr val="bg1"/>
              </a:solidFill>
            </a:endParaRPr>
          </a:p>
        </p:txBody>
      </p:sp>
      <p:sp>
        <p:nvSpPr>
          <p:cNvPr id="4" name="Rectangle à coins arrondis 3"/>
          <p:cNvSpPr/>
          <p:nvPr/>
        </p:nvSpPr>
        <p:spPr>
          <a:xfrm>
            <a:off x="0" y="1124744"/>
            <a:ext cx="9144000" cy="573325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عندما زار سليمان  بيت عمه في القرية وجد عمه </a:t>
            </a:r>
          </a:p>
          <a:p>
            <a:pPr algn="r"/>
            <a:r>
              <a:rPr lang="ar-DZ" sz="2400" b="1" dirty="0">
                <a:solidFill>
                  <a:schemeClr val="bg1"/>
                </a:solidFill>
              </a:rPr>
              <a:t>يريد تثبيت مصباح  جديد بعد فساد المصباح </a:t>
            </a:r>
          </a:p>
          <a:p>
            <a:pPr algn="r"/>
            <a:r>
              <a:rPr lang="ar-DZ" sz="2400" b="1" dirty="0">
                <a:solidFill>
                  <a:schemeClr val="bg1"/>
                </a:solidFill>
              </a:rPr>
              <a:t>السابق في </a:t>
            </a:r>
            <a:r>
              <a:rPr lang="ar-DZ" sz="2400" b="1" dirty="0" err="1">
                <a:solidFill>
                  <a:schemeClr val="bg1"/>
                </a:solidFill>
              </a:rPr>
              <a:t>المطبخ </a:t>
            </a:r>
            <a:r>
              <a:rPr lang="ar-DZ" sz="2400" b="1" dirty="0">
                <a:solidFill>
                  <a:schemeClr val="bg1"/>
                </a:solidFill>
              </a:rPr>
              <a:t>(وثيقة 1) ولكنه لما لمس </a:t>
            </a:r>
          </a:p>
          <a:p>
            <a:pPr algn="r"/>
            <a:r>
              <a:rPr lang="ar-DZ" sz="2400" b="1" dirty="0">
                <a:solidFill>
                  <a:schemeClr val="bg1"/>
                </a:solidFill>
              </a:rPr>
              <a:t>احد </a:t>
            </a:r>
            <a:r>
              <a:rPr lang="ar-DZ" sz="2400" b="1" dirty="0" err="1">
                <a:solidFill>
                  <a:schemeClr val="bg1"/>
                </a:solidFill>
              </a:rPr>
              <a:t>النواقل</a:t>
            </a:r>
            <a:r>
              <a:rPr lang="ar-DZ" sz="2400" b="1" dirty="0">
                <a:solidFill>
                  <a:schemeClr val="bg1"/>
                </a:solidFill>
              </a:rPr>
              <a:t> الموصول </a:t>
            </a:r>
            <a:r>
              <a:rPr lang="ar-DZ" sz="2400" b="1" dirty="0" err="1">
                <a:solidFill>
                  <a:schemeClr val="bg1"/>
                </a:solidFill>
              </a:rPr>
              <a:t>بها</a:t>
            </a:r>
            <a:r>
              <a:rPr lang="ar-DZ" sz="2400" b="1" dirty="0">
                <a:solidFill>
                  <a:schemeClr val="bg1"/>
                </a:solidFill>
              </a:rPr>
              <a:t> المصباح اصيب </a:t>
            </a:r>
          </a:p>
          <a:p>
            <a:pPr algn="r"/>
            <a:r>
              <a:rPr lang="ar-DZ" sz="2400" b="1" dirty="0">
                <a:solidFill>
                  <a:schemeClr val="bg1"/>
                </a:solidFill>
              </a:rPr>
              <a:t>بصدمة كهربائية فقال هناك مشكل في شدة التيار </a:t>
            </a:r>
          </a:p>
          <a:p>
            <a:pPr algn="r"/>
            <a:r>
              <a:rPr lang="ar-DZ" sz="2400" b="1" dirty="0">
                <a:solidFill>
                  <a:schemeClr val="bg1"/>
                </a:solidFill>
              </a:rPr>
              <a:t>الكهربائي سأستعمل جهاز معين لقياسها </a:t>
            </a:r>
          </a:p>
          <a:p>
            <a:pPr algn="r"/>
            <a:r>
              <a:rPr lang="ar-DZ" sz="2400" b="1" dirty="0">
                <a:solidFill>
                  <a:schemeClr val="bg1"/>
                </a:solidFill>
              </a:rPr>
              <a:t>1-</a:t>
            </a:r>
            <a:r>
              <a:rPr lang="ar-DZ" sz="2400" b="1" dirty="0" err="1">
                <a:solidFill>
                  <a:schemeClr val="bg1"/>
                </a:solidFill>
              </a:rPr>
              <a:t>برايك</a:t>
            </a:r>
            <a:r>
              <a:rPr lang="ar-DZ" sz="2400" b="1" dirty="0">
                <a:solidFill>
                  <a:schemeClr val="bg1"/>
                </a:solidFill>
              </a:rPr>
              <a:t> </a:t>
            </a:r>
            <a:r>
              <a:rPr lang="ar-DZ" sz="2400" b="1" dirty="0" err="1">
                <a:solidFill>
                  <a:schemeClr val="bg1"/>
                </a:solidFill>
              </a:rPr>
              <a:t>ماهو</a:t>
            </a:r>
            <a:r>
              <a:rPr lang="ar-DZ" sz="2400" b="1" dirty="0">
                <a:solidFill>
                  <a:schemeClr val="bg1"/>
                </a:solidFill>
              </a:rPr>
              <a:t> سبب اصابة العم  بصدمة</a:t>
            </a:r>
          </a:p>
          <a:p>
            <a:pPr algn="r"/>
            <a:r>
              <a:rPr lang="ar-DZ" sz="2400" b="1" dirty="0">
                <a:solidFill>
                  <a:schemeClr val="bg1"/>
                </a:solidFill>
              </a:rPr>
              <a:t> </a:t>
            </a:r>
            <a:r>
              <a:rPr lang="ar-DZ" sz="2400" b="1" dirty="0" err="1">
                <a:solidFill>
                  <a:schemeClr val="bg1"/>
                </a:solidFill>
              </a:rPr>
              <a:t>كهربائية ؟</a:t>
            </a:r>
            <a:endParaRPr lang="ar-DZ" sz="2400" b="1" dirty="0">
              <a:solidFill>
                <a:schemeClr val="bg1"/>
              </a:solidFill>
            </a:endParaRPr>
          </a:p>
          <a:p>
            <a:pPr algn="r"/>
            <a:r>
              <a:rPr lang="ar-DZ" sz="2400" b="1" dirty="0">
                <a:solidFill>
                  <a:schemeClr val="bg1"/>
                </a:solidFill>
              </a:rPr>
              <a:t>2-</a:t>
            </a:r>
            <a:r>
              <a:rPr lang="ar-DZ" sz="2400" b="1" dirty="0" err="1">
                <a:solidFill>
                  <a:schemeClr val="bg1"/>
                </a:solidFill>
              </a:rPr>
              <a:t>ماهو</a:t>
            </a:r>
            <a:r>
              <a:rPr lang="ar-DZ" sz="2400" b="1" dirty="0">
                <a:solidFill>
                  <a:schemeClr val="bg1"/>
                </a:solidFill>
              </a:rPr>
              <a:t> الجهاز المناسب لقياس شدة التيار الكهربائي ولماذا في هذه </a:t>
            </a:r>
            <a:r>
              <a:rPr lang="ar-DZ" sz="2400" b="1" dirty="0" err="1">
                <a:solidFill>
                  <a:schemeClr val="bg1"/>
                </a:solidFill>
              </a:rPr>
              <a:t>الحالة ؟</a:t>
            </a:r>
            <a:endParaRPr lang="ar-DZ" sz="2400" b="1" dirty="0">
              <a:solidFill>
                <a:schemeClr val="bg1"/>
              </a:solidFill>
            </a:endParaRPr>
          </a:p>
          <a:p>
            <a:pPr algn="r"/>
            <a:r>
              <a:rPr lang="ar-DZ" sz="2400" b="1" dirty="0">
                <a:solidFill>
                  <a:schemeClr val="bg1"/>
                </a:solidFill>
              </a:rPr>
              <a:t>3-اقترح حلا لتجنب هذه المشكلة مرة اخرى</a:t>
            </a:r>
          </a:p>
          <a:p>
            <a:pPr algn="r"/>
            <a:r>
              <a:rPr lang="ar-DZ" sz="2400" b="1" dirty="0">
                <a:solidFill>
                  <a:schemeClr val="bg1"/>
                </a:solidFill>
              </a:rPr>
              <a:t> ثم حدد الاخطاء الاخرى في التركيب حسب المخطط </a:t>
            </a:r>
          </a:p>
          <a:p>
            <a:pPr algn="r"/>
            <a:r>
              <a:rPr lang="ar-DZ" sz="2400" b="1" dirty="0">
                <a:solidFill>
                  <a:schemeClr val="bg1"/>
                </a:solidFill>
              </a:rPr>
              <a:t>المطبخ  مبررا اجابتك</a:t>
            </a:r>
          </a:p>
          <a:p>
            <a:pPr algn="r"/>
            <a:r>
              <a:rPr lang="ar-DZ" sz="2400" b="1" dirty="0">
                <a:solidFill>
                  <a:schemeClr val="bg1"/>
                </a:solidFill>
              </a:rPr>
              <a:t>ثم اعد رسمه بشكل صحيح    </a:t>
            </a:r>
          </a:p>
          <a:p>
            <a:pPr algn="r"/>
            <a:r>
              <a:rPr lang="ar-DZ" sz="2400" b="1" dirty="0">
                <a:solidFill>
                  <a:schemeClr val="bg1"/>
                </a:solidFill>
              </a:rPr>
              <a:t> </a:t>
            </a:r>
          </a:p>
          <a:p>
            <a:pPr algn="r"/>
            <a:endParaRPr lang="ar-DZ" sz="2400" b="1" dirty="0">
              <a:solidFill>
                <a:schemeClr val="bg1"/>
              </a:solidFill>
            </a:endParaRPr>
          </a:p>
        </p:txBody>
      </p:sp>
      <p:cxnSp>
        <p:nvCxnSpPr>
          <p:cNvPr id="8" name="Connecteur droit 7"/>
          <p:cNvCxnSpPr/>
          <p:nvPr/>
        </p:nvCxnSpPr>
        <p:spPr>
          <a:xfrm>
            <a:off x="2483768" y="2780928"/>
            <a:ext cx="57606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2627784" y="3140968"/>
            <a:ext cx="432048"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flipV="1">
            <a:off x="2627784" y="3140968"/>
            <a:ext cx="8384" cy="936104"/>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1547664" y="3573016"/>
            <a:ext cx="432048"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flipH="1">
            <a:off x="2483768" y="2780928"/>
            <a:ext cx="8384" cy="1008112"/>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a:xfrm>
            <a:off x="2051720" y="4077072"/>
            <a:ext cx="57606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Image 15" descr="2016-01-16_16-23-43.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987824" y="1844824"/>
            <a:ext cx="1152128" cy="2160240"/>
          </a:xfrm>
          <a:prstGeom prst="rect">
            <a:avLst/>
          </a:prstGeom>
        </p:spPr>
      </p:pic>
      <p:pic>
        <p:nvPicPr>
          <p:cNvPr id="19"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1340768"/>
            <a:ext cx="2376264" cy="2304256"/>
          </a:xfrm>
          <a:prstGeom prst="rect">
            <a:avLst/>
          </a:prstGeom>
          <a:noFill/>
          <a:ln w="9525">
            <a:noFill/>
            <a:miter lim="800000"/>
            <a:headEnd/>
            <a:tailEnd/>
          </a:ln>
        </p:spPr>
      </p:pic>
      <p:cxnSp>
        <p:nvCxnSpPr>
          <p:cNvPr id="27" name="Connecteur droit 26"/>
          <p:cNvCxnSpPr/>
          <p:nvPr/>
        </p:nvCxnSpPr>
        <p:spPr>
          <a:xfrm flipV="1">
            <a:off x="2051720" y="3356992"/>
            <a:ext cx="8384" cy="72008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a:xfrm flipV="1">
            <a:off x="2195736" y="3356992"/>
            <a:ext cx="8384" cy="43204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2195736" y="3789040"/>
            <a:ext cx="288032"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0" y="764704"/>
            <a:ext cx="914400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1-الافراد الكيميائية </a:t>
            </a:r>
            <a:r>
              <a:rPr lang="ar-DZ" sz="2400" b="1" dirty="0" err="1">
                <a:solidFill>
                  <a:schemeClr val="bg1"/>
                </a:solidFill>
              </a:rPr>
              <a:t>المسؤولة</a:t>
            </a:r>
            <a:r>
              <a:rPr lang="ar-DZ" sz="2400" b="1" dirty="0">
                <a:solidFill>
                  <a:schemeClr val="bg1"/>
                </a:solidFill>
              </a:rPr>
              <a:t> عن </a:t>
            </a:r>
          </a:p>
          <a:p>
            <a:pPr algn="r"/>
            <a:r>
              <a:rPr lang="ar-DZ" sz="2400" b="1" dirty="0">
                <a:solidFill>
                  <a:schemeClr val="bg1"/>
                </a:solidFill>
              </a:rPr>
              <a:t>اللون الازرق  هي شاردة النحاس </a:t>
            </a:r>
          </a:p>
          <a:p>
            <a:pPr algn="r"/>
            <a:r>
              <a:rPr lang="ar-DZ" sz="2400" b="1" dirty="0">
                <a:solidFill>
                  <a:schemeClr val="bg1"/>
                </a:solidFill>
              </a:rPr>
              <a:t>الطبقة الحمراء  هي ذرة النحاس </a:t>
            </a:r>
          </a:p>
          <a:p>
            <a:pPr algn="r"/>
            <a:r>
              <a:rPr lang="ar-DZ" sz="2400" b="1" dirty="0">
                <a:solidFill>
                  <a:schemeClr val="bg1"/>
                </a:solidFill>
              </a:rPr>
              <a:t>اللون الابيض هو شاردة الزنك</a:t>
            </a:r>
          </a:p>
          <a:p>
            <a:pPr algn="r"/>
            <a:r>
              <a:rPr lang="ar-DZ" sz="2400" b="1" dirty="0">
                <a:solidFill>
                  <a:schemeClr val="bg1"/>
                </a:solidFill>
              </a:rPr>
              <a:t>2-معادلة التفاعل بالصيغة </a:t>
            </a:r>
            <a:r>
              <a:rPr lang="ar-DZ" sz="2400" b="1" dirty="0" err="1">
                <a:solidFill>
                  <a:schemeClr val="bg1"/>
                </a:solidFill>
              </a:rPr>
              <a:t>الشاردية</a:t>
            </a:r>
            <a:endParaRPr lang="ar-DZ" sz="2400" b="1" dirty="0">
              <a:solidFill>
                <a:schemeClr val="bg1"/>
              </a:solidFill>
            </a:endParaRPr>
          </a:p>
          <a:p>
            <a:r>
              <a:rPr lang="fr-FR" sz="2400" b="1" dirty="0">
                <a:solidFill>
                  <a:schemeClr val="bg1"/>
                </a:solidFill>
              </a:rPr>
              <a:t>Zn(S)+</a:t>
            </a:r>
            <a:r>
              <a:rPr lang="ar-DZ" sz="2400" b="1" dirty="0">
                <a:solidFill>
                  <a:schemeClr val="bg1"/>
                </a:solidFill>
              </a:rPr>
              <a:t> </a:t>
            </a:r>
            <a:r>
              <a:rPr lang="fr-FR" sz="2400" b="1" dirty="0">
                <a:solidFill>
                  <a:schemeClr val="bg1"/>
                </a:solidFill>
              </a:rPr>
              <a:t>(Cu</a:t>
            </a:r>
            <a:r>
              <a:rPr lang="fr-FR" sz="2400" b="1" baseline="30000" dirty="0">
                <a:solidFill>
                  <a:schemeClr val="bg1"/>
                </a:solidFill>
              </a:rPr>
              <a:t>2+</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(Zn</a:t>
            </a:r>
            <a:r>
              <a:rPr lang="fr-FR" sz="2400" b="1" baseline="30000" dirty="0">
                <a:solidFill>
                  <a:schemeClr val="bg1"/>
                </a:solidFill>
              </a:rPr>
              <a:t>2+</a:t>
            </a:r>
            <a:r>
              <a:rPr lang="fr-FR" sz="2400" b="1" dirty="0">
                <a:solidFill>
                  <a:schemeClr val="bg1"/>
                </a:solidFill>
              </a:rPr>
              <a:t>+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Cu</a:t>
            </a:r>
            <a:r>
              <a:rPr lang="fr-FR" sz="2400" b="1" baseline="-25000" dirty="0">
                <a:solidFill>
                  <a:schemeClr val="bg1"/>
                </a:solidFill>
              </a:rPr>
              <a:t> </a:t>
            </a:r>
            <a:r>
              <a:rPr lang="fr-FR" sz="2400" b="1" dirty="0">
                <a:solidFill>
                  <a:schemeClr val="bg1"/>
                </a:solidFill>
              </a:rPr>
              <a:t>(s)</a:t>
            </a:r>
          </a:p>
          <a:p>
            <a:pPr algn="r"/>
            <a:r>
              <a:rPr lang="ar-DZ" sz="2400" b="1" dirty="0">
                <a:solidFill>
                  <a:schemeClr val="bg1"/>
                </a:solidFill>
              </a:rPr>
              <a:t>معادلة التفاعل بالصيغة الاحصائية  </a:t>
            </a:r>
          </a:p>
          <a:p>
            <a:r>
              <a:rPr lang="fr-FR" sz="2400" b="1" dirty="0">
                <a:solidFill>
                  <a:schemeClr val="bg1"/>
                </a:solidFill>
              </a:rPr>
              <a:t>Zn(S)+</a:t>
            </a:r>
            <a:r>
              <a:rPr lang="ar-DZ" sz="2400" b="1" dirty="0">
                <a:solidFill>
                  <a:schemeClr val="bg1"/>
                </a:solidFill>
              </a:rPr>
              <a:t> </a:t>
            </a:r>
            <a:r>
              <a:rPr lang="fr-FR" sz="2400" b="1" dirty="0">
                <a:solidFill>
                  <a:schemeClr val="bg1"/>
                </a:solidFill>
              </a:rPr>
              <a:t>CuSO</a:t>
            </a:r>
            <a:r>
              <a:rPr lang="fr-FR" sz="2400" b="1" baseline="-25000" dirty="0">
                <a:solidFill>
                  <a:schemeClr val="bg1"/>
                </a:solidFill>
              </a:rPr>
              <a:t>4</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ZnSO</a:t>
            </a:r>
            <a:r>
              <a:rPr lang="fr-FR" sz="2400" b="1" baseline="-25000" dirty="0">
                <a:solidFill>
                  <a:schemeClr val="bg1"/>
                </a:solidFill>
              </a:rPr>
              <a:t>4</a:t>
            </a:r>
            <a:r>
              <a:rPr lang="fr-FR" sz="2400" b="1" dirty="0">
                <a:solidFill>
                  <a:schemeClr val="bg1"/>
                </a:solidFill>
              </a:rPr>
              <a:t> (</a:t>
            </a:r>
            <a:r>
              <a:rPr lang="fr-FR" sz="2400" b="1" dirty="0" err="1">
                <a:solidFill>
                  <a:schemeClr val="bg1"/>
                </a:solidFill>
              </a:rPr>
              <a:t>aq</a:t>
            </a:r>
            <a:r>
              <a:rPr lang="fr-FR" sz="2400" b="1" dirty="0">
                <a:solidFill>
                  <a:schemeClr val="bg1"/>
                </a:solidFill>
              </a:rPr>
              <a:t>) + Cu(s)  </a:t>
            </a:r>
            <a:endParaRPr lang="ar-DZ" sz="2400" b="1" dirty="0">
              <a:solidFill>
                <a:schemeClr val="bg1"/>
              </a:solidFill>
            </a:endParaRPr>
          </a:p>
          <a:p>
            <a:pPr algn="r"/>
            <a:r>
              <a:rPr lang="ar-DZ" sz="2400" b="1" dirty="0">
                <a:solidFill>
                  <a:schemeClr val="bg1"/>
                </a:solidFill>
              </a:rPr>
              <a:t>3- يمكن الحصول على محلول كبريتات النحاس </a:t>
            </a:r>
            <a:r>
              <a:rPr lang="ar-DZ" sz="2400" b="1" dirty="0" err="1">
                <a:solidFill>
                  <a:schemeClr val="bg1"/>
                </a:solidFill>
              </a:rPr>
              <a:t>باجراء</a:t>
            </a:r>
            <a:r>
              <a:rPr lang="ar-DZ" sz="2400" b="1" dirty="0">
                <a:solidFill>
                  <a:schemeClr val="bg1"/>
                </a:solidFill>
              </a:rPr>
              <a:t> تفاعل بين محلول كبريتات الفضة و معدن  النحاس  حسب المعادلة الاتية </a:t>
            </a:r>
          </a:p>
          <a:p>
            <a:pPr algn="r"/>
            <a:r>
              <a:rPr lang="fr-FR" sz="2400" b="1" dirty="0">
                <a:solidFill>
                  <a:schemeClr val="bg1"/>
                </a:solidFill>
              </a:rPr>
              <a:t>Cu(S)+</a:t>
            </a:r>
            <a:r>
              <a:rPr lang="ar-DZ" sz="2400" b="1" dirty="0">
                <a:solidFill>
                  <a:schemeClr val="bg1"/>
                </a:solidFill>
              </a:rPr>
              <a:t> </a:t>
            </a:r>
            <a:r>
              <a:rPr lang="fr-FR" sz="2400" b="1" dirty="0">
                <a:solidFill>
                  <a:schemeClr val="bg1"/>
                </a:solidFill>
              </a:rPr>
              <a:t>(2Ag</a:t>
            </a:r>
            <a:r>
              <a:rPr lang="fr-FR" sz="2400" b="1" baseline="30000" dirty="0">
                <a:solidFill>
                  <a:schemeClr val="bg1"/>
                </a:solidFill>
              </a:rPr>
              <a:t>+</a:t>
            </a:r>
            <a:r>
              <a:rPr lang="en-US" sz="2400" b="1" dirty="0">
                <a:solidFill>
                  <a:schemeClr val="bg1"/>
                </a:solidFill>
              </a:rPr>
              <a:t>+</a:t>
            </a:r>
            <a:r>
              <a:rPr lang="fr-FR" sz="2400" b="1" dirty="0">
                <a:solidFill>
                  <a:schemeClr val="bg1"/>
                </a:solidFill>
              </a:rPr>
              <a:t>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a:t>
            </a:r>
            <a:r>
              <a:rPr lang="ar-DZ" sz="2400" b="1" dirty="0">
                <a:solidFill>
                  <a:schemeClr val="bg1"/>
                </a:solidFill>
              </a:rPr>
              <a:t>     </a:t>
            </a:r>
            <a:r>
              <a:rPr lang="fr-FR" sz="2400" b="1" dirty="0">
                <a:solidFill>
                  <a:schemeClr val="bg1"/>
                </a:solidFill>
              </a:rPr>
              <a:t>  (Cu</a:t>
            </a:r>
            <a:r>
              <a:rPr lang="fr-FR" sz="2400" b="1" baseline="30000" dirty="0">
                <a:solidFill>
                  <a:schemeClr val="bg1"/>
                </a:solidFill>
              </a:rPr>
              <a:t>2+</a:t>
            </a:r>
            <a:r>
              <a:rPr lang="fr-FR" sz="2400" b="1" dirty="0">
                <a:solidFill>
                  <a:schemeClr val="bg1"/>
                </a:solidFill>
              </a:rPr>
              <a:t>+ SO</a:t>
            </a:r>
            <a:r>
              <a:rPr lang="fr-FR" sz="2400" b="1" baseline="-25000" dirty="0">
                <a:solidFill>
                  <a:schemeClr val="bg1"/>
                </a:solidFill>
              </a:rPr>
              <a:t>4</a:t>
            </a:r>
            <a:r>
              <a:rPr lang="fr-FR" sz="2400" b="1" baseline="30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+ 2Ag</a:t>
            </a:r>
            <a:r>
              <a:rPr lang="fr-FR" sz="2400" b="1" baseline="-25000" dirty="0">
                <a:solidFill>
                  <a:schemeClr val="bg1"/>
                </a:solidFill>
              </a:rPr>
              <a:t> </a:t>
            </a:r>
            <a:r>
              <a:rPr lang="fr-FR" sz="2400" b="1" dirty="0">
                <a:solidFill>
                  <a:schemeClr val="bg1"/>
                </a:solidFill>
              </a:rPr>
              <a:t>(s)</a:t>
            </a:r>
          </a:p>
          <a:p>
            <a:pPr algn="r"/>
            <a:r>
              <a:rPr lang="ar-DZ" sz="2400" b="1" dirty="0">
                <a:solidFill>
                  <a:schemeClr val="bg1"/>
                </a:solidFill>
              </a:rPr>
              <a:t> </a:t>
            </a:r>
          </a:p>
          <a:p>
            <a:pPr algn="r"/>
            <a:endParaRPr lang="ar-DZ" sz="2400" b="1" dirty="0">
              <a:solidFill>
                <a:schemeClr val="bg1"/>
              </a:solidFill>
            </a:endParaRPr>
          </a:p>
        </p:txBody>
      </p:sp>
      <p:sp>
        <p:nvSpPr>
          <p:cNvPr id="8" name="Rectangle à coins arrondis 7"/>
          <p:cNvSpPr/>
          <p:nvPr/>
        </p:nvSpPr>
        <p:spPr>
          <a:xfrm>
            <a:off x="1403648" y="0"/>
            <a:ext cx="6192688"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4000" b="1" dirty="0">
                <a:solidFill>
                  <a:schemeClr val="bg1"/>
                </a:solidFill>
              </a:rPr>
              <a:t>حل التمرين الاول </a:t>
            </a:r>
            <a:r>
              <a:rPr lang="ar-DZ" sz="2800" b="1" dirty="0">
                <a:solidFill>
                  <a:schemeClr val="bg1"/>
                </a:solidFill>
              </a:rPr>
              <a:t> </a:t>
            </a:r>
            <a:endParaRPr lang="fr-FR" sz="4000" b="1" dirty="0">
              <a:solidFill>
                <a:schemeClr val="bg1"/>
              </a:solidFill>
            </a:endParaRPr>
          </a:p>
        </p:txBody>
      </p:sp>
      <p:cxnSp>
        <p:nvCxnSpPr>
          <p:cNvPr id="9" name="Connecteur droit avec flèche 8"/>
          <p:cNvCxnSpPr/>
          <p:nvPr/>
        </p:nvCxnSpPr>
        <p:spPr>
          <a:xfrm>
            <a:off x="3851920" y="3501008"/>
            <a:ext cx="432048"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3779912" y="4221088"/>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4499992" y="537321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764704"/>
            <a:ext cx="925252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2400" b="1" dirty="0">
                <a:solidFill>
                  <a:schemeClr val="bg1"/>
                </a:solidFill>
              </a:rPr>
              <a:t>C</a:t>
            </a:r>
            <a:r>
              <a:rPr lang="ar-DZ" sz="2400" b="1" dirty="0">
                <a:solidFill>
                  <a:schemeClr val="bg1"/>
                </a:solidFill>
              </a:rPr>
              <a:t>1-القوى المؤثرة على الجسم </a:t>
            </a:r>
          </a:p>
          <a:p>
            <a:pPr algn="r"/>
            <a:r>
              <a:rPr lang="fr-FR" sz="2400" b="1" dirty="0">
                <a:solidFill>
                  <a:schemeClr val="bg1"/>
                </a:solidFill>
              </a:rPr>
              <a:t>Ff/C</a:t>
            </a:r>
            <a:r>
              <a:rPr lang="ar-DZ" sz="2400" b="1" dirty="0">
                <a:solidFill>
                  <a:schemeClr val="bg1"/>
                </a:solidFill>
              </a:rPr>
              <a:t>   - قوة </a:t>
            </a:r>
            <a:r>
              <a:rPr lang="ar-DZ" sz="2400" b="1" dirty="0" err="1">
                <a:solidFill>
                  <a:schemeClr val="bg1"/>
                </a:solidFill>
              </a:rPr>
              <a:t>تاثير</a:t>
            </a:r>
            <a:r>
              <a:rPr lang="ar-DZ" sz="2400" b="1" dirty="0">
                <a:solidFill>
                  <a:schemeClr val="bg1"/>
                </a:solidFill>
              </a:rPr>
              <a:t> الحبل و</a:t>
            </a:r>
            <a:r>
              <a:rPr lang="fr-FR" sz="2400" b="1" dirty="0">
                <a:solidFill>
                  <a:schemeClr val="bg1"/>
                </a:solidFill>
              </a:rPr>
              <a:t>p </a:t>
            </a:r>
            <a:r>
              <a:rPr lang="ar-DZ" sz="2400" b="1" dirty="0" err="1">
                <a:solidFill>
                  <a:schemeClr val="bg1"/>
                </a:solidFill>
              </a:rPr>
              <a:t>او  </a:t>
            </a:r>
            <a:r>
              <a:rPr lang="ar-DZ" sz="2400" b="1" dirty="0">
                <a:solidFill>
                  <a:schemeClr val="bg1"/>
                </a:solidFill>
              </a:rPr>
              <a:t>(الثقل</a:t>
            </a:r>
            <a:r>
              <a:rPr lang="ar-DZ" sz="2400" b="1" dirty="0" err="1">
                <a:solidFill>
                  <a:schemeClr val="bg1"/>
                </a:solidFill>
              </a:rPr>
              <a:t>)</a:t>
            </a:r>
            <a:r>
              <a:rPr lang="fr-FR" sz="2400" b="1" dirty="0">
                <a:solidFill>
                  <a:schemeClr val="bg1"/>
                </a:solidFill>
              </a:rPr>
              <a:t> FT/C</a:t>
            </a:r>
            <a:r>
              <a:rPr lang="ar-DZ" sz="2400" b="1" dirty="0">
                <a:solidFill>
                  <a:schemeClr val="bg1"/>
                </a:solidFill>
              </a:rPr>
              <a:t> قوة </a:t>
            </a:r>
            <a:r>
              <a:rPr lang="ar-DZ" sz="2400" b="1" dirty="0" err="1">
                <a:solidFill>
                  <a:schemeClr val="bg1"/>
                </a:solidFill>
              </a:rPr>
              <a:t>تاثير</a:t>
            </a:r>
            <a:r>
              <a:rPr lang="ar-DZ" sz="2400" b="1" dirty="0">
                <a:solidFill>
                  <a:schemeClr val="bg1"/>
                </a:solidFill>
              </a:rPr>
              <a:t> الارض</a:t>
            </a:r>
          </a:p>
          <a:p>
            <a:pPr algn="r"/>
            <a:r>
              <a:rPr lang="fr-FR" sz="2400" b="1" dirty="0">
                <a:solidFill>
                  <a:schemeClr val="bg1"/>
                </a:solidFill>
              </a:rPr>
              <a:t>P=</a:t>
            </a:r>
            <a:r>
              <a:rPr lang="fr-FR" sz="2400" b="1" dirty="0" err="1">
                <a:solidFill>
                  <a:schemeClr val="bg1"/>
                </a:solidFill>
              </a:rPr>
              <a:t>mxg</a:t>
            </a:r>
            <a:r>
              <a:rPr lang="fr-FR" sz="2400" b="1" dirty="0">
                <a:solidFill>
                  <a:schemeClr val="bg1"/>
                </a:solidFill>
              </a:rPr>
              <a:t>=</a:t>
            </a:r>
            <a:r>
              <a:rPr lang="ar-DZ" sz="2400" b="1" dirty="0">
                <a:solidFill>
                  <a:schemeClr val="bg1"/>
                </a:solidFill>
              </a:rPr>
              <a:t>   </a:t>
            </a:r>
            <a:r>
              <a:rPr lang="fr-FR" sz="2400" b="1" dirty="0">
                <a:solidFill>
                  <a:schemeClr val="bg1"/>
                </a:solidFill>
              </a:rPr>
              <a:t>2x10=20N</a:t>
            </a:r>
            <a:r>
              <a:rPr lang="ar-DZ" sz="2400" b="1" dirty="0">
                <a:solidFill>
                  <a:schemeClr val="bg1"/>
                </a:solidFill>
              </a:rPr>
              <a:t> لدينا </a:t>
            </a:r>
            <a:r>
              <a:rPr lang="fr-FR" sz="2400" b="1" dirty="0">
                <a:solidFill>
                  <a:schemeClr val="bg1"/>
                </a:solidFill>
              </a:rPr>
              <a:t>C</a:t>
            </a:r>
            <a:r>
              <a:rPr lang="ar-DZ" sz="2400" b="1" dirty="0">
                <a:solidFill>
                  <a:schemeClr val="bg1"/>
                </a:solidFill>
              </a:rPr>
              <a:t> 2-حساب ثقل الجسم </a:t>
            </a:r>
          </a:p>
          <a:p>
            <a:pPr algn="r"/>
            <a:r>
              <a:rPr lang="fr-FR" sz="2400" b="1" dirty="0">
                <a:solidFill>
                  <a:schemeClr val="dk1"/>
                </a:solidFill>
              </a:rPr>
              <a:t>f1 </a:t>
            </a:r>
            <a:r>
              <a:rPr lang="ar-DZ" sz="2400" b="1" dirty="0">
                <a:solidFill>
                  <a:schemeClr val="dk1"/>
                </a:solidFill>
              </a:rPr>
              <a:t>   و الحبل </a:t>
            </a:r>
            <a:r>
              <a:rPr lang="fr-FR" sz="2400" b="1" dirty="0">
                <a:solidFill>
                  <a:schemeClr val="dk1"/>
                </a:solidFill>
              </a:rPr>
              <a:t>A</a:t>
            </a:r>
            <a:r>
              <a:rPr lang="ar-DZ" sz="2400" b="1" dirty="0">
                <a:solidFill>
                  <a:schemeClr val="dk1"/>
                </a:solidFill>
              </a:rPr>
              <a:t> </a:t>
            </a:r>
            <a:r>
              <a:rPr lang="ar-DZ" sz="2400" b="1" dirty="0">
                <a:solidFill>
                  <a:schemeClr val="bg1"/>
                </a:solidFill>
              </a:rPr>
              <a:t>-تمثيل الفعلين المتبادلين </a:t>
            </a:r>
            <a:r>
              <a:rPr lang="ar-DZ" sz="2400" b="1" dirty="0">
                <a:solidFill>
                  <a:schemeClr val="dk1"/>
                </a:solidFill>
              </a:rPr>
              <a:t>بين الجسم</a:t>
            </a:r>
            <a:endParaRPr lang="fr-FR" sz="2400" b="1" dirty="0">
              <a:solidFill>
                <a:schemeClr val="bg1"/>
              </a:solidFill>
            </a:endParaRPr>
          </a:p>
          <a:p>
            <a:pPr algn="r">
              <a:defRPr/>
            </a:pPr>
            <a:r>
              <a:rPr lang="fr-FR" sz="2400" b="1" dirty="0">
                <a:solidFill>
                  <a:schemeClr val="bg1"/>
                </a:solidFill>
              </a:rPr>
              <a:t>1</a:t>
            </a:r>
            <a:r>
              <a:rPr lang="ar-DZ" sz="2400" b="1" dirty="0">
                <a:solidFill>
                  <a:schemeClr val="bg1"/>
                </a:solidFill>
              </a:rPr>
              <a:t>0</a:t>
            </a:r>
            <a:r>
              <a:rPr lang="fr-FR" sz="2400" b="1" dirty="0">
                <a:solidFill>
                  <a:schemeClr val="bg1"/>
                </a:solidFill>
              </a:rPr>
              <a:t>N </a:t>
            </a:r>
            <a:r>
              <a:rPr lang="ar-DZ" sz="2400" b="1" dirty="0">
                <a:solidFill>
                  <a:schemeClr val="bg1"/>
                </a:solidFill>
              </a:rPr>
              <a:t>       </a:t>
            </a:r>
            <a:r>
              <a:rPr lang="fr-FR" sz="2400" b="1" dirty="0">
                <a:solidFill>
                  <a:schemeClr val="bg1"/>
                </a:solidFill>
              </a:rPr>
              <a:t>  1cm</a:t>
            </a:r>
            <a:r>
              <a:rPr lang="ar-DZ" sz="2400" b="1" dirty="0">
                <a:solidFill>
                  <a:schemeClr val="bg1"/>
                </a:solidFill>
              </a:rPr>
              <a:t> من السلم كل   </a:t>
            </a:r>
          </a:p>
          <a:p>
            <a:pPr algn="r">
              <a:defRPr/>
            </a:pPr>
            <a:r>
              <a:rPr lang="fr-FR" sz="2400" b="1" dirty="0">
                <a:solidFill>
                  <a:schemeClr val="bg1"/>
                </a:solidFill>
              </a:rPr>
              <a:t>X=20/10=2 cm</a:t>
            </a:r>
            <a:r>
              <a:rPr lang="ar-DZ" sz="2400" b="1" dirty="0">
                <a:solidFill>
                  <a:schemeClr val="bg1"/>
                </a:solidFill>
              </a:rPr>
              <a:t>   ومنه  </a:t>
            </a:r>
            <a:r>
              <a:rPr lang="fr-FR" sz="2400" b="1" dirty="0">
                <a:solidFill>
                  <a:schemeClr val="bg1"/>
                </a:solidFill>
              </a:rPr>
              <a:t>20N </a:t>
            </a:r>
            <a:r>
              <a:rPr lang="ar-DZ" sz="2400" b="1" dirty="0">
                <a:solidFill>
                  <a:schemeClr val="bg1"/>
                </a:solidFill>
              </a:rPr>
              <a:t>      </a:t>
            </a:r>
            <a:r>
              <a:rPr lang="fr-FR" sz="2400" b="1" dirty="0">
                <a:solidFill>
                  <a:schemeClr val="bg1"/>
                </a:solidFill>
              </a:rPr>
              <a:t>  X</a:t>
            </a:r>
            <a:r>
              <a:rPr lang="ar-DZ" sz="2400" b="1" dirty="0">
                <a:solidFill>
                  <a:schemeClr val="bg1"/>
                </a:solidFill>
              </a:rPr>
              <a:t> معناه  كل </a:t>
            </a:r>
          </a:p>
          <a:p>
            <a:pPr algn="r">
              <a:defRPr/>
            </a:pPr>
            <a:r>
              <a:rPr lang="fr-FR" sz="2400" b="1" dirty="0">
                <a:solidFill>
                  <a:schemeClr val="bg1"/>
                </a:solidFill>
              </a:rPr>
              <a:t>Ff/S</a:t>
            </a:r>
            <a:r>
              <a:rPr lang="ar-DZ" sz="2400" b="1" dirty="0">
                <a:solidFill>
                  <a:schemeClr val="bg1"/>
                </a:solidFill>
              </a:rPr>
              <a:t>  </a:t>
            </a:r>
            <a:r>
              <a:rPr lang="fr-FR" sz="2400" b="1" dirty="0">
                <a:solidFill>
                  <a:schemeClr val="bg1"/>
                </a:solidFill>
              </a:rPr>
              <a:t>+</a:t>
            </a:r>
            <a:r>
              <a:rPr lang="ar-DZ" sz="2400" b="1" dirty="0">
                <a:solidFill>
                  <a:schemeClr val="bg1"/>
                </a:solidFill>
              </a:rPr>
              <a:t>  </a:t>
            </a:r>
            <a:r>
              <a:rPr lang="fr-FR" sz="2400" b="1" dirty="0">
                <a:solidFill>
                  <a:schemeClr val="bg1"/>
                </a:solidFill>
              </a:rPr>
              <a:t>F</a:t>
            </a:r>
            <a:r>
              <a:rPr lang="fr-FR" sz="2000" b="1" dirty="0">
                <a:solidFill>
                  <a:schemeClr val="bg1"/>
                </a:solidFill>
              </a:rPr>
              <a:t>D1/S</a:t>
            </a:r>
            <a:r>
              <a:rPr lang="fr-FR" sz="2400" b="1" dirty="0">
                <a:solidFill>
                  <a:schemeClr val="bg1"/>
                </a:solidFill>
              </a:rPr>
              <a:t>+F</a:t>
            </a:r>
            <a:r>
              <a:rPr lang="fr-FR" sz="2000" b="1" dirty="0">
                <a:solidFill>
                  <a:schemeClr val="bg1"/>
                </a:solidFill>
              </a:rPr>
              <a:t>D2/S</a:t>
            </a:r>
            <a:r>
              <a:rPr lang="fr-FR" sz="2400" b="1" dirty="0">
                <a:solidFill>
                  <a:schemeClr val="bg1"/>
                </a:solidFill>
              </a:rPr>
              <a:t>=0</a:t>
            </a:r>
            <a:r>
              <a:rPr lang="ar-DZ" sz="2400" b="1" dirty="0">
                <a:solidFill>
                  <a:schemeClr val="bg1"/>
                </a:solidFill>
              </a:rPr>
              <a:t> 3-شرط التوازن    </a:t>
            </a:r>
          </a:p>
          <a:p>
            <a:pPr algn="r">
              <a:defRPr/>
            </a:pPr>
            <a:r>
              <a:rPr lang="ar-DZ" sz="2400" b="1" dirty="0">
                <a:solidFill>
                  <a:schemeClr val="bg1"/>
                </a:solidFill>
              </a:rPr>
              <a:t>بتطبيق  محصلة قوتي </a:t>
            </a:r>
            <a:r>
              <a:rPr lang="ar-DZ" sz="2400" b="1" dirty="0" err="1">
                <a:solidFill>
                  <a:schemeClr val="bg1"/>
                </a:solidFill>
              </a:rPr>
              <a:t>الربيعتين</a:t>
            </a:r>
            <a:r>
              <a:rPr lang="ar-DZ" sz="2400" b="1" dirty="0">
                <a:solidFill>
                  <a:schemeClr val="bg1"/>
                </a:solidFill>
              </a:rPr>
              <a:t>  على ورق </a:t>
            </a:r>
            <a:r>
              <a:rPr lang="ar-DZ" sz="2400" b="1" dirty="0" err="1">
                <a:solidFill>
                  <a:schemeClr val="bg1"/>
                </a:solidFill>
              </a:rPr>
              <a:t>ملمتري</a:t>
            </a:r>
            <a:endParaRPr lang="ar-DZ" sz="2400" b="1" dirty="0">
              <a:solidFill>
                <a:schemeClr val="bg1"/>
              </a:solidFill>
            </a:endParaRPr>
          </a:p>
          <a:p>
            <a:pPr algn="r">
              <a:defRPr/>
            </a:pPr>
            <a:r>
              <a:rPr lang="fr-FR" sz="2400" b="1" dirty="0">
                <a:solidFill>
                  <a:schemeClr val="bg1"/>
                </a:solidFill>
              </a:rPr>
              <a:t>F=F</a:t>
            </a:r>
            <a:r>
              <a:rPr lang="fr-FR" sz="2000" b="1" dirty="0">
                <a:solidFill>
                  <a:schemeClr val="bg1"/>
                </a:solidFill>
              </a:rPr>
              <a:t>D1/S</a:t>
            </a:r>
            <a:r>
              <a:rPr lang="fr-FR" sz="2400" b="1" dirty="0">
                <a:solidFill>
                  <a:schemeClr val="bg1"/>
                </a:solidFill>
              </a:rPr>
              <a:t>+F</a:t>
            </a:r>
            <a:r>
              <a:rPr lang="fr-FR" sz="2000" b="1" dirty="0">
                <a:solidFill>
                  <a:schemeClr val="bg1"/>
                </a:solidFill>
              </a:rPr>
              <a:t>D2/S</a:t>
            </a:r>
            <a:endParaRPr lang="ar-DZ" sz="2400" b="1" dirty="0">
              <a:solidFill>
                <a:schemeClr val="bg1"/>
              </a:solidFill>
            </a:endParaRPr>
          </a:p>
          <a:p>
            <a:pPr algn="r">
              <a:defRPr/>
            </a:pPr>
            <a:r>
              <a:rPr lang="fr-FR" sz="2400" b="1" dirty="0">
                <a:solidFill>
                  <a:schemeClr val="bg1"/>
                </a:solidFill>
              </a:rPr>
              <a:t>Ff/s=-F</a:t>
            </a:r>
            <a:r>
              <a:rPr lang="ar-DZ" sz="2400" b="1" dirty="0">
                <a:solidFill>
                  <a:schemeClr val="bg1"/>
                </a:solidFill>
              </a:rPr>
              <a:t> ومنه  </a:t>
            </a:r>
          </a:p>
          <a:p>
            <a:pPr algn="r">
              <a:defRPr/>
            </a:pPr>
            <a:r>
              <a:rPr lang="ar-DZ" sz="2400" b="1" dirty="0">
                <a:solidFill>
                  <a:schemeClr val="bg1"/>
                </a:solidFill>
              </a:rPr>
              <a:t> اذن طول الاشعة محقق ومنه شرط التوازن محقق  </a:t>
            </a:r>
          </a:p>
          <a:p>
            <a:pPr algn="r">
              <a:defRPr/>
            </a:pPr>
            <a:r>
              <a:rPr lang="ar-DZ" sz="2400" b="1" dirty="0">
                <a:solidFill>
                  <a:schemeClr val="bg1"/>
                </a:solidFill>
              </a:rPr>
              <a:t>        </a:t>
            </a:r>
          </a:p>
          <a:p>
            <a:pPr algn="r">
              <a:defRPr/>
            </a:pPr>
            <a:r>
              <a:rPr lang="ar-DZ" sz="2400" b="1" dirty="0">
                <a:solidFill>
                  <a:schemeClr val="bg1"/>
                </a:solidFill>
              </a:rPr>
              <a:t>     </a:t>
            </a:r>
            <a:endParaRPr lang="fr-FR" sz="2400" b="1" dirty="0">
              <a:solidFill>
                <a:schemeClr val="bg1"/>
              </a:solidFill>
            </a:endParaRPr>
          </a:p>
          <a:p>
            <a:pPr algn="r">
              <a:defRPr/>
            </a:pPr>
            <a:r>
              <a:rPr lang="ar-DZ" sz="2400" b="1" dirty="0">
                <a:solidFill>
                  <a:schemeClr val="bg1"/>
                </a:solidFill>
              </a:rPr>
              <a:t> </a:t>
            </a:r>
          </a:p>
          <a:p>
            <a:pPr algn="r">
              <a:defRPr/>
            </a:pPr>
            <a:endParaRPr lang="ar-DZ" sz="2400" b="1" dirty="0">
              <a:solidFill>
                <a:schemeClr val="bg1"/>
              </a:solidFill>
            </a:endParaRPr>
          </a:p>
          <a:p>
            <a:pPr algn="r">
              <a:defRPr/>
            </a:pPr>
            <a:endParaRPr lang="fr-FR" sz="2400" b="1" dirty="0">
              <a:solidFill>
                <a:schemeClr val="bg1"/>
              </a:solidFill>
            </a:endParaRPr>
          </a:p>
        </p:txBody>
      </p:sp>
      <p:sp>
        <p:nvSpPr>
          <p:cNvPr id="5" name="Rectangle à coins arrondis 4"/>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cxnSp>
        <p:nvCxnSpPr>
          <p:cNvPr id="6" name="Connecteur droit avec flèche 5"/>
          <p:cNvCxnSpPr/>
          <p:nvPr/>
        </p:nvCxnSpPr>
        <p:spPr>
          <a:xfrm>
            <a:off x="6300192" y="249289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8172400" y="38610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8" name="Image 7" descr="téléchargement.jpg"/>
          <p:cNvPicPr>
            <a:picLocks noChangeAspect="1"/>
          </p:cNvPicPr>
          <p:nvPr/>
        </p:nvPicPr>
        <p:blipFill>
          <a:blip r:embed="rId2" cstate="print"/>
          <a:stretch>
            <a:fillRect/>
          </a:stretch>
        </p:blipFill>
        <p:spPr>
          <a:xfrm>
            <a:off x="0" y="692696"/>
            <a:ext cx="2411760" cy="2193032"/>
          </a:xfrm>
          <a:prstGeom prst="rect">
            <a:avLst/>
          </a:prstGeom>
        </p:spPr>
      </p:pic>
      <p:cxnSp>
        <p:nvCxnSpPr>
          <p:cNvPr id="10" name="Connecteur droit avec flèche 9"/>
          <p:cNvCxnSpPr/>
          <p:nvPr/>
        </p:nvCxnSpPr>
        <p:spPr>
          <a:xfrm>
            <a:off x="1043608" y="2348880"/>
            <a:ext cx="0" cy="720080"/>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à coins arrondis 10"/>
          <p:cNvSpPr/>
          <p:nvPr/>
        </p:nvSpPr>
        <p:spPr>
          <a:xfrm>
            <a:off x="1259632" y="1916832"/>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Ff/c</a:t>
            </a:r>
            <a:endParaRPr lang="fr-FR" sz="2000" b="1" dirty="0">
              <a:solidFill>
                <a:schemeClr val="bg1"/>
              </a:solidFill>
            </a:endParaRPr>
          </a:p>
        </p:txBody>
      </p:sp>
      <p:cxnSp>
        <p:nvCxnSpPr>
          <p:cNvPr id="12" name="Connecteur droit avec flèche 11"/>
          <p:cNvCxnSpPr/>
          <p:nvPr/>
        </p:nvCxnSpPr>
        <p:spPr>
          <a:xfrm flipH="1" flipV="1">
            <a:off x="1043608" y="1556792"/>
            <a:ext cx="8384" cy="728464"/>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Ellipse 13"/>
          <p:cNvSpPr/>
          <p:nvPr/>
        </p:nvSpPr>
        <p:spPr>
          <a:xfrm>
            <a:off x="971600" y="2204864"/>
            <a:ext cx="144016" cy="14401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à coins arrondis 14"/>
          <p:cNvSpPr/>
          <p:nvPr/>
        </p:nvSpPr>
        <p:spPr>
          <a:xfrm>
            <a:off x="1259632" y="2708920"/>
            <a:ext cx="936104"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chemeClr val="bg1"/>
                </a:solidFill>
              </a:rPr>
              <a:t>Fc</a:t>
            </a:r>
            <a:r>
              <a:rPr lang="fr-FR" sz="2400" b="1" dirty="0">
                <a:solidFill>
                  <a:schemeClr val="bg1"/>
                </a:solidFill>
              </a:rPr>
              <a:t>/f</a:t>
            </a:r>
            <a:endParaRPr lang="fr-FR" sz="2000" b="1" dirty="0">
              <a:solidFill>
                <a:schemeClr val="bg1"/>
              </a:solidFill>
            </a:endParaRPr>
          </a:p>
        </p:txBody>
      </p:sp>
      <p:cxnSp>
        <p:nvCxnSpPr>
          <p:cNvPr id="16" name="Connecteur droit avec flèche 15"/>
          <p:cNvCxnSpPr/>
          <p:nvPr/>
        </p:nvCxnSpPr>
        <p:spPr>
          <a:xfrm>
            <a:off x="1619672" y="184482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a:off x="1619672" y="263691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8" name="Tableau 17"/>
          <p:cNvGraphicFramePr>
            <a:graphicFrameLocks noGrp="1"/>
          </p:cNvGraphicFramePr>
          <p:nvPr/>
        </p:nvGraphicFramePr>
        <p:xfrm>
          <a:off x="3203848" y="5018152"/>
          <a:ext cx="5544616" cy="2072640"/>
        </p:xfrm>
        <a:graphic>
          <a:graphicData uri="http://schemas.openxmlformats.org/drawingml/2006/table">
            <a:tbl>
              <a:tblPr firstRow="1" bandRow="1">
                <a:tableStyleId>{5C22544A-7EE6-4342-B048-85BDC9FD1C3A}</a:tableStyleId>
              </a:tblPr>
              <a:tblGrid>
                <a:gridCol w="1440161">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936103">
                  <a:extLst>
                    <a:ext uri="{9D8B030D-6E8A-4147-A177-3AD203B41FA5}">
                      <a16:colId xmlns:a16="http://schemas.microsoft.com/office/drawing/2014/main" val="20002"/>
                    </a:ext>
                  </a:extLst>
                </a:gridCol>
                <a:gridCol w="796996">
                  <a:extLst>
                    <a:ext uri="{9D8B030D-6E8A-4147-A177-3AD203B41FA5}">
                      <a16:colId xmlns:a16="http://schemas.microsoft.com/office/drawing/2014/main" val="20003"/>
                    </a:ext>
                  </a:extLst>
                </a:gridCol>
                <a:gridCol w="1219228">
                  <a:extLst>
                    <a:ext uri="{9D8B030D-6E8A-4147-A177-3AD203B41FA5}">
                      <a16:colId xmlns:a16="http://schemas.microsoft.com/office/drawing/2014/main" val="20004"/>
                    </a:ext>
                  </a:extLst>
                </a:gridCol>
              </a:tblGrid>
              <a:tr h="468248">
                <a:tc>
                  <a:txBody>
                    <a:bodyPr/>
                    <a:lstStyle/>
                    <a:p>
                      <a:pPr algn="ctr"/>
                      <a:r>
                        <a:rPr lang="ar-DZ" sz="2000" dirty="0">
                          <a:solidFill>
                            <a:schemeClr val="bg1"/>
                          </a:solidFill>
                        </a:rPr>
                        <a:t>طول الشعاع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الشدة</a:t>
                      </a:r>
                      <a:r>
                        <a:rPr lang="ar-DZ" sz="2000" baseline="0" dirty="0">
                          <a:solidFill>
                            <a:schemeClr val="bg1"/>
                          </a:solidFill>
                        </a:rPr>
                        <a:t>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الجهة </a:t>
                      </a:r>
                      <a:endParaRPr lang="fr-FR" sz="2000" dirty="0">
                        <a:solidFill>
                          <a:schemeClr val="bg1"/>
                        </a:solidFill>
                      </a:endParaRPr>
                    </a:p>
                  </a:txBody>
                  <a:tcPr>
                    <a:solidFill>
                      <a:srgbClr val="00FFFF"/>
                    </a:solidFill>
                  </a:tcPr>
                </a:tc>
                <a:tc>
                  <a:txBody>
                    <a:bodyPr/>
                    <a:lstStyle/>
                    <a:p>
                      <a:pPr algn="ctr"/>
                      <a:r>
                        <a:rPr lang="ar-DZ" sz="2000" dirty="0">
                          <a:solidFill>
                            <a:schemeClr val="bg1"/>
                          </a:solidFill>
                        </a:rPr>
                        <a:t>المنحى </a:t>
                      </a:r>
                      <a:endParaRPr lang="fr-FR" sz="2000" dirty="0">
                        <a:solidFill>
                          <a:schemeClr val="bg1"/>
                        </a:solidFill>
                      </a:endParaRPr>
                    </a:p>
                  </a:txBody>
                  <a:tcPr>
                    <a:solidFill>
                      <a:srgbClr val="00FFFF"/>
                    </a:solidFill>
                  </a:tcPr>
                </a:tc>
                <a:tc>
                  <a:txBody>
                    <a:bodyPr/>
                    <a:lstStyle/>
                    <a:p>
                      <a:r>
                        <a:rPr lang="ar-DZ" sz="2000" dirty="0">
                          <a:solidFill>
                            <a:schemeClr val="bg1"/>
                          </a:solidFill>
                        </a:rPr>
                        <a:t>القوى</a:t>
                      </a:r>
                      <a:endParaRPr lang="fr-FR" sz="2000" dirty="0"/>
                    </a:p>
                  </a:txBody>
                  <a:tcPr>
                    <a:solidFill>
                      <a:srgbClr val="00FFFF"/>
                    </a:solidFill>
                  </a:tcPr>
                </a:tc>
                <a:extLst>
                  <a:ext uri="{0D108BD9-81ED-4DB2-BD59-A6C34878D82A}">
                    <a16:rowId xmlns:a16="http://schemas.microsoft.com/office/drawing/2014/main" val="10000"/>
                  </a:ext>
                </a:extLst>
              </a:tr>
              <a:tr h="370840">
                <a:tc>
                  <a:txBody>
                    <a:bodyPr/>
                    <a:lstStyle/>
                    <a:p>
                      <a:r>
                        <a:rPr lang="fr-FR" sz="2000" b="1" dirty="0"/>
                        <a:t>2cm</a:t>
                      </a:r>
                    </a:p>
                  </a:txBody>
                  <a:tcPr>
                    <a:solidFill>
                      <a:srgbClr val="FFFF00"/>
                    </a:solidFill>
                  </a:tcPr>
                </a:tc>
                <a:tc>
                  <a:txBody>
                    <a:bodyPr/>
                    <a:lstStyle/>
                    <a:p>
                      <a:pPr algn="ctr"/>
                      <a:r>
                        <a:rPr lang="fr-FR" sz="2000" b="1" dirty="0">
                          <a:solidFill>
                            <a:schemeClr val="bg1"/>
                          </a:solidFill>
                        </a:rPr>
                        <a:t>20N</a:t>
                      </a:r>
                    </a:p>
                  </a:txBody>
                  <a:tcPr>
                    <a:solidFill>
                      <a:srgbClr val="FFFF00"/>
                    </a:solidFill>
                  </a:tcPr>
                </a:tc>
                <a:tc>
                  <a:txBody>
                    <a:bodyPr/>
                    <a:lstStyle/>
                    <a:p>
                      <a:endParaRPr lang="fr-FR" sz="2000" dirty="0"/>
                    </a:p>
                  </a:txBody>
                  <a:tcPr>
                    <a:solidFill>
                      <a:srgbClr val="FFFF00"/>
                    </a:solidFill>
                  </a:tcPr>
                </a:tc>
                <a:tc>
                  <a:txBody>
                    <a:bodyPr/>
                    <a:lstStyle/>
                    <a:p>
                      <a:endParaRPr lang="fr-FR" sz="2000" dirty="0"/>
                    </a:p>
                  </a:txBody>
                  <a:tcPr>
                    <a:solidFill>
                      <a:srgbClr val="FFFF00"/>
                    </a:solidFill>
                  </a:tcPr>
                </a:tc>
                <a:tc>
                  <a:txBody>
                    <a:bodyPr/>
                    <a:lstStyle/>
                    <a:p>
                      <a:pPr algn="ctr"/>
                      <a:r>
                        <a:rPr lang="fr-FR" sz="2400" b="1" dirty="0"/>
                        <a:t>F</a:t>
                      </a:r>
                      <a:r>
                        <a:rPr lang="fr-FR" sz="2000" b="1" dirty="0"/>
                        <a:t>D1/S</a:t>
                      </a:r>
                    </a:p>
                  </a:txBody>
                  <a:tcPr>
                    <a:solidFill>
                      <a:srgbClr val="FFFF00"/>
                    </a:solidFill>
                  </a:tcPr>
                </a:tc>
                <a:extLst>
                  <a:ext uri="{0D108BD9-81ED-4DB2-BD59-A6C34878D82A}">
                    <a16:rowId xmlns:a16="http://schemas.microsoft.com/office/drawing/2014/main" val="10001"/>
                  </a:ext>
                </a:extLst>
              </a:tr>
              <a:tr h="370840">
                <a:tc>
                  <a:txBody>
                    <a:bodyPr/>
                    <a:lstStyle/>
                    <a:p>
                      <a:r>
                        <a:rPr lang="fr-FR" sz="2000" b="1" dirty="0"/>
                        <a:t>2cm</a:t>
                      </a:r>
                    </a:p>
                  </a:txBody>
                  <a:tcPr>
                    <a:solidFill>
                      <a:srgbClr val="FFFF00"/>
                    </a:solidFill>
                  </a:tcPr>
                </a:tc>
                <a:tc>
                  <a:txBody>
                    <a:bodyPr/>
                    <a:lstStyle/>
                    <a:p>
                      <a:pPr algn="ctr"/>
                      <a:r>
                        <a:rPr lang="fr-FR" sz="2000" b="1" dirty="0">
                          <a:solidFill>
                            <a:schemeClr val="bg1"/>
                          </a:solidFill>
                        </a:rPr>
                        <a:t>20N</a:t>
                      </a:r>
                    </a:p>
                  </a:txBody>
                  <a:tcPr>
                    <a:solidFill>
                      <a:srgbClr val="FFFF00"/>
                    </a:solidFill>
                  </a:tcPr>
                </a:tc>
                <a:tc>
                  <a:txBody>
                    <a:bodyPr/>
                    <a:lstStyle/>
                    <a:p>
                      <a:endParaRPr lang="fr-FR" sz="2000" dirty="0"/>
                    </a:p>
                  </a:txBody>
                  <a:tcPr>
                    <a:solidFill>
                      <a:srgbClr val="FFFF00"/>
                    </a:solidFill>
                  </a:tcPr>
                </a:tc>
                <a:tc>
                  <a:txBody>
                    <a:bodyPr/>
                    <a:lstStyle/>
                    <a:p>
                      <a:endParaRPr lang="fr-FR" sz="2000" dirty="0"/>
                    </a:p>
                  </a:txBody>
                  <a:tcPr>
                    <a:solidFill>
                      <a:srgbClr val="FFFF00"/>
                    </a:solidFill>
                  </a:tcPr>
                </a:tc>
                <a:tc>
                  <a:txBody>
                    <a:bodyPr/>
                    <a:lstStyle/>
                    <a:p>
                      <a:pPr algn="ctr"/>
                      <a:r>
                        <a:rPr lang="fr-FR" sz="2400" b="1" dirty="0"/>
                        <a:t>F</a:t>
                      </a:r>
                      <a:r>
                        <a:rPr lang="fr-FR" sz="2000" b="1" dirty="0"/>
                        <a:t>D2/S</a:t>
                      </a:r>
                    </a:p>
                  </a:txBody>
                  <a:tcPr>
                    <a:solidFill>
                      <a:srgbClr val="FFFF00"/>
                    </a:solidFill>
                  </a:tcPr>
                </a:tc>
                <a:extLst>
                  <a:ext uri="{0D108BD9-81ED-4DB2-BD59-A6C34878D82A}">
                    <a16:rowId xmlns:a16="http://schemas.microsoft.com/office/drawing/2014/main" val="10002"/>
                  </a:ext>
                </a:extLst>
              </a:tr>
              <a:tr h="370840">
                <a:tc>
                  <a:txBody>
                    <a:bodyPr/>
                    <a:lstStyle/>
                    <a:p>
                      <a:pPr algn="l"/>
                      <a:r>
                        <a:rPr lang="fr-FR" sz="2000" b="1" dirty="0"/>
                        <a:t>2cm</a:t>
                      </a:r>
                    </a:p>
                  </a:txBody>
                  <a:tcPr>
                    <a:solidFill>
                      <a:srgbClr val="FFFF00"/>
                    </a:solidFill>
                  </a:tcPr>
                </a:tc>
                <a:tc>
                  <a:txBody>
                    <a:bodyPr/>
                    <a:lstStyle/>
                    <a:p>
                      <a:pPr algn="ctr"/>
                      <a:r>
                        <a:rPr lang="fr-FR" sz="2000" b="1" dirty="0">
                          <a:solidFill>
                            <a:schemeClr val="bg1"/>
                          </a:solidFill>
                        </a:rPr>
                        <a:t>20N</a:t>
                      </a:r>
                    </a:p>
                  </a:txBody>
                  <a:tcPr>
                    <a:solidFill>
                      <a:srgbClr val="FFFF00"/>
                    </a:solidFill>
                  </a:tcPr>
                </a:tc>
                <a:tc>
                  <a:txBody>
                    <a:bodyPr/>
                    <a:lstStyle/>
                    <a:p>
                      <a:pPr algn="ctr"/>
                      <a:endParaRPr lang="fr-FR" sz="2000" dirty="0"/>
                    </a:p>
                  </a:txBody>
                  <a:tcPr>
                    <a:solidFill>
                      <a:srgbClr val="FFFF00"/>
                    </a:solidFill>
                  </a:tcPr>
                </a:tc>
                <a:tc>
                  <a:txBody>
                    <a:bodyPr/>
                    <a:lstStyle/>
                    <a:p>
                      <a:pPr algn="ctr"/>
                      <a:endParaRPr lang="fr-FR" sz="2000" dirty="0"/>
                    </a:p>
                  </a:txBody>
                  <a:tcPr>
                    <a:solidFill>
                      <a:srgbClr val="FFFF00"/>
                    </a:solidFill>
                  </a:tcPr>
                </a:tc>
                <a:tc>
                  <a:txBody>
                    <a:bodyPr/>
                    <a:lstStyle/>
                    <a:p>
                      <a:pPr algn="ctr"/>
                      <a:r>
                        <a:rPr lang="fr-FR" sz="2400" b="1" dirty="0"/>
                        <a:t>F</a:t>
                      </a:r>
                      <a:r>
                        <a:rPr lang="fr-FR" sz="2000" b="1" dirty="0"/>
                        <a:t>f/S</a:t>
                      </a:r>
                    </a:p>
                  </a:txBody>
                  <a:tcPr>
                    <a:solidFill>
                      <a:srgbClr val="FFFF00"/>
                    </a:solidFill>
                  </a:tcPr>
                </a:tc>
                <a:extLst>
                  <a:ext uri="{0D108BD9-81ED-4DB2-BD59-A6C34878D82A}">
                    <a16:rowId xmlns:a16="http://schemas.microsoft.com/office/drawing/2014/main" val="10003"/>
                  </a:ext>
                </a:extLst>
              </a:tr>
            </a:tbl>
          </a:graphicData>
        </a:graphic>
      </p:graphicFrame>
      <p:pic>
        <p:nvPicPr>
          <p:cNvPr id="19" name="Image 18" descr="og9k3w71pn3g246wgt9c.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1520" y="4149080"/>
            <a:ext cx="2195736" cy="1584176"/>
          </a:xfrm>
          <a:prstGeom prst="rect">
            <a:avLst/>
          </a:prstGeom>
          <a:ln>
            <a:solidFill>
              <a:srgbClr val="1ADC1F"/>
            </a:solidFill>
          </a:ln>
        </p:spPr>
      </p:pic>
      <p:cxnSp>
        <p:nvCxnSpPr>
          <p:cNvPr id="20" name="Connecteur droit avec flèche 19"/>
          <p:cNvCxnSpPr/>
          <p:nvPr/>
        </p:nvCxnSpPr>
        <p:spPr>
          <a:xfrm flipV="1">
            <a:off x="1331640" y="4437112"/>
            <a:ext cx="0" cy="93610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V="1">
            <a:off x="1331640" y="4869160"/>
            <a:ext cx="792088" cy="504056"/>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flipH="1" flipV="1">
            <a:off x="539552" y="4797152"/>
            <a:ext cx="792088" cy="576064"/>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p:nvPr/>
        </p:nvCxnSpPr>
        <p:spPr>
          <a:xfrm>
            <a:off x="8028384" y="537321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p:nvPr/>
        </p:nvCxnSpPr>
        <p:spPr>
          <a:xfrm>
            <a:off x="8028384" y="5877272"/>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2" name="Connecteur droit avec flèche 31"/>
          <p:cNvCxnSpPr/>
          <p:nvPr/>
        </p:nvCxnSpPr>
        <p:spPr>
          <a:xfrm>
            <a:off x="6804248" y="378904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a:xfrm>
            <a:off x="7164288" y="5589240"/>
            <a:ext cx="288032" cy="288032"/>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a:xfrm flipH="1">
            <a:off x="7092280" y="6021288"/>
            <a:ext cx="288032" cy="216024"/>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7164288" y="6525344"/>
            <a:ext cx="0" cy="332656"/>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Connecteur droit avec flèche 37"/>
          <p:cNvCxnSpPr/>
          <p:nvPr/>
        </p:nvCxnSpPr>
        <p:spPr>
          <a:xfrm flipH="1" flipV="1">
            <a:off x="6228184" y="5517232"/>
            <a:ext cx="288032" cy="288032"/>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p:nvPr/>
        </p:nvCxnSpPr>
        <p:spPr>
          <a:xfrm flipV="1">
            <a:off x="6228184" y="6021288"/>
            <a:ext cx="288032" cy="216024"/>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a:off x="6372200" y="6434336"/>
            <a:ext cx="0" cy="423664"/>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8172400" y="414908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p:cNvCxnSpPr/>
          <p:nvPr/>
        </p:nvCxnSpPr>
        <p:spPr>
          <a:xfrm>
            <a:off x="7380312" y="386104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7" name="Connecteur droit avec flèche 46"/>
          <p:cNvCxnSpPr/>
          <p:nvPr/>
        </p:nvCxnSpPr>
        <p:spPr>
          <a:xfrm>
            <a:off x="7380312" y="414908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Connecteur droit avec flèche 47"/>
          <p:cNvCxnSpPr/>
          <p:nvPr/>
        </p:nvCxnSpPr>
        <p:spPr>
          <a:xfrm>
            <a:off x="7092280" y="285293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p:cNvCxnSpPr/>
          <p:nvPr/>
        </p:nvCxnSpPr>
        <p:spPr>
          <a:xfrm>
            <a:off x="2627784"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a:off x="5076056" y="134076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1" name="Connecteur droit avec flèche 50"/>
          <p:cNvCxnSpPr/>
          <p:nvPr/>
        </p:nvCxnSpPr>
        <p:spPr>
          <a:xfrm>
            <a:off x="6588224" y="12687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61"/>
          <p:cNvCxnSpPr/>
          <p:nvPr/>
        </p:nvCxnSpPr>
        <p:spPr>
          <a:xfrm flipH="1" flipV="1">
            <a:off x="1403648" y="4437112"/>
            <a:ext cx="648072" cy="432048"/>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65" name="Connecteur droit 64"/>
          <p:cNvCxnSpPr/>
          <p:nvPr/>
        </p:nvCxnSpPr>
        <p:spPr>
          <a:xfrm flipH="1">
            <a:off x="539552" y="4437112"/>
            <a:ext cx="864096" cy="423664"/>
          </a:xfrm>
          <a:prstGeom prst="line">
            <a:avLst/>
          </a:prstGeom>
          <a:ln w="254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71" name="Rectangle à coins arrondis 70"/>
          <p:cNvSpPr/>
          <p:nvPr/>
        </p:nvSpPr>
        <p:spPr>
          <a:xfrm>
            <a:off x="2123728" y="4941168"/>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D2/S</a:t>
            </a:r>
          </a:p>
        </p:txBody>
      </p:sp>
      <p:sp>
        <p:nvSpPr>
          <p:cNvPr id="73" name="Rectangle à coins arrondis 72"/>
          <p:cNvSpPr/>
          <p:nvPr/>
        </p:nvSpPr>
        <p:spPr>
          <a:xfrm>
            <a:off x="0" y="5085184"/>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D1/S</a:t>
            </a:r>
          </a:p>
        </p:txBody>
      </p:sp>
      <p:cxnSp>
        <p:nvCxnSpPr>
          <p:cNvPr id="74" name="Connecteur droit avec flèche 73"/>
          <p:cNvCxnSpPr/>
          <p:nvPr/>
        </p:nvCxnSpPr>
        <p:spPr>
          <a:xfrm>
            <a:off x="2411760" y="48691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5" name="Connecteur droit avec flèche 74"/>
          <p:cNvCxnSpPr/>
          <p:nvPr/>
        </p:nvCxnSpPr>
        <p:spPr>
          <a:xfrm>
            <a:off x="323528" y="5013176"/>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avec flèche 75"/>
          <p:cNvCxnSpPr/>
          <p:nvPr/>
        </p:nvCxnSpPr>
        <p:spPr>
          <a:xfrm>
            <a:off x="1331640" y="5373216"/>
            <a:ext cx="0" cy="936104"/>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9" name="Rectangle à coins arrondis 78"/>
          <p:cNvSpPr/>
          <p:nvPr/>
        </p:nvSpPr>
        <p:spPr>
          <a:xfrm>
            <a:off x="1403648" y="6021288"/>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F/S</a:t>
            </a:r>
          </a:p>
        </p:txBody>
      </p:sp>
      <p:cxnSp>
        <p:nvCxnSpPr>
          <p:cNvPr id="80" name="Connecteur droit avec flèche 79"/>
          <p:cNvCxnSpPr/>
          <p:nvPr/>
        </p:nvCxnSpPr>
        <p:spPr>
          <a:xfrm>
            <a:off x="1763688" y="6021288"/>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82" name="Rectangle à coins arrondis 81"/>
          <p:cNvSpPr/>
          <p:nvPr/>
        </p:nvSpPr>
        <p:spPr>
          <a:xfrm>
            <a:off x="1331640" y="4077072"/>
            <a:ext cx="108012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endParaRPr lang="fr-FR" sz="2000" b="1" dirty="0">
              <a:solidFill>
                <a:schemeClr val="bg1"/>
              </a:solidFill>
            </a:endParaRPr>
          </a:p>
        </p:txBody>
      </p:sp>
      <p:cxnSp>
        <p:nvCxnSpPr>
          <p:cNvPr id="83" name="Connecteur droit avec flèche 82"/>
          <p:cNvCxnSpPr/>
          <p:nvPr/>
        </p:nvCxnSpPr>
        <p:spPr>
          <a:xfrm>
            <a:off x="3995936" y="30689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4" name="Connecteur droit avec flèche 83"/>
          <p:cNvCxnSpPr/>
          <p:nvPr/>
        </p:nvCxnSpPr>
        <p:spPr>
          <a:xfrm>
            <a:off x="5076056" y="30689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5" name="Connecteur droit avec flèche 84"/>
          <p:cNvCxnSpPr/>
          <p:nvPr/>
        </p:nvCxnSpPr>
        <p:spPr>
          <a:xfrm>
            <a:off x="5940152" y="30689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6" name="Connecteur droit avec flèche 85"/>
          <p:cNvCxnSpPr/>
          <p:nvPr/>
        </p:nvCxnSpPr>
        <p:spPr>
          <a:xfrm>
            <a:off x="6732240" y="3068960"/>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9" name="Connecteur droit avec flèche 88"/>
          <p:cNvCxnSpPr/>
          <p:nvPr/>
        </p:nvCxnSpPr>
        <p:spPr>
          <a:xfrm>
            <a:off x="1763688" y="4005064"/>
            <a:ext cx="360040"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122413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 </a:t>
            </a:r>
            <a:endParaRPr lang="fr-FR" sz="4000" b="1" dirty="0">
              <a:solidFill>
                <a:schemeClr val="bg1"/>
              </a:solidFill>
            </a:endParaRPr>
          </a:p>
        </p:txBody>
      </p:sp>
      <p:sp>
        <p:nvSpPr>
          <p:cNvPr id="4" name="Rectangle à coins arrondis 3"/>
          <p:cNvSpPr/>
          <p:nvPr/>
        </p:nvSpPr>
        <p:spPr>
          <a:xfrm>
            <a:off x="0" y="1124744"/>
            <a:ext cx="9144000" cy="573325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1-سبب اصابة العم  بصدمة كهربائية </a:t>
            </a:r>
            <a:r>
              <a:rPr lang="ar-DZ" sz="2400" b="1" dirty="0" err="1">
                <a:solidFill>
                  <a:schemeClr val="bg1"/>
                </a:solidFill>
              </a:rPr>
              <a:t>لانه</a:t>
            </a:r>
            <a:r>
              <a:rPr lang="ar-DZ" sz="2400" b="1" dirty="0">
                <a:solidFill>
                  <a:schemeClr val="bg1"/>
                </a:solidFill>
              </a:rPr>
              <a:t> لمس سلك الطور مع وجود القاطعة مركبة في  سلك الحيادي  </a:t>
            </a:r>
          </a:p>
          <a:p>
            <a:pPr algn="r"/>
            <a:r>
              <a:rPr lang="ar-DZ" sz="2400" b="1" dirty="0">
                <a:solidFill>
                  <a:schemeClr val="bg1"/>
                </a:solidFill>
              </a:rPr>
              <a:t>2-الجهاز المناسب لقياس شدة التيار الكهربائي هو جهاز </a:t>
            </a:r>
            <a:r>
              <a:rPr lang="ar-DZ" sz="2400" b="1" dirty="0" err="1">
                <a:solidFill>
                  <a:schemeClr val="bg1"/>
                </a:solidFill>
              </a:rPr>
              <a:t>الفولط</a:t>
            </a:r>
            <a:r>
              <a:rPr lang="ar-DZ" sz="2400" b="1" dirty="0">
                <a:solidFill>
                  <a:schemeClr val="bg1"/>
                </a:solidFill>
              </a:rPr>
              <a:t> متر او متعدد </a:t>
            </a:r>
            <a:r>
              <a:rPr lang="ar-DZ" sz="2400" b="1" dirty="0" err="1">
                <a:solidFill>
                  <a:schemeClr val="bg1"/>
                </a:solidFill>
              </a:rPr>
              <a:t>القياست</a:t>
            </a:r>
            <a:r>
              <a:rPr lang="ar-DZ" sz="2400" b="1" dirty="0">
                <a:solidFill>
                  <a:schemeClr val="bg1"/>
                </a:solidFill>
              </a:rPr>
              <a:t> </a:t>
            </a:r>
            <a:r>
              <a:rPr lang="ar-DZ" sz="2400" b="1" dirty="0" err="1">
                <a:solidFill>
                  <a:schemeClr val="bg1"/>
                </a:solidFill>
              </a:rPr>
              <a:t>لانه</a:t>
            </a:r>
            <a:r>
              <a:rPr lang="ar-DZ" sz="2400" b="1" dirty="0">
                <a:solidFill>
                  <a:schemeClr val="bg1"/>
                </a:solidFill>
              </a:rPr>
              <a:t> ربما الارتفاع المفاجئ لشدة التيار حسب ضنه هي السبب  </a:t>
            </a:r>
          </a:p>
          <a:p>
            <a:pPr algn="r"/>
            <a:r>
              <a:rPr lang="ar-DZ" sz="2400" b="1" dirty="0">
                <a:solidFill>
                  <a:schemeClr val="bg1"/>
                </a:solidFill>
              </a:rPr>
              <a:t>3-الحل المقترح لحل المشكلة هو تغليف الناقل بمادة </a:t>
            </a:r>
          </a:p>
          <a:p>
            <a:pPr algn="r"/>
            <a:r>
              <a:rPr lang="ar-DZ" sz="2400" b="1" dirty="0">
                <a:solidFill>
                  <a:schemeClr val="bg1"/>
                </a:solidFill>
              </a:rPr>
              <a:t>عازلة و اعادة تركيب القاطعة في سلك الطور</a:t>
            </a:r>
          </a:p>
          <a:p>
            <a:pPr algn="r"/>
            <a:r>
              <a:rPr lang="ar-DZ" sz="2400" b="1" dirty="0">
                <a:solidFill>
                  <a:schemeClr val="bg1"/>
                </a:solidFill>
              </a:rPr>
              <a:t>3-الاخطاء الاخرى الواردة هي </a:t>
            </a:r>
          </a:p>
          <a:p>
            <a:pPr algn="r"/>
            <a:r>
              <a:rPr lang="ar-DZ" sz="2400" b="1" dirty="0">
                <a:solidFill>
                  <a:schemeClr val="bg1"/>
                </a:solidFill>
              </a:rPr>
              <a:t>-عدم وجود توصيل</a:t>
            </a:r>
          </a:p>
          <a:p>
            <a:pPr algn="r"/>
            <a:r>
              <a:rPr lang="ar-DZ" sz="2400" b="1" dirty="0">
                <a:solidFill>
                  <a:schemeClr val="bg1"/>
                </a:solidFill>
              </a:rPr>
              <a:t> ارضي في </a:t>
            </a:r>
            <a:r>
              <a:rPr lang="ar-DZ" sz="2400" b="1" dirty="0" err="1">
                <a:solidFill>
                  <a:schemeClr val="bg1"/>
                </a:solidFill>
              </a:rPr>
              <a:t>ماخذ</a:t>
            </a:r>
            <a:r>
              <a:rPr lang="ar-DZ" sz="2400" b="1" dirty="0">
                <a:solidFill>
                  <a:schemeClr val="bg1"/>
                </a:solidFill>
              </a:rPr>
              <a:t> الغسالة  ربما يؤدي الى اصابة </a:t>
            </a:r>
          </a:p>
          <a:p>
            <a:pPr algn="r"/>
            <a:r>
              <a:rPr lang="ar-DZ" sz="2400" b="1" dirty="0">
                <a:solidFill>
                  <a:schemeClr val="bg1"/>
                </a:solidFill>
              </a:rPr>
              <a:t>مستعملها بصدمة كهربائية</a:t>
            </a:r>
          </a:p>
          <a:p>
            <a:pPr algn="r"/>
            <a:r>
              <a:rPr lang="ar-DZ" sz="2400" b="1" dirty="0">
                <a:solidFill>
                  <a:schemeClr val="bg1"/>
                </a:solidFill>
              </a:rPr>
              <a:t>-تركيب المنصهرة في الحيادي تصبح </a:t>
            </a:r>
            <a:endParaRPr lang="fr-FR" sz="2400" b="1" dirty="0">
              <a:solidFill>
                <a:schemeClr val="bg1"/>
              </a:solidFill>
            </a:endParaRPr>
          </a:p>
          <a:p>
            <a:pPr algn="r"/>
            <a:r>
              <a:rPr lang="ar-DZ" sz="2400" b="1" dirty="0">
                <a:solidFill>
                  <a:schemeClr val="bg1"/>
                </a:solidFill>
              </a:rPr>
              <a:t>لا تحمي الدارة </a:t>
            </a:r>
          </a:p>
          <a:p>
            <a:pPr algn="r"/>
            <a:r>
              <a:rPr lang="ar-DZ" sz="2400" b="1" dirty="0">
                <a:solidFill>
                  <a:schemeClr val="bg1"/>
                </a:solidFill>
              </a:rPr>
              <a:t>الكهربائية للمطبخ من الشدة الزائدة </a:t>
            </a:r>
            <a:endParaRPr lang="fr-FR" sz="2400" b="1" dirty="0">
              <a:solidFill>
                <a:schemeClr val="bg1"/>
              </a:solidFill>
            </a:endParaRPr>
          </a:p>
          <a:p>
            <a:pPr algn="r"/>
            <a:r>
              <a:rPr lang="ar-DZ" sz="2400" b="1" dirty="0">
                <a:solidFill>
                  <a:schemeClr val="bg1"/>
                </a:solidFill>
              </a:rPr>
              <a:t>او الدارة </a:t>
            </a:r>
            <a:r>
              <a:rPr lang="ar-DZ" sz="2400" b="1" dirty="0" err="1">
                <a:solidFill>
                  <a:schemeClr val="bg1"/>
                </a:solidFill>
              </a:rPr>
              <a:t>المستقصرة</a:t>
            </a:r>
            <a:r>
              <a:rPr lang="ar-DZ" sz="2400" b="1" dirty="0">
                <a:solidFill>
                  <a:schemeClr val="bg1"/>
                </a:solidFill>
              </a:rPr>
              <a:t>  </a:t>
            </a:r>
          </a:p>
        </p:txBody>
      </p:sp>
      <p:sp>
        <p:nvSpPr>
          <p:cNvPr id="7" name="Rectangle à coins arrondis 6"/>
          <p:cNvSpPr/>
          <p:nvPr/>
        </p:nvSpPr>
        <p:spPr>
          <a:xfrm>
            <a:off x="683568" y="3789040"/>
            <a:ext cx="432048" cy="14401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3573016"/>
            <a:ext cx="2160239" cy="2448272"/>
          </a:xfrm>
          <a:prstGeom prst="rect">
            <a:avLst/>
          </a:prstGeom>
          <a:noFill/>
          <a:ln w="9525">
            <a:noFill/>
            <a:miter lim="800000"/>
            <a:headEnd/>
            <a:tailEnd/>
          </a:ln>
        </p:spPr>
      </p:pic>
      <p:sp>
        <p:nvSpPr>
          <p:cNvPr id="15" name="Rectangle à coins arrondis 14"/>
          <p:cNvSpPr/>
          <p:nvPr/>
        </p:nvSpPr>
        <p:spPr>
          <a:xfrm>
            <a:off x="0" y="3645024"/>
            <a:ext cx="432048" cy="3600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N</a:t>
            </a:r>
          </a:p>
        </p:txBody>
      </p:sp>
      <p:sp>
        <p:nvSpPr>
          <p:cNvPr id="16" name="Rectangle à coins arrondis 15"/>
          <p:cNvSpPr/>
          <p:nvPr/>
        </p:nvSpPr>
        <p:spPr>
          <a:xfrm>
            <a:off x="0" y="4077072"/>
            <a:ext cx="611560" cy="3600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Ph</a:t>
            </a:r>
          </a:p>
        </p:txBody>
      </p:sp>
      <p:cxnSp>
        <p:nvCxnSpPr>
          <p:cNvPr id="18" name="Connecteur droit 17"/>
          <p:cNvCxnSpPr/>
          <p:nvPr/>
        </p:nvCxnSpPr>
        <p:spPr>
          <a:xfrm flipV="1">
            <a:off x="2699792" y="5373216"/>
            <a:ext cx="8384" cy="648072"/>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flipV="1">
            <a:off x="2555776" y="5085184"/>
            <a:ext cx="8384" cy="864096"/>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a:xfrm>
            <a:off x="2699792" y="5373216"/>
            <a:ext cx="360040"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a:off x="2555776" y="5085184"/>
            <a:ext cx="504056"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a:xfrm flipV="1">
            <a:off x="2195736" y="5733256"/>
            <a:ext cx="8384" cy="648072"/>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a:xfrm flipV="1">
            <a:off x="2267744" y="5940896"/>
            <a:ext cx="279648" cy="8384"/>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a:xfrm flipV="1">
            <a:off x="2267744" y="5661248"/>
            <a:ext cx="0" cy="288032"/>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2123728" y="6021288"/>
            <a:ext cx="567680"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flipV="1">
            <a:off x="2123728" y="5589240"/>
            <a:ext cx="8384" cy="432048"/>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a:xfrm>
            <a:off x="1907704" y="6237312"/>
            <a:ext cx="57606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a:xfrm>
            <a:off x="1907704" y="6309320"/>
            <a:ext cx="504056"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a:xfrm>
            <a:off x="2195736" y="5733256"/>
            <a:ext cx="720080"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Connecteur droit 57"/>
          <p:cNvCxnSpPr/>
          <p:nvPr/>
        </p:nvCxnSpPr>
        <p:spPr>
          <a:xfrm flipV="1">
            <a:off x="2915816" y="5517232"/>
            <a:ext cx="0" cy="216024"/>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Connecteur droit 61"/>
          <p:cNvCxnSpPr/>
          <p:nvPr/>
        </p:nvCxnSpPr>
        <p:spPr>
          <a:xfrm>
            <a:off x="2915816" y="5517232"/>
            <a:ext cx="2160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Image 24" descr="2016-01-16_16-23-43.pn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059832" y="4221088"/>
            <a:ext cx="1152128" cy="21602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التاسع     </a:t>
            </a:r>
            <a:endParaRPr lang="fr-FR" sz="6000" b="1" dirty="0">
              <a:solidFill>
                <a:schemeClr val="bg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141277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(6 نقاط</a:t>
            </a:r>
            <a:r>
              <a:rPr lang="ar-DZ" sz="2800" b="1" dirty="0" err="1">
                <a:solidFill>
                  <a:schemeClr val="bg1"/>
                </a:solidFill>
              </a:rPr>
              <a:t>)</a:t>
            </a:r>
            <a:r>
              <a:rPr lang="ar-DZ" sz="2800" b="1" dirty="0">
                <a:solidFill>
                  <a:schemeClr val="bg1"/>
                </a:solidFill>
              </a:rPr>
              <a:t> </a:t>
            </a:r>
            <a:r>
              <a:rPr lang="ar-DZ" sz="4000" b="1" dirty="0">
                <a:solidFill>
                  <a:schemeClr val="bg1"/>
                </a:solidFill>
              </a:rPr>
              <a:t> </a:t>
            </a:r>
            <a:endParaRPr lang="fr-FR" sz="4000" b="1" dirty="0">
              <a:solidFill>
                <a:schemeClr val="bg1"/>
              </a:solidFill>
            </a:endParaRPr>
          </a:p>
        </p:txBody>
      </p:sp>
      <p:sp>
        <p:nvSpPr>
          <p:cNvPr id="5" name="Rectangle à coins arrondis 4"/>
          <p:cNvSpPr/>
          <p:nvPr/>
        </p:nvSpPr>
        <p:spPr>
          <a:xfrm>
            <a:off x="0" y="1340768"/>
            <a:ext cx="9144000" cy="551723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fr-FR" sz="2400" b="1" dirty="0">
              <a:solidFill>
                <a:schemeClr val="bg1"/>
              </a:solidFill>
            </a:endParaRPr>
          </a:p>
          <a:p>
            <a:pPr algn="r"/>
            <a:endParaRPr lang="fr-FR" sz="2400" b="1" dirty="0">
              <a:solidFill>
                <a:schemeClr val="bg1"/>
              </a:solidFill>
            </a:endParaRPr>
          </a:p>
          <a:p>
            <a:pPr algn="r"/>
            <a:endParaRPr lang="fr-FR" sz="2400" b="1" dirty="0">
              <a:solidFill>
                <a:schemeClr val="bg1"/>
              </a:solidFill>
            </a:endParaRPr>
          </a:p>
          <a:p>
            <a:pPr algn="r"/>
            <a:r>
              <a:rPr lang="ar-DZ" sz="2400" b="1" dirty="0">
                <a:solidFill>
                  <a:schemeClr val="bg1"/>
                </a:solidFill>
              </a:rPr>
              <a:t>في حصة الاعمال التطبيقية قام الفوج الاول </a:t>
            </a:r>
          </a:p>
          <a:p>
            <a:pPr algn="r"/>
            <a:r>
              <a:rPr lang="ar-DZ" sz="2400" b="1" dirty="0">
                <a:solidFill>
                  <a:schemeClr val="bg1"/>
                </a:solidFill>
              </a:rPr>
              <a:t>بوضع صفيحة من  الزنك     في محلول حمض </a:t>
            </a:r>
            <a:r>
              <a:rPr lang="ar-DZ" sz="2400" b="1" dirty="0" err="1">
                <a:solidFill>
                  <a:schemeClr val="bg1"/>
                </a:solidFill>
              </a:rPr>
              <a:t>كلور</a:t>
            </a:r>
            <a:r>
              <a:rPr lang="ar-DZ" sz="2400" b="1" dirty="0">
                <a:solidFill>
                  <a:schemeClr val="bg1"/>
                </a:solidFill>
              </a:rPr>
              <a:t> الماء </a:t>
            </a:r>
          </a:p>
          <a:p>
            <a:pPr algn="r"/>
            <a:r>
              <a:rPr lang="ar-DZ" sz="2400" b="1" dirty="0">
                <a:solidFill>
                  <a:schemeClr val="bg1"/>
                </a:solidFill>
              </a:rPr>
              <a:t>فلاحظوا انطلاق غاز و تشكل محلول جديد </a:t>
            </a:r>
            <a:r>
              <a:rPr lang="en-US" sz="2400" b="1" dirty="0">
                <a:solidFill>
                  <a:schemeClr val="bg1"/>
                </a:solidFill>
              </a:rPr>
              <a:t>(</a:t>
            </a:r>
            <a:r>
              <a:rPr lang="fr-FR" sz="2400" b="1" dirty="0">
                <a:solidFill>
                  <a:schemeClr val="bg1"/>
                </a:solidFill>
              </a:rPr>
              <a:t>H</a:t>
            </a:r>
            <a:r>
              <a:rPr lang="fr-FR" sz="2400" b="1" baseline="30000" dirty="0">
                <a:solidFill>
                  <a:schemeClr val="bg1"/>
                </a:solidFill>
              </a:rPr>
              <a:t>+</a:t>
            </a:r>
            <a:r>
              <a:rPr lang="en-US" sz="2400" b="1" dirty="0">
                <a:solidFill>
                  <a:schemeClr val="bg1"/>
                </a:solidFill>
              </a:rPr>
              <a:t>+</a:t>
            </a:r>
            <a:r>
              <a:rPr lang="fr-FR" sz="2400" b="1" dirty="0">
                <a:solidFill>
                  <a:schemeClr val="bg1"/>
                </a:solidFill>
              </a:rPr>
              <a:t>Cl</a:t>
            </a:r>
            <a:r>
              <a:rPr lang="fr-FR" sz="2400" b="1" baseline="30000" dirty="0">
                <a:solidFill>
                  <a:schemeClr val="bg1"/>
                </a:solidFill>
              </a:rPr>
              <a:t>-</a:t>
            </a:r>
            <a:r>
              <a:rPr lang="en-US" sz="2400" b="1" dirty="0">
                <a:solidFill>
                  <a:schemeClr val="bg1"/>
                </a:solidFill>
              </a:rPr>
              <a:t>)</a:t>
            </a:r>
            <a:endParaRPr lang="ar-DZ" sz="2400" b="1" dirty="0">
              <a:solidFill>
                <a:schemeClr val="bg1"/>
              </a:solidFill>
            </a:endParaRPr>
          </a:p>
          <a:p>
            <a:pPr algn="r"/>
            <a:r>
              <a:rPr lang="ar-DZ" sz="2400" b="1" dirty="0">
                <a:solidFill>
                  <a:schemeClr val="bg1"/>
                </a:solidFill>
              </a:rPr>
              <a:t>اما الفوج الثاني فقام بالتحليل الكهربائي البسيط </a:t>
            </a:r>
          </a:p>
          <a:p>
            <a:pPr algn="r"/>
            <a:r>
              <a:rPr lang="en-US" sz="2400" b="1" dirty="0">
                <a:solidFill>
                  <a:schemeClr val="bg1"/>
                </a:solidFill>
              </a:rPr>
              <a:t>(</a:t>
            </a:r>
            <a:r>
              <a:rPr lang="fr-FR" sz="2400" b="1" dirty="0">
                <a:solidFill>
                  <a:schemeClr val="bg1"/>
                </a:solidFill>
              </a:rPr>
              <a:t>Zn</a:t>
            </a:r>
            <a:r>
              <a:rPr lang="fr-FR" sz="2400" b="1" baseline="30000" dirty="0">
                <a:solidFill>
                  <a:schemeClr val="bg1"/>
                </a:solidFill>
              </a:rPr>
              <a:t>2+</a:t>
            </a:r>
            <a:r>
              <a:rPr lang="en-US" sz="2400" b="1" dirty="0">
                <a:solidFill>
                  <a:schemeClr val="bg1"/>
                </a:solidFill>
              </a:rPr>
              <a:t>+2</a:t>
            </a:r>
            <a:r>
              <a:rPr lang="fr-FR" sz="2400" b="1" dirty="0">
                <a:solidFill>
                  <a:schemeClr val="bg1"/>
                </a:solidFill>
              </a:rPr>
              <a:t>Cl</a:t>
            </a:r>
            <a:r>
              <a:rPr lang="fr-FR" sz="2400" b="1" baseline="30000" dirty="0">
                <a:solidFill>
                  <a:schemeClr val="bg1"/>
                </a:solidFill>
              </a:rPr>
              <a:t>-</a:t>
            </a:r>
            <a:r>
              <a:rPr lang="en-US" sz="2400" b="1" dirty="0">
                <a:solidFill>
                  <a:schemeClr val="bg1"/>
                </a:solidFill>
              </a:rPr>
              <a:t>) </a:t>
            </a:r>
            <a:r>
              <a:rPr lang="ar-DZ" sz="2400" b="1" dirty="0">
                <a:solidFill>
                  <a:schemeClr val="bg1"/>
                </a:solidFill>
              </a:rPr>
              <a:t>للمحلول الناتج بعد التفاعل وهو </a:t>
            </a:r>
            <a:r>
              <a:rPr lang="ar-DZ" sz="2400" b="1" dirty="0" err="1">
                <a:solidFill>
                  <a:schemeClr val="bg1"/>
                </a:solidFill>
              </a:rPr>
              <a:t>كلور</a:t>
            </a:r>
            <a:r>
              <a:rPr lang="ar-DZ" sz="2400" b="1" dirty="0">
                <a:solidFill>
                  <a:schemeClr val="bg1"/>
                </a:solidFill>
              </a:rPr>
              <a:t> الزنك</a:t>
            </a:r>
          </a:p>
          <a:p>
            <a:pPr algn="r"/>
            <a:r>
              <a:rPr lang="ar-DZ" sz="2400" b="1" dirty="0">
                <a:solidFill>
                  <a:schemeClr val="bg1"/>
                </a:solidFill>
              </a:rPr>
              <a:t>1-كيف تفسر انطلاق غاز وتشكل محلول </a:t>
            </a:r>
            <a:r>
              <a:rPr lang="ar-DZ" sz="2400" b="1" dirty="0" err="1">
                <a:solidFill>
                  <a:schemeClr val="bg1"/>
                </a:solidFill>
              </a:rPr>
              <a:t>جديد ؟</a:t>
            </a:r>
            <a:endParaRPr lang="ar-DZ" sz="2400" b="1" dirty="0">
              <a:solidFill>
                <a:schemeClr val="bg1"/>
              </a:solidFill>
            </a:endParaRPr>
          </a:p>
          <a:p>
            <a:pPr algn="r"/>
            <a:r>
              <a:rPr lang="ar-DZ" sz="2400" b="1" dirty="0">
                <a:solidFill>
                  <a:schemeClr val="bg1"/>
                </a:solidFill>
              </a:rPr>
              <a:t>2-اكتب معادلة التفاعل بالصيغة </a:t>
            </a:r>
            <a:r>
              <a:rPr lang="ar-DZ" sz="2400" b="1" dirty="0" err="1">
                <a:solidFill>
                  <a:schemeClr val="bg1"/>
                </a:solidFill>
              </a:rPr>
              <a:t>الشاردية</a:t>
            </a:r>
            <a:r>
              <a:rPr lang="ar-DZ" sz="2400" b="1" dirty="0">
                <a:solidFill>
                  <a:schemeClr val="bg1"/>
                </a:solidFill>
              </a:rPr>
              <a:t> ثم بالصيغة الاحصائية  </a:t>
            </a:r>
          </a:p>
          <a:p>
            <a:pPr algn="r"/>
            <a:r>
              <a:rPr lang="ar-DZ" sz="2400" b="1" dirty="0">
                <a:solidFill>
                  <a:schemeClr val="bg1"/>
                </a:solidFill>
              </a:rPr>
              <a:t>3-اكمل </a:t>
            </a:r>
            <a:r>
              <a:rPr lang="ar-DZ" sz="2400" b="1" dirty="0" err="1">
                <a:solidFill>
                  <a:schemeClr val="bg1"/>
                </a:solidFill>
              </a:rPr>
              <a:t>نمذجة</a:t>
            </a:r>
            <a:r>
              <a:rPr lang="ar-DZ" sz="2400" b="1" dirty="0">
                <a:solidFill>
                  <a:schemeClr val="bg1"/>
                </a:solidFill>
              </a:rPr>
              <a:t> معادلتي التفاعل  عند التحليل الكهربائي للمحلول الناتج  </a:t>
            </a:r>
          </a:p>
          <a:p>
            <a:pPr algn="r"/>
            <a:r>
              <a:rPr lang="ar-DZ" sz="2400" b="1" dirty="0">
                <a:solidFill>
                  <a:schemeClr val="bg1"/>
                </a:solidFill>
              </a:rPr>
              <a:t>في كل مسرى ثم استنتج المعادلة الاجمالية </a:t>
            </a:r>
          </a:p>
          <a:p>
            <a:r>
              <a:rPr lang="fr-FR" sz="2400" b="1" dirty="0">
                <a:solidFill>
                  <a:schemeClr val="bg1"/>
                </a:solidFill>
              </a:rPr>
              <a:t>….. Cl</a:t>
            </a:r>
            <a:r>
              <a:rPr lang="fr-FR" sz="2400" b="1" baseline="30000" dirty="0">
                <a:solidFill>
                  <a:schemeClr val="bg1"/>
                </a:solidFill>
              </a:rPr>
              <a:t>-</a:t>
            </a:r>
            <a:r>
              <a:rPr lang="fr-FR" sz="2400" b="1" dirty="0">
                <a:solidFill>
                  <a:schemeClr val="bg1"/>
                </a:solidFill>
              </a:rPr>
              <a:t> </a:t>
            </a:r>
            <a:r>
              <a:rPr lang="ar-DZ" sz="2400" b="1" dirty="0">
                <a:solidFill>
                  <a:schemeClr val="bg1"/>
                </a:solidFill>
              </a:rPr>
              <a:t>          </a:t>
            </a:r>
            <a:r>
              <a:rPr lang="fr-FR" sz="2400" b="1" dirty="0">
                <a:solidFill>
                  <a:schemeClr val="bg1"/>
                </a:solidFill>
              </a:rPr>
              <a:t> Cl</a:t>
            </a:r>
            <a:r>
              <a:rPr lang="fr-FR" sz="2400" b="1" baseline="-25000" dirty="0">
                <a:solidFill>
                  <a:schemeClr val="bg1"/>
                </a:solidFill>
              </a:rPr>
              <a:t>2</a:t>
            </a:r>
            <a:r>
              <a:rPr lang="ar-DZ" sz="2400" b="1" baseline="-25000" dirty="0">
                <a:solidFill>
                  <a:schemeClr val="bg1"/>
                </a:solidFill>
              </a:rPr>
              <a:t> </a:t>
            </a:r>
            <a:r>
              <a:rPr lang="fr-FR" sz="2400" b="1" dirty="0">
                <a:solidFill>
                  <a:schemeClr val="bg1"/>
                </a:solidFill>
              </a:rPr>
              <a:t>+…e         </a:t>
            </a:r>
            <a:r>
              <a:rPr lang="ar-DZ" sz="2400" b="1" dirty="0">
                <a:solidFill>
                  <a:schemeClr val="bg1"/>
                </a:solidFill>
              </a:rPr>
              <a:t> في المصعد</a:t>
            </a:r>
            <a:r>
              <a:rPr lang="fr-FR" sz="2400" b="1" dirty="0">
                <a:solidFill>
                  <a:schemeClr val="bg1"/>
                </a:solidFill>
              </a:rPr>
              <a:t>  </a:t>
            </a:r>
            <a:r>
              <a:rPr lang="ar-DZ" sz="2400" b="1" dirty="0">
                <a:solidFill>
                  <a:schemeClr val="bg1"/>
                </a:solidFill>
              </a:rPr>
              <a:t> </a:t>
            </a:r>
          </a:p>
          <a:p>
            <a:pPr algn="ctr"/>
            <a:r>
              <a:rPr lang="fr-FR" sz="2400" b="1" dirty="0">
                <a:solidFill>
                  <a:schemeClr val="bg1"/>
                </a:solidFill>
              </a:rPr>
              <a:t>Zn</a:t>
            </a:r>
            <a:r>
              <a:rPr lang="fr-FR" sz="2400" b="1" baseline="30000" dirty="0">
                <a:solidFill>
                  <a:schemeClr val="bg1"/>
                </a:solidFill>
              </a:rPr>
              <a:t>2+ </a:t>
            </a:r>
            <a:r>
              <a:rPr lang="fr-FR" sz="2400" b="1" dirty="0">
                <a:solidFill>
                  <a:schemeClr val="bg1"/>
                </a:solidFill>
              </a:rPr>
              <a:t>+…e                 Zn</a:t>
            </a:r>
            <a:r>
              <a:rPr lang="ar-DZ" sz="2400" b="1" dirty="0">
                <a:solidFill>
                  <a:schemeClr val="bg1"/>
                </a:solidFill>
              </a:rPr>
              <a:t>                                                في المهبط     </a:t>
            </a:r>
            <a:r>
              <a:rPr lang="fr-FR" sz="2400" b="1" dirty="0">
                <a:solidFill>
                  <a:schemeClr val="bg1"/>
                </a:solidFill>
              </a:rPr>
              <a:t>   </a:t>
            </a:r>
            <a:endParaRPr lang="ar-DZ" sz="2400" b="1" dirty="0">
              <a:solidFill>
                <a:schemeClr val="bg1"/>
              </a:solidFill>
            </a:endParaRPr>
          </a:p>
          <a:p>
            <a:endParaRPr lang="ar-DZ" sz="2400" b="1" dirty="0">
              <a:solidFill>
                <a:schemeClr val="bg1"/>
              </a:solidFill>
            </a:endParaRPr>
          </a:p>
          <a:p>
            <a:pPr algn="r"/>
            <a:endParaRPr lang="ar-DZ" sz="3200" b="1" dirty="0">
              <a:solidFill>
                <a:schemeClr val="bg1"/>
              </a:solidFill>
            </a:endParaRPr>
          </a:p>
        </p:txBody>
      </p:sp>
      <p:pic>
        <p:nvPicPr>
          <p:cNvPr id="7"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340768"/>
            <a:ext cx="1979712" cy="2232248"/>
          </a:xfrm>
          <a:prstGeom prst="rect">
            <a:avLst/>
          </a:prstGeom>
          <a:noFill/>
          <a:ln w="9525">
            <a:noFill/>
            <a:miter lim="800000"/>
            <a:headEnd/>
            <a:tailEnd/>
          </a:ln>
        </p:spPr>
      </p:pic>
      <p:cxnSp>
        <p:nvCxnSpPr>
          <p:cNvPr id="8" name="Connecteur droit avec flèche 7"/>
          <p:cNvCxnSpPr/>
          <p:nvPr/>
        </p:nvCxnSpPr>
        <p:spPr>
          <a:xfrm>
            <a:off x="1547664" y="5949280"/>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2267744" y="6309320"/>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628800"/>
            <a:ext cx="1152128" cy="646331"/>
          </a:xfrm>
          <a:prstGeom prst="rect">
            <a:avLst/>
          </a:prstGeom>
          <a:solidFill>
            <a:schemeClr val="tx1"/>
          </a:solidFill>
        </p:spPr>
        <p:txBody>
          <a:bodyPr wrap="square">
            <a:spAutoFit/>
          </a:bodyPr>
          <a:lstStyle/>
          <a:p>
            <a:pPr algn="ctr"/>
            <a:r>
              <a:rPr lang="ar-DZ" b="1" dirty="0">
                <a:solidFill>
                  <a:schemeClr val="bg1"/>
                </a:solidFill>
              </a:rPr>
              <a:t>صفيحة</a:t>
            </a:r>
          </a:p>
          <a:p>
            <a:pPr algn="ctr"/>
            <a:r>
              <a:rPr lang="ar-DZ" b="1" dirty="0">
                <a:solidFill>
                  <a:schemeClr val="bg1"/>
                </a:solidFill>
              </a:rPr>
              <a:t> من الزنك  </a:t>
            </a:r>
            <a:endParaRPr lang="fr-FR" b="1" dirty="0">
              <a:solidFill>
                <a:schemeClr val="bg1"/>
              </a:solidFill>
            </a:endParaRPr>
          </a:p>
        </p:txBody>
      </p:sp>
      <p:pic>
        <p:nvPicPr>
          <p:cNvPr id="11"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3573016"/>
            <a:ext cx="2051720" cy="1944216"/>
          </a:xfrm>
          <a:prstGeom prst="rect">
            <a:avLst/>
          </a:prstGeom>
          <a:noFill/>
          <a:ln w="9525">
            <a:noFill/>
            <a:miter lim="800000"/>
            <a:headEnd/>
            <a:tailEnd/>
          </a:ln>
        </p:spPr>
      </p:pic>
      <p:sp>
        <p:nvSpPr>
          <p:cNvPr id="12" name="Rectangle 11"/>
          <p:cNvSpPr/>
          <p:nvPr/>
        </p:nvSpPr>
        <p:spPr>
          <a:xfrm>
            <a:off x="395536" y="4869160"/>
            <a:ext cx="576064" cy="307777"/>
          </a:xfrm>
          <a:prstGeom prst="rect">
            <a:avLst/>
          </a:prstGeom>
          <a:solidFill>
            <a:schemeClr val="tx1"/>
          </a:solidFill>
        </p:spPr>
        <p:txBody>
          <a:bodyPr wrap="square">
            <a:spAutoFit/>
          </a:bodyPr>
          <a:lstStyle/>
          <a:p>
            <a:pPr algn="ctr"/>
            <a:r>
              <a:rPr lang="fr-FR" sz="1400" b="1" dirty="0">
                <a:solidFill>
                  <a:schemeClr val="bg1"/>
                </a:solidFill>
              </a:rPr>
              <a:t>Zn</a:t>
            </a:r>
            <a:r>
              <a:rPr lang="fr-FR" sz="1400" b="1" baseline="30000" dirty="0">
                <a:solidFill>
                  <a:schemeClr val="bg1"/>
                </a:solidFill>
              </a:rPr>
              <a:t>2+</a:t>
            </a:r>
            <a:endParaRPr lang="fr-FR" sz="1400" dirty="0">
              <a:solidFill>
                <a:schemeClr val="bg1"/>
              </a:solidFill>
            </a:endParaRPr>
          </a:p>
        </p:txBody>
      </p:sp>
      <p:sp>
        <p:nvSpPr>
          <p:cNvPr id="13" name="Rectangle 12"/>
          <p:cNvSpPr/>
          <p:nvPr/>
        </p:nvSpPr>
        <p:spPr>
          <a:xfrm>
            <a:off x="0" y="2780928"/>
            <a:ext cx="1547664" cy="646331"/>
          </a:xfrm>
          <a:prstGeom prst="rect">
            <a:avLst/>
          </a:prstGeom>
          <a:solidFill>
            <a:schemeClr val="tx1"/>
          </a:solidFill>
        </p:spPr>
        <p:txBody>
          <a:bodyPr wrap="square">
            <a:spAutoFit/>
          </a:bodyPr>
          <a:lstStyle/>
          <a:p>
            <a:pPr algn="ctr"/>
            <a:r>
              <a:rPr lang="ar-DZ" b="1" dirty="0">
                <a:solidFill>
                  <a:schemeClr val="bg1"/>
                </a:solidFill>
              </a:rPr>
              <a:t>محلول </a:t>
            </a:r>
            <a:r>
              <a:rPr lang="ar-DZ" b="1" dirty="0" err="1">
                <a:solidFill>
                  <a:schemeClr val="bg1"/>
                </a:solidFill>
              </a:rPr>
              <a:t>كلور</a:t>
            </a:r>
            <a:r>
              <a:rPr lang="ar-DZ" b="1" dirty="0">
                <a:solidFill>
                  <a:schemeClr val="bg1"/>
                </a:solidFill>
              </a:rPr>
              <a:t> الهيدروجين </a:t>
            </a:r>
            <a:endParaRPr lang="fr-FR" b="1" dirty="0">
              <a:solidFill>
                <a:schemeClr val="bg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131763935.jpg"/>
          <p:cNvPicPr>
            <a:picLocks noChangeAspect="1"/>
          </p:cNvPicPr>
          <p:nvPr/>
        </p:nvPicPr>
        <p:blipFill>
          <a:blip r:embed="rId2" cstate="print"/>
          <a:stretch>
            <a:fillRect/>
          </a:stretch>
        </p:blipFill>
        <p:spPr>
          <a:xfrm>
            <a:off x="0" y="1"/>
            <a:ext cx="9144000" cy="6858000"/>
          </a:xfrm>
          <a:prstGeom prst="rect">
            <a:avLst/>
          </a:prstGeom>
        </p:spPr>
      </p:pic>
      <p:sp>
        <p:nvSpPr>
          <p:cNvPr id="83969" name="Rectangle 1"/>
          <p:cNvSpPr>
            <a:spLocks noChangeArrowheads="1"/>
          </p:cNvSpPr>
          <p:nvPr/>
        </p:nvSpPr>
        <p:spPr bwMode="auto">
          <a:xfrm>
            <a:off x="1907704" y="2117823"/>
            <a:ext cx="5904656" cy="5078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800" b="0" i="0" u="none" strike="noStrike" cap="none" normalizeH="0" baseline="0" dirty="0">
                <a:ln>
                  <a:noFill/>
                </a:ln>
                <a:solidFill>
                  <a:schemeClr val="tx1"/>
                </a:solidFill>
                <a:effectLst/>
                <a:latin typeface="Arial" pitchFamily="34" charset="0"/>
                <a:cs typeface="Arial" pitchFamily="34" charset="0"/>
              </a:rPr>
            </a:br>
            <a:r>
              <a:rPr kumimoji="0" lang="fr-FR" sz="1800" b="1" i="0" u="none" strike="noStrike" cap="none" normalizeH="0" baseline="0" dirty="0">
                <a:ln>
                  <a:noFill/>
                </a:ln>
                <a:solidFill>
                  <a:schemeClr val="tx1"/>
                </a:solidFill>
                <a:effectLst/>
                <a:latin typeface="Arial" pitchFamily="34" charset="0"/>
                <a:cs typeface="Arial" pitchFamily="34" charset="0"/>
              </a:rPr>
              <a:t>  </a:t>
            </a:r>
            <a:r>
              <a:rPr kumimoji="0" lang="fr-FR" sz="1900" b="0" i="0" u="none" strike="noStrike" cap="none" normalizeH="0" baseline="0" dirty="0">
                <a:ln>
                  <a:noFill/>
                </a:ln>
                <a:solidFill>
                  <a:schemeClr val="tx1"/>
                </a:solidFill>
                <a:effectLst/>
                <a:latin typeface="Arial" pitchFamily="34" charset="0"/>
                <a:cs typeface="Arial" pitchFamily="34" charset="0"/>
              </a:rPr>
              <a:t> </a:t>
            </a:r>
            <a:endParaRPr kumimoji="0" lang="fr-FR" sz="1800" b="1" i="0" u="none" strike="noStrike" cap="none" normalizeH="0" baseline="0" dirty="0">
              <a:ln>
                <a:noFill/>
              </a:ln>
              <a:solidFill>
                <a:schemeClr val="tx1"/>
              </a:solidFill>
              <a:effectLst/>
              <a:latin typeface="Arial" pitchFamily="34" charset="0"/>
              <a:cs typeface="Arial" pitchFamily="34" charset="0"/>
            </a:endParaRPr>
          </a:p>
        </p:txBody>
      </p:sp>
      <p:sp>
        <p:nvSpPr>
          <p:cNvPr id="83970" name="AutoShape 2" descr="http://files.muslmah.net/Mar15/1425404830691.png"/>
          <p:cNvSpPr>
            <a:spLocks noChangeAspect="1" noChangeArrowheads="1"/>
          </p:cNvSpPr>
          <p:nvPr/>
        </p:nvSpPr>
        <p:spPr bwMode="auto">
          <a:xfrm>
            <a:off x="155575" y="8778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7" name="Rectangle à coins arrondis 6"/>
          <p:cNvSpPr/>
          <p:nvPr/>
        </p:nvSpPr>
        <p:spPr>
          <a:xfrm>
            <a:off x="0" y="1268760"/>
            <a:ext cx="9144000" cy="5589240"/>
          </a:xfrm>
          <a:prstGeom prst="roundRect">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b="1" dirty="0">
              <a:solidFill>
                <a:schemeClr val="bg1"/>
              </a:solidFill>
            </a:endParaRPr>
          </a:p>
        </p:txBody>
      </p:sp>
      <p:graphicFrame>
        <p:nvGraphicFramePr>
          <p:cNvPr id="8" name="Tableau 7"/>
          <p:cNvGraphicFramePr>
            <a:graphicFrameLocks noGrp="1"/>
          </p:cNvGraphicFramePr>
          <p:nvPr/>
        </p:nvGraphicFramePr>
        <p:xfrm>
          <a:off x="107504" y="1052736"/>
          <a:ext cx="9036496" cy="5805264"/>
        </p:xfrm>
        <a:graphic>
          <a:graphicData uri="http://schemas.openxmlformats.org/drawingml/2006/table">
            <a:tbl>
              <a:tblPr firstRow="1" bandRow="1">
                <a:tableStyleId>{5C22544A-7EE6-4342-B048-85BDC9FD1C3A}</a:tableStyleId>
              </a:tblPr>
              <a:tblGrid>
                <a:gridCol w="9036496">
                  <a:extLst>
                    <a:ext uri="{9D8B030D-6E8A-4147-A177-3AD203B41FA5}">
                      <a16:colId xmlns:a16="http://schemas.microsoft.com/office/drawing/2014/main" val="20000"/>
                    </a:ext>
                  </a:extLst>
                </a:gridCol>
              </a:tblGrid>
              <a:tr h="5805264">
                <a:tc>
                  <a:txBody>
                    <a:bodyPr/>
                    <a:lstStyle/>
                    <a:p>
                      <a:pPr algn="r"/>
                      <a:r>
                        <a:rPr lang="ar-DZ" sz="2400" baseline="0" dirty="0">
                          <a:solidFill>
                            <a:schemeClr val="bg1"/>
                          </a:solidFill>
                        </a:rPr>
                        <a:t>من اجل معرفة  كثافة مادة معدنية واسمها تجريبيا  </a:t>
                      </a:r>
                    </a:p>
                    <a:p>
                      <a:pPr algn="r"/>
                      <a:r>
                        <a:rPr lang="fr-FR" sz="2400" baseline="0" dirty="0">
                          <a:solidFill>
                            <a:schemeClr val="bg1"/>
                          </a:solidFill>
                        </a:rPr>
                        <a:t>(S)</a:t>
                      </a:r>
                      <a:r>
                        <a:rPr lang="ar-DZ" sz="2400" baseline="0" dirty="0">
                          <a:solidFill>
                            <a:schemeClr val="bg1"/>
                          </a:solidFill>
                        </a:rPr>
                        <a:t>قام فوج من التلاميذ بقياس ثقل جسم </a:t>
                      </a:r>
                      <a:endParaRPr lang="fr-FR" sz="2400" baseline="0" dirty="0">
                        <a:solidFill>
                          <a:schemeClr val="bg1"/>
                        </a:solidFill>
                      </a:endParaRPr>
                    </a:p>
                    <a:p>
                      <a:pPr algn="r"/>
                      <a:r>
                        <a:rPr lang="ar-DZ" sz="2400" baseline="0" dirty="0">
                          <a:solidFill>
                            <a:schemeClr val="bg1"/>
                          </a:solidFill>
                        </a:rPr>
                        <a:t> شكل 1</a:t>
                      </a:r>
                      <a:r>
                        <a:rPr lang="fr-FR" sz="2400" baseline="0" dirty="0">
                          <a:solidFill>
                            <a:schemeClr val="bg1"/>
                          </a:solidFill>
                        </a:rPr>
                        <a:t>(f)</a:t>
                      </a:r>
                      <a:r>
                        <a:rPr lang="ar-DZ" sz="2400" baseline="0" dirty="0">
                          <a:solidFill>
                            <a:schemeClr val="bg1"/>
                          </a:solidFill>
                        </a:rPr>
                        <a:t> معلق بخيط  </a:t>
                      </a:r>
                      <a:r>
                        <a:rPr lang="fr-FR" sz="2400" baseline="0" dirty="0">
                          <a:solidFill>
                            <a:schemeClr val="bg1"/>
                          </a:solidFill>
                        </a:rPr>
                        <a:t>m=0.78kg </a:t>
                      </a:r>
                      <a:r>
                        <a:rPr lang="ar-DZ" sz="2400" baseline="0" dirty="0">
                          <a:solidFill>
                            <a:schemeClr val="bg1"/>
                          </a:solidFill>
                        </a:rPr>
                        <a:t>كتلته</a:t>
                      </a:r>
                      <a:endParaRPr lang="fr-FR" sz="2400" baseline="0" dirty="0">
                        <a:solidFill>
                          <a:schemeClr val="bg1"/>
                        </a:solidFill>
                      </a:endParaRPr>
                    </a:p>
                    <a:p>
                      <a:pPr algn="r"/>
                      <a:r>
                        <a:rPr lang="fr-FR" sz="2400" baseline="0" dirty="0">
                          <a:solidFill>
                            <a:schemeClr val="bg1"/>
                          </a:solidFill>
                        </a:rPr>
                        <a:t>Pa=6.8N</a:t>
                      </a:r>
                      <a:r>
                        <a:rPr lang="ar-DZ" sz="2400" baseline="0" dirty="0">
                          <a:solidFill>
                            <a:schemeClr val="bg1"/>
                          </a:solidFill>
                        </a:rPr>
                        <a:t>ثم نغمره داخل الماء ونقيس ثقله فوجدوه </a:t>
                      </a:r>
                    </a:p>
                    <a:p>
                      <a:pPr algn="r"/>
                      <a:r>
                        <a:rPr lang="ar-DZ" sz="2400" baseline="0" dirty="0">
                          <a:solidFill>
                            <a:schemeClr val="bg1"/>
                          </a:solidFill>
                        </a:rPr>
                        <a:t>شكل 2</a:t>
                      </a:r>
                    </a:p>
                    <a:p>
                      <a:pPr marL="0" marR="0" indent="0" algn="r" defTabSz="914400" rtl="0" eaLnBrk="1" fontAlgn="auto" latinLnBrk="0" hangingPunct="1">
                        <a:lnSpc>
                          <a:spcPct val="100000"/>
                        </a:lnSpc>
                        <a:spcBef>
                          <a:spcPts val="0"/>
                        </a:spcBef>
                        <a:spcAft>
                          <a:spcPts val="0"/>
                        </a:spcAft>
                        <a:buClrTx/>
                        <a:buSzTx/>
                        <a:buFontTx/>
                        <a:buNone/>
                        <a:tabLst/>
                        <a:defRPr/>
                      </a:pPr>
                      <a:r>
                        <a:rPr kumimoji="0" lang="ar-DZ" sz="2400" b="1" kern="1200" dirty="0">
                          <a:solidFill>
                            <a:schemeClr val="bg1"/>
                          </a:solidFill>
                          <a:latin typeface="+mn-lt"/>
                          <a:ea typeface="+mn-ea"/>
                          <a:cs typeface="+mn-cs"/>
                        </a:rPr>
                        <a:t>1-احسب ثقل الجسم ثم مثل القوى </a:t>
                      </a:r>
                    </a:p>
                    <a:p>
                      <a:pPr marL="0" marR="0" indent="0" algn="r" defTabSz="914400" rtl="0" eaLnBrk="1" fontAlgn="auto" latinLnBrk="0" hangingPunct="1">
                        <a:lnSpc>
                          <a:spcPct val="100000"/>
                        </a:lnSpc>
                        <a:spcBef>
                          <a:spcPts val="0"/>
                        </a:spcBef>
                        <a:spcAft>
                          <a:spcPts val="0"/>
                        </a:spcAft>
                        <a:buClrTx/>
                        <a:buSzTx/>
                        <a:buFontTx/>
                        <a:buNone/>
                        <a:tabLst/>
                        <a:defRPr/>
                      </a:pPr>
                      <a:r>
                        <a:rPr kumimoji="0" lang="fr-FR" sz="2800" b="1" kern="1200" dirty="0">
                          <a:solidFill>
                            <a:schemeClr val="bg1"/>
                          </a:solidFill>
                          <a:latin typeface="+mn-lt"/>
                          <a:ea typeface="+mn-ea"/>
                          <a:cs typeface="+mn-cs"/>
                        </a:rPr>
                        <a:t>1N         1cm</a:t>
                      </a:r>
                      <a:r>
                        <a:rPr kumimoji="0" lang="ar-DZ" sz="2400" b="1" kern="1200" dirty="0">
                          <a:solidFill>
                            <a:schemeClr val="bg1"/>
                          </a:solidFill>
                          <a:latin typeface="+mn-lt"/>
                          <a:ea typeface="+mn-ea"/>
                          <a:cs typeface="+mn-cs"/>
                        </a:rPr>
                        <a:t>   المؤثرة عليه بسلم </a:t>
                      </a:r>
                      <a:endParaRPr kumimoji="0" lang="fr-FR" sz="2400" b="1" kern="1200" dirty="0">
                        <a:solidFill>
                          <a:schemeClr val="bg1"/>
                        </a:solidFill>
                        <a:latin typeface="+mn-lt"/>
                        <a:ea typeface="+mn-ea"/>
                        <a:cs typeface="+mn-cs"/>
                      </a:endParaRPr>
                    </a:p>
                    <a:p>
                      <a:pPr marL="0" marR="0" indent="0" algn="r" defTabSz="914400" rtl="0" eaLnBrk="1" fontAlgn="auto" latinLnBrk="0" hangingPunct="1">
                        <a:lnSpc>
                          <a:spcPct val="100000"/>
                        </a:lnSpc>
                        <a:spcBef>
                          <a:spcPts val="0"/>
                        </a:spcBef>
                        <a:spcAft>
                          <a:spcPts val="0"/>
                        </a:spcAft>
                        <a:buClrTx/>
                        <a:buSzTx/>
                        <a:buFontTx/>
                        <a:buNone/>
                        <a:tabLst/>
                        <a:defRPr/>
                      </a:pPr>
                      <a:r>
                        <a:rPr kumimoji="0" lang="ar-DZ" sz="2400" b="1" kern="1200" dirty="0">
                          <a:solidFill>
                            <a:schemeClr val="bg1"/>
                          </a:solidFill>
                          <a:latin typeface="+mn-lt"/>
                          <a:ea typeface="+mn-ea"/>
                          <a:cs typeface="+mn-cs"/>
                        </a:rPr>
                        <a:t>2-احسب</a:t>
                      </a:r>
                      <a:r>
                        <a:rPr kumimoji="0" lang="ar-DZ" sz="2400" b="1" kern="1200" baseline="0" dirty="0">
                          <a:solidFill>
                            <a:schemeClr val="bg1"/>
                          </a:solidFill>
                          <a:latin typeface="+mn-lt"/>
                          <a:ea typeface="+mn-ea"/>
                          <a:cs typeface="+mn-cs"/>
                        </a:rPr>
                        <a:t> قيمة دافعة </a:t>
                      </a:r>
                      <a:r>
                        <a:rPr kumimoji="0" lang="ar-DZ" sz="2400" b="1" kern="1200" baseline="0" dirty="0" err="1">
                          <a:solidFill>
                            <a:schemeClr val="bg1"/>
                          </a:solidFill>
                          <a:latin typeface="+mn-lt"/>
                          <a:ea typeface="+mn-ea"/>
                          <a:cs typeface="+mn-cs"/>
                        </a:rPr>
                        <a:t>ارخميدس</a:t>
                      </a:r>
                      <a:r>
                        <a:rPr kumimoji="0" lang="ar-DZ" sz="2400" b="1" kern="1200" baseline="0" dirty="0">
                          <a:solidFill>
                            <a:schemeClr val="bg1"/>
                          </a:solidFill>
                          <a:latin typeface="+mn-lt"/>
                          <a:ea typeface="+mn-ea"/>
                          <a:cs typeface="+mn-cs"/>
                        </a:rPr>
                        <a:t> ثم استنتج حجم الجسم </a:t>
                      </a:r>
                    </a:p>
                    <a:p>
                      <a:pPr marL="0" marR="0" indent="0" algn="r" defTabSz="914400" rtl="0" eaLnBrk="1" fontAlgn="auto" latinLnBrk="0" hangingPunct="1">
                        <a:lnSpc>
                          <a:spcPct val="100000"/>
                        </a:lnSpc>
                        <a:spcBef>
                          <a:spcPts val="0"/>
                        </a:spcBef>
                        <a:spcAft>
                          <a:spcPts val="0"/>
                        </a:spcAft>
                        <a:buClrTx/>
                        <a:buSzTx/>
                        <a:buFontTx/>
                        <a:buNone/>
                        <a:tabLst/>
                        <a:defRPr/>
                      </a:pPr>
                      <a:r>
                        <a:rPr kumimoji="0" lang="ar-DZ" sz="2400" b="1" kern="1200" baseline="0" dirty="0">
                          <a:solidFill>
                            <a:schemeClr val="bg1"/>
                          </a:solidFill>
                          <a:latin typeface="+mn-lt"/>
                          <a:ea typeface="+mn-ea"/>
                          <a:cs typeface="+mn-cs"/>
                        </a:rPr>
                        <a:t>3-احسب كثافة الجسم ثم حدد اسم مادته من خلال الجدول </a:t>
                      </a:r>
                    </a:p>
                    <a:p>
                      <a:pPr marL="0" marR="0" indent="0" algn="r" defTabSz="914400" rtl="0" eaLnBrk="1" fontAlgn="auto" latinLnBrk="0" hangingPunct="1">
                        <a:lnSpc>
                          <a:spcPct val="100000"/>
                        </a:lnSpc>
                        <a:spcBef>
                          <a:spcPts val="0"/>
                        </a:spcBef>
                        <a:spcAft>
                          <a:spcPts val="0"/>
                        </a:spcAft>
                        <a:buClrTx/>
                        <a:buSzTx/>
                        <a:buFontTx/>
                        <a:buNone/>
                        <a:tabLst/>
                        <a:defRPr/>
                      </a:pPr>
                      <a:endParaRPr kumimoji="0" lang="fr-FR" sz="2400" b="1" kern="1200" dirty="0">
                        <a:solidFill>
                          <a:schemeClr val="bg1"/>
                        </a:solidFill>
                        <a:latin typeface="+mn-lt"/>
                        <a:ea typeface="+mn-ea"/>
                        <a:cs typeface="+mn-cs"/>
                      </a:endParaRPr>
                    </a:p>
                  </a:txBody>
                  <a:tcPr>
                    <a:solidFill>
                      <a:schemeClr val="tx1"/>
                    </a:solidFill>
                  </a:tcPr>
                </a:tc>
                <a:extLst>
                  <a:ext uri="{0D108BD9-81ED-4DB2-BD59-A6C34878D82A}">
                    <a16:rowId xmlns:a16="http://schemas.microsoft.com/office/drawing/2014/main" val="10000"/>
                  </a:ext>
                </a:extLst>
              </a:tr>
            </a:tbl>
          </a:graphicData>
        </a:graphic>
      </p:graphicFrame>
      <p:pic>
        <p:nvPicPr>
          <p:cNvPr id="32" name="Image 31" descr="87530555_2558849897704970_5797071441362944000_n.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1052736"/>
            <a:ext cx="3707904" cy="2304256"/>
          </a:xfrm>
          <a:prstGeom prst="rect">
            <a:avLst/>
          </a:prstGeom>
        </p:spPr>
      </p:pic>
      <p:sp>
        <p:nvSpPr>
          <p:cNvPr id="9" name="Rectangle 8"/>
          <p:cNvSpPr/>
          <p:nvPr/>
        </p:nvSpPr>
        <p:spPr>
          <a:xfrm>
            <a:off x="3131840" y="1484784"/>
            <a:ext cx="1080120" cy="4320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Pa=6.8N</a:t>
            </a:r>
          </a:p>
        </p:txBody>
      </p:sp>
      <p:sp>
        <p:nvSpPr>
          <p:cNvPr id="10" name="Rectangle 9"/>
          <p:cNvSpPr/>
          <p:nvPr/>
        </p:nvSpPr>
        <p:spPr>
          <a:xfrm>
            <a:off x="1331640" y="1556792"/>
            <a:ext cx="864096" cy="4320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p:cNvCxnSpPr/>
          <p:nvPr/>
        </p:nvCxnSpPr>
        <p:spPr>
          <a:xfrm>
            <a:off x="5796136" y="3573016"/>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à coins arrondis 1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(6 نقاط</a:t>
            </a:r>
            <a:r>
              <a:rPr lang="ar-DZ" sz="2800" b="1" dirty="0" err="1">
                <a:solidFill>
                  <a:schemeClr val="bg1"/>
                </a:solidFill>
              </a:rPr>
              <a:t>)</a:t>
            </a:r>
            <a:endParaRPr lang="fr-FR" sz="2800" b="1" dirty="0">
              <a:solidFill>
                <a:schemeClr val="bg1"/>
              </a:solidFill>
            </a:endParaRPr>
          </a:p>
        </p:txBody>
      </p:sp>
      <p:graphicFrame>
        <p:nvGraphicFramePr>
          <p:cNvPr id="15" name="Tableau 14"/>
          <p:cNvGraphicFramePr>
            <a:graphicFrameLocks noGrp="1"/>
          </p:cNvGraphicFramePr>
          <p:nvPr/>
        </p:nvGraphicFramePr>
        <p:xfrm>
          <a:off x="2195736" y="4725145"/>
          <a:ext cx="6336704" cy="1116319"/>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06166">
                  <a:extLst>
                    <a:ext uri="{9D8B030D-6E8A-4147-A177-3AD203B41FA5}">
                      <a16:colId xmlns:a16="http://schemas.microsoft.com/office/drawing/2014/main" val="20002"/>
                    </a:ext>
                  </a:extLst>
                </a:gridCol>
                <a:gridCol w="1003571">
                  <a:extLst>
                    <a:ext uri="{9D8B030D-6E8A-4147-A177-3AD203B41FA5}">
                      <a16:colId xmlns:a16="http://schemas.microsoft.com/office/drawing/2014/main" val="20003"/>
                    </a:ext>
                  </a:extLst>
                </a:gridCol>
                <a:gridCol w="1080769">
                  <a:extLst>
                    <a:ext uri="{9D8B030D-6E8A-4147-A177-3AD203B41FA5}">
                      <a16:colId xmlns:a16="http://schemas.microsoft.com/office/drawing/2014/main" val="20004"/>
                    </a:ext>
                  </a:extLst>
                </a:gridCol>
                <a:gridCol w="1157966">
                  <a:extLst>
                    <a:ext uri="{9D8B030D-6E8A-4147-A177-3AD203B41FA5}">
                      <a16:colId xmlns:a16="http://schemas.microsoft.com/office/drawing/2014/main" val="20005"/>
                    </a:ext>
                  </a:extLst>
                </a:gridCol>
              </a:tblGrid>
              <a:tr h="720079">
                <a:tc>
                  <a:txBody>
                    <a:bodyPr/>
                    <a:lstStyle/>
                    <a:p>
                      <a:pPr algn="ctr"/>
                      <a:r>
                        <a:rPr lang="ar-DZ" sz="2000" b="1" dirty="0">
                          <a:solidFill>
                            <a:schemeClr val="bg1"/>
                          </a:solidFill>
                        </a:rPr>
                        <a:t>الماء </a:t>
                      </a:r>
                      <a:endParaRPr lang="fr-FR" sz="2000" b="1" dirty="0">
                        <a:solidFill>
                          <a:schemeClr val="bg1"/>
                        </a:solidFill>
                      </a:endParaRPr>
                    </a:p>
                  </a:txBody>
                  <a:tcPr>
                    <a:solidFill>
                      <a:srgbClr val="00FFFF"/>
                    </a:solidFill>
                  </a:tcPr>
                </a:tc>
                <a:tc>
                  <a:txBody>
                    <a:bodyPr/>
                    <a:lstStyle/>
                    <a:p>
                      <a:pPr algn="ctr"/>
                      <a:r>
                        <a:rPr lang="ar-DZ" sz="2000" b="1" dirty="0">
                          <a:solidFill>
                            <a:schemeClr val="bg1"/>
                          </a:solidFill>
                        </a:rPr>
                        <a:t>الرصاص</a:t>
                      </a:r>
                      <a:endParaRPr lang="fr-FR" sz="2000" b="1" dirty="0">
                        <a:solidFill>
                          <a:schemeClr val="bg1"/>
                        </a:solidFill>
                      </a:endParaRPr>
                    </a:p>
                  </a:txBody>
                  <a:tcPr>
                    <a:solidFill>
                      <a:srgbClr val="00FFFF"/>
                    </a:solidFill>
                  </a:tcPr>
                </a:tc>
                <a:tc>
                  <a:txBody>
                    <a:bodyPr/>
                    <a:lstStyle/>
                    <a:p>
                      <a:pPr algn="ctr"/>
                      <a:r>
                        <a:rPr lang="ar-DZ" sz="2000" b="1" dirty="0">
                          <a:solidFill>
                            <a:schemeClr val="bg1"/>
                          </a:solidFill>
                        </a:rPr>
                        <a:t>النحاس </a:t>
                      </a:r>
                      <a:endParaRPr lang="fr-FR" sz="2000" b="1" dirty="0">
                        <a:solidFill>
                          <a:schemeClr val="bg1"/>
                        </a:solidFill>
                      </a:endParaRPr>
                    </a:p>
                  </a:txBody>
                  <a:tcPr>
                    <a:solidFill>
                      <a:srgbClr val="00FFFF"/>
                    </a:solidFill>
                  </a:tcPr>
                </a:tc>
                <a:tc>
                  <a:txBody>
                    <a:bodyPr/>
                    <a:lstStyle/>
                    <a:p>
                      <a:pPr algn="ctr"/>
                      <a:r>
                        <a:rPr lang="ar-DZ" sz="2000" b="1" dirty="0" err="1">
                          <a:solidFill>
                            <a:schemeClr val="bg1"/>
                          </a:solidFill>
                        </a:rPr>
                        <a:t>الومنيوم</a:t>
                      </a:r>
                      <a:endParaRPr lang="fr-FR" sz="2000" b="1" dirty="0">
                        <a:solidFill>
                          <a:schemeClr val="bg1"/>
                        </a:solidFill>
                      </a:endParaRPr>
                    </a:p>
                  </a:txBody>
                  <a:tcPr>
                    <a:solidFill>
                      <a:srgbClr val="00FFFF"/>
                    </a:solidFill>
                  </a:tcPr>
                </a:tc>
                <a:tc>
                  <a:txBody>
                    <a:bodyPr/>
                    <a:lstStyle/>
                    <a:p>
                      <a:r>
                        <a:rPr lang="ar-DZ" b="1" dirty="0">
                          <a:solidFill>
                            <a:schemeClr val="bg1"/>
                          </a:solidFill>
                        </a:rPr>
                        <a:t>الحديد</a:t>
                      </a:r>
                      <a:endParaRPr lang="fr-FR" b="1" dirty="0">
                        <a:solidFill>
                          <a:schemeClr val="bg1"/>
                        </a:solidFill>
                      </a:endParaRPr>
                    </a:p>
                  </a:txBody>
                  <a:tcPr>
                    <a:solidFill>
                      <a:srgbClr val="00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ar-DZ" sz="2000" b="1" dirty="0">
                          <a:solidFill>
                            <a:schemeClr val="bg1"/>
                          </a:solidFill>
                        </a:rPr>
                        <a:t>الجسم </a:t>
                      </a:r>
                      <a:endParaRPr lang="fr-FR" sz="2000" b="1" dirty="0">
                        <a:solidFill>
                          <a:schemeClr val="bg1"/>
                        </a:solidFill>
                      </a:endParaRPr>
                    </a:p>
                  </a:txBody>
                  <a:tcPr>
                    <a:solidFill>
                      <a:srgbClr val="00FFFF"/>
                    </a:solidFill>
                  </a:tcPr>
                </a:tc>
                <a:extLst>
                  <a:ext uri="{0D108BD9-81ED-4DB2-BD59-A6C34878D82A}">
                    <a16:rowId xmlns:a16="http://schemas.microsoft.com/office/drawing/2014/main" val="10000"/>
                  </a:ext>
                </a:extLst>
              </a:tr>
              <a:tr h="370840">
                <a:tc>
                  <a:txBody>
                    <a:bodyPr/>
                    <a:lstStyle/>
                    <a:p>
                      <a:pPr algn="ctr"/>
                      <a:r>
                        <a:rPr lang="ar-DZ" sz="2000" b="1" dirty="0">
                          <a:solidFill>
                            <a:schemeClr val="bg1"/>
                          </a:solidFill>
                        </a:rPr>
                        <a:t>1</a:t>
                      </a:r>
                      <a:endParaRPr lang="fr-FR" sz="2000" b="1" dirty="0">
                        <a:solidFill>
                          <a:schemeClr val="bg1"/>
                        </a:solidFill>
                      </a:endParaRPr>
                    </a:p>
                  </a:txBody>
                  <a:tcPr>
                    <a:solidFill>
                      <a:srgbClr val="99CC00"/>
                    </a:solidFill>
                  </a:tcPr>
                </a:tc>
                <a:tc>
                  <a:txBody>
                    <a:bodyPr/>
                    <a:lstStyle/>
                    <a:p>
                      <a:pPr algn="ctr"/>
                      <a:r>
                        <a:rPr lang="ar-DZ" sz="2000" b="1" dirty="0">
                          <a:solidFill>
                            <a:schemeClr val="bg1"/>
                          </a:solidFill>
                        </a:rPr>
                        <a:t>11.3</a:t>
                      </a:r>
                      <a:endParaRPr lang="fr-FR" sz="2000" b="1" dirty="0">
                        <a:solidFill>
                          <a:schemeClr val="bg1"/>
                        </a:solidFill>
                      </a:endParaRPr>
                    </a:p>
                  </a:txBody>
                  <a:tcPr>
                    <a:solidFill>
                      <a:srgbClr val="99CC00"/>
                    </a:solidFill>
                  </a:tcPr>
                </a:tc>
                <a:tc>
                  <a:txBody>
                    <a:bodyPr/>
                    <a:lstStyle/>
                    <a:p>
                      <a:pPr algn="ctr"/>
                      <a:r>
                        <a:rPr lang="ar-DZ" sz="2000" b="1" dirty="0">
                          <a:solidFill>
                            <a:schemeClr val="bg1"/>
                          </a:solidFill>
                        </a:rPr>
                        <a:t>8.9</a:t>
                      </a:r>
                      <a:endParaRPr lang="fr-FR" sz="2000" b="1" dirty="0">
                        <a:solidFill>
                          <a:schemeClr val="bg1"/>
                        </a:solidFill>
                      </a:endParaRPr>
                    </a:p>
                  </a:txBody>
                  <a:tcPr>
                    <a:solidFill>
                      <a:srgbClr val="99CC00"/>
                    </a:solidFill>
                  </a:tcPr>
                </a:tc>
                <a:tc>
                  <a:txBody>
                    <a:bodyPr/>
                    <a:lstStyle/>
                    <a:p>
                      <a:pPr algn="ctr"/>
                      <a:r>
                        <a:rPr lang="ar-DZ" sz="2000" b="1" dirty="0">
                          <a:solidFill>
                            <a:schemeClr val="bg1"/>
                          </a:solidFill>
                        </a:rPr>
                        <a:t>2.7</a:t>
                      </a:r>
                      <a:endParaRPr lang="fr-FR" sz="2000" b="1" dirty="0">
                        <a:solidFill>
                          <a:schemeClr val="bg1"/>
                        </a:solidFill>
                      </a:endParaRPr>
                    </a:p>
                  </a:txBody>
                  <a:tcPr>
                    <a:solidFill>
                      <a:srgbClr val="99CC00"/>
                    </a:solidFill>
                  </a:tcPr>
                </a:tc>
                <a:tc>
                  <a:txBody>
                    <a:bodyPr/>
                    <a:lstStyle/>
                    <a:p>
                      <a:r>
                        <a:rPr lang="ar-DZ" b="1" dirty="0"/>
                        <a:t>7.8</a:t>
                      </a:r>
                      <a:endParaRPr lang="fr-FR" b="1" dirty="0"/>
                    </a:p>
                  </a:txBody>
                  <a:tcPr>
                    <a:solidFill>
                      <a:srgbClr val="99CC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ar-DZ" sz="1800" b="1" dirty="0">
                          <a:solidFill>
                            <a:schemeClr val="bg1"/>
                          </a:solidFill>
                        </a:rPr>
                        <a:t>الكثافة </a:t>
                      </a:r>
                      <a:endParaRPr lang="fr-FR" dirty="0"/>
                    </a:p>
                  </a:txBody>
                  <a:tcPr>
                    <a:solidFill>
                      <a:srgbClr val="99CC0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131763935.jpg"/>
          <p:cNvPicPr>
            <a:picLocks noChangeAspect="1"/>
          </p:cNvPicPr>
          <p:nvPr/>
        </p:nvPicPr>
        <p:blipFill>
          <a:blip r:embed="rId2" cstate="print"/>
          <a:stretch>
            <a:fillRect/>
          </a:stretch>
        </p:blipFill>
        <p:spPr>
          <a:xfrm>
            <a:off x="0" y="1"/>
            <a:ext cx="9144000" cy="6858000"/>
          </a:xfrm>
          <a:prstGeom prst="rect">
            <a:avLst/>
          </a:prstGeom>
        </p:spPr>
      </p:pic>
      <p:sp>
        <p:nvSpPr>
          <p:cNvPr id="83969" name="Rectangle 1"/>
          <p:cNvSpPr>
            <a:spLocks noChangeArrowheads="1"/>
          </p:cNvSpPr>
          <p:nvPr/>
        </p:nvSpPr>
        <p:spPr bwMode="auto">
          <a:xfrm>
            <a:off x="1907704" y="2117823"/>
            <a:ext cx="5904656" cy="5078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800" b="0" i="0" u="none" strike="noStrike" cap="none" normalizeH="0" baseline="0" dirty="0">
                <a:ln>
                  <a:noFill/>
                </a:ln>
                <a:solidFill>
                  <a:schemeClr val="tx1"/>
                </a:solidFill>
                <a:effectLst/>
                <a:latin typeface="Arial" pitchFamily="34" charset="0"/>
                <a:cs typeface="Arial" pitchFamily="34" charset="0"/>
              </a:rPr>
            </a:br>
            <a:r>
              <a:rPr kumimoji="0" lang="fr-FR" sz="1800" b="1" i="0" u="none" strike="noStrike" cap="none" normalizeH="0" baseline="0" dirty="0">
                <a:ln>
                  <a:noFill/>
                </a:ln>
                <a:solidFill>
                  <a:schemeClr val="tx1"/>
                </a:solidFill>
                <a:effectLst/>
                <a:latin typeface="Arial" pitchFamily="34" charset="0"/>
                <a:cs typeface="Arial" pitchFamily="34" charset="0"/>
              </a:rPr>
              <a:t>  </a:t>
            </a:r>
            <a:r>
              <a:rPr kumimoji="0" lang="fr-FR" sz="1900" b="0" i="0" u="none" strike="noStrike" cap="none" normalizeH="0" baseline="0" dirty="0">
                <a:ln>
                  <a:noFill/>
                </a:ln>
                <a:solidFill>
                  <a:schemeClr val="tx1"/>
                </a:solidFill>
                <a:effectLst/>
                <a:latin typeface="Arial" pitchFamily="34" charset="0"/>
                <a:cs typeface="Arial" pitchFamily="34" charset="0"/>
              </a:rPr>
              <a:t> </a:t>
            </a:r>
            <a:endParaRPr kumimoji="0" lang="fr-FR" sz="1800" b="1" i="0" u="none" strike="noStrike" cap="none" normalizeH="0" baseline="0" dirty="0">
              <a:ln>
                <a:noFill/>
              </a:ln>
              <a:solidFill>
                <a:schemeClr val="tx1"/>
              </a:solidFill>
              <a:effectLst/>
              <a:latin typeface="Arial" pitchFamily="34" charset="0"/>
              <a:cs typeface="Arial" pitchFamily="34" charset="0"/>
            </a:endParaRPr>
          </a:p>
        </p:txBody>
      </p:sp>
      <p:sp>
        <p:nvSpPr>
          <p:cNvPr id="83970" name="AutoShape 2" descr="http://files.muslmah.net/Mar15/1425404830691.png"/>
          <p:cNvSpPr>
            <a:spLocks noChangeAspect="1" noChangeArrowheads="1"/>
          </p:cNvSpPr>
          <p:nvPr/>
        </p:nvSpPr>
        <p:spPr bwMode="auto">
          <a:xfrm>
            <a:off x="155575" y="8778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الادماجية  </a:t>
            </a:r>
            <a:endParaRPr lang="fr-FR" sz="2800" b="1" dirty="0">
              <a:solidFill>
                <a:schemeClr val="bg1"/>
              </a:solidFill>
            </a:endParaRPr>
          </a:p>
        </p:txBody>
      </p:sp>
      <p:sp>
        <p:nvSpPr>
          <p:cNvPr id="7" name="Rectangle à coins arrondis 6"/>
          <p:cNvSpPr/>
          <p:nvPr/>
        </p:nvSpPr>
        <p:spPr>
          <a:xfrm>
            <a:off x="0" y="1268760"/>
            <a:ext cx="9144000" cy="5589240"/>
          </a:xfrm>
          <a:prstGeom prst="roundRect">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b="1" dirty="0">
              <a:solidFill>
                <a:schemeClr val="bg1"/>
              </a:solidFill>
            </a:endParaRPr>
          </a:p>
        </p:txBody>
      </p:sp>
      <p:graphicFrame>
        <p:nvGraphicFramePr>
          <p:cNvPr id="8" name="Tableau 7"/>
          <p:cNvGraphicFramePr>
            <a:graphicFrameLocks noGrp="1"/>
          </p:cNvGraphicFramePr>
          <p:nvPr/>
        </p:nvGraphicFramePr>
        <p:xfrm>
          <a:off x="107504" y="1052736"/>
          <a:ext cx="9036496" cy="5805264"/>
        </p:xfrm>
        <a:graphic>
          <a:graphicData uri="http://schemas.openxmlformats.org/drawingml/2006/table">
            <a:tbl>
              <a:tblPr firstRow="1" bandRow="1">
                <a:tableStyleId>{5C22544A-7EE6-4342-B048-85BDC9FD1C3A}</a:tableStyleId>
              </a:tblPr>
              <a:tblGrid>
                <a:gridCol w="9036496">
                  <a:extLst>
                    <a:ext uri="{9D8B030D-6E8A-4147-A177-3AD203B41FA5}">
                      <a16:colId xmlns:a16="http://schemas.microsoft.com/office/drawing/2014/main" val="20000"/>
                    </a:ext>
                  </a:extLst>
                </a:gridCol>
              </a:tblGrid>
              <a:tr h="5805264">
                <a:tc>
                  <a:txBody>
                    <a:bodyPr/>
                    <a:lstStyle/>
                    <a:p>
                      <a:pPr algn="r"/>
                      <a:r>
                        <a:rPr kumimoji="0" lang="ar-DZ" sz="2400" b="1" kern="1200" dirty="0">
                          <a:solidFill>
                            <a:schemeClr val="bg1"/>
                          </a:solidFill>
                          <a:latin typeface="+mn-lt"/>
                          <a:ea typeface="+mn-ea"/>
                          <a:cs typeface="+mn-cs"/>
                        </a:rPr>
                        <a:t>عندما كان زكريا عائدا ليلا الى</a:t>
                      </a:r>
                      <a:r>
                        <a:rPr kumimoji="0" lang="ar-DZ" sz="2400" b="1" kern="1200" baseline="0" dirty="0">
                          <a:solidFill>
                            <a:schemeClr val="bg1"/>
                          </a:solidFill>
                          <a:latin typeface="+mn-lt"/>
                          <a:ea typeface="+mn-ea"/>
                          <a:cs typeface="+mn-cs"/>
                        </a:rPr>
                        <a:t> منزله بالدراجة </a:t>
                      </a:r>
                    </a:p>
                    <a:p>
                      <a:pPr algn="r"/>
                      <a:r>
                        <a:rPr kumimoji="0" lang="ar-DZ" sz="2400" b="1" kern="1200" baseline="0" dirty="0">
                          <a:solidFill>
                            <a:schemeClr val="bg1"/>
                          </a:solidFill>
                          <a:latin typeface="+mn-lt"/>
                          <a:ea typeface="+mn-ea"/>
                          <a:cs typeface="+mn-cs"/>
                        </a:rPr>
                        <a:t>الهوائية لم يتوهج المصباح فاندهش  رغم ان </a:t>
                      </a:r>
                    </a:p>
                    <a:p>
                      <a:pPr algn="r"/>
                      <a:r>
                        <a:rPr kumimoji="0" lang="ar-DZ" sz="2400" b="1" kern="1200" baseline="0" dirty="0">
                          <a:solidFill>
                            <a:schemeClr val="bg1"/>
                          </a:solidFill>
                          <a:latin typeface="+mn-lt"/>
                          <a:ea typeface="+mn-ea"/>
                          <a:cs typeface="+mn-cs"/>
                        </a:rPr>
                        <a:t>المصباح غير فاسد ولما وصل الى البيت </a:t>
                      </a:r>
                    </a:p>
                    <a:p>
                      <a:pPr algn="r"/>
                      <a:r>
                        <a:rPr kumimoji="0" lang="ar-DZ" sz="2400" b="1" kern="1200" baseline="0" dirty="0">
                          <a:solidFill>
                            <a:schemeClr val="bg1"/>
                          </a:solidFill>
                          <a:latin typeface="+mn-lt"/>
                          <a:ea typeface="+mn-ea"/>
                          <a:cs typeface="+mn-cs"/>
                        </a:rPr>
                        <a:t>اكدت له امه انها تصاب بصدمة كهربائية  </a:t>
                      </a:r>
                    </a:p>
                    <a:p>
                      <a:pPr algn="r"/>
                      <a:r>
                        <a:rPr kumimoji="0" lang="ar-DZ" sz="2400" b="1" kern="1200" baseline="0" dirty="0">
                          <a:solidFill>
                            <a:schemeClr val="bg1"/>
                          </a:solidFill>
                          <a:latin typeface="+mn-lt"/>
                          <a:ea typeface="+mn-ea"/>
                          <a:cs typeface="+mn-cs"/>
                        </a:rPr>
                        <a:t>كلما لمست هيكل الثلاجة مما جعلها تخاف </a:t>
                      </a:r>
                    </a:p>
                    <a:p>
                      <a:pPr algn="r"/>
                      <a:r>
                        <a:rPr kumimoji="0" lang="ar-DZ" sz="2400" b="1" kern="1200" baseline="0" dirty="0">
                          <a:solidFill>
                            <a:schemeClr val="bg1"/>
                          </a:solidFill>
                          <a:latin typeface="+mn-lt"/>
                          <a:ea typeface="+mn-ea"/>
                          <a:cs typeface="+mn-cs"/>
                        </a:rPr>
                        <a:t>من لمسها مرة اخرى من اجل غسل الملابس </a:t>
                      </a:r>
                    </a:p>
                    <a:p>
                      <a:pPr algn="r"/>
                      <a:r>
                        <a:rPr kumimoji="0" lang="ar-DZ" sz="2400" b="1" kern="1200" dirty="0">
                          <a:solidFill>
                            <a:schemeClr val="bg1"/>
                          </a:solidFill>
                          <a:latin typeface="+mn-lt"/>
                          <a:ea typeface="+mn-ea"/>
                          <a:cs typeface="+mn-cs"/>
                        </a:rPr>
                        <a:t>1-</a:t>
                      </a:r>
                      <a:r>
                        <a:rPr kumimoji="0" lang="ar-DZ" sz="2400" b="1" kern="1200" dirty="0" err="1">
                          <a:solidFill>
                            <a:schemeClr val="bg1"/>
                          </a:solidFill>
                          <a:latin typeface="+mn-lt"/>
                          <a:ea typeface="+mn-ea"/>
                          <a:cs typeface="+mn-cs"/>
                        </a:rPr>
                        <a:t>برايك</a:t>
                      </a:r>
                      <a:r>
                        <a:rPr kumimoji="0" lang="ar-DZ" sz="2400" b="1" kern="1200" dirty="0">
                          <a:solidFill>
                            <a:schemeClr val="bg1"/>
                          </a:solidFill>
                          <a:latin typeface="+mn-lt"/>
                          <a:ea typeface="+mn-ea"/>
                          <a:cs typeface="+mn-cs"/>
                        </a:rPr>
                        <a:t> </a:t>
                      </a:r>
                      <a:r>
                        <a:rPr kumimoji="0" lang="ar-DZ" sz="2400" b="1" kern="1200" dirty="0" err="1">
                          <a:solidFill>
                            <a:schemeClr val="bg1"/>
                          </a:solidFill>
                          <a:latin typeface="+mn-lt"/>
                          <a:ea typeface="+mn-ea"/>
                          <a:cs typeface="+mn-cs"/>
                        </a:rPr>
                        <a:t>ماهي</a:t>
                      </a:r>
                      <a:r>
                        <a:rPr kumimoji="0" lang="ar-DZ" sz="2400" b="1" kern="1200" dirty="0">
                          <a:solidFill>
                            <a:schemeClr val="bg1"/>
                          </a:solidFill>
                          <a:latin typeface="+mn-lt"/>
                          <a:ea typeface="+mn-ea"/>
                          <a:cs typeface="+mn-cs"/>
                        </a:rPr>
                        <a:t> الاحتمالات التي جعلت المصباح </a:t>
                      </a:r>
                    </a:p>
                    <a:p>
                      <a:pPr algn="r"/>
                      <a:r>
                        <a:rPr kumimoji="0" lang="ar-DZ" sz="2400" b="1" kern="1200" dirty="0">
                          <a:solidFill>
                            <a:schemeClr val="bg1"/>
                          </a:solidFill>
                          <a:latin typeface="+mn-lt"/>
                          <a:ea typeface="+mn-ea"/>
                          <a:cs typeface="+mn-cs"/>
                        </a:rPr>
                        <a:t>لا </a:t>
                      </a:r>
                      <a:r>
                        <a:rPr kumimoji="0" lang="ar-DZ" sz="2400" b="1" kern="1200" dirty="0" err="1">
                          <a:solidFill>
                            <a:schemeClr val="bg1"/>
                          </a:solidFill>
                          <a:latin typeface="+mn-lt"/>
                          <a:ea typeface="+mn-ea"/>
                          <a:cs typeface="+mn-cs"/>
                        </a:rPr>
                        <a:t>يتوهج ؟</a:t>
                      </a:r>
                      <a:endParaRPr kumimoji="0" lang="ar-DZ" sz="2400" b="1" kern="1200" dirty="0">
                        <a:solidFill>
                          <a:schemeClr val="bg1"/>
                        </a:solidFill>
                        <a:latin typeface="+mn-lt"/>
                        <a:ea typeface="+mn-ea"/>
                        <a:cs typeface="+mn-cs"/>
                      </a:endParaRPr>
                    </a:p>
                    <a:p>
                      <a:pPr algn="r"/>
                      <a:r>
                        <a:rPr lang="ar-DZ" sz="2400" b="1" baseline="0" dirty="0">
                          <a:solidFill>
                            <a:schemeClr val="bg1"/>
                          </a:solidFill>
                        </a:rPr>
                        <a:t>2-اذكر سبب اصابة الام بصدمة كهربائية</a:t>
                      </a:r>
                    </a:p>
                    <a:p>
                      <a:pPr algn="r"/>
                      <a:r>
                        <a:rPr lang="ar-DZ" sz="2400" b="1" baseline="0" dirty="0">
                          <a:solidFill>
                            <a:schemeClr val="bg1"/>
                          </a:solidFill>
                        </a:rPr>
                        <a:t>3-اقترح حلا مناسبا لمشكلة الغسالة مع الرسم</a:t>
                      </a:r>
                    </a:p>
                    <a:p>
                      <a:pPr algn="r"/>
                      <a:r>
                        <a:rPr lang="ar-DZ" sz="2400" b="1" baseline="0" dirty="0">
                          <a:solidFill>
                            <a:schemeClr val="bg1"/>
                          </a:solidFill>
                        </a:rPr>
                        <a:t>الصحيح   </a:t>
                      </a:r>
                    </a:p>
                  </a:txBody>
                  <a:tcPr>
                    <a:solidFill>
                      <a:schemeClr val="tx1"/>
                    </a:solidFill>
                  </a:tcPr>
                </a:tc>
                <a:extLst>
                  <a:ext uri="{0D108BD9-81ED-4DB2-BD59-A6C34878D82A}">
                    <a16:rowId xmlns:a16="http://schemas.microsoft.com/office/drawing/2014/main" val="10000"/>
                  </a:ext>
                </a:extLst>
              </a:tr>
            </a:tbl>
          </a:graphicData>
        </a:graphic>
      </p:graphicFrame>
      <p:pic>
        <p:nvPicPr>
          <p:cNvPr id="11" name="Image 10" descr="maxresdefault.jpg"/>
          <p:cNvPicPr/>
          <p:nvPr/>
        </p:nvPicPr>
        <p:blipFill>
          <a:blip r:embed="rId3" cstate="email">
            <a:extLst>
              <a:ext uri="{28A0092B-C50C-407E-A947-70E740481C1C}">
                <a14:useLocalDpi xmlns:a14="http://schemas.microsoft.com/office/drawing/2010/main"/>
              </a:ext>
            </a:extLst>
          </a:blip>
          <a:stretch>
            <a:fillRect/>
          </a:stretch>
        </p:blipFill>
        <p:spPr>
          <a:xfrm>
            <a:off x="611560" y="1556792"/>
            <a:ext cx="3267075" cy="2085975"/>
          </a:xfrm>
          <a:prstGeom prst="rect">
            <a:avLst/>
          </a:prstGeom>
        </p:spPr>
      </p:pic>
      <p:pic>
        <p:nvPicPr>
          <p:cNvPr id="10"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11560" y="4149080"/>
            <a:ext cx="2808312" cy="2448272"/>
          </a:xfrm>
          <a:prstGeom prst="rect">
            <a:avLst/>
          </a:prstGeom>
          <a:noFill/>
          <a:ln w="9525">
            <a:noFill/>
            <a:miter lim="800000"/>
            <a:headEnd/>
            <a:tailEnd/>
          </a:ln>
        </p:spPr>
      </p:pic>
      <p:sp>
        <p:nvSpPr>
          <p:cNvPr id="12" name="Rectangle à coins arrondis 11"/>
          <p:cNvSpPr/>
          <p:nvPr/>
        </p:nvSpPr>
        <p:spPr>
          <a:xfrm>
            <a:off x="3347864" y="4581128"/>
            <a:ext cx="648072" cy="2880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1</a:t>
            </a:r>
            <a:r>
              <a:rPr lang="ar-DZ" b="1" dirty="0">
                <a:solidFill>
                  <a:schemeClr val="bg1"/>
                </a:solidFill>
              </a:rPr>
              <a:t>5</a:t>
            </a:r>
            <a:r>
              <a:rPr lang="fr-FR" b="1" dirty="0">
                <a:solidFill>
                  <a:schemeClr val="bg1"/>
                </a:solidFill>
              </a:rPr>
              <a:t>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0" y="980728"/>
            <a:ext cx="9144000" cy="551723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1-افسر انطلاق غاز وتشكل محلول جديد </a:t>
            </a:r>
          </a:p>
          <a:p>
            <a:pPr algn="r"/>
            <a:r>
              <a:rPr lang="ar-DZ" sz="2400" b="1" dirty="0">
                <a:solidFill>
                  <a:schemeClr val="bg1"/>
                </a:solidFill>
              </a:rPr>
              <a:t>حدوث تفاعل بين معدن الزنك  ومحلول حمض </a:t>
            </a:r>
            <a:r>
              <a:rPr lang="ar-DZ" sz="2400" b="1" dirty="0" err="1">
                <a:solidFill>
                  <a:schemeClr val="bg1"/>
                </a:solidFill>
              </a:rPr>
              <a:t>كلور</a:t>
            </a:r>
            <a:r>
              <a:rPr lang="ar-DZ" sz="2400" b="1" dirty="0">
                <a:solidFill>
                  <a:schemeClr val="bg1"/>
                </a:solidFill>
              </a:rPr>
              <a:t> الماء ادى الى</a:t>
            </a:r>
          </a:p>
          <a:p>
            <a:pPr algn="r"/>
            <a:r>
              <a:rPr lang="ar-DZ" sz="2400" b="1" dirty="0">
                <a:solidFill>
                  <a:schemeClr val="bg1"/>
                </a:solidFill>
              </a:rPr>
              <a:t>انطلاق غاز ثنائي الهيدروجين وتشكل جديد هو محلول </a:t>
            </a:r>
            <a:r>
              <a:rPr lang="ar-DZ" sz="2400" b="1" dirty="0" err="1">
                <a:solidFill>
                  <a:schemeClr val="bg1"/>
                </a:solidFill>
              </a:rPr>
              <a:t>كلور</a:t>
            </a:r>
            <a:r>
              <a:rPr lang="ar-DZ" sz="2400" b="1" dirty="0">
                <a:solidFill>
                  <a:schemeClr val="bg1"/>
                </a:solidFill>
              </a:rPr>
              <a:t> الزنك </a:t>
            </a:r>
          </a:p>
          <a:p>
            <a:pPr algn="r"/>
            <a:r>
              <a:rPr lang="ar-DZ" sz="2400" b="1" dirty="0">
                <a:solidFill>
                  <a:schemeClr val="bg1"/>
                </a:solidFill>
              </a:rPr>
              <a:t>2-كتابة  معادلة التفاعل بالصيغة </a:t>
            </a:r>
            <a:r>
              <a:rPr lang="ar-DZ" sz="2400" b="1" dirty="0" err="1">
                <a:solidFill>
                  <a:schemeClr val="bg1"/>
                </a:solidFill>
              </a:rPr>
              <a:t>الشاردية</a:t>
            </a:r>
            <a:r>
              <a:rPr lang="ar-DZ" sz="2400" b="1" dirty="0">
                <a:solidFill>
                  <a:schemeClr val="bg1"/>
                </a:solidFill>
              </a:rPr>
              <a:t> </a:t>
            </a:r>
          </a:p>
          <a:p>
            <a:pPr algn="r"/>
            <a:r>
              <a:rPr lang="fr-FR" sz="2400" b="1" dirty="0">
                <a:solidFill>
                  <a:schemeClr val="bg1"/>
                </a:solidFill>
              </a:rPr>
              <a:t>Zn(S)+2(H</a:t>
            </a:r>
            <a:r>
              <a:rPr lang="fr-FR" sz="2400" b="1" baseline="30000" dirty="0">
                <a:solidFill>
                  <a:schemeClr val="bg1"/>
                </a:solidFill>
              </a:rPr>
              <a:t>+</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(Zn</a:t>
            </a:r>
            <a:r>
              <a:rPr lang="fr-FR" sz="2400" b="1" baseline="30000" dirty="0">
                <a:solidFill>
                  <a:schemeClr val="bg1"/>
                </a:solidFill>
              </a:rPr>
              <a:t>2+</a:t>
            </a:r>
            <a:r>
              <a:rPr lang="fr-FR" sz="2400" b="1" dirty="0">
                <a:solidFill>
                  <a:schemeClr val="bg1"/>
                </a:solidFill>
              </a:rPr>
              <a:t>+2Cl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(g)   </a:t>
            </a:r>
            <a:endParaRPr lang="ar-DZ" sz="2400" b="1" dirty="0">
              <a:solidFill>
                <a:schemeClr val="bg1"/>
              </a:solidFill>
            </a:endParaRPr>
          </a:p>
          <a:p>
            <a:pPr algn="r"/>
            <a:r>
              <a:rPr lang="ar-DZ" sz="2400" b="1" dirty="0">
                <a:solidFill>
                  <a:schemeClr val="bg1"/>
                </a:solidFill>
              </a:rPr>
              <a:t>-معادلة التفاعل بالصيغة الاحصائية هي</a:t>
            </a:r>
          </a:p>
          <a:p>
            <a:pPr algn="r"/>
            <a:r>
              <a:rPr lang="fr-FR" sz="2400" b="1" dirty="0">
                <a:solidFill>
                  <a:schemeClr val="bg1"/>
                </a:solidFill>
              </a:rPr>
              <a:t>Zn(S)+</a:t>
            </a:r>
            <a:r>
              <a:rPr lang="ar-DZ" sz="2400" b="1" dirty="0">
                <a:solidFill>
                  <a:schemeClr val="bg1"/>
                </a:solidFill>
              </a:rPr>
              <a:t> </a:t>
            </a:r>
            <a:r>
              <a:rPr lang="fr-FR" sz="2400" b="1" dirty="0">
                <a:solidFill>
                  <a:schemeClr val="bg1"/>
                </a:solidFill>
              </a:rPr>
              <a:t>2 </a:t>
            </a:r>
            <a:r>
              <a:rPr lang="fr-FR" sz="2400" b="1" dirty="0" err="1">
                <a:solidFill>
                  <a:schemeClr val="bg1"/>
                </a:solidFill>
              </a:rPr>
              <a:t>HCl</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fr-FR" sz="2400" b="1" dirty="0">
                <a:solidFill>
                  <a:schemeClr val="bg1"/>
                </a:solidFill>
              </a:rPr>
              <a:t>                  ZnCl</a:t>
            </a:r>
            <a:r>
              <a:rPr lang="fr-FR" sz="2400" b="1" baseline="-25000" dirty="0">
                <a:solidFill>
                  <a:schemeClr val="bg1"/>
                </a:solidFill>
              </a:rPr>
              <a:t>2</a:t>
            </a:r>
            <a:r>
              <a:rPr lang="fr-FR" sz="2400" b="1" dirty="0">
                <a:solidFill>
                  <a:schemeClr val="bg1"/>
                </a:solidFill>
              </a:rPr>
              <a:t> (</a:t>
            </a:r>
            <a:r>
              <a:rPr lang="fr-FR" sz="2400" b="1" dirty="0" err="1">
                <a:solidFill>
                  <a:schemeClr val="bg1"/>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(g)   </a:t>
            </a:r>
            <a:endParaRPr lang="ar-DZ" sz="2400" b="1" dirty="0">
              <a:solidFill>
                <a:schemeClr val="bg1"/>
              </a:solidFill>
            </a:endParaRPr>
          </a:p>
          <a:p>
            <a:pPr algn="r"/>
            <a:r>
              <a:rPr lang="ar-DZ" sz="2400" b="1" dirty="0">
                <a:solidFill>
                  <a:schemeClr val="bg1"/>
                </a:solidFill>
              </a:rPr>
              <a:t>3-اكمال </a:t>
            </a:r>
            <a:r>
              <a:rPr lang="ar-DZ" sz="2400" b="1" dirty="0" err="1">
                <a:solidFill>
                  <a:schemeClr val="bg1"/>
                </a:solidFill>
              </a:rPr>
              <a:t>نمذجة</a:t>
            </a:r>
            <a:r>
              <a:rPr lang="ar-DZ" sz="2400" b="1" dirty="0">
                <a:solidFill>
                  <a:schemeClr val="bg1"/>
                </a:solidFill>
              </a:rPr>
              <a:t> معادلتي التفاعل  عند التحليل الكهربائي للمحلول الناتج في كل مسرى</a:t>
            </a:r>
          </a:p>
          <a:p>
            <a:r>
              <a:rPr lang="fr-FR" sz="2400" b="1" dirty="0">
                <a:solidFill>
                  <a:srgbClr val="FF0000"/>
                </a:solidFill>
              </a:rPr>
              <a:t>2</a:t>
            </a:r>
            <a:r>
              <a:rPr lang="fr-FR" sz="2400" b="1" dirty="0">
                <a:solidFill>
                  <a:schemeClr val="bg1"/>
                </a:solidFill>
              </a:rPr>
              <a:t> Cl</a:t>
            </a:r>
            <a:r>
              <a:rPr lang="fr-FR" sz="2400" b="1" baseline="30000" dirty="0">
                <a:solidFill>
                  <a:schemeClr val="bg1"/>
                </a:solidFill>
              </a:rPr>
              <a:t>-</a:t>
            </a:r>
            <a:r>
              <a:rPr lang="fr-FR" sz="2400" b="1" dirty="0">
                <a:solidFill>
                  <a:schemeClr val="bg1"/>
                </a:solidFill>
              </a:rPr>
              <a:t>                Cl</a:t>
            </a:r>
            <a:r>
              <a:rPr lang="fr-FR" sz="2400" b="1" baseline="-25000" dirty="0">
                <a:solidFill>
                  <a:schemeClr val="bg1"/>
                </a:solidFill>
              </a:rPr>
              <a:t>2</a:t>
            </a:r>
            <a:r>
              <a:rPr lang="ar-DZ" sz="2400" b="1" baseline="-25000" dirty="0">
                <a:solidFill>
                  <a:schemeClr val="bg1"/>
                </a:solidFill>
              </a:rPr>
              <a:t> </a:t>
            </a:r>
            <a:r>
              <a:rPr lang="fr-FR" sz="2400" b="1" dirty="0">
                <a:solidFill>
                  <a:schemeClr val="bg1"/>
                </a:solidFill>
              </a:rPr>
              <a:t>+</a:t>
            </a:r>
            <a:r>
              <a:rPr lang="fr-FR" sz="2400" b="1" dirty="0">
                <a:solidFill>
                  <a:srgbClr val="FF0000"/>
                </a:solidFill>
              </a:rPr>
              <a:t>2</a:t>
            </a:r>
            <a:r>
              <a:rPr lang="fr-FR" sz="2400" b="1" dirty="0">
                <a:solidFill>
                  <a:schemeClr val="bg1"/>
                </a:solidFill>
              </a:rPr>
              <a:t>e         </a:t>
            </a:r>
            <a:r>
              <a:rPr lang="ar-DZ" sz="2400" b="1" dirty="0">
                <a:solidFill>
                  <a:schemeClr val="bg1"/>
                </a:solidFill>
              </a:rPr>
              <a:t> في المصعد</a:t>
            </a:r>
            <a:r>
              <a:rPr lang="fr-FR" sz="2400" b="1" dirty="0">
                <a:solidFill>
                  <a:schemeClr val="bg1"/>
                </a:solidFill>
              </a:rPr>
              <a:t>  </a:t>
            </a:r>
            <a:r>
              <a:rPr lang="ar-DZ" sz="2400" b="1" dirty="0">
                <a:solidFill>
                  <a:schemeClr val="bg1"/>
                </a:solidFill>
              </a:rPr>
              <a:t> </a:t>
            </a:r>
          </a:p>
          <a:p>
            <a:pPr algn="ctr"/>
            <a:r>
              <a:rPr lang="fr-FR" sz="2400" b="1" dirty="0">
                <a:solidFill>
                  <a:schemeClr val="bg1"/>
                </a:solidFill>
              </a:rPr>
              <a:t>Zn</a:t>
            </a:r>
            <a:r>
              <a:rPr lang="fr-FR" sz="2400" b="1" baseline="30000" dirty="0">
                <a:solidFill>
                  <a:schemeClr val="bg1"/>
                </a:solidFill>
              </a:rPr>
              <a:t>2+ </a:t>
            </a:r>
            <a:r>
              <a:rPr lang="fr-FR" sz="2400" b="1" dirty="0">
                <a:solidFill>
                  <a:schemeClr val="bg1"/>
                </a:solidFill>
              </a:rPr>
              <a:t>+</a:t>
            </a:r>
            <a:r>
              <a:rPr lang="fr-FR" sz="2400" b="1" dirty="0">
                <a:solidFill>
                  <a:srgbClr val="FF0000"/>
                </a:solidFill>
              </a:rPr>
              <a:t>2</a:t>
            </a:r>
            <a:r>
              <a:rPr lang="fr-FR" sz="2400" b="1" baseline="30000" dirty="0">
                <a:solidFill>
                  <a:schemeClr val="bg1"/>
                </a:solidFill>
              </a:rPr>
              <a:t>e</a:t>
            </a:r>
            <a:r>
              <a:rPr lang="fr-FR" sz="2400" b="1" dirty="0">
                <a:solidFill>
                  <a:schemeClr val="bg1"/>
                </a:solidFill>
              </a:rPr>
              <a:t>                 Zn</a:t>
            </a:r>
            <a:r>
              <a:rPr lang="ar-DZ" sz="2400" b="1" dirty="0">
                <a:solidFill>
                  <a:schemeClr val="bg1"/>
                </a:solidFill>
              </a:rPr>
              <a:t>                                                في المهبط     </a:t>
            </a:r>
            <a:r>
              <a:rPr lang="fr-FR" sz="2400" b="1" dirty="0">
                <a:solidFill>
                  <a:schemeClr val="bg1"/>
                </a:solidFill>
              </a:rPr>
              <a:t>   </a:t>
            </a:r>
            <a:endParaRPr lang="ar-DZ" sz="2400" b="1" dirty="0">
              <a:solidFill>
                <a:schemeClr val="bg1"/>
              </a:solidFill>
            </a:endParaRPr>
          </a:p>
          <a:p>
            <a:pPr algn="ctr"/>
            <a:r>
              <a:rPr lang="ar-DZ" sz="2400" b="1" dirty="0">
                <a:solidFill>
                  <a:schemeClr val="bg1"/>
                </a:solidFill>
              </a:rPr>
              <a:t>المعادلة الاجمالية</a:t>
            </a:r>
          </a:p>
          <a:p>
            <a:pPr algn="ctr"/>
            <a:r>
              <a:rPr lang="fr-FR" sz="2400" b="1" dirty="0">
                <a:solidFill>
                  <a:schemeClr val="bg1"/>
                </a:solidFill>
              </a:rPr>
              <a:t>2 Cl</a:t>
            </a:r>
            <a:r>
              <a:rPr lang="fr-FR" sz="2400" b="1" baseline="30000" dirty="0">
                <a:solidFill>
                  <a:schemeClr val="bg1"/>
                </a:solidFill>
              </a:rPr>
              <a:t>-</a:t>
            </a:r>
            <a:r>
              <a:rPr lang="fr-FR" sz="2400" b="1" dirty="0">
                <a:solidFill>
                  <a:schemeClr val="bg1"/>
                </a:solidFill>
              </a:rPr>
              <a:t> (</a:t>
            </a:r>
            <a:r>
              <a:rPr lang="fr-FR" sz="2400" b="1" dirty="0" err="1">
                <a:solidFill>
                  <a:schemeClr val="bg1"/>
                </a:solidFill>
              </a:rPr>
              <a:t>aq</a:t>
            </a:r>
            <a:r>
              <a:rPr lang="fr-FR" sz="2400" b="1" dirty="0">
                <a:solidFill>
                  <a:schemeClr val="bg1"/>
                </a:solidFill>
              </a:rPr>
              <a:t>)</a:t>
            </a:r>
            <a:r>
              <a:rPr lang="ar-DZ" sz="2400" b="1" dirty="0">
                <a:solidFill>
                  <a:schemeClr val="bg1"/>
                </a:solidFill>
              </a:rPr>
              <a:t>  </a:t>
            </a:r>
            <a:r>
              <a:rPr lang="ar-DZ" sz="2400" b="1" dirty="0" err="1">
                <a:solidFill>
                  <a:schemeClr val="bg1"/>
                </a:solidFill>
              </a:rPr>
              <a:t>+</a:t>
            </a:r>
            <a:r>
              <a:rPr lang="ar-DZ" sz="2400" b="1" dirty="0">
                <a:solidFill>
                  <a:schemeClr val="bg1"/>
                </a:solidFill>
              </a:rPr>
              <a:t> </a:t>
            </a:r>
            <a:r>
              <a:rPr lang="fr-FR" sz="2400" b="1" dirty="0">
                <a:solidFill>
                  <a:schemeClr val="bg1"/>
                </a:solidFill>
              </a:rPr>
              <a:t>Zn</a:t>
            </a:r>
            <a:r>
              <a:rPr lang="fr-FR" sz="2400" b="1" baseline="30000" dirty="0">
                <a:solidFill>
                  <a:schemeClr val="bg1"/>
                </a:solidFill>
              </a:rPr>
              <a:t>2+ </a:t>
            </a:r>
            <a:r>
              <a:rPr lang="fr-FR" sz="2400" b="1" dirty="0">
                <a:solidFill>
                  <a:schemeClr val="bg1"/>
                </a:solidFill>
              </a:rPr>
              <a:t>(</a:t>
            </a:r>
            <a:r>
              <a:rPr lang="fr-FR" sz="2400" b="1" dirty="0" err="1">
                <a:solidFill>
                  <a:schemeClr val="bg1"/>
                </a:solidFill>
              </a:rPr>
              <a:t>aq</a:t>
            </a:r>
            <a:r>
              <a:rPr lang="fr-FR" sz="2400" b="1" dirty="0">
                <a:solidFill>
                  <a:schemeClr val="bg1"/>
                </a:solidFill>
              </a:rPr>
              <a:t>)</a:t>
            </a:r>
            <a:r>
              <a:rPr lang="fr-FR" sz="2400" b="1" baseline="30000" dirty="0">
                <a:solidFill>
                  <a:schemeClr val="bg1"/>
                </a:solidFill>
              </a:rPr>
              <a:t>                         </a:t>
            </a:r>
            <a:r>
              <a:rPr lang="fr-FR" sz="2400" b="1" dirty="0">
                <a:solidFill>
                  <a:schemeClr val="bg1"/>
                </a:solidFill>
              </a:rPr>
              <a:t>Zn(s)</a:t>
            </a:r>
            <a:r>
              <a:rPr lang="fr-FR" sz="2400" b="1" baseline="30000" dirty="0">
                <a:solidFill>
                  <a:schemeClr val="bg1"/>
                </a:solidFill>
              </a:rPr>
              <a:t>    +    </a:t>
            </a:r>
            <a:r>
              <a:rPr lang="fr-FR" sz="2400" b="1" dirty="0">
                <a:solidFill>
                  <a:schemeClr val="bg1"/>
                </a:solidFill>
              </a:rPr>
              <a:t>Cl</a:t>
            </a:r>
            <a:r>
              <a:rPr lang="fr-FR" sz="2400" b="1" baseline="-25000" dirty="0">
                <a:solidFill>
                  <a:schemeClr val="bg1"/>
                </a:solidFill>
              </a:rPr>
              <a:t>2</a:t>
            </a:r>
            <a:r>
              <a:rPr lang="fr-FR" sz="2400" b="1" dirty="0">
                <a:solidFill>
                  <a:schemeClr val="bg1"/>
                </a:solidFill>
              </a:rPr>
              <a:t> (g)</a:t>
            </a:r>
          </a:p>
          <a:p>
            <a:pPr algn="r"/>
            <a:endParaRPr lang="ar-DZ" sz="3200" b="1" dirty="0">
              <a:solidFill>
                <a:schemeClr val="bg1"/>
              </a:solidFill>
            </a:endParaRPr>
          </a:p>
        </p:txBody>
      </p:sp>
      <p:cxnSp>
        <p:nvCxnSpPr>
          <p:cNvPr id="14" name="Connecteur droit avec flèche 13"/>
          <p:cNvCxnSpPr/>
          <p:nvPr/>
        </p:nvCxnSpPr>
        <p:spPr>
          <a:xfrm>
            <a:off x="5292080" y="3789040"/>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1979712" y="4869160"/>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1259632" y="4437112"/>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a:off x="4644008" y="2996952"/>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a:off x="4716016" y="5517232"/>
            <a:ext cx="648072"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à coins arrondis 18"/>
          <p:cNvSpPr/>
          <p:nvPr/>
        </p:nvSpPr>
        <p:spPr>
          <a:xfrm>
            <a:off x="1547664" y="0"/>
            <a:ext cx="6192688"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4000" b="1" dirty="0">
                <a:solidFill>
                  <a:schemeClr val="bg1"/>
                </a:solidFill>
              </a:rPr>
              <a:t>حل التمرين الاول </a:t>
            </a:r>
            <a:r>
              <a:rPr lang="ar-DZ" sz="2800" b="1" dirty="0">
                <a:solidFill>
                  <a:schemeClr val="bg1"/>
                </a:solidFill>
              </a:rPr>
              <a:t>  </a:t>
            </a:r>
            <a:endParaRPr lang="fr-FR" sz="4000" b="1" dirty="0">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131763935.jpg"/>
          <p:cNvPicPr>
            <a:picLocks noChangeAspect="1"/>
          </p:cNvPicPr>
          <p:nvPr/>
        </p:nvPicPr>
        <p:blipFill>
          <a:blip r:embed="rId2" cstate="print"/>
          <a:stretch>
            <a:fillRect/>
          </a:stretch>
        </p:blipFill>
        <p:spPr>
          <a:xfrm>
            <a:off x="0" y="1"/>
            <a:ext cx="9144000" cy="6858000"/>
          </a:xfrm>
          <a:prstGeom prst="rect">
            <a:avLst/>
          </a:prstGeom>
        </p:spPr>
      </p:pic>
      <p:sp>
        <p:nvSpPr>
          <p:cNvPr id="83969" name="Rectangle 1"/>
          <p:cNvSpPr>
            <a:spLocks noChangeArrowheads="1"/>
          </p:cNvSpPr>
          <p:nvPr/>
        </p:nvSpPr>
        <p:spPr bwMode="auto">
          <a:xfrm>
            <a:off x="1907704" y="2117823"/>
            <a:ext cx="5904656" cy="5078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800" b="0" i="0" u="none" strike="noStrike" cap="none" normalizeH="0" baseline="0" dirty="0">
                <a:ln>
                  <a:noFill/>
                </a:ln>
                <a:solidFill>
                  <a:schemeClr val="tx1"/>
                </a:solidFill>
                <a:effectLst/>
                <a:latin typeface="Arial" pitchFamily="34" charset="0"/>
                <a:cs typeface="Arial" pitchFamily="34" charset="0"/>
              </a:rPr>
            </a:br>
            <a:r>
              <a:rPr kumimoji="0" lang="fr-FR" sz="1800" b="1" i="0" u="none" strike="noStrike" cap="none" normalizeH="0" baseline="0" dirty="0">
                <a:ln>
                  <a:noFill/>
                </a:ln>
                <a:solidFill>
                  <a:schemeClr val="tx1"/>
                </a:solidFill>
                <a:effectLst/>
                <a:latin typeface="Arial" pitchFamily="34" charset="0"/>
                <a:cs typeface="Arial" pitchFamily="34" charset="0"/>
              </a:rPr>
              <a:t>  </a:t>
            </a:r>
            <a:r>
              <a:rPr kumimoji="0" lang="fr-FR" sz="1900" b="0" i="0" u="none" strike="noStrike" cap="none" normalizeH="0" baseline="0" dirty="0">
                <a:ln>
                  <a:noFill/>
                </a:ln>
                <a:solidFill>
                  <a:schemeClr val="tx1"/>
                </a:solidFill>
                <a:effectLst/>
                <a:latin typeface="Arial" pitchFamily="34" charset="0"/>
                <a:cs typeface="Arial" pitchFamily="34" charset="0"/>
              </a:rPr>
              <a:t> </a:t>
            </a:r>
            <a:endParaRPr kumimoji="0" lang="fr-FR" sz="1800" b="1" i="0" u="none" strike="noStrike" cap="none" normalizeH="0" baseline="0" dirty="0">
              <a:ln>
                <a:noFill/>
              </a:ln>
              <a:solidFill>
                <a:schemeClr val="tx1"/>
              </a:solidFill>
              <a:effectLst/>
              <a:latin typeface="Arial" pitchFamily="34" charset="0"/>
              <a:cs typeface="Arial" pitchFamily="34" charset="0"/>
            </a:endParaRPr>
          </a:p>
        </p:txBody>
      </p:sp>
      <p:sp>
        <p:nvSpPr>
          <p:cNvPr id="83970" name="AutoShape 2" descr="http://files.muslmah.net/Mar15/1425404830691.png"/>
          <p:cNvSpPr>
            <a:spLocks noChangeAspect="1" noChangeArrowheads="1"/>
          </p:cNvSpPr>
          <p:nvPr/>
        </p:nvSpPr>
        <p:spPr bwMode="auto">
          <a:xfrm>
            <a:off x="155575" y="8778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5" name="Rectangle à coins arrondis 4"/>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الثاني   </a:t>
            </a:r>
            <a:endParaRPr lang="fr-FR" sz="2800" b="1" dirty="0">
              <a:solidFill>
                <a:schemeClr val="bg1"/>
              </a:solidFill>
            </a:endParaRPr>
          </a:p>
        </p:txBody>
      </p:sp>
      <p:sp>
        <p:nvSpPr>
          <p:cNvPr id="7" name="Rectangle à coins arrondis 6"/>
          <p:cNvSpPr/>
          <p:nvPr/>
        </p:nvSpPr>
        <p:spPr>
          <a:xfrm>
            <a:off x="0" y="1268760"/>
            <a:ext cx="9144000" cy="5589240"/>
          </a:xfrm>
          <a:prstGeom prst="roundRect">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b="1" dirty="0">
              <a:solidFill>
                <a:schemeClr val="bg1"/>
              </a:solidFill>
            </a:endParaRPr>
          </a:p>
        </p:txBody>
      </p:sp>
      <p:graphicFrame>
        <p:nvGraphicFramePr>
          <p:cNvPr id="8" name="Tableau 7"/>
          <p:cNvGraphicFramePr>
            <a:graphicFrameLocks noGrp="1"/>
          </p:cNvGraphicFramePr>
          <p:nvPr/>
        </p:nvGraphicFramePr>
        <p:xfrm>
          <a:off x="107504" y="1052736"/>
          <a:ext cx="9036496" cy="5805264"/>
        </p:xfrm>
        <a:graphic>
          <a:graphicData uri="http://schemas.openxmlformats.org/drawingml/2006/table">
            <a:tbl>
              <a:tblPr firstRow="1" bandRow="1">
                <a:tableStyleId>{5C22544A-7EE6-4342-B048-85BDC9FD1C3A}</a:tableStyleId>
              </a:tblPr>
              <a:tblGrid>
                <a:gridCol w="9036496">
                  <a:extLst>
                    <a:ext uri="{9D8B030D-6E8A-4147-A177-3AD203B41FA5}">
                      <a16:colId xmlns:a16="http://schemas.microsoft.com/office/drawing/2014/main" val="20000"/>
                    </a:ext>
                  </a:extLst>
                </a:gridCol>
              </a:tblGrid>
              <a:tr h="5805264">
                <a:tc>
                  <a:txBody>
                    <a:bodyPr/>
                    <a:lstStyle/>
                    <a:p>
                      <a:pPr algn="r"/>
                      <a:r>
                        <a:rPr lang="fr-FR" sz="2400" b="1" dirty="0">
                          <a:solidFill>
                            <a:schemeClr val="bg1"/>
                          </a:solidFill>
                        </a:rPr>
                        <a:t>P=</a:t>
                      </a:r>
                      <a:r>
                        <a:rPr lang="fr-FR" sz="2400" b="1" dirty="0" err="1">
                          <a:solidFill>
                            <a:schemeClr val="bg1"/>
                          </a:solidFill>
                        </a:rPr>
                        <a:t>mxg</a:t>
                      </a:r>
                      <a:r>
                        <a:rPr lang="fr-FR" sz="2400" b="1" dirty="0">
                          <a:solidFill>
                            <a:schemeClr val="bg1"/>
                          </a:solidFill>
                        </a:rPr>
                        <a:t>=</a:t>
                      </a:r>
                      <a:r>
                        <a:rPr lang="ar-DZ" sz="2400" b="1" dirty="0">
                          <a:solidFill>
                            <a:schemeClr val="bg1"/>
                          </a:solidFill>
                        </a:rPr>
                        <a:t>   </a:t>
                      </a:r>
                      <a:r>
                        <a:rPr lang="fr-FR" sz="2400" b="1" dirty="0">
                          <a:solidFill>
                            <a:schemeClr val="bg1"/>
                          </a:solidFill>
                        </a:rPr>
                        <a:t>0.78x10=7.8N</a:t>
                      </a:r>
                      <a:r>
                        <a:rPr lang="ar-DZ" sz="2400" b="1" dirty="0">
                          <a:solidFill>
                            <a:schemeClr val="bg1"/>
                          </a:solidFill>
                        </a:rPr>
                        <a:t>1-حساب ثقل الجسم  لدينا </a:t>
                      </a:r>
                    </a:p>
                    <a:p>
                      <a:pPr algn="r"/>
                      <a:r>
                        <a:rPr lang="ar-DZ" sz="2400" b="1" dirty="0">
                          <a:solidFill>
                            <a:schemeClr val="bg1"/>
                          </a:solidFill>
                        </a:rPr>
                        <a:t>-تمثيل القوى المؤثرة لدينا </a:t>
                      </a:r>
                      <a:endParaRPr lang="fr-FR" sz="2400" b="1" dirty="0">
                        <a:solidFill>
                          <a:schemeClr val="bg1"/>
                        </a:solidFill>
                      </a:endParaRPr>
                    </a:p>
                    <a:p>
                      <a:pPr marL="0" marR="0" indent="0" algn="r" defTabSz="914400" rtl="0" eaLnBrk="1" fontAlgn="auto" latinLnBrk="0" hangingPunct="1">
                        <a:lnSpc>
                          <a:spcPct val="100000"/>
                        </a:lnSpc>
                        <a:spcBef>
                          <a:spcPts val="0"/>
                        </a:spcBef>
                        <a:spcAft>
                          <a:spcPts val="0"/>
                        </a:spcAft>
                        <a:buClrTx/>
                        <a:buSzTx/>
                        <a:buFontTx/>
                        <a:buNone/>
                        <a:tabLst/>
                        <a:defRPr/>
                      </a:pPr>
                      <a:r>
                        <a:rPr lang="ar-DZ" sz="2400" b="1" dirty="0">
                          <a:solidFill>
                            <a:schemeClr val="bg1"/>
                          </a:solidFill>
                        </a:rPr>
                        <a:t>3.9</a:t>
                      </a:r>
                      <a:r>
                        <a:rPr lang="fr-FR" sz="2400" b="1" dirty="0">
                          <a:solidFill>
                            <a:schemeClr val="bg1"/>
                          </a:solidFill>
                        </a:rPr>
                        <a:t>N </a:t>
                      </a:r>
                      <a:r>
                        <a:rPr lang="ar-DZ" sz="2400" b="1" dirty="0">
                          <a:solidFill>
                            <a:schemeClr val="bg1"/>
                          </a:solidFill>
                        </a:rPr>
                        <a:t>       </a:t>
                      </a:r>
                      <a:r>
                        <a:rPr lang="fr-FR" sz="2400" b="1" dirty="0">
                          <a:solidFill>
                            <a:schemeClr val="bg1"/>
                          </a:solidFill>
                        </a:rPr>
                        <a:t>  1cm</a:t>
                      </a:r>
                      <a:r>
                        <a:rPr lang="ar-DZ" sz="2400" b="1" dirty="0">
                          <a:solidFill>
                            <a:schemeClr val="bg1"/>
                          </a:solidFill>
                        </a:rPr>
                        <a:t> من السلم كل   </a:t>
                      </a:r>
                    </a:p>
                    <a:p>
                      <a:pPr marL="0" marR="0" indent="0" algn="r" defTabSz="914400" rtl="0" eaLnBrk="1" fontAlgn="auto" latinLnBrk="0" hangingPunct="1">
                        <a:lnSpc>
                          <a:spcPct val="100000"/>
                        </a:lnSpc>
                        <a:spcBef>
                          <a:spcPts val="0"/>
                        </a:spcBef>
                        <a:spcAft>
                          <a:spcPts val="0"/>
                        </a:spcAft>
                        <a:buClrTx/>
                        <a:buSzTx/>
                        <a:buFontTx/>
                        <a:buNone/>
                        <a:tabLst/>
                        <a:defRPr/>
                      </a:pPr>
                      <a:r>
                        <a:rPr lang="fr-FR" sz="2400" b="1" dirty="0">
                          <a:solidFill>
                            <a:schemeClr val="bg1"/>
                          </a:solidFill>
                        </a:rPr>
                        <a:t>X=7.8x1/3.9=2 cm</a:t>
                      </a:r>
                      <a:r>
                        <a:rPr lang="ar-DZ" sz="2400" b="1" dirty="0">
                          <a:solidFill>
                            <a:schemeClr val="bg1"/>
                          </a:solidFill>
                        </a:rPr>
                        <a:t>   ومنه  </a:t>
                      </a:r>
                      <a:r>
                        <a:rPr lang="fr-FR" sz="2400" b="1" dirty="0">
                          <a:solidFill>
                            <a:schemeClr val="bg1"/>
                          </a:solidFill>
                        </a:rPr>
                        <a:t>7.8N </a:t>
                      </a:r>
                      <a:r>
                        <a:rPr lang="ar-DZ" sz="2400" b="1" dirty="0">
                          <a:solidFill>
                            <a:schemeClr val="bg1"/>
                          </a:solidFill>
                        </a:rPr>
                        <a:t>      </a:t>
                      </a:r>
                      <a:r>
                        <a:rPr lang="fr-FR" sz="2400" b="1" dirty="0">
                          <a:solidFill>
                            <a:schemeClr val="bg1"/>
                          </a:solidFill>
                        </a:rPr>
                        <a:t>  X</a:t>
                      </a:r>
                      <a:r>
                        <a:rPr lang="ar-DZ" sz="2400" b="1" dirty="0">
                          <a:solidFill>
                            <a:schemeClr val="bg1"/>
                          </a:solidFill>
                        </a:rPr>
                        <a:t> معناه  كل  </a:t>
                      </a:r>
                    </a:p>
                    <a:p>
                      <a:pPr algn="r"/>
                      <a:r>
                        <a:rPr lang="ar-DZ" sz="2400" b="1" dirty="0">
                          <a:solidFill>
                            <a:schemeClr val="bg1"/>
                          </a:solidFill>
                        </a:rPr>
                        <a:t>2-حساب دافعة </a:t>
                      </a:r>
                      <a:r>
                        <a:rPr lang="ar-DZ" sz="2400" b="1" dirty="0" err="1">
                          <a:solidFill>
                            <a:schemeClr val="bg1"/>
                          </a:solidFill>
                        </a:rPr>
                        <a:t>ارخميدس</a:t>
                      </a:r>
                      <a:r>
                        <a:rPr lang="ar-DZ" sz="2400" b="1" dirty="0">
                          <a:solidFill>
                            <a:schemeClr val="bg1"/>
                          </a:solidFill>
                        </a:rPr>
                        <a:t> لدينا </a:t>
                      </a:r>
                      <a:endParaRPr lang="fr-FR" sz="2400" b="1" dirty="0">
                        <a:solidFill>
                          <a:schemeClr val="bg1"/>
                        </a:solidFill>
                      </a:endParaRPr>
                    </a:p>
                    <a:p>
                      <a:pPr algn="r"/>
                      <a:r>
                        <a:rPr kumimoji="0" lang="fr-FR" sz="2400" b="1" kern="1200" baseline="0" dirty="0">
                          <a:solidFill>
                            <a:schemeClr val="bg1"/>
                          </a:solidFill>
                          <a:latin typeface="+mn-lt"/>
                          <a:ea typeface="+mn-ea"/>
                          <a:cs typeface="+mn-cs"/>
                        </a:rPr>
                        <a:t>P =</a:t>
                      </a:r>
                      <a:r>
                        <a:rPr kumimoji="0" lang="ar-DZ" sz="2400" b="1" kern="1200" baseline="0" dirty="0">
                          <a:solidFill>
                            <a:schemeClr val="bg1"/>
                          </a:solidFill>
                          <a:latin typeface="+mn-lt"/>
                          <a:ea typeface="+mn-ea"/>
                          <a:cs typeface="+mn-cs"/>
                        </a:rPr>
                        <a:t>7.8</a:t>
                      </a:r>
                      <a:r>
                        <a:rPr kumimoji="0" lang="fr-FR" sz="2400" b="1" kern="1200" baseline="0" dirty="0">
                          <a:solidFill>
                            <a:schemeClr val="bg1"/>
                          </a:solidFill>
                          <a:latin typeface="+mn-lt"/>
                          <a:ea typeface="+mn-ea"/>
                          <a:cs typeface="+mn-cs"/>
                        </a:rPr>
                        <a:t>N      Pa= </a:t>
                      </a:r>
                      <a:r>
                        <a:rPr kumimoji="0" lang="ar-DZ" sz="2400" b="1" kern="1200" baseline="0" dirty="0">
                          <a:solidFill>
                            <a:schemeClr val="bg1"/>
                          </a:solidFill>
                          <a:latin typeface="+mn-lt"/>
                          <a:ea typeface="+mn-ea"/>
                          <a:cs typeface="+mn-cs"/>
                        </a:rPr>
                        <a:t>6.8</a:t>
                      </a:r>
                      <a:r>
                        <a:rPr kumimoji="0" lang="fr-FR" sz="2400" b="1" kern="1200" baseline="0" dirty="0">
                          <a:solidFill>
                            <a:schemeClr val="bg1"/>
                          </a:solidFill>
                          <a:latin typeface="+mn-lt"/>
                          <a:ea typeface="+mn-ea"/>
                          <a:cs typeface="+mn-cs"/>
                        </a:rPr>
                        <a:t>N</a:t>
                      </a:r>
                    </a:p>
                    <a:p>
                      <a:pPr algn="r"/>
                      <a:r>
                        <a:rPr lang="fr-FR" sz="2400" baseline="0" dirty="0">
                          <a:solidFill>
                            <a:schemeClr val="bg1"/>
                          </a:solidFill>
                        </a:rPr>
                        <a:t>FA=P-Pa=</a:t>
                      </a:r>
                      <a:r>
                        <a:rPr lang="ar-DZ" sz="2400" baseline="0" dirty="0">
                          <a:solidFill>
                            <a:schemeClr val="bg1"/>
                          </a:solidFill>
                        </a:rPr>
                        <a:t>7.8</a:t>
                      </a:r>
                      <a:r>
                        <a:rPr lang="fr-FR" sz="2400" baseline="0" dirty="0">
                          <a:solidFill>
                            <a:schemeClr val="bg1"/>
                          </a:solidFill>
                        </a:rPr>
                        <a:t>-</a:t>
                      </a:r>
                      <a:r>
                        <a:rPr lang="ar-DZ" sz="2400" baseline="0" dirty="0">
                          <a:solidFill>
                            <a:schemeClr val="bg1"/>
                          </a:solidFill>
                        </a:rPr>
                        <a:t>6.8</a:t>
                      </a:r>
                      <a:r>
                        <a:rPr lang="fr-FR" sz="2400" baseline="0" dirty="0">
                          <a:solidFill>
                            <a:schemeClr val="bg1"/>
                          </a:solidFill>
                        </a:rPr>
                        <a:t>=1N</a:t>
                      </a:r>
                    </a:p>
                    <a:p>
                      <a:pPr algn="r"/>
                      <a:r>
                        <a:rPr lang="ar-DZ" sz="2400" baseline="0" dirty="0">
                          <a:solidFill>
                            <a:schemeClr val="bg1"/>
                          </a:solidFill>
                        </a:rPr>
                        <a:t>لدينا حجم </a:t>
                      </a:r>
                      <a:r>
                        <a:rPr lang="ar-DZ" sz="2400" baseline="0" dirty="0" err="1">
                          <a:solidFill>
                            <a:schemeClr val="bg1"/>
                          </a:solidFill>
                        </a:rPr>
                        <a:t>الجسم </a:t>
                      </a:r>
                      <a:r>
                        <a:rPr lang="ar-DZ" sz="2400" baseline="0" dirty="0">
                          <a:solidFill>
                            <a:schemeClr val="bg1"/>
                          </a:solidFill>
                        </a:rPr>
                        <a:t>=</a:t>
                      </a:r>
                      <a:r>
                        <a:rPr lang="ar-DZ" sz="2400" baseline="0" dirty="0" err="1">
                          <a:solidFill>
                            <a:schemeClr val="bg1"/>
                          </a:solidFill>
                        </a:rPr>
                        <a:t>االحجم</a:t>
                      </a:r>
                      <a:r>
                        <a:rPr lang="ar-DZ" sz="2400" baseline="0" dirty="0">
                          <a:solidFill>
                            <a:schemeClr val="bg1"/>
                          </a:solidFill>
                        </a:rPr>
                        <a:t> المغمور ومنه  </a:t>
                      </a:r>
                      <a:endParaRPr lang="fr-FR" sz="2400" baseline="0" dirty="0">
                        <a:solidFill>
                          <a:schemeClr val="bg1"/>
                        </a:solidFill>
                      </a:endParaRPr>
                    </a:p>
                    <a:p>
                      <a:pPr marL="0" marR="0" indent="0" algn="r" defTabSz="914400" rtl="0" eaLnBrk="1" fontAlgn="auto" latinLnBrk="0" hangingPunct="1">
                        <a:lnSpc>
                          <a:spcPct val="100000"/>
                        </a:lnSpc>
                        <a:spcBef>
                          <a:spcPts val="0"/>
                        </a:spcBef>
                        <a:spcAft>
                          <a:spcPts val="0"/>
                        </a:spcAft>
                        <a:buClrTx/>
                        <a:buSzTx/>
                        <a:buFontTx/>
                        <a:buNone/>
                        <a:tabLst/>
                        <a:defRPr/>
                      </a:pPr>
                      <a:r>
                        <a:rPr lang="fr-FR" sz="2400" baseline="0" dirty="0">
                          <a:solidFill>
                            <a:schemeClr val="bg1"/>
                          </a:solidFill>
                        </a:rPr>
                        <a:t>V=FA/</a:t>
                      </a:r>
                      <a:r>
                        <a:rPr lang="el-GR" sz="2400" baseline="0" dirty="0">
                          <a:solidFill>
                            <a:schemeClr val="bg1"/>
                          </a:solidFill>
                        </a:rPr>
                        <a:t>ρ</a:t>
                      </a:r>
                      <a:r>
                        <a:rPr lang="fr-FR" sz="2400" baseline="0" dirty="0">
                          <a:solidFill>
                            <a:schemeClr val="bg1"/>
                          </a:solidFill>
                        </a:rPr>
                        <a:t>g=1/1000x10=1x</a:t>
                      </a:r>
                      <a:r>
                        <a:rPr kumimoji="0" lang="fr-FR" sz="2400" b="1" kern="1200" dirty="0">
                          <a:solidFill>
                            <a:schemeClr val="bg1"/>
                          </a:solidFill>
                          <a:latin typeface="+mn-lt"/>
                          <a:ea typeface="+mn-ea"/>
                          <a:cs typeface="+mn-cs"/>
                        </a:rPr>
                        <a:t>10</a:t>
                      </a:r>
                      <a:r>
                        <a:rPr kumimoji="0" lang="fr-FR" sz="2400" b="1" kern="1200" baseline="30000" dirty="0">
                          <a:solidFill>
                            <a:schemeClr val="bg1"/>
                          </a:solidFill>
                          <a:latin typeface="+mn-lt"/>
                          <a:ea typeface="+mn-ea"/>
                          <a:cs typeface="+mn-cs"/>
                        </a:rPr>
                        <a:t>-4</a:t>
                      </a:r>
                      <a:r>
                        <a:rPr kumimoji="0" lang="fr-FR" sz="2400" b="1" kern="1200" dirty="0">
                          <a:solidFill>
                            <a:schemeClr val="bg1"/>
                          </a:solidFill>
                          <a:latin typeface="+mn-lt"/>
                          <a:ea typeface="+mn-ea"/>
                          <a:cs typeface="+mn-cs"/>
                        </a:rPr>
                        <a:t>= 100cm3</a:t>
                      </a:r>
                      <a:r>
                        <a:rPr kumimoji="0" lang="ar-DZ" sz="2400" b="1" kern="1200" dirty="0">
                          <a:solidFill>
                            <a:schemeClr val="bg1"/>
                          </a:solidFill>
                          <a:latin typeface="+mn-lt"/>
                          <a:ea typeface="+mn-ea"/>
                          <a:cs typeface="+mn-cs"/>
                        </a:rPr>
                        <a:t>  ومنه </a:t>
                      </a:r>
                      <a:r>
                        <a:rPr kumimoji="0" lang="fr-FR" sz="2400" b="1" kern="1200" dirty="0">
                          <a:solidFill>
                            <a:schemeClr val="bg1"/>
                          </a:solidFill>
                          <a:latin typeface="+mn-lt"/>
                          <a:ea typeface="+mn-ea"/>
                          <a:cs typeface="+mn-cs"/>
                        </a:rPr>
                        <a:t>FA=</a:t>
                      </a:r>
                      <a:r>
                        <a:rPr lang="el-GR" sz="2400" baseline="0" dirty="0">
                          <a:solidFill>
                            <a:schemeClr val="bg1"/>
                          </a:solidFill>
                        </a:rPr>
                        <a:t>ρ</a:t>
                      </a:r>
                      <a:r>
                        <a:rPr lang="fr-FR" sz="2400" baseline="0" dirty="0" err="1">
                          <a:solidFill>
                            <a:schemeClr val="bg1"/>
                          </a:solidFill>
                        </a:rPr>
                        <a:t>Vg</a:t>
                      </a:r>
                      <a:r>
                        <a:rPr kumimoji="0" lang="ar-DZ" sz="2400" b="1" kern="1200" dirty="0">
                          <a:solidFill>
                            <a:schemeClr val="bg1"/>
                          </a:solidFill>
                          <a:latin typeface="+mn-lt"/>
                          <a:ea typeface="+mn-ea"/>
                          <a:cs typeface="+mn-cs"/>
                        </a:rPr>
                        <a:t>لدينا</a:t>
                      </a:r>
                      <a:endParaRPr kumimoji="0" lang="fr-FR" sz="2400" b="1" kern="1200" dirty="0">
                        <a:solidFill>
                          <a:schemeClr val="bg1"/>
                        </a:solidFill>
                        <a:latin typeface="+mn-lt"/>
                        <a:ea typeface="+mn-ea"/>
                        <a:cs typeface="+mn-cs"/>
                      </a:endParaRPr>
                    </a:p>
                    <a:p>
                      <a:pPr marL="0" marR="0" indent="0" algn="r" defTabSz="914400" rtl="0" eaLnBrk="1" fontAlgn="auto" latinLnBrk="0" hangingPunct="1">
                        <a:lnSpc>
                          <a:spcPct val="100000"/>
                        </a:lnSpc>
                        <a:spcBef>
                          <a:spcPts val="0"/>
                        </a:spcBef>
                        <a:spcAft>
                          <a:spcPts val="0"/>
                        </a:spcAft>
                        <a:buClrTx/>
                        <a:buSzTx/>
                        <a:buFontTx/>
                        <a:buNone/>
                        <a:tabLst/>
                        <a:defRPr/>
                      </a:pPr>
                      <a:r>
                        <a:rPr kumimoji="0" lang="ar-DZ" sz="2400" b="1" kern="1200" dirty="0">
                          <a:solidFill>
                            <a:schemeClr val="bg1"/>
                          </a:solidFill>
                          <a:latin typeface="+mn-lt"/>
                          <a:ea typeface="+mn-ea"/>
                          <a:cs typeface="+mn-cs"/>
                        </a:rPr>
                        <a:t>3-حساب كثافة</a:t>
                      </a:r>
                      <a:r>
                        <a:rPr kumimoji="0" lang="ar-DZ" sz="2400" b="1" kern="1200" baseline="0" dirty="0">
                          <a:solidFill>
                            <a:schemeClr val="bg1"/>
                          </a:solidFill>
                          <a:latin typeface="+mn-lt"/>
                          <a:ea typeface="+mn-ea"/>
                          <a:cs typeface="+mn-cs"/>
                        </a:rPr>
                        <a:t> الجسم  </a:t>
                      </a:r>
                    </a:p>
                    <a:p>
                      <a:pPr marL="0" marR="0" indent="0" algn="r" defTabSz="914400" rtl="0" eaLnBrk="1" fontAlgn="auto" latinLnBrk="0" hangingPunct="1">
                        <a:lnSpc>
                          <a:spcPct val="100000"/>
                        </a:lnSpc>
                        <a:spcBef>
                          <a:spcPts val="0"/>
                        </a:spcBef>
                        <a:spcAft>
                          <a:spcPts val="0"/>
                        </a:spcAft>
                        <a:buClrTx/>
                        <a:buSzTx/>
                        <a:buFontTx/>
                        <a:buNone/>
                        <a:tabLst/>
                        <a:defRPr/>
                      </a:pPr>
                      <a:r>
                        <a:rPr kumimoji="0" lang="ar-DZ" sz="2400" b="1" kern="1200" baseline="0" dirty="0">
                          <a:solidFill>
                            <a:schemeClr val="bg1"/>
                          </a:solidFill>
                          <a:latin typeface="+mn-lt"/>
                          <a:ea typeface="+mn-ea"/>
                          <a:cs typeface="+mn-cs"/>
                        </a:rPr>
                        <a:t>لدينا الكتلة الحجمية للجسم </a:t>
                      </a:r>
                      <a:endParaRPr kumimoji="0" lang="fr-FR" sz="2400" b="1" kern="1200" dirty="0">
                        <a:solidFill>
                          <a:schemeClr val="bg1"/>
                        </a:solidFill>
                        <a:latin typeface="+mn-lt"/>
                        <a:ea typeface="+mn-ea"/>
                        <a:cs typeface="+mn-cs"/>
                      </a:endParaRPr>
                    </a:p>
                    <a:p>
                      <a:pPr algn="r"/>
                      <a:r>
                        <a:rPr kumimoji="0" lang="el-GR" sz="2400" b="1" kern="1200" dirty="0">
                          <a:solidFill>
                            <a:schemeClr val="bg1"/>
                          </a:solidFill>
                          <a:latin typeface="+mn-lt"/>
                          <a:ea typeface="+mn-ea"/>
                          <a:cs typeface="+mn-cs"/>
                        </a:rPr>
                        <a:t>ρ</a:t>
                      </a:r>
                      <a:r>
                        <a:rPr kumimoji="0" lang="fr-FR" sz="2400" b="1" kern="1200" dirty="0">
                          <a:solidFill>
                            <a:schemeClr val="bg1"/>
                          </a:solidFill>
                          <a:latin typeface="+mn-lt"/>
                          <a:ea typeface="+mn-ea"/>
                          <a:cs typeface="+mn-cs"/>
                        </a:rPr>
                        <a:t>=p/</a:t>
                      </a:r>
                      <a:r>
                        <a:rPr kumimoji="0" lang="fr-FR" sz="2400" b="1" kern="1200" dirty="0" err="1">
                          <a:solidFill>
                            <a:schemeClr val="bg1"/>
                          </a:solidFill>
                          <a:latin typeface="+mn-lt"/>
                          <a:ea typeface="+mn-ea"/>
                          <a:cs typeface="+mn-cs"/>
                        </a:rPr>
                        <a:t>Vg</a:t>
                      </a:r>
                      <a:r>
                        <a:rPr kumimoji="0" lang="fr-FR" sz="2400" b="1" kern="1200" dirty="0">
                          <a:solidFill>
                            <a:schemeClr val="bg1"/>
                          </a:solidFill>
                          <a:latin typeface="+mn-lt"/>
                          <a:ea typeface="+mn-ea"/>
                          <a:cs typeface="+mn-cs"/>
                        </a:rPr>
                        <a:t>=</a:t>
                      </a:r>
                      <a:r>
                        <a:rPr kumimoji="0" lang="ar-DZ" sz="2400" b="1" kern="1200" dirty="0">
                          <a:solidFill>
                            <a:schemeClr val="bg1"/>
                          </a:solidFill>
                          <a:latin typeface="+mn-lt"/>
                          <a:ea typeface="+mn-ea"/>
                          <a:cs typeface="+mn-cs"/>
                        </a:rPr>
                        <a:t>7.8</a:t>
                      </a:r>
                      <a:r>
                        <a:rPr kumimoji="0" lang="fr-FR" sz="2400" b="1" kern="1200" dirty="0">
                          <a:solidFill>
                            <a:schemeClr val="bg1"/>
                          </a:solidFill>
                          <a:latin typeface="+mn-lt"/>
                          <a:ea typeface="+mn-ea"/>
                          <a:cs typeface="+mn-cs"/>
                        </a:rPr>
                        <a:t>/10x</a:t>
                      </a:r>
                      <a:r>
                        <a:rPr kumimoji="0" lang="ar-DZ" sz="2400" b="1" kern="1200" dirty="0">
                          <a:solidFill>
                            <a:schemeClr val="bg1"/>
                          </a:solidFill>
                          <a:latin typeface="+mn-lt"/>
                          <a:ea typeface="+mn-ea"/>
                          <a:cs typeface="+mn-cs"/>
                        </a:rPr>
                        <a:t> </a:t>
                      </a:r>
                      <a:r>
                        <a:rPr lang="fr-FR" sz="2400" baseline="0" dirty="0">
                          <a:solidFill>
                            <a:schemeClr val="bg1"/>
                          </a:solidFill>
                        </a:rPr>
                        <a:t>1x</a:t>
                      </a:r>
                      <a:r>
                        <a:rPr kumimoji="0" lang="fr-FR" sz="2400" b="1" kern="1200" dirty="0">
                          <a:solidFill>
                            <a:schemeClr val="bg1"/>
                          </a:solidFill>
                          <a:latin typeface="+mn-lt"/>
                          <a:ea typeface="+mn-ea"/>
                          <a:cs typeface="+mn-cs"/>
                        </a:rPr>
                        <a:t>10</a:t>
                      </a:r>
                      <a:r>
                        <a:rPr kumimoji="0" lang="fr-FR" sz="2400" b="1" kern="1200" baseline="30000" dirty="0">
                          <a:solidFill>
                            <a:schemeClr val="bg1"/>
                          </a:solidFill>
                          <a:latin typeface="+mn-lt"/>
                          <a:ea typeface="+mn-ea"/>
                          <a:cs typeface="+mn-cs"/>
                        </a:rPr>
                        <a:t>-4</a:t>
                      </a:r>
                      <a:r>
                        <a:rPr kumimoji="0" lang="ar-DZ" sz="2400" b="1" kern="1200" dirty="0">
                          <a:solidFill>
                            <a:schemeClr val="bg1"/>
                          </a:solidFill>
                          <a:latin typeface="+mn-lt"/>
                          <a:ea typeface="+mn-ea"/>
                          <a:cs typeface="+mn-cs"/>
                        </a:rPr>
                        <a:t> </a:t>
                      </a:r>
                      <a:r>
                        <a:rPr kumimoji="0" lang="fr-FR" sz="2400" b="1" kern="1200" dirty="0">
                          <a:solidFill>
                            <a:schemeClr val="bg1"/>
                          </a:solidFill>
                          <a:latin typeface="+mn-lt"/>
                          <a:ea typeface="+mn-ea"/>
                          <a:cs typeface="+mn-cs"/>
                        </a:rPr>
                        <a:t> =7800 kg/m3</a:t>
                      </a:r>
                    </a:p>
                    <a:p>
                      <a:pPr algn="r"/>
                      <a:r>
                        <a:rPr kumimoji="0" lang="ar-DZ" sz="2400" b="1" kern="1200" dirty="0">
                          <a:solidFill>
                            <a:schemeClr val="bg1"/>
                          </a:solidFill>
                          <a:latin typeface="+mn-lt"/>
                          <a:ea typeface="+mn-ea"/>
                          <a:cs typeface="+mn-cs"/>
                        </a:rPr>
                        <a:t> </a:t>
                      </a:r>
                      <a:r>
                        <a:rPr lang="fr-FR" sz="2400" b="1" dirty="0">
                          <a:solidFill>
                            <a:schemeClr val="bg1"/>
                          </a:solidFill>
                        </a:rPr>
                        <a:t>d=</a:t>
                      </a:r>
                      <a:r>
                        <a:rPr lang="el-GR" sz="2400" b="1" dirty="0">
                          <a:solidFill>
                            <a:schemeClr val="bg1"/>
                          </a:solidFill>
                        </a:rPr>
                        <a:t>ρ</a:t>
                      </a:r>
                      <a:r>
                        <a:rPr lang="fr-FR" sz="2400" b="1" dirty="0">
                          <a:solidFill>
                            <a:schemeClr val="bg1"/>
                          </a:solidFill>
                        </a:rPr>
                        <a:t>s/</a:t>
                      </a:r>
                      <a:r>
                        <a:rPr lang="el-GR" sz="2400" b="1" dirty="0">
                          <a:solidFill>
                            <a:schemeClr val="bg1"/>
                          </a:solidFill>
                        </a:rPr>
                        <a:t>ρ</a:t>
                      </a:r>
                      <a:r>
                        <a:rPr lang="fr-FR" sz="2400" b="1" dirty="0">
                          <a:solidFill>
                            <a:schemeClr val="bg1"/>
                          </a:solidFill>
                        </a:rPr>
                        <a:t>e=7800/1000=7.8 </a:t>
                      </a:r>
                      <a:r>
                        <a:rPr lang="ar-DZ" sz="2400" b="1" dirty="0">
                          <a:solidFill>
                            <a:schemeClr val="bg1"/>
                          </a:solidFill>
                        </a:rPr>
                        <a:t>ومنه الكثافة </a:t>
                      </a:r>
                      <a:endParaRPr lang="fr-FR" sz="2400" b="1" dirty="0">
                        <a:solidFill>
                          <a:schemeClr val="bg1"/>
                        </a:solidFill>
                      </a:endParaRPr>
                    </a:p>
                    <a:p>
                      <a:pPr algn="r"/>
                      <a:r>
                        <a:rPr lang="ar-DZ" sz="2400" b="1" dirty="0">
                          <a:solidFill>
                            <a:schemeClr val="bg1"/>
                          </a:solidFill>
                        </a:rPr>
                        <a:t>اذن من خلال الجدول هو معدن الحديد  </a:t>
                      </a:r>
                    </a:p>
                    <a:p>
                      <a:pPr algn="r"/>
                      <a:r>
                        <a:rPr kumimoji="0" lang="ar-DZ" sz="2000" b="1" kern="1200" dirty="0">
                          <a:solidFill>
                            <a:schemeClr val="bg1"/>
                          </a:solidFill>
                          <a:latin typeface="+mn-lt"/>
                          <a:ea typeface="+mn-ea"/>
                          <a:cs typeface="+mn-cs"/>
                        </a:rPr>
                        <a:t> </a:t>
                      </a:r>
                      <a:endParaRPr kumimoji="0" lang="fr-FR" sz="2000" b="1" kern="1200" dirty="0">
                        <a:solidFill>
                          <a:schemeClr val="bg1"/>
                        </a:solidFill>
                        <a:latin typeface="+mn-lt"/>
                        <a:ea typeface="+mn-ea"/>
                        <a:cs typeface="+mn-cs"/>
                      </a:endParaRPr>
                    </a:p>
                  </a:txBody>
                  <a:tcPr>
                    <a:solidFill>
                      <a:schemeClr val="tx1"/>
                    </a:solidFill>
                  </a:tcPr>
                </a:tc>
                <a:extLst>
                  <a:ext uri="{0D108BD9-81ED-4DB2-BD59-A6C34878D82A}">
                    <a16:rowId xmlns:a16="http://schemas.microsoft.com/office/drawing/2014/main" val="10000"/>
                  </a:ext>
                </a:extLst>
              </a:tr>
            </a:tbl>
          </a:graphicData>
        </a:graphic>
      </p:graphicFrame>
      <p:pic>
        <p:nvPicPr>
          <p:cNvPr id="32" name="Image 31" descr="87530555_2558849897704970_5797071441362944000_n.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95536" y="1268760"/>
            <a:ext cx="2160240" cy="2448272"/>
          </a:xfrm>
          <a:prstGeom prst="rect">
            <a:avLst/>
          </a:prstGeom>
        </p:spPr>
      </p:pic>
      <p:sp>
        <p:nvSpPr>
          <p:cNvPr id="9" name="Rectangle 8"/>
          <p:cNvSpPr/>
          <p:nvPr/>
        </p:nvSpPr>
        <p:spPr>
          <a:xfrm>
            <a:off x="1763688" y="1628800"/>
            <a:ext cx="576064" cy="4320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a:off x="683568" y="3284984"/>
            <a:ext cx="1224136" cy="4320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p:cNvCxnSpPr/>
          <p:nvPr/>
        </p:nvCxnSpPr>
        <p:spPr>
          <a:xfrm>
            <a:off x="1403648" y="2924944"/>
            <a:ext cx="0" cy="72008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1403648" y="2132856"/>
            <a:ext cx="0" cy="57606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à coins arrondis 15"/>
          <p:cNvSpPr/>
          <p:nvPr/>
        </p:nvSpPr>
        <p:spPr>
          <a:xfrm>
            <a:off x="1691680" y="2132856"/>
            <a:ext cx="864096"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Ff/s</a:t>
            </a:r>
            <a:endParaRPr lang="fr-FR" b="1" dirty="0">
              <a:solidFill>
                <a:schemeClr val="bg1"/>
              </a:solidFill>
            </a:endParaRPr>
          </a:p>
        </p:txBody>
      </p:sp>
      <p:sp>
        <p:nvSpPr>
          <p:cNvPr id="17" name="Rectangle à coins arrondis 16"/>
          <p:cNvSpPr/>
          <p:nvPr/>
        </p:nvSpPr>
        <p:spPr>
          <a:xfrm>
            <a:off x="1619672" y="3284984"/>
            <a:ext cx="864096" cy="504056"/>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b="1" dirty="0">
              <a:solidFill>
                <a:schemeClr val="bg1"/>
              </a:solidFill>
            </a:endParaRPr>
          </a:p>
        </p:txBody>
      </p:sp>
      <p:cxnSp>
        <p:nvCxnSpPr>
          <p:cNvPr id="18" name="Connecteur droit avec flèche 17"/>
          <p:cNvCxnSpPr/>
          <p:nvPr/>
        </p:nvCxnSpPr>
        <p:spPr>
          <a:xfrm>
            <a:off x="6372200" y="206084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7236296" y="2420888"/>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a:off x="1835696" y="2132856"/>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1763688" y="3212976"/>
            <a:ext cx="504056"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131763935.jpg"/>
          <p:cNvPicPr>
            <a:picLocks noChangeAspect="1"/>
          </p:cNvPicPr>
          <p:nvPr/>
        </p:nvPicPr>
        <p:blipFill>
          <a:blip r:embed="rId2" cstate="print"/>
          <a:stretch>
            <a:fillRect/>
          </a:stretch>
        </p:blipFill>
        <p:spPr>
          <a:xfrm>
            <a:off x="0" y="1"/>
            <a:ext cx="9144000" cy="6858000"/>
          </a:xfrm>
          <a:prstGeom prst="rect">
            <a:avLst/>
          </a:prstGeom>
        </p:spPr>
      </p:pic>
      <p:sp>
        <p:nvSpPr>
          <p:cNvPr id="83969" name="Rectangle 1"/>
          <p:cNvSpPr>
            <a:spLocks noChangeArrowheads="1"/>
          </p:cNvSpPr>
          <p:nvPr/>
        </p:nvSpPr>
        <p:spPr bwMode="auto">
          <a:xfrm>
            <a:off x="1907704" y="2117823"/>
            <a:ext cx="5904656" cy="5078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800" b="0" i="0" u="none" strike="noStrike" cap="none" normalizeH="0" baseline="0" dirty="0">
                <a:ln>
                  <a:noFill/>
                </a:ln>
                <a:solidFill>
                  <a:schemeClr val="tx1"/>
                </a:solidFill>
                <a:effectLst/>
                <a:latin typeface="Arial" pitchFamily="34" charset="0"/>
                <a:cs typeface="Arial" pitchFamily="34" charset="0"/>
              </a:rPr>
            </a:br>
            <a:r>
              <a:rPr kumimoji="0" lang="fr-FR" sz="1800" b="1" i="0" u="none" strike="noStrike" cap="none" normalizeH="0" baseline="0" dirty="0">
                <a:ln>
                  <a:noFill/>
                </a:ln>
                <a:solidFill>
                  <a:schemeClr val="tx1"/>
                </a:solidFill>
                <a:effectLst/>
                <a:latin typeface="Arial" pitchFamily="34" charset="0"/>
                <a:cs typeface="Arial" pitchFamily="34" charset="0"/>
              </a:rPr>
              <a:t>  </a:t>
            </a:r>
            <a:r>
              <a:rPr kumimoji="0" lang="fr-FR" sz="1900" b="0" i="0" u="none" strike="noStrike" cap="none" normalizeH="0" baseline="0" dirty="0">
                <a:ln>
                  <a:noFill/>
                </a:ln>
                <a:solidFill>
                  <a:schemeClr val="tx1"/>
                </a:solidFill>
                <a:effectLst/>
                <a:latin typeface="Arial" pitchFamily="34" charset="0"/>
                <a:cs typeface="Arial" pitchFamily="34" charset="0"/>
              </a:rPr>
              <a:t> </a:t>
            </a:r>
            <a:endParaRPr kumimoji="0" lang="fr-FR" sz="1800" b="1" i="0" u="none" strike="noStrike" cap="none" normalizeH="0" baseline="0" dirty="0">
              <a:ln>
                <a:noFill/>
              </a:ln>
              <a:solidFill>
                <a:schemeClr val="tx1"/>
              </a:solidFill>
              <a:effectLst/>
              <a:latin typeface="Arial" pitchFamily="34" charset="0"/>
              <a:cs typeface="Arial" pitchFamily="34" charset="0"/>
            </a:endParaRPr>
          </a:p>
        </p:txBody>
      </p:sp>
      <p:sp>
        <p:nvSpPr>
          <p:cNvPr id="83970" name="AutoShape 2" descr="http://files.muslmah.net/Mar15/1425404830691.png"/>
          <p:cNvSpPr>
            <a:spLocks noChangeAspect="1" noChangeArrowheads="1"/>
          </p:cNvSpPr>
          <p:nvPr/>
        </p:nvSpPr>
        <p:spPr bwMode="auto">
          <a:xfrm>
            <a:off x="155575" y="8778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5" name="Rectangle à coins arrondis 4"/>
          <p:cNvSpPr/>
          <p:nvPr/>
        </p:nvSpPr>
        <p:spPr>
          <a:xfrm>
            <a:off x="0" y="0"/>
            <a:ext cx="9144000" cy="6926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الوضعية الادماجية  </a:t>
            </a:r>
            <a:endParaRPr lang="fr-FR" sz="2800" b="1" dirty="0">
              <a:solidFill>
                <a:schemeClr val="bg1"/>
              </a:solidFill>
            </a:endParaRPr>
          </a:p>
        </p:txBody>
      </p:sp>
      <p:sp>
        <p:nvSpPr>
          <p:cNvPr id="7" name="Rectangle à coins arrondis 6"/>
          <p:cNvSpPr/>
          <p:nvPr/>
        </p:nvSpPr>
        <p:spPr>
          <a:xfrm>
            <a:off x="0" y="1268760"/>
            <a:ext cx="9144000" cy="5589240"/>
          </a:xfrm>
          <a:prstGeom prst="roundRect">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b="1" dirty="0">
              <a:solidFill>
                <a:schemeClr val="bg1"/>
              </a:solidFill>
            </a:endParaRPr>
          </a:p>
        </p:txBody>
      </p:sp>
      <p:graphicFrame>
        <p:nvGraphicFramePr>
          <p:cNvPr id="8" name="Tableau 7"/>
          <p:cNvGraphicFramePr>
            <a:graphicFrameLocks noGrp="1"/>
          </p:cNvGraphicFramePr>
          <p:nvPr/>
        </p:nvGraphicFramePr>
        <p:xfrm>
          <a:off x="107504" y="692696"/>
          <a:ext cx="9036496" cy="6165304"/>
        </p:xfrm>
        <a:graphic>
          <a:graphicData uri="http://schemas.openxmlformats.org/drawingml/2006/table">
            <a:tbl>
              <a:tblPr firstRow="1" bandRow="1">
                <a:tableStyleId>{5C22544A-7EE6-4342-B048-85BDC9FD1C3A}</a:tableStyleId>
              </a:tblPr>
              <a:tblGrid>
                <a:gridCol w="9036496">
                  <a:extLst>
                    <a:ext uri="{9D8B030D-6E8A-4147-A177-3AD203B41FA5}">
                      <a16:colId xmlns:a16="http://schemas.microsoft.com/office/drawing/2014/main" val="20000"/>
                    </a:ext>
                  </a:extLst>
                </a:gridCol>
              </a:tblGrid>
              <a:tr h="6165304">
                <a:tc>
                  <a:txBody>
                    <a:bodyPr/>
                    <a:lstStyle/>
                    <a:p>
                      <a:pPr algn="r"/>
                      <a:r>
                        <a:rPr lang="ar-DZ" sz="2400" b="1" baseline="0" dirty="0">
                          <a:solidFill>
                            <a:schemeClr val="bg1"/>
                          </a:solidFill>
                        </a:rPr>
                        <a:t>1-الاحتمالات الممكنة لعدم توهج المصباح هي </a:t>
                      </a:r>
                    </a:p>
                    <a:p>
                      <a:pPr algn="r"/>
                      <a:r>
                        <a:rPr lang="ar-DZ" sz="2400" b="1" baseline="0" dirty="0">
                          <a:solidFill>
                            <a:schemeClr val="bg1"/>
                          </a:solidFill>
                        </a:rPr>
                        <a:t>-عدم توصيل </a:t>
                      </a:r>
                      <a:r>
                        <a:rPr lang="ar-DZ" sz="2400" b="1" baseline="0" dirty="0" err="1">
                          <a:solidFill>
                            <a:schemeClr val="bg1"/>
                          </a:solidFill>
                        </a:rPr>
                        <a:t>النواقل</a:t>
                      </a:r>
                      <a:r>
                        <a:rPr lang="ar-DZ" sz="2400" b="1" baseline="0" dirty="0">
                          <a:solidFill>
                            <a:schemeClr val="bg1"/>
                          </a:solidFill>
                        </a:rPr>
                        <a:t> بشكل جيد </a:t>
                      </a:r>
                    </a:p>
                    <a:p>
                      <a:pPr algn="r"/>
                      <a:r>
                        <a:rPr lang="ar-DZ" sz="2400" b="1" baseline="0" dirty="0">
                          <a:solidFill>
                            <a:schemeClr val="bg1"/>
                          </a:solidFill>
                        </a:rPr>
                        <a:t>-عدم تلامس </a:t>
                      </a:r>
                      <a:r>
                        <a:rPr lang="ar-DZ" sz="2400" b="1" baseline="0" dirty="0" err="1">
                          <a:solidFill>
                            <a:schemeClr val="bg1"/>
                          </a:solidFill>
                        </a:rPr>
                        <a:t>الدينامو</a:t>
                      </a:r>
                      <a:r>
                        <a:rPr lang="ar-DZ" sz="2400" b="1" baseline="0" dirty="0">
                          <a:solidFill>
                            <a:schemeClr val="bg1"/>
                          </a:solidFill>
                        </a:rPr>
                        <a:t> مع العجلة </a:t>
                      </a:r>
                    </a:p>
                    <a:p>
                      <a:pPr algn="r"/>
                      <a:r>
                        <a:rPr lang="ar-DZ" sz="2400" b="1" baseline="0" dirty="0">
                          <a:solidFill>
                            <a:schemeClr val="bg1"/>
                          </a:solidFill>
                        </a:rPr>
                        <a:t>-عدم دوران </a:t>
                      </a:r>
                      <a:r>
                        <a:rPr lang="ar-DZ" sz="2400" b="1" baseline="0" dirty="0" err="1">
                          <a:solidFill>
                            <a:schemeClr val="bg1"/>
                          </a:solidFill>
                        </a:rPr>
                        <a:t>الدينامو</a:t>
                      </a:r>
                      <a:r>
                        <a:rPr lang="ar-DZ" sz="2400" b="1" baseline="0" dirty="0">
                          <a:solidFill>
                            <a:schemeClr val="bg1"/>
                          </a:solidFill>
                        </a:rPr>
                        <a:t> </a:t>
                      </a:r>
                    </a:p>
                    <a:p>
                      <a:pPr algn="r"/>
                      <a:r>
                        <a:rPr lang="ar-DZ" sz="2400" b="1" baseline="0" dirty="0">
                          <a:solidFill>
                            <a:schemeClr val="bg1"/>
                          </a:solidFill>
                        </a:rPr>
                        <a:t>-فساد </a:t>
                      </a:r>
                      <a:r>
                        <a:rPr lang="ar-DZ" sz="2400" b="1" baseline="0" dirty="0" err="1">
                          <a:solidFill>
                            <a:schemeClr val="bg1"/>
                          </a:solidFill>
                        </a:rPr>
                        <a:t>الوشيعة</a:t>
                      </a:r>
                      <a:r>
                        <a:rPr lang="ar-DZ" sz="2400" b="1" baseline="0" dirty="0">
                          <a:solidFill>
                            <a:schemeClr val="bg1"/>
                          </a:solidFill>
                        </a:rPr>
                        <a:t> داخل </a:t>
                      </a:r>
                      <a:r>
                        <a:rPr lang="ar-DZ" sz="2400" b="1" baseline="0" dirty="0" err="1">
                          <a:solidFill>
                            <a:schemeClr val="bg1"/>
                          </a:solidFill>
                        </a:rPr>
                        <a:t>الدينامو</a:t>
                      </a:r>
                      <a:r>
                        <a:rPr lang="ar-DZ" sz="2400" b="1" baseline="0" dirty="0">
                          <a:solidFill>
                            <a:schemeClr val="bg1"/>
                          </a:solidFill>
                        </a:rPr>
                        <a:t> </a:t>
                      </a:r>
                    </a:p>
                    <a:p>
                      <a:pPr algn="r"/>
                      <a:r>
                        <a:rPr lang="ar-DZ" sz="2400" b="1" baseline="0" dirty="0">
                          <a:solidFill>
                            <a:schemeClr val="bg1"/>
                          </a:solidFill>
                        </a:rPr>
                        <a:t>-عدم دوران المغناطيس </a:t>
                      </a:r>
                    </a:p>
                    <a:p>
                      <a:pPr algn="r"/>
                      <a:r>
                        <a:rPr lang="ar-DZ" sz="2400" b="1" baseline="0" dirty="0">
                          <a:solidFill>
                            <a:schemeClr val="bg1"/>
                          </a:solidFill>
                        </a:rPr>
                        <a:t>2-سبب اصابة الام بصدمة كهربائية هو ان سلك </a:t>
                      </a:r>
                    </a:p>
                    <a:p>
                      <a:pPr algn="r"/>
                      <a:r>
                        <a:rPr lang="ar-DZ" sz="2400" b="1" baseline="0" dirty="0">
                          <a:solidFill>
                            <a:schemeClr val="bg1"/>
                          </a:solidFill>
                        </a:rPr>
                        <a:t>الطور يلمس هيكل الغسالة </a:t>
                      </a:r>
                    </a:p>
                    <a:p>
                      <a:pPr algn="r"/>
                      <a:r>
                        <a:rPr lang="ar-DZ" sz="2400" b="1" baseline="0" dirty="0">
                          <a:solidFill>
                            <a:schemeClr val="bg1"/>
                          </a:solidFill>
                        </a:rPr>
                        <a:t>مع استعمال </a:t>
                      </a:r>
                      <a:r>
                        <a:rPr lang="ar-DZ" sz="2400" b="1" baseline="0" dirty="0" err="1">
                          <a:solidFill>
                            <a:schemeClr val="bg1"/>
                          </a:solidFill>
                        </a:rPr>
                        <a:t>ماخذ</a:t>
                      </a:r>
                      <a:r>
                        <a:rPr lang="ar-DZ" sz="2400" b="1" baseline="0" dirty="0">
                          <a:solidFill>
                            <a:schemeClr val="bg1"/>
                          </a:solidFill>
                        </a:rPr>
                        <a:t> عادي لا يوجد فيه توصيل</a:t>
                      </a:r>
                    </a:p>
                    <a:p>
                      <a:pPr algn="r"/>
                      <a:r>
                        <a:rPr lang="ar-DZ" sz="2400" b="1" baseline="0" dirty="0">
                          <a:solidFill>
                            <a:schemeClr val="bg1"/>
                          </a:solidFill>
                        </a:rPr>
                        <a:t> بين </a:t>
                      </a:r>
                      <a:r>
                        <a:rPr lang="ar-DZ" sz="2400" b="1" baseline="0" dirty="0" err="1">
                          <a:solidFill>
                            <a:schemeClr val="bg1"/>
                          </a:solidFill>
                        </a:rPr>
                        <a:t>ماخذ</a:t>
                      </a:r>
                      <a:r>
                        <a:rPr lang="ar-DZ" sz="2400" b="1" baseline="0" dirty="0">
                          <a:solidFill>
                            <a:schemeClr val="bg1"/>
                          </a:solidFill>
                        </a:rPr>
                        <a:t> الغسالة </a:t>
                      </a:r>
                      <a:r>
                        <a:rPr lang="ar-DZ" sz="2400" b="1" baseline="0" dirty="0" err="1">
                          <a:solidFill>
                            <a:schemeClr val="bg1"/>
                          </a:solidFill>
                        </a:rPr>
                        <a:t>والارض</a:t>
                      </a:r>
                      <a:r>
                        <a:rPr lang="ar-DZ" sz="2400" b="1" baseline="0" dirty="0">
                          <a:solidFill>
                            <a:schemeClr val="bg1"/>
                          </a:solidFill>
                        </a:rPr>
                        <a:t> وبين هيكلها </a:t>
                      </a:r>
                      <a:r>
                        <a:rPr lang="ar-DZ" sz="2400" b="1" baseline="0" dirty="0" err="1">
                          <a:solidFill>
                            <a:schemeClr val="bg1"/>
                          </a:solidFill>
                        </a:rPr>
                        <a:t>والماخذ</a:t>
                      </a:r>
                      <a:r>
                        <a:rPr lang="ar-DZ" sz="2400" b="1" baseline="0" dirty="0">
                          <a:solidFill>
                            <a:schemeClr val="bg1"/>
                          </a:solidFill>
                        </a:rPr>
                        <a:t> </a:t>
                      </a:r>
                    </a:p>
                    <a:p>
                      <a:pPr algn="r"/>
                      <a:r>
                        <a:rPr lang="ar-DZ" sz="2400" b="1" baseline="0" dirty="0">
                          <a:solidFill>
                            <a:schemeClr val="bg1"/>
                          </a:solidFill>
                        </a:rPr>
                        <a:t>3-الحل المقترح لحل مشكلة الغسالة هو </a:t>
                      </a:r>
                    </a:p>
                    <a:p>
                      <a:pPr algn="r"/>
                      <a:r>
                        <a:rPr lang="ar-DZ" sz="2400" b="1" baseline="0" dirty="0">
                          <a:solidFill>
                            <a:schemeClr val="bg1"/>
                          </a:solidFill>
                        </a:rPr>
                        <a:t>استبدال </a:t>
                      </a:r>
                      <a:r>
                        <a:rPr lang="ar-DZ" sz="2400" b="1" baseline="0" dirty="0" err="1">
                          <a:solidFill>
                            <a:schemeClr val="bg1"/>
                          </a:solidFill>
                        </a:rPr>
                        <a:t>الماخذ</a:t>
                      </a:r>
                      <a:r>
                        <a:rPr lang="ar-DZ" sz="2400" b="1" baseline="0" dirty="0">
                          <a:solidFill>
                            <a:schemeClr val="bg1"/>
                          </a:solidFill>
                        </a:rPr>
                        <a:t> العادي </a:t>
                      </a:r>
                      <a:r>
                        <a:rPr lang="ar-DZ" sz="2400" b="1" baseline="0" dirty="0" err="1">
                          <a:solidFill>
                            <a:schemeClr val="bg1"/>
                          </a:solidFill>
                        </a:rPr>
                        <a:t>بماخذ</a:t>
                      </a:r>
                      <a:r>
                        <a:rPr lang="ar-DZ" sz="2400" b="1" baseline="0" dirty="0">
                          <a:solidFill>
                            <a:schemeClr val="bg1"/>
                          </a:solidFill>
                        </a:rPr>
                        <a:t> ارضي يتم </a:t>
                      </a:r>
                    </a:p>
                    <a:p>
                      <a:pPr algn="r"/>
                      <a:r>
                        <a:rPr lang="ar-DZ" sz="2400" b="1" baseline="0" dirty="0">
                          <a:solidFill>
                            <a:schemeClr val="bg1"/>
                          </a:solidFill>
                        </a:rPr>
                        <a:t>توصيله مع هيكل الغسالة ومع الارض </a:t>
                      </a:r>
                    </a:p>
                    <a:p>
                      <a:pPr algn="r"/>
                      <a:r>
                        <a:rPr lang="ar-DZ" sz="2400" b="1" baseline="0" dirty="0">
                          <a:solidFill>
                            <a:schemeClr val="bg1"/>
                          </a:solidFill>
                        </a:rPr>
                        <a:t>واستبدال </a:t>
                      </a:r>
                      <a:r>
                        <a:rPr lang="ar-DZ" sz="2400" b="1" baseline="0" dirty="0" err="1">
                          <a:solidFill>
                            <a:schemeClr val="bg1"/>
                          </a:solidFill>
                        </a:rPr>
                        <a:t>الصاهورة</a:t>
                      </a:r>
                      <a:r>
                        <a:rPr lang="ar-DZ" sz="2400" b="1" baseline="0" dirty="0">
                          <a:solidFill>
                            <a:schemeClr val="bg1"/>
                          </a:solidFill>
                        </a:rPr>
                        <a:t> من سلك الحيادي الى سلك الطور  </a:t>
                      </a:r>
                    </a:p>
                    <a:p>
                      <a:pPr algn="r"/>
                      <a:endParaRPr lang="ar-DZ" sz="2400" b="1" baseline="0" dirty="0">
                        <a:solidFill>
                          <a:schemeClr val="bg1"/>
                        </a:solidFill>
                      </a:endParaRPr>
                    </a:p>
                  </a:txBody>
                  <a:tcPr>
                    <a:solidFill>
                      <a:schemeClr val="tx1"/>
                    </a:solidFill>
                  </a:tcPr>
                </a:tc>
                <a:extLst>
                  <a:ext uri="{0D108BD9-81ED-4DB2-BD59-A6C34878D82A}">
                    <a16:rowId xmlns:a16="http://schemas.microsoft.com/office/drawing/2014/main" val="10000"/>
                  </a:ext>
                </a:extLst>
              </a:tr>
            </a:tbl>
          </a:graphicData>
        </a:graphic>
      </p:graphicFrame>
      <p:pic>
        <p:nvPicPr>
          <p:cNvPr id="13"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95536" y="3573016"/>
            <a:ext cx="2808312" cy="2448272"/>
          </a:xfrm>
          <a:prstGeom prst="rect">
            <a:avLst/>
          </a:prstGeom>
          <a:noFill/>
          <a:ln w="9525">
            <a:noFill/>
            <a:miter lim="800000"/>
            <a:headEnd/>
            <a:tailEnd/>
          </a:ln>
        </p:spPr>
      </p:pic>
      <p:sp>
        <p:nvSpPr>
          <p:cNvPr id="14" name="Rectangle à coins arrondis 13"/>
          <p:cNvSpPr/>
          <p:nvPr/>
        </p:nvSpPr>
        <p:spPr>
          <a:xfrm>
            <a:off x="3059832" y="4149080"/>
            <a:ext cx="648072" cy="2880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1</a:t>
            </a:r>
            <a:r>
              <a:rPr lang="ar-DZ" b="1" dirty="0">
                <a:solidFill>
                  <a:schemeClr val="bg1"/>
                </a:solidFill>
              </a:rPr>
              <a:t>5</a:t>
            </a:r>
            <a:r>
              <a:rPr lang="fr-FR" b="1" dirty="0">
                <a:solidFill>
                  <a:schemeClr val="bg1"/>
                </a:solidFill>
              </a:rPr>
              <a:t>A</a:t>
            </a:r>
          </a:p>
        </p:txBody>
      </p:sp>
      <p:sp>
        <p:nvSpPr>
          <p:cNvPr id="16" name="Rectangle à coins arrondis 15"/>
          <p:cNvSpPr/>
          <p:nvPr/>
        </p:nvSpPr>
        <p:spPr>
          <a:xfrm>
            <a:off x="2915816" y="4005064"/>
            <a:ext cx="216024" cy="432048"/>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771800" y="4077072"/>
            <a:ext cx="216024" cy="288032"/>
          </a:xfrm>
          <a:prstGeom prst="rect">
            <a:avLst/>
          </a:prstGeom>
          <a:noFill/>
          <a:ln w="9525">
            <a:noFill/>
            <a:miter lim="800000"/>
            <a:headEnd/>
            <a:tailEnd/>
          </a:ln>
        </p:spPr>
      </p:pic>
      <p:cxnSp>
        <p:nvCxnSpPr>
          <p:cNvPr id="19" name="Connecteur droit 18"/>
          <p:cNvCxnSpPr/>
          <p:nvPr/>
        </p:nvCxnSpPr>
        <p:spPr>
          <a:xfrm>
            <a:off x="2987824" y="3933056"/>
            <a:ext cx="72008" cy="792088"/>
          </a:xfrm>
          <a:prstGeom prst="line">
            <a:avLst/>
          </a:prstGeom>
          <a:ln w="25400">
            <a:solidFill>
              <a:srgbClr val="00FFFF"/>
            </a:solidFill>
          </a:ln>
        </p:spPr>
        <p:style>
          <a:lnRef idx="1">
            <a:schemeClr val="accent1"/>
          </a:lnRef>
          <a:fillRef idx="0">
            <a:schemeClr val="accent1"/>
          </a:fillRef>
          <a:effectRef idx="0">
            <a:schemeClr val="accent1"/>
          </a:effectRef>
          <a:fontRef idx="minor">
            <a:schemeClr val="tx1"/>
          </a:fontRef>
        </p:style>
      </p:cxnSp>
      <p:pic>
        <p:nvPicPr>
          <p:cNvPr id="23"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771800" y="3789040"/>
            <a:ext cx="216024" cy="288032"/>
          </a:xfrm>
          <a:prstGeom prst="rect">
            <a:avLst/>
          </a:prstGeom>
          <a:noFill/>
          <a:ln w="9525">
            <a:noFill/>
            <a:miter lim="800000"/>
            <a:headEnd/>
            <a:tailEnd/>
          </a:ln>
        </p:spPr>
      </p:pic>
      <p:cxnSp>
        <p:nvCxnSpPr>
          <p:cNvPr id="24" name="Connecteur droit 23"/>
          <p:cNvCxnSpPr/>
          <p:nvPr/>
        </p:nvCxnSpPr>
        <p:spPr>
          <a:xfrm>
            <a:off x="2915816" y="4869160"/>
            <a:ext cx="0" cy="108012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a:xfrm flipH="1">
            <a:off x="2699792" y="5805264"/>
            <a:ext cx="504056" cy="838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a:xfrm flipH="1">
            <a:off x="2699792" y="5877272"/>
            <a:ext cx="504056" cy="838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a:xfrm flipH="1">
            <a:off x="2771800" y="5949280"/>
            <a:ext cx="351656" cy="1676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a:xfrm flipH="1">
            <a:off x="2699792" y="4869160"/>
            <a:ext cx="216024" cy="58444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971600" y="1268760"/>
            <a:ext cx="6840760" cy="32403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6000" b="1" dirty="0">
                <a:solidFill>
                  <a:schemeClr val="bg1"/>
                </a:solidFill>
              </a:rPr>
              <a:t>الموضوع العاشر     </a:t>
            </a:r>
            <a:endParaRPr lang="fr-FR" sz="6000" b="1" dirty="0">
              <a:solidFill>
                <a:schemeClr val="bg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الاول </a:t>
            </a:r>
            <a:r>
              <a:rPr lang="ar-DZ" sz="2800" b="1" dirty="0">
                <a:solidFill>
                  <a:schemeClr val="bg1"/>
                </a:solidFill>
              </a:rPr>
              <a:t>(5 نقاط</a:t>
            </a:r>
            <a:r>
              <a:rPr lang="ar-DZ" sz="2800" b="1" dirty="0" err="1">
                <a:solidFill>
                  <a:schemeClr val="bg1"/>
                </a:solidFill>
              </a:rPr>
              <a:t>)</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000" b="1" dirty="0">
              <a:solidFill>
                <a:schemeClr val="bg1"/>
              </a:solidFill>
            </a:endParaRPr>
          </a:p>
          <a:p>
            <a:pPr algn="r"/>
            <a:r>
              <a:rPr lang="ar-DZ" sz="2000" b="1" dirty="0">
                <a:solidFill>
                  <a:schemeClr val="bg1"/>
                </a:solidFill>
              </a:rPr>
              <a:t>وزع استاذ العلوم الفيزيائية التلاميذ الى فوجين</a:t>
            </a:r>
          </a:p>
          <a:p>
            <a:pPr algn="r"/>
            <a:r>
              <a:rPr lang="ar-DZ" sz="2000" b="1" dirty="0">
                <a:solidFill>
                  <a:schemeClr val="bg1"/>
                </a:solidFill>
              </a:rPr>
              <a:t>ثم طلب من الفوج الاول وضع مسحوق  القصدير    في انبوب</a:t>
            </a:r>
          </a:p>
          <a:p>
            <a:pPr algn="r"/>
            <a:r>
              <a:rPr lang="ar-DZ" sz="2000" b="1" dirty="0">
                <a:solidFill>
                  <a:schemeClr val="bg1"/>
                </a:solidFill>
              </a:rPr>
              <a:t> اختبار و اضافة له  كمية من محلول حمض </a:t>
            </a:r>
            <a:r>
              <a:rPr lang="ar-DZ" sz="2000" b="1" dirty="0" err="1">
                <a:solidFill>
                  <a:schemeClr val="bg1"/>
                </a:solidFill>
              </a:rPr>
              <a:t>كلور</a:t>
            </a:r>
            <a:r>
              <a:rPr lang="ar-DZ" sz="2000" b="1" dirty="0">
                <a:solidFill>
                  <a:schemeClr val="bg1"/>
                </a:solidFill>
              </a:rPr>
              <a:t> الماء كما في الشكل 1</a:t>
            </a:r>
          </a:p>
          <a:p>
            <a:pPr algn="r"/>
            <a:r>
              <a:rPr lang="ar-DZ" sz="2000" b="1" dirty="0">
                <a:solidFill>
                  <a:schemeClr val="bg1"/>
                </a:solidFill>
              </a:rPr>
              <a:t> فلاحظوا  حدوث فوران وانطلاق عاز  وتشكل محلول جديد </a:t>
            </a:r>
          </a:p>
          <a:p>
            <a:pPr algn="r"/>
            <a:r>
              <a:rPr lang="ar-DZ" sz="2000" b="1" dirty="0">
                <a:solidFill>
                  <a:schemeClr val="bg1"/>
                </a:solidFill>
              </a:rPr>
              <a:t>اما الفوج الثاني طلب منهم وضع مسحوق </a:t>
            </a:r>
            <a:r>
              <a:rPr lang="ar-DZ" sz="2000" b="1" dirty="0" err="1">
                <a:solidFill>
                  <a:schemeClr val="bg1"/>
                </a:solidFill>
              </a:rPr>
              <a:t>كلور</a:t>
            </a:r>
            <a:r>
              <a:rPr lang="ar-DZ" sz="2000" b="1" dirty="0">
                <a:solidFill>
                  <a:schemeClr val="bg1"/>
                </a:solidFill>
              </a:rPr>
              <a:t> القصدير  </a:t>
            </a:r>
          </a:p>
          <a:p>
            <a:pPr algn="r"/>
            <a:r>
              <a:rPr lang="ar-DZ" sz="2000" b="1" dirty="0">
                <a:solidFill>
                  <a:schemeClr val="bg1"/>
                </a:solidFill>
              </a:rPr>
              <a:t> فى وعاء التحليل الكهربائي  المتصل بدارة كهربائية كما في الشكل 2</a:t>
            </a:r>
          </a:p>
          <a:p>
            <a:pPr algn="r"/>
            <a:r>
              <a:rPr lang="ar-DZ" sz="2000" b="1" dirty="0">
                <a:solidFill>
                  <a:schemeClr val="bg1"/>
                </a:solidFill>
              </a:rPr>
              <a:t>فلاحظوا انه لم  يتوهج المصباح وعند اضافة الماء المقطر للمسحوق لاحظوا  توهج </a:t>
            </a:r>
          </a:p>
          <a:p>
            <a:pPr algn="r"/>
            <a:r>
              <a:rPr lang="ar-DZ" sz="2000" b="1" dirty="0">
                <a:solidFill>
                  <a:schemeClr val="bg1"/>
                </a:solidFill>
              </a:rPr>
              <a:t>المصباح و صعود  غاز معين  في المصعد  وترسب معدن  في المهبط  </a:t>
            </a:r>
          </a:p>
          <a:p>
            <a:pPr algn="r"/>
            <a:r>
              <a:rPr lang="ar-DZ" sz="2000" b="1" dirty="0">
                <a:solidFill>
                  <a:schemeClr val="bg1"/>
                </a:solidFill>
              </a:rPr>
              <a:t>1-سم الغاز الذي ينطلق عند  كل فوج ثم اكتب صيغته الكيميائية </a:t>
            </a:r>
          </a:p>
          <a:p>
            <a:pPr algn="r"/>
            <a:r>
              <a:rPr lang="ar-DZ" sz="2000" b="1" dirty="0">
                <a:solidFill>
                  <a:schemeClr val="bg1"/>
                </a:solidFill>
              </a:rPr>
              <a:t>2-لماذا لم يتوهج المصباح في الحالة الاولى ثم توهج في الحالة </a:t>
            </a:r>
            <a:r>
              <a:rPr lang="ar-DZ" sz="2000" b="1" dirty="0" err="1">
                <a:solidFill>
                  <a:schemeClr val="bg1"/>
                </a:solidFill>
              </a:rPr>
              <a:t>الثانية ؟</a:t>
            </a:r>
            <a:r>
              <a:rPr lang="ar-DZ" sz="2000" b="1" dirty="0">
                <a:solidFill>
                  <a:schemeClr val="bg1"/>
                </a:solidFill>
              </a:rPr>
              <a:t> </a:t>
            </a:r>
          </a:p>
          <a:p>
            <a:pPr algn="r"/>
            <a:r>
              <a:rPr lang="ar-DZ" sz="2000" b="1" dirty="0">
                <a:solidFill>
                  <a:schemeClr val="bg1"/>
                </a:solidFill>
              </a:rPr>
              <a:t>3-اكمل معادلة التفاعل التي تحدث عند كل فوج</a:t>
            </a:r>
          </a:p>
          <a:p>
            <a:pPr algn="r"/>
            <a:r>
              <a:rPr lang="ar-DZ" sz="2000" b="1" dirty="0">
                <a:solidFill>
                  <a:schemeClr val="bg1"/>
                </a:solidFill>
              </a:rPr>
              <a:t>الفوج الاول   </a:t>
            </a:r>
            <a:endParaRPr lang="fr-FR" sz="2000" b="1" dirty="0">
              <a:solidFill>
                <a:schemeClr val="bg1"/>
              </a:solidFill>
            </a:endParaRPr>
          </a:p>
          <a:p>
            <a:pPr algn="r"/>
            <a:r>
              <a:rPr lang="fr-FR" sz="2000" b="1" dirty="0">
                <a:solidFill>
                  <a:schemeClr val="bg1"/>
                </a:solidFill>
              </a:rPr>
              <a:t>Sn(….)+… (H</a:t>
            </a:r>
            <a:r>
              <a:rPr lang="fr-FR" sz="2000" b="1" baseline="30000" dirty="0">
                <a:solidFill>
                  <a:schemeClr val="bg1"/>
                </a:solidFill>
              </a:rPr>
              <a:t>+</a:t>
            </a:r>
            <a:r>
              <a:rPr lang="fr-FR" sz="2000" b="1" dirty="0">
                <a:solidFill>
                  <a:schemeClr val="bg1"/>
                </a:solidFill>
              </a:rPr>
              <a:t>+Cl</a:t>
            </a:r>
            <a:r>
              <a:rPr lang="fr-FR" sz="2000" b="1" baseline="30000" dirty="0">
                <a:solidFill>
                  <a:schemeClr val="bg1"/>
                </a:solidFill>
              </a:rPr>
              <a:t>-</a:t>
            </a:r>
            <a:r>
              <a:rPr lang="fr-FR" sz="2000" b="1" dirty="0">
                <a:solidFill>
                  <a:schemeClr val="bg1"/>
                </a:solidFill>
              </a:rPr>
              <a:t>)(….)           (Sn</a:t>
            </a:r>
            <a:r>
              <a:rPr lang="fr-FR" sz="2000" b="1" baseline="30000" dirty="0">
                <a:solidFill>
                  <a:schemeClr val="bg1"/>
                </a:solidFill>
              </a:rPr>
              <a:t>2+</a:t>
            </a:r>
            <a:r>
              <a:rPr lang="fr-FR" sz="2000" b="1" dirty="0">
                <a:solidFill>
                  <a:schemeClr val="bg1"/>
                </a:solidFill>
              </a:rPr>
              <a:t>+….Cl</a:t>
            </a:r>
            <a:r>
              <a:rPr lang="fr-FR" sz="2000" b="1" baseline="30000" dirty="0">
                <a:solidFill>
                  <a:schemeClr val="bg1"/>
                </a:solidFill>
              </a:rPr>
              <a:t>-</a:t>
            </a:r>
            <a:r>
              <a:rPr lang="fr-FR" sz="2000" b="1" dirty="0">
                <a:solidFill>
                  <a:schemeClr val="bg1"/>
                </a:solidFill>
              </a:rPr>
              <a:t>)(...) + H</a:t>
            </a:r>
            <a:r>
              <a:rPr lang="fr-FR" sz="2000" b="1" baseline="-25000" dirty="0">
                <a:solidFill>
                  <a:schemeClr val="bg1"/>
                </a:solidFill>
              </a:rPr>
              <a:t>2</a:t>
            </a:r>
            <a:r>
              <a:rPr lang="fr-FR" sz="2000" b="1" dirty="0">
                <a:solidFill>
                  <a:schemeClr val="bg1"/>
                </a:solidFill>
              </a:rPr>
              <a:t>(…)</a:t>
            </a:r>
            <a:endParaRPr lang="ar-DZ" sz="2000" b="1" dirty="0">
              <a:solidFill>
                <a:schemeClr val="bg1"/>
              </a:solidFill>
            </a:endParaRPr>
          </a:p>
          <a:p>
            <a:pPr algn="r"/>
            <a:r>
              <a:rPr lang="ar-DZ" sz="2000" b="1" dirty="0">
                <a:solidFill>
                  <a:schemeClr val="bg1"/>
                </a:solidFill>
              </a:rPr>
              <a:t>الفوج </a:t>
            </a:r>
            <a:r>
              <a:rPr lang="ar-DZ" sz="2000" b="1" dirty="0" err="1">
                <a:solidFill>
                  <a:schemeClr val="bg1"/>
                </a:solidFill>
              </a:rPr>
              <a:t>االثاني</a:t>
            </a:r>
            <a:r>
              <a:rPr lang="ar-DZ" sz="2000" b="1" dirty="0">
                <a:solidFill>
                  <a:schemeClr val="bg1"/>
                </a:solidFill>
              </a:rPr>
              <a:t>   </a:t>
            </a:r>
          </a:p>
          <a:p>
            <a:pPr algn="r"/>
            <a:r>
              <a:rPr lang="fr-FR" sz="2000" b="1" dirty="0">
                <a:solidFill>
                  <a:schemeClr val="bg1"/>
                </a:solidFill>
              </a:rPr>
              <a:t>..... Cl</a:t>
            </a:r>
            <a:r>
              <a:rPr lang="fr-FR" sz="2000" b="1" baseline="30000" dirty="0">
                <a:solidFill>
                  <a:schemeClr val="bg1"/>
                </a:solidFill>
              </a:rPr>
              <a:t>-</a:t>
            </a:r>
            <a:r>
              <a:rPr lang="fr-FR" sz="2000" b="1" dirty="0">
                <a:solidFill>
                  <a:schemeClr val="bg1"/>
                </a:solidFill>
              </a:rPr>
              <a:t> (……)</a:t>
            </a:r>
            <a:r>
              <a:rPr lang="ar-DZ" sz="2000" b="1" dirty="0">
                <a:solidFill>
                  <a:schemeClr val="bg1"/>
                </a:solidFill>
              </a:rPr>
              <a:t>  </a:t>
            </a:r>
            <a:r>
              <a:rPr lang="ar-DZ" sz="2000" b="1" dirty="0" err="1">
                <a:solidFill>
                  <a:schemeClr val="bg1"/>
                </a:solidFill>
              </a:rPr>
              <a:t>+</a:t>
            </a:r>
            <a:r>
              <a:rPr lang="ar-DZ" sz="2000" b="1" dirty="0">
                <a:solidFill>
                  <a:schemeClr val="bg1"/>
                </a:solidFill>
              </a:rPr>
              <a:t> </a:t>
            </a:r>
            <a:r>
              <a:rPr lang="fr-FR" sz="2000" b="1" dirty="0">
                <a:solidFill>
                  <a:schemeClr val="bg1"/>
                </a:solidFill>
              </a:rPr>
              <a:t>Sn</a:t>
            </a:r>
            <a:r>
              <a:rPr lang="fr-FR" sz="2000" b="1" baseline="30000" dirty="0">
                <a:solidFill>
                  <a:schemeClr val="bg1"/>
                </a:solidFill>
              </a:rPr>
              <a:t>2+ </a:t>
            </a:r>
            <a:r>
              <a:rPr lang="fr-FR" sz="2000" b="1" dirty="0">
                <a:solidFill>
                  <a:schemeClr val="bg1"/>
                </a:solidFill>
              </a:rPr>
              <a:t>(……)</a:t>
            </a:r>
            <a:r>
              <a:rPr lang="fr-FR" sz="2000" b="1" baseline="30000" dirty="0">
                <a:solidFill>
                  <a:schemeClr val="bg1"/>
                </a:solidFill>
              </a:rPr>
              <a:t>                </a:t>
            </a:r>
            <a:r>
              <a:rPr lang="fr-FR" sz="2000" b="1" dirty="0">
                <a:solidFill>
                  <a:schemeClr val="bg1"/>
                </a:solidFill>
              </a:rPr>
              <a:t>….. (s)   </a:t>
            </a:r>
            <a:r>
              <a:rPr lang="ar-DZ" sz="2000" b="1" dirty="0" err="1">
                <a:solidFill>
                  <a:schemeClr val="bg1"/>
                </a:solidFill>
              </a:rPr>
              <a:t>+</a:t>
            </a:r>
            <a:r>
              <a:rPr lang="fr-FR" sz="2000" b="1" dirty="0">
                <a:solidFill>
                  <a:schemeClr val="bg1"/>
                </a:solidFill>
              </a:rPr>
              <a:t>   …..(g).</a:t>
            </a:r>
          </a:p>
          <a:p>
            <a:pPr algn="r"/>
            <a:r>
              <a:rPr lang="ar-DZ" sz="2000" b="1" dirty="0">
                <a:solidFill>
                  <a:schemeClr val="bg1"/>
                </a:solidFill>
              </a:rPr>
              <a:t> </a:t>
            </a:r>
          </a:p>
          <a:p>
            <a:pPr algn="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51520" y="1124744"/>
            <a:ext cx="2088232" cy="1656184"/>
          </a:xfrm>
          <a:prstGeom prst="rect">
            <a:avLst/>
          </a:prstGeom>
          <a:noFill/>
          <a:ln w="9525">
            <a:noFill/>
            <a:miter lim="800000"/>
            <a:headEnd/>
            <a:tailEnd/>
          </a:ln>
        </p:spPr>
      </p:pic>
      <p:pic>
        <p:nvPicPr>
          <p:cNvPr id="8"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3212976"/>
            <a:ext cx="2231232" cy="1944216"/>
          </a:xfrm>
          <a:prstGeom prst="rect">
            <a:avLst/>
          </a:prstGeom>
          <a:noFill/>
          <a:ln w="9525">
            <a:noFill/>
            <a:miter lim="800000"/>
            <a:headEnd/>
            <a:tailEnd/>
          </a:ln>
        </p:spPr>
      </p:pic>
      <p:sp>
        <p:nvSpPr>
          <p:cNvPr id="9" name="Rectangle à coins arrondis 8"/>
          <p:cNvSpPr/>
          <p:nvPr/>
        </p:nvSpPr>
        <p:spPr>
          <a:xfrm>
            <a:off x="395536" y="2852936"/>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1</a:t>
            </a:r>
            <a:endParaRPr lang="fr-FR" b="1" dirty="0">
              <a:solidFill>
                <a:schemeClr val="bg1"/>
              </a:solidFill>
            </a:endParaRPr>
          </a:p>
        </p:txBody>
      </p:sp>
      <p:sp>
        <p:nvSpPr>
          <p:cNvPr id="10" name="Rectangle à coins arrondis 9"/>
          <p:cNvSpPr/>
          <p:nvPr/>
        </p:nvSpPr>
        <p:spPr>
          <a:xfrm>
            <a:off x="395536" y="5085184"/>
            <a:ext cx="1440160" cy="432048"/>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شكل 2</a:t>
            </a:r>
            <a:endParaRPr lang="fr-FR" b="1" dirty="0">
              <a:solidFill>
                <a:schemeClr val="bg1"/>
              </a:solidFill>
            </a:endParaRPr>
          </a:p>
        </p:txBody>
      </p:sp>
      <p:cxnSp>
        <p:nvCxnSpPr>
          <p:cNvPr id="12" name="Connecteur droit avec flèche 11"/>
          <p:cNvCxnSpPr/>
          <p:nvPr/>
        </p:nvCxnSpPr>
        <p:spPr>
          <a:xfrm>
            <a:off x="5292080" y="4869160"/>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6084168" y="5517232"/>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à coins arrondis 10"/>
          <p:cNvSpPr/>
          <p:nvPr/>
        </p:nvSpPr>
        <p:spPr>
          <a:xfrm>
            <a:off x="1115616" y="2204864"/>
            <a:ext cx="720080"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Sn</a:t>
            </a:r>
            <a:endParaRPr lang="fr-FR" b="1" dirty="0">
              <a:solidFill>
                <a:schemeClr val="bg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التمرين </a:t>
            </a:r>
            <a:r>
              <a:rPr lang="ar-DZ" sz="2800" b="1" dirty="0" err="1">
                <a:solidFill>
                  <a:schemeClr val="bg1"/>
                </a:solidFill>
              </a:rPr>
              <a:t>الثاني </a:t>
            </a:r>
            <a:r>
              <a:rPr lang="ar-DZ" sz="2800" b="1" dirty="0">
                <a:solidFill>
                  <a:schemeClr val="bg1"/>
                </a:solidFill>
              </a:rPr>
              <a:t>(7 نقاط</a:t>
            </a:r>
            <a:r>
              <a:rPr lang="ar-DZ" sz="2800" b="1" dirty="0" err="1">
                <a:solidFill>
                  <a:schemeClr val="bg1"/>
                </a:solidFill>
              </a:rPr>
              <a:t>)</a:t>
            </a:r>
            <a:r>
              <a:rPr lang="ar-DZ" sz="2800" b="1" dirty="0">
                <a:solidFill>
                  <a:schemeClr val="bg1"/>
                </a:solidFill>
              </a:rPr>
              <a:t>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من اجل دراسة دافعة </a:t>
            </a:r>
            <a:r>
              <a:rPr lang="ar-DZ" sz="2400" b="1" dirty="0" err="1">
                <a:solidFill>
                  <a:schemeClr val="bg1"/>
                </a:solidFill>
              </a:rPr>
              <a:t>ارخميدس</a:t>
            </a:r>
            <a:r>
              <a:rPr lang="ar-DZ" sz="2400" b="1" dirty="0">
                <a:solidFill>
                  <a:schemeClr val="bg1"/>
                </a:solidFill>
              </a:rPr>
              <a:t> في السوائل </a:t>
            </a:r>
          </a:p>
          <a:p>
            <a:pPr algn="r"/>
            <a:r>
              <a:rPr lang="ar-DZ" sz="2400" b="1" dirty="0">
                <a:solidFill>
                  <a:schemeClr val="bg1"/>
                </a:solidFill>
              </a:rPr>
              <a:t>اجرى التلاميذ  التجربة حيث قاموا </a:t>
            </a:r>
            <a:r>
              <a:rPr lang="ar-DZ" sz="2400" b="1" dirty="0" err="1">
                <a:solidFill>
                  <a:schemeClr val="bg1"/>
                </a:solidFill>
              </a:rPr>
              <a:t>بفياس</a:t>
            </a:r>
            <a:r>
              <a:rPr lang="ar-DZ" sz="2400" b="1" dirty="0">
                <a:solidFill>
                  <a:schemeClr val="bg1"/>
                </a:solidFill>
              </a:rPr>
              <a:t> </a:t>
            </a:r>
          </a:p>
          <a:p>
            <a:pPr algn="r"/>
            <a:r>
              <a:rPr lang="ar-DZ" sz="2400" b="1" dirty="0">
                <a:solidFill>
                  <a:schemeClr val="bg1"/>
                </a:solidFill>
              </a:rPr>
              <a:t>(</a:t>
            </a:r>
            <a:r>
              <a:rPr lang="ar-DZ" sz="2400" b="1" dirty="0" err="1">
                <a:solidFill>
                  <a:schemeClr val="bg1"/>
                </a:solidFill>
              </a:rPr>
              <a:t>حالة1)</a:t>
            </a:r>
            <a:r>
              <a:rPr lang="fr-FR" sz="2400" b="1" dirty="0">
                <a:solidFill>
                  <a:schemeClr val="bg1"/>
                </a:solidFill>
              </a:rPr>
              <a:t>(f)</a:t>
            </a:r>
            <a:r>
              <a:rPr lang="ar-DZ" sz="2400" b="1" dirty="0">
                <a:solidFill>
                  <a:schemeClr val="bg1"/>
                </a:solidFill>
              </a:rPr>
              <a:t> مربوط بحبل </a:t>
            </a:r>
            <a:r>
              <a:rPr lang="fr-FR" sz="2400" b="1" dirty="0">
                <a:solidFill>
                  <a:schemeClr val="bg1"/>
                </a:solidFill>
              </a:rPr>
              <a:t>(s)</a:t>
            </a:r>
            <a:r>
              <a:rPr lang="ar-DZ" sz="2400" b="1" dirty="0">
                <a:solidFill>
                  <a:schemeClr val="bg1"/>
                </a:solidFill>
              </a:rPr>
              <a:t> ثقل جسم </a:t>
            </a:r>
          </a:p>
          <a:p>
            <a:pPr algn="r"/>
            <a:r>
              <a:rPr lang="ar-DZ" sz="2400" b="1" dirty="0">
                <a:solidFill>
                  <a:schemeClr val="bg1"/>
                </a:solidFill>
              </a:rPr>
              <a:t>ثم غمره مرة في الماء ومرة في الزيت وقاسوا</a:t>
            </a:r>
          </a:p>
          <a:p>
            <a:pPr algn="r"/>
            <a:r>
              <a:rPr lang="ar-DZ" sz="2400" b="1" dirty="0">
                <a:solidFill>
                  <a:schemeClr val="bg1"/>
                </a:solidFill>
              </a:rPr>
              <a:t>ثقل الجسم مغمورا في السائلين</a:t>
            </a:r>
          </a:p>
          <a:p>
            <a:pPr algn="r"/>
            <a:r>
              <a:rPr lang="fr-FR" sz="2400" b="1" dirty="0">
                <a:solidFill>
                  <a:schemeClr val="bg1"/>
                </a:solidFill>
              </a:rPr>
              <a:t>5 N         1cm</a:t>
            </a:r>
            <a:r>
              <a:rPr lang="ar-DZ" sz="2400" b="1" dirty="0">
                <a:solidFill>
                  <a:schemeClr val="bg1"/>
                </a:solidFill>
              </a:rPr>
              <a:t> 1-اذكر القوى المؤثرة على الجسم قبل </a:t>
            </a:r>
            <a:r>
              <a:rPr lang="ar-DZ" sz="2400" b="1" dirty="0" err="1">
                <a:solidFill>
                  <a:schemeClr val="bg1"/>
                </a:solidFill>
              </a:rPr>
              <a:t>غمره </a:t>
            </a:r>
            <a:r>
              <a:rPr lang="ar-DZ" sz="2400" b="1" dirty="0">
                <a:solidFill>
                  <a:schemeClr val="bg1"/>
                </a:solidFill>
              </a:rPr>
              <a:t>(حالة 1) ثم مثلها بسلم </a:t>
            </a:r>
          </a:p>
          <a:p>
            <a:pPr algn="r"/>
            <a:r>
              <a:rPr lang="ar-DZ" sz="2400" b="1" dirty="0">
                <a:solidFill>
                  <a:schemeClr val="bg1"/>
                </a:solidFill>
              </a:rPr>
              <a:t>2-احسب دافعة </a:t>
            </a:r>
            <a:r>
              <a:rPr lang="ar-DZ" sz="2400" b="1" dirty="0" err="1">
                <a:solidFill>
                  <a:schemeClr val="bg1"/>
                </a:solidFill>
              </a:rPr>
              <a:t>ارخميدس</a:t>
            </a:r>
            <a:r>
              <a:rPr lang="ar-DZ" sz="2400" b="1" dirty="0">
                <a:solidFill>
                  <a:schemeClr val="bg1"/>
                </a:solidFill>
              </a:rPr>
              <a:t> في كل حالة  </a:t>
            </a:r>
          </a:p>
          <a:p>
            <a:pPr algn="r"/>
            <a:r>
              <a:rPr lang="ar-DZ" sz="2400" b="1" dirty="0">
                <a:solidFill>
                  <a:schemeClr val="bg1"/>
                </a:solidFill>
              </a:rPr>
              <a:t>3-فسر سبب اختلاف قيمة دافعة </a:t>
            </a:r>
            <a:r>
              <a:rPr lang="ar-DZ" sz="2400" b="1" dirty="0" err="1">
                <a:solidFill>
                  <a:schemeClr val="bg1"/>
                </a:solidFill>
              </a:rPr>
              <a:t>ارخميدس</a:t>
            </a:r>
            <a:r>
              <a:rPr lang="ar-DZ" sz="2400" b="1" dirty="0">
                <a:solidFill>
                  <a:schemeClr val="bg1"/>
                </a:solidFill>
              </a:rPr>
              <a:t> في الحالتين </a:t>
            </a:r>
            <a:r>
              <a:rPr lang="ar-DZ" sz="2400" b="1" dirty="0" err="1">
                <a:solidFill>
                  <a:schemeClr val="bg1"/>
                </a:solidFill>
              </a:rPr>
              <a:t>2و3</a:t>
            </a:r>
            <a:endParaRPr lang="ar-DZ" sz="2400" b="1" dirty="0">
              <a:solidFill>
                <a:schemeClr val="bg1"/>
              </a:solidFill>
            </a:endParaRPr>
          </a:p>
          <a:p>
            <a:pPr algn="r"/>
            <a:r>
              <a:rPr lang="ar-DZ" sz="2400" b="1" dirty="0">
                <a:solidFill>
                  <a:schemeClr val="bg1"/>
                </a:solidFill>
              </a:rPr>
              <a:t>4-هل كانت قياساتهم صحيحة بالنسبة للثقل في كل سائل بحساب الكتلة الحجمية لكل </a:t>
            </a:r>
            <a:r>
              <a:rPr lang="fr-FR" sz="2400" b="1" dirty="0">
                <a:solidFill>
                  <a:schemeClr val="bg1"/>
                </a:solidFill>
              </a:rPr>
              <a:t>V=0.00013m3</a:t>
            </a:r>
            <a:r>
              <a:rPr lang="ar-DZ" sz="2400" b="1" dirty="0">
                <a:solidFill>
                  <a:schemeClr val="bg1"/>
                </a:solidFill>
              </a:rPr>
              <a:t>سائل ومقارنتها مع الكتلة الحجمية لهما مع العلم ان حجم الجسم  </a:t>
            </a:r>
            <a:endParaRPr lang="fr-FR" sz="2400" b="1" dirty="0">
              <a:solidFill>
                <a:schemeClr val="bg1"/>
              </a:solidFill>
            </a:endParaRPr>
          </a:p>
          <a:p>
            <a:pPr algn="r"/>
            <a:r>
              <a:rPr lang="ar-DZ" sz="2400" b="1" dirty="0">
                <a:solidFill>
                  <a:schemeClr val="bg1"/>
                </a:solidFill>
              </a:rPr>
              <a:t>برر </a:t>
            </a:r>
            <a:r>
              <a:rPr lang="ar-DZ" sz="2400" b="1" dirty="0" err="1">
                <a:solidFill>
                  <a:schemeClr val="bg1"/>
                </a:solidFill>
              </a:rPr>
              <a:t>اجابتك  ؟</a:t>
            </a:r>
            <a:endParaRPr lang="ar-DZ" sz="2400" b="1" dirty="0">
              <a:solidFill>
                <a:schemeClr val="bg1"/>
              </a:solidFill>
            </a:endParaRPr>
          </a:p>
          <a:p>
            <a:pPr algn="r"/>
            <a:endParaRPr lang="ar-DZ" sz="2400" b="1" dirty="0">
              <a:solidFill>
                <a:schemeClr val="bg1"/>
              </a:solidFill>
            </a:endParaRPr>
          </a:p>
          <a:p>
            <a:pPr algn="r"/>
            <a:endParaRPr lang="fr-FR" sz="2400" b="1" dirty="0">
              <a:solidFill>
                <a:schemeClr val="bg1"/>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512" y="1052736"/>
            <a:ext cx="3456384" cy="2088232"/>
          </a:xfrm>
          <a:prstGeom prst="rect">
            <a:avLst/>
          </a:prstGeom>
          <a:noFill/>
          <a:ln w="9525">
            <a:noFill/>
            <a:miter lim="800000"/>
            <a:headEnd/>
            <a:tailEnd/>
          </a:ln>
        </p:spPr>
      </p:pic>
      <p:sp>
        <p:nvSpPr>
          <p:cNvPr id="7" name="Rectangle à coins arrondis 6"/>
          <p:cNvSpPr/>
          <p:nvPr/>
        </p:nvSpPr>
        <p:spPr>
          <a:xfrm>
            <a:off x="2699792" y="2780928"/>
            <a:ext cx="100811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حالة 3</a:t>
            </a:r>
            <a:endParaRPr lang="fr-FR" b="1" dirty="0">
              <a:solidFill>
                <a:schemeClr val="bg1"/>
              </a:solidFill>
            </a:endParaRPr>
          </a:p>
        </p:txBody>
      </p:sp>
      <p:sp>
        <p:nvSpPr>
          <p:cNvPr id="8" name="Rectangle à coins arrondis 7"/>
          <p:cNvSpPr/>
          <p:nvPr/>
        </p:nvSpPr>
        <p:spPr>
          <a:xfrm>
            <a:off x="1619672" y="2780928"/>
            <a:ext cx="936104"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حالة 2</a:t>
            </a:r>
            <a:endParaRPr lang="fr-FR" b="1" dirty="0">
              <a:solidFill>
                <a:schemeClr val="bg1"/>
              </a:solidFill>
            </a:endParaRPr>
          </a:p>
        </p:txBody>
      </p:sp>
      <p:sp>
        <p:nvSpPr>
          <p:cNvPr id="9" name="Rectangle à coins arrondis 8"/>
          <p:cNvSpPr/>
          <p:nvPr/>
        </p:nvSpPr>
        <p:spPr>
          <a:xfrm>
            <a:off x="611560" y="2780928"/>
            <a:ext cx="936104"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حالة 1</a:t>
            </a:r>
            <a:endParaRPr lang="fr-FR" b="1" dirty="0">
              <a:solidFill>
                <a:schemeClr val="bg1"/>
              </a:solidFill>
            </a:endParaRPr>
          </a:p>
        </p:txBody>
      </p:sp>
      <p:sp>
        <p:nvSpPr>
          <p:cNvPr id="10" name="Rectangle à coins arrondis 9"/>
          <p:cNvSpPr/>
          <p:nvPr/>
        </p:nvSpPr>
        <p:spPr>
          <a:xfrm>
            <a:off x="2699792" y="2348880"/>
            <a:ext cx="100811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زيت</a:t>
            </a:r>
            <a:endParaRPr lang="fr-FR" b="1" dirty="0">
              <a:solidFill>
                <a:schemeClr val="bg1"/>
              </a:solidFill>
            </a:endParaRPr>
          </a:p>
        </p:txBody>
      </p:sp>
      <p:sp>
        <p:nvSpPr>
          <p:cNvPr id="11" name="Rectangle à coins arrondis 10"/>
          <p:cNvSpPr/>
          <p:nvPr/>
        </p:nvSpPr>
        <p:spPr>
          <a:xfrm>
            <a:off x="1691680" y="2348880"/>
            <a:ext cx="100811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bg1"/>
                </a:solidFill>
              </a:rPr>
              <a:t>ماء</a:t>
            </a:r>
            <a:endParaRPr lang="fr-FR" b="1" dirty="0">
              <a:solidFill>
                <a:schemeClr val="bg1"/>
              </a:solidFill>
            </a:endParaRPr>
          </a:p>
        </p:txBody>
      </p:sp>
      <p:sp>
        <p:nvSpPr>
          <p:cNvPr id="12" name="Rectangle à coins arrondis 11"/>
          <p:cNvSpPr/>
          <p:nvPr/>
        </p:nvSpPr>
        <p:spPr>
          <a:xfrm>
            <a:off x="2771800" y="980728"/>
            <a:ext cx="100811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9.9N</a:t>
            </a:r>
            <a:endParaRPr lang="fr-FR" b="1" dirty="0">
              <a:solidFill>
                <a:schemeClr val="bg1"/>
              </a:solidFill>
            </a:endParaRPr>
          </a:p>
        </p:txBody>
      </p:sp>
      <p:sp>
        <p:nvSpPr>
          <p:cNvPr id="13" name="Rectangle à coins arrondis 12"/>
          <p:cNvSpPr/>
          <p:nvPr/>
        </p:nvSpPr>
        <p:spPr>
          <a:xfrm>
            <a:off x="1475656" y="980728"/>
            <a:ext cx="1152128"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8.7N</a:t>
            </a:r>
            <a:endParaRPr lang="fr-FR" b="1" dirty="0">
              <a:solidFill>
                <a:schemeClr val="bg1"/>
              </a:solidFill>
            </a:endParaRPr>
          </a:p>
        </p:txBody>
      </p:sp>
      <p:sp>
        <p:nvSpPr>
          <p:cNvPr id="14" name="Rectangle à coins arrondis 13"/>
          <p:cNvSpPr/>
          <p:nvPr/>
        </p:nvSpPr>
        <p:spPr>
          <a:xfrm>
            <a:off x="539552" y="908720"/>
            <a:ext cx="1008112" cy="432048"/>
          </a:xfrm>
          <a:prstGeom prst="roundRect">
            <a:avLst/>
          </a:prstGeom>
          <a:solidFill>
            <a:schemeClr val="tx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10N</a:t>
            </a:r>
            <a:endParaRPr lang="fr-FR" b="1" dirty="0">
              <a:solidFill>
                <a:schemeClr val="bg1"/>
              </a:solidFill>
            </a:endParaRPr>
          </a:p>
        </p:txBody>
      </p:sp>
      <p:cxnSp>
        <p:nvCxnSpPr>
          <p:cNvPr id="15" name="Connecteur droit avec flèche 14"/>
          <p:cNvCxnSpPr/>
          <p:nvPr/>
        </p:nvCxnSpPr>
        <p:spPr>
          <a:xfrm>
            <a:off x="899592" y="3501008"/>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0" y="0"/>
            <a:ext cx="9144000" cy="122413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الوضعية </a:t>
            </a:r>
            <a:r>
              <a:rPr lang="ar-DZ" sz="2800" b="1" dirty="0" err="1">
                <a:solidFill>
                  <a:schemeClr val="bg1"/>
                </a:solidFill>
              </a:rPr>
              <a:t>الادماجية </a:t>
            </a:r>
            <a:r>
              <a:rPr lang="ar-DZ" sz="2800" b="1" dirty="0">
                <a:solidFill>
                  <a:schemeClr val="bg1"/>
                </a:solidFill>
              </a:rPr>
              <a:t>(8 نقاط</a:t>
            </a:r>
            <a:r>
              <a:rPr lang="ar-DZ" sz="2800" b="1" dirty="0" err="1">
                <a:solidFill>
                  <a:schemeClr val="bg1"/>
                </a:solidFill>
              </a:rPr>
              <a:t>)</a:t>
            </a:r>
            <a:r>
              <a:rPr lang="ar-DZ" sz="2800" b="1" dirty="0">
                <a:solidFill>
                  <a:schemeClr val="bg1"/>
                </a:solidFill>
              </a:rPr>
              <a:t> </a:t>
            </a:r>
            <a:endParaRPr lang="fr-FR" sz="4000" b="1" dirty="0">
              <a:solidFill>
                <a:schemeClr val="bg1"/>
              </a:solidFill>
            </a:endParaRPr>
          </a:p>
        </p:txBody>
      </p:sp>
      <p:sp>
        <p:nvSpPr>
          <p:cNvPr id="5" name="Rectangle à coins arrondis 4"/>
          <p:cNvSpPr/>
          <p:nvPr/>
        </p:nvSpPr>
        <p:spPr>
          <a:xfrm>
            <a:off x="0" y="1268760"/>
            <a:ext cx="9144000" cy="558924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000" b="1" dirty="0">
                <a:solidFill>
                  <a:schemeClr val="bg1"/>
                </a:solidFill>
              </a:rPr>
              <a:t>اقام استاذ العلوم الفيزيائية مسابقة بين فوجين من التلاميذ </a:t>
            </a:r>
          </a:p>
          <a:p>
            <a:pPr algn="r"/>
            <a:r>
              <a:rPr lang="ar-DZ" sz="2000" b="1" dirty="0">
                <a:solidFill>
                  <a:schemeClr val="bg1"/>
                </a:solidFill>
              </a:rPr>
              <a:t>من اجل الوصول الى نتيجة قيمة  التوتر الكهربائي للتيار </a:t>
            </a:r>
          </a:p>
          <a:p>
            <a:pPr algn="r"/>
            <a:r>
              <a:rPr lang="ar-DZ" sz="2000" b="1" dirty="0">
                <a:solidFill>
                  <a:schemeClr val="bg1"/>
                </a:solidFill>
              </a:rPr>
              <a:t> حيث طلب من الفوج الاول بتحريك مغناطيس داخل </a:t>
            </a:r>
          </a:p>
          <a:p>
            <a:pPr algn="r"/>
            <a:r>
              <a:rPr lang="ar-DZ" sz="2000" b="1" dirty="0">
                <a:solidFill>
                  <a:schemeClr val="bg1"/>
                </a:solidFill>
              </a:rPr>
              <a:t>وشيعة متصلة بجهاز راسم الاهتزاز المهبطي </a:t>
            </a:r>
          </a:p>
          <a:p>
            <a:pPr algn="r"/>
            <a:r>
              <a:rPr lang="ar-DZ" sz="2000" b="1" dirty="0">
                <a:solidFill>
                  <a:schemeClr val="bg1"/>
                </a:solidFill>
              </a:rPr>
              <a:t>كما في الشكل 1 </a:t>
            </a:r>
          </a:p>
          <a:p>
            <a:pPr algn="r"/>
            <a:r>
              <a:rPr lang="ar-DZ" sz="2000" b="1" dirty="0">
                <a:solidFill>
                  <a:schemeClr val="bg1"/>
                </a:solidFill>
              </a:rPr>
              <a:t>اما الفوج الثاني فطلب منهم  نفس  العلمية مع توصيل </a:t>
            </a:r>
          </a:p>
          <a:p>
            <a:pPr algn="r"/>
            <a:r>
              <a:rPr lang="ar-DZ" sz="2000" b="1" dirty="0" err="1">
                <a:solidFill>
                  <a:schemeClr val="bg1"/>
                </a:solidFill>
              </a:rPr>
              <a:t>الوشيعة</a:t>
            </a:r>
            <a:r>
              <a:rPr lang="ar-DZ" sz="2000" b="1" dirty="0">
                <a:solidFill>
                  <a:schemeClr val="bg1"/>
                </a:solidFill>
              </a:rPr>
              <a:t> بجهاز </a:t>
            </a:r>
            <a:r>
              <a:rPr lang="ar-DZ" sz="2000" b="1" dirty="0" err="1">
                <a:solidFill>
                  <a:schemeClr val="bg1"/>
                </a:solidFill>
              </a:rPr>
              <a:t>فولط</a:t>
            </a:r>
            <a:r>
              <a:rPr lang="ar-DZ" sz="2000" b="1" dirty="0">
                <a:solidFill>
                  <a:schemeClr val="bg1"/>
                </a:solidFill>
              </a:rPr>
              <a:t> متر رقمي كما في الشكل 2</a:t>
            </a:r>
          </a:p>
          <a:p>
            <a:pPr algn="r"/>
            <a:r>
              <a:rPr lang="ar-DZ" sz="2000" b="1" dirty="0">
                <a:solidFill>
                  <a:schemeClr val="bg1"/>
                </a:solidFill>
              </a:rPr>
              <a:t>ثم طرح عليهم هذه الاسئلة  </a:t>
            </a:r>
          </a:p>
          <a:p>
            <a:pPr algn="r"/>
            <a:r>
              <a:rPr lang="ar-DZ" sz="2000" b="1" dirty="0">
                <a:solidFill>
                  <a:schemeClr val="bg1"/>
                </a:solidFill>
              </a:rPr>
              <a:t>1-</a:t>
            </a:r>
            <a:r>
              <a:rPr lang="ar-DZ" sz="2000" b="1" dirty="0" err="1">
                <a:solidFill>
                  <a:schemeClr val="bg1"/>
                </a:solidFill>
              </a:rPr>
              <a:t>ماطبيعة</a:t>
            </a:r>
            <a:r>
              <a:rPr lang="ar-DZ" sz="2000" b="1" dirty="0">
                <a:solidFill>
                  <a:schemeClr val="bg1"/>
                </a:solidFill>
              </a:rPr>
              <a:t> التيار الكهربائي المنتج في الحالتين </a:t>
            </a:r>
          </a:p>
          <a:p>
            <a:pPr algn="r"/>
            <a:r>
              <a:rPr lang="ar-DZ" sz="2000" b="1" dirty="0">
                <a:solidFill>
                  <a:schemeClr val="bg1"/>
                </a:solidFill>
              </a:rPr>
              <a:t>مع التعليل </a:t>
            </a:r>
            <a:r>
              <a:rPr lang="ar-DZ" sz="2000" b="1" dirty="0" err="1">
                <a:solidFill>
                  <a:schemeClr val="bg1"/>
                </a:solidFill>
              </a:rPr>
              <a:t>وماالظاهرة</a:t>
            </a:r>
            <a:r>
              <a:rPr lang="ar-DZ" sz="2000" b="1" dirty="0">
                <a:solidFill>
                  <a:schemeClr val="bg1"/>
                </a:solidFill>
              </a:rPr>
              <a:t> الكهربائية المعتمدة </a:t>
            </a:r>
            <a:r>
              <a:rPr lang="ar-DZ" sz="2000" b="1" dirty="0" err="1">
                <a:solidFill>
                  <a:schemeClr val="bg1"/>
                </a:solidFill>
              </a:rPr>
              <a:t>لانتاجه</a:t>
            </a:r>
            <a:r>
              <a:rPr lang="ar-DZ" sz="2000" b="1" dirty="0">
                <a:solidFill>
                  <a:schemeClr val="bg1"/>
                </a:solidFill>
              </a:rPr>
              <a:t> </a:t>
            </a:r>
            <a:r>
              <a:rPr lang="ar-DZ" sz="2000" b="1" dirty="0" err="1">
                <a:solidFill>
                  <a:schemeClr val="bg1"/>
                </a:solidFill>
              </a:rPr>
              <a:t>؟</a:t>
            </a:r>
            <a:endParaRPr lang="ar-DZ" sz="2000" b="1" dirty="0">
              <a:solidFill>
                <a:schemeClr val="bg1"/>
              </a:solidFill>
            </a:endParaRPr>
          </a:p>
          <a:p>
            <a:pPr algn="r"/>
            <a:r>
              <a:rPr lang="ar-DZ" sz="2000" b="1" dirty="0">
                <a:solidFill>
                  <a:schemeClr val="bg1"/>
                </a:solidFill>
              </a:rPr>
              <a:t>2-ماذا تمثل قيمة التوتر المسجل في جهاز</a:t>
            </a:r>
          </a:p>
          <a:p>
            <a:pPr algn="r"/>
            <a:r>
              <a:rPr lang="ar-DZ" sz="2000" b="1" dirty="0">
                <a:solidFill>
                  <a:schemeClr val="bg1"/>
                </a:solidFill>
              </a:rPr>
              <a:t> </a:t>
            </a:r>
            <a:r>
              <a:rPr lang="ar-DZ" sz="2000" b="1" dirty="0" err="1">
                <a:solidFill>
                  <a:schemeClr val="bg1"/>
                </a:solidFill>
              </a:rPr>
              <a:t>الفولط</a:t>
            </a:r>
            <a:r>
              <a:rPr lang="ar-DZ" sz="2000" b="1" dirty="0">
                <a:solidFill>
                  <a:schemeClr val="bg1"/>
                </a:solidFill>
              </a:rPr>
              <a:t> متر واكبر قيم للتوتر المسجل </a:t>
            </a:r>
          </a:p>
          <a:p>
            <a:pPr algn="r"/>
            <a:r>
              <a:rPr lang="ar-DZ" sz="2000" b="1" dirty="0">
                <a:solidFill>
                  <a:schemeClr val="bg1"/>
                </a:solidFill>
              </a:rPr>
              <a:t>في راسم الاهتزاز المهبطي وما قيمتهما و </a:t>
            </a:r>
            <a:r>
              <a:rPr lang="ar-DZ" sz="2000" b="1" dirty="0" err="1">
                <a:solidFill>
                  <a:schemeClr val="bg1"/>
                </a:solidFill>
              </a:rPr>
              <a:t>رمزهما ؟</a:t>
            </a:r>
            <a:endParaRPr lang="ar-DZ" sz="2000" b="1" dirty="0">
              <a:solidFill>
                <a:schemeClr val="bg1"/>
              </a:solidFill>
            </a:endParaRPr>
          </a:p>
          <a:p>
            <a:pPr algn="r"/>
            <a:r>
              <a:rPr lang="ar-DZ" sz="2000" b="1" dirty="0">
                <a:solidFill>
                  <a:schemeClr val="bg1"/>
                </a:solidFill>
              </a:rPr>
              <a:t>3-من منهما توصل الى النتيجة الصحيحة وفاز </a:t>
            </a:r>
            <a:r>
              <a:rPr lang="ar-DZ" sz="2000" b="1" dirty="0" err="1">
                <a:solidFill>
                  <a:schemeClr val="bg1"/>
                </a:solidFill>
              </a:rPr>
              <a:t>بالمسابقة ؟</a:t>
            </a:r>
            <a:endParaRPr lang="ar-DZ" sz="2000" b="1" dirty="0">
              <a:solidFill>
                <a:schemeClr val="bg1"/>
              </a:solidFill>
            </a:endParaRPr>
          </a:p>
          <a:p>
            <a:pPr algn="r"/>
            <a:endParaRPr lang="ar-DZ" sz="2000" b="1" dirty="0">
              <a:solidFill>
                <a:schemeClr val="bg1"/>
              </a:solidFill>
            </a:endParaRPr>
          </a:p>
          <a:p>
            <a:pPr algn="r"/>
            <a:endParaRPr lang="ar-DZ" sz="2400" b="1" dirty="0">
              <a:solidFill>
                <a:schemeClr val="bg1"/>
              </a:solidFill>
            </a:endParaRPr>
          </a:p>
        </p:txBody>
      </p:sp>
      <p:pic>
        <p:nvPicPr>
          <p:cNvPr id="9"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1988840"/>
            <a:ext cx="2411760" cy="1800200"/>
          </a:xfrm>
          <a:prstGeom prst="rect">
            <a:avLst/>
          </a:prstGeom>
          <a:noFill/>
          <a:ln w="9525">
            <a:noFill/>
            <a:miter lim="800000"/>
            <a:headEnd/>
            <a:tailEnd/>
          </a:ln>
        </p:spPr>
      </p:pic>
      <p:pic>
        <p:nvPicPr>
          <p:cNvPr id="1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4005064"/>
            <a:ext cx="3059832" cy="2088232"/>
          </a:xfrm>
          <a:prstGeom prst="rect">
            <a:avLst/>
          </a:prstGeom>
          <a:noFill/>
          <a:ln w="9525">
            <a:noFill/>
            <a:miter lim="800000"/>
            <a:headEnd/>
            <a:tailEnd/>
          </a:ln>
        </p:spPr>
      </p:pic>
      <p:sp>
        <p:nvSpPr>
          <p:cNvPr id="1026" name="AutoShape 2"/>
          <p:cNvSpPr>
            <a:spLocks noChangeArrowheads="1"/>
          </p:cNvSpPr>
          <p:nvPr/>
        </p:nvSpPr>
        <p:spPr bwMode="auto">
          <a:xfrm>
            <a:off x="0" y="1628800"/>
            <a:ext cx="1700461" cy="457200"/>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baseline="0" dirty="0">
                <a:ln>
                  <a:noFill/>
                </a:ln>
                <a:solidFill>
                  <a:schemeClr val="bg1"/>
                </a:solidFill>
                <a:effectLst/>
                <a:latin typeface="Calibri" pitchFamily="34" charset="0"/>
                <a:ea typeface="Arial" pitchFamily="34" charset="0"/>
                <a:cs typeface="Arial" pitchFamily="34" charset="0"/>
              </a:rPr>
              <a:t>4.2</a:t>
            </a:r>
            <a:r>
              <a:rPr kumimoji="0" lang="fr-FR" sz="2000" b="1" i="0" u="none" strike="noStrike" cap="none" normalizeH="0" baseline="0" dirty="0">
                <a:ln>
                  <a:noFill/>
                </a:ln>
                <a:solidFill>
                  <a:schemeClr val="bg1"/>
                </a:solidFill>
                <a:effectLst/>
                <a:latin typeface="Calibri" pitchFamily="34" charset="0"/>
                <a:ea typeface="Arial" pitchFamily="34" charset="0"/>
                <a:cs typeface="Arial" pitchFamily="34" charset="0"/>
              </a:rPr>
              <a:t> V / </a:t>
            </a:r>
            <a:r>
              <a:rPr kumimoji="0" lang="fr-FR" sz="2000" b="1" i="0" u="none" strike="noStrike" cap="none" normalizeH="0" baseline="0" dirty="0" err="1">
                <a:ln>
                  <a:noFill/>
                </a:ln>
                <a:solidFill>
                  <a:schemeClr val="bg1"/>
                </a:solidFill>
                <a:effectLst/>
                <a:latin typeface="Calibri" pitchFamily="34" charset="0"/>
                <a:ea typeface="Arial" pitchFamily="34" charset="0"/>
                <a:cs typeface="Arial" pitchFamily="34" charset="0"/>
              </a:rPr>
              <a:t>div</a:t>
            </a:r>
            <a:endParaRPr kumimoji="0" lang="fr-FR" sz="2000" b="0" i="0" u="none" strike="noStrike" cap="none" normalizeH="0" baseline="0" dirty="0">
              <a:ln>
                <a:noFill/>
              </a:ln>
              <a:solidFill>
                <a:schemeClr val="bg1"/>
              </a:solidFill>
              <a:effectLst/>
              <a:latin typeface="Arial" pitchFamily="34" charset="0"/>
              <a:cs typeface="Arial" pitchFamily="34" charset="0"/>
            </a:endParaRPr>
          </a:p>
        </p:txBody>
      </p:sp>
      <p:sp>
        <p:nvSpPr>
          <p:cNvPr id="12" name="AutoShape 2"/>
          <p:cNvSpPr>
            <a:spLocks noChangeArrowheads="1"/>
          </p:cNvSpPr>
          <p:nvPr/>
        </p:nvSpPr>
        <p:spPr bwMode="auto">
          <a:xfrm>
            <a:off x="0" y="2060848"/>
            <a:ext cx="1700461" cy="457200"/>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baseline="0" dirty="0">
                <a:ln>
                  <a:noFill/>
                </a:ln>
                <a:solidFill>
                  <a:schemeClr val="bg1"/>
                </a:solidFill>
                <a:effectLst/>
                <a:latin typeface="Calibri" pitchFamily="34" charset="0"/>
                <a:ea typeface="Arial" pitchFamily="34" charset="0"/>
                <a:cs typeface="Arial" pitchFamily="34" charset="0"/>
              </a:rPr>
              <a:t>20</a:t>
            </a:r>
            <a:r>
              <a:rPr kumimoji="0" lang="fr-FR" sz="2000" b="1" i="0" u="none" strike="noStrike" cap="none" normalizeH="0" baseline="0" dirty="0">
                <a:ln>
                  <a:noFill/>
                </a:ln>
                <a:solidFill>
                  <a:schemeClr val="bg1"/>
                </a:solidFill>
                <a:effectLst/>
                <a:latin typeface="Calibri" pitchFamily="34" charset="0"/>
                <a:ea typeface="Arial" pitchFamily="34" charset="0"/>
                <a:cs typeface="Arial" pitchFamily="34" charset="0"/>
              </a:rPr>
              <a:t> ms / </a:t>
            </a:r>
            <a:r>
              <a:rPr kumimoji="0" lang="fr-FR" sz="2000" b="1" i="0" u="none" strike="noStrike" cap="none" normalizeH="0" baseline="0" dirty="0" err="1">
                <a:ln>
                  <a:noFill/>
                </a:ln>
                <a:solidFill>
                  <a:schemeClr val="bg1"/>
                </a:solidFill>
                <a:effectLst/>
                <a:latin typeface="Calibri" pitchFamily="34" charset="0"/>
                <a:ea typeface="Arial" pitchFamily="34" charset="0"/>
                <a:cs typeface="Arial" pitchFamily="34" charset="0"/>
              </a:rPr>
              <a:t>div</a:t>
            </a:r>
            <a:endParaRPr kumimoji="0" lang="fr-FR" sz="2000" b="0" i="0" u="none" strike="noStrike" cap="none" normalizeH="0" baseline="0" dirty="0">
              <a:ln>
                <a:noFill/>
              </a:ln>
              <a:solidFill>
                <a:schemeClr val="bg1"/>
              </a:solidFill>
              <a:effectLst/>
              <a:latin typeface="Arial" pitchFamily="34" charset="0"/>
              <a:cs typeface="Arial" pitchFamily="34" charset="0"/>
            </a:endParaRPr>
          </a:p>
        </p:txBody>
      </p:sp>
      <p:sp>
        <p:nvSpPr>
          <p:cNvPr id="13" name="AutoShape 2"/>
          <p:cNvSpPr>
            <a:spLocks noChangeArrowheads="1"/>
          </p:cNvSpPr>
          <p:nvPr/>
        </p:nvSpPr>
        <p:spPr bwMode="auto">
          <a:xfrm>
            <a:off x="1979712" y="3501008"/>
            <a:ext cx="1520949" cy="457200"/>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baseline="0" dirty="0" err="1">
                <a:ln>
                  <a:noFill/>
                </a:ln>
                <a:solidFill>
                  <a:schemeClr val="bg1"/>
                </a:solidFill>
                <a:effectLst/>
                <a:latin typeface="Calibri" pitchFamily="34" charset="0"/>
                <a:ea typeface="Arial" pitchFamily="34" charset="0"/>
                <a:cs typeface="Arial" pitchFamily="34" charset="0"/>
              </a:rPr>
              <a:t>شكل1</a:t>
            </a:r>
            <a:endParaRPr kumimoji="0" lang="fr-FR" sz="2000" b="0" i="0" u="none" strike="noStrike" cap="none" normalizeH="0" baseline="0" dirty="0">
              <a:ln>
                <a:noFill/>
              </a:ln>
              <a:solidFill>
                <a:schemeClr val="bg1"/>
              </a:solidFill>
              <a:effectLst/>
              <a:latin typeface="Arial" pitchFamily="34" charset="0"/>
              <a:cs typeface="Arial" pitchFamily="34" charset="0"/>
            </a:endParaRPr>
          </a:p>
        </p:txBody>
      </p:sp>
      <p:sp>
        <p:nvSpPr>
          <p:cNvPr id="14" name="AutoShape 2"/>
          <p:cNvSpPr>
            <a:spLocks noChangeArrowheads="1"/>
          </p:cNvSpPr>
          <p:nvPr/>
        </p:nvSpPr>
        <p:spPr bwMode="auto">
          <a:xfrm>
            <a:off x="1979712" y="6165304"/>
            <a:ext cx="1520949" cy="457200"/>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ar-DZ" sz="2000" b="1" i="0" u="none" strike="noStrike" cap="none" normalizeH="0" baseline="0" dirty="0" err="1">
                <a:ln>
                  <a:noFill/>
                </a:ln>
                <a:solidFill>
                  <a:schemeClr val="bg1"/>
                </a:solidFill>
                <a:effectLst/>
                <a:latin typeface="Calibri" pitchFamily="34" charset="0"/>
                <a:ea typeface="Arial" pitchFamily="34" charset="0"/>
                <a:cs typeface="Arial" pitchFamily="34" charset="0"/>
              </a:rPr>
              <a:t>شكل2</a:t>
            </a:r>
            <a:endParaRPr kumimoji="0" lang="fr-FR" sz="2000" b="0" i="0" u="none" strike="noStrike" cap="none" normalizeH="0" baseline="0" dirty="0">
              <a:ln>
                <a:noFill/>
              </a:ln>
              <a:solidFill>
                <a:schemeClr val="bg1"/>
              </a:solidFill>
              <a:effectLst/>
              <a:latin typeface="Arial" pitchFamily="34" charset="0"/>
              <a:cs typeface="Arial" pitchFamily="34" charset="0"/>
            </a:endParaRPr>
          </a:p>
        </p:txBody>
      </p:sp>
      <p:sp>
        <p:nvSpPr>
          <p:cNvPr id="17" name="Rectangle à coins arrondis 16"/>
          <p:cNvSpPr/>
          <p:nvPr/>
        </p:nvSpPr>
        <p:spPr>
          <a:xfrm>
            <a:off x="2411760" y="4077072"/>
            <a:ext cx="576064" cy="288032"/>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rPr>
              <a:t>6V</a:t>
            </a:r>
          </a:p>
        </p:txBody>
      </p:sp>
      <p:pic>
        <p:nvPicPr>
          <p:cNvPr id="18" name="Image 17" descr="Oscilloscope.png"/>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1619672" y="1268761"/>
            <a:ext cx="2304256" cy="216024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حل التمرين الاول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DZ" sz="2400" b="1" dirty="0">
                <a:solidFill>
                  <a:schemeClr val="bg1"/>
                </a:solidFill>
              </a:rPr>
              <a:t>1-الغاز الذي ينطلق عند  كل فوج</a:t>
            </a:r>
          </a:p>
          <a:p>
            <a:pPr algn="r"/>
            <a:r>
              <a:rPr lang="fr-FR" sz="2400" b="1" dirty="0">
                <a:solidFill>
                  <a:schemeClr val="dk1"/>
                </a:solidFill>
              </a:rPr>
              <a:t>H</a:t>
            </a:r>
            <a:r>
              <a:rPr lang="fr-FR" sz="2400" b="1" baseline="-25000" dirty="0">
                <a:solidFill>
                  <a:schemeClr val="bg1"/>
                </a:solidFill>
              </a:rPr>
              <a:t>2 </a:t>
            </a:r>
            <a:r>
              <a:rPr lang="ar-DZ" sz="2400" b="1" dirty="0">
                <a:solidFill>
                  <a:schemeClr val="bg1"/>
                </a:solidFill>
              </a:rPr>
              <a:t>-الفوج الاول ينطلق غاز الهيدروجين صيغته الكيميائية </a:t>
            </a:r>
          </a:p>
          <a:p>
            <a:pPr algn="r"/>
            <a:r>
              <a:rPr lang="fr-FR" sz="2400" b="1" dirty="0">
                <a:solidFill>
                  <a:schemeClr val="dk1"/>
                </a:solidFill>
              </a:rPr>
              <a:t>C</a:t>
            </a:r>
            <a:r>
              <a:rPr lang="fr-FR" sz="2400" b="1" dirty="0">
                <a:solidFill>
                  <a:schemeClr val="bg1"/>
                </a:solidFill>
              </a:rPr>
              <a:t>l</a:t>
            </a:r>
            <a:r>
              <a:rPr lang="fr-FR" sz="2400" b="1" baseline="-25000" dirty="0">
                <a:solidFill>
                  <a:schemeClr val="bg1"/>
                </a:solidFill>
              </a:rPr>
              <a:t>2 </a:t>
            </a:r>
            <a:r>
              <a:rPr lang="ar-DZ" sz="2400" b="1" dirty="0">
                <a:solidFill>
                  <a:schemeClr val="bg1"/>
                </a:solidFill>
              </a:rPr>
              <a:t>-</a:t>
            </a:r>
            <a:r>
              <a:rPr lang="ar-DZ" sz="2400" b="1" dirty="0" err="1">
                <a:solidFill>
                  <a:schemeClr val="bg1"/>
                </a:solidFill>
              </a:rPr>
              <a:t>الفاج</a:t>
            </a:r>
            <a:r>
              <a:rPr lang="ar-DZ" sz="2400" b="1" dirty="0">
                <a:solidFill>
                  <a:schemeClr val="bg1"/>
                </a:solidFill>
              </a:rPr>
              <a:t> الثاني ينطلق غاز </a:t>
            </a:r>
            <a:r>
              <a:rPr lang="ar-DZ" sz="2400" b="1" dirty="0" err="1">
                <a:solidFill>
                  <a:schemeClr val="bg1"/>
                </a:solidFill>
              </a:rPr>
              <a:t>الكلور</a:t>
            </a:r>
            <a:r>
              <a:rPr lang="ar-DZ" sz="2400" b="1" dirty="0">
                <a:solidFill>
                  <a:schemeClr val="bg1"/>
                </a:solidFill>
              </a:rPr>
              <a:t> صيغته الكيميائية </a:t>
            </a:r>
          </a:p>
          <a:p>
            <a:pPr algn="r"/>
            <a:r>
              <a:rPr lang="ar-DZ" sz="2400" b="1" dirty="0">
                <a:solidFill>
                  <a:schemeClr val="bg1"/>
                </a:solidFill>
              </a:rPr>
              <a:t>2-لم يتوهج المصباح في الحالة الاولى </a:t>
            </a:r>
            <a:r>
              <a:rPr lang="ar-DZ" sz="2400" b="1" dirty="0" err="1">
                <a:solidFill>
                  <a:schemeClr val="bg1"/>
                </a:solidFill>
              </a:rPr>
              <a:t>لانه</a:t>
            </a:r>
            <a:r>
              <a:rPr lang="ar-DZ" sz="2400" b="1" dirty="0">
                <a:solidFill>
                  <a:schemeClr val="bg1"/>
                </a:solidFill>
              </a:rPr>
              <a:t> استعملنا مسحوق </a:t>
            </a:r>
            <a:r>
              <a:rPr lang="ar-DZ" sz="2400" b="1" dirty="0" err="1">
                <a:solidFill>
                  <a:schemeClr val="bg1"/>
                </a:solidFill>
              </a:rPr>
              <a:t>كلور</a:t>
            </a:r>
            <a:r>
              <a:rPr lang="ar-DZ" sz="2400" b="1" dirty="0">
                <a:solidFill>
                  <a:schemeClr val="bg1"/>
                </a:solidFill>
              </a:rPr>
              <a:t> القصدير </a:t>
            </a:r>
          </a:p>
          <a:p>
            <a:pPr algn="r"/>
            <a:r>
              <a:rPr lang="ar-DZ" sz="2400" b="1" dirty="0">
                <a:solidFill>
                  <a:schemeClr val="bg1"/>
                </a:solidFill>
              </a:rPr>
              <a:t>وهو مركب صلب شاردي غير ناقل للتيار الكهربائي  اما في الحالة الثاني يتوهج المصباح </a:t>
            </a:r>
            <a:r>
              <a:rPr lang="ar-DZ" sz="2400" b="1" dirty="0" err="1">
                <a:solidFill>
                  <a:schemeClr val="bg1"/>
                </a:solidFill>
              </a:rPr>
              <a:t>لانه</a:t>
            </a:r>
            <a:r>
              <a:rPr lang="ar-DZ" sz="2400" b="1" dirty="0">
                <a:solidFill>
                  <a:schemeClr val="bg1"/>
                </a:solidFill>
              </a:rPr>
              <a:t> عند اضافة ماء المقطر نحصل على محلول شاردي ناقل للتيار الكهربائي </a:t>
            </a:r>
          </a:p>
          <a:p>
            <a:pPr algn="r"/>
            <a:r>
              <a:rPr lang="ar-DZ" sz="2400" b="1" dirty="0">
                <a:solidFill>
                  <a:schemeClr val="bg1"/>
                </a:solidFill>
              </a:rPr>
              <a:t>3 3-اكمال  معادلة التفاعل التي تحدث عند كل فوج</a:t>
            </a:r>
          </a:p>
          <a:p>
            <a:pPr algn="r"/>
            <a:r>
              <a:rPr lang="ar-DZ" sz="2400" b="1" dirty="0">
                <a:solidFill>
                  <a:schemeClr val="bg1"/>
                </a:solidFill>
              </a:rPr>
              <a:t>الفوج الاول   </a:t>
            </a:r>
            <a:endParaRPr lang="fr-FR" sz="2400" b="1" dirty="0">
              <a:solidFill>
                <a:schemeClr val="bg1"/>
              </a:solidFill>
            </a:endParaRPr>
          </a:p>
          <a:p>
            <a:pPr algn="r"/>
            <a:r>
              <a:rPr lang="fr-FR" sz="2400" b="1" dirty="0">
                <a:solidFill>
                  <a:schemeClr val="bg1"/>
                </a:solidFill>
              </a:rPr>
              <a:t>Sn(</a:t>
            </a:r>
            <a:r>
              <a:rPr lang="fr-FR" sz="2400" b="1" dirty="0">
                <a:solidFill>
                  <a:srgbClr val="FF0000"/>
                </a:solidFill>
              </a:rPr>
              <a:t>s</a:t>
            </a:r>
            <a:r>
              <a:rPr lang="fr-FR" sz="2400" b="1" dirty="0">
                <a:solidFill>
                  <a:schemeClr val="bg1"/>
                </a:solidFill>
              </a:rPr>
              <a:t>)+</a:t>
            </a:r>
            <a:r>
              <a:rPr lang="fr-FR" sz="2400" b="1" dirty="0">
                <a:solidFill>
                  <a:srgbClr val="FF0000"/>
                </a:solidFill>
              </a:rPr>
              <a:t>2</a:t>
            </a:r>
            <a:r>
              <a:rPr lang="fr-FR" sz="2400" b="1" dirty="0">
                <a:solidFill>
                  <a:schemeClr val="bg1"/>
                </a:solidFill>
              </a:rPr>
              <a:t> (H</a:t>
            </a:r>
            <a:r>
              <a:rPr lang="fr-FR" sz="2400" b="1" baseline="30000" dirty="0">
                <a:solidFill>
                  <a:schemeClr val="bg1"/>
                </a:solidFill>
              </a:rPr>
              <a:t>+</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chemeClr val="bg1"/>
                </a:solidFill>
              </a:rPr>
              <a:t>aq</a:t>
            </a:r>
            <a:r>
              <a:rPr lang="fr-FR" sz="2400" b="1" dirty="0">
                <a:solidFill>
                  <a:schemeClr val="bg1"/>
                </a:solidFill>
              </a:rPr>
              <a:t>)           (Sn</a:t>
            </a:r>
            <a:r>
              <a:rPr lang="fr-FR" sz="2400" b="1" baseline="30000" dirty="0">
                <a:solidFill>
                  <a:schemeClr val="bg1"/>
                </a:solidFill>
              </a:rPr>
              <a:t>2+</a:t>
            </a:r>
            <a:r>
              <a:rPr lang="fr-FR" sz="2400" b="1" dirty="0">
                <a:solidFill>
                  <a:schemeClr val="bg1"/>
                </a:solidFill>
              </a:rPr>
              <a:t>+</a:t>
            </a:r>
            <a:r>
              <a:rPr lang="fr-FR" sz="2400" b="1" dirty="0">
                <a:solidFill>
                  <a:srgbClr val="FF0000"/>
                </a:solidFill>
              </a:rPr>
              <a:t>2</a:t>
            </a:r>
            <a:r>
              <a:rPr lang="fr-FR" sz="2400" b="1" dirty="0">
                <a:solidFill>
                  <a:schemeClr val="bg1"/>
                </a:solidFill>
              </a:rPr>
              <a:t>Cl</a:t>
            </a:r>
            <a:r>
              <a:rPr lang="fr-FR" sz="2400" b="1" baseline="30000" dirty="0">
                <a:solidFill>
                  <a:schemeClr val="bg1"/>
                </a:solidFill>
              </a:rPr>
              <a:t>-</a:t>
            </a:r>
            <a:r>
              <a:rPr lang="fr-FR" sz="2400" b="1" dirty="0">
                <a:solidFill>
                  <a:schemeClr val="bg1"/>
                </a:solidFill>
              </a:rPr>
              <a:t>)(</a:t>
            </a:r>
            <a:r>
              <a:rPr lang="fr-FR" sz="2400" b="1" dirty="0" err="1">
                <a:solidFill>
                  <a:srgbClr val="FF0000"/>
                </a:solidFill>
              </a:rPr>
              <a:t>aq</a:t>
            </a:r>
            <a:r>
              <a:rPr lang="fr-FR" sz="2400" b="1" dirty="0">
                <a:solidFill>
                  <a:schemeClr val="bg1"/>
                </a:solidFill>
              </a:rPr>
              <a:t>) + H</a:t>
            </a:r>
            <a:r>
              <a:rPr lang="fr-FR" sz="2400" b="1" baseline="-25000" dirty="0">
                <a:solidFill>
                  <a:schemeClr val="bg1"/>
                </a:solidFill>
              </a:rPr>
              <a:t>2</a:t>
            </a:r>
            <a:r>
              <a:rPr lang="fr-FR" sz="2400" b="1" dirty="0">
                <a:solidFill>
                  <a:schemeClr val="bg1"/>
                </a:solidFill>
              </a:rPr>
              <a:t>(</a:t>
            </a:r>
            <a:r>
              <a:rPr lang="fr-FR" sz="2400" b="1" dirty="0">
                <a:solidFill>
                  <a:srgbClr val="FF0000"/>
                </a:solidFill>
              </a:rPr>
              <a:t>g</a:t>
            </a:r>
            <a:r>
              <a:rPr lang="fr-FR" sz="2400" b="1" dirty="0">
                <a:solidFill>
                  <a:schemeClr val="bg1"/>
                </a:solidFill>
              </a:rPr>
              <a:t>)</a:t>
            </a:r>
            <a:endParaRPr lang="ar-DZ" sz="2400" b="1" dirty="0">
              <a:solidFill>
                <a:schemeClr val="bg1"/>
              </a:solidFill>
            </a:endParaRPr>
          </a:p>
          <a:p>
            <a:pPr algn="r"/>
            <a:r>
              <a:rPr lang="ar-DZ" sz="2400" b="1" dirty="0">
                <a:solidFill>
                  <a:schemeClr val="bg1"/>
                </a:solidFill>
              </a:rPr>
              <a:t>الفوج </a:t>
            </a:r>
            <a:r>
              <a:rPr lang="ar-DZ" sz="2400" b="1" dirty="0" err="1">
                <a:solidFill>
                  <a:schemeClr val="bg1"/>
                </a:solidFill>
              </a:rPr>
              <a:t>االثاني</a:t>
            </a:r>
            <a:r>
              <a:rPr lang="ar-DZ" sz="2400" b="1" dirty="0">
                <a:solidFill>
                  <a:schemeClr val="bg1"/>
                </a:solidFill>
              </a:rPr>
              <a:t>   </a:t>
            </a:r>
          </a:p>
          <a:p>
            <a:pPr algn="r"/>
            <a:r>
              <a:rPr lang="fr-FR" sz="2400" b="1" dirty="0">
                <a:solidFill>
                  <a:schemeClr val="bg1"/>
                </a:solidFill>
              </a:rPr>
              <a:t>.</a:t>
            </a:r>
            <a:r>
              <a:rPr lang="fr-FR" sz="2400" b="1" dirty="0">
                <a:solidFill>
                  <a:srgbClr val="FF0000"/>
                </a:solidFill>
              </a:rPr>
              <a:t>2</a:t>
            </a:r>
            <a:r>
              <a:rPr lang="fr-FR" sz="2400" b="1" dirty="0">
                <a:solidFill>
                  <a:schemeClr val="bg1"/>
                </a:solidFill>
              </a:rPr>
              <a:t> Cl</a:t>
            </a:r>
            <a:r>
              <a:rPr lang="fr-FR" sz="2400" b="1" baseline="30000" dirty="0">
                <a:solidFill>
                  <a:schemeClr val="bg1"/>
                </a:solidFill>
              </a:rPr>
              <a:t>-</a:t>
            </a:r>
            <a:r>
              <a:rPr lang="fr-FR" sz="2400" b="1" dirty="0">
                <a:solidFill>
                  <a:schemeClr val="bg1"/>
                </a:solidFill>
              </a:rPr>
              <a:t> (</a:t>
            </a:r>
            <a:r>
              <a:rPr lang="fr-FR" sz="2400" b="1" dirty="0" err="1">
                <a:solidFill>
                  <a:srgbClr val="FF0000"/>
                </a:solidFill>
              </a:rPr>
              <a:t>aq</a:t>
            </a:r>
            <a:r>
              <a:rPr lang="fr-FR" sz="2400" b="1" dirty="0">
                <a:solidFill>
                  <a:schemeClr val="bg1"/>
                </a:solidFill>
              </a:rPr>
              <a:t>)</a:t>
            </a:r>
            <a:r>
              <a:rPr lang="ar-DZ" sz="2400" b="1" dirty="0">
                <a:solidFill>
                  <a:schemeClr val="bg1"/>
                </a:solidFill>
              </a:rPr>
              <a:t>  </a:t>
            </a:r>
            <a:r>
              <a:rPr lang="ar-DZ" sz="2400" b="1" dirty="0" err="1">
                <a:solidFill>
                  <a:schemeClr val="bg1"/>
                </a:solidFill>
              </a:rPr>
              <a:t>+</a:t>
            </a:r>
            <a:r>
              <a:rPr lang="ar-DZ" sz="2400" b="1" dirty="0">
                <a:solidFill>
                  <a:schemeClr val="bg1"/>
                </a:solidFill>
              </a:rPr>
              <a:t> </a:t>
            </a:r>
            <a:r>
              <a:rPr lang="fr-FR" sz="2400" b="1" dirty="0">
                <a:solidFill>
                  <a:schemeClr val="bg1"/>
                </a:solidFill>
              </a:rPr>
              <a:t>Sn</a:t>
            </a:r>
            <a:r>
              <a:rPr lang="fr-FR" sz="2400" b="1" baseline="30000" dirty="0">
                <a:solidFill>
                  <a:schemeClr val="bg1"/>
                </a:solidFill>
              </a:rPr>
              <a:t>2+ </a:t>
            </a:r>
            <a:r>
              <a:rPr lang="fr-FR" sz="2400" b="1" dirty="0">
                <a:solidFill>
                  <a:schemeClr val="bg1"/>
                </a:solidFill>
              </a:rPr>
              <a:t>(</a:t>
            </a:r>
            <a:r>
              <a:rPr lang="fr-FR" sz="2400" b="1" dirty="0" err="1">
                <a:solidFill>
                  <a:srgbClr val="FF0000"/>
                </a:solidFill>
              </a:rPr>
              <a:t>aq</a:t>
            </a:r>
            <a:r>
              <a:rPr lang="fr-FR" sz="2400" b="1" dirty="0">
                <a:solidFill>
                  <a:schemeClr val="bg1"/>
                </a:solidFill>
              </a:rPr>
              <a:t>)</a:t>
            </a:r>
            <a:r>
              <a:rPr lang="fr-FR" sz="2400" b="1" baseline="30000" dirty="0">
                <a:solidFill>
                  <a:schemeClr val="bg1"/>
                </a:solidFill>
              </a:rPr>
              <a:t>                </a:t>
            </a:r>
            <a:r>
              <a:rPr lang="fr-FR" sz="2400" b="1" dirty="0">
                <a:solidFill>
                  <a:srgbClr val="FF0000"/>
                </a:solidFill>
              </a:rPr>
              <a:t>Sn</a:t>
            </a:r>
            <a:r>
              <a:rPr lang="fr-FR" sz="2400" b="1" dirty="0">
                <a:solidFill>
                  <a:schemeClr val="bg1"/>
                </a:solidFill>
              </a:rPr>
              <a:t> (s) +</a:t>
            </a:r>
            <a:r>
              <a:rPr lang="fr-FR" sz="2400" b="1" dirty="0">
                <a:solidFill>
                  <a:srgbClr val="FF0000"/>
                </a:solidFill>
              </a:rPr>
              <a:t>Cl</a:t>
            </a:r>
            <a:r>
              <a:rPr lang="fr-FR" sz="2400" b="1" baseline="-25000" dirty="0">
                <a:solidFill>
                  <a:srgbClr val="FF0000"/>
                </a:solidFill>
              </a:rPr>
              <a:t>2</a:t>
            </a:r>
            <a:r>
              <a:rPr lang="fr-FR" sz="2400" b="1" dirty="0">
                <a:solidFill>
                  <a:schemeClr val="bg1"/>
                </a:solidFill>
              </a:rPr>
              <a:t> (g).</a:t>
            </a:r>
          </a:p>
          <a:p>
            <a:pPr algn="r"/>
            <a:r>
              <a:rPr lang="ar-DZ" sz="2400" b="1" dirty="0">
                <a:solidFill>
                  <a:schemeClr val="bg1"/>
                </a:solidFill>
              </a:rPr>
              <a:t> </a:t>
            </a:r>
          </a:p>
          <a:p>
            <a:pPr algn="r"/>
            <a:endParaRPr lang="fr-FR" sz="2400" b="1" dirty="0">
              <a:solidFill>
                <a:schemeClr val="bg1"/>
              </a:solidFill>
            </a:endParaRPr>
          </a:p>
        </p:txBody>
      </p:sp>
      <p:cxnSp>
        <p:nvCxnSpPr>
          <p:cNvPr id="6" name="Connecteur droit avec flèche 5"/>
          <p:cNvCxnSpPr/>
          <p:nvPr/>
        </p:nvCxnSpPr>
        <p:spPr>
          <a:xfrm>
            <a:off x="5004048" y="465313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6228184" y="5373216"/>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0" y="0"/>
            <a:ext cx="9144000" cy="98072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a:solidFill>
                  <a:schemeClr val="bg1"/>
                </a:solidFill>
              </a:rPr>
              <a:t>الحل </a:t>
            </a:r>
            <a:endParaRPr lang="fr-FR" sz="2800" b="1" dirty="0">
              <a:solidFill>
                <a:schemeClr val="bg1"/>
              </a:solidFill>
            </a:endParaRPr>
          </a:p>
        </p:txBody>
      </p:sp>
      <p:sp>
        <p:nvSpPr>
          <p:cNvPr id="5" name="Rectangle à coins arrondis 4"/>
          <p:cNvSpPr/>
          <p:nvPr/>
        </p:nvSpPr>
        <p:spPr>
          <a:xfrm>
            <a:off x="-108520" y="908720"/>
            <a:ext cx="9252520" cy="594928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r>
              <a:rPr lang="ar-DZ" sz="2000" b="1" dirty="0">
                <a:solidFill>
                  <a:schemeClr val="bg1"/>
                </a:solidFill>
              </a:rPr>
              <a:t>القوى المؤثرة على الجسم هي</a:t>
            </a:r>
          </a:p>
          <a:p>
            <a:pPr algn="r"/>
            <a:r>
              <a:rPr lang="fr-FR" sz="2000" b="1" dirty="0">
                <a:solidFill>
                  <a:schemeClr val="bg1"/>
                </a:solidFill>
              </a:rPr>
              <a:t>p </a:t>
            </a:r>
            <a:r>
              <a:rPr lang="ar-DZ" sz="2000" b="1" dirty="0" err="1">
                <a:solidFill>
                  <a:schemeClr val="bg1"/>
                </a:solidFill>
              </a:rPr>
              <a:t>او  </a:t>
            </a:r>
            <a:r>
              <a:rPr lang="ar-DZ" sz="2000" b="1" dirty="0">
                <a:solidFill>
                  <a:schemeClr val="bg1"/>
                </a:solidFill>
              </a:rPr>
              <a:t>(الثقل</a:t>
            </a:r>
            <a:r>
              <a:rPr lang="ar-DZ" sz="2000" b="1" dirty="0" err="1">
                <a:solidFill>
                  <a:schemeClr val="bg1"/>
                </a:solidFill>
              </a:rPr>
              <a:t>)</a:t>
            </a:r>
            <a:r>
              <a:rPr lang="fr-FR" sz="2000" b="1" dirty="0">
                <a:solidFill>
                  <a:schemeClr val="bg1"/>
                </a:solidFill>
              </a:rPr>
              <a:t> FT/s</a:t>
            </a:r>
            <a:r>
              <a:rPr lang="ar-DZ" sz="2000" b="1" dirty="0">
                <a:solidFill>
                  <a:schemeClr val="bg1"/>
                </a:solidFill>
              </a:rPr>
              <a:t> قوة </a:t>
            </a:r>
            <a:r>
              <a:rPr lang="ar-DZ" sz="2000" b="1" dirty="0" err="1">
                <a:solidFill>
                  <a:schemeClr val="bg1"/>
                </a:solidFill>
              </a:rPr>
              <a:t>تاثير</a:t>
            </a:r>
            <a:r>
              <a:rPr lang="ar-DZ" sz="2000" b="1" dirty="0">
                <a:solidFill>
                  <a:schemeClr val="bg1"/>
                </a:solidFill>
              </a:rPr>
              <a:t> الارض على الجسم    </a:t>
            </a:r>
          </a:p>
          <a:p>
            <a:pPr algn="r"/>
            <a:r>
              <a:rPr lang="fr-FR" sz="2000" b="1" dirty="0">
                <a:solidFill>
                  <a:schemeClr val="bg1"/>
                </a:solidFill>
              </a:rPr>
              <a:t>Ff/s</a:t>
            </a:r>
            <a:r>
              <a:rPr lang="ar-DZ" sz="2000" b="1" dirty="0">
                <a:solidFill>
                  <a:schemeClr val="bg1"/>
                </a:solidFill>
              </a:rPr>
              <a:t>قوة </a:t>
            </a:r>
            <a:r>
              <a:rPr lang="ar-DZ" sz="2000" b="1" dirty="0" err="1">
                <a:solidFill>
                  <a:schemeClr val="bg1"/>
                </a:solidFill>
              </a:rPr>
              <a:t>تاثير</a:t>
            </a:r>
            <a:r>
              <a:rPr lang="ar-DZ" sz="2000" b="1" dirty="0">
                <a:solidFill>
                  <a:schemeClr val="bg1"/>
                </a:solidFill>
              </a:rPr>
              <a:t> الحبل  على الجسم  </a:t>
            </a:r>
            <a:r>
              <a:rPr lang="fr-FR" sz="2000" b="1" dirty="0">
                <a:solidFill>
                  <a:schemeClr val="bg1"/>
                </a:solidFill>
              </a:rPr>
              <a:t>   </a:t>
            </a:r>
            <a:endParaRPr lang="ar-DZ" sz="2000" b="1" dirty="0">
              <a:solidFill>
                <a:schemeClr val="bg1"/>
              </a:solidFill>
            </a:endParaRPr>
          </a:p>
          <a:p>
            <a:pPr algn="r"/>
            <a:r>
              <a:rPr lang="ar-DZ" sz="2000" b="1" dirty="0">
                <a:solidFill>
                  <a:schemeClr val="bg1"/>
                </a:solidFill>
              </a:rPr>
              <a:t>تمثيل القوى المؤثرة لدينا </a:t>
            </a:r>
          </a:p>
          <a:p>
            <a:pPr algn="r"/>
            <a:r>
              <a:rPr lang="fr-FR" sz="2000" b="1" dirty="0">
                <a:solidFill>
                  <a:schemeClr val="bg1"/>
                </a:solidFill>
              </a:rPr>
              <a:t>5N </a:t>
            </a:r>
            <a:r>
              <a:rPr lang="ar-DZ" sz="2000" b="1" dirty="0">
                <a:solidFill>
                  <a:schemeClr val="bg1"/>
                </a:solidFill>
              </a:rPr>
              <a:t>       </a:t>
            </a:r>
            <a:r>
              <a:rPr lang="fr-FR" sz="2000" b="1" dirty="0">
                <a:solidFill>
                  <a:schemeClr val="bg1"/>
                </a:solidFill>
              </a:rPr>
              <a:t>  1cm</a:t>
            </a:r>
            <a:r>
              <a:rPr lang="ar-DZ" sz="2000" b="1" dirty="0">
                <a:solidFill>
                  <a:schemeClr val="bg1"/>
                </a:solidFill>
              </a:rPr>
              <a:t> لدينا من السلم كل   </a:t>
            </a:r>
          </a:p>
          <a:p>
            <a:pPr algn="r"/>
            <a:r>
              <a:rPr lang="fr-FR" sz="2000" b="1" dirty="0">
                <a:solidFill>
                  <a:schemeClr val="bg1"/>
                </a:solidFill>
              </a:rPr>
              <a:t>X=10x1/5=2 cm</a:t>
            </a:r>
            <a:r>
              <a:rPr lang="ar-DZ" sz="2000" b="1" dirty="0">
                <a:solidFill>
                  <a:schemeClr val="bg1"/>
                </a:solidFill>
              </a:rPr>
              <a:t>   ومنه  </a:t>
            </a:r>
            <a:r>
              <a:rPr lang="fr-FR" sz="2000" b="1" dirty="0">
                <a:solidFill>
                  <a:schemeClr val="bg1"/>
                </a:solidFill>
              </a:rPr>
              <a:t>10N </a:t>
            </a:r>
            <a:r>
              <a:rPr lang="ar-DZ" sz="2000" b="1" dirty="0">
                <a:solidFill>
                  <a:schemeClr val="bg1"/>
                </a:solidFill>
              </a:rPr>
              <a:t>      </a:t>
            </a:r>
            <a:r>
              <a:rPr lang="fr-FR" sz="2000" b="1" dirty="0">
                <a:solidFill>
                  <a:schemeClr val="bg1"/>
                </a:solidFill>
              </a:rPr>
              <a:t>  X</a:t>
            </a:r>
            <a:r>
              <a:rPr lang="ar-DZ" sz="2000" b="1" dirty="0">
                <a:solidFill>
                  <a:schemeClr val="bg1"/>
                </a:solidFill>
              </a:rPr>
              <a:t> معناه  كل  </a:t>
            </a:r>
          </a:p>
          <a:p>
            <a:pPr algn="r"/>
            <a:r>
              <a:rPr lang="ar-DZ" sz="2000" b="1" dirty="0">
                <a:solidFill>
                  <a:schemeClr val="bg1"/>
                </a:solidFill>
              </a:rPr>
              <a:t>2-حساب دافعة </a:t>
            </a:r>
            <a:r>
              <a:rPr lang="ar-DZ" sz="2000" b="1" dirty="0" err="1">
                <a:solidFill>
                  <a:schemeClr val="bg1"/>
                </a:solidFill>
              </a:rPr>
              <a:t>ارخميدس</a:t>
            </a:r>
            <a:r>
              <a:rPr lang="ar-DZ" sz="2000" b="1" dirty="0">
                <a:solidFill>
                  <a:schemeClr val="bg1"/>
                </a:solidFill>
              </a:rPr>
              <a:t> في كل حال</a:t>
            </a:r>
          </a:p>
          <a:p>
            <a:pPr algn="r"/>
            <a:r>
              <a:rPr lang="fr-FR" sz="2000" b="1" dirty="0">
                <a:solidFill>
                  <a:schemeClr val="bg1"/>
                </a:solidFill>
              </a:rPr>
              <a:t>FA=P-Pa=10-8.7=1.3N</a:t>
            </a:r>
            <a:r>
              <a:rPr lang="ar-DZ" sz="2000" b="1" dirty="0">
                <a:solidFill>
                  <a:schemeClr val="bg1"/>
                </a:solidFill>
              </a:rPr>
              <a:t> -حالة 1            </a:t>
            </a:r>
            <a:endParaRPr lang="fr-FR" sz="2000" b="1" dirty="0">
              <a:solidFill>
                <a:schemeClr val="bg1"/>
              </a:solidFill>
            </a:endParaRPr>
          </a:p>
          <a:p>
            <a:pPr algn="r"/>
            <a:r>
              <a:rPr lang="fr-FR" sz="2000" b="1" dirty="0">
                <a:solidFill>
                  <a:schemeClr val="bg1"/>
                </a:solidFill>
              </a:rPr>
              <a:t>FA=P-Pa=10-9.9=0.1N</a:t>
            </a:r>
            <a:r>
              <a:rPr lang="ar-DZ" sz="2000" b="1" dirty="0">
                <a:solidFill>
                  <a:schemeClr val="bg1"/>
                </a:solidFill>
              </a:rPr>
              <a:t> حالة 2             </a:t>
            </a:r>
            <a:endParaRPr lang="fr-FR" sz="2000" b="1" dirty="0">
              <a:solidFill>
                <a:schemeClr val="bg1"/>
              </a:solidFill>
            </a:endParaRPr>
          </a:p>
          <a:p>
            <a:pPr algn="r"/>
            <a:r>
              <a:rPr lang="ar-DZ" sz="2000" b="1" dirty="0">
                <a:solidFill>
                  <a:schemeClr val="bg1"/>
                </a:solidFill>
              </a:rPr>
              <a:t>3-تفسير سبب اختلاف القيمتين هو اختلاف السائل المغمور فيه بين الماء و الزيت </a:t>
            </a:r>
          </a:p>
          <a:p>
            <a:pPr algn="r"/>
            <a:r>
              <a:rPr lang="ar-DZ" sz="2000" b="1" dirty="0">
                <a:solidFill>
                  <a:schemeClr val="bg1"/>
                </a:solidFill>
              </a:rPr>
              <a:t>وهذا لان دافعة </a:t>
            </a:r>
            <a:r>
              <a:rPr lang="ar-DZ" sz="2000" b="1" dirty="0" err="1">
                <a:solidFill>
                  <a:schemeClr val="bg1"/>
                </a:solidFill>
              </a:rPr>
              <a:t>ارخميدس</a:t>
            </a:r>
            <a:r>
              <a:rPr lang="ar-DZ" sz="2000" b="1" dirty="0">
                <a:solidFill>
                  <a:schemeClr val="bg1"/>
                </a:solidFill>
              </a:rPr>
              <a:t> تتعلق بنوع السائل المغمور فيه الجسم </a:t>
            </a:r>
          </a:p>
          <a:p>
            <a:pPr algn="r"/>
            <a:r>
              <a:rPr lang="ar-DZ" sz="2000" b="1" dirty="0">
                <a:solidFill>
                  <a:schemeClr val="bg1"/>
                </a:solidFill>
              </a:rPr>
              <a:t>4-حساب الكتلة الحجمية لكل سائل </a:t>
            </a:r>
            <a:r>
              <a:rPr lang="ar-DZ" sz="2000" b="1" dirty="0" err="1">
                <a:solidFill>
                  <a:schemeClr val="bg1"/>
                </a:solidFill>
              </a:rPr>
              <a:t>لديا</a:t>
            </a:r>
            <a:endParaRPr lang="ar-DZ" sz="2000" b="1" dirty="0">
              <a:solidFill>
                <a:schemeClr val="bg1"/>
              </a:solidFill>
            </a:endParaRPr>
          </a:p>
          <a:p>
            <a:pPr algn="r"/>
            <a:r>
              <a:rPr lang="el-GR" sz="2000" b="1" dirty="0">
                <a:solidFill>
                  <a:schemeClr val="bg1"/>
                </a:solidFill>
              </a:rPr>
              <a:t>ρ </a:t>
            </a:r>
            <a:r>
              <a:rPr lang="fr-FR" sz="2000" b="1" dirty="0">
                <a:solidFill>
                  <a:schemeClr val="bg1"/>
                </a:solidFill>
              </a:rPr>
              <a:t>=FA/</a:t>
            </a:r>
            <a:r>
              <a:rPr lang="el-GR" sz="2000" b="1" dirty="0">
                <a:solidFill>
                  <a:schemeClr val="bg1"/>
                </a:solidFill>
              </a:rPr>
              <a:t> </a:t>
            </a:r>
            <a:r>
              <a:rPr lang="fr-FR" sz="2000" b="1" dirty="0" err="1">
                <a:solidFill>
                  <a:schemeClr val="bg1"/>
                </a:solidFill>
              </a:rPr>
              <a:t>Vg</a:t>
            </a:r>
            <a:r>
              <a:rPr lang="fr-FR" sz="2000" b="1" dirty="0">
                <a:solidFill>
                  <a:schemeClr val="bg1"/>
                </a:solidFill>
              </a:rPr>
              <a:t> </a:t>
            </a:r>
            <a:r>
              <a:rPr lang="ar-DZ" sz="2000" b="1" dirty="0">
                <a:solidFill>
                  <a:schemeClr val="bg1"/>
                </a:solidFill>
              </a:rPr>
              <a:t>ومنه</a:t>
            </a:r>
            <a:r>
              <a:rPr lang="fr-FR" sz="2000" b="1" dirty="0">
                <a:solidFill>
                  <a:schemeClr val="bg1"/>
                </a:solidFill>
              </a:rPr>
              <a:t>       FA=</a:t>
            </a:r>
            <a:r>
              <a:rPr lang="el-GR" sz="2000" b="1" dirty="0">
                <a:solidFill>
                  <a:schemeClr val="bg1"/>
                </a:solidFill>
              </a:rPr>
              <a:t>ρ</a:t>
            </a:r>
            <a:r>
              <a:rPr lang="fr-FR" sz="2000" b="1" dirty="0" err="1">
                <a:solidFill>
                  <a:schemeClr val="bg1"/>
                </a:solidFill>
              </a:rPr>
              <a:t>Vg</a:t>
            </a:r>
            <a:r>
              <a:rPr lang="fr-FR" sz="2000" b="1" dirty="0">
                <a:solidFill>
                  <a:schemeClr val="bg1"/>
                </a:solidFill>
              </a:rPr>
              <a:t> </a:t>
            </a:r>
            <a:endParaRPr lang="ar-DZ" sz="2000" b="1" dirty="0">
              <a:solidFill>
                <a:schemeClr val="bg1"/>
              </a:solidFill>
            </a:endParaRPr>
          </a:p>
          <a:p>
            <a:pPr algn="r"/>
            <a:r>
              <a:rPr lang="el-GR" sz="2000" b="1" dirty="0">
                <a:solidFill>
                  <a:schemeClr val="bg1"/>
                </a:solidFill>
              </a:rPr>
              <a:t>ρ </a:t>
            </a:r>
            <a:r>
              <a:rPr lang="fr-FR" sz="2000" b="1" dirty="0">
                <a:solidFill>
                  <a:schemeClr val="bg1"/>
                </a:solidFill>
              </a:rPr>
              <a:t>=1.3/</a:t>
            </a:r>
            <a:r>
              <a:rPr lang="el-GR" sz="2000" b="1" dirty="0">
                <a:solidFill>
                  <a:schemeClr val="bg1"/>
                </a:solidFill>
              </a:rPr>
              <a:t> </a:t>
            </a:r>
            <a:r>
              <a:rPr lang="fr-FR" sz="2000" b="1" dirty="0">
                <a:solidFill>
                  <a:schemeClr val="bg1"/>
                </a:solidFill>
              </a:rPr>
              <a:t>0.00013x10=1000kg/m3</a:t>
            </a:r>
            <a:r>
              <a:rPr lang="ar-DZ" sz="2000" b="1" dirty="0">
                <a:solidFill>
                  <a:schemeClr val="bg1"/>
                </a:solidFill>
              </a:rPr>
              <a:t>حالة الماء  </a:t>
            </a:r>
          </a:p>
          <a:p>
            <a:pPr algn="r"/>
            <a:r>
              <a:rPr lang="el-GR" sz="2000" b="1" dirty="0">
                <a:solidFill>
                  <a:schemeClr val="bg1"/>
                </a:solidFill>
              </a:rPr>
              <a:t>ρ </a:t>
            </a:r>
            <a:r>
              <a:rPr lang="fr-FR" sz="2000" b="1" dirty="0">
                <a:solidFill>
                  <a:schemeClr val="bg1"/>
                </a:solidFill>
              </a:rPr>
              <a:t>=0.1/</a:t>
            </a:r>
            <a:r>
              <a:rPr lang="el-GR" sz="2000" b="1" dirty="0">
                <a:solidFill>
                  <a:schemeClr val="bg1"/>
                </a:solidFill>
              </a:rPr>
              <a:t> </a:t>
            </a:r>
            <a:r>
              <a:rPr lang="fr-FR" sz="2000" b="1" dirty="0">
                <a:solidFill>
                  <a:schemeClr val="bg1"/>
                </a:solidFill>
              </a:rPr>
              <a:t>0.00013x10=76.92kg/m3</a:t>
            </a:r>
            <a:r>
              <a:rPr lang="ar-DZ" sz="2000" b="1" dirty="0">
                <a:solidFill>
                  <a:schemeClr val="bg1"/>
                </a:solidFill>
              </a:rPr>
              <a:t> حالة الزيت   </a:t>
            </a:r>
            <a:endParaRPr lang="fr-FR" sz="2000" b="1" dirty="0">
              <a:solidFill>
                <a:schemeClr val="bg1"/>
              </a:solidFill>
            </a:endParaRPr>
          </a:p>
          <a:p>
            <a:pPr algn="r"/>
            <a:r>
              <a:rPr lang="ar-DZ" sz="2000" b="1" dirty="0">
                <a:solidFill>
                  <a:schemeClr val="bg1"/>
                </a:solidFill>
              </a:rPr>
              <a:t>اذن من خلال الكتلة الحجمية نجد ان قياسه في حالة الماء صحيح لان الكتلة الحجمية للماء نفسها</a:t>
            </a:r>
          </a:p>
          <a:p>
            <a:pPr algn="r"/>
            <a:r>
              <a:rPr lang="ar-DZ" sz="2000" b="1" dirty="0">
                <a:solidFill>
                  <a:schemeClr val="bg1"/>
                </a:solidFill>
              </a:rPr>
              <a:t>اما قياسه في حالة  الزيت غير صحيح لان الكتلة الحجمية للزيت ليست نفسها    </a:t>
            </a:r>
            <a:endParaRPr lang="fr-FR" sz="2000" b="1" dirty="0">
              <a:solidFill>
                <a:schemeClr val="bg1"/>
              </a:solidFill>
            </a:endParaRPr>
          </a:p>
          <a:p>
            <a:pPr algn="r"/>
            <a:endParaRPr lang="fr-FR" sz="2400" b="1" dirty="0">
              <a:solidFill>
                <a:schemeClr val="bg1"/>
              </a:solidFill>
            </a:endParaRPr>
          </a:p>
        </p:txBody>
      </p:sp>
      <p:cxnSp>
        <p:nvCxnSpPr>
          <p:cNvPr id="6" name="Connecteur droit avec flèche 5"/>
          <p:cNvCxnSpPr/>
          <p:nvPr/>
        </p:nvCxnSpPr>
        <p:spPr>
          <a:xfrm>
            <a:off x="6084168" y="2708920"/>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7164288" y="2996952"/>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39552" y="1196752"/>
            <a:ext cx="1368152" cy="1656184"/>
          </a:xfrm>
          <a:prstGeom prst="rect">
            <a:avLst/>
          </a:prstGeom>
          <a:noFill/>
          <a:ln w="9525">
            <a:noFill/>
            <a:miter lim="800000"/>
            <a:headEnd/>
            <a:tailEnd/>
          </a:ln>
        </p:spPr>
      </p:pic>
      <p:cxnSp>
        <p:nvCxnSpPr>
          <p:cNvPr id="9" name="Connecteur droit avec flèche 8"/>
          <p:cNvCxnSpPr/>
          <p:nvPr/>
        </p:nvCxnSpPr>
        <p:spPr>
          <a:xfrm>
            <a:off x="1331640" y="2276872"/>
            <a:ext cx="0" cy="648072"/>
          </a:xfrm>
          <a:prstGeom prst="straightConnector1">
            <a:avLst/>
          </a:prstGeom>
          <a:ln w="539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flipV="1">
            <a:off x="1331640" y="1412776"/>
            <a:ext cx="0" cy="720080"/>
          </a:xfrm>
          <a:prstGeom prst="straightConnector1">
            <a:avLst/>
          </a:prstGeom>
          <a:ln w="539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à coins arrondis 11"/>
          <p:cNvSpPr/>
          <p:nvPr/>
        </p:nvSpPr>
        <p:spPr>
          <a:xfrm>
            <a:off x="1547664" y="1556792"/>
            <a:ext cx="792088"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F</a:t>
            </a:r>
            <a:r>
              <a:rPr lang="fr-FR" sz="2000" b="1" dirty="0">
                <a:solidFill>
                  <a:schemeClr val="bg1"/>
                </a:solidFill>
              </a:rPr>
              <a:t>f/s</a:t>
            </a:r>
          </a:p>
        </p:txBody>
      </p:sp>
      <p:cxnSp>
        <p:nvCxnSpPr>
          <p:cNvPr id="14" name="Connecteur droit avec flèche 13"/>
          <p:cNvCxnSpPr/>
          <p:nvPr/>
        </p:nvCxnSpPr>
        <p:spPr>
          <a:xfrm>
            <a:off x="1835696" y="1340768"/>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1835696" y="2564904"/>
            <a:ext cx="504056" cy="0"/>
          </a:xfrm>
          <a:prstGeom prst="straightConnector1">
            <a:avLst/>
          </a:prstGeom>
          <a:ln w="539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à coins arrondis 15"/>
          <p:cNvSpPr/>
          <p:nvPr/>
        </p:nvSpPr>
        <p:spPr>
          <a:xfrm>
            <a:off x="1619672" y="2852936"/>
            <a:ext cx="792088" cy="360040"/>
          </a:xfrm>
          <a:prstGeom prst="round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P</a:t>
            </a:r>
            <a:endParaRPr lang="fr-FR" sz="2000" b="1" dirty="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0" y="764704"/>
            <a:ext cx="9144000" cy="609329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ar-DZ" sz="2400" b="1" dirty="0">
              <a:solidFill>
                <a:schemeClr val="bg1"/>
              </a:solidFill>
            </a:endParaRPr>
          </a:p>
          <a:p>
            <a:pPr algn="r"/>
            <a:endParaRPr lang="ar-DZ" sz="2400" b="1" dirty="0">
              <a:solidFill>
                <a:schemeClr val="bg1"/>
              </a:solidFill>
            </a:endParaRPr>
          </a:p>
          <a:p>
            <a:pPr algn="r"/>
            <a:r>
              <a:rPr lang="ar-DZ" sz="2400" b="1" dirty="0">
                <a:solidFill>
                  <a:schemeClr val="bg1"/>
                </a:solidFill>
              </a:rPr>
              <a:t>1-طبيعة </a:t>
            </a:r>
            <a:r>
              <a:rPr lang="ar-DZ" sz="2400" b="1" dirty="0" err="1">
                <a:solidFill>
                  <a:schemeClr val="bg1"/>
                </a:solidFill>
              </a:rPr>
              <a:t>التيارالكهربائي</a:t>
            </a:r>
            <a:r>
              <a:rPr lang="ar-DZ" sz="2400" b="1" dirty="0">
                <a:solidFill>
                  <a:schemeClr val="bg1"/>
                </a:solidFill>
              </a:rPr>
              <a:t>  المنتج في الحالتين هو تيار </a:t>
            </a:r>
            <a:r>
              <a:rPr lang="ar-DZ" sz="2400" b="1" dirty="0" err="1">
                <a:solidFill>
                  <a:schemeClr val="bg1"/>
                </a:solidFill>
              </a:rPr>
              <a:t>متحرض</a:t>
            </a:r>
            <a:r>
              <a:rPr lang="ar-DZ" sz="2400" b="1" dirty="0">
                <a:solidFill>
                  <a:schemeClr val="bg1"/>
                </a:solidFill>
              </a:rPr>
              <a:t> </a:t>
            </a:r>
            <a:r>
              <a:rPr lang="ar-DZ" sz="2400" b="1" dirty="0" err="1">
                <a:solidFill>
                  <a:schemeClr val="bg1"/>
                </a:solidFill>
              </a:rPr>
              <a:t>(متناوب )</a:t>
            </a:r>
            <a:endParaRPr lang="ar-DZ" sz="2400" b="1" dirty="0">
              <a:solidFill>
                <a:schemeClr val="bg1"/>
              </a:solidFill>
            </a:endParaRPr>
          </a:p>
          <a:p>
            <a:pPr algn="r"/>
            <a:r>
              <a:rPr lang="ar-DZ" sz="2400" b="1" dirty="0" err="1">
                <a:solidFill>
                  <a:schemeClr val="bg1"/>
                </a:solidFill>
              </a:rPr>
              <a:t>لانه</a:t>
            </a:r>
            <a:r>
              <a:rPr lang="ar-DZ" sz="2400" b="1" dirty="0">
                <a:solidFill>
                  <a:schemeClr val="bg1"/>
                </a:solidFill>
              </a:rPr>
              <a:t> تم تحريك مغناطيس داخل وشيعة </a:t>
            </a:r>
          </a:p>
          <a:p>
            <a:pPr algn="r"/>
            <a:r>
              <a:rPr lang="ar-DZ" sz="2400" b="1" dirty="0">
                <a:solidFill>
                  <a:schemeClr val="bg1"/>
                </a:solidFill>
              </a:rPr>
              <a:t>والظاهرة المستعملة هي ظاهرة التحريض الكهرومغناطيسي </a:t>
            </a:r>
          </a:p>
          <a:p>
            <a:pPr algn="r"/>
            <a:r>
              <a:rPr lang="ar-DZ" sz="2400" b="1" dirty="0">
                <a:solidFill>
                  <a:schemeClr val="bg1"/>
                </a:solidFill>
              </a:rPr>
              <a:t>2-تمثل قيمة التوتر المسجل في جهاز </a:t>
            </a:r>
            <a:r>
              <a:rPr lang="ar-DZ" sz="2400" b="1" dirty="0" err="1">
                <a:solidFill>
                  <a:schemeClr val="bg1"/>
                </a:solidFill>
              </a:rPr>
              <a:t>الفولطمتر</a:t>
            </a:r>
            <a:r>
              <a:rPr lang="ar-DZ" sz="2400" b="1" dirty="0">
                <a:solidFill>
                  <a:schemeClr val="bg1"/>
                </a:solidFill>
              </a:rPr>
              <a:t> الرقمي </a:t>
            </a:r>
          </a:p>
          <a:p>
            <a:pPr algn="r"/>
            <a:r>
              <a:rPr lang="fr-FR" sz="2400" b="1" dirty="0" err="1">
                <a:solidFill>
                  <a:schemeClr val="bg1"/>
                </a:solidFill>
              </a:rPr>
              <a:t>Ueff</a:t>
            </a:r>
            <a:r>
              <a:rPr lang="fr-FR" sz="2400" b="1" dirty="0">
                <a:solidFill>
                  <a:schemeClr val="bg1"/>
                </a:solidFill>
              </a:rPr>
              <a:t>=6V      </a:t>
            </a:r>
            <a:r>
              <a:rPr lang="ar-DZ" sz="2400" b="1" dirty="0">
                <a:solidFill>
                  <a:schemeClr val="bg1"/>
                </a:solidFill>
              </a:rPr>
              <a:t>هو توتر منتج قيمته و رمزه</a:t>
            </a:r>
          </a:p>
          <a:p>
            <a:pPr algn="r"/>
            <a:r>
              <a:rPr lang="ar-DZ" sz="2400" b="1" dirty="0">
                <a:solidFill>
                  <a:schemeClr val="bg1"/>
                </a:solidFill>
              </a:rPr>
              <a:t>اما اكبر توتر مسجل في جهاز راسم الاهتزاز المهبطي </a:t>
            </a:r>
          </a:p>
          <a:p>
            <a:pPr algn="r"/>
            <a:r>
              <a:rPr lang="fr-FR" sz="2400" b="1" dirty="0" err="1">
                <a:solidFill>
                  <a:schemeClr val="bg1"/>
                </a:solidFill>
              </a:rPr>
              <a:t>Umax</a:t>
            </a:r>
            <a:r>
              <a:rPr lang="fr-FR" sz="2400" b="1" dirty="0">
                <a:solidFill>
                  <a:schemeClr val="bg1"/>
                </a:solidFill>
              </a:rPr>
              <a:t>  </a:t>
            </a:r>
            <a:r>
              <a:rPr lang="ar-DZ" sz="2400" b="1" dirty="0">
                <a:solidFill>
                  <a:schemeClr val="bg1"/>
                </a:solidFill>
              </a:rPr>
              <a:t>هو التوتر </a:t>
            </a:r>
            <a:r>
              <a:rPr lang="ar-DZ" sz="2400" b="1" dirty="0" err="1">
                <a:solidFill>
                  <a:schemeClr val="bg1"/>
                </a:solidFill>
              </a:rPr>
              <a:t>الاعظمي</a:t>
            </a:r>
            <a:r>
              <a:rPr lang="ar-DZ" sz="2400" b="1" dirty="0">
                <a:solidFill>
                  <a:schemeClr val="bg1"/>
                </a:solidFill>
              </a:rPr>
              <a:t> رمزه </a:t>
            </a:r>
          </a:p>
          <a:p>
            <a:pPr algn="r"/>
            <a:r>
              <a:rPr lang="ar-DZ" sz="2400" b="1" dirty="0">
                <a:solidFill>
                  <a:schemeClr val="bg1"/>
                </a:solidFill>
              </a:rPr>
              <a:t>اما قيمته تحسب من خلال تدريجات رسم الاهتزاز المهبطي</a:t>
            </a:r>
          </a:p>
          <a:p>
            <a:pPr algn="r"/>
            <a:r>
              <a:rPr lang="ar-DZ" sz="2400" b="1" dirty="0">
                <a:solidFill>
                  <a:schemeClr val="bg1"/>
                </a:solidFill>
              </a:rPr>
              <a:t>لدينا التوتر </a:t>
            </a:r>
            <a:r>
              <a:rPr lang="ar-DZ" sz="2400" b="1" dirty="0" err="1">
                <a:solidFill>
                  <a:schemeClr val="bg1"/>
                </a:solidFill>
              </a:rPr>
              <a:t>الاعظمي</a:t>
            </a:r>
            <a:r>
              <a:rPr lang="ar-DZ" sz="2400" b="1" dirty="0">
                <a:solidFill>
                  <a:schemeClr val="bg1"/>
                </a:solidFill>
              </a:rPr>
              <a:t> من خلال راسم الاهتزاز المهبطي </a:t>
            </a:r>
          </a:p>
          <a:p>
            <a:pPr algn="r"/>
            <a:r>
              <a:rPr lang="fr-FR" sz="2400" b="1" dirty="0" err="1">
                <a:solidFill>
                  <a:schemeClr val="bg1"/>
                </a:solidFill>
              </a:rPr>
              <a:t>Umax</a:t>
            </a:r>
            <a:r>
              <a:rPr lang="fr-FR" sz="2400" b="1" dirty="0">
                <a:solidFill>
                  <a:schemeClr val="bg1"/>
                </a:solidFill>
              </a:rPr>
              <a:t>=</a:t>
            </a:r>
            <a:r>
              <a:rPr lang="fr-FR" sz="2400" b="1" dirty="0" err="1">
                <a:solidFill>
                  <a:schemeClr val="bg1"/>
                </a:solidFill>
              </a:rPr>
              <a:t>Ndvx</a:t>
            </a:r>
            <a:r>
              <a:rPr lang="ar-DZ" sz="2400" b="1" dirty="0">
                <a:solidFill>
                  <a:schemeClr val="bg1"/>
                </a:solidFill>
              </a:rPr>
              <a:t> </a:t>
            </a:r>
            <a:r>
              <a:rPr lang="fr-FR" sz="2400" b="1" dirty="0">
                <a:solidFill>
                  <a:schemeClr val="bg1"/>
                </a:solidFill>
              </a:rPr>
              <a:t>Sv=</a:t>
            </a:r>
            <a:r>
              <a:rPr lang="ar-DZ" sz="2400" b="1" dirty="0">
                <a:solidFill>
                  <a:schemeClr val="bg1"/>
                </a:solidFill>
              </a:rPr>
              <a:t>4.2</a:t>
            </a:r>
            <a:r>
              <a:rPr lang="fr-FR" sz="2400" b="1" dirty="0">
                <a:solidFill>
                  <a:schemeClr val="bg1"/>
                </a:solidFill>
              </a:rPr>
              <a:t>x</a:t>
            </a:r>
            <a:r>
              <a:rPr lang="ar-DZ" sz="2400" b="1" dirty="0">
                <a:solidFill>
                  <a:schemeClr val="bg1"/>
                </a:solidFill>
              </a:rPr>
              <a:t>2</a:t>
            </a:r>
            <a:r>
              <a:rPr lang="fr-FR" sz="2400" b="1" dirty="0">
                <a:solidFill>
                  <a:schemeClr val="bg1"/>
                </a:solidFill>
              </a:rPr>
              <a:t>=</a:t>
            </a:r>
            <a:r>
              <a:rPr lang="ar-DZ" sz="2400" b="1" dirty="0">
                <a:solidFill>
                  <a:schemeClr val="bg1"/>
                </a:solidFill>
              </a:rPr>
              <a:t>8.4</a:t>
            </a:r>
            <a:r>
              <a:rPr lang="fr-FR" sz="2400" b="1" dirty="0">
                <a:solidFill>
                  <a:schemeClr val="bg1"/>
                </a:solidFill>
              </a:rPr>
              <a:t>v</a:t>
            </a:r>
            <a:endParaRPr lang="ar-DZ" sz="2400" b="1" dirty="0">
              <a:solidFill>
                <a:schemeClr val="bg1"/>
              </a:solidFill>
            </a:endParaRPr>
          </a:p>
          <a:p>
            <a:pPr algn="r"/>
            <a:r>
              <a:rPr lang="fr-FR" sz="2400" b="1" dirty="0" err="1">
                <a:solidFill>
                  <a:schemeClr val="bg1"/>
                </a:solidFill>
              </a:rPr>
              <a:t>Ueff</a:t>
            </a:r>
            <a:r>
              <a:rPr lang="fr-FR" sz="2400" b="1" dirty="0">
                <a:solidFill>
                  <a:schemeClr val="bg1"/>
                </a:solidFill>
              </a:rPr>
              <a:t>=</a:t>
            </a:r>
            <a:r>
              <a:rPr lang="fr-FR" sz="2400" b="1" dirty="0" err="1">
                <a:solidFill>
                  <a:schemeClr val="bg1"/>
                </a:solidFill>
              </a:rPr>
              <a:t>Uma</a:t>
            </a:r>
            <a:r>
              <a:rPr lang="fr-FR" sz="2400" b="1" dirty="0">
                <a:solidFill>
                  <a:schemeClr val="bg1"/>
                </a:solidFill>
              </a:rPr>
              <a:t>/√2</a:t>
            </a:r>
            <a:r>
              <a:rPr lang="ar-DZ" sz="2400" b="1" dirty="0">
                <a:solidFill>
                  <a:schemeClr val="bg1"/>
                </a:solidFill>
              </a:rPr>
              <a:t> والتوتر </a:t>
            </a:r>
            <a:r>
              <a:rPr lang="ar-DZ" sz="2400" b="1" dirty="0" err="1">
                <a:solidFill>
                  <a:schemeClr val="bg1"/>
                </a:solidFill>
              </a:rPr>
              <a:t>الاعظمي</a:t>
            </a:r>
            <a:r>
              <a:rPr lang="ar-DZ" sz="2400" b="1" dirty="0">
                <a:solidFill>
                  <a:schemeClr val="bg1"/>
                </a:solidFill>
              </a:rPr>
              <a:t> يعطى بالعلاقة  </a:t>
            </a:r>
            <a:endParaRPr lang="fr-FR" sz="2400" b="1" dirty="0">
              <a:solidFill>
                <a:schemeClr val="bg1"/>
              </a:solidFill>
            </a:endParaRPr>
          </a:p>
          <a:p>
            <a:pPr algn="r"/>
            <a:r>
              <a:rPr lang="fr-FR" sz="2400" b="1" dirty="0" err="1">
                <a:solidFill>
                  <a:schemeClr val="bg1"/>
                </a:solidFill>
              </a:rPr>
              <a:t>Ueff</a:t>
            </a:r>
            <a:r>
              <a:rPr lang="fr-FR" sz="2400" b="1" dirty="0">
                <a:solidFill>
                  <a:schemeClr val="bg1"/>
                </a:solidFill>
              </a:rPr>
              <a:t>=</a:t>
            </a:r>
            <a:r>
              <a:rPr lang="ar-DZ" sz="2400" b="1" dirty="0">
                <a:solidFill>
                  <a:schemeClr val="bg1"/>
                </a:solidFill>
              </a:rPr>
              <a:t>8.4</a:t>
            </a:r>
            <a:r>
              <a:rPr lang="fr-FR" sz="2400" b="1" dirty="0">
                <a:solidFill>
                  <a:schemeClr val="bg1"/>
                </a:solidFill>
              </a:rPr>
              <a:t>/√2=</a:t>
            </a:r>
            <a:r>
              <a:rPr lang="ar-DZ" sz="2400" b="1" dirty="0">
                <a:solidFill>
                  <a:schemeClr val="bg1"/>
                </a:solidFill>
              </a:rPr>
              <a:t>6</a:t>
            </a:r>
            <a:r>
              <a:rPr lang="fr-FR" sz="2400" b="1" dirty="0">
                <a:solidFill>
                  <a:schemeClr val="bg1"/>
                </a:solidFill>
              </a:rPr>
              <a:t>v</a:t>
            </a:r>
            <a:r>
              <a:rPr lang="ar-DZ" sz="2400" b="1" dirty="0">
                <a:solidFill>
                  <a:schemeClr val="bg1"/>
                </a:solidFill>
              </a:rPr>
              <a:t>    ومنه   </a:t>
            </a:r>
            <a:endParaRPr lang="fr-FR" sz="2400" b="1" dirty="0">
              <a:solidFill>
                <a:schemeClr val="bg1"/>
              </a:solidFill>
            </a:endParaRPr>
          </a:p>
          <a:p>
            <a:pPr algn="r"/>
            <a:r>
              <a:rPr lang="ar-DZ" sz="2400" b="1" dirty="0">
                <a:solidFill>
                  <a:schemeClr val="bg1"/>
                </a:solidFill>
              </a:rPr>
              <a:t>3-فاز الفوجين بالمسابقة لأنهما تحصلا على نفس النتيجة  </a:t>
            </a:r>
          </a:p>
          <a:p>
            <a:pPr algn="r"/>
            <a:endParaRPr lang="ar-DZ" sz="2400" b="1" dirty="0">
              <a:solidFill>
                <a:schemeClr val="bg1"/>
              </a:solidFill>
            </a:endParaRPr>
          </a:p>
          <a:p>
            <a:pPr algn="r"/>
            <a:endParaRPr lang="ar-DZ" sz="2400" b="1" dirty="0">
              <a:solidFill>
                <a:schemeClr val="bg1"/>
              </a:solidFill>
            </a:endParaRPr>
          </a:p>
        </p:txBody>
      </p:sp>
      <p:sp>
        <p:nvSpPr>
          <p:cNvPr id="6" name="Rectangle à coins arrondis 5"/>
          <p:cNvSpPr/>
          <p:nvPr/>
        </p:nvSpPr>
        <p:spPr>
          <a:xfrm>
            <a:off x="1403648" y="0"/>
            <a:ext cx="6192688" cy="76470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4000" b="1" dirty="0">
                <a:solidFill>
                  <a:schemeClr val="bg1"/>
                </a:solidFill>
              </a:rPr>
              <a:t>حل الوضعية الادماجية </a:t>
            </a:r>
            <a:endParaRPr lang="fr-FR" sz="4000" b="1" dirty="0">
              <a:solidFill>
                <a:schemeClr val="bg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12063</TotalTime>
  <Words>7269</Words>
  <Application>Microsoft Office PowerPoint</Application>
  <PresentationFormat>عرض على الشاشة (4:3)</PresentationFormat>
  <Paragraphs>1178</Paragraphs>
  <Slides>71</Slides>
  <Notes>2</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71</vt:i4>
      </vt:variant>
    </vt:vector>
  </HeadingPairs>
  <TitlesOfParts>
    <vt:vector size="80" baseType="lpstr">
      <vt:lpstr>Arial</vt:lpstr>
      <vt:lpstr>Book Antiqua</vt:lpstr>
      <vt:lpstr>Calibri</vt:lpstr>
      <vt:lpstr>Lucida Sans</vt:lpstr>
      <vt:lpstr>Times New Roman</vt:lpstr>
      <vt:lpstr>Wingdings</vt:lpstr>
      <vt:lpstr>Wingdings 2</vt:lpstr>
      <vt:lpstr>Wingdings 3</vt:lpstr>
      <vt:lpstr>Apex</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HMI</dc:creator>
  <cp:lastModifiedBy>sasa</cp:lastModifiedBy>
  <cp:revision>4058</cp:revision>
  <dcterms:created xsi:type="dcterms:W3CDTF">2016-02-23T11:37:09Z</dcterms:created>
  <dcterms:modified xsi:type="dcterms:W3CDTF">2021-05-17T12:09:45Z</dcterms:modified>
</cp:coreProperties>
</file>