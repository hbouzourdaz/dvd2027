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tl="1" saveSubsetFonts="1">
  <p:sldMasterIdLst>
    <p:sldMasterId id="2147483648" r:id="rId1"/>
  </p:sldMasterIdLst>
  <p:sldIdLst>
    <p:sldId id="257" r:id="rId2"/>
    <p:sldId id="256" r:id="rId3"/>
    <p:sldId id="258" r:id="rId4"/>
  </p:sldIdLst>
  <p:sldSz cx="9144000" cy="6858000" type="screen4x3"/>
  <p:notesSz cx="6858000" cy="9144000"/>
  <p:defaultTextStyle>
    <a:defPPr>
      <a:defRPr lang="ar-SA"/>
    </a:defPPr>
    <a:lvl1pPr marL="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modifyVerifier cryptProviderType="rsaFull" cryptAlgorithmClass="hash" cryptAlgorithmType="typeAny" cryptAlgorithmSid="4" spinCount="50000" saltData="f9JBMx5D4VKPGeWy1m+FoQ==" hashData="e76zgQHLr/SVrTcBRrf5d57tHng="/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85000" autoAdjust="0"/>
    <p:restoredTop sz="94660"/>
  </p:normalViewPr>
  <p:slideViewPr>
    <p:cSldViewPr>
      <p:cViewPr varScale="1">
        <p:scale>
          <a:sx n="74" d="100"/>
          <a:sy n="74" d="100"/>
        </p:scale>
        <p:origin x="486" y="9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شريحة عنوان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ar-SA"/>
          </a:p>
        </p:txBody>
      </p:sp>
      <p:sp>
        <p:nvSpPr>
          <p:cNvPr id="3" name="عنوان فرعي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ar-SA"/>
          </a:p>
        </p:txBody>
      </p:sp>
      <p:sp>
        <p:nvSpPr>
          <p:cNvPr id="4" name="عنصر نائب للتاريخ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E163E5-C74A-44CB-8B59-18E2F82A73AC}" type="datetimeFigureOut">
              <a:rPr lang="ar-SA" smtClean="0"/>
              <a:pPr/>
              <a:t>13/09/1439</a:t>
            </a:fld>
            <a:endParaRPr lang="ar-SA"/>
          </a:p>
        </p:txBody>
      </p:sp>
      <p:sp>
        <p:nvSpPr>
          <p:cNvPr id="5" name="عنصر نائب للتذييل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SA"/>
          </a:p>
        </p:txBody>
      </p:sp>
      <p:sp>
        <p:nvSpPr>
          <p:cNvPr id="6" name="عنصر نائب لرقم الشريحة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11151C-CE94-4513-8BEE-C917BE166540}" type="slidenum">
              <a:rPr lang="ar-SA" smtClean="0"/>
              <a:pPr/>
              <a:t>‹#›</a:t>
            </a:fld>
            <a:endParaRPr lang="ar-SA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عنوان ومحتو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ar-SA"/>
          </a:p>
        </p:txBody>
      </p:sp>
      <p:sp>
        <p:nvSpPr>
          <p:cNvPr id="3" name="عنصر نائب للمحتوى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ar-SA"/>
          </a:p>
        </p:txBody>
      </p:sp>
      <p:sp>
        <p:nvSpPr>
          <p:cNvPr id="4" name="عنصر نائب للتاريخ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E163E5-C74A-44CB-8B59-18E2F82A73AC}" type="datetimeFigureOut">
              <a:rPr lang="ar-SA" smtClean="0"/>
              <a:pPr/>
              <a:t>13/09/1439</a:t>
            </a:fld>
            <a:endParaRPr lang="ar-SA"/>
          </a:p>
        </p:txBody>
      </p:sp>
      <p:sp>
        <p:nvSpPr>
          <p:cNvPr id="5" name="عنصر نائب للتذييل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SA"/>
          </a:p>
        </p:txBody>
      </p:sp>
      <p:sp>
        <p:nvSpPr>
          <p:cNvPr id="6" name="عنصر نائب لرقم الشريحة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11151C-CE94-4513-8BEE-C917BE166540}" type="slidenum">
              <a:rPr lang="ar-SA" smtClean="0"/>
              <a:pPr/>
              <a:t>‹#›</a:t>
            </a:fld>
            <a:endParaRPr lang="ar-SA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عنوان المقط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r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ar-SA"/>
          </a:p>
        </p:txBody>
      </p:sp>
      <p:sp>
        <p:nvSpPr>
          <p:cNvPr id="3" name="عنصر نائب للنص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عنصر نائب للتاريخ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E163E5-C74A-44CB-8B59-18E2F82A73AC}" type="datetimeFigureOut">
              <a:rPr lang="ar-SA" smtClean="0"/>
              <a:pPr/>
              <a:t>13/09/1439</a:t>
            </a:fld>
            <a:endParaRPr lang="ar-SA"/>
          </a:p>
        </p:txBody>
      </p:sp>
      <p:sp>
        <p:nvSpPr>
          <p:cNvPr id="5" name="عنصر نائب للتذييل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SA"/>
          </a:p>
        </p:txBody>
      </p:sp>
      <p:sp>
        <p:nvSpPr>
          <p:cNvPr id="6" name="عنصر نائب لرقم الشريحة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11151C-CE94-4513-8BEE-C917BE166540}" type="slidenum">
              <a:rPr lang="ar-SA" smtClean="0"/>
              <a:pPr/>
              <a:t>‹#›</a:t>
            </a:fld>
            <a:endParaRPr lang="ar-SA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محتويين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ar-SA"/>
          </a:p>
        </p:txBody>
      </p:sp>
      <p:sp>
        <p:nvSpPr>
          <p:cNvPr id="3" name="عنصر نائب للمحتوى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ar-SA"/>
          </a:p>
        </p:txBody>
      </p:sp>
      <p:sp>
        <p:nvSpPr>
          <p:cNvPr id="4" name="عنصر نائب للمحتوى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ar-SA"/>
          </a:p>
        </p:txBody>
      </p:sp>
      <p:sp>
        <p:nvSpPr>
          <p:cNvPr id="5" name="عنصر نائب للتاريخ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E163E5-C74A-44CB-8B59-18E2F82A73AC}" type="datetimeFigureOut">
              <a:rPr lang="ar-SA" smtClean="0"/>
              <a:pPr/>
              <a:t>13/09/1439</a:t>
            </a:fld>
            <a:endParaRPr lang="ar-SA"/>
          </a:p>
        </p:txBody>
      </p:sp>
      <p:sp>
        <p:nvSpPr>
          <p:cNvPr id="6" name="عنصر نائب للتذييل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SA"/>
          </a:p>
        </p:txBody>
      </p:sp>
      <p:sp>
        <p:nvSpPr>
          <p:cNvPr id="7" name="عنصر نائب لرقم الشريحة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11151C-CE94-4513-8BEE-C917BE166540}" type="slidenum">
              <a:rPr lang="ar-SA" smtClean="0"/>
              <a:pPr/>
              <a:t>‹#›</a:t>
            </a:fld>
            <a:endParaRPr lang="ar-SA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مقارن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ar-SA"/>
          </a:p>
        </p:txBody>
      </p:sp>
      <p:sp>
        <p:nvSpPr>
          <p:cNvPr id="3" name="عنصر نائب للنص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عنصر نائب للمحتوى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ar-SA"/>
          </a:p>
        </p:txBody>
      </p:sp>
      <p:sp>
        <p:nvSpPr>
          <p:cNvPr id="5" name="عنصر نائب للنص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عنصر نائب للمحتوى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ar-SA"/>
          </a:p>
        </p:txBody>
      </p:sp>
      <p:sp>
        <p:nvSpPr>
          <p:cNvPr id="7" name="عنصر نائب للتاريخ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E163E5-C74A-44CB-8B59-18E2F82A73AC}" type="datetimeFigureOut">
              <a:rPr lang="ar-SA" smtClean="0"/>
              <a:pPr/>
              <a:t>13/09/1439</a:t>
            </a:fld>
            <a:endParaRPr lang="ar-SA"/>
          </a:p>
        </p:txBody>
      </p:sp>
      <p:sp>
        <p:nvSpPr>
          <p:cNvPr id="8" name="عنصر نائب للتذييل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SA"/>
          </a:p>
        </p:txBody>
      </p:sp>
      <p:sp>
        <p:nvSpPr>
          <p:cNvPr id="9" name="عنصر نائب لرقم الشريحة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11151C-CE94-4513-8BEE-C917BE166540}" type="slidenum">
              <a:rPr lang="ar-SA" smtClean="0"/>
              <a:pPr/>
              <a:t>‹#›</a:t>
            </a:fld>
            <a:endParaRPr lang="ar-SA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عنوان فق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ar-SA"/>
          </a:p>
        </p:txBody>
      </p:sp>
      <p:sp>
        <p:nvSpPr>
          <p:cNvPr id="3" name="عنصر نائب للتاريخ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E163E5-C74A-44CB-8B59-18E2F82A73AC}" type="datetimeFigureOut">
              <a:rPr lang="ar-SA" smtClean="0"/>
              <a:pPr/>
              <a:t>13/09/1439</a:t>
            </a:fld>
            <a:endParaRPr lang="ar-SA"/>
          </a:p>
        </p:txBody>
      </p:sp>
      <p:sp>
        <p:nvSpPr>
          <p:cNvPr id="4" name="عنصر نائب للتذييل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SA"/>
          </a:p>
        </p:txBody>
      </p:sp>
      <p:sp>
        <p:nvSpPr>
          <p:cNvPr id="5" name="عنصر نائب لرقم الشريحة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11151C-CE94-4513-8BEE-C917BE166540}" type="slidenum">
              <a:rPr lang="ar-SA" smtClean="0"/>
              <a:pPr/>
              <a:t>‹#›</a:t>
            </a:fld>
            <a:endParaRPr lang="ar-SA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فار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صر نائب للتاريخ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E163E5-C74A-44CB-8B59-18E2F82A73AC}" type="datetimeFigureOut">
              <a:rPr lang="ar-SA" smtClean="0"/>
              <a:pPr/>
              <a:t>13/09/1439</a:t>
            </a:fld>
            <a:endParaRPr lang="ar-SA"/>
          </a:p>
        </p:txBody>
      </p:sp>
      <p:sp>
        <p:nvSpPr>
          <p:cNvPr id="3" name="عنصر نائب للتذييل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SA"/>
          </a:p>
        </p:txBody>
      </p:sp>
      <p:sp>
        <p:nvSpPr>
          <p:cNvPr id="4" name="عنصر نائب لرقم الشريحة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11151C-CE94-4513-8BEE-C917BE166540}" type="slidenum">
              <a:rPr lang="ar-SA" smtClean="0"/>
              <a:pPr/>
              <a:t>‹#›</a:t>
            </a:fld>
            <a:endParaRPr lang="ar-SA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محتوى ذو تسمية توضيحي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r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ar-SA"/>
          </a:p>
        </p:txBody>
      </p:sp>
      <p:sp>
        <p:nvSpPr>
          <p:cNvPr id="3" name="عنصر نائب للمحتوى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ar-SA"/>
          </a:p>
        </p:txBody>
      </p:sp>
      <p:sp>
        <p:nvSpPr>
          <p:cNvPr id="4" name="عنصر نائب للنص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عنصر نائب للتاريخ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E163E5-C74A-44CB-8B59-18E2F82A73AC}" type="datetimeFigureOut">
              <a:rPr lang="ar-SA" smtClean="0"/>
              <a:pPr/>
              <a:t>13/09/1439</a:t>
            </a:fld>
            <a:endParaRPr lang="ar-SA"/>
          </a:p>
        </p:txBody>
      </p:sp>
      <p:sp>
        <p:nvSpPr>
          <p:cNvPr id="6" name="عنصر نائب للتذييل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SA"/>
          </a:p>
        </p:txBody>
      </p:sp>
      <p:sp>
        <p:nvSpPr>
          <p:cNvPr id="7" name="عنصر نائب لرقم الشريحة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11151C-CE94-4513-8BEE-C917BE166540}" type="slidenum">
              <a:rPr lang="ar-SA" smtClean="0"/>
              <a:pPr/>
              <a:t>‹#›</a:t>
            </a:fld>
            <a:endParaRPr lang="ar-SA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صورة ذو تسمية توضيحي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r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ar-SA"/>
          </a:p>
        </p:txBody>
      </p:sp>
      <p:sp>
        <p:nvSpPr>
          <p:cNvPr id="3" name="عنصر نائب للصورة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ar-SA"/>
          </a:p>
        </p:txBody>
      </p:sp>
      <p:sp>
        <p:nvSpPr>
          <p:cNvPr id="4" name="عنصر نائب للنص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عنصر نائب للتاريخ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E163E5-C74A-44CB-8B59-18E2F82A73AC}" type="datetimeFigureOut">
              <a:rPr lang="ar-SA" smtClean="0"/>
              <a:pPr/>
              <a:t>13/09/1439</a:t>
            </a:fld>
            <a:endParaRPr lang="ar-SA"/>
          </a:p>
        </p:txBody>
      </p:sp>
      <p:sp>
        <p:nvSpPr>
          <p:cNvPr id="6" name="عنصر نائب للتذييل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SA"/>
          </a:p>
        </p:txBody>
      </p:sp>
      <p:sp>
        <p:nvSpPr>
          <p:cNvPr id="7" name="عنصر نائب لرقم الشريحة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11151C-CE94-4513-8BEE-C917BE166540}" type="slidenum">
              <a:rPr lang="ar-SA" smtClean="0"/>
              <a:pPr/>
              <a:t>‹#›</a:t>
            </a:fld>
            <a:endParaRPr lang="ar-SA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عنوان ونص عمودي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ar-SA"/>
          </a:p>
        </p:txBody>
      </p:sp>
      <p:sp>
        <p:nvSpPr>
          <p:cNvPr id="3" name="عنصر نائب للعنوان العمودي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ar-SA"/>
          </a:p>
        </p:txBody>
      </p:sp>
      <p:sp>
        <p:nvSpPr>
          <p:cNvPr id="4" name="عنصر نائب للتاريخ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E163E5-C74A-44CB-8B59-18E2F82A73AC}" type="datetimeFigureOut">
              <a:rPr lang="ar-SA" smtClean="0"/>
              <a:pPr/>
              <a:t>13/09/1439</a:t>
            </a:fld>
            <a:endParaRPr lang="ar-SA"/>
          </a:p>
        </p:txBody>
      </p:sp>
      <p:sp>
        <p:nvSpPr>
          <p:cNvPr id="5" name="عنصر نائب للتذييل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SA"/>
          </a:p>
        </p:txBody>
      </p:sp>
      <p:sp>
        <p:nvSpPr>
          <p:cNvPr id="6" name="عنصر نائب لرقم الشريحة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11151C-CE94-4513-8BEE-C917BE166540}" type="slidenum">
              <a:rPr lang="ar-SA" smtClean="0"/>
              <a:pPr/>
              <a:t>‹#›</a:t>
            </a:fld>
            <a:endParaRPr lang="ar-SA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عنوان ونص عموديان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عمودي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ar-SA"/>
          </a:p>
        </p:txBody>
      </p:sp>
      <p:sp>
        <p:nvSpPr>
          <p:cNvPr id="3" name="عنصر نائب للعنوان العمودي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ar-SA"/>
          </a:p>
        </p:txBody>
      </p:sp>
      <p:sp>
        <p:nvSpPr>
          <p:cNvPr id="4" name="عنصر نائب للتاريخ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E163E5-C74A-44CB-8B59-18E2F82A73AC}" type="datetimeFigureOut">
              <a:rPr lang="ar-SA" smtClean="0"/>
              <a:pPr/>
              <a:t>13/09/1439</a:t>
            </a:fld>
            <a:endParaRPr lang="ar-SA"/>
          </a:p>
        </p:txBody>
      </p:sp>
      <p:sp>
        <p:nvSpPr>
          <p:cNvPr id="5" name="عنصر نائب للتذييل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SA"/>
          </a:p>
        </p:txBody>
      </p:sp>
      <p:sp>
        <p:nvSpPr>
          <p:cNvPr id="6" name="عنصر نائب لرقم الشريحة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11151C-CE94-4513-8BEE-C917BE166540}" type="slidenum">
              <a:rPr lang="ar-SA" smtClean="0"/>
              <a:pPr/>
              <a:t>‹#›</a:t>
            </a:fld>
            <a:endParaRPr lang="ar-SA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صر نائب للعنوان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1" anchor="ctr">
            <a:normAutofit/>
          </a:bodyPr>
          <a:lstStyle/>
          <a:p>
            <a:r>
              <a:rPr lang="ar-SA" smtClean="0"/>
              <a:t>انقر لتحرير نمط العنوان الرئيسي</a:t>
            </a:r>
            <a:endParaRPr lang="ar-SA"/>
          </a:p>
        </p:txBody>
      </p:sp>
      <p:sp>
        <p:nvSpPr>
          <p:cNvPr id="3" name="عنصر نائب للنص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1">
            <a:normAutofit/>
          </a:bodyPr>
          <a:lstStyle/>
          <a:p>
            <a:pPr lvl="0"/>
            <a:r>
              <a:rPr lang="ar-SA" smtClean="0"/>
              <a:t>انقر لتحرير أنماط النص الرئيسي</a:t>
            </a:r>
          </a:p>
          <a:p>
            <a:pPr lvl="1"/>
            <a:r>
              <a:rPr lang="ar-SA" smtClean="0"/>
              <a:t>المستوى الثاني</a:t>
            </a:r>
          </a:p>
          <a:p>
            <a:pPr lvl="2"/>
            <a:r>
              <a:rPr lang="ar-SA" smtClean="0"/>
              <a:t>المستوى الثالث</a:t>
            </a:r>
          </a:p>
          <a:p>
            <a:pPr lvl="3"/>
            <a:r>
              <a:rPr lang="ar-SA" smtClean="0"/>
              <a:t>المستوى الرابع</a:t>
            </a:r>
          </a:p>
          <a:p>
            <a:pPr lvl="4"/>
            <a:r>
              <a:rPr lang="ar-SA" smtClean="0"/>
              <a:t>المستوى الخامس</a:t>
            </a:r>
            <a:endParaRPr lang="ar-SA"/>
          </a:p>
        </p:txBody>
      </p:sp>
      <p:sp>
        <p:nvSpPr>
          <p:cNvPr id="4" name="عنصر نائب للتاريخ 3"/>
          <p:cNvSpPr>
            <a:spLocks noGrp="1"/>
          </p:cNvSpPr>
          <p:nvPr>
            <p:ph type="dt" sz="half" idx="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1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7E163E5-C74A-44CB-8B59-18E2F82A73AC}" type="datetimeFigureOut">
              <a:rPr lang="ar-SA" smtClean="0"/>
              <a:pPr/>
              <a:t>13/09/1439</a:t>
            </a:fld>
            <a:endParaRPr lang="ar-SA"/>
          </a:p>
        </p:txBody>
      </p:sp>
      <p:sp>
        <p:nvSpPr>
          <p:cNvPr id="5" name="عنصر نائب للتذييل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1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ar-SA"/>
          </a:p>
        </p:txBody>
      </p:sp>
      <p:sp>
        <p:nvSpPr>
          <p:cNvPr id="6" name="عنصر نائب لرقم الشريحة 5"/>
          <p:cNvSpPr>
            <a:spLocks noGrp="1"/>
          </p:cNvSpPr>
          <p:nvPr>
            <p:ph type="sldNum" sz="quarter" idx="4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1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611151C-CE94-4513-8BEE-C917BE166540}" type="slidenum">
              <a:rPr lang="ar-SA" smtClean="0"/>
              <a:pPr/>
              <a:t>‹#›</a:t>
            </a:fld>
            <a:endParaRPr lang="ar-SA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1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r" defTabSz="914400" rtl="1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r" defTabSz="914400" rtl="1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r" defTabSz="914400" rtl="1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r" defTabSz="914400" rtl="1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r" defTabSz="914400" rtl="1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r" defTabSz="914400" rtl="1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r" defTabSz="914400" rtl="1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r" defTabSz="914400" rtl="1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r" defTabSz="914400" rtl="1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ar-SA"/>
      </a:defPPr>
      <a:lvl1pPr marL="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مربع نص 3"/>
          <p:cNvSpPr txBox="1"/>
          <p:nvPr/>
        </p:nvSpPr>
        <p:spPr>
          <a:xfrm>
            <a:off x="838200" y="381000"/>
            <a:ext cx="7696200" cy="2031325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ctr"/>
            <a:r>
              <a:rPr lang="ar-DZ" sz="3600" b="1" dirty="0" smtClean="0">
                <a:cs typeface="(AH) Manal Bold" pitchFamily="2" charset="-78"/>
              </a:rPr>
              <a:t>مجال الظواهر الكهربائية، للسنة الرابعة متوسط</a:t>
            </a:r>
          </a:p>
          <a:p>
            <a:pPr algn="ctr"/>
            <a:endParaRPr lang="ar-DZ" sz="3600" b="1" dirty="0" smtClean="0">
              <a:cs typeface="(AH) Manal Bold" pitchFamily="2" charset="-78"/>
            </a:endParaRPr>
          </a:p>
          <a:p>
            <a:pPr algn="ctr"/>
            <a:r>
              <a:rPr lang="ar-DZ" sz="5400" b="1" dirty="0" smtClean="0">
                <a:solidFill>
                  <a:schemeClr val="tx2"/>
                </a:solidFill>
                <a:cs typeface="(AH) Manal Bold" pitchFamily="2" charset="-78"/>
              </a:rPr>
              <a:t>شرح ظاهرة التكهرب بالتأثير</a:t>
            </a:r>
            <a:endParaRPr lang="ar-SA" sz="5400" b="1" dirty="0">
              <a:solidFill>
                <a:schemeClr val="tx2"/>
              </a:solidFill>
              <a:cs typeface="(AH) Manal Bold" pitchFamily="2" charset="-78"/>
            </a:endParaRPr>
          </a:p>
        </p:txBody>
      </p:sp>
      <p:pic>
        <p:nvPicPr>
          <p:cNvPr id="5" name="صورة 4" descr="tahadi logo 01-Recovered cop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95400" y="2743200"/>
            <a:ext cx="6248400" cy="3441537"/>
          </a:xfrm>
          <a:prstGeom prst="rect">
            <a:avLst/>
          </a:prstGeom>
        </p:spPr>
      </p:pic>
      <p:sp>
        <p:nvSpPr>
          <p:cNvPr id="6" name="مربع نص 5"/>
          <p:cNvSpPr txBox="1"/>
          <p:nvPr/>
        </p:nvSpPr>
        <p:spPr>
          <a:xfrm>
            <a:off x="6380592" y="6488668"/>
            <a:ext cx="2595582" cy="338554"/>
          </a:xfrm>
          <a:prstGeom prst="rect">
            <a:avLst/>
          </a:prstGeom>
          <a:noFill/>
        </p:spPr>
        <p:txBody>
          <a:bodyPr wrap="none" rtlCol="1">
            <a:spAutoFit/>
          </a:bodyPr>
          <a:lstStyle/>
          <a:p>
            <a:r>
              <a:rPr lang="ar-DZ" sz="1600" dirty="0" smtClean="0">
                <a:solidFill>
                  <a:schemeClr val="tx2">
                    <a:lumMod val="40000"/>
                    <a:lumOff val="60000"/>
                  </a:schemeClr>
                </a:solidFill>
                <a:cs typeface="(AH) Manal Bold" pitchFamily="2" charset="-78"/>
              </a:rPr>
              <a:t>الأستاذ: بوحملة السعيد/ ماي 2018</a:t>
            </a:r>
            <a:endParaRPr lang="ar-SA" sz="1600" dirty="0">
              <a:solidFill>
                <a:schemeClr val="tx2">
                  <a:lumMod val="40000"/>
                  <a:lumOff val="60000"/>
                </a:schemeClr>
              </a:solidFill>
              <a:cs typeface="(AH) Manal Bold" pitchFamily="2" charset="-78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مستطيل 4"/>
          <p:cNvSpPr/>
          <p:nvPr/>
        </p:nvSpPr>
        <p:spPr>
          <a:xfrm>
            <a:off x="2209800" y="3124200"/>
            <a:ext cx="4724400" cy="7620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en-US" dirty="0" smtClean="0"/>
              <a:t>    </a:t>
            </a:r>
            <a:endParaRPr lang="ar-SA" dirty="0"/>
          </a:p>
        </p:txBody>
      </p:sp>
      <p:grpSp>
        <p:nvGrpSpPr>
          <p:cNvPr id="12" name="مجموعة 11"/>
          <p:cNvGrpSpPr/>
          <p:nvPr/>
        </p:nvGrpSpPr>
        <p:grpSpPr>
          <a:xfrm>
            <a:off x="3733800" y="3886200"/>
            <a:ext cx="1447800" cy="2819400"/>
            <a:chOff x="3156858" y="3886200"/>
            <a:chExt cx="1447800" cy="2819400"/>
          </a:xfrm>
        </p:grpSpPr>
        <p:sp>
          <p:nvSpPr>
            <p:cNvPr id="8" name="مستطيل 7"/>
            <p:cNvSpPr/>
            <p:nvPr/>
          </p:nvSpPr>
          <p:spPr>
            <a:xfrm>
              <a:off x="3733800" y="3886200"/>
              <a:ext cx="304800" cy="2133600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algn="ctr"/>
              <a:endParaRPr lang="ar-SA"/>
            </a:p>
          </p:txBody>
        </p:sp>
        <p:sp>
          <p:nvSpPr>
            <p:cNvPr id="9" name="شبه منحرف 8"/>
            <p:cNvSpPr/>
            <p:nvPr/>
          </p:nvSpPr>
          <p:spPr>
            <a:xfrm>
              <a:off x="3156858" y="6019800"/>
              <a:ext cx="1447800" cy="685800"/>
            </a:xfrm>
            <a:prstGeom prst="trapezoid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algn="ctr"/>
              <a:endParaRPr lang="ar-SA"/>
            </a:p>
          </p:txBody>
        </p:sp>
      </p:grpSp>
      <p:sp>
        <p:nvSpPr>
          <p:cNvPr id="17" name="مربع نص 16"/>
          <p:cNvSpPr txBox="1"/>
          <p:nvPr/>
        </p:nvSpPr>
        <p:spPr>
          <a:xfrm>
            <a:off x="2209800" y="3048000"/>
            <a:ext cx="381000" cy="523220"/>
          </a:xfrm>
          <a:prstGeom prst="rect">
            <a:avLst/>
          </a:prstGeom>
          <a:noFill/>
          <a:ln>
            <a:noFill/>
          </a:ln>
        </p:spPr>
        <p:txBody>
          <a:bodyPr wrap="square" rtlCol="1">
            <a:spAutoFit/>
          </a:bodyPr>
          <a:lstStyle/>
          <a:p>
            <a:r>
              <a:rPr lang="en-US" sz="2800" b="1" dirty="0" smtClean="0"/>
              <a:t>+</a:t>
            </a:r>
            <a:endParaRPr lang="ar-SA" sz="2800" b="1" dirty="0"/>
          </a:p>
        </p:txBody>
      </p:sp>
      <p:sp>
        <p:nvSpPr>
          <p:cNvPr id="18" name="مربع نص 17"/>
          <p:cNvSpPr txBox="1"/>
          <p:nvPr/>
        </p:nvSpPr>
        <p:spPr>
          <a:xfrm>
            <a:off x="2895600" y="3058180"/>
            <a:ext cx="381000" cy="523220"/>
          </a:xfrm>
          <a:prstGeom prst="rect">
            <a:avLst/>
          </a:prstGeom>
          <a:noFill/>
          <a:ln>
            <a:noFill/>
          </a:ln>
        </p:spPr>
        <p:txBody>
          <a:bodyPr wrap="square" rtlCol="1">
            <a:spAutoFit/>
          </a:bodyPr>
          <a:lstStyle/>
          <a:p>
            <a:r>
              <a:rPr lang="en-US" sz="2800" b="1" dirty="0" smtClean="0"/>
              <a:t>+</a:t>
            </a:r>
            <a:endParaRPr lang="ar-SA" sz="2800" b="1" dirty="0"/>
          </a:p>
        </p:txBody>
      </p:sp>
      <p:sp>
        <p:nvSpPr>
          <p:cNvPr id="19" name="مربع نص 18"/>
          <p:cNvSpPr txBox="1"/>
          <p:nvPr/>
        </p:nvSpPr>
        <p:spPr>
          <a:xfrm>
            <a:off x="3581400" y="3068360"/>
            <a:ext cx="381000" cy="523220"/>
          </a:xfrm>
          <a:prstGeom prst="rect">
            <a:avLst/>
          </a:prstGeom>
          <a:noFill/>
          <a:ln>
            <a:noFill/>
          </a:ln>
        </p:spPr>
        <p:txBody>
          <a:bodyPr wrap="square" rtlCol="1">
            <a:spAutoFit/>
          </a:bodyPr>
          <a:lstStyle/>
          <a:p>
            <a:r>
              <a:rPr lang="en-US" sz="2800" b="1" dirty="0" smtClean="0"/>
              <a:t>+</a:t>
            </a:r>
            <a:endParaRPr lang="ar-SA" sz="2800" b="1" dirty="0"/>
          </a:p>
        </p:txBody>
      </p:sp>
      <p:sp>
        <p:nvSpPr>
          <p:cNvPr id="20" name="مربع نص 19"/>
          <p:cNvSpPr txBox="1"/>
          <p:nvPr/>
        </p:nvSpPr>
        <p:spPr>
          <a:xfrm>
            <a:off x="4267200" y="3078540"/>
            <a:ext cx="381000" cy="523220"/>
          </a:xfrm>
          <a:prstGeom prst="rect">
            <a:avLst/>
          </a:prstGeom>
          <a:noFill/>
          <a:ln>
            <a:noFill/>
          </a:ln>
        </p:spPr>
        <p:txBody>
          <a:bodyPr wrap="square" rtlCol="1">
            <a:spAutoFit/>
          </a:bodyPr>
          <a:lstStyle/>
          <a:p>
            <a:r>
              <a:rPr lang="en-US" sz="2800" b="1" dirty="0" smtClean="0"/>
              <a:t>+</a:t>
            </a:r>
            <a:endParaRPr lang="ar-SA" sz="2800" b="1" dirty="0"/>
          </a:p>
        </p:txBody>
      </p:sp>
      <p:sp>
        <p:nvSpPr>
          <p:cNvPr id="21" name="مربع نص 20"/>
          <p:cNvSpPr txBox="1"/>
          <p:nvPr/>
        </p:nvSpPr>
        <p:spPr>
          <a:xfrm>
            <a:off x="4953000" y="3088720"/>
            <a:ext cx="381000" cy="523220"/>
          </a:xfrm>
          <a:prstGeom prst="rect">
            <a:avLst/>
          </a:prstGeom>
          <a:noFill/>
          <a:ln>
            <a:noFill/>
          </a:ln>
        </p:spPr>
        <p:txBody>
          <a:bodyPr wrap="square" rtlCol="1">
            <a:spAutoFit/>
          </a:bodyPr>
          <a:lstStyle/>
          <a:p>
            <a:r>
              <a:rPr lang="en-US" sz="2800" b="1" dirty="0" smtClean="0"/>
              <a:t>+</a:t>
            </a:r>
            <a:endParaRPr lang="ar-SA" sz="2800" b="1" dirty="0"/>
          </a:p>
        </p:txBody>
      </p:sp>
      <p:sp>
        <p:nvSpPr>
          <p:cNvPr id="22" name="مربع نص 21"/>
          <p:cNvSpPr txBox="1"/>
          <p:nvPr/>
        </p:nvSpPr>
        <p:spPr>
          <a:xfrm>
            <a:off x="5638800" y="3098900"/>
            <a:ext cx="381000" cy="523220"/>
          </a:xfrm>
          <a:prstGeom prst="rect">
            <a:avLst/>
          </a:prstGeom>
          <a:noFill/>
          <a:ln>
            <a:noFill/>
          </a:ln>
        </p:spPr>
        <p:txBody>
          <a:bodyPr wrap="square" rtlCol="1">
            <a:spAutoFit/>
          </a:bodyPr>
          <a:lstStyle/>
          <a:p>
            <a:r>
              <a:rPr lang="en-US" sz="2800" b="1" dirty="0" smtClean="0"/>
              <a:t>+</a:t>
            </a:r>
            <a:endParaRPr lang="ar-SA" sz="2800" b="1" dirty="0"/>
          </a:p>
        </p:txBody>
      </p:sp>
      <p:sp>
        <p:nvSpPr>
          <p:cNvPr id="23" name="مربع نص 22"/>
          <p:cNvSpPr txBox="1"/>
          <p:nvPr/>
        </p:nvSpPr>
        <p:spPr>
          <a:xfrm>
            <a:off x="6324600" y="3109080"/>
            <a:ext cx="381000" cy="523220"/>
          </a:xfrm>
          <a:prstGeom prst="rect">
            <a:avLst/>
          </a:prstGeom>
          <a:noFill/>
          <a:ln>
            <a:noFill/>
          </a:ln>
        </p:spPr>
        <p:txBody>
          <a:bodyPr wrap="square" rtlCol="1">
            <a:spAutoFit/>
          </a:bodyPr>
          <a:lstStyle/>
          <a:p>
            <a:r>
              <a:rPr lang="en-US" sz="2800" b="1" dirty="0" smtClean="0"/>
              <a:t>+</a:t>
            </a:r>
            <a:endParaRPr lang="ar-SA" sz="2800" b="1" dirty="0"/>
          </a:p>
        </p:txBody>
      </p:sp>
      <p:sp>
        <p:nvSpPr>
          <p:cNvPr id="24" name="مربع نص 23"/>
          <p:cNvSpPr txBox="1"/>
          <p:nvPr/>
        </p:nvSpPr>
        <p:spPr>
          <a:xfrm>
            <a:off x="2438400" y="3352800"/>
            <a:ext cx="381000" cy="523220"/>
          </a:xfrm>
          <a:prstGeom prst="rect">
            <a:avLst/>
          </a:prstGeom>
          <a:noFill/>
          <a:ln>
            <a:noFill/>
          </a:ln>
        </p:spPr>
        <p:txBody>
          <a:bodyPr wrap="square" rtlCol="1">
            <a:spAutoFit/>
          </a:bodyPr>
          <a:lstStyle/>
          <a:p>
            <a:r>
              <a:rPr lang="en-US" sz="2800" b="1" dirty="0" smtClean="0"/>
              <a:t>+</a:t>
            </a:r>
            <a:endParaRPr lang="ar-SA" sz="2800" b="1" dirty="0"/>
          </a:p>
        </p:txBody>
      </p:sp>
      <p:sp>
        <p:nvSpPr>
          <p:cNvPr id="25" name="مربع نص 24"/>
          <p:cNvSpPr txBox="1"/>
          <p:nvPr/>
        </p:nvSpPr>
        <p:spPr>
          <a:xfrm>
            <a:off x="3124200" y="3362980"/>
            <a:ext cx="381000" cy="523220"/>
          </a:xfrm>
          <a:prstGeom prst="rect">
            <a:avLst/>
          </a:prstGeom>
          <a:noFill/>
          <a:ln>
            <a:noFill/>
          </a:ln>
        </p:spPr>
        <p:txBody>
          <a:bodyPr wrap="square" rtlCol="1">
            <a:spAutoFit/>
          </a:bodyPr>
          <a:lstStyle/>
          <a:p>
            <a:r>
              <a:rPr lang="en-US" sz="2800" b="1" dirty="0" smtClean="0"/>
              <a:t>+</a:t>
            </a:r>
            <a:endParaRPr lang="ar-SA" sz="2800" b="1" dirty="0"/>
          </a:p>
        </p:txBody>
      </p:sp>
      <p:sp>
        <p:nvSpPr>
          <p:cNvPr id="26" name="مربع نص 25"/>
          <p:cNvSpPr txBox="1"/>
          <p:nvPr/>
        </p:nvSpPr>
        <p:spPr>
          <a:xfrm>
            <a:off x="3810000" y="3373160"/>
            <a:ext cx="381000" cy="523220"/>
          </a:xfrm>
          <a:prstGeom prst="rect">
            <a:avLst/>
          </a:prstGeom>
          <a:noFill/>
          <a:ln>
            <a:noFill/>
          </a:ln>
        </p:spPr>
        <p:txBody>
          <a:bodyPr wrap="square" rtlCol="1">
            <a:spAutoFit/>
          </a:bodyPr>
          <a:lstStyle/>
          <a:p>
            <a:r>
              <a:rPr lang="en-US" sz="2800" b="1" dirty="0" smtClean="0"/>
              <a:t>+</a:t>
            </a:r>
            <a:endParaRPr lang="ar-SA" sz="2800" b="1" dirty="0"/>
          </a:p>
        </p:txBody>
      </p:sp>
      <p:sp>
        <p:nvSpPr>
          <p:cNvPr id="27" name="مربع نص 26"/>
          <p:cNvSpPr txBox="1"/>
          <p:nvPr/>
        </p:nvSpPr>
        <p:spPr>
          <a:xfrm>
            <a:off x="4495800" y="3383340"/>
            <a:ext cx="381000" cy="523220"/>
          </a:xfrm>
          <a:prstGeom prst="rect">
            <a:avLst/>
          </a:prstGeom>
          <a:noFill/>
          <a:ln>
            <a:noFill/>
          </a:ln>
        </p:spPr>
        <p:txBody>
          <a:bodyPr wrap="square" rtlCol="1">
            <a:spAutoFit/>
          </a:bodyPr>
          <a:lstStyle/>
          <a:p>
            <a:r>
              <a:rPr lang="en-US" sz="2800" b="1" dirty="0" smtClean="0"/>
              <a:t>+</a:t>
            </a:r>
            <a:endParaRPr lang="ar-SA" sz="2800" b="1" dirty="0"/>
          </a:p>
        </p:txBody>
      </p:sp>
      <p:sp>
        <p:nvSpPr>
          <p:cNvPr id="28" name="مربع نص 27"/>
          <p:cNvSpPr txBox="1"/>
          <p:nvPr/>
        </p:nvSpPr>
        <p:spPr>
          <a:xfrm>
            <a:off x="5181600" y="3393520"/>
            <a:ext cx="381000" cy="523220"/>
          </a:xfrm>
          <a:prstGeom prst="rect">
            <a:avLst/>
          </a:prstGeom>
          <a:noFill/>
          <a:ln>
            <a:noFill/>
          </a:ln>
        </p:spPr>
        <p:txBody>
          <a:bodyPr wrap="square" rtlCol="1">
            <a:spAutoFit/>
          </a:bodyPr>
          <a:lstStyle/>
          <a:p>
            <a:r>
              <a:rPr lang="en-US" sz="2800" b="1" dirty="0" smtClean="0"/>
              <a:t>+</a:t>
            </a:r>
            <a:endParaRPr lang="ar-SA" sz="2800" b="1" dirty="0"/>
          </a:p>
        </p:txBody>
      </p:sp>
      <p:sp>
        <p:nvSpPr>
          <p:cNvPr id="29" name="مربع نص 28"/>
          <p:cNvSpPr txBox="1"/>
          <p:nvPr/>
        </p:nvSpPr>
        <p:spPr>
          <a:xfrm>
            <a:off x="5867400" y="3403700"/>
            <a:ext cx="381000" cy="523220"/>
          </a:xfrm>
          <a:prstGeom prst="rect">
            <a:avLst/>
          </a:prstGeom>
          <a:noFill/>
          <a:ln>
            <a:noFill/>
          </a:ln>
        </p:spPr>
        <p:txBody>
          <a:bodyPr wrap="square" rtlCol="1">
            <a:spAutoFit/>
          </a:bodyPr>
          <a:lstStyle/>
          <a:p>
            <a:r>
              <a:rPr lang="en-US" sz="2800" b="1" dirty="0" smtClean="0"/>
              <a:t>+</a:t>
            </a:r>
            <a:endParaRPr lang="ar-SA" sz="2800" b="1" dirty="0"/>
          </a:p>
        </p:txBody>
      </p:sp>
      <p:sp>
        <p:nvSpPr>
          <p:cNvPr id="30" name="مربع نص 29"/>
          <p:cNvSpPr txBox="1"/>
          <p:nvPr/>
        </p:nvSpPr>
        <p:spPr>
          <a:xfrm>
            <a:off x="1295400" y="2858869"/>
            <a:ext cx="457200" cy="646331"/>
          </a:xfrm>
          <a:prstGeom prst="rect">
            <a:avLst/>
          </a:prstGeom>
          <a:noFill/>
          <a:ln>
            <a:noFill/>
          </a:ln>
        </p:spPr>
        <p:txBody>
          <a:bodyPr wrap="square" rtlCol="1">
            <a:spAutoFit/>
          </a:bodyPr>
          <a:lstStyle/>
          <a:p>
            <a:pPr algn="ctr"/>
            <a:r>
              <a:rPr lang="en-US" sz="3600" b="1" dirty="0" smtClean="0">
                <a:solidFill>
                  <a:srgbClr val="FF0000"/>
                </a:solidFill>
              </a:rPr>
              <a:t>-</a:t>
            </a:r>
            <a:endParaRPr lang="ar-SA" sz="3600" b="1" dirty="0">
              <a:solidFill>
                <a:srgbClr val="FF0000"/>
              </a:solidFill>
            </a:endParaRPr>
          </a:p>
        </p:txBody>
      </p:sp>
      <p:sp>
        <p:nvSpPr>
          <p:cNvPr id="31" name="مربع نص 30"/>
          <p:cNvSpPr txBox="1"/>
          <p:nvPr/>
        </p:nvSpPr>
        <p:spPr>
          <a:xfrm>
            <a:off x="1676400" y="3087469"/>
            <a:ext cx="457200" cy="646331"/>
          </a:xfrm>
          <a:prstGeom prst="rect">
            <a:avLst/>
          </a:prstGeom>
          <a:noFill/>
          <a:ln>
            <a:noFill/>
          </a:ln>
        </p:spPr>
        <p:txBody>
          <a:bodyPr wrap="square" rtlCol="1">
            <a:spAutoFit/>
          </a:bodyPr>
          <a:lstStyle/>
          <a:p>
            <a:pPr algn="ctr"/>
            <a:r>
              <a:rPr lang="en-US" sz="3600" b="1" dirty="0" smtClean="0">
                <a:solidFill>
                  <a:srgbClr val="FF0000"/>
                </a:solidFill>
              </a:rPr>
              <a:t>-</a:t>
            </a:r>
            <a:endParaRPr lang="ar-SA" sz="3600" b="1" dirty="0">
              <a:solidFill>
                <a:srgbClr val="FF0000"/>
              </a:solidFill>
            </a:endParaRPr>
          </a:p>
        </p:txBody>
      </p:sp>
      <p:sp>
        <p:nvSpPr>
          <p:cNvPr id="32" name="مربع نص 31"/>
          <p:cNvSpPr txBox="1"/>
          <p:nvPr/>
        </p:nvSpPr>
        <p:spPr>
          <a:xfrm>
            <a:off x="990600" y="3124200"/>
            <a:ext cx="457200" cy="646331"/>
          </a:xfrm>
          <a:prstGeom prst="rect">
            <a:avLst/>
          </a:prstGeom>
          <a:noFill/>
          <a:ln>
            <a:noFill/>
          </a:ln>
        </p:spPr>
        <p:txBody>
          <a:bodyPr wrap="square" rtlCol="1">
            <a:spAutoFit/>
          </a:bodyPr>
          <a:lstStyle/>
          <a:p>
            <a:pPr algn="ctr"/>
            <a:r>
              <a:rPr lang="en-US" sz="3600" b="1" dirty="0" smtClean="0">
                <a:solidFill>
                  <a:srgbClr val="FF0000"/>
                </a:solidFill>
              </a:rPr>
              <a:t>-</a:t>
            </a:r>
            <a:endParaRPr lang="ar-SA" sz="3600" b="1" dirty="0">
              <a:solidFill>
                <a:srgbClr val="FF0000"/>
              </a:solidFill>
            </a:endParaRPr>
          </a:p>
        </p:txBody>
      </p:sp>
      <p:sp>
        <p:nvSpPr>
          <p:cNvPr id="33" name="مربع نص 32"/>
          <p:cNvSpPr txBox="1"/>
          <p:nvPr/>
        </p:nvSpPr>
        <p:spPr>
          <a:xfrm>
            <a:off x="1295400" y="3352800"/>
            <a:ext cx="457200" cy="646331"/>
          </a:xfrm>
          <a:prstGeom prst="rect">
            <a:avLst/>
          </a:prstGeom>
          <a:noFill/>
          <a:ln>
            <a:noFill/>
          </a:ln>
        </p:spPr>
        <p:txBody>
          <a:bodyPr wrap="square" rtlCol="1">
            <a:spAutoFit/>
          </a:bodyPr>
          <a:lstStyle/>
          <a:p>
            <a:pPr algn="ctr"/>
            <a:r>
              <a:rPr lang="en-US" sz="3600" b="1" dirty="0" smtClean="0">
                <a:solidFill>
                  <a:srgbClr val="FF0000"/>
                </a:solidFill>
              </a:rPr>
              <a:t>-</a:t>
            </a:r>
            <a:endParaRPr lang="ar-SA" sz="3600" b="1" dirty="0">
              <a:solidFill>
                <a:srgbClr val="FF0000"/>
              </a:solidFill>
            </a:endParaRPr>
          </a:p>
        </p:txBody>
      </p:sp>
      <p:sp>
        <p:nvSpPr>
          <p:cNvPr id="34" name="مربع نص 33"/>
          <p:cNvSpPr txBox="1"/>
          <p:nvPr/>
        </p:nvSpPr>
        <p:spPr>
          <a:xfrm>
            <a:off x="2514600" y="2935069"/>
            <a:ext cx="457200" cy="646331"/>
          </a:xfrm>
          <a:prstGeom prst="rect">
            <a:avLst/>
          </a:prstGeom>
          <a:noFill/>
          <a:ln>
            <a:noFill/>
          </a:ln>
        </p:spPr>
        <p:txBody>
          <a:bodyPr wrap="square" rtlCol="1">
            <a:spAutoFit/>
          </a:bodyPr>
          <a:lstStyle/>
          <a:p>
            <a:pPr algn="ctr"/>
            <a:r>
              <a:rPr lang="en-US" sz="3600" b="1" dirty="0" smtClean="0">
                <a:solidFill>
                  <a:srgbClr val="FF0000"/>
                </a:solidFill>
              </a:rPr>
              <a:t>-</a:t>
            </a:r>
            <a:endParaRPr lang="ar-SA" sz="3600" b="1" dirty="0">
              <a:solidFill>
                <a:srgbClr val="FF0000"/>
              </a:solidFill>
            </a:endParaRPr>
          </a:p>
        </p:txBody>
      </p:sp>
      <p:sp>
        <p:nvSpPr>
          <p:cNvPr id="35" name="مربع نص 34"/>
          <p:cNvSpPr txBox="1"/>
          <p:nvPr/>
        </p:nvSpPr>
        <p:spPr>
          <a:xfrm>
            <a:off x="3200400" y="3011269"/>
            <a:ext cx="457200" cy="646331"/>
          </a:xfrm>
          <a:prstGeom prst="rect">
            <a:avLst/>
          </a:prstGeom>
          <a:noFill/>
          <a:ln>
            <a:noFill/>
          </a:ln>
        </p:spPr>
        <p:txBody>
          <a:bodyPr wrap="square" rtlCol="1">
            <a:spAutoFit/>
          </a:bodyPr>
          <a:lstStyle/>
          <a:p>
            <a:pPr algn="ctr"/>
            <a:r>
              <a:rPr lang="en-US" sz="3600" b="1" dirty="0" smtClean="0">
                <a:solidFill>
                  <a:srgbClr val="FF0000"/>
                </a:solidFill>
              </a:rPr>
              <a:t>-</a:t>
            </a:r>
            <a:endParaRPr lang="ar-SA" sz="3600" b="1" dirty="0">
              <a:solidFill>
                <a:srgbClr val="FF0000"/>
              </a:solidFill>
            </a:endParaRPr>
          </a:p>
        </p:txBody>
      </p:sp>
      <p:sp>
        <p:nvSpPr>
          <p:cNvPr id="36" name="مربع نص 35"/>
          <p:cNvSpPr txBox="1"/>
          <p:nvPr/>
        </p:nvSpPr>
        <p:spPr>
          <a:xfrm>
            <a:off x="3886200" y="2971800"/>
            <a:ext cx="457200" cy="646331"/>
          </a:xfrm>
          <a:prstGeom prst="rect">
            <a:avLst/>
          </a:prstGeom>
          <a:noFill/>
          <a:ln>
            <a:noFill/>
          </a:ln>
        </p:spPr>
        <p:txBody>
          <a:bodyPr wrap="square" rtlCol="1">
            <a:spAutoFit/>
          </a:bodyPr>
          <a:lstStyle/>
          <a:p>
            <a:pPr algn="ctr"/>
            <a:r>
              <a:rPr lang="en-US" sz="3600" b="1" dirty="0" smtClean="0">
                <a:solidFill>
                  <a:srgbClr val="FF0000"/>
                </a:solidFill>
              </a:rPr>
              <a:t>-</a:t>
            </a:r>
            <a:endParaRPr lang="ar-SA" sz="3600" b="1" dirty="0">
              <a:solidFill>
                <a:srgbClr val="FF0000"/>
              </a:solidFill>
            </a:endParaRPr>
          </a:p>
        </p:txBody>
      </p:sp>
      <p:sp>
        <p:nvSpPr>
          <p:cNvPr id="37" name="مربع نص 36"/>
          <p:cNvSpPr txBox="1"/>
          <p:nvPr/>
        </p:nvSpPr>
        <p:spPr>
          <a:xfrm>
            <a:off x="4572000" y="2971800"/>
            <a:ext cx="457200" cy="646331"/>
          </a:xfrm>
          <a:prstGeom prst="rect">
            <a:avLst/>
          </a:prstGeom>
          <a:noFill/>
          <a:ln>
            <a:noFill/>
          </a:ln>
        </p:spPr>
        <p:txBody>
          <a:bodyPr wrap="square" rtlCol="1">
            <a:spAutoFit/>
          </a:bodyPr>
          <a:lstStyle/>
          <a:p>
            <a:pPr algn="ctr"/>
            <a:r>
              <a:rPr lang="en-US" sz="3600" b="1" dirty="0" smtClean="0">
                <a:solidFill>
                  <a:srgbClr val="FF0000"/>
                </a:solidFill>
              </a:rPr>
              <a:t>-</a:t>
            </a:r>
            <a:endParaRPr lang="ar-SA" sz="3600" b="1" dirty="0">
              <a:solidFill>
                <a:srgbClr val="FF0000"/>
              </a:solidFill>
            </a:endParaRPr>
          </a:p>
        </p:txBody>
      </p:sp>
      <p:sp>
        <p:nvSpPr>
          <p:cNvPr id="38" name="مربع نص 37"/>
          <p:cNvSpPr txBox="1"/>
          <p:nvPr/>
        </p:nvSpPr>
        <p:spPr>
          <a:xfrm>
            <a:off x="5257800" y="3011269"/>
            <a:ext cx="457200" cy="646331"/>
          </a:xfrm>
          <a:prstGeom prst="rect">
            <a:avLst/>
          </a:prstGeom>
          <a:noFill/>
          <a:ln>
            <a:noFill/>
          </a:ln>
        </p:spPr>
        <p:txBody>
          <a:bodyPr wrap="square" rtlCol="1">
            <a:spAutoFit/>
          </a:bodyPr>
          <a:lstStyle/>
          <a:p>
            <a:pPr algn="ctr"/>
            <a:r>
              <a:rPr lang="en-US" sz="3600" b="1" dirty="0" smtClean="0">
                <a:solidFill>
                  <a:srgbClr val="FF0000"/>
                </a:solidFill>
              </a:rPr>
              <a:t>-</a:t>
            </a:r>
            <a:endParaRPr lang="ar-SA" sz="3600" b="1" dirty="0">
              <a:solidFill>
                <a:srgbClr val="FF0000"/>
              </a:solidFill>
            </a:endParaRPr>
          </a:p>
        </p:txBody>
      </p:sp>
      <p:sp>
        <p:nvSpPr>
          <p:cNvPr id="39" name="مربع نص 38"/>
          <p:cNvSpPr txBox="1"/>
          <p:nvPr/>
        </p:nvSpPr>
        <p:spPr>
          <a:xfrm>
            <a:off x="5943600" y="3011269"/>
            <a:ext cx="457200" cy="646331"/>
          </a:xfrm>
          <a:prstGeom prst="rect">
            <a:avLst/>
          </a:prstGeom>
          <a:noFill/>
          <a:ln>
            <a:noFill/>
          </a:ln>
        </p:spPr>
        <p:txBody>
          <a:bodyPr wrap="square" rtlCol="1">
            <a:spAutoFit/>
          </a:bodyPr>
          <a:lstStyle/>
          <a:p>
            <a:pPr algn="ctr"/>
            <a:r>
              <a:rPr lang="en-US" sz="3600" b="1" dirty="0" smtClean="0">
                <a:solidFill>
                  <a:srgbClr val="FF0000"/>
                </a:solidFill>
              </a:rPr>
              <a:t>-</a:t>
            </a:r>
            <a:endParaRPr lang="ar-SA" sz="3600" b="1" dirty="0">
              <a:solidFill>
                <a:srgbClr val="FF0000"/>
              </a:solidFill>
            </a:endParaRPr>
          </a:p>
        </p:txBody>
      </p:sp>
      <p:sp>
        <p:nvSpPr>
          <p:cNvPr id="40" name="مربع نص 39"/>
          <p:cNvSpPr txBox="1"/>
          <p:nvPr/>
        </p:nvSpPr>
        <p:spPr>
          <a:xfrm>
            <a:off x="2743200" y="3276600"/>
            <a:ext cx="457200" cy="646331"/>
          </a:xfrm>
          <a:prstGeom prst="rect">
            <a:avLst/>
          </a:prstGeom>
          <a:noFill/>
          <a:ln>
            <a:noFill/>
          </a:ln>
        </p:spPr>
        <p:txBody>
          <a:bodyPr wrap="square" rtlCol="1">
            <a:spAutoFit/>
          </a:bodyPr>
          <a:lstStyle/>
          <a:p>
            <a:pPr algn="ctr"/>
            <a:r>
              <a:rPr lang="en-US" sz="3600" b="1" dirty="0" smtClean="0">
                <a:solidFill>
                  <a:srgbClr val="FF0000"/>
                </a:solidFill>
              </a:rPr>
              <a:t>-</a:t>
            </a:r>
            <a:endParaRPr lang="ar-SA" sz="3600" b="1" dirty="0">
              <a:solidFill>
                <a:srgbClr val="FF0000"/>
              </a:solidFill>
            </a:endParaRPr>
          </a:p>
        </p:txBody>
      </p:sp>
      <p:sp>
        <p:nvSpPr>
          <p:cNvPr id="41" name="مربع نص 40"/>
          <p:cNvSpPr txBox="1"/>
          <p:nvPr/>
        </p:nvSpPr>
        <p:spPr>
          <a:xfrm>
            <a:off x="3429000" y="3276600"/>
            <a:ext cx="457200" cy="646331"/>
          </a:xfrm>
          <a:prstGeom prst="rect">
            <a:avLst/>
          </a:prstGeom>
          <a:noFill/>
          <a:ln>
            <a:noFill/>
          </a:ln>
        </p:spPr>
        <p:txBody>
          <a:bodyPr wrap="square" rtlCol="1">
            <a:spAutoFit/>
          </a:bodyPr>
          <a:lstStyle/>
          <a:p>
            <a:pPr algn="ctr"/>
            <a:r>
              <a:rPr lang="en-US" sz="3600" b="1" dirty="0" smtClean="0">
                <a:solidFill>
                  <a:srgbClr val="FF0000"/>
                </a:solidFill>
              </a:rPr>
              <a:t>-</a:t>
            </a:r>
            <a:endParaRPr lang="ar-SA" sz="3600" b="1" dirty="0">
              <a:solidFill>
                <a:srgbClr val="FF0000"/>
              </a:solidFill>
            </a:endParaRPr>
          </a:p>
        </p:txBody>
      </p:sp>
      <p:sp>
        <p:nvSpPr>
          <p:cNvPr id="42" name="مربع نص 41"/>
          <p:cNvSpPr txBox="1"/>
          <p:nvPr/>
        </p:nvSpPr>
        <p:spPr>
          <a:xfrm>
            <a:off x="4114800" y="3276600"/>
            <a:ext cx="457200" cy="646331"/>
          </a:xfrm>
          <a:prstGeom prst="rect">
            <a:avLst/>
          </a:prstGeom>
          <a:noFill/>
          <a:ln>
            <a:noFill/>
          </a:ln>
        </p:spPr>
        <p:txBody>
          <a:bodyPr wrap="square" rtlCol="1">
            <a:spAutoFit/>
          </a:bodyPr>
          <a:lstStyle/>
          <a:p>
            <a:pPr algn="ctr"/>
            <a:r>
              <a:rPr lang="en-US" sz="3600" b="1" dirty="0" smtClean="0">
                <a:solidFill>
                  <a:srgbClr val="FF0000"/>
                </a:solidFill>
              </a:rPr>
              <a:t>-</a:t>
            </a:r>
            <a:endParaRPr lang="ar-SA" sz="3600" b="1" dirty="0">
              <a:solidFill>
                <a:srgbClr val="FF0000"/>
              </a:solidFill>
            </a:endParaRPr>
          </a:p>
        </p:txBody>
      </p:sp>
      <p:sp>
        <p:nvSpPr>
          <p:cNvPr id="43" name="مربع نص 42"/>
          <p:cNvSpPr txBox="1"/>
          <p:nvPr/>
        </p:nvSpPr>
        <p:spPr>
          <a:xfrm>
            <a:off x="4800600" y="3276600"/>
            <a:ext cx="457200" cy="646331"/>
          </a:xfrm>
          <a:prstGeom prst="rect">
            <a:avLst/>
          </a:prstGeom>
          <a:noFill/>
          <a:ln>
            <a:noFill/>
          </a:ln>
        </p:spPr>
        <p:txBody>
          <a:bodyPr wrap="square" rtlCol="1">
            <a:spAutoFit/>
          </a:bodyPr>
          <a:lstStyle/>
          <a:p>
            <a:pPr algn="ctr"/>
            <a:r>
              <a:rPr lang="en-US" sz="3600" b="1" dirty="0" smtClean="0">
                <a:solidFill>
                  <a:srgbClr val="FF0000"/>
                </a:solidFill>
              </a:rPr>
              <a:t>-</a:t>
            </a:r>
            <a:endParaRPr lang="ar-SA" sz="3600" b="1" dirty="0">
              <a:solidFill>
                <a:srgbClr val="FF0000"/>
              </a:solidFill>
            </a:endParaRPr>
          </a:p>
        </p:txBody>
      </p:sp>
      <p:sp>
        <p:nvSpPr>
          <p:cNvPr id="44" name="مربع نص 43"/>
          <p:cNvSpPr txBox="1"/>
          <p:nvPr/>
        </p:nvSpPr>
        <p:spPr>
          <a:xfrm>
            <a:off x="5486400" y="3276600"/>
            <a:ext cx="457200" cy="646331"/>
          </a:xfrm>
          <a:prstGeom prst="rect">
            <a:avLst/>
          </a:prstGeom>
          <a:noFill/>
          <a:ln>
            <a:noFill/>
          </a:ln>
        </p:spPr>
        <p:txBody>
          <a:bodyPr wrap="square" rtlCol="1">
            <a:spAutoFit/>
          </a:bodyPr>
          <a:lstStyle/>
          <a:p>
            <a:pPr algn="ctr"/>
            <a:r>
              <a:rPr lang="en-US" sz="3600" b="1" dirty="0" smtClean="0">
                <a:solidFill>
                  <a:srgbClr val="FF0000"/>
                </a:solidFill>
              </a:rPr>
              <a:t>-</a:t>
            </a:r>
            <a:endParaRPr lang="ar-SA" sz="3600" b="1" dirty="0">
              <a:solidFill>
                <a:srgbClr val="FF0000"/>
              </a:solidFill>
            </a:endParaRPr>
          </a:p>
        </p:txBody>
      </p:sp>
      <p:sp>
        <p:nvSpPr>
          <p:cNvPr id="45" name="مربع نص 44"/>
          <p:cNvSpPr txBox="1"/>
          <p:nvPr/>
        </p:nvSpPr>
        <p:spPr>
          <a:xfrm>
            <a:off x="6324600" y="3316069"/>
            <a:ext cx="457200" cy="646331"/>
          </a:xfrm>
          <a:prstGeom prst="rect">
            <a:avLst/>
          </a:prstGeom>
          <a:noFill/>
          <a:ln>
            <a:noFill/>
          </a:ln>
        </p:spPr>
        <p:txBody>
          <a:bodyPr wrap="square" rtlCol="1">
            <a:spAutoFit/>
          </a:bodyPr>
          <a:lstStyle/>
          <a:p>
            <a:pPr algn="ctr"/>
            <a:r>
              <a:rPr lang="en-US" sz="3600" b="1" dirty="0" smtClean="0">
                <a:solidFill>
                  <a:srgbClr val="FF0000"/>
                </a:solidFill>
              </a:rPr>
              <a:t>-</a:t>
            </a:r>
            <a:endParaRPr lang="ar-SA" sz="3600" b="1" dirty="0">
              <a:solidFill>
                <a:srgbClr val="FF0000"/>
              </a:solidFill>
            </a:endParaRPr>
          </a:p>
        </p:txBody>
      </p:sp>
      <p:sp>
        <p:nvSpPr>
          <p:cNvPr id="46" name="مربع نص 45"/>
          <p:cNvSpPr txBox="1"/>
          <p:nvPr/>
        </p:nvSpPr>
        <p:spPr>
          <a:xfrm>
            <a:off x="1752600" y="609600"/>
            <a:ext cx="5943600" cy="707886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ctr"/>
            <a:r>
              <a:rPr lang="ar-DZ" sz="2000" dirty="0" smtClean="0">
                <a:cs typeface="(AH) Manal Bold" pitchFamily="2" charset="-78"/>
              </a:rPr>
              <a:t>في الحالة العادية تكون الكرية </a:t>
            </a:r>
            <a:r>
              <a:rPr lang="en-US" sz="2000" dirty="0" smtClean="0">
                <a:cs typeface="(AH) Manal Bold" pitchFamily="2" charset="-78"/>
              </a:rPr>
              <a:t>B</a:t>
            </a:r>
            <a:r>
              <a:rPr lang="ar-DZ" sz="2000" dirty="0" smtClean="0">
                <a:cs typeface="(AH) Manal Bold" pitchFamily="2" charset="-78"/>
              </a:rPr>
              <a:t> والقضيب المعدني متعادلان كهربائيا.</a:t>
            </a:r>
          </a:p>
          <a:p>
            <a:pPr algn="ctr"/>
            <a:r>
              <a:rPr lang="ar-DZ" sz="2000" dirty="0" smtClean="0">
                <a:cs typeface="(AH) Manal Bold" pitchFamily="2" charset="-78"/>
              </a:rPr>
              <a:t>أي عدد الشحنات السالبة يساوي عدد الشحنات الموجبة</a:t>
            </a:r>
            <a:endParaRPr lang="ar-SA" sz="2000" dirty="0">
              <a:cs typeface="(AH) Manal Bold" pitchFamily="2" charset="-78"/>
            </a:endParaRPr>
          </a:p>
        </p:txBody>
      </p:sp>
      <p:grpSp>
        <p:nvGrpSpPr>
          <p:cNvPr id="65" name="مجموعة 64"/>
          <p:cNvGrpSpPr/>
          <p:nvPr/>
        </p:nvGrpSpPr>
        <p:grpSpPr>
          <a:xfrm>
            <a:off x="914400" y="0"/>
            <a:ext cx="1295400" cy="4761131"/>
            <a:chOff x="914400" y="0"/>
            <a:chExt cx="1295400" cy="4761131"/>
          </a:xfrm>
        </p:grpSpPr>
        <p:grpSp>
          <p:nvGrpSpPr>
            <p:cNvPr id="47" name="مجموعة 46"/>
            <p:cNvGrpSpPr/>
            <p:nvPr/>
          </p:nvGrpSpPr>
          <p:grpSpPr>
            <a:xfrm>
              <a:off x="914400" y="0"/>
              <a:ext cx="1295400" cy="4114800"/>
              <a:chOff x="914400" y="0"/>
              <a:chExt cx="1295400" cy="4114800"/>
            </a:xfrm>
          </p:grpSpPr>
          <p:sp>
            <p:nvSpPr>
              <p:cNvPr id="4" name="شكل بيضاوي 3"/>
              <p:cNvSpPr/>
              <p:nvPr/>
            </p:nvSpPr>
            <p:spPr>
              <a:xfrm>
                <a:off x="914400" y="2819400"/>
                <a:ext cx="1295400" cy="1295400"/>
              </a:xfrm>
              <a:prstGeom prst="ellipse">
                <a:avLst/>
              </a:prstGeom>
              <a:no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1" anchor="ctr"/>
              <a:lstStyle/>
              <a:p>
                <a:pPr algn="ctr"/>
                <a:endParaRPr lang="ar-SA"/>
              </a:p>
            </p:txBody>
          </p:sp>
          <p:cxnSp>
            <p:nvCxnSpPr>
              <p:cNvPr id="11" name="رابط مستقيم 10"/>
              <p:cNvCxnSpPr/>
              <p:nvPr/>
            </p:nvCxnSpPr>
            <p:spPr>
              <a:xfrm rot="5400000" flipH="1" flipV="1">
                <a:off x="133350" y="1390650"/>
                <a:ext cx="2819400" cy="3810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3" name="مربع نص 12"/>
              <p:cNvSpPr txBox="1"/>
              <p:nvPr/>
            </p:nvSpPr>
            <p:spPr>
              <a:xfrm>
                <a:off x="914400" y="2905780"/>
                <a:ext cx="381000" cy="5232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1">
                <a:spAutoFit/>
              </a:bodyPr>
              <a:lstStyle/>
              <a:p>
                <a:r>
                  <a:rPr lang="en-US" sz="2800" b="1" dirty="0" smtClean="0"/>
                  <a:t>+</a:t>
                </a:r>
                <a:endParaRPr lang="ar-SA" sz="2800" b="1" dirty="0"/>
              </a:p>
            </p:txBody>
          </p:sp>
          <p:sp>
            <p:nvSpPr>
              <p:cNvPr id="14" name="مربع نص 13"/>
              <p:cNvSpPr txBox="1"/>
              <p:nvPr/>
            </p:nvSpPr>
            <p:spPr>
              <a:xfrm>
                <a:off x="1676400" y="2895600"/>
                <a:ext cx="381000" cy="5232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1">
                <a:spAutoFit/>
              </a:bodyPr>
              <a:lstStyle/>
              <a:p>
                <a:r>
                  <a:rPr lang="en-US" sz="2800" b="1" dirty="0" smtClean="0"/>
                  <a:t>+</a:t>
                </a:r>
                <a:endParaRPr lang="ar-SA" sz="2800" b="1" dirty="0"/>
              </a:p>
            </p:txBody>
          </p:sp>
          <p:sp>
            <p:nvSpPr>
              <p:cNvPr id="15" name="مربع نص 14"/>
              <p:cNvSpPr txBox="1"/>
              <p:nvPr/>
            </p:nvSpPr>
            <p:spPr>
              <a:xfrm>
                <a:off x="1676400" y="3439180"/>
                <a:ext cx="381000" cy="5232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1">
                <a:spAutoFit/>
              </a:bodyPr>
              <a:lstStyle/>
              <a:p>
                <a:r>
                  <a:rPr lang="en-US" sz="2800" b="1" dirty="0" smtClean="0"/>
                  <a:t>+</a:t>
                </a:r>
                <a:endParaRPr lang="ar-SA" sz="2800" b="1" dirty="0"/>
              </a:p>
            </p:txBody>
          </p:sp>
          <p:sp>
            <p:nvSpPr>
              <p:cNvPr id="16" name="مربع نص 15"/>
              <p:cNvSpPr txBox="1"/>
              <p:nvPr/>
            </p:nvSpPr>
            <p:spPr>
              <a:xfrm>
                <a:off x="990600" y="3515380"/>
                <a:ext cx="381000" cy="5232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1">
                <a:spAutoFit/>
              </a:bodyPr>
              <a:lstStyle/>
              <a:p>
                <a:r>
                  <a:rPr lang="en-US" sz="2800" b="1" dirty="0" smtClean="0"/>
                  <a:t>+</a:t>
                </a:r>
                <a:endParaRPr lang="ar-SA" sz="2800" b="1" dirty="0"/>
              </a:p>
            </p:txBody>
          </p:sp>
        </p:grpSp>
        <p:sp>
          <p:nvSpPr>
            <p:cNvPr id="58" name="مربع نص 57"/>
            <p:cNvSpPr txBox="1"/>
            <p:nvPr/>
          </p:nvSpPr>
          <p:spPr>
            <a:xfrm>
              <a:off x="1219200" y="4114800"/>
              <a:ext cx="609600" cy="646331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1">
              <a:spAutoFit/>
            </a:bodyPr>
            <a:lstStyle/>
            <a:p>
              <a:pPr algn="ctr"/>
              <a:r>
                <a:rPr lang="en-US" sz="3600" dirty="0" smtClean="0"/>
                <a:t>B</a:t>
              </a:r>
              <a:endParaRPr lang="ar-SA" sz="3600" dirty="0"/>
            </a:p>
          </p:txBody>
        </p:sp>
      </p:grpSp>
      <p:sp>
        <p:nvSpPr>
          <p:cNvPr id="59" name="مربع نص 58"/>
          <p:cNvSpPr txBox="1"/>
          <p:nvPr/>
        </p:nvSpPr>
        <p:spPr>
          <a:xfrm>
            <a:off x="2057400" y="3849469"/>
            <a:ext cx="609600" cy="646331"/>
          </a:xfrm>
          <a:prstGeom prst="rect">
            <a:avLst/>
          </a:prstGeom>
          <a:noFill/>
          <a:ln>
            <a:noFill/>
          </a:ln>
        </p:spPr>
        <p:txBody>
          <a:bodyPr wrap="square" rtlCol="1">
            <a:spAutoFit/>
          </a:bodyPr>
          <a:lstStyle/>
          <a:p>
            <a:pPr algn="ctr"/>
            <a:r>
              <a:rPr lang="en-US" sz="3600" dirty="0" smtClean="0"/>
              <a:t>C</a:t>
            </a:r>
            <a:endParaRPr lang="ar-SA" sz="3600" dirty="0"/>
          </a:p>
        </p:txBody>
      </p:sp>
      <p:sp>
        <p:nvSpPr>
          <p:cNvPr id="60" name="مربع نص 59"/>
          <p:cNvSpPr txBox="1"/>
          <p:nvPr/>
        </p:nvSpPr>
        <p:spPr>
          <a:xfrm>
            <a:off x="6400800" y="3810000"/>
            <a:ext cx="609600" cy="646331"/>
          </a:xfrm>
          <a:prstGeom prst="rect">
            <a:avLst/>
          </a:prstGeom>
          <a:noFill/>
          <a:ln>
            <a:noFill/>
          </a:ln>
        </p:spPr>
        <p:txBody>
          <a:bodyPr wrap="square" rtlCol="1">
            <a:spAutoFit/>
          </a:bodyPr>
          <a:lstStyle/>
          <a:p>
            <a:pPr algn="ctr"/>
            <a:r>
              <a:rPr lang="en-US" sz="3600" dirty="0" smtClean="0"/>
              <a:t>D</a:t>
            </a:r>
            <a:endParaRPr lang="ar-SA" sz="3600" dirty="0"/>
          </a:p>
        </p:txBody>
      </p:sp>
      <p:grpSp>
        <p:nvGrpSpPr>
          <p:cNvPr id="62" name="مجموعة 61"/>
          <p:cNvGrpSpPr/>
          <p:nvPr/>
        </p:nvGrpSpPr>
        <p:grpSpPr>
          <a:xfrm>
            <a:off x="8763000" y="-152400"/>
            <a:ext cx="4901104" cy="1056620"/>
            <a:chOff x="8755636" y="-941080"/>
            <a:chExt cx="4901104" cy="1056620"/>
          </a:xfrm>
        </p:grpSpPr>
        <p:grpSp>
          <p:nvGrpSpPr>
            <p:cNvPr id="57" name="مجموعة 56"/>
            <p:cNvGrpSpPr/>
            <p:nvPr/>
          </p:nvGrpSpPr>
          <p:grpSpPr>
            <a:xfrm rot="19432224">
              <a:off x="9008540" y="-941080"/>
              <a:ext cx="4648200" cy="1056620"/>
              <a:chOff x="7239000" y="-2209800"/>
              <a:chExt cx="4648200" cy="1056620"/>
            </a:xfrm>
          </p:grpSpPr>
          <p:sp>
            <p:nvSpPr>
              <p:cNvPr id="48" name="مستطيل 47"/>
              <p:cNvSpPr/>
              <p:nvPr/>
            </p:nvSpPr>
            <p:spPr>
              <a:xfrm>
                <a:off x="7239000" y="-2133600"/>
                <a:ext cx="4648200" cy="914400"/>
              </a:xfrm>
              <a:prstGeom prst="rect">
                <a:avLst/>
              </a:prstGeom>
              <a:noFill/>
              <a:ln>
                <a:solidFill>
                  <a:schemeClr val="tx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1" anchor="ctr"/>
              <a:lstStyle/>
              <a:p>
                <a:pPr algn="ctr"/>
                <a:endParaRPr lang="ar-SA"/>
              </a:p>
            </p:txBody>
          </p:sp>
          <p:sp>
            <p:nvSpPr>
              <p:cNvPr id="49" name="مربع نص 48"/>
              <p:cNvSpPr txBox="1"/>
              <p:nvPr/>
            </p:nvSpPr>
            <p:spPr>
              <a:xfrm>
                <a:off x="7239000" y="-2209800"/>
                <a:ext cx="381000" cy="5232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1">
                <a:spAutoFit/>
              </a:bodyPr>
              <a:lstStyle/>
              <a:p>
                <a:r>
                  <a:rPr lang="en-US" sz="2800" b="1" dirty="0" smtClean="0"/>
                  <a:t>+</a:t>
                </a:r>
                <a:endParaRPr lang="ar-SA" sz="2800" b="1" dirty="0"/>
              </a:p>
            </p:txBody>
          </p:sp>
          <p:sp>
            <p:nvSpPr>
              <p:cNvPr id="50" name="مربع نص 49"/>
              <p:cNvSpPr txBox="1"/>
              <p:nvPr/>
            </p:nvSpPr>
            <p:spPr>
              <a:xfrm>
                <a:off x="7391400" y="-2057400"/>
                <a:ext cx="381000" cy="5232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1">
                <a:spAutoFit/>
              </a:bodyPr>
              <a:lstStyle/>
              <a:p>
                <a:r>
                  <a:rPr lang="en-US" sz="2800" b="1" dirty="0" smtClean="0"/>
                  <a:t>+</a:t>
                </a:r>
                <a:endParaRPr lang="ar-SA" sz="2800" b="1" dirty="0"/>
              </a:p>
            </p:txBody>
          </p:sp>
          <p:sp>
            <p:nvSpPr>
              <p:cNvPr id="51" name="مربع نص 50"/>
              <p:cNvSpPr txBox="1"/>
              <p:nvPr/>
            </p:nvSpPr>
            <p:spPr>
              <a:xfrm>
                <a:off x="7620000" y="-2133600"/>
                <a:ext cx="381000" cy="5232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1">
                <a:spAutoFit/>
              </a:bodyPr>
              <a:lstStyle/>
              <a:p>
                <a:r>
                  <a:rPr lang="en-US" sz="2800" b="1" dirty="0" smtClean="0"/>
                  <a:t>+</a:t>
                </a:r>
                <a:endParaRPr lang="ar-SA" sz="2800" b="1" dirty="0"/>
              </a:p>
            </p:txBody>
          </p:sp>
          <p:sp>
            <p:nvSpPr>
              <p:cNvPr id="52" name="مربع نص 51"/>
              <p:cNvSpPr txBox="1"/>
              <p:nvPr/>
            </p:nvSpPr>
            <p:spPr>
              <a:xfrm>
                <a:off x="7848600" y="-2209800"/>
                <a:ext cx="381000" cy="5232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1">
                <a:spAutoFit/>
              </a:bodyPr>
              <a:lstStyle/>
              <a:p>
                <a:r>
                  <a:rPr lang="en-US" sz="2800" b="1" dirty="0" smtClean="0"/>
                  <a:t>+</a:t>
                </a:r>
                <a:endParaRPr lang="ar-SA" sz="2800" b="1" dirty="0"/>
              </a:p>
            </p:txBody>
          </p:sp>
          <p:sp>
            <p:nvSpPr>
              <p:cNvPr id="53" name="مربع نص 52"/>
              <p:cNvSpPr txBox="1"/>
              <p:nvPr/>
            </p:nvSpPr>
            <p:spPr>
              <a:xfrm>
                <a:off x="7239000" y="-1828800"/>
                <a:ext cx="381000" cy="5232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1">
                <a:spAutoFit/>
              </a:bodyPr>
              <a:lstStyle/>
              <a:p>
                <a:r>
                  <a:rPr lang="en-US" sz="2800" b="1" dirty="0" smtClean="0"/>
                  <a:t>+</a:t>
                </a:r>
                <a:endParaRPr lang="ar-SA" sz="2800" b="1" dirty="0"/>
              </a:p>
            </p:txBody>
          </p:sp>
          <p:sp>
            <p:nvSpPr>
              <p:cNvPr id="54" name="مربع نص 53"/>
              <p:cNvSpPr txBox="1"/>
              <p:nvPr/>
            </p:nvSpPr>
            <p:spPr>
              <a:xfrm>
                <a:off x="7543800" y="-1752600"/>
                <a:ext cx="381000" cy="5232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1">
                <a:spAutoFit/>
              </a:bodyPr>
              <a:lstStyle/>
              <a:p>
                <a:r>
                  <a:rPr lang="en-US" sz="2800" b="1" dirty="0" smtClean="0"/>
                  <a:t>+</a:t>
                </a:r>
                <a:endParaRPr lang="ar-SA" sz="2800" b="1" dirty="0"/>
              </a:p>
            </p:txBody>
          </p:sp>
          <p:sp>
            <p:nvSpPr>
              <p:cNvPr id="55" name="مربع نص 54"/>
              <p:cNvSpPr txBox="1"/>
              <p:nvPr/>
            </p:nvSpPr>
            <p:spPr>
              <a:xfrm>
                <a:off x="7848600" y="-1676400"/>
                <a:ext cx="381000" cy="5232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1">
                <a:spAutoFit/>
              </a:bodyPr>
              <a:lstStyle/>
              <a:p>
                <a:r>
                  <a:rPr lang="en-US" sz="2800" b="1" dirty="0" smtClean="0"/>
                  <a:t>+</a:t>
                </a:r>
                <a:endParaRPr lang="ar-SA" sz="2800" b="1" dirty="0"/>
              </a:p>
            </p:txBody>
          </p:sp>
          <p:sp>
            <p:nvSpPr>
              <p:cNvPr id="56" name="مربع نص 55"/>
              <p:cNvSpPr txBox="1"/>
              <p:nvPr/>
            </p:nvSpPr>
            <p:spPr>
              <a:xfrm>
                <a:off x="7848600" y="-1905000"/>
                <a:ext cx="381000" cy="5232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1">
                <a:spAutoFit/>
              </a:bodyPr>
              <a:lstStyle/>
              <a:p>
                <a:r>
                  <a:rPr lang="en-US" sz="2800" b="1" dirty="0" smtClean="0"/>
                  <a:t>+</a:t>
                </a:r>
                <a:endParaRPr lang="ar-SA" sz="2800" b="1" dirty="0"/>
              </a:p>
            </p:txBody>
          </p:sp>
        </p:grpSp>
        <p:sp>
          <p:nvSpPr>
            <p:cNvPr id="61" name="مربع نص 60"/>
            <p:cNvSpPr txBox="1"/>
            <p:nvPr/>
          </p:nvSpPr>
          <p:spPr>
            <a:xfrm rot="19490872">
              <a:off x="8755636" y="-688655"/>
              <a:ext cx="3048000" cy="461665"/>
            </a:xfrm>
            <a:prstGeom prst="rect">
              <a:avLst/>
            </a:prstGeom>
            <a:noFill/>
          </p:spPr>
          <p:txBody>
            <a:bodyPr wrap="square" rtlCol="1">
              <a:spAutoFit/>
            </a:bodyPr>
            <a:lstStyle/>
            <a:p>
              <a:r>
                <a:rPr lang="ar-DZ" sz="2400" dirty="0" smtClean="0">
                  <a:cs typeface="(AH) Manal Bold" pitchFamily="2" charset="-78"/>
                </a:rPr>
                <a:t>        قضيب زجاجي مشحون</a:t>
              </a:r>
              <a:endParaRPr lang="ar-SA" sz="2400" dirty="0">
                <a:cs typeface="(AH) Manal Bold" pitchFamily="2" charset="-78"/>
              </a:endParaRPr>
            </a:p>
          </p:txBody>
        </p:sp>
      </p:grpSp>
      <p:sp>
        <p:nvSpPr>
          <p:cNvPr id="63" name="مربع نص 62"/>
          <p:cNvSpPr txBox="1"/>
          <p:nvPr/>
        </p:nvSpPr>
        <p:spPr>
          <a:xfrm>
            <a:off x="1752600" y="432137"/>
            <a:ext cx="6172200" cy="1015663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ctr"/>
            <a:r>
              <a:rPr lang="ar-DZ" sz="2000" dirty="0" smtClean="0">
                <a:cs typeface="(AH) Manal Bold" pitchFamily="2" charset="-78"/>
              </a:rPr>
              <a:t>عند تقريب قضيب زجاجي مشحون تنتقل الشحنات السالبة من الكرية إلى الطرف </a:t>
            </a:r>
            <a:r>
              <a:rPr lang="en-US" sz="2000" dirty="0" smtClean="0">
                <a:cs typeface="(AH) Manal Bold" pitchFamily="2" charset="-78"/>
              </a:rPr>
              <a:t>C</a:t>
            </a:r>
            <a:r>
              <a:rPr lang="ar-DZ" sz="2000" dirty="0" smtClean="0">
                <a:cs typeface="(AH) Manal Bold" pitchFamily="2" charset="-78"/>
              </a:rPr>
              <a:t> ثم من الطرف </a:t>
            </a:r>
            <a:r>
              <a:rPr lang="en-US" sz="2000" dirty="0" smtClean="0">
                <a:cs typeface="(AH) Manal Bold" pitchFamily="2" charset="-78"/>
              </a:rPr>
              <a:t>C</a:t>
            </a:r>
            <a:r>
              <a:rPr lang="ar-DZ" sz="2000" dirty="0" smtClean="0">
                <a:cs typeface="(AH) Manal Bold" pitchFamily="2" charset="-78"/>
              </a:rPr>
              <a:t> إلى الطرف </a:t>
            </a:r>
            <a:r>
              <a:rPr lang="en-US" sz="2000" dirty="0" smtClean="0">
                <a:cs typeface="(AH) Manal Bold" pitchFamily="2" charset="-78"/>
              </a:rPr>
              <a:t> D</a:t>
            </a:r>
            <a:r>
              <a:rPr lang="ar-DZ" sz="2000" dirty="0" smtClean="0">
                <a:cs typeface="(AH) Manal Bold" pitchFamily="2" charset="-78"/>
              </a:rPr>
              <a:t>، أي تنجذب نحو القضيب الزجاجي المشحون</a:t>
            </a:r>
            <a:endParaRPr lang="ar-SA" sz="2000" dirty="0">
              <a:cs typeface="(AH) Manal Bold" pitchFamily="2" charset="-78"/>
            </a:endParaRPr>
          </a:p>
        </p:txBody>
      </p:sp>
      <p:sp>
        <p:nvSpPr>
          <p:cNvPr id="64" name="مربع نص 63"/>
          <p:cNvSpPr txBox="1"/>
          <p:nvPr/>
        </p:nvSpPr>
        <p:spPr>
          <a:xfrm>
            <a:off x="1981200" y="590490"/>
            <a:ext cx="6172200" cy="400110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ctr"/>
            <a:r>
              <a:rPr lang="ar-DZ" sz="2000" dirty="0" smtClean="0">
                <a:cs typeface="(AH) Manal Bold" pitchFamily="2" charset="-78"/>
              </a:rPr>
              <a:t>تصبح </a:t>
            </a:r>
            <a:r>
              <a:rPr lang="ar-DZ" sz="2000" dirty="0" err="1" smtClean="0">
                <a:cs typeface="(AH) Manal Bold" pitchFamily="2" charset="-78"/>
              </a:rPr>
              <a:t>للكرية</a:t>
            </a:r>
            <a:r>
              <a:rPr lang="ar-DZ" sz="2000" dirty="0" smtClean="0">
                <a:cs typeface="(AH) Manal Bold" pitchFamily="2" charset="-78"/>
              </a:rPr>
              <a:t> </a:t>
            </a:r>
            <a:r>
              <a:rPr lang="en-US" sz="2000" dirty="0" smtClean="0">
                <a:cs typeface="(AH) Manal Bold" pitchFamily="2" charset="-78"/>
              </a:rPr>
              <a:t>B</a:t>
            </a:r>
            <a:r>
              <a:rPr lang="ar-DZ" sz="2000" dirty="0" smtClean="0">
                <a:cs typeface="(AH) Manal Bold" pitchFamily="2" charset="-78"/>
              </a:rPr>
              <a:t> والطرف </a:t>
            </a:r>
            <a:r>
              <a:rPr lang="en-US" sz="2000" dirty="0" smtClean="0">
                <a:cs typeface="(AH) Manal Bold" pitchFamily="2" charset="-78"/>
              </a:rPr>
              <a:t>C</a:t>
            </a:r>
            <a:r>
              <a:rPr lang="ar-DZ" sz="2000" dirty="0" smtClean="0">
                <a:cs typeface="(AH) Manal Bold" pitchFamily="2" charset="-78"/>
              </a:rPr>
              <a:t> نفس الشحنة الموجبة، فيحدث بينهما تنافر</a:t>
            </a:r>
            <a:endParaRPr lang="ar-SA" sz="2000" dirty="0">
              <a:cs typeface="(AH) Manal Bold" pitchFamily="2" charset="-78"/>
            </a:endParaRPr>
          </a:p>
        </p:txBody>
      </p:sp>
      <p:sp>
        <p:nvSpPr>
          <p:cNvPr id="66" name="مربع نص 65"/>
          <p:cNvSpPr txBox="1"/>
          <p:nvPr/>
        </p:nvSpPr>
        <p:spPr>
          <a:xfrm>
            <a:off x="1905000" y="533400"/>
            <a:ext cx="6172200" cy="1138773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ctr"/>
            <a:r>
              <a:rPr lang="ar-DZ" sz="2000" dirty="0" smtClean="0">
                <a:cs typeface="(AH) Manal Bold" pitchFamily="2" charset="-78"/>
              </a:rPr>
              <a:t>نقول أن القضيب الزجاجي استطاع </a:t>
            </a:r>
            <a:r>
              <a:rPr lang="ar-DZ" sz="2000" dirty="0" smtClean="0">
                <a:solidFill>
                  <a:srgbClr val="FF0000"/>
                </a:solidFill>
                <a:cs typeface="(AH) Manal Bold" pitchFamily="2" charset="-78"/>
              </a:rPr>
              <a:t>التأثير</a:t>
            </a:r>
            <a:r>
              <a:rPr lang="ar-DZ" sz="2000" dirty="0" smtClean="0">
                <a:cs typeface="(AH) Manal Bold" pitchFamily="2" charset="-78"/>
              </a:rPr>
              <a:t> على الكرية عن بعد</a:t>
            </a:r>
          </a:p>
          <a:p>
            <a:pPr algn="ctr"/>
            <a:r>
              <a:rPr lang="ar-DZ" sz="2000" dirty="0" smtClean="0">
                <a:cs typeface="(AH) Manal Bold" pitchFamily="2" charset="-78"/>
              </a:rPr>
              <a:t>أي أن الكرية تكهربت </a:t>
            </a:r>
            <a:r>
              <a:rPr lang="ar-DZ" sz="2000" dirty="0" err="1" smtClean="0">
                <a:cs typeface="(AH) Manal Bold" pitchFamily="2" charset="-78"/>
              </a:rPr>
              <a:t>بـ</a:t>
            </a:r>
            <a:endParaRPr lang="ar-DZ" sz="2000" dirty="0" smtClean="0">
              <a:cs typeface="(AH) Manal Bold" pitchFamily="2" charset="-78"/>
            </a:endParaRPr>
          </a:p>
          <a:p>
            <a:pPr algn="ctr"/>
            <a:r>
              <a:rPr lang="ar-DZ" sz="2000" dirty="0" smtClean="0">
                <a:cs typeface="(AH) Manal Bold" pitchFamily="2" charset="-78"/>
              </a:rPr>
              <a:t> </a:t>
            </a:r>
            <a:r>
              <a:rPr lang="ar-DZ" sz="2800" u="sng" dirty="0" smtClean="0">
                <a:solidFill>
                  <a:srgbClr val="FF0000"/>
                </a:solidFill>
                <a:cs typeface="(AH) Manal Bold" pitchFamily="2" charset="-78"/>
              </a:rPr>
              <a:t>التأثير</a:t>
            </a:r>
            <a:endParaRPr lang="ar-SA" sz="2000" u="sng" dirty="0">
              <a:solidFill>
                <a:srgbClr val="FF0000"/>
              </a:solidFill>
              <a:cs typeface="(AH) Manal Bold" pitchFamily="2" charset="-78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5689242" y="5395317"/>
            <a:ext cx="14478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ar-DZ" sz="2000" dirty="0" smtClean="0">
                <a:cs typeface="(AH) Manal Bold" pitchFamily="2" charset="-78"/>
              </a:rPr>
              <a:t>حامل عازل</a:t>
            </a:r>
            <a:endParaRPr lang="en-US" sz="2000" dirty="0">
              <a:cs typeface="(AH) Manal Bold" pitchFamily="2" charset="-78"/>
            </a:endParaRPr>
          </a:p>
        </p:txBody>
      </p:sp>
      <p:cxnSp>
        <p:nvCxnSpPr>
          <p:cNvPr id="10" name="Straight Arrow Connector 9"/>
          <p:cNvCxnSpPr/>
          <p:nvPr/>
        </p:nvCxnSpPr>
        <p:spPr>
          <a:xfrm flipH="1">
            <a:off x="4953000" y="5638800"/>
            <a:ext cx="110490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xit" presetSubtype="0" fill="hold" grpId="1" nodeType="afterEffect">
                                  <p:stCondLst>
                                    <p:cond delay="90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0"/>
                            </p:stCondLst>
                            <p:childTnLst>
                              <p:par>
                                <p:cTn id="13" presetID="0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1545 0.0007 L -0.22622 0.22292 " pathEditMode="relative" rAng="0" ptsTypes="AA">
                                      <p:cBhvr>
                                        <p:cTn id="14" dur="200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21" y="111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2000"/>
                            </p:stCondLst>
                            <p:childTnLst>
                              <p:par>
                                <p:cTn id="1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12500"/>
                            </p:stCondLst>
                            <p:childTnLst>
                              <p:par>
                                <p:cTn id="20" presetID="10" presetClass="exit" presetSubtype="0" fill="hold" grpId="1" nodeType="afterEffect">
                                  <p:stCondLst>
                                    <p:cond delay="90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1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22000"/>
                            </p:stCondLst>
                            <p:childTnLst>
                              <p:par>
                                <p:cTn id="24" presetID="0" presetClass="path" presetSubtype="0" accel="50000" decel="5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6.66667E-6 2.22222E-6 L 0.49167 0.01111 " pathEditMode="relative" ptsTypes="AA">
                                      <p:cBhvr>
                                        <p:cTn id="25" dur="2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6" presetID="63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33333E-6 1.11111E-6 L 0.56666 0.00278 " pathEditMode="relative" rAng="0" ptsTypes="AA">
                                      <p:cBhvr>
                                        <p:cTn id="27" dur="2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83" y="1"/>
                                    </p:animMotion>
                                  </p:childTnLst>
                                </p:cTn>
                              </p:par>
                              <p:par>
                                <p:cTn id="28" presetID="63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33333E-6 3.7037E-7 L 0.58333 0.01968 " pathEditMode="relative" rAng="0" ptsTypes="AA">
                                      <p:cBhvr>
                                        <p:cTn id="29" dur="2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92" y="10"/>
                                    </p:animMotion>
                                  </p:childTnLst>
                                </p:cTn>
                              </p:par>
                              <p:par>
                                <p:cTn id="30" presetID="63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33333E-6 3.7037E-6 L 0.6 0.00856 " pathEditMode="relative" rAng="0" ptsTypes="AA">
                                      <p:cBhvr>
                                        <p:cTn id="31" dur="2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00" y="4"/>
                                    </p:animMotion>
                                  </p:childTnLst>
                                </p:cTn>
                              </p:par>
                              <p:par>
                                <p:cTn id="32" presetID="63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5.55112E-17 0 L 0.39167 0.00278 " pathEditMode="relative" rAng="0" ptsTypes="AA">
                                      <p:cBhvr>
                                        <p:cTn id="33" dur="20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96" y="1"/>
                                    </p:animMotion>
                                  </p:childTnLst>
                                </p:cTn>
                              </p:par>
                              <p:par>
                                <p:cTn id="34" presetID="63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5.55112E-17 1.48148E-6 L 0.41667 0.00856 " pathEditMode="relative" rAng="0" ptsTypes="AA">
                                      <p:cBhvr>
                                        <p:cTn id="35" dur="20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08" y="4"/>
                                    </p:animMotion>
                                  </p:childTnLst>
                                </p:cTn>
                              </p:par>
                              <p:par>
                                <p:cTn id="36" presetID="63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1.48148E-6 L 0.29167 0.00856 " pathEditMode="relative" rAng="0" ptsTypes="AA">
                                      <p:cBhvr>
                                        <p:cTn id="37" dur="20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46" y="4"/>
                                    </p:animMotion>
                                  </p:childTnLst>
                                </p:cTn>
                              </p:par>
                              <p:par>
                                <p:cTn id="38" presetID="63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5.55112E-17 -1.11111E-6 L 0.36667 0.00278 " pathEditMode="relative" rAng="0" ptsTypes="AA">
                                      <p:cBhvr>
                                        <p:cTn id="39" dur="20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83" y="1"/>
                                    </p:animMotion>
                                  </p:childTnLst>
                                </p:cTn>
                              </p:par>
                              <p:par>
                                <p:cTn id="40" presetID="63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 L 0.25 0  E" pathEditMode="relative" ptsTypes="">
                                      <p:cBhvr>
                                        <p:cTn id="41" dur="20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2" presetID="63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-4.07407E-6 L 0.275 -0.00254 " pathEditMode="relative" rAng="0" ptsTypes="AA">
                                      <p:cBhvr>
                                        <p:cTn id="43" dur="20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38" y="-1"/>
                                    </p:animMotion>
                                  </p:childTnLst>
                                </p:cTn>
                              </p:par>
                              <p:par>
                                <p:cTn id="44" presetID="63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-4.07407E-6 L 0.225 -0.00254 " pathEditMode="relative" rAng="0" ptsTypes="AA">
                                      <p:cBhvr>
                                        <p:cTn id="45" dur="20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12" y="-1"/>
                                    </p:animMotion>
                                  </p:childTnLst>
                                </p:cTn>
                              </p:par>
                              <p:par>
                                <p:cTn id="46" presetID="63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1.48148E-6 L 0.2 -0.00255 " pathEditMode="relative" rAng="0" ptsTypes="AA">
                                      <p:cBhvr>
                                        <p:cTn id="47" dur="20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00" y="-1"/>
                                    </p:animMotion>
                                  </p:childTnLst>
                                </p:cTn>
                              </p:par>
                              <p:par>
                                <p:cTn id="48" presetID="63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1.11022E-16 -1.11111E-6 L 0.125 0.00278 " pathEditMode="relative" rAng="0" ptsTypes="AA">
                                      <p:cBhvr>
                                        <p:cTn id="49" dur="20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63" y="1"/>
                                    </p:animMotion>
                                  </p:childTnLst>
                                </p:cTn>
                              </p:par>
                              <p:par>
                                <p:cTn id="50" presetID="63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1.11022E-16 1.48148E-6 L 0.075 -0.00255 " pathEditMode="relative" rAng="0" ptsTypes="AA">
                                      <p:cBhvr>
                                        <p:cTn id="51" dur="20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8" y="-1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24000"/>
                            </p:stCondLst>
                            <p:childTnLst>
                              <p:par>
                                <p:cTn id="5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>
                            <p:stCondLst>
                              <p:cond delay="24500"/>
                            </p:stCondLst>
                            <p:childTnLst>
                              <p:par>
                                <p:cTn id="57" presetID="10" presetClass="exit" presetSubtype="0" fill="hold" grpId="1" nodeType="afterEffect">
                                  <p:stCondLst>
                                    <p:cond delay="70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8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>
                            <p:stCondLst>
                              <p:cond delay="32000"/>
                            </p:stCondLst>
                            <p:childTnLst>
                              <p:par>
                                <p:cTn id="61" presetID="35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0416 -7.40741E-7 L -0.025 -7.40741E-7 " pathEditMode="relative" rAng="0" ptsTypes="AA">
                                      <p:cBhvr>
                                        <p:cTn id="62" dur="200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0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3" fill="hold">
                            <p:stCondLst>
                              <p:cond delay="34000"/>
                            </p:stCondLst>
                            <p:childTnLst>
                              <p:par>
                                <p:cTn id="6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7" fill="hold">
                            <p:stCondLst>
                              <p:cond delay="34500"/>
                            </p:stCondLst>
                            <p:childTnLst>
                              <p:par>
                                <p:cTn id="68" presetID="10" presetClass="exit" presetSubtype="0" fill="hold" grpId="1" nodeType="afterEffect">
                                  <p:stCondLst>
                                    <p:cond delay="80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9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" grpId="0"/>
      <p:bldP spid="31" grpId="0"/>
      <p:bldP spid="32" grpId="0"/>
      <p:bldP spid="33" grpId="0"/>
      <p:bldP spid="34" grpId="0"/>
      <p:bldP spid="35" grpId="0"/>
      <p:bldP spid="36" grpId="0"/>
      <p:bldP spid="37" grpId="0"/>
      <p:bldP spid="38" grpId="0"/>
      <p:bldP spid="40" grpId="0"/>
      <p:bldP spid="41" grpId="0"/>
      <p:bldP spid="42" grpId="0"/>
      <p:bldP spid="43" grpId="0"/>
      <p:bldP spid="44" grpId="0"/>
      <p:bldP spid="46" grpId="0"/>
      <p:bldP spid="46" grpId="1"/>
      <p:bldP spid="63" grpId="0"/>
      <p:bldP spid="63" grpId="1"/>
      <p:bldP spid="64" grpId="0"/>
      <p:bldP spid="64" grpId="1"/>
      <p:bldP spid="66" grpId="0"/>
      <p:bldP spid="66" grpId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ar-SA"/>
          </a:p>
        </p:txBody>
      </p:sp>
      <p:sp>
        <p:nvSpPr>
          <p:cNvPr id="3" name="عنصر نائب للمحتوى 2"/>
          <p:cNvSpPr>
            <a:spLocks noGrp="1"/>
          </p:cNvSpPr>
          <p:nvPr>
            <p:ph idx="1"/>
          </p:nvPr>
        </p:nvSpPr>
        <p:spPr>
          <a:xfrm>
            <a:off x="457200" y="274637"/>
            <a:ext cx="8229600" cy="6126163"/>
          </a:xfrm>
        </p:spPr>
        <p:txBody>
          <a:bodyPr/>
          <a:lstStyle/>
          <a:p>
            <a:r>
              <a:rPr lang="ar-DZ" dirty="0" smtClean="0">
                <a:cs typeface="(AH) Manal Bold" pitchFamily="2" charset="-78"/>
              </a:rPr>
              <a:t>أما ما يحدث في حال تقريب قضيب بلاستيكي مشحون، فهو أن الشحنات السالبة تنتقل وتتجمع في الطرف </a:t>
            </a:r>
            <a:r>
              <a:rPr lang="en-US" dirty="0" smtClean="0">
                <a:cs typeface="(AH) Manal Bold" pitchFamily="2" charset="-78"/>
              </a:rPr>
              <a:t>C</a:t>
            </a:r>
            <a:r>
              <a:rPr lang="ar-DZ" dirty="0" smtClean="0">
                <a:cs typeface="(AH) Manal Bold" pitchFamily="2" charset="-78"/>
              </a:rPr>
              <a:t> والكرية </a:t>
            </a:r>
            <a:r>
              <a:rPr lang="en-US" dirty="0" smtClean="0">
                <a:cs typeface="(AH) Manal Bold" pitchFamily="2" charset="-78"/>
              </a:rPr>
              <a:t>B</a:t>
            </a:r>
            <a:r>
              <a:rPr lang="ar-DZ" dirty="0" smtClean="0">
                <a:cs typeface="(AH) Manal Bold" pitchFamily="2" charset="-78"/>
              </a:rPr>
              <a:t> وبالتالي تصبح شحنتيهما الإجماليتين سالبتين، فيحدث بينهما تنافر كذلك.</a:t>
            </a:r>
          </a:p>
          <a:p>
            <a:r>
              <a:rPr lang="ar-DZ" dirty="0" smtClean="0">
                <a:cs typeface="(AH) Manal Bold" pitchFamily="2" charset="-78"/>
              </a:rPr>
              <a:t>وبالتالي نستطيع القول أن التكهرب بالتأثير هو إعادة تموضع للشحنات السالبة، ولا يحدث خلاله انتقال للشحنات من الجسم المشحون إلى الجسم المستهدف.</a:t>
            </a:r>
            <a:endParaRPr lang="ar-SA" dirty="0">
              <a:cs typeface="(AH) Manal Bold" pitchFamily="2" charset="-78"/>
            </a:endParaRPr>
          </a:p>
        </p:txBody>
      </p:sp>
      <p:sp>
        <p:nvSpPr>
          <p:cNvPr id="4" name="مربع نص 3"/>
          <p:cNvSpPr txBox="1"/>
          <p:nvPr/>
        </p:nvSpPr>
        <p:spPr>
          <a:xfrm>
            <a:off x="685800" y="6400800"/>
            <a:ext cx="7467600" cy="461665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ctr"/>
            <a:r>
              <a:rPr lang="en-US" sz="2400" dirty="0" smtClean="0">
                <a:solidFill>
                  <a:srgbClr val="FF0000"/>
                </a:solidFill>
              </a:rPr>
              <a:t>facebook.com/groups/</a:t>
            </a:r>
            <a:r>
              <a:rPr lang="en-US" sz="2400" dirty="0" err="1" smtClean="0">
                <a:solidFill>
                  <a:srgbClr val="FF0000"/>
                </a:solidFill>
              </a:rPr>
              <a:t>tahadiphysic</a:t>
            </a:r>
            <a:endParaRPr lang="ar-SA" sz="2400" dirty="0">
              <a:solidFill>
                <a:srgbClr val="FF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41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2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700"/>
                            </p:stCondLst>
                            <p:childTnLst>
                              <p:par>
                                <p:cTn id="13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4" grpId="0"/>
    </p:bldLst>
  </p:timing>
</p:sld>
</file>

<file path=ppt/theme/theme1.xml><?xml version="1.0" encoding="utf-8"?>
<a:theme xmlns:a="http://schemas.openxmlformats.org/drawingml/2006/main" name="4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00</Template>
  <TotalTime>2</TotalTime>
  <Words>201</Words>
  <Application>Microsoft Office PowerPoint</Application>
  <PresentationFormat>On-screen Show (4:3)</PresentationFormat>
  <Paragraphs>61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8" baseType="lpstr">
      <vt:lpstr>(AH) Manal Bold</vt:lpstr>
      <vt:lpstr>Arial</vt:lpstr>
      <vt:lpstr>Calibri</vt:lpstr>
      <vt:lpstr>Times New Roman</vt:lpstr>
      <vt:lpstr>4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999</dc:creator>
  <cp:lastModifiedBy>999</cp:lastModifiedBy>
  <cp:revision>1</cp:revision>
  <dcterms:created xsi:type="dcterms:W3CDTF">2018-05-27T13:35:07Z</dcterms:created>
  <dcterms:modified xsi:type="dcterms:W3CDTF">2018-05-27T13:37:28Z</dcterms:modified>
</cp:coreProperties>
</file>