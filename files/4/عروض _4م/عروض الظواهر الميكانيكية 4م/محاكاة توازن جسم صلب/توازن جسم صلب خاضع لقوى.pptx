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79" r:id="rId2"/>
    <p:sldId id="280" r:id="rId3"/>
    <p:sldId id="292" r:id="rId4"/>
    <p:sldId id="288" r:id="rId5"/>
    <p:sldId id="282" r:id="rId6"/>
    <p:sldId id="286" r:id="rId7"/>
    <p:sldId id="285" r:id="rId8"/>
    <p:sldId id="284" r:id="rId9"/>
    <p:sldId id="267" r:id="rId10"/>
    <p:sldId id="258" r:id="rId11"/>
    <p:sldId id="260" r:id="rId12"/>
    <p:sldId id="268" r:id="rId13"/>
    <p:sldId id="270" r:id="rId14"/>
    <p:sldId id="272" r:id="rId15"/>
    <p:sldId id="273" r:id="rId16"/>
    <p:sldId id="274" r:id="rId17"/>
    <p:sldId id="289" r:id="rId18"/>
    <p:sldId id="264" r:id="rId19"/>
    <p:sldId id="265" r:id="rId20"/>
    <p:sldId id="276" r:id="rId21"/>
    <p:sldId id="294" r:id="rId22"/>
    <p:sldId id="295" r:id="rId23"/>
    <p:sldId id="297" r:id="rId24"/>
    <p:sldId id="298" r:id="rId25"/>
    <p:sldId id="299" r:id="rId26"/>
    <p:sldId id="300" r:id="rId27"/>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80" d="100"/>
          <a:sy n="80" d="100"/>
        </p:scale>
        <p:origin x="-1068"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2">
        <a:schemeClr val="bg2"/>
      </p:bgRef>
    </p:bg>
    <p:spTree>
      <p:nvGrpSpPr>
        <p:cNvPr id="1" name=""/>
        <p:cNvGrpSpPr/>
        <p:nvPr/>
      </p:nvGrpSpPr>
      <p:grpSpPr>
        <a:xfrm>
          <a:off x="0" y="0"/>
          <a:ext cx="0" cy="0"/>
          <a:chOff x="0" y="0"/>
          <a:chExt cx="0" cy="0"/>
        </a:xfrm>
      </p:grpSpPr>
      <p:sp>
        <p:nvSpPr>
          <p:cNvPr id="7" name="Forme libre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orme libre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r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fr-FR" smtClean="0"/>
              <a:t>Cliquez pour modifier le style du titre</a:t>
            </a:r>
            <a:endParaRPr kumimoji="0" lang="en-US"/>
          </a:p>
        </p:txBody>
      </p:sp>
      <p:sp>
        <p:nvSpPr>
          <p:cNvPr id="17" name="Sous-titr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30" name="Espace réservé de la date 29"/>
          <p:cNvSpPr>
            <a:spLocks noGrp="1"/>
          </p:cNvSpPr>
          <p:nvPr>
            <p:ph type="dt" sz="half" idx="10"/>
          </p:nvPr>
        </p:nvSpPr>
        <p:spPr/>
        <p:txBody>
          <a:bodyPr/>
          <a:lstStyle/>
          <a:p>
            <a:fld id="{F2CD3204-E3C2-4D1E-996F-7C5004F7E221}" type="datetimeFigureOut">
              <a:rPr lang="fr-FR" smtClean="0"/>
              <a:pPr/>
              <a:t>22/01/2019</a:t>
            </a:fld>
            <a:endParaRPr lang="fr-FR"/>
          </a:p>
        </p:txBody>
      </p:sp>
      <p:sp>
        <p:nvSpPr>
          <p:cNvPr id="19" name="Espace réservé du pied de page 18"/>
          <p:cNvSpPr>
            <a:spLocks noGrp="1"/>
          </p:cNvSpPr>
          <p:nvPr>
            <p:ph type="ftr" sz="quarter" idx="11"/>
          </p:nvPr>
        </p:nvSpPr>
        <p:spPr/>
        <p:txBody>
          <a:bodyPr/>
          <a:lstStyle/>
          <a:p>
            <a:endParaRPr lang="fr-FR"/>
          </a:p>
        </p:txBody>
      </p:sp>
      <p:sp>
        <p:nvSpPr>
          <p:cNvPr id="27" name="Espace réservé du numéro de diapositive 26"/>
          <p:cNvSpPr>
            <a:spLocks noGrp="1"/>
          </p:cNvSpPr>
          <p:nvPr>
            <p:ph type="sldNum" sz="quarter" idx="12"/>
          </p:nvPr>
        </p:nvSpPr>
        <p:spPr/>
        <p:txBody>
          <a:bodyPr/>
          <a:lstStyle/>
          <a:p>
            <a:fld id="{97A9E1B7-CCF2-4036-90C3-4CEBF1C038FD}"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lgn="l">
              <a:defRPr/>
            </a:lvl1pPr>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2CD3204-E3C2-4D1E-996F-7C5004F7E221}" type="datetimeFigureOut">
              <a:rPr lang="fr-FR" smtClean="0"/>
              <a:pPr/>
              <a:t>22/01/2019</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2">
        <a:schemeClr val="bg2"/>
      </p:bgRef>
    </p:bg>
    <p:spTree>
      <p:nvGrpSpPr>
        <p:cNvPr id="1" name=""/>
        <p:cNvGrpSpPr/>
        <p:nvPr/>
      </p:nvGrpSpPr>
      <p:grpSpPr>
        <a:xfrm>
          <a:off x="0" y="0"/>
          <a:ext cx="0" cy="0"/>
          <a:chOff x="0" y="0"/>
          <a:chExt cx="0" cy="0"/>
        </a:xfrm>
      </p:grpSpPr>
      <p:sp>
        <p:nvSpPr>
          <p:cNvPr id="7" name="Forme libre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orme libre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r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F2CD3204-E3C2-4D1E-996F-7C5004F7E221}" type="datetimeFigureOut">
              <a:rPr lang="fr-FR" smtClean="0"/>
              <a:pPr/>
              <a:t>22/01/2019</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7A9E1B7-CCF2-4036-90C3-4CEBF1C038FD}"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1143000"/>
          </a:xfrm>
        </p:spPr>
        <p:txBody>
          <a:bodyPr/>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F2CD3204-E3C2-4D1E-996F-7C5004F7E221}" type="datetimeFigureOut">
              <a:rPr lang="fr-FR" smtClean="0"/>
              <a:pPr/>
              <a:t>22/01/2019</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p>
            <a:fld id="{F2CD3204-E3C2-4D1E-996F-7C5004F7E221}" type="datetimeFigureOut">
              <a:rPr lang="fr-FR" smtClean="0"/>
              <a:pPr/>
              <a:t>22/01/2019</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320"/>
            <a:ext cx="7470648" cy="1143000"/>
          </a:xfrm>
        </p:spPr>
        <p:txBody>
          <a:bodyPr anchor="ctr"/>
          <a:lstStyle>
            <a:lvl1pPr algn="l">
              <a:defRPr sz="4600"/>
            </a:lvl1pPr>
          </a:lstStyle>
          <a:p>
            <a:r>
              <a:rPr kumimoji="0" lang="fr-FR" smtClean="0"/>
              <a:t>Cliquez pour modifier le style du titre</a:t>
            </a:r>
            <a:endParaRPr kumimoji="0" lang="en-US"/>
          </a:p>
        </p:txBody>
      </p:sp>
      <p:sp>
        <p:nvSpPr>
          <p:cNvPr id="7" name="Espace réservé de la date 6"/>
          <p:cNvSpPr>
            <a:spLocks noGrp="1"/>
          </p:cNvSpPr>
          <p:nvPr>
            <p:ph type="dt" sz="half" idx="10"/>
          </p:nvPr>
        </p:nvSpPr>
        <p:spPr/>
        <p:txBody>
          <a:bodyPr/>
          <a:lstStyle/>
          <a:p>
            <a:fld id="{F2CD3204-E3C2-4D1E-996F-7C5004F7E221}" type="datetimeFigureOut">
              <a:rPr lang="fr-FR" smtClean="0"/>
              <a:pPr/>
              <a:t>22/01/2019</a:t>
            </a:fld>
            <a:endParaRPr lang="fr-FR"/>
          </a:p>
        </p:txBody>
      </p:sp>
      <p:sp>
        <p:nvSpPr>
          <p:cNvPr id="8" name="Espace réservé du numéro de diapositive 7"/>
          <p:cNvSpPr>
            <a:spLocks noGrp="1"/>
          </p:cNvSpPr>
          <p:nvPr>
            <p:ph type="sldNum" sz="quarter" idx="11"/>
          </p:nvPr>
        </p:nvSpPr>
        <p:spPr/>
        <p:txBody>
          <a:bodyPr/>
          <a:lstStyle/>
          <a:p>
            <a:fld id="{97A9E1B7-CCF2-4036-90C3-4CEBF1C038FD}" type="slidenum">
              <a:rPr lang="fr-FR" smtClean="0"/>
              <a:pPr/>
              <a:t>‹N°›</a:t>
            </a:fld>
            <a:endParaRPr lang="fr-FR"/>
          </a:p>
        </p:txBody>
      </p:sp>
      <p:sp>
        <p:nvSpPr>
          <p:cNvPr id="9" name="Espace réservé du pied de page 8"/>
          <p:cNvSpPr>
            <a:spLocks noGrp="1"/>
          </p:cNvSpPr>
          <p:nvPr>
            <p:ph type="ftr" sz="quarter" idx="12"/>
          </p:nvPr>
        </p:nvSpPr>
        <p:spPr/>
        <p:txBody>
          <a:bodyPr/>
          <a:lstStyle/>
          <a:p>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2CD3204-E3C2-4D1E-996F-7C5004F7E221}" type="datetimeFigureOut">
              <a:rPr lang="fr-FR" smtClean="0"/>
              <a:pPr/>
              <a:t>22/01/2019</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F2CD3204-E3C2-4D1E-996F-7C5004F7E221}" type="datetimeFigureOut">
              <a:rPr lang="fr-FR" smtClean="0"/>
              <a:pPr/>
              <a:t>22/01/2019</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a:xfrm>
            <a:off x="8156448" y="6422064"/>
            <a:ext cx="762000" cy="365125"/>
          </a:xfrm>
        </p:spPr>
        <p:txBody>
          <a:bodyPr/>
          <a:lstStyle/>
          <a:p>
            <a:fld id="{97A9E1B7-CCF2-4036-90C3-4CEBF1C038F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a:xfrm>
            <a:off x="457200" y="6422064"/>
            <a:ext cx="2133600" cy="365125"/>
          </a:xfrm>
        </p:spPr>
        <p:txBody>
          <a:bodyPr/>
          <a:lstStyle/>
          <a:p>
            <a:fld id="{F2CD3204-E3C2-4D1E-996F-7C5004F7E221}" type="datetimeFigureOut">
              <a:rPr lang="fr-FR" smtClean="0"/>
              <a:pPr/>
              <a:t>22/01/2019</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2CD3204-E3C2-4D1E-996F-7C5004F7E221}" type="datetimeFigureOut">
              <a:rPr lang="fr-FR" smtClean="0"/>
              <a:pPr/>
              <a:t>22/01/2019</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F2CD3204-E3C2-4D1E-996F-7C5004F7E221}" type="datetimeFigureOut">
              <a:rPr lang="fr-FR" smtClean="0"/>
              <a:pPr/>
              <a:t>22/01/2019</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7A9E1B7-CCF2-4036-90C3-4CEBF1C038F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Forme libre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orme libre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Espace réservé du titre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fr-FR" smtClean="0"/>
              <a:t>Cliquez pour modifier le style du titre</a:t>
            </a:r>
            <a:endParaRPr kumimoji="0" lang="en-US"/>
          </a:p>
        </p:txBody>
      </p:sp>
      <p:sp>
        <p:nvSpPr>
          <p:cNvPr id="30" name="Espace réservé du texte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0" name="Espace réservé de la date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F2CD3204-E3C2-4D1E-996F-7C5004F7E221}" type="datetimeFigureOut">
              <a:rPr lang="fr-FR" smtClean="0"/>
              <a:pPr/>
              <a:t>22/01/2019</a:t>
            </a:fld>
            <a:endParaRPr lang="fr-FR"/>
          </a:p>
        </p:txBody>
      </p:sp>
      <p:sp>
        <p:nvSpPr>
          <p:cNvPr id="22" name="Espace réservé du pied de page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fr-FR"/>
          </a:p>
        </p:txBody>
      </p:sp>
      <p:sp>
        <p:nvSpPr>
          <p:cNvPr id="18" name="Espace réservé du numéro de diapositive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7A9E1B7-CCF2-4036-90C3-4CEBF1C038FD}" type="slidenum">
              <a:rPr lang="fr-FR" smtClean="0"/>
              <a:pPr/>
              <a:t>‹N°›</a:t>
            </a:fld>
            <a:endParaRPr lang="fr-FR"/>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15203" y="447262"/>
            <a:ext cx="7797662" cy="1151965"/>
          </a:xfrm>
        </p:spPr>
        <p:txBody>
          <a:bodyPr>
            <a:normAutofit fontScale="90000"/>
          </a:bodyPr>
          <a:lstStyle/>
          <a:p>
            <a:pPr algn="ctr"/>
            <a:r>
              <a:rPr lang="ar-DZ" sz="3200" dirty="0" smtClean="0"/>
              <a:t>الجمهورية الجزائرية الديمقراطية الشعبية</a:t>
            </a:r>
            <a:br>
              <a:rPr lang="ar-DZ" sz="3200" dirty="0" smtClean="0"/>
            </a:br>
            <a:r>
              <a:rPr lang="ar-DZ" sz="3200" dirty="0" smtClean="0"/>
              <a:t>وزارة التربية الوطنية</a:t>
            </a:r>
            <a:br>
              <a:rPr lang="ar-DZ" sz="3200" dirty="0" smtClean="0"/>
            </a:br>
            <a:endParaRPr lang="ar-DZ" sz="3200" dirty="0"/>
          </a:p>
        </p:txBody>
      </p:sp>
      <p:sp>
        <p:nvSpPr>
          <p:cNvPr id="3" name="Espace réservé du contenu 2"/>
          <p:cNvSpPr>
            <a:spLocks noGrp="1"/>
          </p:cNvSpPr>
          <p:nvPr>
            <p:ph sz="quarter" idx="4294967295"/>
          </p:nvPr>
        </p:nvSpPr>
        <p:spPr>
          <a:xfrm>
            <a:off x="500034" y="1357298"/>
            <a:ext cx="8143932" cy="4714908"/>
          </a:xfrm>
          <a:prstGeom prst="rect">
            <a:avLst/>
          </a:prstGeom>
        </p:spPr>
        <p:txBody>
          <a:bodyPr>
            <a:normAutofit/>
          </a:bodyPr>
          <a:lstStyle/>
          <a:p>
            <a:pPr algn="r" rtl="1"/>
            <a:r>
              <a:rPr lang="ar-DZ" sz="2800" dirty="0" smtClean="0"/>
              <a:t>مديرية </a:t>
            </a:r>
            <a:r>
              <a:rPr lang="ar-DZ" sz="2800" dirty="0"/>
              <a:t>التربية لولاية </a:t>
            </a:r>
            <a:r>
              <a:rPr lang="ar-DZ" sz="2800" dirty="0" err="1" smtClean="0"/>
              <a:t>بومرداس</a:t>
            </a:r>
            <a:r>
              <a:rPr lang="ar-DZ" sz="2800" dirty="0" smtClean="0"/>
              <a:t>.</a:t>
            </a:r>
            <a:endParaRPr lang="ar-DZ" sz="2800" dirty="0"/>
          </a:p>
          <a:p>
            <a:pPr algn="r" rtl="1"/>
            <a:r>
              <a:rPr lang="ar-DZ" sz="2800" dirty="0"/>
              <a:t>مفتشية </a:t>
            </a:r>
            <a:r>
              <a:rPr lang="ar-DZ" sz="2800" dirty="0" smtClean="0"/>
              <a:t>العلوم الفيزيائية والتكنولوجيا لولاية </a:t>
            </a:r>
            <a:r>
              <a:rPr lang="ar-DZ" sz="2800" dirty="0" err="1" smtClean="0"/>
              <a:t>بومرداس</a:t>
            </a:r>
            <a:r>
              <a:rPr lang="ar-DZ" sz="2800" dirty="0" smtClean="0"/>
              <a:t>.</a:t>
            </a:r>
          </a:p>
          <a:p>
            <a:pPr algn="r" rtl="1"/>
            <a:r>
              <a:rPr lang="ar-DZ" sz="2800" dirty="0" smtClean="0"/>
              <a:t>المقاطعة الأولى</a:t>
            </a:r>
          </a:p>
          <a:p>
            <a:pPr algn="r" rtl="1"/>
            <a:r>
              <a:rPr lang="ar-DZ" sz="2800" dirty="0" smtClean="0"/>
              <a:t>إعداد المفتش: </a:t>
            </a:r>
            <a:r>
              <a:rPr lang="ar-DZ" sz="2800" dirty="0" err="1" smtClean="0"/>
              <a:t>بوقروة</a:t>
            </a:r>
            <a:r>
              <a:rPr lang="ar-DZ" sz="2800" dirty="0" smtClean="0"/>
              <a:t> عبد الحق.</a:t>
            </a:r>
          </a:p>
          <a:p>
            <a:pPr algn="ctr" rtl="1"/>
            <a:r>
              <a:rPr lang="ar-DZ" sz="2800" dirty="0"/>
              <a:t> </a:t>
            </a:r>
            <a:r>
              <a:rPr lang="ar-DZ" sz="2800" dirty="0" smtClean="0"/>
              <a:t>بتاريخ: 2019/01/23                                                                                          السنة الدراسية: 2019/2018</a:t>
            </a:r>
          </a:p>
          <a:p>
            <a:pPr algn="ctr" rtl="1"/>
            <a:r>
              <a:rPr lang="ar-DZ" sz="2800" dirty="0" smtClean="0"/>
              <a:t>بمتوسطة:محمد </a:t>
            </a:r>
            <a:r>
              <a:rPr lang="ar-DZ" sz="2800" dirty="0" err="1" smtClean="0"/>
              <a:t>سحنون</a:t>
            </a:r>
            <a:endParaRPr lang="ar-DZ" sz="2800" dirty="0" smtClean="0"/>
          </a:p>
          <a:p>
            <a:pPr algn="ctr" rtl="1">
              <a:buNone/>
            </a:pPr>
            <a:r>
              <a:rPr lang="ar-DZ" sz="2800" dirty="0" smtClean="0"/>
              <a:t>أولاد موسى</a:t>
            </a:r>
          </a:p>
        </p:txBody>
      </p:sp>
    </p:spTree>
    <p:extLst>
      <p:ext uri="{BB962C8B-B14F-4D97-AF65-F5344CB8AC3E}">
        <p14:creationId xmlns:p14="http://schemas.microsoft.com/office/powerpoint/2010/main" xmlns="" val="24637798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42844" y="2130425"/>
            <a:ext cx="8715436" cy="1470025"/>
          </a:xfrm>
        </p:spPr>
        <p:txBody>
          <a:bodyPr>
            <a:normAutofit fontScale="90000"/>
          </a:bodyPr>
          <a:lstStyle/>
          <a:p>
            <a:pPr algn="ctr"/>
            <a:r>
              <a:rPr lang="ar-DZ" sz="6000" dirty="0" smtClean="0">
                <a:solidFill>
                  <a:srgbClr val="FF0000"/>
                </a:solidFill>
              </a:rPr>
              <a:t>توازن جسم صلب خاضع لعدة قوى</a:t>
            </a:r>
            <a:endParaRPr lang="fr-FR" sz="6000" dirty="0">
              <a:solidFill>
                <a:srgbClr val="FF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1225536"/>
          </a:xfrm>
        </p:spPr>
        <p:txBody>
          <a:bodyPr/>
          <a:lstStyle/>
          <a:p>
            <a:pPr algn="ctr" rtl="1"/>
            <a:r>
              <a:rPr lang="ar-DZ" dirty="0" smtClean="0"/>
              <a:t>وضعية جزئية </a:t>
            </a:r>
            <a:endParaRPr lang="fr-FR" dirty="0"/>
          </a:p>
        </p:txBody>
      </p:sp>
      <p:pic>
        <p:nvPicPr>
          <p:cNvPr id="36866" name="Picture 2"/>
          <p:cNvPicPr>
            <a:picLocks noGrp="1" noChangeAspect="1" noChangeArrowheads="1"/>
          </p:cNvPicPr>
          <p:nvPr>
            <p:ph idx="1"/>
          </p:nvPr>
        </p:nvPicPr>
        <p:blipFill>
          <a:blip r:embed="rId2"/>
          <a:srcRect/>
          <a:stretch>
            <a:fillRect/>
          </a:stretch>
        </p:blipFill>
        <p:spPr bwMode="auto">
          <a:xfrm>
            <a:off x="3786182" y="1857364"/>
            <a:ext cx="5000660" cy="2928958"/>
          </a:xfrm>
          <a:prstGeom prst="rect">
            <a:avLst/>
          </a:prstGeom>
          <a:noFill/>
          <a:ln w="9525">
            <a:noFill/>
            <a:miter lim="800000"/>
            <a:headEnd/>
            <a:tailEnd/>
          </a:ln>
          <a:effectLst/>
        </p:spPr>
      </p:pic>
      <p:pic>
        <p:nvPicPr>
          <p:cNvPr id="36867" name="Picture 3"/>
          <p:cNvPicPr>
            <a:picLocks noChangeAspect="1" noChangeArrowheads="1"/>
          </p:cNvPicPr>
          <p:nvPr/>
        </p:nvPicPr>
        <p:blipFill>
          <a:blip r:embed="rId3"/>
          <a:srcRect/>
          <a:stretch>
            <a:fillRect/>
          </a:stretch>
        </p:blipFill>
        <p:spPr bwMode="auto">
          <a:xfrm>
            <a:off x="357158" y="1785926"/>
            <a:ext cx="3286148" cy="2962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4294967295"/>
          </p:nvPr>
        </p:nvSpPr>
        <p:spPr>
          <a:xfrm>
            <a:off x="1" y="1"/>
            <a:ext cx="8776097" cy="6386513"/>
          </a:xfrm>
          <a:prstGeom prst="rect">
            <a:avLst/>
          </a:prstGeom>
        </p:spPr>
        <p:txBody>
          <a:bodyPr>
            <a:normAutofit/>
          </a:bodyPr>
          <a:lstStyle/>
          <a:p>
            <a:pPr marL="0" indent="0" algn="ctr" rtl="1">
              <a:buNone/>
            </a:pPr>
            <a:r>
              <a:rPr lang="ar-DZ" sz="2400" dirty="0" smtClean="0">
                <a:solidFill>
                  <a:srgbClr val="FF0000"/>
                </a:solidFill>
              </a:rPr>
              <a:t>تذكير بقوانين نيوتن الثلاثة</a:t>
            </a:r>
          </a:p>
          <a:p>
            <a:pPr algn="r" rtl="1"/>
            <a:r>
              <a:rPr lang="ar-DZ" sz="2400" dirty="0" smtClean="0">
                <a:solidFill>
                  <a:srgbClr val="FF0000"/>
                </a:solidFill>
              </a:rPr>
              <a:t>قانون </a:t>
            </a:r>
            <a:r>
              <a:rPr lang="ar-DZ" sz="2400" dirty="0">
                <a:solidFill>
                  <a:srgbClr val="FF0000"/>
                </a:solidFill>
              </a:rPr>
              <a:t>نيوتن الأول</a:t>
            </a:r>
          </a:p>
          <a:p>
            <a:pPr algn="r" rtl="1"/>
            <a:r>
              <a:rPr lang="ar-DZ" sz="2400" dirty="0"/>
              <a:t>ينص القانون الأول على أن الجسم الساكن يبقى ساكنا ما لم تؤثر عليه قوة تحركه، وكذلك الجسم المتحرك بسرعة ثابتة يستمر في حركته بسرعة ثابتة مالم تؤثر عليه قوة خارجية. ويأتي هذا القانون كامتداد لرؤية غاليليو غاليلي</a:t>
            </a:r>
            <a:r>
              <a:rPr lang="ar-DZ" sz="2400" dirty="0" smtClean="0"/>
              <a:t>.</a:t>
            </a:r>
            <a:endParaRPr lang="ar-DZ" sz="2400" dirty="0"/>
          </a:p>
          <a:p>
            <a:pPr algn="r" rtl="1"/>
            <a:r>
              <a:rPr lang="ar-DZ" sz="2400" dirty="0" smtClean="0">
                <a:solidFill>
                  <a:srgbClr val="FF0000"/>
                </a:solidFill>
              </a:rPr>
              <a:t>قانون نيوتن الثاني</a:t>
            </a:r>
          </a:p>
          <a:p>
            <a:pPr algn="r" rtl="1"/>
            <a:r>
              <a:rPr lang="ar-DZ" sz="2400" dirty="0" smtClean="0"/>
              <a:t>ينص </a:t>
            </a:r>
            <a:r>
              <a:rPr lang="ar-DZ" sz="2400" dirty="0"/>
              <a:t>على أن جسم ذو كتلة </a:t>
            </a:r>
            <a:r>
              <a:rPr lang="en-US" sz="2400" dirty="0"/>
              <a:t>m </a:t>
            </a:r>
            <a:r>
              <a:rPr lang="ar-DZ" sz="2400" dirty="0" smtClean="0"/>
              <a:t> تحت </a:t>
            </a:r>
            <a:r>
              <a:rPr lang="ar-DZ" sz="2400" dirty="0"/>
              <a:t>تأثير قوة </a:t>
            </a:r>
            <a:r>
              <a:rPr lang="en-US" sz="2400" dirty="0"/>
              <a:t>F </a:t>
            </a:r>
            <a:r>
              <a:rPr lang="ar-DZ" sz="2400" dirty="0" smtClean="0"/>
              <a:t> يكتسب </a:t>
            </a:r>
            <a:r>
              <a:rPr lang="ar-DZ" sz="2400" dirty="0"/>
              <a:t>تسارع </a:t>
            </a:r>
            <a:r>
              <a:rPr lang="en-US" sz="2400" dirty="0" smtClean="0"/>
              <a:t> a </a:t>
            </a:r>
            <a:r>
              <a:rPr lang="ar-DZ" sz="2400" dirty="0"/>
              <a:t>وفقا للقانون التالي</a:t>
            </a:r>
            <a:r>
              <a:rPr lang="ar-DZ" sz="2400" dirty="0" smtClean="0"/>
              <a:t>:</a:t>
            </a:r>
            <a:endParaRPr lang="ar-DZ" sz="2400" dirty="0"/>
          </a:p>
          <a:p>
            <a:pPr algn="r" rtl="1"/>
            <a:r>
              <a:rPr lang="ar-DZ" sz="2400" dirty="0" smtClean="0"/>
              <a:t>حيث</a:t>
            </a:r>
            <a:r>
              <a:rPr lang="ar-DZ" sz="2400" dirty="0"/>
              <a:t>: </a:t>
            </a:r>
            <a:r>
              <a:rPr lang="en-US" sz="2400" dirty="0"/>
              <a:t>F </a:t>
            </a:r>
            <a:r>
              <a:rPr lang="en-US" sz="2400" dirty="0" smtClean="0"/>
              <a:t> </a:t>
            </a:r>
            <a:r>
              <a:rPr lang="ar-DZ" sz="2400" dirty="0" smtClean="0"/>
              <a:t> القوة</a:t>
            </a:r>
            <a:r>
              <a:rPr lang="ar-DZ" sz="2400" dirty="0"/>
              <a:t>، </a:t>
            </a:r>
            <a:r>
              <a:rPr lang="en-US" sz="2400" dirty="0" smtClean="0"/>
              <a:t> m </a:t>
            </a:r>
            <a:r>
              <a:rPr lang="ar-DZ" sz="2400" dirty="0" smtClean="0"/>
              <a:t>الكتلة</a:t>
            </a:r>
            <a:r>
              <a:rPr lang="ar-DZ" sz="2400" dirty="0"/>
              <a:t>، </a:t>
            </a:r>
            <a:r>
              <a:rPr lang="en-US" sz="2400" dirty="0" smtClean="0"/>
              <a:t> a </a:t>
            </a:r>
            <a:r>
              <a:rPr lang="ar-DZ" sz="2400" dirty="0" smtClean="0"/>
              <a:t>التسارع.</a:t>
            </a:r>
            <a:endParaRPr lang="ar-DZ" sz="2400" dirty="0"/>
          </a:p>
          <a:p>
            <a:pPr algn="r" rtl="1"/>
            <a:r>
              <a:rPr lang="ar-DZ" sz="2400" dirty="0">
                <a:solidFill>
                  <a:srgbClr val="C00000"/>
                </a:solidFill>
              </a:rPr>
              <a:t>قانون نيوتن </a:t>
            </a:r>
            <a:r>
              <a:rPr lang="ar-DZ" sz="2400" dirty="0" smtClean="0">
                <a:solidFill>
                  <a:srgbClr val="C00000"/>
                </a:solidFill>
              </a:rPr>
              <a:t>الثالث(وهو الذي يعنينا هنا)</a:t>
            </a:r>
            <a:endParaRPr lang="ar-DZ" sz="2400" dirty="0">
              <a:solidFill>
                <a:srgbClr val="C00000"/>
              </a:solidFill>
            </a:endParaRPr>
          </a:p>
          <a:p>
            <a:pPr algn="r" rtl="1">
              <a:lnSpc>
                <a:spcPct val="100000"/>
              </a:lnSpc>
            </a:pPr>
            <a:r>
              <a:rPr lang="ar-DZ" sz="2400" dirty="0">
                <a:solidFill>
                  <a:srgbClr val="92D050"/>
                </a:solidFill>
              </a:rPr>
              <a:t>ينص على أن أي قوة تؤثر على جسم ما فإن الجسم يؤثر بقوة أخرى مساوية في المقدار للقوة الأولى ومعاكسة لها في الاتجاه</a:t>
            </a:r>
            <a:r>
              <a:rPr lang="ar-DZ" sz="2400" dirty="0" smtClean="0">
                <a:solidFill>
                  <a:srgbClr val="7030A0"/>
                </a:solidFill>
              </a:rPr>
              <a:t>.</a:t>
            </a:r>
          </a:p>
          <a:p>
            <a:pPr algn="r" rtl="1">
              <a:lnSpc>
                <a:spcPct val="100000"/>
              </a:lnSpc>
            </a:pPr>
            <a:r>
              <a:rPr lang="ar-DZ" sz="2400" dirty="0" smtClean="0">
                <a:solidFill>
                  <a:srgbClr val="FFC000"/>
                </a:solidFill>
              </a:rPr>
              <a:t>تنويه هام: ضرورة تحقق التزامن في التأثير</a:t>
            </a:r>
            <a:r>
              <a:rPr lang="ar-DZ" sz="2400" b="1" dirty="0" smtClean="0">
                <a:solidFill>
                  <a:srgbClr val="FFC000"/>
                </a:solidFill>
              </a:rPr>
              <a:t>.</a:t>
            </a:r>
            <a:endParaRPr lang="ar-DZ" sz="2400" b="1" dirty="0">
              <a:solidFill>
                <a:srgbClr val="FFC000"/>
              </a:solidFill>
            </a:endParaRPr>
          </a:p>
        </p:txBody>
      </p:sp>
      <p:pic>
        <p:nvPicPr>
          <p:cNvPr id="4" name="Image 3"/>
          <p:cNvPicPr>
            <a:picLocks noChangeAspect="1"/>
          </p:cNvPicPr>
          <p:nvPr/>
        </p:nvPicPr>
        <p:blipFill>
          <a:blip r:embed="rId2"/>
          <a:stretch>
            <a:fillRect/>
          </a:stretch>
        </p:blipFill>
        <p:spPr>
          <a:xfrm>
            <a:off x="2143108" y="3643314"/>
            <a:ext cx="789385" cy="581026"/>
          </a:xfrm>
          <a:prstGeom prst="rect">
            <a:avLst/>
          </a:prstGeom>
        </p:spPr>
      </p:pic>
      <p:cxnSp>
        <p:nvCxnSpPr>
          <p:cNvPr id="6" name="Connecteur droit avec flèche 5"/>
          <p:cNvCxnSpPr/>
          <p:nvPr/>
        </p:nvCxnSpPr>
        <p:spPr>
          <a:xfrm>
            <a:off x="2214546" y="2857496"/>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7072330" y="3643314"/>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4572000" y="3714752"/>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938942431"/>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anim calcmode="lin" valueType="num">
                                      <p:cBhvr>
                                        <p:cTn id="1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anim calcmode="lin" valueType="num">
                                      <p:cBhvr>
                                        <p:cTn id="2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1000"/>
                                        <p:tgtEl>
                                          <p:spTgt spid="4"/>
                                        </p:tgtEl>
                                      </p:cBhvr>
                                    </p:animEffect>
                                    <p:anim calcmode="lin" valueType="num">
                                      <p:cBhvr>
                                        <p:cTn id="40" dur="1000" fill="hold"/>
                                        <p:tgtEl>
                                          <p:spTgt spid="4"/>
                                        </p:tgtEl>
                                        <p:attrNameLst>
                                          <p:attrName>ppt_x</p:attrName>
                                        </p:attrNameLst>
                                      </p:cBhvr>
                                      <p:tavLst>
                                        <p:tav tm="0">
                                          <p:val>
                                            <p:strVal val="#ppt_x"/>
                                          </p:val>
                                        </p:tav>
                                        <p:tav tm="100000">
                                          <p:val>
                                            <p:strVal val="#ppt_x"/>
                                          </p:val>
                                        </p:tav>
                                      </p:tavLst>
                                    </p:anim>
                                    <p:anim calcmode="lin" valueType="num">
                                      <p:cBhvr>
                                        <p:cTn id="4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barn(inVertical)">
                                      <p:cBhvr>
                                        <p:cTn id="46" dur="500"/>
                                        <p:tgtEl>
                                          <p:spTgt spid="3">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wipe(down)">
                                      <p:cBhvr>
                                        <p:cTn id="51" dur="500"/>
                                        <p:tgtEl>
                                          <p:spTgt spid="3">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wipe(down)">
                                      <p:cBhvr>
                                        <p:cTn id="5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p:cNvPicPr>
            <a:picLocks noGrp="1" noChangeAspect="1"/>
          </p:cNvPicPr>
          <p:nvPr>
            <p:ph sz="quarter" idx="4294967295"/>
          </p:nvPr>
        </p:nvPicPr>
        <p:blipFill>
          <a:blip r:embed="rId2">
            <a:extLst>
              <a:ext uri="{28A0092B-C50C-407E-A947-70E740481C1C}">
                <a14:useLocalDpi xmlns:a14="http://schemas.microsoft.com/office/drawing/2010/main" xmlns="" val="0"/>
              </a:ext>
            </a:extLst>
          </a:blip>
          <a:stretch>
            <a:fillRect/>
          </a:stretch>
        </p:blipFill>
        <p:spPr>
          <a:xfrm>
            <a:off x="428596" y="1714488"/>
            <a:ext cx="7797662" cy="3998794"/>
          </a:xfrm>
          <a:prstGeom prst="rect">
            <a:avLst/>
          </a:prstGeom>
        </p:spPr>
      </p:pic>
      <p:sp>
        <p:nvSpPr>
          <p:cNvPr id="4" name="Titre 1"/>
          <p:cNvSpPr>
            <a:spLocks noGrp="1"/>
          </p:cNvSpPr>
          <p:nvPr>
            <p:ph type="title"/>
          </p:nvPr>
        </p:nvSpPr>
        <p:spPr>
          <a:xfrm>
            <a:off x="457200" y="274638"/>
            <a:ext cx="8043890" cy="1143000"/>
          </a:xfrm>
        </p:spPr>
        <p:txBody>
          <a:bodyPr>
            <a:normAutofit fontScale="90000"/>
          </a:bodyPr>
          <a:lstStyle/>
          <a:p>
            <a:pPr algn="ctr"/>
            <a:r>
              <a:rPr lang="ar-DZ" dirty="0" smtClean="0"/>
              <a:t>توازن </a:t>
            </a:r>
            <a:r>
              <a:rPr lang="ar-DZ" dirty="0"/>
              <a:t>جسم صلب خاضع لعدة </a:t>
            </a:r>
            <a:r>
              <a:rPr lang="ar-DZ" dirty="0" smtClean="0"/>
              <a:t>قوى</a:t>
            </a:r>
            <a:br>
              <a:rPr lang="ar-DZ" dirty="0" smtClean="0"/>
            </a:br>
            <a:r>
              <a:rPr lang="ar-DZ" dirty="0" smtClean="0"/>
              <a:t>حسب المنهاج ص45</a:t>
            </a:r>
            <a:endParaRPr lang="ar-DZ" dirty="0"/>
          </a:p>
        </p:txBody>
      </p:sp>
    </p:spTree>
    <p:extLst>
      <p:ext uri="{BB962C8B-B14F-4D97-AF65-F5344CB8AC3E}">
        <p14:creationId xmlns:p14="http://schemas.microsoft.com/office/powerpoint/2010/main" xmlns="" val="3516120377"/>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ar-DZ" dirty="0" smtClean="0">
                <a:solidFill>
                  <a:srgbClr val="FFC000"/>
                </a:solidFill>
              </a:rPr>
              <a:t>مركبات الكفاءة</a:t>
            </a:r>
            <a:endParaRPr lang="fr-FR" dirty="0">
              <a:solidFill>
                <a:srgbClr val="FFC000"/>
              </a:solidFill>
            </a:endParaRPr>
          </a:p>
        </p:txBody>
      </p:sp>
      <p:sp>
        <p:nvSpPr>
          <p:cNvPr id="3" name="Espace réservé du contenu 2"/>
          <p:cNvSpPr>
            <a:spLocks noGrp="1"/>
          </p:cNvSpPr>
          <p:nvPr>
            <p:ph idx="1"/>
          </p:nvPr>
        </p:nvSpPr>
        <p:spPr>
          <a:xfrm>
            <a:off x="0" y="1428736"/>
            <a:ext cx="9144000" cy="5429264"/>
          </a:xfrm>
        </p:spPr>
        <p:txBody>
          <a:bodyPr/>
          <a:lstStyle/>
          <a:p>
            <a:pPr algn="r" rtl="1"/>
            <a:r>
              <a:rPr lang="ar-DZ" dirty="0" smtClean="0"/>
              <a:t>1</a:t>
            </a:r>
            <a:r>
              <a:rPr lang="ar-DZ" sz="3600" dirty="0" smtClean="0"/>
              <a:t> ــ </a:t>
            </a:r>
            <a:r>
              <a:rPr lang="ar-SA" sz="3600" dirty="0" smtClean="0"/>
              <a:t>يوظف مفهومي الجملة الميكانيكية والقوة لتحديد الأفعال المتبادلة بين الأجسام المادية باعتبارها جمل ميكانيكية</a:t>
            </a:r>
            <a:r>
              <a:rPr lang="ar-DZ" sz="3600" dirty="0" smtClean="0"/>
              <a:t>.</a:t>
            </a:r>
            <a:endParaRPr lang="fr-FR" sz="3600" dirty="0" smtClean="0"/>
          </a:p>
          <a:p>
            <a:pPr algn="r" rtl="1"/>
            <a:r>
              <a:rPr lang="ar-SA" sz="3600" dirty="0" smtClean="0"/>
              <a:t>- يوظف مفهوم القوة </a:t>
            </a:r>
            <a:r>
              <a:rPr lang="ar-SA" sz="3600" dirty="0" err="1" smtClean="0"/>
              <a:t>لنمذجة</a:t>
            </a:r>
            <a:r>
              <a:rPr lang="ar-SA" sz="3600" dirty="0" smtClean="0"/>
              <a:t> حالات التوازن المألوفة</a:t>
            </a:r>
            <a:r>
              <a:rPr lang="ar-DZ" dirty="0" smtClean="0"/>
              <a:t> .</a:t>
            </a:r>
            <a:endParaRPr lang="fr-F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0" y="785794"/>
            <a:ext cx="9144000" cy="6072206"/>
          </a:xfrm>
        </p:spPr>
        <p:txBody>
          <a:bodyPr>
            <a:normAutofit/>
          </a:bodyPr>
          <a:lstStyle/>
          <a:p>
            <a:pPr algn="ctr">
              <a:buNone/>
            </a:pPr>
            <a:endParaRPr lang="ar-DZ" sz="5400" dirty="0" smtClean="0">
              <a:solidFill>
                <a:srgbClr val="FFFF00"/>
              </a:solidFill>
              <a:latin typeface="Microsoft Sans Serif" pitchFamily="34" charset="0"/>
              <a:cs typeface="Microsoft Sans Serif" pitchFamily="34" charset="0"/>
            </a:endParaRPr>
          </a:p>
          <a:p>
            <a:pPr algn="r" rtl="1"/>
            <a:r>
              <a:rPr lang="ar-DZ" sz="4000" dirty="0" smtClean="0">
                <a:latin typeface="Estrangelo Edessa" pitchFamily="66" charset="0"/>
                <a:cs typeface="Estrangelo Edessa" pitchFamily="66" charset="0"/>
              </a:rPr>
              <a:t>ــ </a:t>
            </a:r>
            <a:r>
              <a:rPr lang="ar-SA" sz="4400" dirty="0" smtClean="0"/>
              <a:t>يحدد القوى المطبقة على جسم صلب في حالة توازن </a:t>
            </a:r>
            <a:r>
              <a:rPr lang="ar-SA" sz="4400" dirty="0" err="1" smtClean="0"/>
              <a:t>و</a:t>
            </a:r>
            <a:r>
              <a:rPr lang="ar-SA" sz="4400" dirty="0" smtClean="0"/>
              <a:t> يمثلها بأشعة.</a:t>
            </a:r>
            <a:endParaRPr lang="fr-FR" sz="4400" dirty="0" smtClean="0"/>
          </a:p>
          <a:p>
            <a:pPr algn="r" rtl="1"/>
            <a:r>
              <a:rPr lang="ar-SA" sz="4400" dirty="0" smtClean="0"/>
              <a:t>- يستنتج خصائص القوة (المنحى-الشدة-الجهة ) </a:t>
            </a:r>
            <a:r>
              <a:rPr lang="ar-DZ" sz="4400" dirty="0" smtClean="0"/>
              <a:t>ب</a:t>
            </a:r>
            <a:r>
              <a:rPr lang="ar-SA" sz="4400" dirty="0" smtClean="0"/>
              <a:t>معرفة خصائص القوى الأخرى المطبقة على الجسم عند التوازن .</a:t>
            </a:r>
            <a:endParaRPr lang="ar-DZ" sz="4400" dirty="0" smtClean="0">
              <a:latin typeface="Estrangelo Edessa" pitchFamily="66" charset="0"/>
              <a:cs typeface="Estrangelo Edessa" pitchFamily="66" charset="0"/>
            </a:endParaRPr>
          </a:p>
          <a:p>
            <a:pPr algn="r"/>
            <a:endParaRPr lang="fr-FR" sz="4400" dirty="0"/>
          </a:p>
        </p:txBody>
      </p:sp>
      <p:sp>
        <p:nvSpPr>
          <p:cNvPr id="4" name="Titre 3"/>
          <p:cNvSpPr>
            <a:spLocks noGrp="1"/>
          </p:cNvSpPr>
          <p:nvPr>
            <p:ph type="title"/>
          </p:nvPr>
        </p:nvSpPr>
        <p:spPr/>
        <p:txBody>
          <a:bodyPr/>
          <a:lstStyle/>
          <a:p>
            <a:pPr algn="ctr" rtl="1"/>
            <a:r>
              <a:rPr lang="ar-DZ" sz="4800" dirty="0" smtClean="0">
                <a:solidFill>
                  <a:srgbClr val="FFFF00"/>
                </a:solidFill>
                <a:latin typeface="Microsoft Sans Serif" pitchFamily="34" charset="0"/>
                <a:cs typeface="Microsoft Sans Serif" pitchFamily="34" charset="0"/>
              </a:rPr>
              <a:t>الأهداف </a:t>
            </a:r>
            <a:r>
              <a:rPr lang="ar-DZ" sz="4800" dirty="0" err="1" smtClean="0">
                <a:solidFill>
                  <a:srgbClr val="FFFF00"/>
                </a:solidFill>
                <a:latin typeface="Microsoft Sans Serif" pitchFamily="34" charset="0"/>
                <a:cs typeface="Microsoft Sans Serif" pitchFamily="34" charset="0"/>
              </a:rPr>
              <a:t>التعلمية</a:t>
            </a:r>
            <a:endParaRPr lang="fr-F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4294967295"/>
          </p:nvPr>
        </p:nvSpPr>
        <p:spPr>
          <a:xfrm>
            <a:off x="357158" y="1142984"/>
            <a:ext cx="8404705" cy="5214974"/>
          </a:xfrm>
          <a:prstGeom prst="rect">
            <a:avLst/>
          </a:prstGeom>
        </p:spPr>
        <p:txBody>
          <a:bodyPr>
            <a:normAutofit/>
          </a:bodyPr>
          <a:lstStyle/>
          <a:p>
            <a:pPr marL="0" indent="0" algn="r" rtl="1">
              <a:buNone/>
            </a:pPr>
            <a:r>
              <a:rPr lang="ar-DZ" sz="2800" dirty="0" smtClean="0">
                <a:solidFill>
                  <a:srgbClr val="FF0000"/>
                </a:solidFill>
              </a:rPr>
              <a:t>المستلزمات القبلية: </a:t>
            </a:r>
          </a:p>
          <a:p>
            <a:pPr algn="r" rtl="1"/>
            <a:r>
              <a:rPr lang="ar-DZ" sz="2800" dirty="0" smtClean="0">
                <a:solidFill>
                  <a:srgbClr val="002060"/>
                </a:solidFill>
              </a:rPr>
              <a:t> </a:t>
            </a:r>
            <a:r>
              <a:rPr lang="ar-DZ" sz="2400" dirty="0" smtClean="0"/>
              <a:t>مميزات القوة: نقطة التأثير، الجهة،الحامل(المنحى )، وشدة القوة(القيمة)</a:t>
            </a:r>
          </a:p>
          <a:p>
            <a:pPr algn="r" rtl="1"/>
            <a:r>
              <a:rPr lang="ar-DZ" sz="2400" dirty="0" smtClean="0"/>
              <a:t>تمثل القوة بسهم .</a:t>
            </a:r>
          </a:p>
          <a:p>
            <a:pPr algn="r" rtl="1"/>
            <a:r>
              <a:rPr lang="ar-DZ" sz="2400" dirty="0" smtClean="0"/>
              <a:t>تصنف التأثيرات إلى صنفين: بالتماس وعن بعد.</a:t>
            </a:r>
          </a:p>
          <a:p>
            <a:pPr algn="r" rtl="1"/>
            <a:r>
              <a:rPr lang="ar-DZ" sz="2400" b="1" dirty="0" smtClean="0">
                <a:solidFill>
                  <a:srgbClr val="FF0000"/>
                </a:solidFill>
              </a:rPr>
              <a:t>تنويه: ثابت مرونة النابض خارج البرنامج(صفحة44).</a:t>
            </a:r>
          </a:p>
          <a:p>
            <a:pPr marL="0" indent="0" algn="r" rtl="1">
              <a:lnSpc>
                <a:spcPct val="100000"/>
              </a:lnSpc>
              <a:buNone/>
            </a:pPr>
            <a:r>
              <a:rPr lang="ar-DZ" sz="2400" dirty="0" smtClean="0">
                <a:solidFill>
                  <a:srgbClr val="FF0000"/>
                </a:solidFill>
              </a:rPr>
              <a:t>تمهيد: </a:t>
            </a:r>
            <a:r>
              <a:rPr lang="ar-DZ" sz="2400" dirty="0" smtClean="0"/>
              <a:t>من الشكل المقابل استخرج الجسم الذي يكون في وضع متوازن مع التعليل؟.</a:t>
            </a:r>
          </a:p>
        </p:txBody>
      </p:sp>
      <p:sp>
        <p:nvSpPr>
          <p:cNvPr id="5" name="Titre 4"/>
          <p:cNvSpPr>
            <a:spLocks noGrp="1"/>
          </p:cNvSpPr>
          <p:nvPr>
            <p:ph type="title"/>
          </p:nvPr>
        </p:nvSpPr>
        <p:spPr>
          <a:xfrm>
            <a:off x="428596" y="214290"/>
            <a:ext cx="7901014" cy="917596"/>
          </a:xfrm>
        </p:spPr>
        <p:txBody>
          <a:bodyPr>
            <a:normAutofit fontScale="90000"/>
          </a:bodyPr>
          <a:lstStyle/>
          <a:p>
            <a:pPr algn="ctr"/>
            <a:r>
              <a:rPr lang="ar-DZ" dirty="0" smtClean="0"/>
              <a:t/>
            </a:r>
            <a:br>
              <a:rPr lang="ar-DZ" dirty="0" smtClean="0"/>
            </a:br>
            <a:r>
              <a:rPr lang="ar-DZ" dirty="0" smtClean="0"/>
              <a:t>1- </a:t>
            </a:r>
            <a:r>
              <a:rPr lang="ar-DZ" dirty="0"/>
              <a:t>توازن جسم صلب خاضع </a:t>
            </a:r>
            <a:r>
              <a:rPr lang="ar-DZ" dirty="0" smtClean="0"/>
              <a:t>لقوتين</a:t>
            </a:r>
            <a:r>
              <a:rPr lang="ar-DZ" dirty="0"/>
              <a:t/>
            </a:r>
            <a:br>
              <a:rPr lang="ar-DZ" dirty="0"/>
            </a:br>
            <a:endParaRPr lang="ar-DZ" dirty="0"/>
          </a:p>
        </p:txBody>
      </p:sp>
      <p:pic>
        <p:nvPicPr>
          <p:cNvPr id="35842" name="Picture 2"/>
          <p:cNvPicPr>
            <a:picLocks noChangeAspect="1" noChangeArrowheads="1"/>
          </p:cNvPicPr>
          <p:nvPr/>
        </p:nvPicPr>
        <p:blipFill>
          <a:blip r:embed="rId2"/>
          <a:srcRect/>
          <a:stretch>
            <a:fillRect/>
          </a:stretch>
        </p:blipFill>
        <p:spPr bwMode="auto">
          <a:xfrm>
            <a:off x="9525" y="5057775"/>
            <a:ext cx="9134475" cy="1800225"/>
          </a:xfrm>
          <a:prstGeom prst="rect">
            <a:avLst/>
          </a:prstGeom>
          <a:noFill/>
          <a:ln w="9525">
            <a:noFill/>
            <a:miter lim="800000"/>
            <a:headEnd/>
            <a:tailEnd/>
          </a:ln>
          <a:effectLst/>
        </p:spPr>
      </p:pic>
    </p:spTree>
    <p:extLst>
      <p:ext uri="{BB962C8B-B14F-4D97-AF65-F5344CB8AC3E}">
        <p14:creationId xmlns:p14="http://schemas.microsoft.com/office/powerpoint/2010/main" xmlns="" val="1154653129"/>
      </p:ext>
    </p:extLst>
  </p:cSld>
  <p:clrMapOvr>
    <a:masterClrMapping/>
  </p:clrMapOvr>
  <mc:AlternateContent xmlns:mc="http://schemas.openxmlformats.org/markup-compatibility/2006">
    <mc:Choice xmlns:p15="http://schemas.microsoft.com/office/powerpoint/2012/main" xmlns="" Requires="p15">
      <p:transition xmlns:p14="http://schemas.microsoft.com/office/powerpoint/2010/main" spd="slow" p14:dur="5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rtl="1"/>
            <a:r>
              <a:rPr lang="ar-DZ" dirty="0" smtClean="0"/>
              <a:t>1/توازن جسم صلب خاضع لقوتين</a:t>
            </a:r>
            <a:br>
              <a:rPr lang="ar-DZ" dirty="0" smtClean="0"/>
            </a:br>
            <a:r>
              <a:rPr lang="ar-DZ" dirty="0" smtClean="0"/>
              <a:t> </a:t>
            </a:r>
            <a:endParaRPr lang="fr-FR" dirty="0"/>
          </a:p>
        </p:txBody>
      </p:sp>
      <p:sp>
        <p:nvSpPr>
          <p:cNvPr id="3" name="Espace réservé du contenu 2"/>
          <p:cNvSpPr>
            <a:spLocks noGrp="1"/>
          </p:cNvSpPr>
          <p:nvPr>
            <p:ph idx="1"/>
          </p:nvPr>
        </p:nvSpPr>
        <p:spPr>
          <a:xfrm>
            <a:off x="500034" y="1214422"/>
            <a:ext cx="7467600" cy="4525963"/>
          </a:xfrm>
        </p:spPr>
        <p:txBody>
          <a:bodyPr/>
          <a:lstStyle/>
          <a:p>
            <a:pPr algn="r" rtl="1"/>
            <a:r>
              <a:rPr lang="ar-DZ" b="1" dirty="0" smtClean="0">
                <a:solidFill>
                  <a:srgbClr val="FF0000"/>
                </a:solidFill>
              </a:rPr>
              <a:t>تمعّن</a:t>
            </a:r>
            <a:endParaRPr lang="fr-FR" dirty="0" smtClean="0">
              <a:solidFill>
                <a:srgbClr val="FF0000"/>
              </a:solidFill>
            </a:endParaRPr>
          </a:p>
          <a:p>
            <a:pPr lvl="0" algn="r" rtl="1"/>
            <a:r>
              <a:rPr lang="ar-DZ" dirty="0" smtClean="0"/>
              <a:t>الأجسام الموضحة في الصور (الوثيقة1) كلها مـتـوازنـة تحت تـأثير قـوتين، حــاول أن تكتشفهما في كل صورة.</a:t>
            </a:r>
            <a:endParaRPr lang="fr-FR" dirty="0" smtClean="0"/>
          </a:p>
          <a:p>
            <a:pPr algn="r"/>
            <a:endParaRPr lang="fr-FR" dirty="0"/>
          </a:p>
        </p:txBody>
      </p:sp>
      <p:pic>
        <p:nvPicPr>
          <p:cNvPr id="4" name="Image 3"/>
          <p:cNvPicPr/>
          <p:nvPr/>
        </p:nvPicPr>
        <p:blipFill>
          <a:blip r:embed="rId2" cstate="print">
            <a:extLst>
              <a:ext uri="{28A0092B-C50C-407E-A947-70E740481C1C}">
                <a14:useLocalDpi xmlns:lc="http://schemas.openxmlformats.org/drawingml/2006/lockedCanvas" xmlns:pic="http://schemas.openxmlformats.org/drawingml/2006/picture" xmlns:arto="http://schemas.microsoft.com/office/word/2006/arto"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val="0"/>
              </a:ext>
            </a:extLst>
          </a:blip>
          <a:srcRect/>
          <a:stretch>
            <a:fillRect/>
          </a:stretch>
        </p:blipFill>
        <p:spPr bwMode="auto">
          <a:xfrm>
            <a:off x="0" y="3643314"/>
            <a:ext cx="9144000" cy="3214686"/>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ar-DZ" dirty="0" smtClean="0"/>
              <a:t>الأنشطة المقترحة للوصول إلى الأهداف </a:t>
            </a:r>
            <a:r>
              <a:rPr lang="ar-DZ" dirty="0" err="1" smtClean="0"/>
              <a:t>التعلمية</a:t>
            </a:r>
            <a:endParaRPr lang="fr-FR" dirty="0"/>
          </a:p>
        </p:txBody>
      </p:sp>
      <p:sp>
        <p:nvSpPr>
          <p:cNvPr id="3" name="Espace réservé du contenu 2"/>
          <p:cNvSpPr>
            <a:spLocks noGrp="1"/>
          </p:cNvSpPr>
          <p:nvPr>
            <p:ph idx="1"/>
          </p:nvPr>
        </p:nvSpPr>
        <p:spPr>
          <a:xfrm>
            <a:off x="0" y="1357298"/>
            <a:ext cx="9144000" cy="5500702"/>
          </a:xfrm>
        </p:spPr>
        <p:txBody>
          <a:bodyPr>
            <a:normAutofit/>
          </a:bodyPr>
          <a:lstStyle/>
          <a:p>
            <a:pPr algn="r" rtl="1"/>
            <a:r>
              <a:rPr lang="ar-DZ" dirty="0" smtClean="0">
                <a:solidFill>
                  <a:srgbClr val="FF0000"/>
                </a:solidFill>
              </a:rPr>
              <a:t>نشاط 1 </a:t>
            </a:r>
            <a:r>
              <a:rPr lang="ar-DZ" dirty="0" err="1" smtClean="0">
                <a:solidFill>
                  <a:srgbClr val="FF0000"/>
                </a:solidFill>
              </a:rPr>
              <a:t>ـ</a:t>
            </a:r>
            <a:r>
              <a:rPr lang="ar-DZ" dirty="0" smtClean="0">
                <a:solidFill>
                  <a:srgbClr val="FF0000"/>
                </a:solidFill>
              </a:rPr>
              <a:t> من نقطتين</a:t>
            </a:r>
          </a:p>
          <a:p>
            <a:pPr lvl="0" algn="r" rtl="1"/>
            <a:r>
              <a:rPr lang="ar-DZ" dirty="0" smtClean="0"/>
              <a:t>ثبت الخيط الأول بالنقطة </a:t>
            </a:r>
            <a:r>
              <a:rPr lang="fr-FR" dirty="0" smtClean="0"/>
              <a:t>A </a:t>
            </a:r>
            <a:r>
              <a:rPr lang="ar-DZ" dirty="0" smtClean="0"/>
              <a:t>من</a:t>
            </a:r>
          </a:p>
          <a:p>
            <a:pPr lvl="0" algn="r" rtl="1">
              <a:buNone/>
            </a:pPr>
            <a:r>
              <a:rPr lang="ar-DZ" dirty="0" smtClean="0"/>
              <a:t> الجسم </a:t>
            </a:r>
            <a:r>
              <a:rPr lang="ar-DZ" dirty="0" err="1" smtClean="0"/>
              <a:t>و</a:t>
            </a:r>
            <a:r>
              <a:rPr lang="ar-DZ" dirty="0" smtClean="0"/>
              <a:t> طرفه الثاني </a:t>
            </a:r>
            <a:r>
              <a:rPr lang="ar-DZ" dirty="0" err="1" smtClean="0"/>
              <a:t>بالربيعة</a:t>
            </a:r>
            <a:r>
              <a:rPr lang="ar-DZ" dirty="0" smtClean="0"/>
              <a:t> </a:t>
            </a:r>
            <a:r>
              <a:rPr lang="fr-FR" dirty="0" smtClean="0"/>
              <a:t>D</a:t>
            </a:r>
            <a:r>
              <a:rPr lang="fr-FR" sz="2000" dirty="0" smtClean="0"/>
              <a:t>2</a:t>
            </a:r>
            <a:r>
              <a:rPr lang="ar-DZ" dirty="0" smtClean="0"/>
              <a:t> </a:t>
            </a:r>
          </a:p>
          <a:p>
            <a:pPr lvl="0" algn="r" rtl="1">
              <a:buNone/>
            </a:pPr>
            <a:r>
              <a:rPr lang="ar-DZ" dirty="0" smtClean="0"/>
              <a:t>التي تٌثبت بعارضة.</a:t>
            </a:r>
            <a:endParaRPr lang="fr-FR" dirty="0" smtClean="0"/>
          </a:p>
          <a:p>
            <a:pPr lvl="0" algn="r" rtl="1"/>
            <a:r>
              <a:rPr lang="ar-DZ" dirty="0" smtClean="0"/>
              <a:t>-  ثبت الخيط الثاني بالنقطة </a:t>
            </a:r>
            <a:r>
              <a:rPr lang="fr-FR" dirty="0" smtClean="0"/>
              <a:t>B </a:t>
            </a:r>
            <a:endParaRPr lang="ar-DZ" dirty="0" smtClean="0"/>
          </a:p>
          <a:p>
            <a:pPr lvl="0" algn="r" rtl="1">
              <a:buNone/>
            </a:pPr>
            <a:r>
              <a:rPr lang="ar-DZ" dirty="0" smtClean="0"/>
              <a:t>من الجسم </a:t>
            </a:r>
            <a:r>
              <a:rPr lang="ar-DZ" dirty="0" err="1" smtClean="0"/>
              <a:t>و</a:t>
            </a:r>
            <a:r>
              <a:rPr lang="ar-DZ" dirty="0" smtClean="0"/>
              <a:t> طرفه الثاني </a:t>
            </a:r>
            <a:r>
              <a:rPr lang="ar-DZ" dirty="0" err="1" smtClean="0"/>
              <a:t>بالربيعة</a:t>
            </a:r>
            <a:r>
              <a:rPr lang="ar-DZ" dirty="0" smtClean="0"/>
              <a:t> </a:t>
            </a:r>
            <a:r>
              <a:rPr lang="fr-FR" dirty="0" smtClean="0"/>
              <a:t>D</a:t>
            </a:r>
            <a:r>
              <a:rPr lang="fr-FR" sz="1800" dirty="0" smtClean="0"/>
              <a:t>1</a:t>
            </a:r>
            <a:r>
              <a:rPr lang="ar-DZ" dirty="0" smtClean="0"/>
              <a:t> التي تٌثبت بعارضة.</a:t>
            </a:r>
            <a:endParaRPr lang="fr-FR" dirty="0" smtClean="0"/>
          </a:p>
          <a:p>
            <a:pPr lvl="0" algn="r" rtl="1"/>
            <a:r>
              <a:rPr lang="ar-DZ" dirty="0" smtClean="0"/>
              <a:t>اسحب إحدى الربيعتين بقوة  </a:t>
            </a:r>
            <a:r>
              <a:rPr lang="ar-DZ" dirty="0" err="1" smtClean="0"/>
              <a:t>و</a:t>
            </a:r>
            <a:r>
              <a:rPr lang="ar-DZ" dirty="0" smtClean="0"/>
              <a:t> ثبتها في العارضة بحيث يكون الخيطان مشدودين.</a:t>
            </a:r>
            <a:endParaRPr lang="fr-FR" dirty="0" smtClean="0"/>
          </a:p>
          <a:p>
            <a:pPr lvl="0" algn="r" rtl="1"/>
            <a:r>
              <a:rPr lang="ar-DZ" dirty="0" smtClean="0"/>
              <a:t>حرّك الجسم </a:t>
            </a:r>
            <a:r>
              <a:rPr lang="fr-FR" dirty="0" smtClean="0"/>
              <a:t>(s)</a:t>
            </a:r>
            <a:r>
              <a:rPr lang="ar-DZ" dirty="0" smtClean="0"/>
              <a:t> نحو الأعلى أو نحو الأسفل قليلا.</a:t>
            </a:r>
            <a:endParaRPr lang="fr-FR" dirty="0" smtClean="0"/>
          </a:p>
          <a:p>
            <a:pPr algn="r" rtl="1"/>
            <a:endParaRPr lang="fr-FR" dirty="0"/>
          </a:p>
        </p:txBody>
      </p:sp>
      <p:pic>
        <p:nvPicPr>
          <p:cNvPr id="5" name="Picture 2"/>
          <p:cNvPicPr>
            <a:picLocks noChangeAspect="1" noChangeArrowheads="1"/>
          </p:cNvPicPr>
          <p:nvPr/>
        </p:nvPicPr>
        <p:blipFill>
          <a:blip r:embed="rId2"/>
          <a:srcRect/>
          <a:stretch>
            <a:fillRect/>
          </a:stretch>
        </p:blipFill>
        <p:spPr bwMode="auto">
          <a:xfrm>
            <a:off x="0" y="1714488"/>
            <a:ext cx="3571900" cy="22860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5"/>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8" name="Rectangle 7"/>
          <p:cNvSpPr/>
          <p:nvPr/>
        </p:nvSpPr>
        <p:spPr>
          <a:xfrm>
            <a:off x="785786" y="785794"/>
            <a:ext cx="7715304" cy="2862322"/>
          </a:xfrm>
          <a:prstGeom prst="rect">
            <a:avLst/>
          </a:prstGeom>
        </p:spPr>
        <p:txBody>
          <a:bodyPr wrap="square">
            <a:spAutoFit/>
          </a:bodyPr>
          <a:lstStyle/>
          <a:p>
            <a:pPr lvl="0" algn="r" rtl="1"/>
            <a:r>
              <a:rPr lang="ar-DZ" sz="3600" dirty="0" smtClean="0"/>
              <a:t>ماذا تلاحظ  على الجسم </a:t>
            </a:r>
            <a:r>
              <a:rPr lang="fr-FR" sz="3600" dirty="0" smtClean="0"/>
              <a:t>(s) </a:t>
            </a:r>
            <a:r>
              <a:rPr lang="ar-DZ" sz="3600" dirty="0" smtClean="0"/>
              <a:t>؟</a:t>
            </a:r>
            <a:endParaRPr lang="fr-FR" sz="3600" dirty="0" smtClean="0"/>
          </a:p>
          <a:p>
            <a:pPr algn="r" rtl="1"/>
            <a:r>
              <a:rPr lang="ar-DZ" sz="3600" dirty="0" smtClean="0"/>
              <a:t>قارن ، عند التوازن ، بين القوتين </a:t>
            </a:r>
            <a:r>
              <a:rPr lang="fr-FR" sz="3600" dirty="0" smtClean="0"/>
              <a:t>F</a:t>
            </a:r>
            <a:r>
              <a:rPr lang="fr-FR" sz="3600" baseline="-25000" dirty="0" smtClean="0"/>
              <a:t>A </a:t>
            </a:r>
            <a:r>
              <a:rPr lang="ar-DZ" sz="3600" dirty="0" smtClean="0"/>
              <a:t> و </a:t>
            </a:r>
            <a:r>
              <a:rPr lang="fr-FR" sz="3600" dirty="0" smtClean="0"/>
              <a:t>F</a:t>
            </a:r>
            <a:r>
              <a:rPr lang="fr-FR" sz="3600" baseline="-25000" dirty="0" smtClean="0"/>
              <a:t>B</a:t>
            </a:r>
            <a:r>
              <a:rPr lang="ar-DZ" sz="3600" baseline="-25000" dirty="0" smtClean="0"/>
              <a:t>  </a:t>
            </a:r>
            <a:r>
              <a:rPr lang="ar-DZ" sz="3600" dirty="0" smtClean="0"/>
              <a:t>من حيث الحامل </a:t>
            </a:r>
            <a:r>
              <a:rPr lang="ar-DZ" sz="3600" dirty="0" err="1" smtClean="0"/>
              <a:t>و</a:t>
            </a:r>
            <a:r>
              <a:rPr lang="ar-DZ" sz="3600" dirty="0" smtClean="0"/>
              <a:t> الشدة </a:t>
            </a:r>
            <a:r>
              <a:rPr lang="ar-DZ" sz="3600" dirty="0" err="1" smtClean="0"/>
              <a:t>و</a:t>
            </a:r>
            <a:r>
              <a:rPr lang="ar-DZ" sz="3600" dirty="0" smtClean="0"/>
              <a:t> الاتجاه.</a:t>
            </a:r>
          </a:p>
          <a:p>
            <a:pPr lvl="0" algn="r" rtl="1"/>
            <a:r>
              <a:rPr lang="ar-DZ" sz="3600" dirty="0" smtClean="0"/>
              <a:t>ماذا تستنتج  كشرط توازن في حالة قوتين ؟</a:t>
            </a:r>
            <a:r>
              <a:rPr lang="fr-FR" sz="3600" dirty="0" smtClean="0"/>
              <a:t>.</a:t>
            </a:r>
          </a:p>
        </p:txBody>
      </p:sp>
      <p:cxnSp>
        <p:nvCxnSpPr>
          <p:cNvPr id="4" name="Connecteur droit avec flèche 3"/>
          <p:cNvCxnSpPr/>
          <p:nvPr/>
        </p:nvCxnSpPr>
        <p:spPr>
          <a:xfrm>
            <a:off x="1928794" y="1357298"/>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 name="Connecteur droit avec flèche 4"/>
          <p:cNvCxnSpPr/>
          <p:nvPr/>
        </p:nvCxnSpPr>
        <p:spPr>
          <a:xfrm>
            <a:off x="1000100" y="1357298"/>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ar-DZ" dirty="0" smtClean="0"/>
              <a:t>الموارد المعرفية </a:t>
            </a:r>
            <a:endParaRPr lang="fr-FR" dirty="0"/>
          </a:p>
        </p:txBody>
      </p:sp>
      <p:sp>
        <p:nvSpPr>
          <p:cNvPr id="3" name="Espace réservé du contenu 2"/>
          <p:cNvSpPr>
            <a:spLocks noGrp="1"/>
          </p:cNvSpPr>
          <p:nvPr>
            <p:ph idx="1"/>
          </p:nvPr>
        </p:nvSpPr>
        <p:spPr>
          <a:xfrm>
            <a:off x="214282" y="1600200"/>
            <a:ext cx="8715436" cy="4525963"/>
          </a:xfrm>
        </p:spPr>
        <p:txBody>
          <a:bodyPr/>
          <a:lstStyle/>
          <a:p>
            <a:pPr lvl="0" algn="r" rtl="1"/>
            <a:r>
              <a:rPr lang="ar-DZ" dirty="0" smtClean="0"/>
              <a:t>يتوازن جسم صلب خاضع لقوتين </a:t>
            </a:r>
            <a:r>
              <a:rPr lang="fr-FR" dirty="0" smtClean="0"/>
              <a:t>F</a:t>
            </a:r>
            <a:r>
              <a:rPr lang="fr-FR" baseline="-25000" dirty="0" smtClean="0"/>
              <a:t>1</a:t>
            </a:r>
            <a:r>
              <a:rPr lang="fr-FR" dirty="0" smtClean="0"/>
              <a:t>   </a:t>
            </a:r>
            <a:r>
              <a:rPr lang="ar-DZ" dirty="0" smtClean="0"/>
              <a:t>و  </a:t>
            </a:r>
            <a:r>
              <a:rPr lang="fr-FR" dirty="0" smtClean="0"/>
              <a:t>    F</a:t>
            </a:r>
            <a:r>
              <a:rPr lang="fr-FR" baseline="-25000" dirty="0" smtClean="0"/>
              <a:t>2</a:t>
            </a:r>
            <a:r>
              <a:rPr lang="ar-DZ" dirty="0" smtClean="0"/>
              <a:t>تؤثران في نقطتين مختلفتين منه عندما يتحقق الشرطان التاليان :</a:t>
            </a:r>
            <a:endParaRPr lang="fr-FR" dirty="0" smtClean="0"/>
          </a:p>
          <a:p>
            <a:pPr algn="r" rtl="1">
              <a:buNone/>
            </a:pPr>
            <a:r>
              <a:rPr lang="ar-DZ" dirty="0" smtClean="0"/>
              <a:t>1 - للقوتين نفس الحامل .</a:t>
            </a:r>
            <a:endParaRPr lang="fr-FR" dirty="0" smtClean="0"/>
          </a:p>
          <a:p>
            <a:pPr algn="r" rtl="1">
              <a:buNone/>
            </a:pPr>
            <a:r>
              <a:rPr lang="ar-DZ" dirty="0" smtClean="0"/>
              <a:t>2- للقوتين اتجاهان متعاكسان .</a:t>
            </a:r>
            <a:endParaRPr lang="fr-FR" dirty="0" smtClean="0"/>
          </a:p>
          <a:p>
            <a:pPr algn="r" rtl="1">
              <a:buNone/>
            </a:pPr>
            <a:r>
              <a:rPr lang="ar-DZ" dirty="0" smtClean="0"/>
              <a:t>  ـ للقوتين نفس الشدة ( القيمة العددية ).</a:t>
            </a:r>
            <a:endParaRPr lang="fr-FR" dirty="0" smtClean="0"/>
          </a:p>
          <a:p>
            <a:pPr algn="ctr">
              <a:buNone/>
            </a:pPr>
            <a:r>
              <a:rPr lang="fr-FR" dirty="0" smtClean="0"/>
              <a:t>F</a:t>
            </a:r>
            <a:r>
              <a:rPr lang="fr-FR" sz="2000" b="1" dirty="0" smtClean="0"/>
              <a:t>1</a:t>
            </a:r>
            <a:r>
              <a:rPr lang="fr-FR" dirty="0" smtClean="0"/>
              <a:t>  +  F</a:t>
            </a:r>
            <a:r>
              <a:rPr lang="fr-FR" sz="2000" b="1" dirty="0" smtClean="0"/>
              <a:t>2</a:t>
            </a:r>
            <a:r>
              <a:rPr lang="fr-FR" dirty="0" smtClean="0"/>
              <a:t>  =  0</a:t>
            </a:r>
            <a:endParaRPr lang="fr-FR" dirty="0"/>
          </a:p>
        </p:txBody>
      </p:sp>
      <p:cxnSp>
        <p:nvCxnSpPr>
          <p:cNvPr id="5" name="Connecteur droit avec flèche 4"/>
          <p:cNvCxnSpPr/>
          <p:nvPr/>
        </p:nvCxnSpPr>
        <p:spPr>
          <a:xfrm>
            <a:off x="2571736" y="1643050"/>
            <a:ext cx="428628"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p:nvPr/>
        </p:nvCxnSpPr>
        <p:spPr>
          <a:xfrm>
            <a:off x="1857356" y="1643050"/>
            <a:ext cx="428628"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7" name="Image 6"/>
          <p:cNvPicPr/>
          <p:nvPr/>
        </p:nvPicPr>
        <p:blipFill>
          <a:blip r:embed="rId2" cstate="print">
            <a:extLst>
              <a:ext uri="{28A0092B-C50C-407E-A947-70E740481C1C}">
                <a14:useLocalDpi xmlns:ve="http://schemas.openxmlformats.org/markup-compatibility/2006" xmlns:m="http://schemas.openxmlformats.org/officeDocument/2006/math" xmlns:wp="http://schemas.openxmlformats.org/drawingml/2006/wordprocessingDrawing" xmlns:wne="http://schemas.microsoft.com/office/word/2006/wordml" xmlns="" xmlns:wpc="http://schemas.microsoft.com/office/word/2010/wordprocessingCanvas" xmlns:mc="http://schemas.openxmlformats.org/markup-compatibility/2006" xmlns:o="urn:schemas-microsoft-com:office:office" xmlns:v="urn:schemas-microsoft-com:vml" xmlns:wp14="http://schemas.microsoft.com/office/word/2010/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ps="http://schemas.microsoft.com/office/word/2010/wordprocessingShape" xmlns:a14="http://schemas.microsoft.com/office/drawing/2010/main" xmlns:arto="http://schemas.microsoft.com/office/word/2006/arto" xmlns:pic="http://schemas.openxmlformats.org/drawingml/2006/picture" xmlns:lc="http://schemas.openxmlformats.org/drawingml/2006/lockedCanvas" val="0"/>
              </a:ext>
            </a:extLst>
          </a:blip>
          <a:srcRect/>
          <a:stretch>
            <a:fillRect/>
          </a:stretch>
        </p:blipFill>
        <p:spPr bwMode="auto">
          <a:xfrm>
            <a:off x="214282" y="2786058"/>
            <a:ext cx="1956148" cy="2286016"/>
          </a:xfrm>
          <a:prstGeom prst="rect">
            <a:avLst/>
          </a:prstGeom>
          <a:noFill/>
          <a:ln>
            <a:noFill/>
          </a:ln>
        </p:spPr>
      </p:pic>
      <p:cxnSp>
        <p:nvCxnSpPr>
          <p:cNvPr id="8" name="Connecteur droit avec flèche 7"/>
          <p:cNvCxnSpPr/>
          <p:nvPr/>
        </p:nvCxnSpPr>
        <p:spPr>
          <a:xfrm>
            <a:off x="3428992" y="4714884"/>
            <a:ext cx="428628"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4429124" y="4714884"/>
            <a:ext cx="428628"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5429256" y="4714884"/>
            <a:ext cx="428628"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rtl="1"/>
            <a:r>
              <a:rPr lang="ar-DZ" dirty="0" smtClean="0"/>
              <a:t>2/توازن جسم صلب خاضع لثلاث قوى غير متوازية</a:t>
            </a:r>
            <a:endParaRPr lang="fr-FR" dirty="0"/>
          </a:p>
        </p:txBody>
      </p:sp>
      <p:sp>
        <p:nvSpPr>
          <p:cNvPr id="3" name="Espace réservé du contenu 2"/>
          <p:cNvSpPr>
            <a:spLocks noGrp="1"/>
          </p:cNvSpPr>
          <p:nvPr>
            <p:ph idx="1"/>
          </p:nvPr>
        </p:nvSpPr>
        <p:spPr/>
        <p:txBody>
          <a:bodyPr/>
          <a:lstStyle/>
          <a:p>
            <a:pPr algn="r" rtl="1"/>
            <a:r>
              <a:rPr lang="ar-DZ" b="1" dirty="0" smtClean="0">
                <a:solidFill>
                  <a:srgbClr val="FF0000"/>
                </a:solidFill>
              </a:rPr>
              <a:t>تـمـعّــن</a:t>
            </a:r>
            <a:endParaRPr lang="fr-FR" dirty="0" smtClean="0">
              <a:solidFill>
                <a:srgbClr val="FF0000"/>
              </a:solidFill>
            </a:endParaRPr>
          </a:p>
          <a:p>
            <a:pPr algn="r" rtl="1"/>
            <a:r>
              <a:rPr lang="ar-DZ" dirty="0" smtClean="0"/>
              <a:t>الصورة المقابلة تمثّل كرة من الفولاذ معلّقة بخيط </a:t>
            </a:r>
            <a:r>
              <a:rPr lang="ar-DZ" dirty="0" err="1" smtClean="0"/>
              <a:t>و</a:t>
            </a:r>
            <a:r>
              <a:rPr lang="ar-DZ" dirty="0" smtClean="0"/>
              <a:t> تنجذب نحو مغناطيس.</a:t>
            </a:r>
            <a:endParaRPr lang="fr-FR" dirty="0" smtClean="0"/>
          </a:p>
          <a:p>
            <a:pPr lvl="0" algn="r" rtl="1"/>
            <a:r>
              <a:rPr lang="ar-DZ" dirty="0" smtClean="0"/>
              <a:t>أكتشف القوى التي تخضع لها </a:t>
            </a:r>
          </a:p>
          <a:p>
            <a:pPr lvl="0" algn="r" rtl="1">
              <a:buNone/>
            </a:pPr>
            <a:r>
              <a:rPr lang="ar-DZ" dirty="0" smtClean="0"/>
              <a:t>الكرة الفولاذية مع تسميتها</a:t>
            </a:r>
            <a:r>
              <a:rPr lang="ar-DZ" i="1" dirty="0" smtClean="0"/>
              <a:t>.</a:t>
            </a:r>
            <a:endParaRPr lang="fr-FR" dirty="0" smtClean="0"/>
          </a:p>
          <a:p>
            <a:pPr lvl="0" algn="r" rtl="1"/>
            <a:r>
              <a:rPr lang="ar-DZ" dirty="0" smtClean="0"/>
              <a:t>أرسم مخططا للتجربة </a:t>
            </a:r>
            <a:r>
              <a:rPr lang="ar-DZ" dirty="0" err="1" smtClean="0"/>
              <a:t>و</a:t>
            </a:r>
            <a:r>
              <a:rPr lang="ar-DZ" dirty="0" smtClean="0"/>
              <a:t> مثّل </a:t>
            </a:r>
          </a:p>
          <a:p>
            <a:pPr lvl="0" algn="r" rtl="1">
              <a:buNone/>
            </a:pPr>
            <a:r>
              <a:rPr lang="ar-DZ" dirty="0" smtClean="0"/>
              <a:t>القوى المؤثـرة في الكرة.</a:t>
            </a:r>
            <a:endParaRPr lang="fr-FR" dirty="0" smtClean="0"/>
          </a:p>
          <a:p>
            <a:endParaRPr lang="fr-FR" dirty="0"/>
          </a:p>
        </p:txBody>
      </p:sp>
      <p:pic>
        <p:nvPicPr>
          <p:cNvPr id="2054" name="Picture 6"/>
          <p:cNvPicPr>
            <a:picLocks noChangeAspect="1" noChangeArrowheads="1"/>
          </p:cNvPicPr>
          <p:nvPr/>
        </p:nvPicPr>
        <p:blipFill>
          <a:blip r:embed="rId2"/>
          <a:srcRect/>
          <a:stretch>
            <a:fillRect/>
          </a:stretch>
        </p:blipFill>
        <p:spPr bwMode="auto">
          <a:xfrm>
            <a:off x="214282" y="3071810"/>
            <a:ext cx="2500330" cy="32147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ar-DZ" sz="3600" dirty="0" smtClean="0"/>
              <a:t>الأنشطة المقترحة للوصول إلى الأهداف </a:t>
            </a:r>
            <a:r>
              <a:rPr lang="ar-DZ" sz="3600" dirty="0" err="1" smtClean="0"/>
              <a:t>التعلمية</a:t>
            </a:r>
            <a:endParaRPr lang="fr-FR" sz="3600" dirty="0"/>
          </a:p>
        </p:txBody>
      </p:sp>
      <p:sp>
        <p:nvSpPr>
          <p:cNvPr id="3" name="Espace réservé du contenu 2"/>
          <p:cNvSpPr>
            <a:spLocks noGrp="1"/>
          </p:cNvSpPr>
          <p:nvPr>
            <p:ph idx="1"/>
          </p:nvPr>
        </p:nvSpPr>
        <p:spPr>
          <a:xfrm>
            <a:off x="0" y="1142984"/>
            <a:ext cx="9144000" cy="5500702"/>
          </a:xfrm>
        </p:spPr>
        <p:txBody>
          <a:bodyPr>
            <a:normAutofit/>
          </a:bodyPr>
          <a:lstStyle/>
          <a:p>
            <a:pPr lvl="0" algn="r" rtl="1">
              <a:buNone/>
            </a:pPr>
            <a:r>
              <a:rPr lang="ar-DZ" dirty="0" smtClean="0">
                <a:solidFill>
                  <a:srgbClr val="FF0000"/>
                </a:solidFill>
              </a:rPr>
              <a:t>نشاط 2 : من ثلاث نقاط</a:t>
            </a:r>
          </a:p>
          <a:p>
            <a:pPr lvl="0" algn="r" rtl="1"/>
            <a:r>
              <a:rPr lang="ar-DZ" dirty="0" smtClean="0"/>
              <a:t>علّق الجسم </a:t>
            </a:r>
            <a:r>
              <a:rPr lang="fr-FR" dirty="0" smtClean="0"/>
              <a:t>(s)</a:t>
            </a:r>
            <a:r>
              <a:rPr lang="ar-DZ" dirty="0" smtClean="0"/>
              <a:t> من نقطتين منه إلى العارضة بواسطة الربيعتين </a:t>
            </a:r>
            <a:r>
              <a:rPr lang="fr-FR" dirty="0" smtClean="0"/>
              <a:t>D</a:t>
            </a:r>
            <a:r>
              <a:rPr lang="fr-FR" baseline="-25000" dirty="0" smtClean="0"/>
              <a:t>1</a:t>
            </a:r>
            <a:r>
              <a:rPr lang="ar-DZ" dirty="0" smtClean="0"/>
              <a:t> و </a:t>
            </a:r>
            <a:r>
              <a:rPr lang="fr-FR" dirty="0" smtClean="0"/>
              <a:t>D</a:t>
            </a:r>
            <a:r>
              <a:rPr lang="fr-FR" baseline="-25000" dirty="0" smtClean="0"/>
              <a:t>2</a:t>
            </a:r>
            <a:r>
              <a:rPr lang="fr-FR" dirty="0" smtClean="0"/>
              <a:t> </a:t>
            </a:r>
          </a:p>
          <a:p>
            <a:pPr algn="r" rtl="1">
              <a:buNone/>
            </a:pPr>
            <a:r>
              <a:rPr lang="ar-DZ" dirty="0" smtClean="0"/>
              <a:t>( الشكل2 ) </a:t>
            </a:r>
            <a:r>
              <a:rPr lang="ar-DZ" dirty="0" err="1" smtClean="0"/>
              <a:t>و</a:t>
            </a:r>
            <a:r>
              <a:rPr lang="ar-DZ" dirty="0" smtClean="0"/>
              <a:t> انتظر حتى تتوازن الجملة.</a:t>
            </a:r>
          </a:p>
          <a:p>
            <a:pPr lvl="0" algn="r" rtl="1"/>
            <a:r>
              <a:rPr lang="ar-DZ" dirty="0" smtClean="0"/>
              <a:t>اقرأ شدة القوة  </a:t>
            </a:r>
            <a:r>
              <a:rPr lang="fr-FR" dirty="0" smtClean="0"/>
              <a:t>F</a:t>
            </a:r>
            <a:r>
              <a:rPr lang="fr-FR" baseline="-25000" dirty="0" smtClean="0"/>
              <a:t>1</a:t>
            </a:r>
            <a:r>
              <a:rPr lang="ar-DZ" dirty="0" smtClean="0"/>
              <a:t> على </a:t>
            </a:r>
            <a:r>
              <a:rPr lang="ar-DZ" dirty="0" err="1" smtClean="0"/>
              <a:t>الربيعة</a:t>
            </a:r>
            <a:r>
              <a:rPr lang="ar-DZ" dirty="0" smtClean="0"/>
              <a:t> </a:t>
            </a:r>
            <a:r>
              <a:rPr lang="fr-FR" dirty="0" smtClean="0"/>
              <a:t>D</a:t>
            </a:r>
            <a:r>
              <a:rPr lang="fr-FR" baseline="-25000" dirty="0" smtClean="0"/>
              <a:t>1</a:t>
            </a:r>
            <a:r>
              <a:rPr lang="ar-DZ" dirty="0" smtClean="0"/>
              <a:t> </a:t>
            </a:r>
          </a:p>
          <a:p>
            <a:pPr lvl="0" algn="r" rtl="1">
              <a:buNone/>
            </a:pPr>
            <a:r>
              <a:rPr lang="ar-DZ" dirty="0" smtClean="0"/>
              <a:t> و شدة القوة  </a:t>
            </a:r>
            <a:r>
              <a:rPr lang="fr-FR" dirty="0" smtClean="0"/>
              <a:t>F</a:t>
            </a:r>
            <a:r>
              <a:rPr lang="fr-FR" baseline="-25000" dirty="0" smtClean="0"/>
              <a:t>2</a:t>
            </a:r>
            <a:r>
              <a:rPr lang="ar-DZ" dirty="0" smtClean="0"/>
              <a:t> على </a:t>
            </a:r>
            <a:r>
              <a:rPr lang="ar-DZ" dirty="0" err="1" smtClean="0"/>
              <a:t>الربيعة</a:t>
            </a:r>
            <a:r>
              <a:rPr lang="ar-DZ" dirty="0" smtClean="0"/>
              <a:t> </a:t>
            </a:r>
            <a:r>
              <a:rPr lang="fr-FR" dirty="0" smtClean="0"/>
              <a:t>D</a:t>
            </a:r>
            <a:r>
              <a:rPr lang="fr-FR" baseline="-25000" dirty="0" smtClean="0"/>
              <a:t>2</a:t>
            </a:r>
            <a:r>
              <a:rPr lang="ar-DZ" baseline="-25000" dirty="0" smtClean="0"/>
              <a:t> .</a:t>
            </a:r>
            <a:endParaRPr lang="fr-FR" dirty="0" smtClean="0"/>
          </a:p>
          <a:p>
            <a:pPr lvl="0" algn="r" rtl="1"/>
            <a:r>
              <a:rPr lang="ar-DZ" dirty="0" smtClean="0"/>
              <a:t>ضع خلف الجملة اللوحة بشكل</a:t>
            </a:r>
          </a:p>
          <a:p>
            <a:pPr lvl="0" algn="r" rtl="1">
              <a:buNone/>
            </a:pPr>
            <a:r>
              <a:rPr lang="ar-DZ" dirty="0" err="1" smtClean="0"/>
              <a:t>شاقولي</a:t>
            </a:r>
            <a:r>
              <a:rPr lang="ar-DZ" dirty="0" smtClean="0"/>
              <a:t> ثم ارسم على الورقة البيضاء</a:t>
            </a:r>
          </a:p>
          <a:p>
            <a:pPr lvl="0" algn="r" rtl="1">
              <a:buNone/>
            </a:pPr>
            <a:r>
              <a:rPr lang="ar-DZ" dirty="0" smtClean="0"/>
              <a:t> حوامل القوى الثلاث : ثقل الجسم  </a:t>
            </a:r>
            <a:r>
              <a:rPr lang="fr-FR" dirty="0" smtClean="0"/>
              <a:t>P</a:t>
            </a:r>
            <a:r>
              <a:rPr lang="ar-DZ" dirty="0" smtClean="0"/>
              <a:t> و </a:t>
            </a:r>
            <a:r>
              <a:rPr lang="fr-FR" dirty="0" smtClean="0"/>
              <a:t>F</a:t>
            </a:r>
            <a:r>
              <a:rPr lang="fr-FR" baseline="-25000" dirty="0" smtClean="0"/>
              <a:t>1</a:t>
            </a:r>
            <a:r>
              <a:rPr lang="ar-DZ" baseline="-25000" dirty="0" smtClean="0"/>
              <a:t>  </a:t>
            </a:r>
            <a:r>
              <a:rPr lang="ar-DZ" dirty="0" smtClean="0"/>
              <a:t>و</a:t>
            </a:r>
            <a:r>
              <a:rPr lang="ar-DZ" baseline="-25000" dirty="0" smtClean="0"/>
              <a:t>  </a:t>
            </a:r>
            <a:r>
              <a:rPr lang="fr-FR" dirty="0" smtClean="0"/>
              <a:t>F</a:t>
            </a:r>
            <a:r>
              <a:rPr lang="fr-FR" baseline="-25000" dirty="0" smtClean="0"/>
              <a:t>2</a:t>
            </a:r>
            <a:r>
              <a:rPr lang="ar-DZ" dirty="0" smtClean="0"/>
              <a:t>.</a:t>
            </a:r>
            <a:endParaRPr lang="fr-FR" dirty="0" smtClean="0"/>
          </a:p>
          <a:p>
            <a:pPr algn="r" rtl="1"/>
            <a:r>
              <a:rPr lang="ar-DZ" dirty="0" smtClean="0"/>
              <a:t>ماذا تلاحظ  ؟</a:t>
            </a:r>
            <a:endParaRPr lang="fr-FR" dirty="0" smtClean="0"/>
          </a:p>
        </p:txBody>
      </p:sp>
      <p:pic>
        <p:nvPicPr>
          <p:cNvPr id="3074" name="Picture 2"/>
          <p:cNvPicPr>
            <a:picLocks noChangeAspect="1" noChangeArrowheads="1"/>
          </p:cNvPicPr>
          <p:nvPr/>
        </p:nvPicPr>
        <p:blipFill>
          <a:blip r:embed="rId2"/>
          <a:srcRect/>
          <a:stretch>
            <a:fillRect/>
          </a:stretch>
        </p:blipFill>
        <p:spPr bwMode="auto">
          <a:xfrm>
            <a:off x="214282" y="2571744"/>
            <a:ext cx="2643206" cy="2571768"/>
          </a:xfrm>
          <a:prstGeom prst="rect">
            <a:avLst/>
          </a:prstGeom>
          <a:noFill/>
          <a:ln w="9525">
            <a:noFill/>
            <a:miter lim="800000"/>
            <a:headEnd/>
            <a:tailEnd/>
          </a:ln>
          <a:effectLst/>
        </p:spPr>
      </p:pic>
      <p:cxnSp>
        <p:nvCxnSpPr>
          <p:cNvPr id="6" name="Connecteur droit avec flèche 5"/>
          <p:cNvCxnSpPr/>
          <p:nvPr/>
        </p:nvCxnSpPr>
        <p:spPr>
          <a:xfrm>
            <a:off x="5715008" y="3286124"/>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6357950" y="3857628"/>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3143240" y="5500702"/>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2428860" y="5429264"/>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1500166" y="5500702"/>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357166"/>
            <a:ext cx="8401080" cy="6215106"/>
          </a:xfrm>
        </p:spPr>
        <p:txBody>
          <a:bodyPr>
            <a:normAutofit/>
          </a:bodyPr>
          <a:lstStyle/>
          <a:p>
            <a:pPr lvl="0" algn="r" rtl="1"/>
            <a:r>
              <a:rPr lang="ar-DZ" dirty="0" smtClean="0"/>
              <a:t>مثّل على الورقة القوى الثلاث </a:t>
            </a:r>
            <a:r>
              <a:rPr lang="fr-FR" dirty="0" smtClean="0"/>
              <a:t>P</a:t>
            </a:r>
            <a:r>
              <a:rPr lang="ar-DZ" dirty="0" smtClean="0"/>
              <a:t> و </a:t>
            </a:r>
            <a:r>
              <a:rPr lang="fr-FR" dirty="0" smtClean="0"/>
              <a:t>F</a:t>
            </a:r>
            <a:r>
              <a:rPr lang="fr-FR" baseline="-25000" dirty="0" smtClean="0"/>
              <a:t>1</a:t>
            </a:r>
            <a:r>
              <a:rPr lang="ar-DZ" baseline="-25000" dirty="0" smtClean="0"/>
              <a:t>  </a:t>
            </a:r>
            <a:r>
              <a:rPr lang="ar-DZ" dirty="0" smtClean="0"/>
              <a:t>و</a:t>
            </a:r>
            <a:r>
              <a:rPr lang="ar-DZ" baseline="-25000" dirty="0" smtClean="0"/>
              <a:t>  </a:t>
            </a:r>
            <a:r>
              <a:rPr lang="fr-FR" dirty="0" smtClean="0"/>
              <a:t>F</a:t>
            </a:r>
            <a:r>
              <a:rPr lang="fr-FR" baseline="-25000" dirty="0" smtClean="0"/>
              <a:t>2 </a:t>
            </a:r>
            <a:r>
              <a:rPr lang="ar-DZ" dirty="0" smtClean="0"/>
              <a:t> بأشعة مستعملا سلم رسم مناسب بحيث تنطلق من نقطة واحدة (الشكل 3).</a:t>
            </a:r>
            <a:endParaRPr lang="fr-FR" dirty="0" smtClean="0"/>
          </a:p>
          <a:p>
            <a:pPr lvl="0" algn="r" rtl="1"/>
            <a:r>
              <a:rPr lang="ar-DZ" dirty="0" smtClean="0"/>
              <a:t>أكمل متوازي الأضلاع الذي ضلعاه الشعاعان </a:t>
            </a:r>
            <a:r>
              <a:rPr lang="fr-FR" dirty="0" smtClean="0"/>
              <a:t>F</a:t>
            </a:r>
            <a:r>
              <a:rPr lang="fr-FR" baseline="-25000" dirty="0" smtClean="0"/>
              <a:t>1</a:t>
            </a:r>
            <a:r>
              <a:rPr lang="ar-DZ" baseline="-25000" dirty="0" smtClean="0"/>
              <a:t>  </a:t>
            </a:r>
            <a:r>
              <a:rPr lang="ar-DZ" dirty="0" smtClean="0"/>
              <a:t>و</a:t>
            </a:r>
            <a:r>
              <a:rPr lang="ar-DZ" baseline="-25000" dirty="0" smtClean="0"/>
              <a:t>  </a:t>
            </a:r>
            <a:r>
              <a:rPr lang="fr-FR" dirty="0" smtClean="0"/>
              <a:t>F</a:t>
            </a:r>
            <a:r>
              <a:rPr lang="fr-FR" baseline="-25000" dirty="0" smtClean="0"/>
              <a:t>2 </a:t>
            </a:r>
            <a:r>
              <a:rPr lang="ar-DZ" dirty="0" smtClean="0"/>
              <a:t> ثم ارسم قطره المنطلق من  النقطة  </a:t>
            </a:r>
            <a:r>
              <a:rPr lang="fr-FR" dirty="0" smtClean="0"/>
              <a:t>C</a:t>
            </a:r>
            <a:r>
              <a:rPr lang="ar-DZ" dirty="0" smtClean="0"/>
              <a:t>.ماذا يمثل هذا الشعاع ؟</a:t>
            </a:r>
            <a:endParaRPr lang="fr-FR" dirty="0" smtClean="0"/>
          </a:p>
          <a:p>
            <a:pPr lvl="0" algn="r" rtl="1"/>
            <a:r>
              <a:rPr lang="ar-DZ" dirty="0" smtClean="0"/>
              <a:t>قارن بين منحاه </a:t>
            </a:r>
            <a:r>
              <a:rPr lang="ar-DZ" dirty="0" err="1" smtClean="0"/>
              <a:t>و</a:t>
            </a:r>
            <a:r>
              <a:rPr lang="ar-DZ" dirty="0" smtClean="0"/>
              <a:t> منحى </a:t>
            </a:r>
          </a:p>
          <a:p>
            <a:pPr lvl="0" algn="r" rtl="1"/>
            <a:r>
              <a:rPr lang="ar-DZ" dirty="0" smtClean="0"/>
              <a:t>الشعاع  </a:t>
            </a:r>
            <a:r>
              <a:rPr lang="fr-FR" dirty="0" smtClean="0"/>
              <a:t>P</a:t>
            </a:r>
            <a:r>
              <a:rPr lang="ar-DZ" dirty="0" smtClean="0"/>
              <a:t>  .</a:t>
            </a:r>
            <a:endParaRPr lang="fr-FR" dirty="0" smtClean="0"/>
          </a:p>
          <a:p>
            <a:pPr lvl="0" algn="r" rtl="1"/>
            <a:r>
              <a:rPr lang="ar-DZ" dirty="0" smtClean="0"/>
              <a:t>قارن بين طوله </a:t>
            </a:r>
            <a:r>
              <a:rPr lang="ar-DZ" dirty="0" err="1" smtClean="0"/>
              <a:t>و</a:t>
            </a:r>
            <a:r>
              <a:rPr lang="ar-DZ" dirty="0" smtClean="0"/>
              <a:t> طول الشعاع  </a:t>
            </a:r>
            <a:r>
              <a:rPr lang="fr-FR" dirty="0" smtClean="0"/>
              <a:t>P</a:t>
            </a:r>
            <a:r>
              <a:rPr lang="ar-DZ" dirty="0" smtClean="0"/>
              <a:t>  .</a:t>
            </a:r>
            <a:endParaRPr lang="fr-FR" dirty="0" smtClean="0"/>
          </a:p>
          <a:p>
            <a:pPr lvl="0" algn="r" rtl="1"/>
            <a:r>
              <a:rPr lang="ar-DZ" dirty="0" smtClean="0"/>
              <a:t>ماذا تستنتج ؟</a:t>
            </a:r>
            <a:endParaRPr lang="fr-FR" dirty="0" smtClean="0"/>
          </a:p>
          <a:p>
            <a:pPr algn="r" rtl="1"/>
            <a:r>
              <a:rPr lang="ar-DZ" dirty="0" smtClean="0"/>
              <a:t>عبّر  عن شرط التوازن في حالة ثلاث قوى .</a:t>
            </a:r>
            <a:endParaRPr lang="fr-FR" dirty="0"/>
          </a:p>
        </p:txBody>
      </p:sp>
      <p:pic>
        <p:nvPicPr>
          <p:cNvPr id="28674" name="Picture 2"/>
          <p:cNvPicPr>
            <a:picLocks noChangeAspect="1" noChangeArrowheads="1"/>
          </p:cNvPicPr>
          <p:nvPr/>
        </p:nvPicPr>
        <p:blipFill>
          <a:blip r:embed="rId2"/>
          <a:srcRect/>
          <a:stretch>
            <a:fillRect/>
          </a:stretch>
        </p:blipFill>
        <p:spPr bwMode="auto">
          <a:xfrm>
            <a:off x="500034" y="3000372"/>
            <a:ext cx="2667000" cy="2466975"/>
          </a:xfrm>
          <a:prstGeom prst="rect">
            <a:avLst/>
          </a:prstGeom>
          <a:noFill/>
          <a:ln w="9525">
            <a:noFill/>
            <a:miter lim="800000"/>
            <a:headEnd/>
            <a:tailEnd/>
          </a:ln>
          <a:effectLst/>
        </p:spPr>
      </p:pic>
      <p:cxnSp>
        <p:nvCxnSpPr>
          <p:cNvPr id="4" name="Connecteur droit avec flèche 3"/>
          <p:cNvCxnSpPr/>
          <p:nvPr/>
        </p:nvCxnSpPr>
        <p:spPr>
          <a:xfrm>
            <a:off x="3428992" y="357166"/>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 name="Connecteur droit avec flèche 4"/>
          <p:cNvCxnSpPr/>
          <p:nvPr/>
        </p:nvCxnSpPr>
        <p:spPr>
          <a:xfrm>
            <a:off x="2643174" y="357166"/>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p:nvPr/>
        </p:nvCxnSpPr>
        <p:spPr>
          <a:xfrm>
            <a:off x="1714480" y="357166"/>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1142976" y="1857364"/>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7858148" y="2357430"/>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6715140" y="3857628"/>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3357554" y="4357694"/>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868346"/>
          </a:xfrm>
        </p:spPr>
        <p:txBody>
          <a:bodyPr/>
          <a:lstStyle/>
          <a:p>
            <a:pPr algn="ctr" rtl="1"/>
            <a:r>
              <a:rPr lang="ar-DZ" dirty="0" smtClean="0"/>
              <a:t>الموارد المعرفية </a:t>
            </a:r>
            <a:endParaRPr lang="fr-FR" dirty="0"/>
          </a:p>
        </p:txBody>
      </p:sp>
      <p:sp>
        <p:nvSpPr>
          <p:cNvPr id="3" name="Espace réservé du contenu 2"/>
          <p:cNvSpPr>
            <a:spLocks noGrp="1"/>
          </p:cNvSpPr>
          <p:nvPr>
            <p:ph idx="1"/>
          </p:nvPr>
        </p:nvSpPr>
        <p:spPr>
          <a:xfrm>
            <a:off x="457200" y="1214422"/>
            <a:ext cx="8186766" cy="4911741"/>
          </a:xfrm>
        </p:spPr>
        <p:txBody>
          <a:bodyPr>
            <a:normAutofit fontScale="77500" lnSpcReduction="20000"/>
          </a:bodyPr>
          <a:lstStyle/>
          <a:p>
            <a:pPr lvl="0" algn="r" rtl="1"/>
            <a:r>
              <a:rPr lang="ar-DZ" dirty="0" smtClean="0"/>
              <a:t>يتوازن جسم صلب خاضع لثلاث قوى متلاقية </a:t>
            </a:r>
            <a:r>
              <a:rPr lang="fr-FR" dirty="0" smtClean="0"/>
              <a:t>  F</a:t>
            </a:r>
            <a:r>
              <a:rPr lang="fr-FR" baseline="-25000" dirty="0" smtClean="0"/>
              <a:t>1</a:t>
            </a:r>
            <a:r>
              <a:rPr lang="ar-DZ" baseline="-25000" dirty="0" smtClean="0"/>
              <a:t> </a:t>
            </a:r>
            <a:r>
              <a:rPr lang="ar-DZ" sz="4100" baseline="-25000" dirty="0" smtClean="0"/>
              <a:t>و</a:t>
            </a:r>
            <a:r>
              <a:rPr lang="ar-DZ" baseline="-25000" dirty="0" smtClean="0"/>
              <a:t> </a:t>
            </a:r>
            <a:r>
              <a:rPr lang="fr-FR" baseline="-25000" dirty="0" smtClean="0"/>
              <a:t> </a:t>
            </a:r>
            <a:r>
              <a:rPr lang="fr-FR" dirty="0" smtClean="0"/>
              <a:t>F</a:t>
            </a:r>
            <a:r>
              <a:rPr lang="fr-FR" baseline="-25000" dirty="0" smtClean="0"/>
              <a:t>2</a:t>
            </a:r>
            <a:r>
              <a:rPr lang="ar-DZ" baseline="-25000" dirty="0" smtClean="0"/>
              <a:t> و </a:t>
            </a:r>
            <a:r>
              <a:rPr lang="fr-FR" dirty="0" smtClean="0"/>
              <a:t>F</a:t>
            </a:r>
            <a:r>
              <a:rPr lang="fr-FR" baseline="-25000" dirty="0" smtClean="0"/>
              <a:t>3 </a:t>
            </a:r>
            <a:r>
              <a:rPr lang="ar-DZ" baseline="-25000" dirty="0" smtClean="0"/>
              <a:t>    </a:t>
            </a:r>
            <a:r>
              <a:rPr lang="ar-DZ" dirty="0" smtClean="0"/>
              <a:t>إذا </a:t>
            </a:r>
          </a:p>
          <a:p>
            <a:pPr lvl="0" algn="r" rtl="1">
              <a:buNone/>
            </a:pPr>
            <a:endParaRPr lang="ar-DZ" dirty="0" smtClean="0"/>
          </a:p>
          <a:p>
            <a:pPr lvl="0" algn="r" rtl="1">
              <a:buNone/>
            </a:pPr>
            <a:r>
              <a:rPr lang="ar-DZ" dirty="0" smtClean="0"/>
              <a:t>تحقق الشرط التالي:</a:t>
            </a:r>
            <a:r>
              <a:rPr lang="fr-FR" dirty="0" smtClean="0"/>
              <a:t>F</a:t>
            </a:r>
            <a:r>
              <a:rPr lang="fr-FR" sz="2100" b="1" dirty="0" smtClean="0"/>
              <a:t>1</a:t>
            </a:r>
            <a:r>
              <a:rPr lang="fr-FR" dirty="0" smtClean="0"/>
              <a:t>  +  F</a:t>
            </a:r>
            <a:r>
              <a:rPr lang="fr-FR" sz="2100" b="1" dirty="0" smtClean="0"/>
              <a:t>2</a:t>
            </a:r>
            <a:r>
              <a:rPr lang="fr-FR" dirty="0" smtClean="0"/>
              <a:t>  +  F</a:t>
            </a:r>
            <a:r>
              <a:rPr lang="fr-FR" sz="2100" b="1" dirty="0" smtClean="0"/>
              <a:t>3</a:t>
            </a:r>
            <a:r>
              <a:rPr lang="fr-FR" dirty="0" smtClean="0"/>
              <a:t>  =  0   </a:t>
            </a:r>
          </a:p>
          <a:p>
            <a:pPr algn="r" rtl="1"/>
            <a:r>
              <a:rPr lang="ar-DZ" dirty="0" smtClean="0"/>
              <a:t>في النشاط   الجسم يخضع لـ </a:t>
            </a:r>
            <a:r>
              <a:rPr lang="fr-FR" dirty="0" smtClean="0"/>
              <a:t>F</a:t>
            </a:r>
            <a:r>
              <a:rPr lang="fr-FR" baseline="-25000" dirty="0" smtClean="0"/>
              <a:t>1</a:t>
            </a:r>
            <a:r>
              <a:rPr lang="fr-FR" dirty="0" smtClean="0"/>
              <a:t>   </a:t>
            </a:r>
            <a:r>
              <a:rPr lang="ar-DZ" dirty="0" smtClean="0"/>
              <a:t>و   </a:t>
            </a:r>
            <a:r>
              <a:rPr lang="fr-FR" dirty="0" smtClean="0"/>
              <a:t>    F</a:t>
            </a:r>
            <a:r>
              <a:rPr lang="fr-FR" baseline="-25000" dirty="0" smtClean="0"/>
              <a:t>2</a:t>
            </a:r>
            <a:r>
              <a:rPr lang="ar-DZ" dirty="0" smtClean="0"/>
              <a:t>و</a:t>
            </a:r>
            <a:r>
              <a:rPr lang="ar-DZ" baseline="-25000" dirty="0" smtClean="0"/>
              <a:t> </a:t>
            </a:r>
            <a:r>
              <a:rPr lang="fr-FR" dirty="0" smtClean="0"/>
              <a:t>P </a:t>
            </a:r>
            <a:r>
              <a:rPr lang="ar-DZ" dirty="0" smtClean="0"/>
              <a:t> </a:t>
            </a:r>
            <a:r>
              <a:rPr lang="fr-FR" dirty="0" smtClean="0"/>
              <a:t> </a:t>
            </a:r>
          </a:p>
          <a:p>
            <a:pPr algn="r" rtl="1">
              <a:buNone/>
            </a:pPr>
            <a:endParaRPr lang="ar-DZ" dirty="0" smtClean="0"/>
          </a:p>
          <a:p>
            <a:pPr algn="r" rtl="1"/>
            <a:r>
              <a:rPr lang="ar-DZ" dirty="0" smtClean="0"/>
              <a:t>يصبح شرط التوازن :</a:t>
            </a:r>
            <a:r>
              <a:rPr lang="fr-FR" dirty="0" smtClean="0"/>
              <a:t> F</a:t>
            </a:r>
            <a:r>
              <a:rPr lang="fr-FR" sz="2300" b="1" dirty="0" smtClean="0"/>
              <a:t>1</a:t>
            </a:r>
            <a:r>
              <a:rPr lang="fr-FR" dirty="0" smtClean="0"/>
              <a:t> + F</a:t>
            </a:r>
            <a:r>
              <a:rPr lang="fr-FR" sz="2300" b="1" dirty="0" smtClean="0"/>
              <a:t>2</a:t>
            </a:r>
            <a:r>
              <a:rPr lang="fr-FR" dirty="0" smtClean="0"/>
              <a:t> +P = 0</a:t>
            </a:r>
          </a:p>
          <a:p>
            <a:pPr algn="r" rtl="1">
              <a:buNone/>
            </a:pPr>
            <a:r>
              <a:rPr lang="fr-FR" dirty="0" smtClean="0"/>
              <a:t>                </a:t>
            </a:r>
          </a:p>
          <a:p>
            <a:pPr algn="r" rtl="1">
              <a:buNone/>
            </a:pPr>
            <a:r>
              <a:rPr lang="fr-FR" dirty="0" smtClean="0"/>
              <a:t>                          </a:t>
            </a:r>
            <a:r>
              <a:rPr lang="ar-DZ" dirty="0" smtClean="0"/>
              <a:t> أو </a:t>
            </a:r>
            <a:r>
              <a:rPr lang="fr-FR" dirty="0" smtClean="0"/>
              <a:t>  F</a:t>
            </a:r>
            <a:r>
              <a:rPr lang="fr-FR" sz="2600" b="1" dirty="0" smtClean="0"/>
              <a:t>1</a:t>
            </a:r>
            <a:r>
              <a:rPr lang="fr-FR" dirty="0" smtClean="0"/>
              <a:t>  +  F</a:t>
            </a:r>
            <a:r>
              <a:rPr lang="fr-FR" sz="2600" b="1" dirty="0" smtClean="0"/>
              <a:t>2</a:t>
            </a:r>
            <a:r>
              <a:rPr lang="fr-FR" dirty="0" smtClean="0"/>
              <a:t>  =  -  P</a:t>
            </a:r>
          </a:p>
          <a:p>
            <a:pPr algn="r" rtl="1">
              <a:buNone/>
            </a:pPr>
            <a:endParaRPr lang="ar-DZ" baseline="-25000" dirty="0" smtClean="0"/>
          </a:p>
          <a:p>
            <a:pPr algn="r" rtl="1">
              <a:buNone/>
            </a:pPr>
            <a:r>
              <a:rPr lang="ar-DZ" dirty="0" smtClean="0"/>
              <a:t>أي محصلة القوتين     </a:t>
            </a:r>
            <a:r>
              <a:rPr lang="fr-FR" dirty="0" smtClean="0"/>
              <a:t>F</a:t>
            </a:r>
            <a:r>
              <a:rPr lang="fr-FR" baseline="-25000" dirty="0" smtClean="0"/>
              <a:t>1  </a:t>
            </a:r>
            <a:r>
              <a:rPr lang="ar-DZ" dirty="0" smtClean="0"/>
              <a:t> و </a:t>
            </a:r>
            <a:r>
              <a:rPr lang="fr-FR" dirty="0" smtClean="0"/>
              <a:t>F</a:t>
            </a:r>
            <a:r>
              <a:rPr lang="fr-FR" baseline="-25000" dirty="0" smtClean="0"/>
              <a:t>2</a:t>
            </a:r>
            <a:r>
              <a:rPr lang="ar-DZ" baseline="-25000" dirty="0" smtClean="0"/>
              <a:t>    </a:t>
            </a:r>
            <a:r>
              <a:rPr lang="ar-DZ" dirty="0" smtClean="0"/>
              <a:t> تعاكس مباشرة  </a:t>
            </a:r>
            <a:r>
              <a:rPr lang="fr-FR" dirty="0" smtClean="0"/>
              <a:t>P</a:t>
            </a:r>
            <a:r>
              <a:rPr lang="ar-DZ" dirty="0" smtClean="0"/>
              <a:t>  </a:t>
            </a:r>
            <a:endParaRPr lang="fr-FR" dirty="0" smtClean="0"/>
          </a:p>
          <a:p>
            <a:pPr algn="r" rtl="1">
              <a:buNone/>
            </a:pPr>
            <a:r>
              <a:rPr lang="fr-FR" dirty="0" smtClean="0"/>
              <a:t>                </a:t>
            </a:r>
            <a:r>
              <a:rPr lang="ar-DZ" dirty="0" smtClean="0"/>
              <a:t>   </a:t>
            </a:r>
            <a:r>
              <a:rPr lang="fr-FR" baseline="-25000" dirty="0" smtClean="0"/>
              <a:t>˭  </a:t>
            </a:r>
            <a:r>
              <a:rPr lang="fr-FR" dirty="0" smtClean="0"/>
              <a:t>F</a:t>
            </a:r>
            <a:r>
              <a:rPr lang="fr-FR" baseline="-25000" dirty="0" smtClean="0"/>
              <a:t>1</a:t>
            </a:r>
            <a:r>
              <a:rPr lang="fr-FR" dirty="0" smtClean="0"/>
              <a:t> +  F</a:t>
            </a:r>
            <a:r>
              <a:rPr lang="fr-FR" baseline="-25000" dirty="0" smtClean="0"/>
              <a:t>2</a:t>
            </a:r>
            <a:r>
              <a:rPr lang="ar-DZ" dirty="0" smtClean="0"/>
              <a:t>  </a:t>
            </a:r>
            <a:r>
              <a:rPr lang="fr-FR" dirty="0" smtClean="0"/>
              <a:t>F</a:t>
            </a:r>
            <a:r>
              <a:rPr lang="ar-DZ" dirty="0" smtClean="0"/>
              <a:t>   و منه   </a:t>
            </a:r>
            <a:r>
              <a:rPr lang="fr-FR" dirty="0" smtClean="0"/>
              <a:t>- P</a:t>
            </a:r>
            <a:r>
              <a:rPr lang="ar-DZ" dirty="0" smtClean="0"/>
              <a:t> =</a:t>
            </a:r>
            <a:r>
              <a:rPr lang="fr-FR" dirty="0" smtClean="0"/>
              <a:t>    F  </a:t>
            </a:r>
          </a:p>
          <a:p>
            <a:pPr algn="r" rtl="1">
              <a:buNone/>
            </a:pPr>
            <a:r>
              <a:rPr lang="ar-DZ" dirty="0" smtClean="0"/>
              <a:t>أي الشعاع الممثل لمحصلة قوتين يكون له نفس حامل القوة الثالثة</a:t>
            </a:r>
            <a:endParaRPr lang="fr-FR" dirty="0" smtClean="0"/>
          </a:p>
          <a:p>
            <a:pPr algn="r" rtl="1">
              <a:buNone/>
            </a:pPr>
            <a:r>
              <a:rPr lang="ar-DZ" dirty="0" smtClean="0"/>
              <a:t>و اتجاه معاكس </a:t>
            </a:r>
            <a:r>
              <a:rPr lang="ar-DZ" dirty="0" err="1" smtClean="0"/>
              <a:t>و</a:t>
            </a:r>
            <a:r>
              <a:rPr lang="ar-DZ" dirty="0" smtClean="0"/>
              <a:t> نفس الطول .</a:t>
            </a:r>
            <a:endParaRPr lang="fr-FR" dirty="0" smtClean="0"/>
          </a:p>
          <a:p>
            <a:pPr algn="r" rtl="1">
              <a:buNone/>
            </a:pPr>
            <a:endParaRPr lang="fr-FR" dirty="0" smtClean="0"/>
          </a:p>
        </p:txBody>
      </p:sp>
      <p:pic>
        <p:nvPicPr>
          <p:cNvPr id="4097" name="Picture 1"/>
          <p:cNvPicPr>
            <a:picLocks noChangeAspect="1" noChangeArrowheads="1"/>
          </p:cNvPicPr>
          <p:nvPr/>
        </p:nvPicPr>
        <p:blipFill>
          <a:blip r:embed="rId2"/>
          <a:srcRect/>
          <a:stretch>
            <a:fillRect/>
          </a:stretch>
        </p:blipFill>
        <p:spPr bwMode="auto">
          <a:xfrm>
            <a:off x="214282" y="1785926"/>
            <a:ext cx="2009776" cy="2714644"/>
          </a:xfrm>
          <a:prstGeom prst="rect">
            <a:avLst/>
          </a:prstGeom>
          <a:noFill/>
          <a:ln w="9525">
            <a:noFill/>
            <a:miter lim="800000"/>
            <a:headEnd/>
            <a:tailEnd/>
          </a:ln>
          <a:effectLst/>
        </p:spPr>
      </p:pic>
      <p:cxnSp>
        <p:nvCxnSpPr>
          <p:cNvPr id="6" name="Connecteur droit avec flèche 5"/>
          <p:cNvCxnSpPr/>
          <p:nvPr/>
        </p:nvCxnSpPr>
        <p:spPr>
          <a:xfrm>
            <a:off x="2571736" y="1142984"/>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1928794" y="1142984"/>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1285852" y="1142984"/>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4857752" y="1857364"/>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4071934" y="1857364"/>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a:off x="3214678" y="1857364"/>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a:off x="4000496" y="2214554"/>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a:off x="5643570" y="1857364"/>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p:nvPr/>
        </p:nvCxnSpPr>
        <p:spPr>
          <a:xfrm>
            <a:off x="3357554" y="2214554"/>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a:off x="2500298" y="2214554"/>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Connecteur droit avec flèche 15"/>
          <p:cNvCxnSpPr/>
          <p:nvPr/>
        </p:nvCxnSpPr>
        <p:spPr>
          <a:xfrm>
            <a:off x="5643570" y="2927346"/>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Connecteur droit avec flèche 16"/>
          <p:cNvCxnSpPr/>
          <p:nvPr/>
        </p:nvCxnSpPr>
        <p:spPr>
          <a:xfrm>
            <a:off x="5143504" y="2927346"/>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Connecteur droit avec flèche 17"/>
          <p:cNvCxnSpPr/>
          <p:nvPr/>
        </p:nvCxnSpPr>
        <p:spPr>
          <a:xfrm>
            <a:off x="4572000" y="2927346"/>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a:off x="4000496" y="2927346"/>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p:nvPr/>
        </p:nvCxnSpPr>
        <p:spPr>
          <a:xfrm>
            <a:off x="5857884" y="3641726"/>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a:off x="4857752" y="3641726"/>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a:off x="4000496" y="3641726"/>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Connecteur droit avec flèche 22"/>
          <p:cNvCxnSpPr/>
          <p:nvPr/>
        </p:nvCxnSpPr>
        <p:spPr>
          <a:xfrm>
            <a:off x="6000760" y="4572008"/>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Connecteur droit avec flèche 23"/>
          <p:cNvCxnSpPr/>
          <p:nvPr/>
        </p:nvCxnSpPr>
        <p:spPr>
          <a:xfrm>
            <a:off x="5429256" y="4572008"/>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p:nvPr/>
        </p:nvCxnSpPr>
        <p:spPr>
          <a:xfrm>
            <a:off x="2428860" y="4213230"/>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a:off x="3286116" y="4572008"/>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p:nvPr/>
        </p:nvCxnSpPr>
        <p:spPr>
          <a:xfrm>
            <a:off x="4071934" y="4572008"/>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Connecteur droit avec flèche 27"/>
          <p:cNvCxnSpPr/>
          <p:nvPr/>
        </p:nvCxnSpPr>
        <p:spPr>
          <a:xfrm>
            <a:off x="4929190" y="4214818"/>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Connecteur droit avec flèche 28"/>
          <p:cNvCxnSpPr/>
          <p:nvPr/>
        </p:nvCxnSpPr>
        <p:spPr>
          <a:xfrm>
            <a:off x="5500694" y="4214818"/>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Connecteur droit avec flèche 29"/>
          <p:cNvCxnSpPr/>
          <p:nvPr/>
        </p:nvCxnSpPr>
        <p:spPr>
          <a:xfrm>
            <a:off x="6715140" y="4572008"/>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00034" y="1000108"/>
            <a:ext cx="7467600" cy="4525963"/>
          </a:xfrm>
        </p:spPr>
        <p:txBody>
          <a:bodyPr>
            <a:normAutofit/>
          </a:bodyPr>
          <a:lstStyle/>
          <a:p>
            <a:pPr lvl="0" algn="r" rtl="1">
              <a:buNone/>
            </a:pPr>
            <a:endParaRPr lang="fr-FR" sz="2400" dirty="0" smtClean="0"/>
          </a:p>
          <a:p>
            <a:pPr algn="r" rtl="1"/>
            <a:r>
              <a:rPr lang="ar-DZ" sz="2400" u="sng" dirty="0" smtClean="0">
                <a:solidFill>
                  <a:srgbClr val="FF0000"/>
                </a:solidFill>
              </a:rPr>
              <a:t>ملاحظة</a:t>
            </a:r>
            <a:r>
              <a:rPr lang="fr-FR" sz="2400" dirty="0" smtClean="0"/>
              <a:t>:  </a:t>
            </a:r>
            <a:r>
              <a:rPr lang="ar-DZ" sz="2400" dirty="0" smtClean="0"/>
              <a:t>شرط التوازن في حالة ثلاث قوى  يعود</a:t>
            </a:r>
            <a:r>
              <a:rPr lang="fr-FR" sz="2400" dirty="0" smtClean="0"/>
              <a:t> </a:t>
            </a:r>
            <a:r>
              <a:rPr lang="ar-DZ" sz="2400" dirty="0" smtClean="0"/>
              <a:t>إلى نفس  شرط التوازن في حالة قوتين .</a:t>
            </a:r>
            <a:endParaRPr lang="fr-FR" sz="2400" dirty="0" smtClean="0"/>
          </a:p>
          <a:p>
            <a:pPr algn="r" rtl="1">
              <a:buNone/>
            </a:pPr>
            <a:endParaRPr lang="fr-FR" sz="2400" dirty="0" smtClean="0"/>
          </a:p>
          <a:p>
            <a:pPr lvl="0" algn="r" rtl="1"/>
            <a:r>
              <a:rPr lang="ar-DZ" sz="2400" dirty="0" smtClean="0"/>
              <a:t>محصلة قوتين </a:t>
            </a:r>
            <a:r>
              <a:rPr lang="fr-FR" sz="2400" dirty="0" smtClean="0"/>
              <a:t>F</a:t>
            </a:r>
            <a:r>
              <a:rPr lang="fr-FR" sz="2400" baseline="-25000" dirty="0" smtClean="0"/>
              <a:t>1</a:t>
            </a:r>
            <a:r>
              <a:rPr lang="fr-FR" sz="2400" dirty="0" smtClean="0"/>
              <a:t> </a:t>
            </a:r>
            <a:r>
              <a:rPr lang="ar-DZ" sz="2400" dirty="0" smtClean="0"/>
              <a:t> و </a:t>
            </a:r>
            <a:r>
              <a:rPr lang="fr-FR" sz="2400" dirty="0" smtClean="0"/>
              <a:t>   F</a:t>
            </a:r>
            <a:r>
              <a:rPr lang="fr-FR" sz="2400" baseline="-25000" dirty="0" smtClean="0"/>
              <a:t>2</a:t>
            </a:r>
            <a:r>
              <a:rPr lang="ar-DZ" sz="2400" dirty="0" smtClean="0"/>
              <a:t>  تؤثران في نقطة من جسم</a:t>
            </a:r>
            <a:endParaRPr lang="fr-FR" sz="2400" dirty="0" smtClean="0"/>
          </a:p>
          <a:p>
            <a:pPr lvl="0" algn="r" rtl="1">
              <a:buNone/>
            </a:pPr>
            <a:r>
              <a:rPr lang="ar-DZ" sz="2400" dirty="0" smtClean="0"/>
              <a:t> هي قوة  </a:t>
            </a:r>
            <a:r>
              <a:rPr lang="fr-FR" sz="2400" dirty="0" smtClean="0"/>
              <a:t>F</a:t>
            </a:r>
            <a:r>
              <a:rPr lang="ar-DZ" sz="2400" dirty="0" smtClean="0"/>
              <a:t>   إذا أثرت في نفس النقطة من الجسم تحدث نفس التأثير التي تحدثه القوتان معا، أي أن المحصلة </a:t>
            </a:r>
            <a:r>
              <a:rPr lang="fr-FR" sz="2400" dirty="0" smtClean="0"/>
              <a:t>F</a:t>
            </a:r>
            <a:r>
              <a:rPr lang="ar-DZ" sz="2400" dirty="0" smtClean="0"/>
              <a:t> </a:t>
            </a:r>
            <a:endParaRPr lang="fr-FR" sz="2400" dirty="0" smtClean="0"/>
          </a:p>
          <a:p>
            <a:pPr lvl="0" algn="r" rtl="1">
              <a:buNone/>
            </a:pPr>
            <a:r>
              <a:rPr lang="ar-DZ" sz="2400" dirty="0" smtClean="0"/>
              <a:t> تعوض القوتين </a:t>
            </a:r>
            <a:r>
              <a:rPr lang="fr-FR" sz="2400" dirty="0" smtClean="0"/>
              <a:t>F</a:t>
            </a:r>
            <a:r>
              <a:rPr lang="fr-FR" sz="2400" baseline="-25000" dirty="0" smtClean="0"/>
              <a:t>1</a:t>
            </a:r>
            <a:r>
              <a:rPr lang="ar-DZ" sz="2400" dirty="0" smtClean="0"/>
              <a:t> و </a:t>
            </a:r>
            <a:r>
              <a:rPr lang="fr-FR" sz="2400" dirty="0" smtClean="0"/>
              <a:t>F</a:t>
            </a:r>
            <a:r>
              <a:rPr lang="fr-FR" sz="2400" baseline="-25000" dirty="0" smtClean="0"/>
              <a:t>2</a:t>
            </a:r>
            <a:r>
              <a:rPr lang="ar-DZ" sz="2400" dirty="0" smtClean="0"/>
              <a:t>    .          </a:t>
            </a:r>
            <a:endParaRPr lang="fr-FR" sz="2400" dirty="0" smtClean="0"/>
          </a:p>
          <a:p>
            <a:pPr algn="r" rtl="1"/>
            <a:endParaRPr lang="fr-FR" dirty="0"/>
          </a:p>
        </p:txBody>
      </p:sp>
      <p:cxnSp>
        <p:nvCxnSpPr>
          <p:cNvPr id="4" name="Connecteur droit avec flèche 3"/>
          <p:cNvCxnSpPr/>
          <p:nvPr/>
        </p:nvCxnSpPr>
        <p:spPr>
          <a:xfrm>
            <a:off x="5357818" y="2714620"/>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 name="Connecteur droit avec flèche 4"/>
          <p:cNvCxnSpPr/>
          <p:nvPr/>
        </p:nvCxnSpPr>
        <p:spPr>
          <a:xfrm>
            <a:off x="4714876" y="2714620"/>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p:nvPr/>
        </p:nvCxnSpPr>
        <p:spPr>
          <a:xfrm>
            <a:off x="5072066" y="3929066"/>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857224" y="3500438"/>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6357950" y="3143248"/>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5715008" y="3929066"/>
            <a:ext cx="2143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rtl="1"/>
            <a:r>
              <a:rPr lang="ar-DZ" sz="4400" dirty="0" smtClean="0">
                <a:solidFill>
                  <a:srgbClr val="FFFF00"/>
                </a:solidFill>
                <a:latin typeface="Microsoft Sans Serif" pitchFamily="34" charset="0"/>
                <a:cs typeface="Microsoft Sans Serif" pitchFamily="34" charset="0"/>
              </a:rPr>
              <a:t>الأهداف </a:t>
            </a:r>
            <a:r>
              <a:rPr lang="ar-DZ" sz="4400" dirty="0" err="1" smtClean="0">
                <a:solidFill>
                  <a:srgbClr val="FFFF00"/>
                </a:solidFill>
                <a:latin typeface="Microsoft Sans Serif" pitchFamily="34" charset="0"/>
                <a:cs typeface="Microsoft Sans Serif" pitchFamily="34" charset="0"/>
              </a:rPr>
              <a:t>التعلمية</a:t>
            </a:r>
            <a:endParaRPr lang="fr-FR" dirty="0"/>
          </a:p>
        </p:txBody>
      </p:sp>
      <p:sp>
        <p:nvSpPr>
          <p:cNvPr id="3" name="Espace réservé du contenu 2"/>
          <p:cNvSpPr>
            <a:spLocks noGrp="1"/>
          </p:cNvSpPr>
          <p:nvPr>
            <p:ph idx="1"/>
          </p:nvPr>
        </p:nvSpPr>
        <p:spPr/>
        <p:txBody>
          <a:bodyPr>
            <a:normAutofit/>
          </a:bodyPr>
          <a:lstStyle/>
          <a:p>
            <a:pPr algn="r" rtl="1"/>
            <a:r>
              <a:rPr lang="ar-SA" sz="4000" dirty="0" smtClean="0"/>
              <a:t>يعين بيانيا (هندسيا)محصلة قوتين.</a:t>
            </a:r>
            <a:endParaRPr lang="fr-FR" sz="4000" dirty="0" smtClean="0"/>
          </a:p>
          <a:p>
            <a:pPr algn="r" rtl="1"/>
            <a:r>
              <a:rPr lang="ar-SA" sz="4000" dirty="0" smtClean="0"/>
              <a:t>-يحدد بيانيا قيمة محصلة قوتين .</a:t>
            </a:r>
            <a:endParaRPr lang="fr-FR" sz="4000" dirty="0" smtClean="0"/>
          </a:p>
          <a:p>
            <a:pPr algn="r" rtl="1"/>
            <a:r>
              <a:rPr lang="ar-SA" sz="4000" dirty="0" smtClean="0"/>
              <a:t>-يحلل شعاع قوة إلى مركبتين على محورين اختياريين .</a:t>
            </a:r>
            <a:endParaRPr lang="fr-FR" sz="4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rtl="1"/>
            <a:r>
              <a:rPr lang="ar-DZ" sz="4000" dirty="0" smtClean="0"/>
              <a:t>محصّلة قوّتین وتحلیل قوّة بيانيا</a:t>
            </a:r>
            <a:endParaRPr lang="fr-FR" sz="4000" dirty="0"/>
          </a:p>
        </p:txBody>
      </p:sp>
      <p:sp>
        <p:nvSpPr>
          <p:cNvPr id="3" name="Espace réservé du contenu 2"/>
          <p:cNvSpPr>
            <a:spLocks noGrp="1"/>
          </p:cNvSpPr>
          <p:nvPr>
            <p:ph idx="1"/>
          </p:nvPr>
        </p:nvSpPr>
        <p:spPr>
          <a:xfrm>
            <a:off x="214282" y="1571612"/>
            <a:ext cx="8615394" cy="4840303"/>
          </a:xfrm>
        </p:spPr>
        <p:txBody>
          <a:bodyPr>
            <a:normAutofit fontScale="77500" lnSpcReduction="20000"/>
          </a:bodyPr>
          <a:lstStyle/>
          <a:p>
            <a:pPr lvl="0" algn="r" rtl="1"/>
            <a:r>
              <a:rPr lang="ar-DZ" dirty="0" smtClean="0">
                <a:solidFill>
                  <a:srgbClr val="FF0000"/>
                </a:solidFill>
              </a:rPr>
              <a:t>نشاط 3 : تحليل شعاع قوة إلى مركبتين</a:t>
            </a:r>
          </a:p>
          <a:p>
            <a:pPr algn="r" rtl="1">
              <a:buNone/>
            </a:pPr>
            <a:r>
              <a:rPr lang="ar-DZ" dirty="0" smtClean="0"/>
              <a:t>تعرفت في النشاط السابق إلى كيفية تعيين بيانيا محصلة قوتين .</a:t>
            </a:r>
            <a:endParaRPr lang="fr-FR" dirty="0" smtClean="0"/>
          </a:p>
          <a:p>
            <a:pPr lvl="0" algn="r" rtl="1"/>
            <a:r>
              <a:rPr lang="ar-DZ" dirty="0" smtClean="0"/>
              <a:t>هل يمكن تعويض قوة بقوتين بحيث يكون لهما نفس التأثير  ؟</a:t>
            </a:r>
            <a:endParaRPr lang="fr-FR" dirty="0" smtClean="0"/>
          </a:p>
          <a:p>
            <a:pPr lvl="0" algn="r" rtl="1"/>
            <a:r>
              <a:rPr lang="ar-DZ" dirty="0" smtClean="0"/>
              <a:t>أرسم الشعاع  </a:t>
            </a:r>
            <a:r>
              <a:rPr lang="fr-FR" dirty="0" smtClean="0"/>
              <a:t>OA</a:t>
            </a:r>
            <a:r>
              <a:rPr lang="ar-DZ" dirty="0" smtClean="0"/>
              <a:t> الممثل للقوة </a:t>
            </a:r>
            <a:r>
              <a:rPr lang="fr-FR" dirty="0" smtClean="0"/>
              <a:t>F </a:t>
            </a:r>
            <a:r>
              <a:rPr lang="ar-DZ" dirty="0" smtClean="0"/>
              <a:t>   ثم قم برسم </a:t>
            </a:r>
          </a:p>
          <a:p>
            <a:pPr lvl="0" algn="r" rtl="1">
              <a:buNone/>
            </a:pPr>
            <a:r>
              <a:rPr lang="ar-DZ" dirty="0" smtClean="0"/>
              <a:t>المحورين المتعامدين  </a:t>
            </a:r>
            <a:r>
              <a:rPr lang="fr-FR" dirty="0" err="1" smtClean="0"/>
              <a:t>Ox</a:t>
            </a:r>
            <a:r>
              <a:rPr lang="ar-DZ" dirty="0" smtClean="0"/>
              <a:t> و</a:t>
            </a:r>
            <a:r>
              <a:rPr lang="fr-FR" dirty="0" err="1" smtClean="0"/>
              <a:t>Oy</a:t>
            </a:r>
            <a:r>
              <a:rPr lang="fr-FR" dirty="0" smtClean="0"/>
              <a:t> </a:t>
            </a:r>
            <a:r>
              <a:rPr lang="ar-DZ" dirty="0" smtClean="0"/>
              <a:t> .</a:t>
            </a:r>
            <a:endParaRPr lang="fr-FR" dirty="0" smtClean="0"/>
          </a:p>
          <a:p>
            <a:pPr lvl="0" algn="r" rtl="1"/>
            <a:r>
              <a:rPr lang="ar-DZ" dirty="0" smtClean="0"/>
              <a:t>ارسم من النقطة </a:t>
            </a:r>
            <a:r>
              <a:rPr lang="fr-FR" dirty="0" smtClean="0"/>
              <a:t>A</a:t>
            </a:r>
            <a:r>
              <a:rPr lang="ar-DZ" dirty="0" smtClean="0"/>
              <a:t> عمود على المحور </a:t>
            </a:r>
            <a:r>
              <a:rPr lang="fr-FR" dirty="0" err="1" smtClean="0"/>
              <a:t>Ox</a:t>
            </a:r>
            <a:r>
              <a:rPr lang="fr-FR" dirty="0" smtClean="0"/>
              <a:t> </a:t>
            </a:r>
            <a:r>
              <a:rPr lang="ar-DZ" dirty="0" smtClean="0"/>
              <a:t> </a:t>
            </a:r>
            <a:endParaRPr lang="fr-FR" dirty="0" smtClean="0"/>
          </a:p>
          <a:p>
            <a:pPr lvl="0" algn="r" rtl="1">
              <a:buNone/>
            </a:pPr>
            <a:r>
              <a:rPr lang="ar-DZ" dirty="0" smtClean="0"/>
              <a:t>حيث يتقاطع معه في نقطة </a:t>
            </a:r>
            <a:r>
              <a:rPr lang="fr-FR" dirty="0" smtClean="0"/>
              <a:t>B</a:t>
            </a:r>
            <a:r>
              <a:rPr lang="ar-DZ" dirty="0" smtClean="0"/>
              <a:t> .</a:t>
            </a:r>
            <a:endParaRPr lang="fr-FR" dirty="0" smtClean="0"/>
          </a:p>
          <a:p>
            <a:pPr lvl="0" algn="r" rtl="1"/>
            <a:r>
              <a:rPr lang="fr-FR" dirty="0" smtClean="0"/>
              <a:t> </a:t>
            </a:r>
            <a:r>
              <a:rPr lang="ar-DZ" dirty="0" smtClean="0"/>
              <a:t>كيف نسمي الشعاع </a:t>
            </a:r>
            <a:r>
              <a:rPr lang="fr-FR" dirty="0" smtClean="0"/>
              <a:t>OB</a:t>
            </a:r>
            <a:r>
              <a:rPr lang="ar-DZ" dirty="0" smtClean="0"/>
              <a:t> المتحصل عليه ؟</a:t>
            </a:r>
            <a:endParaRPr lang="fr-FR" dirty="0" smtClean="0"/>
          </a:p>
          <a:p>
            <a:pPr lvl="0" algn="r" rtl="1"/>
            <a:r>
              <a:rPr lang="ar-DZ" dirty="0" smtClean="0"/>
              <a:t>ارسم من النقطة </a:t>
            </a:r>
            <a:r>
              <a:rPr lang="fr-FR" dirty="0" smtClean="0"/>
              <a:t>A</a:t>
            </a:r>
            <a:r>
              <a:rPr lang="ar-DZ" dirty="0" smtClean="0"/>
              <a:t> عمود على المحور </a:t>
            </a:r>
            <a:r>
              <a:rPr lang="fr-FR" dirty="0" err="1" smtClean="0"/>
              <a:t>Oy</a:t>
            </a:r>
            <a:r>
              <a:rPr lang="fr-FR" dirty="0" smtClean="0"/>
              <a:t> </a:t>
            </a:r>
            <a:r>
              <a:rPr lang="ar-DZ" dirty="0" smtClean="0"/>
              <a:t> </a:t>
            </a:r>
          </a:p>
          <a:p>
            <a:pPr lvl="0" algn="r" rtl="1">
              <a:buNone/>
            </a:pPr>
            <a:r>
              <a:rPr lang="ar-DZ" dirty="0" smtClean="0"/>
              <a:t>حيث يتقاطع معه في نقطة </a:t>
            </a:r>
            <a:r>
              <a:rPr lang="fr-FR" dirty="0" smtClean="0"/>
              <a:t>C</a:t>
            </a:r>
            <a:r>
              <a:rPr lang="ar-DZ" dirty="0" smtClean="0"/>
              <a:t> .</a:t>
            </a:r>
            <a:endParaRPr lang="fr-FR" dirty="0" smtClean="0"/>
          </a:p>
          <a:p>
            <a:pPr lvl="0" algn="r" rtl="1"/>
            <a:r>
              <a:rPr lang="ar-DZ" dirty="0" smtClean="0"/>
              <a:t>كيف نسمي الشعاع </a:t>
            </a:r>
            <a:r>
              <a:rPr lang="fr-FR" dirty="0" smtClean="0"/>
              <a:t>OC</a:t>
            </a:r>
            <a:r>
              <a:rPr lang="ar-DZ" dirty="0" smtClean="0"/>
              <a:t> المتحصل عليه ؟</a:t>
            </a:r>
            <a:endParaRPr lang="fr-FR" dirty="0" smtClean="0"/>
          </a:p>
          <a:p>
            <a:pPr lvl="0" algn="r" rtl="1"/>
            <a:r>
              <a:rPr lang="ar-SA" dirty="0" smtClean="0"/>
              <a:t> </a:t>
            </a:r>
            <a:r>
              <a:rPr lang="ar-DZ" dirty="0" err="1" smtClean="0"/>
              <a:t>ماهي</a:t>
            </a:r>
            <a:r>
              <a:rPr lang="ar-DZ" dirty="0" smtClean="0"/>
              <a:t> العلاقة </a:t>
            </a:r>
            <a:r>
              <a:rPr lang="ar-DZ" dirty="0" err="1" smtClean="0"/>
              <a:t>الشعاعية</a:t>
            </a:r>
            <a:r>
              <a:rPr lang="ar-DZ" dirty="0" smtClean="0"/>
              <a:t> التي تربط بين </a:t>
            </a:r>
            <a:r>
              <a:rPr lang="fr-FR" dirty="0" smtClean="0"/>
              <a:t>OB</a:t>
            </a:r>
            <a:r>
              <a:rPr lang="ar-DZ" dirty="0" smtClean="0"/>
              <a:t> ، </a:t>
            </a:r>
            <a:r>
              <a:rPr lang="fr-FR" dirty="0" smtClean="0"/>
              <a:t>OC</a:t>
            </a:r>
            <a:r>
              <a:rPr lang="ar-DZ" dirty="0" smtClean="0"/>
              <a:t> ، </a:t>
            </a:r>
            <a:r>
              <a:rPr lang="fr-FR" dirty="0" smtClean="0"/>
              <a:t>OA</a:t>
            </a:r>
            <a:r>
              <a:rPr lang="ar-DZ" dirty="0" smtClean="0"/>
              <a:t>  ؟</a:t>
            </a:r>
            <a:endParaRPr lang="fr-FR" dirty="0" smtClean="0"/>
          </a:p>
          <a:p>
            <a:endParaRPr lang="fr-FR" dirty="0"/>
          </a:p>
        </p:txBody>
      </p:sp>
      <p:pic>
        <p:nvPicPr>
          <p:cNvPr id="2062" name="Picture 14"/>
          <p:cNvPicPr>
            <a:picLocks noChangeAspect="1" noChangeArrowheads="1"/>
          </p:cNvPicPr>
          <p:nvPr/>
        </p:nvPicPr>
        <p:blipFill>
          <a:blip r:embed="rId2"/>
          <a:srcRect/>
          <a:stretch>
            <a:fillRect/>
          </a:stretch>
        </p:blipFill>
        <p:spPr bwMode="auto">
          <a:xfrm>
            <a:off x="357158" y="3000372"/>
            <a:ext cx="2686050" cy="2257425"/>
          </a:xfrm>
          <a:prstGeom prst="rect">
            <a:avLst/>
          </a:prstGeom>
          <a:noFill/>
          <a:ln w="9525">
            <a:noFill/>
            <a:miter lim="800000"/>
            <a:headEnd/>
            <a:tailEnd/>
          </a:ln>
          <a:effectLst/>
        </p:spPr>
      </p:pic>
      <p:cxnSp>
        <p:nvCxnSpPr>
          <p:cNvPr id="19" name="Connecteur droit avec flèche 18"/>
          <p:cNvCxnSpPr/>
          <p:nvPr/>
        </p:nvCxnSpPr>
        <p:spPr>
          <a:xfrm>
            <a:off x="5715008" y="3000372"/>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a:off x="5143504" y="3000372"/>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a:off x="3286116" y="3286124"/>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Connecteur droit avec flèche 22"/>
          <p:cNvCxnSpPr/>
          <p:nvPr/>
        </p:nvCxnSpPr>
        <p:spPr>
          <a:xfrm>
            <a:off x="3286116" y="4357694"/>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Connecteur droit avec flèche 23"/>
          <p:cNvCxnSpPr/>
          <p:nvPr/>
        </p:nvCxnSpPr>
        <p:spPr>
          <a:xfrm>
            <a:off x="5357818" y="4000504"/>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p:nvPr/>
        </p:nvCxnSpPr>
        <p:spPr>
          <a:xfrm>
            <a:off x="5429256" y="5072074"/>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a:off x="3214678" y="5357826"/>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p:nvPr/>
        </p:nvCxnSpPr>
        <p:spPr>
          <a:xfrm>
            <a:off x="2500298" y="5357826"/>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Connecteur droit avec flèche 27"/>
          <p:cNvCxnSpPr/>
          <p:nvPr/>
        </p:nvCxnSpPr>
        <p:spPr>
          <a:xfrm>
            <a:off x="1714480" y="5357826"/>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Connecteur droit avec flèche 28"/>
          <p:cNvCxnSpPr/>
          <p:nvPr/>
        </p:nvCxnSpPr>
        <p:spPr>
          <a:xfrm>
            <a:off x="6143636" y="2643182"/>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Connecteur droit avec flèche 29"/>
          <p:cNvCxnSpPr/>
          <p:nvPr/>
        </p:nvCxnSpPr>
        <p:spPr>
          <a:xfrm>
            <a:off x="4071934" y="2643182"/>
            <a:ext cx="35719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rtl="1"/>
            <a:r>
              <a:rPr lang="ar-DZ" dirty="0" smtClean="0"/>
              <a:t>الموارد المعرفية</a:t>
            </a:r>
            <a:endParaRPr lang="fr-FR" dirty="0"/>
          </a:p>
        </p:txBody>
      </p:sp>
      <p:sp>
        <p:nvSpPr>
          <p:cNvPr id="3" name="Espace réservé du contenu 2"/>
          <p:cNvSpPr>
            <a:spLocks noGrp="1"/>
          </p:cNvSpPr>
          <p:nvPr>
            <p:ph idx="1"/>
          </p:nvPr>
        </p:nvSpPr>
        <p:spPr>
          <a:xfrm>
            <a:off x="0" y="1600200"/>
            <a:ext cx="7924800" cy="4757758"/>
          </a:xfrm>
        </p:spPr>
        <p:txBody>
          <a:bodyPr>
            <a:normAutofit lnSpcReduction="10000"/>
          </a:bodyPr>
          <a:lstStyle/>
          <a:p>
            <a:pPr lvl="0" algn="r" rtl="1"/>
            <a:r>
              <a:rPr lang="ar-DZ" sz="2400" dirty="0" smtClean="0">
                <a:solidFill>
                  <a:srgbClr val="FF0000"/>
                </a:solidFill>
              </a:rPr>
              <a:t>تمثيل المحصلة  </a:t>
            </a:r>
            <a:r>
              <a:rPr lang="fr-FR" sz="2400" dirty="0" smtClean="0">
                <a:solidFill>
                  <a:srgbClr val="FF0000"/>
                </a:solidFill>
              </a:rPr>
              <a:t>F</a:t>
            </a:r>
            <a:r>
              <a:rPr lang="ar-DZ" sz="2400" dirty="0" smtClean="0">
                <a:solidFill>
                  <a:srgbClr val="FF0000"/>
                </a:solidFill>
              </a:rPr>
              <a:t> </a:t>
            </a:r>
            <a:r>
              <a:rPr lang="ar-DZ" sz="2400" dirty="0" err="1" smtClean="0">
                <a:solidFill>
                  <a:srgbClr val="FF0000"/>
                </a:solidFill>
              </a:rPr>
              <a:t>شعاعيا</a:t>
            </a:r>
            <a:r>
              <a:rPr lang="ar-DZ" sz="2400" dirty="0" smtClean="0">
                <a:solidFill>
                  <a:srgbClr val="FF0000"/>
                </a:solidFill>
              </a:rPr>
              <a:t> :</a:t>
            </a:r>
            <a:endParaRPr lang="fr-FR" sz="2400" dirty="0" smtClean="0">
              <a:solidFill>
                <a:srgbClr val="FF0000"/>
              </a:solidFill>
            </a:endParaRPr>
          </a:p>
          <a:p>
            <a:pPr algn="r" rtl="1"/>
            <a:r>
              <a:rPr lang="ar-DZ" sz="2400" dirty="0" smtClean="0"/>
              <a:t>- نمثل القوتين </a:t>
            </a:r>
            <a:r>
              <a:rPr lang="fr-FR" sz="2400" dirty="0" smtClean="0"/>
              <a:t>F</a:t>
            </a:r>
            <a:r>
              <a:rPr lang="fr-FR" sz="2400" baseline="-25000" dirty="0" smtClean="0"/>
              <a:t>1</a:t>
            </a:r>
            <a:r>
              <a:rPr lang="fr-FR" sz="2400" dirty="0" smtClean="0"/>
              <a:t> </a:t>
            </a:r>
            <a:r>
              <a:rPr lang="ar-DZ" sz="2400" dirty="0" smtClean="0"/>
              <a:t> و </a:t>
            </a:r>
            <a:r>
              <a:rPr lang="fr-FR" sz="2400" dirty="0" smtClean="0"/>
              <a:t>F</a:t>
            </a:r>
            <a:r>
              <a:rPr lang="fr-FR" sz="2400" baseline="-25000" dirty="0" smtClean="0"/>
              <a:t>2</a:t>
            </a:r>
            <a:r>
              <a:rPr lang="ar-DZ" sz="2400" dirty="0" smtClean="0"/>
              <a:t>   بشعاعين ينطلقان من نقطة واحدة ( نقطة تأثير القوتين )</a:t>
            </a:r>
            <a:endParaRPr lang="fr-FR" sz="2400" dirty="0" smtClean="0"/>
          </a:p>
          <a:p>
            <a:pPr algn="r" rtl="1"/>
            <a:r>
              <a:rPr lang="ar-DZ" sz="2400" dirty="0" smtClean="0"/>
              <a:t>- نرسم من نهاية كل شعاع </a:t>
            </a:r>
          </a:p>
          <a:p>
            <a:pPr algn="r" rtl="1">
              <a:buNone/>
            </a:pPr>
            <a:r>
              <a:rPr lang="ar-DZ" sz="2400" dirty="0" smtClean="0"/>
              <a:t>موازيا للشعاع الثاني نحصل على </a:t>
            </a:r>
          </a:p>
          <a:p>
            <a:pPr algn="r" rtl="1">
              <a:buNone/>
            </a:pPr>
            <a:r>
              <a:rPr lang="ar-DZ" sz="2400" dirty="0" smtClean="0"/>
              <a:t>متوازي أضلاع .</a:t>
            </a:r>
            <a:endParaRPr lang="fr-FR" sz="2400" dirty="0" smtClean="0"/>
          </a:p>
          <a:p>
            <a:pPr algn="r" rtl="1"/>
            <a:r>
              <a:rPr lang="ar-DZ" sz="2400" dirty="0" smtClean="0"/>
              <a:t>- نرسم الشعاع الذي بدايته </a:t>
            </a:r>
          </a:p>
          <a:p>
            <a:pPr algn="r" rtl="1">
              <a:buNone/>
            </a:pPr>
            <a:r>
              <a:rPr lang="ar-DZ" sz="2400" dirty="0" smtClean="0"/>
              <a:t>النقطة </a:t>
            </a:r>
            <a:r>
              <a:rPr lang="fr-FR" sz="2400" dirty="0" smtClean="0"/>
              <a:t>O</a:t>
            </a:r>
            <a:r>
              <a:rPr lang="ar-DZ" sz="2400" dirty="0" smtClean="0"/>
              <a:t> و يتوسط الشعاعين</a:t>
            </a:r>
          </a:p>
          <a:p>
            <a:pPr algn="r" rtl="1">
              <a:buNone/>
            </a:pPr>
            <a:r>
              <a:rPr lang="ar-DZ" sz="2400" dirty="0" smtClean="0"/>
              <a:t> السابقين . هذا الشعاع يمثل </a:t>
            </a:r>
          </a:p>
          <a:p>
            <a:pPr algn="r" rtl="1">
              <a:buNone/>
            </a:pPr>
            <a:r>
              <a:rPr lang="ar-DZ" sz="2400" dirty="0" smtClean="0"/>
              <a:t>محصلة القوتين  </a:t>
            </a:r>
            <a:r>
              <a:rPr lang="fr-FR" sz="2400" dirty="0" smtClean="0"/>
              <a:t>F</a:t>
            </a:r>
            <a:r>
              <a:rPr lang="fr-FR" sz="2400" baseline="-25000" dirty="0" smtClean="0"/>
              <a:t>1</a:t>
            </a:r>
            <a:r>
              <a:rPr lang="fr-FR" sz="2400" dirty="0" smtClean="0"/>
              <a:t> </a:t>
            </a:r>
            <a:r>
              <a:rPr lang="ar-DZ" sz="2400" dirty="0" smtClean="0"/>
              <a:t> و </a:t>
            </a:r>
            <a:r>
              <a:rPr lang="fr-FR" sz="2400" dirty="0" smtClean="0"/>
              <a:t>F</a:t>
            </a:r>
            <a:r>
              <a:rPr lang="fr-FR" sz="2400" baseline="-25000" dirty="0" smtClean="0"/>
              <a:t>2</a:t>
            </a:r>
            <a:r>
              <a:rPr lang="ar-DZ" sz="2400" dirty="0" smtClean="0"/>
              <a:t>   .</a:t>
            </a:r>
            <a:endParaRPr lang="fr-FR" sz="2400" dirty="0" smtClean="0"/>
          </a:p>
          <a:p>
            <a:pPr algn="r" rtl="1">
              <a:buNone/>
            </a:pPr>
            <a:r>
              <a:rPr lang="ar-DZ" sz="2400" dirty="0" smtClean="0"/>
              <a:t>     و نكتب 	</a:t>
            </a:r>
            <a:r>
              <a:rPr lang="fr-FR" sz="2400" dirty="0" smtClean="0"/>
              <a:t>F</a:t>
            </a:r>
            <a:r>
              <a:rPr lang="ar-DZ" sz="2400" dirty="0" smtClean="0"/>
              <a:t> =</a:t>
            </a:r>
            <a:r>
              <a:rPr lang="ar-DZ" sz="2400" baseline="-25000" dirty="0" smtClean="0"/>
              <a:t> </a:t>
            </a:r>
            <a:r>
              <a:rPr lang="fr-FR" sz="2400" dirty="0" smtClean="0"/>
              <a:t>F </a:t>
            </a:r>
            <a:r>
              <a:rPr lang="fr-FR" sz="2400" baseline="-25000" dirty="0" smtClean="0"/>
              <a:t>1</a:t>
            </a:r>
            <a:r>
              <a:rPr lang="fr-FR" sz="2400" dirty="0" smtClean="0"/>
              <a:t> + F </a:t>
            </a:r>
            <a:r>
              <a:rPr lang="fr-FR" sz="2400" baseline="-25000" dirty="0" smtClean="0"/>
              <a:t>2</a:t>
            </a:r>
            <a:r>
              <a:rPr lang="fr-FR" sz="2400" dirty="0" smtClean="0"/>
              <a:t> </a:t>
            </a:r>
            <a:endParaRPr lang="fr-FR" sz="2400" dirty="0"/>
          </a:p>
        </p:txBody>
      </p:sp>
      <p:pic>
        <p:nvPicPr>
          <p:cNvPr id="2050" name="Picture 2"/>
          <p:cNvPicPr>
            <a:picLocks noChangeAspect="1" noChangeArrowheads="1"/>
          </p:cNvPicPr>
          <p:nvPr/>
        </p:nvPicPr>
        <p:blipFill>
          <a:blip r:embed="rId2"/>
          <a:srcRect/>
          <a:stretch>
            <a:fillRect/>
          </a:stretch>
        </p:blipFill>
        <p:spPr bwMode="auto">
          <a:xfrm>
            <a:off x="142844" y="3000372"/>
            <a:ext cx="3238500" cy="2371725"/>
          </a:xfrm>
          <a:prstGeom prst="rect">
            <a:avLst/>
          </a:prstGeom>
          <a:noFill/>
          <a:ln w="9525">
            <a:noFill/>
            <a:miter lim="800000"/>
            <a:headEnd/>
            <a:tailEnd/>
          </a:ln>
          <a:effectLst/>
        </p:spPr>
      </p:pic>
      <p:cxnSp>
        <p:nvCxnSpPr>
          <p:cNvPr id="6" name="Connecteur droit avec flèche 5"/>
          <p:cNvCxnSpPr/>
          <p:nvPr/>
        </p:nvCxnSpPr>
        <p:spPr>
          <a:xfrm>
            <a:off x="5143504" y="1571612"/>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5143504" y="2000240"/>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4500562" y="2000240"/>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5357818" y="5143512"/>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4714876" y="5143512"/>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a:off x="5786446" y="5572140"/>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a:off x="4214810" y="5572140"/>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a:off x="4929190" y="5572140"/>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428604"/>
            <a:ext cx="8715404" cy="5643602"/>
          </a:xfrm>
        </p:spPr>
        <p:txBody>
          <a:bodyPr>
            <a:normAutofit/>
          </a:bodyPr>
          <a:lstStyle/>
          <a:p>
            <a:pPr algn="r" rtl="1"/>
            <a:r>
              <a:rPr lang="ar-DZ" sz="2600" u="sng" dirty="0" smtClean="0">
                <a:solidFill>
                  <a:srgbClr val="FF0000"/>
                </a:solidFill>
              </a:rPr>
              <a:t>ملاحظة :</a:t>
            </a:r>
            <a:endParaRPr lang="fr-FR" sz="2600" dirty="0" smtClean="0">
              <a:solidFill>
                <a:srgbClr val="FF0000"/>
              </a:solidFill>
            </a:endParaRPr>
          </a:p>
          <a:p>
            <a:pPr algn="r" rtl="1"/>
            <a:r>
              <a:rPr lang="ar-DZ" sz="2600" dirty="0" smtClean="0"/>
              <a:t>طول الشعاع الممثل للمحصلة  </a:t>
            </a:r>
            <a:r>
              <a:rPr lang="fr-FR" sz="2600" dirty="0" smtClean="0"/>
              <a:t> F </a:t>
            </a:r>
            <a:r>
              <a:rPr lang="ar-DZ" sz="2600" dirty="0" smtClean="0"/>
              <a:t>لا يساوي في الحالة العامة مجموع طولي الشعاعين الممثلين لـ   </a:t>
            </a:r>
            <a:r>
              <a:rPr lang="fr-FR" sz="2600" dirty="0" smtClean="0"/>
              <a:t>F</a:t>
            </a:r>
            <a:r>
              <a:rPr lang="fr-FR" sz="2600" baseline="-25000" dirty="0" smtClean="0"/>
              <a:t>1</a:t>
            </a:r>
            <a:r>
              <a:rPr lang="fr-FR" sz="2600" dirty="0" smtClean="0"/>
              <a:t> </a:t>
            </a:r>
            <a:r>
              <a:rPr lang="ar-DZ" sz="2600" dirty="0" smtClean="0"/>
              <a:t> و </a:t>
            </a:r>
            <a:r>
              <a:rPr lang="fr-FR" sz="2600" dirty="0" smtClean="0"/>
              <a:t>F</a:t>
            </a:r>
            <a:r>
              <a:rPr lang="fr-FR" sz="2600" baseline="-25000" dirty="0" smtClean="0"/>
              <a:t>2</a:t>
            </a:r>
            <a:r>
              <a:rPr lang="ar-DZ" sz="2600" dirty="0" smtClean="0"/>
              <a:t>   .</a:t>
            </a:r>
            <a:endParaRPr lang="fr-FR" sz="2600" dirty="0" smtClean="0"/>
          </a:p>
          <a:p>
            <a:pPr lvl="0" algn="r" rtl="1"/>
            <a:r>
              <a:rPr lang="ar-SA" sz="2600" dirty="0" smtClean="0"/>
              <a:t> </a:t>
            </a:r>
            <a:r>
              <a:rPr lang="ar-DZ" sz="2600" dirty="0" smtClean="0"/>
              <a:t>تحليل قوة   </a:t>
            </a:r>
            <a:r>
              <a:rPr lang="fr-FR" sz="2600" dirty="0" smtClean="0"/>
              <a:t>F</a:t>
            </a:r>
            <a:r>
              <a:rPr lang="ar-DZ" sz="2600" dirty="0" smtClean="0"/>
              <a:t>  إلى مركبتين  </a:t>
            </a:r>
            <a:r>
              <a:rPr lang="fr-FR" sz="2600" dirty="0" smtClean="0"/>
              <a:t>F</a:t>
            </a:r>
            <a:r>
              <a:rPr lang="fr-FR" sz="2600" baseline="-25000" dirty="0" smtClean="0"/>
              <a:t>X</a:t>
            </a:r>
            <a:r>
              <a:rPr lang="ar-DZ" sz="2600" dirty="0" smtClean="0"/>
              <a:t>  </a:t>
            </a:r>
          </a:p>
          <a:p>
            <a:pPr lvl="0" algn="r" rtl="1">
              <a:buNone/>
            </a:pPr>
            <a:r>
              <a:rPr lang="ar-DZ" sz="2600" dirty="0" smtClean="0"/>
              <a:t> و    </a:t>
            </a:r>
            <a:r>
              <a:rPr lang="fr-FR" sz="2600" dirty="0" smtClean="0"/>
              <a:t>F</a:t>
            </a:r>
            <a:r>
              <a:rPr lang="fr-FR" sz="2600" baseline="-25000" dirty="0" smtClean="0"/>
              <a:t>Y</a:t>
            </a:r>
            <a:r>
              <a:rPr lang="ar-DZ" sz="2600" dirty="0" smtClean="0"/>
              <a:t>    هي عملية معاكسة لإيجاد محصلة قوتين . </a:t>
            </a:r>
            <a:endParaRPr lang="fr-FR" sz="2600" dirty="0" smtClean="0"/>
          </a:p>
          <a:p>
            <a:pPr algn="r" rtl="1"/>
            <a:r>
              <a:rPr lang="ar-DZ" sz="2600" dirty="0" smtClean="0"/>
              <a:t>فمثلا  القوة   </a:t>
            </a:r>
            <a:r>
              <a:rPr lang="fr-FR" sz="2600" dirty="0" smtClean="0"/>
              <a:t>F</a:t>
            </a:r>
            <a:r>
              <a:rPr lang="ar-DZ" sz="2600" dirty="0" smtClean="0"/>
              <a:t>  المؤثرة في النقطة </a:t>
            </a:r>
            <a:r>
              <a:rPr lang="fr-FR" sz="2600" dirty="0" smtClean="0"/>
              <a:t>O</a:t>
            </a:r>
            <a:r>
              <a:rPr lang="ar-DZ" sz="2600" dirty="0" smtClean="0"/>
              <a:t>   </a:t>
            </a:r>
          </a:p>
          <a:p>
            <a:pPr algn="r" rtl="1">
              <a:buNone/>
            </a:pPr>
            <a:r>
              <a:rPr lang="ar-DZ" sz="2600" dirty="0" smtClean="0"/>
              <a:t>من الجسم يمكن تحليلها إلى مركبتين :</a:t>
            </a:r>
            <a:endParaRPr lang="fr-FR" sz="2600" dirty="0" smtClean="0"/>
          </a:p>
          <a:p>
            <a:pPr algn="r" rtl="1"/>
            <a:r>
              <a:rPr lang="fr-FR" sz="2600" dirty="0" smtClean="0"/>
              <a:t>F</a:t>
            </a:r>
            <a:r>
              <a:rPr lang="fr-FR" sz="2600" baseline="-25000" dirty="0" smtClean="0"/>
              <a:t>X </a:t>
            </a:r>
            <a:r>
              <a:rPr lang="ar-DZ" sz="2600" dirty="0" smtClean="0"/>
              <a:t>  أفقية  </a:t>
            </a:r>
            <a:r>
              <a:rPr lang="ar-DZ" sz="2600" dirty="0" err="1" smtClean="0"/>
              <a:t>و</a:t>
            </a:r>
            <a:r>
              <a:rPr lang="ar-DZ" sz="2600" dirty="0" smtClean="0"/>
              <a:t>  </a:t>
            </a:r>
            <a:r>
              <a:rPr lang="fr-FR" sz="2600" dirty="0" smtClean="0"/>
              <a:t>F</a:t>
            </a:r>
            <a:r>
              <a:rPr lang="fr-FR" sz="2600" baseline="-25000" dirty="0" smtClean="0"/>
              <a:t>Y</a:t>
            </a:r>
            <a:r>
              <a:rPr lang="ar-DZ" sz="2600" dirty="0" smtClean="0"/>
              <a:t>   عمودية عليها  </a:t>
            </a:r>
          </a:p>
          <a:p>
            <a:pPr algn="r" rtl="1">
              <a:buNone/>
            </a:pPr>
            <a:r>
              <a:rPr lang="ar-DZ" sz="2600" dirty="0" smtClean="0"/>
              <a:t>بحيث أن تأثير المركبتين معا يعوض تأثير </a:t>
            </a:r>
          </a:p>
          <a:p>
            <a:pPr algn="r" rtl="1">
              <a:buNone/>
            </a:pPr>
            <a:r>
              <a:rPr lang="ar-DZ" sz="2600" dirty="0" smtClean="0"/>
              <a:t>القوة </a:t>
            </a:r>
            <a:r>
              <a:rPr lang="fr-FR" sz="2600" dirty="0" smtClean="0"/>
              <a:t>F</a:t>
            </a:r>
            <a:r>
              <a:rPr lang="ar-DZ" sz="2600" dirty="0" smtClean="0"/>
              <a:t>   وحدها.</a:t>
            </a:r>
            <a:r>
              <a:rPr lang="fr-FR" dirty="0" smtClean="0"/>
              <a:t> </a:t>
            </a:r>
            <a:endParaRPr lang="fr-FR" dirty="0"/>
          </a:p>
        </p:txBody>
      </p:sp>
      <p:pic>
        <p:nvPicPr>
          <p:cNvPr id="1026" name="Picture 2"/>
          <p:cNvPicPr>
            <a:picLocks noChangeAspect="1" noChangeArrowheads="1"/>
          </p:cNvPicPr>
          <p:nvPr/>
        </p:nvPicPr>
        <p:blipFill>
          <a:blip r:embed="rId2"/>
          <a:srcRect/>
          <a:stretch>
            <a:fillRect/>
          </a:stretch>
        </p:blipFill>
        <p:spPr bwMode="auto">
          <a:xfrm>
            <a:off x="357158" y="3000372"/>
            <a:ext cx="2524125" cy="2371725"/>
          </a:xfrm>
          <a:prstGeom prst="rect">
            <a:avLst/>
          </a:prstGeom>
          <a:noFill/>
          <a:ln w="9525">
            <a:noFill/>
            <a:miter lim="800000"/>
            <a:headEnd/>
            <a:tailEnd/>
          </a:ln>
          <a:effectLst/>
        </p:spPr>
      </p:pic>
      <p:cxnSp>
        <p:nvCxnSpPr>
          <p:cNvPr id="5" name="Connecteur droit avec flèche 4"/>
          <p:cNvCxnSpPr/>
          <p:nvPr/>
        </p:nvCxnSpPr>
        <p:spPr>
          <a:xfrm>
            <a:off x="3714744" y="928670"/>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p:nvPr/>
        </p:nvCxnSpPr>
        <p:spPr>
          <a:xfrm>
            <a:off x="1785918" y="1357298"/>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1071538" y="1357298"/>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6286512" y="1857364"/>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3786182" y="1855776"/>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7572396" y="2285992"/>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a:off x="6143636" y="2786058"/>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a:off x="7786710" y="3714752"/>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a:off x="6000760" y="3714752"/>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p:nvPr/>
        </p:nvCxnSpPr>
        <p:spPr>
          <a:xfrm>
            <a:off x="7643834" y="4714884"/>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857224" y="785794"/>
            <a:ext cx="7467600" cy="4525963"/>
          </a:xfrm>
        </p:spPr>
        <p:txBody>
          <a:bodyPr/>
          <a:lstStyle/>
          <a:p>
            <a:pPr lvl="0" algn="r" rtl="1"/>
            <a:r>
              <a:rPr lang="ar-DZ" sz="2400" dirty="0" smtClean="0">
                <a:solidFill>
                  <a:srgbClr val="FF0000"/>
                </a:solidFill>
              </a:rPr>
              <a:t>لإيجاد المركبتين: </a:t>
            </a:r>
          </a:p>
          <a:p>
            <a:pPr lvl="0" algn="r" rtl="1">
              <a:buNone/>
            </a:pPr>
            <a:endParaRPr lang="ar-DZ" sz="2400" dirty="0" smtClean="0"/>
          </a:p>
          <a:p>
            <a:pPr lvl="0" algn="r" rtl="1">
              <a:buNone/>
            </a:pPr>
            <a:r>
              <a:rPr lang="ar-DZ" sz="2400" dirty="0" smtClean="0"/>
              <a:t>- نرسم عمودا من نهاية </a:t>
            </a:r>
            <a:r>
              <a:rPr lang="fr-FR" sz="2400" dirty="0" smtClean="0"/>
              <a:t>F</a:t>
            </a:r>
            <a:r>
              <a:rPr lang="ar-DZ" sz="2400" dirty="0" smtClean="0"/>
              <a:t>  على المحور  </a:t>
            </a:r>
            <a:r>
              <a:rPr lang="fr-FR" sz="2400" dirty="0" err="1" smtClean="0"/>
              <a:t>Ox</a:t>
            </a:r>
            <a:r>
              <a:rPr lang="ar-DZ" sz="2400" dirty="0" smtClean="0"/>
              <a:t>   فيقطعه في النقطة </a:t>
            </a:r>
            <a:r>
              <a:rPr lang="fr-FR" sz="2400" dirty="0" smtClean="0"/>
              <a:t>B </a:t>
            </a:r>
            <a:r>
              <a:rPr lang="ar-DZ" sz="2400" dirty="0" smtClean="0"/>
              <a:t>. الشعاع   </a:t>
            </a:r>
            <a:r>
              <a:rPr lang="fr-FR" sz="2400" dirty="0" smtClean="0"/>
              <a:t>OB</a:t>
            </a:r>
            <a:r>
              <a:rPr lang="ar-DZ" sz="2400" dirty="0" smtClean="0"/>
              <a:t>   يمثل المركبة الأفقية للقوة </a:t>
            </a:r>
            <a:r>
              <a:rPr lang="fr-FR" sz="2400" dirty="0" smtClean="0"/>
              <a:t>F</a:t>
            </a:r>
            <a:r>
              <a:rPr lang="ar-DZ" sz="2400" dirty="0" smtClean="0"/>
              <a:t>   .</a:t>
            </a:r>
            <a:endParaRPr lang="fr-FR" sz="2400" dirty="0" smtClean="0"/>
          </a:p>
          <a:p>
            <a:pPr algn="r" rtl="1">
              <a:buNone/>
            </a:pPr>
            <a:r>
              <a:rPr lang="ar-DZ" sz="2400" dirty="0" smtClean="0"/>
              <a:t>  - نرسم عمودا من    </a:t>
            </a:r>
            <a:r>
              <a:rPr lang="fr-FR" sz="2400" dirty="0" smtClean="0"/>
              <a:t>A</a:t>
            </a:r>
            <a:r>
              <a:rPr lang="ar-DZ" sz="2400" dirty="0" smtClean="0"/>
              <a:t>  على المحور  </a:t>
            </a:r>
            <a:r>
              <a:rPr lang="fr-FR" sz="2400" dirty="0" err="1" smtClean="0"/>
              <a:t>Oy</a:t>
            </a:r>
            <a:r>
              <a:rPr lang="ar-DZ" sz="2400" dirty="0" smtClean="0"/>
              <a:t>   فيقطعه في النقطة </a:t>
            </a:r>
            <a:r>
              <a:rPr lang="fr-FR" sz="2400" dirty="0" smtClean="0"/>
              <a:t>C</a:t>
            </a:r>
            <a:r>
              <a:rPr lang="ar-DZ" sz="2400" dirty="0" smtClean="0"/>
              <a:t> .                            </a:t>
            </a:r>
          </a:p>
          <a:p>
            <a:pPr algn="r" rtl="1">
              <a:buNone/>
            </a:pPr>
            <a:r>
              <a:rPr lang="ar-DZ" sz="2400" dirty="0" smtClean="0"/>
              <a:t>   الشعاع </a:t>
            </a:r>
            <a:r>
              <a:rPr lang="fr-FR" sz="2400" dirty="0" smtClean="0"/>
              <a:t>OC</a:t>
            </a:r>
            <a:r>
              <a:rPr lang="ar-DZ" sz="2400" dirty="0" smtClean="0"/>
              <a:t>   يمثل المركبة العمودية لـ   </a:t>
            </a:r>
            <a:r>
              <a:rPr lang="fr-FR" sz="2400" dirty="0" smtClean="0"/>
              <a:t>F</a:t>
            </a:r>
            <a:r>
              <a:rPr lang="ar-DZ" sz="2400" dirty="0" smtClean="0"/>
              <a:t>   و نكتب </a:t>
            </a:r>
            <a:r>
              <a:rPr lang="fr-FR" sz="2400" dirty="0" smtClean="0"/>
              <a:t>                       F   </a:t>
            </a:r>
            <a:r>
              <a:rPr lang="fr-FR" sz="2400" baseline="-25000" dirty="0" smtClean="0"/>
              <a:t>˭    </a:t>
            </a:r>
            <a:r>
              <a:rPr lang="fr-FR" sz="2400" dirty="0" smtClean="0"/>
              <a:t>F</a:t>
            </a:r>
            <a:r>
              <a:rPr lang="fr-FR" sz="2400" baseline="-25000" dirty="0" smtClean="0"/>
              <a:t>X</a:t>
            </a:r>
            <a:r>
              <a:rPr lang="fr-FR" sz="2400" dirty="0" smtClean="0"/>
              <a:t>  + F</a:t>
            </a:r>
            <a:r>
              <a:rPr lang="fr-FR" sz="2400" baseline="-25000" dirty="0" smtClean="0"/>
              <a:t>Y</a:t>
            </a:r>
            <a:r>
              <a:rPr lang="fr-FR" sz="2400" dirty="0" smtClean="0"/>
              <a:t>    </a:t>
            </a:r>
          </a:p>
          <a:p>
            <a:endParaRPr lang="fr-FR" dirty="0"/>
          </a:p>
        </p:txBody>
      </p:sp>
      <p:cxnSp>
        <p:nvCxnSpPr>
          <p:cNvPr id="4" name="Connecteur droit avec flèche 3"/>
          <p:cNvCxnSpPr/>
          <p:nvPr/>
        </p:nvCxnSpPr>
        <p:spPr>
          <a:xfrm>
            <a:off x="4929190" y="1643050"/>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 name="Connecteur droit avec flèche 4"/>
          <p:cNvCxnSpPr/>
          <p:nvPr/>
        </p:nvCxnSpPr>
        <p:spPr>
          <a:xfrm>
            <a:off x="2714612" y="3643314"/>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p:nvPr/>
        </p:nvCxnSpPr>
        <p:spPr>
          <a:xfrm>
            <a:off x="2857488" y="1714488"/>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a:off x="3000364" y="2857496"/>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a:off x="6500826" y="3643314"/>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5643570" y="4071942"/>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6429388" y="4071942"/>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a:off x="7143768" y="4070354"/>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a:off x="928662" y="2071678"/>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a:off x="4929190" y="2071678"/>
            <a:ext cx="28575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rtl="1"/>
            <a:r>
              <a:rPr lang="ar-DZ" dirty="0" smtClean="0"/>
              <a:t>تقييم </a:t>
            </a:r>
            <a:r>
              <a:rPr lang="ar-DZ" smtClean="0"/>
              <a:t>موارد معرفية </a:t>
            </a:r>
            <a:endParaRPr lang="fr-FR"/>
          </a:p>
        </p:txBody>
      </p:sp>
      <p:pic>
        <p:nvPicPr>
          <p:cNvPr id="3075" name="Picture 3"/>
          <p:cNvPicPr>
            <a:picLocks noChangeAspect="1" noChangeArrowheads="1"/>
          </p:cNvPicPr>
          <p:nvPr/>
        </p:nvPicPr>
        <p:blipFill>
          <a:blip r:embed="rId2"/>
          <a:srcRect/>
          <a:stretch>
            <a:fillRect/>
          </a:stretch>
        </p:blipFill>
        <p:spPr bwMode="auto">
          <a:xfrm>
            <a:off x="571472" y="1357298"/>
            <a:ext cx="8143932" cy="52149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a:srcRect/>
          <a:stretch>
            <a:fillRect/>
          </a:stretch>
        </p:blipFill>
        <p:spPr bwMode="auto">
          <a:xfrm>
            <a:off x="357158" y="642918"/>
            <a:ext cx="4210050" cy="5572164"/>
          </a:xfrm>
          <a:prstGeom prst="rect">
            <a:avLst/>
          </a:prstGeom>
          <a:noFill/>
          <a:ln w="9525">
            <a:noFill/>
            <a:miter lim="800000"/>
            <a:headEnd/>
            <a:tailEnd/>
          </a:ln>
          <a:effectLst/>
        </p:spPr>
      </p:pic>
      <p:pic>
        <p:nvPicPr>
          <p:cNvPr id="1026" name="Picture 2"/>
          <p:cNvPicPr>
            <a:picLocks noGrp="1" noChangeAspect="1" noChangeArrowheads="1"/>
          </p:cNvPicPr>
          <p:nvPr>
            <p:ph idx="1"/>
          </p:nvPr>
        </p:nvPicPr>
        <p:blipFill>
          <a:blip r:embed="rId3"/>
          <a:srcRect/>
          <a:stretch>
            <a:fillRect/>
          </a:stretch>
        </p:blipFill>
        <p:spPr bwMode="auto">
          <a:xfrm>
            <a:off x="4714876" y="714356"/>
            <a:ext cx="4429124" cy="55007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srcRect/>
          <a:stretch>
            <a:fillRect/>
          </a:stretch>
        </p:blipFill>
        <p:spPr bwMode="auto">
          <a:xfrm>
            <a:off x="142844" y="642918"/>
            <a:ext cx="4429124" cy="5572125"/>
          </a:xfrm>
          <a:prstGeom prst="rect">
            <a:avLst/>
          </a:prstGeom>
          <a:noFill/>
          <a:ln w="9525">
            <a:noFill/>
            <a:miter lim="800000"/>
            <a:headEnd/>
            <a:tailEnd/>
          </a:ln>
          <a:effectLst/>
        </p:spPr>
      </p:pic>
      <p:pic>
        <p:nvPicPr>
          <p:cNvPr id="2050" name="Picture 2"/>
          <p:cNvPicPr>
            <a:picLocks noGrp="1" noChangeAspect="1" noChangeArrowheads="1"/>
          </p:cNvPicPr>
          <p:nvPr>
            <p:ph idx="1"/>
          </p:nvPr>
        </p:nvPicPr>
        <p:blipFill>
          <a:blip r:embed="rId3"/>
          <a:srcRect/>
          <a:stretch>
            <a:fillRect/>
          </a:stretch>
        </p:blipFill>
        <p:spPr bwMode="auto">
          <a:xfrm>
            <a:off x="4643438" y="642918"/>
            <a:ext cx="4214842" cy="55583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42910" y="857232"/>
            <a:ext cx="7467600" cy="4525963"/>
          </a:xfrm>
        </p:spPr>
        <p:style>
          <a:lnRef idx="1">
            <a:schemeClr val="accent2"/>
          </a:lnRef>
          <a:fillRef idx="3">
            <a:schemeClr val="accent2"/>
          </a:fillRef>
          <a:effectRef idx="2">
            <a:schemeClr val="accent2"/>
          </a:effectRef>
          <a:fontRef idx="minor">
            <a:schemeClr val="lt1"/>
          </a:fontRef>
        </p:style>
        <p:txBody>
          <a:bodyPr>
            <a:normAutofit/>
          </a:bodyPr>
          <a:lstStyle/>
          <a:p>
            <a:pPr algn="r" rtl="1">
              <a:buNone/>
            </a:pPr>
            <a:endParaRPr lang="ar-DZ" sz="6000" dirty="0" smtClean="0"/>
          </a:p>
          <a:p>
            <a:pPr algn="ctr" rtl="1">
              <a:buNone/>
            </a:pPr>
            <a:r>
              <a:rPr lang="ar-DZ" sz="6000" dirty="0" smtClean="0"/>
              <a:t>نهاية العرض </a:t>
            </a:r>
            <a:endParaRPr lang="fr-FR" sz="6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chnique">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que">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que">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661</TotalTime>
  <Words>1063</Words>
  <Application>Microsoft Office PowerPoint</Application>
  <PresentationFormat>Affichage à l'écran (4:3)</PresentationFormat>
  <Paragraphs>144</Paragraphs>
  <Slides>26</Slides>
  <Notes>0</Notes>
  <HiddenSlides>0</HiddenSlides>
  <MMClips>0</MMClips>
  <ScaleCrop>false</ScaleCrop>
  <HeadingPairs>
    <vt:vector size="4" baseType="variant">
      <vt:variant>
        <vt:lpstr>Thème</vt:lpstr>
      </vt:variant>
      <vt:variant>
        <vt:i4>1</vt:i4>
      </vt:variant>
      <vt:variant>
        <vt:lpstr>Titres des diapositives</vt:lpstr>
      </vt:variant>
      <vt:variant>
        <vt:i4>26</vt:i4>
      </vt:variant>
    </vt:vector>
  </HeadingPairs>
  <TitlesOfParts>
    <vt:vector size="27" baseType="lpstr">
      <vt:lpstr>Technique</vt:lpstr>
      <vt:lpstr>الجمهورية الجزائرية الديمقراطية الشعبية وزارة التربية الوطنية </vt:lpstr>
      <vt:lpstr>توازن جسم صلب خاضع لعدة قوى</vt:lpstr>
      <vt:lpstr>وضعية جزئية </vt:lpstr>
      <vt:lpstr>Diapositive 4</vt:lpstr>
      <vt:lpstr>توازن جسم صلب خاضع لعدة قوى حسب المنهاج ص45</vt:lpstr>
      <vt:lpstr>مركبات الكفاءة</vt:lpstr>
      <vt:lpstr>الأهداف التعلمية</vt:lpstr>
      <vt:lpstr> 1- توازن جسم صلب خاضع لقوتين </vt:lpstr>
      <vt:lpstr>1/توازن جسم صلب خاضع لقوتين  </vt:lpstr>
      <vt:lpstr>الأنشطة المقترحة للوصول إلى الأهداف التعلمية</vt:lpstr>
      <vt:lpstr>Diapositive 11</vt:lpstr>
      <vt:lpstr>الموارد المعرفية </vt:lpstr>
      <vt:lpstr>2/توازن جسم صلب خاضع لثلاث قوى غير متوازية</vt:lpstr>
      <vt:lpstr>الأنشطة المقترحة للوصول إلى الأهداف التعلمية</vt:lpstr>
      <vt:lpstr>Diapositive 15</vt:lpstr>
      <vt:lpstr>الموارد المعرفية </vt:lpstr>
      <vt:lpstr>Diapositive 17</vt:lpstr>
      <vt:lpstr>الأهداف التعلمية</vt:lpstr>
      <vt:lpstr>محصّلة قوّتین وتحلیل قوّة بيانيا</vt:lpstr>
      <vt:lpstr>الموارد المعرفية</vt:lpstr>
      <vt:lpstr>Diapositive 21</vt:lpstr>
      <vt:lpstr>Diapositive 22</vt:lpstr>
      <vt:lpstr>تقييم موارد معرفية </vt:lpstr>
      <vt:lpstr>Diapositive 24</vt:lpstr>
      <vt:lpstr>Diapositive 25</vt:lpstr>
      <vt:lpstr>Diapositive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دافـعـــة أرخمــدس في السـوائــل</dc:title>
  <dc:creator>MIB</dc:creator>
  <cp:lastModifiedBy>MCS</cp:lastModifiedBy>
  <cp:revision>79</cp:revision>
  <dcterms:created xsi:type="dcterms:W3CDTF">2018-11-11T21:43:19Z</dcterms:created>
  <dcterms:modified xsi:type="dcterms:W3CDTF">2019-01-22T22:05:58Z</dcterms:modified>
</cp:coreProperties>
</file>