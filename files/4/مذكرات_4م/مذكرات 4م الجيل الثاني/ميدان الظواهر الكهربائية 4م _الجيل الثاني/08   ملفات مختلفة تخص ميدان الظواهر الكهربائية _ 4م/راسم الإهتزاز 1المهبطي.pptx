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1587"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388620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1587"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ar-DZ"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ar-DZ"/>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21" name="Shape 21"/>
        <p:cNvGrpSpPr/>
        <p:nvPr/>
      </p:nvGrpSpPr>
      <p:grpSpPr>
        <a:xfrm>
          <a:off x="0" y="0"/>
          <a:ext cx="0" cy="0"/>
          <a:chOff x="0" y="0"/>
          <a:chExt cx="0" cy="0"/>
        </a:xfrm>
      </p:grpSpPr>
      <p:sp>
        <p:nvSpPr>
          <p:cNvPr id="22" name="Google Shape;22;p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ar-DZ"/>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27" name="Shape 27"/>
        <p:cNvGrpSpPr/>
        <p:nvPr/>
      </p:nvGrpSpPr>
      <p:grpSpPr>
        <a:xfrm>
          <a:off x="0" y="0"/>
          <a:ext cx="0" cy="0"/>
          <a:chOff x="0" y="0"/>
          <a:chExt cx="0" cy="0"/>
        </a:xfrm>
      </p:grpSpPr>
      <p:sp>
        <p:nvSpPr>
          <p:cNvPr id="28" name="Google Shape;28;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ar-DZ"/>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33" name="Shape 33"/>
        <p:cNvGrpSpPr/>
        <p:nvPr/>
      </p:nvGrpSpPr>
      <p:grpSpPr>
        <a:xfrm>
          <a:off x="0" y="0"/>
          <a:ext cx="0" cy="0"/>
          <a:chOff x="0" y="0"/>
          <a:chExt cx="0" cy="0"/>
        </a:xfrm>
      </p:grpSpPr>
      <p:sp>
        <p:nvSpPr>
          <p:cNvPr id="34" name="Google Shape;34;p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p:nvPr>
            <p:ph idx="2" type="pic"/>
          </p:nvPr>
        </p:nvSpPr>
        <p:spPr>
          <a:xfrm>
            <a:off x="1792288" y="612775"/>
            <a:ext cx="5486400" cy="4114800"/>
          </a:xfrm>
          <a:prstGeom prst="rect">
            <a:avLst/>
          </a:prstGeom>
          <a:noFill/>
          <a:ln>
            <a:noFill/>
          </a:ln>
        </p:spPr>
      </p:sp>
      <p:sp>
        <p:nvSpPr>
          <p:cNvPr id="36" name="Google Shape;36;p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7" name="Google Shape;37;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ar-DZ"/>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3" name="Google Shape;43;p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4" name="Google Shape;44;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ar-DZ"/>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47" name="Shape 47"/>
        <p:cNvGrpSpPr/>
        <p:nvPr/>
      </p:nvGrpSpPr>
      <p:grpSpPr>
        <a:xfrm>
          <a:off x="0" y="0"/>
          <a:ext cx="0" cy="0"/>
          <a:chOff x="0" y="0"/>
          <a:chExt cx="0" cy="0"/>
        </a:xfrm>
      </p:grpSpPr>
      <p:sp>
        <p:nvSpPr>
          <p:cNvPr id="48" name="Google Shape;48;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ar-DZ"/>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51" name="Shape 51"/>
        <p:cNvGrpSpPr/>
        <p:nvPr/>
      </p:nvGrpSpPr>
      <p:grpSpPr>
        <a:xfrm>
          <a:off x="0" y="0"/>
          <a:ext cx="0" cy="0"/>
          <a:chOff x="0" y="0"/>
          <a:chExt cx="0" cy="0"/>
        </a:xfrm>
      </p:grpSpPr>
      <p:sp>
        <p:nvSpPr>
          <p:cNvPr id="52" name="Google Shape;52;p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ar-DZ"/>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56" name="Shape 56"/>
        <p:cNvGrpSpPr/>
        <p:nvPr/>
      </p:nvGrpSpPr>
      <p:grpSpPr>
        <a:xfrm>
          <a:off x="0" y="0"/>
          <a:ext cx="0" cy="0"/>
          <a:chOff x="0" y="0"/>
          <a:chExt cx="0" cy="0"/>
        </a:xfrm>
      </p:grpSpPr>
      <p:sp>
        <p:nvSpPr>
          <p:cNvPr id="57" name="Google Shape;57;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9" name="Google Shape;59;p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0" name="Google Shape;60;p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1" name="Google Shape;61;p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ar-DZ"/>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65" name="Shape 65"/>
        <p:cNvGrpSpPr/>
        <p:nvPr/>
      </p:nvGrpSpPr>
      <p:grpSpPr>
        <a:xfrm>
          <a:off x="0" y="0"/>
          <a:ext cx="0" cy="0"/>
          <a:chOff x="0" y="0"/>
          <a:chExt cx="0" cy="0"/>
        </a:xfrm>
      </p:grpSpPr>
      <p:sp>
        <p:nvSpPr>
          <p:cNvPr id="66" name="Google Shape;66;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8" name="Google Shape;68;p1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ar-DZ"/>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72" name="Shape 72"/>
        <p:cNvGrpSpPr/>
        <p:nvPr/>
      </p:nvGrpSpPr>
      <p:grpSpPr>
        <a:xfrm>
          <a:off x="0" y="0"/>
          <a:ext cx="0" cy="0"/>
          <a:chOff x="0" y="0"/>
          <a:chExt cx="0" cy="0"/>
        </a:xfrm>
      </p:grpSpPr>
      <p:sp>
        <p:nvSpPr>
          <p:cNvPr id="73" name="Google Shape;73;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ar-DZ"/>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78" name="Shape 78"/>
        <p:cNvGrpSpPr/>
        <p:nvPr/>
      </p:nvGrpSpPr>
      <p:grpSpPr>
        <a:xfrm>
          <a:off x="0" y="0"/>
          <a:ext cx="0" cy="0"/>
          <a:chOff x="0" y="0"/>
          <a:chExt cx="0" cy="0"/>
        </a:xfrm>
      </p:grpSpPr>
      <p:sp>
        <p:nvSpPr>
          <p:cNvPr id="79" name="Google Shape;79;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ar-DZ"/>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ar-DZ"/>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slow">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5.png"/><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54a23112.gif" id="88" name="Google Shape;88;p13"/>
          <p:cNvPicPr preferRelativeResize="0"/>
          <p:nvPr/>
        </p:nvPicPr>
        <p:blipFill rotWithShape="1">
          <a:blip r:embed="rId3">
            <a:alphaModFix/>
          </a:blip>
          <a:srcRect b="0" l="0" r="0" t="0"/>
          <a:stretch/>
        </p:blipFill>
        <p:spPr>
          <a:xfrm>
            <a:off x="395536" y="332656"/>
            <a:ext cx="8496943" cy="6408712"/>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p:nvPr/>
        </p:nvSpPr>
        <p:spPr>
          <a:xfrm flipH="1">
            <a:off x="25353" y="65525"/>
            <a:ext cx="9108504" cy="2308324"/>
          </a:xfrm>
          <a:prstGeom prst="rect">
            <a:avLst/>
          </a:prstGeom>
          <a:solidFill>
            <a:srgbClr val="FF0000"/>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FFFEFE"/>
              </a:buClr>
              <a:buSzPts val="4800"/>
              <a:buFont typeface="Arial"/>
              <a:buNone/>
            </a:pPr>
            <a:r>
              <a:rPr b="1" i="0" lang="ar-DZ" sz="4800" u="none" cap="none" strike="noStrike">
                <a:solidFill>
                  <a:srgbClr val="FFFEFE"/>
                </a:solidFill>
                <a:latin typeface="Arial"/>
                <a:ea typeface="Arial"/>
                <a:cs typeface="Arial"/>
                <a:sym typeface="Arial"/>
              </a:rPr>
              <a:t>الجمهورية الجزائرية الديمقراطية الشعبية</a:t>
            </a:r>
            <a:r>
              <a:rPr b="1" i="0" lang="ar-DZ" sz="4800" u="none" cap="none" strike="noStrike">
                <a:solidFill>
                  <a:srgbClr val="FFFEFE"/>
                </a:solidFill>
                <a:latin typeface="Calibri"/>
                <a:ea typeface="Calibri"/>
                <a:cs typeface="Calibri"/>
                <a:sym typeface="Calibri"/>
              </a:rPr>
              <a:t> </a:t>
            </a:r>
            <a:endParaRPr b="1" i="0" sz="4800" u="none" cap="none" strike="noStrike">
              <a:solidFill>
                <a:srgbClr val="FFFEFE"/>
              </a:solidFill>
              <a:latin typeface="Calibri"/>
              <a:ea typeface="Calibri"/>
              <a:cs typeface="Calibri"/>
              <a:sym typeface="Calibri"/>
            </a:endParaRPr>
          </a:p>
          <a:p>
            <a:pPr indent="0" lvl="0" marL="0" marR="0" rtl="1" algn="ctr">
              <a:lnSpc>
                <a:spcPct val="100000"/>
              </a:lnSpc>
              <a:spcBef>
                <a:spcPts val="0"/>
              </a:spcBef>
              <a:spcAft>
                <a:spcPts val="0"/>
              </a:spcAft>
              <a:buClr>
                <a:srgbClr val="FFFEFE"/>
              </a:buClr>
              <a:buSzPts val="4800"/>
              <a:buFont typeface="Arial"/>
              <a:buNone/>
            </a:pPr>
            <a:r>
              <a:rPr b="1" i="0" lang="ar-DZ" sz="4800" u="none" cap="none" strike="noStrike">
                <a:solidFill>
                  <a:srgbClr val="FFFEFE"/>
                </a:solidFill>
                <a:latin typeface="Arial"/>
                <a:ea typeface="Arial"/>
                <a:cs typeface="Arial"/>
                <a:sym typeface="Arial"/>
              </a:rPr>
              <a:t>وزارة التربية الوطنية</a:t>
            </a:r>
            <a:endParaRPr b="1" i="0" sz="4800" u="none" cap="none" strike="noStrike">
              <a:solidFill>
                <a:srgbClr val="FFFEFE"/>
              </a:solidFill>
              <a:latin typeface="Calibri"/>
              <a:ea typeface="Calibri"/>
              <a:cs typeface="Calibri"/>
              <a:sym typeface="Calibri"/>
            </a:endParaRPr>
          </a:p>
          <a:p>
            <a:pPr indent="0" lvl="0" marL="0" marR="0" rtl="1" algn="ctr">
              <a:lnSpc>
                <a:spcPct val="100000"/>
              </a:lnSpc>
              <a:spcBef>
                <a:spcPts val="0"/>
              </a:spcBef>
              <a:spcAft>
                <a:spcPts val="0"/>
              </a:spcAft>
              <a:buClr>
                <a:srgbClr val="FFFEFE"/>
              </a:buClr>
              <a:buSzPts val="4800"/>
              <a:buFont typeface="Calibri"/>
              <a:buNone/>
            </a:pPr>
            <a:r>
              <a:rPr b="1" i="0" lang="ar-DZ" sz="4800" u="none" cap="none" strike="noStrike">
                <a:solidFill>
                  <a:srgbClr val="FFFEFE"/>
                </a:solidFill>
                <a:latin typeface="Calibri"/>
                <a:ea typeface="Calibri"/>
                <a:cs typeface="Calibri"/>
                <a:sym typeface="Calibri"/>
              </a:rPr>
              <a:t>متوسطة محمد خيضر – البويرة – </a:t>
            </a:r>
            <a:endParaRPr/>
          </a:p>
        </p:txBody>
      </p:sp>
      <p:sp>
        <p:nvSpPr>
          <p:cNvPr id="94" name="Google Shape;94;p14"/>
          <p:cNvSpPr/>
          <p:nvPr/>
        </p:nvSpPr>
        <p:spPr>
          <a:xfrm>
            <a:off x="785786" y="2571744"/>
            <a:ext cx="7560000" cy="3857652"/>
          </a:xfrm>
          <a:prstGeom prst="ellipse">
            <a:avLst/>
          </a:prstGeom>
          <a:solidFill>
            <a:schemeClr val="lt1"/>
          </a:solidFill>
          <a:ln cap="flat" cmpd="sng" w="25400">
            <a:solidFill>
              <a:schemeClr val="accent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A04400"/>
              </a:buClr>
              <a:buSzPts val="7200"/>
              <a:buFont typeface="Calibri"/>
              <a:buNone/>
            </a:pPr>
            <a:r>
              <a:rPr b="1" i="0" lang="ar-DZ" sz="7200" u="none" cap="none" strike="noStrike">
                <a:solidFill>
                  <a:srgbClr val="A04400"/>
                </a:solidFill>
                <a:latin typeface="Calibri"/>
                <a:ea typeface="Calibri"/>
                <a:cs typeface="Calibri"/>
                <a:sym typeface="Calibri"/>
              </a:rPr>
              <a:t>عرض حول</a:t>
            </a:r>
            <a:endParaRPr b="1" i="0" sz="7200" u="none" cap="none" strike="noStrike">
              <a:solidFill>
                <a:srgbClr val="A04400"/>
              </a:solidFill>
              <a:latin typeface="Calibri"/>
              <a:ea typeface="Calibri"/>
              <a:cs typeface="Calibri"/>
              <a:sym typeface="Calibri"/>
            </a:endParaRPr>
          </a:p>
          <a:p>
            <a:pPr indent="0" lvl="0" marL="0" marR="0" rtl="0" algn="ctr">
              <a:lnSpc>
                <a:spcPct val="100000"/>
              </a:lnSpc>
              <a:spcBef>
                <a:spcPts val="0"/>
              </a:spcBef>
              <a:spcAft>
                <a:spcPts val="0"/>
              </a:spcAft>
              <a:buClr>
                <a:srgbClr val="A04400"/>
              </a:buClr>
              <a:buSzPts val="7200"/>
              <a:buFont typeface="Calibri"/>
              <a:buNone/>
            </a:pPr>
            <a:r>
              <a:rPr b="1" i="0" lang="ar-DZ" sz="7200" u="none" cap="none" strike="noStrike">
                <a:solidFill>
                  <a:srgbClr val="A04400"/>
                </a:solidFill>
                <a:latin typeface="Calibri"/>
                <a:ea typeface="Calibri"/>
                <a:cs typeface="Calibri"/>
                <a:sym typeface="Calibri"/>
              </a:rPr>
              <a:t>راسـم الاهتزاز المهبطي</a:t>
            </a:r>
            <a:endParaRPr/>
          </a:p>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nvSpPr>
        <p:spPr>
          <a:xfrm>
            <a:off x="1619672" y="116632"/>
            <a:ext cx="5857875"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7200"/>
              <a:buFont typeface="Arial"/>
              <a:buNone/>
            </a:pPr>
            <a:r>
              <a:rPr b="1" i="0" lang="ar-DZ" sz="7200" u="none" cap="none" strike="noStrike">
                <a:solidFill>
                  <a:srgbClr val="FF0000"/>
                </a:solidFill>
                <a:latin typeface="Arial"/>
                <a:ea typeface="Arial"/>
                <a:cs typeface="Arial"/>
                <a:sym typeface="Arial"/>
              </a:rPr>
              <a:t>مراحل العرض</a:t>
            </a:r>
            <a:endParaRPr/>
          </a:p>
        </p:txBody>
      </p:sp>
      <p:sp>
        <p:nvSpPr>
          <p:cNvPr id="100" name="Google Shape;100;p15"/>
          <p:cNvSpPr txBox="1"/>
          <p:nvPr/>
        </p:nvSpPr>
        <p:spPr>
          <a:xfrm>
            <a:off x="714375" y="5035550"/>
            <a:ext cx="8316912" cy="769937"/>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chemeClr val="dk1"/>
              </a:buClr>
              <a:buSzPts val="4400"/>
              <a:buFont typeface="Arial"/>
              <a:buNone/>
            </a:pPr>
            <a:r>
              <a:rPr b="0" i="0" lang="ar-DZ" sz="4400" u="none" cap="none" strike="noStrike">
                <a:solidFill>
                  <a:schemeClr val="dk1"/>
                </a:solidFill>
                <a:latin typeface="Arial"/>
                <a:ea typeface="Arial"/>
                <a:cs typeface="Arial"/>
                <a:sym typeface="Arial"/>
              </a:rPr>
              <a:t>4. تطبيقات جهاز راسم الإهتزاز المهبطي</a:t>
            </a:r>
            <a:endParaRPr/>
          </a:p>
        </p:txBody>
      </p:sp>
      <p:sp>
        <p:nvSpPr>
          <p:cNvPr id="101" name="Google Shape;101;p15"/>
          <p:cNvSpPr txBox="1"/>
          <p:nvPr/>
        </p:nvSpPr>
        <p:spPr>
          <a:xfrm>
            <a:off x="941387" y="1301750"/>
            <a:ext cx="8094662" cy="831850"/>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chemeClr val="dk1"/>
              </a:buClr>
              <a:buSzPts val="4800"/>
              <a:buFont typeface="Arial"/>
              <a:buNone/>
            </a:pPr>
            <a:r>
              <a:rPr b="0" i="0" lang="ar-DZ" sz="4800" u="none" cap="none" strike="noStrike">
                <a:solidFill>
                  <a:schemeClr val="dk1"/>
                </a:solidFill>
                <a:latin typeface="Arial"/>
                <a:ea typeface="Arial"/>
                <a:cs typeface="Arial"/>
                <a:sym typeface="Arial"/>
              </a:rPr>
              <a:t>1. تعريف جهاز راسم الإهتزاز المهبطي</a:t>
            </a:r>
            <a:endParaRPr/>
          </a:p>
        </p:txBody>
      </p:sp>
      <p:sp>
        <p:nvSpPr>
          <p:cNvPr id="102" name="Google Shape;102;p15"/>
          <p:cNvSpPr txBox="1"/>
          <p:nvPr/>
        </p:nvSpPr>
        <p:spPr>
          <a:xfrm>
            <a:off x="817562" y="2598737"/>
            <a:ext cx="8247062" cy="830262"/>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chemeClr val="dk1"/>
              </a:buClr>
              <a:buSzPts val="4800"/>
              <a:buFont typeface="Arial"/>
              <a:buNone/>
            </a:pPr>
            <a:r>
              <a:rPr b="0" i="0" lang="ar-DZ" sz="4800" u="none" cap="none" strike="noStrike">
                <a:solidFill>
                  <a:schemeClr val="dk1"/>
                </a:solidFill>
                <a:latin typeface="Arial"/>
                <a:ea typeface="Arial"/>
                <a:cs typeface="Arial"/>
                <a:sym typeface="Arial"/>
              </a:rPr>
              <a:t>2. مكونات جهاز راسم الإهتزاز المهبطي</a:t>
            </a:r>
            <a:endParaRPr/>
          </a:p>
        </p:txBody>
      </p:sp>
      <p:sp>
        <p:nvSpPr>
          <p:cNvPr id="103" name="Google Shape;103;p15"/>
          <p:cNvSpPr txBox="1"/>
          <p:nvPr/>
        </p:nvSpPr>
        <p:spPr>
          <a:xfrm>
            <a:off x="-142875" y="3811587"/>
            <a:ext cx="9144000" cy="769937"/>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chemeClr val="dk1"/>
              </a:buClr>
              <a:buSzPts val="4400"/>
              <a:buFont typeface="Arial"/>
              <a:buNone/>
            </a:pPr>
            <a:r>
              <a:rPr b="0" i="0" lang="ar-DZ" sz="4400" u="none" cap="none" strike="noStrike">
                <a:solidFill>
                  <a:schemeClr val="dk1"/>
                </a:solidFill>
                <a:latin typeface="Arial"/>
                <a:ea typeface="Arial"/>
                <a:cs typeface="Arial"/>
                <a:sym typeface="Arial"/>
              </a:rPr>
              <a:t>3. خطوات تشغيل جهاز راسم الإهتزاز المهبطي</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anim calcmode="lin" valueType="num">
                                      <p:cBhvr additive="base">
                                        <p:cTn dur="500"/>
                                        <p:tgtEl>
                                          <p:spTgt spid="10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animEffect filter="fade" transition="in">
                                      <p:cBhvr>
                                        <p:cTn dur="500"/>
                                        <p:tgtEl>
                                          <p:spTgt spid="1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anim calcmode="lin" valueType="num">
                                      <p:cBhvr additive="base">
                                        <p:cTn dur="500"/>
                                        <p:tgtEl>
                                          <p:spTgt spid="10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anim calcmode="lin" valueType="num">
                                      <p:cBhvr additive="base">
                                        <p:cTn dur="500"/>
                                        <p:tgtEl>
                                          <p:spTgt spid="10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nvSpPr>
        <p:spPr>
          <a:xfrm>
            <a:off x="2411760" y="44624"/>
            <a:ext cx="6583090" cy="646331"/>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FC7876"/>
              </a:buClr>
              <a:buSzPts val="3600"/>
              <a:buFont typeface="Times New Roman"/>
              <a:buNone/>
            </a:pPr>
            <a:r>
              <a:rPr b="1" i="0" lang="ar-DZ" sz="3600" u="none" cap="none" strike="noStrike">
                <a:solidFill>
                  <a:srgbClr val="FC7876"/>
                </a:solidFill>
                <a:latin typeface="Times New Roman"/>
                <a:ea typeface="Times New Roman"/>
                <a:cs typeface="Times New Roman"/>
                <a:sym typeface="Times New Roman"/>
              </a:rPr>
              <a:t>1. تعريف جهاز راسم الإهتزاز المهبطي</a:t>
            </a:r>
            <a:endParaRPr/>
          </a:p>
        </p:txBody>
      </p:sp>
      <p:sp>
        <p:nvSpPr>
          <p:cNvPr id="109" name="Google Shape;109;p16"/>
          <p:cNvSpPr txBox="1"/>
          <p:nvPr/>
        </p:nvSpPr>
        <p:spPr>
          <a:xfrm>
            <a:off x="107950" y="692150"/>
            <a:ext cx="8928100" cy="1200150"/>
          </a:xfrm>
          <a:prstGeom prst="rect">
            <a:avLst/>
          </a:prstGeom>
          <a:noFill/>
          <a:ln>
            <a:noFill/>
          </a:ln>
        </p:spPr>
        <p:txBody>
          <a:bodyPr anchorCtr="0" anchor="t" bIns="45700" lIns="91425" spcFirstLastPara="1" rIns="91425" wrap="square" tIns="45700">
            <a:spAutoFit/>
          </a:bodyPr>
          <a:lstStyle/>
          <a:p>
            <a:pPr indent="0" lvl="0" marL="0" marR="0" rtl="1" algn="just">
              <a:lnSpc>
                <a:spcPct val="100000"/>
              </a:lnSpc>
              <a:spcBef>
                <a:spcPts val="0"/>
              </a:spcBef>
              <a:spcAft>
                <a:spcPts val="0"/>
              </a:spcAft>
              <a:buClr>
                <a:schemeClr val="dk1"/>
              </a:buClr>
              <a:buSzPts val="2400"/>
              <a:buFont typeface="Arial"/>
              <a:buNone/>
            </a:pPr>
            <a:r>
              <a:rPr b="0" i="0" lang="ar-DZ" sz="2400" u="none" cap="none" strike="noStrike">
                <a:solidFill>
                  <a:schemeClr val="dk1"/>
                </a:solidFill>
                <a:latin typeface="Arial"/>
                <a:ea typeface="Arial"/>
                <a:cs typeface="Arial"/>
                <a:sym typeface="Arial"/>
              </a:rPr>
              <a:t>هو جهاز إلكتروني يسمح في آن واحد بمشاهدة الإشارات الكهربائية وقياس بعض من مقاديرها الفيزيائية كالتوتر والدور والتردد. يرتكز مبدأ عمله على انحراف حزمة إلكترونية في وسط حقل كهربائي و يتكون أساسا من : </a:t>
            </a:r>
            <a:endParaRPr/>
          </a:p>
        </p:txBody>
      </p:sp>
      <p:grpSp>
        <p:nvGrpSpPr>
          <p:cNvPr id="110" name="Google Shape;110;p16"/>
          <p:cNvGrpSpPr/>
          <p:nvPr/>
        </p:nvGrpSpPr>
        <p:grpSpPr>
          <a:xfrm>
            <a:off x="539750" y="3141662"/>
            <a:ext cx="7067550" cy="2047875"/>
            <a:chOff x="539426" y="3569504"/>
            <a:chExt cx="7067122" cy="2048200"/>
          </a:xfrm>
        </p:grpSpPr>
        <p:grpSp>
          <p:nvGrpSpPr>
            <p:cNvPr id="111" name="Google Shape;111;p16"/>
            <p:cNvGrpSpPr/>
            <p:nvPr/>
          </p:nvGrpSpPr>
          <p:grpSpPr>
            <a:xfrm>
              <a:off x="539426" y="3569504"/>
              <a:ext cx="7067121" cy="2048200"/>
              <a:chOff x="539426" y="3541040"/>
              <a:chExt cx="7067121" cy="2048200"/>
            </a:xfrm>
          </p:grpSpPr>
          <p:cxnSp>
            <p:nvCxnSpPr>
              <p:cNvPr id="112" name="Google Shape;112;p16"/>
              <p:cNvCxnSpPr/>
              <p:nvPr/>
            </p:nvCxnSpPr>
            <p:spPr>
              <a:xfrm flipH="1" rot="10800000">
                <a:off x="5790529" y="4538977"/>
                <a:ext cx="1260355" cy="21587"/>
              </a:xfrm>
              <a:prstGeom prst="straightConnector1">
                <a:avLst/>
              </a:prstGeom>
              <a:noFill/>
              <a:ln cap="flat" cmpd="sng" w="19050">
                <a:solidFill>
                  <a:srgbClr val="0000FF"/>
                </a:solidFill>
                <a:prstDash val="solid"/>
                <a:miter lim="800000"/>
                <a:headEnd len="med" w="med" type="none"/>
                <a:tailEnd len="med" w="med" type="none"/>
              </a:ln>
            </p:spPr>
          </p:cxnSp>
          <p:grpSp>
            <p:nvGrpSpPr>
              <p:cNvPr id="113" name="Google Shape;113;p16"/>
              <p:cNvGrpSpPr/>
              <p:nvPr/>
            </p:nvGrpSpPr>
            <p:grpSpPr>
              <a:xfrm>
                <a:off x="539426" y="3541040"/>
                <a:ext cx="7067121" cy="2048200"/>
                <a:chOff x="539426" y="3543448"/>
                <a:chExt cx="7067121" cy="2048200"/>
              </a:xfrm>
            </p:grpSpPr>
            <p:sp>
              <p:nvSpPr>
                <p:cNvPr id="114" name="Google Shape;114;p16"/>
                <p:cNvSpPr/>
                <p:nvPr/>
              </p:nvSpPr>
              <p:spPr>
                <a:xfrm>
                  <a:off x="6683186" y="3543448"/>
                  <a:ext cx="923361" cy="2048200"/>
                </a:xfrm>
                <a:prstGeom prst="ellipse">
                  <a:avLst/>
                </a:prstGeom>
                <a:solidFill>
                  <a:srgbClr val="FFFFFF"/>
                </a:solidFill>
                <a:ln cap="flat" cmpd="sng" w="1905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nvGrpSpPr>
                <p:cNvPr id="115" name="Google Shape;115;p16"/>
                <p:cNvGrpSpPr/>
                <p:nvPr/>
              </p:nvGrpSpPr>
              <p:grpSpPr>
                <a:xfrm>
                  <a:off x="539426" y="4365013"/>
                  <a:ext cx="936092" cy="388561"/>
                  <a:chOff x="2454" y="6892"/>
                  <a:chExt cx="1250" cy="612"/>
                </a:xfrm>
              </p:grpSpPr>
              <p:sp>
                <p:nvSpPr>
                  <p:cNvPr id="116" name="Google Shape;116;p16"/>
                  <p:cNvSpPr/>
                  <p:nvPr/>
                </p:nvSpPr>
                <p:spPr>
                  <a:xfrm>
                    <a:off x="2471" y="6892"/>
                    <a:ext cx="85" cy="86"/>
                  </a:xfrm>
                  <a:prstGeom prst="ellipse">
                    <a:avLst/>
                  </a:prstGeom>
                  <a:solidFill>
                    <a:srgbClr val="FFFFFF"/>
                  </a:solidFill>
                  <a:ln cap="flat" cmpd="sng" w="5715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17" name="Google Shape;117;p16"/>
                  <p:cNvSpPr/>
                  <p:nvPr/>
                </p:nvSpPr>
                <p:spPr>
                  <a:xfrm>
                    <a:off x="2454" y="7419"/>
                    <a:ext cx="85" cy="85"/>
                  </a:xfrm>
                  <a:prstGeom prst="ellipse">
                    <a:avLst/>
                  </a:prstGeom>
                  <a:solidFill>
                    <a:srgbClr val="FFFFFF"/>
                  </a:solidFill>
                  <a:ln cap="flat" cmpd="sng" w="5715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18" name="Google Shape;118;p16"/>
                  <p:cNvSpPr/>
                  <p:nvPr/>
                </p:nvSpPr>
                <p:spPr>
                  <a:xfrm>
                    <a:off x="2504" y="6929"/>
                    <a:ext cx="1200" cy="530"/>
                  </a:xfrm>
                  <a:custGeom>
                    <a:rect b="b" l="l" r="r" t="t"/>
                    <a:pathLst>
                      <a:path extrusionOk="0" h="330" w="653">
                        <a:moveTo>
                          <a:pt x="0" y="0"/>
                        </a:moveTo>
                        <a:lnTo>
                          <a:pt x="630" y="0"/>
                        </a:lnTo>
                        <a:lnTo>
                          <a:pt x="608" y="90"/>
                        </a:lnTo>
                        <a:lnTo>
                          <a:pt x="653" y="157"/>
                        </a:lnTo>
                        <a:lnTo>
                          <a:pt x="608" y="217"/>
                        </a:lnTo>
                        <a:lnTo>
                          <a:pt x="630" y="330"/>
                        </a:lnTo>
                        <a:lnTo>
                          <a:pt x="15" y="330"/>
                        </a:lnTo>
                      </a:path>
                    </a:pathLst>
                  </a:custGeom>
                  <a:noFill/>
                  <a:ln cap="flat" cmpd="sng" w="5715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sp>
              <p:nvSpPr>
                <p:cNvPr id="119" name="Google Shape;119;p16"/>
                <p:cNvSpPr/>
                <p:nvPr/>
              </p:nvSpPr>
              <p:spPr>
                <a:xfrm>
                  <a:off x="1153503" y="3543448"/>
                  <a:ext cx="5958040" cy="2048200"/>
                </a:xfrm>
                <a:custGeom>
                  <a:rect b="b" l="l" r="r" t="t"/>
                  <a:pathLst>
                    <a:path extrusionOk="0" h="3902" w="6740">
                      <a:moveTo>
                        <a:pt x="6708" y="0"/>
                      </a:moveTo>
                      <a:lnTo>
                        <a:pt x="3837" y="1005"/>
                      </a:lnTo>
                      <a:lnTo>
                        <a:pt x="451" y="1005"/>
                      </a:lnTo>
                      <a:lnTo>
                        <a:pt x="377" y="1018"/>
                      </a:lnTo>
                      <a:lnTo>
                        <a:pt x="313" y="1045"/>
                      </a:lnTo>
                      <a:lnTo>
                        <a:pt x="201" y="1153"/>
                      </a:lnTo>
                      <a:lnTo>
                        <a:pt x="123" y="1285"/>
                      </a:lnTo>
                      <a:lnTo>
                        <a:pt x="78" y="1402"/>
                      </a:lnTo>
                      <a:cubicBezTo>
                        <a:pt x="62" y="1465"/>
                        <a:pt x="36" y="1580"/>
                        <a:pt x="22" y="1666"/>
                      </a:cubicBezTo>
                      <a:cubicBezTo>
                        <a:pt x="9" y="1752"/>
                        <a:pt x="2" y="1853"/>
                        <a:pt x="0" y="1918"/>
                      </a:cubicBezTo>
                      <a:lnTo>
                        <a:pt x="7" y="2059"/>
                      </a:lnTo>
                      <a:lnTo>
                        <a:pt x="30" y="2212"/>
                      </a:lnTo>
                      <a:lnTo>
                        <a:pt x="52" y="2320"/>
                      </a:lnTo>
                      <a:lnTo>
                        <a:pt x="90" y="2461"/>
                      </a:lnTo>
                      <a:lnTo>
                        <a:pt x="131" y="2560"/>
                      </a:lnTo>
                      <a:lnTo>
                        <a:pt x="201" y="2671"/>
                      </a:lnTo>
                      <a:lnTo>
                        <a:pt x="295" y="2770"/>
                      </a:lnTo>
                      <a:lnTo>
                        <a:pt x="362" y="2803"/>
                      </a:lnTo>
                      <a:lnTo>
                        <a:pt x="451" y="2820"/>
                      </a:lnTo>
                      <a:lnTo>
                        <a:pt x="3818" y="2820"/>
                      </a:lnTo>
                      <a:lnTo>
                        <a:pt x="6740" y="3902"/>
                      </a:ln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20" name="Google Shape;120;p16"/>
                <p:cNvSpPr/>
                <p:nvPr/>
              </p:nvSpPr>
              <p:spPr>
                <a:xfrm>
                  <a:off x="1589347" y="4344062"/>
                  <a:ext cx="136295" cy="410783"/>
                </a:xfrm>
                <a:prstGeom prst="ellipse">
                  <a:avLst/>
                </a:prstGeom>
                <a:solidFill>
                  <a:srgbClr val="FFFF00"/>
                </a:solidFill>
                <a:ln cap="flat" cmpd="sng" w="1905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21" name="Google Shape;121;p16"/>
                <p:cNvSpPr/>
                <p:nvPr/>
              </p:nvSpPr>
              <p:spPr>
                <a:xfrm rot="5400000">
                  <a:off x="2274960" y="4250498"/>
                  <a:ext cx="421576" cy="587117"/>
                </a:xfrm>
                <a:prstGeom prst="can">
                  <a:avLst>
                    <a:gd fmla="val 4578" name="adj"/>
                  </a:avLst>
                </a:prstGeom>
                <a:gradFill>
                  <a:gsLst>
                    <a:gs pos="0">
                      <a:srgbClr val="767676"/>
                    </a:gs>
                    <a:gs pos="50000">
                      <a:srgbClr val="FFFFFF"/>
                    </a:gs>
                    <a:gs pos="100000">
                      <a:srgbClr val="767676"/>
                    </a:gs>
                  </a:gsLst>
                  <a:lin ang="5400000" scaled="0"/>
                </a:gra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nvGrpSpPr>
                <p:cNvPr id="122" name="Google Shape;122;p16"/>
                <p:cNvGrpSpPr/>
                <p:nvPr/>
              </p:nvGrpSpPr>
              <p:grpSpPr>
                <a:xfrm>
                  <a:off x="4343705" y="4377077"/>
                  <a:ext cx="605090" cy="352372"/>
                  <a:chOff x="5445" y="4485"/>
                  <a:chExt cx="1260" cy="690"/>
                </a:xfrm>
              </p:grpSpPr>
              <p:sp>
                <p:nvSpPr>
                  <p:cNvPr id="123" name="Google Shape;123;p16"/>
                  <p:cNvSpPr/>
                  <p:nvPr/>
                </p:nvSpPr>
                <p:spPr>
                  <a:xfrm rot="10800000">
                    <a:off x="5520" y="4485"/>
                    <a:ext cx="1185" cy="120"/>
                  </a:xfrm>
                  <a:prstGeom prst="parallelogram">
                    <a:avLst>
                      <a:gd fmla="val 4356" name="adj"/>
                    </a:avLst>
                  </a:prstGeom>
                  <a:solidFill>
                    <a:srgbClr val="C0C0C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24" name="Google Shape;124;p16"/>
                  <p:cNvSpPr/>
                  <p:nvPr/>
                </p:nvSpPr>
                <p:spPr>
                  <a:xfrm rot="10800000">
                    <a:off x="5445" y="5055"/>
                    <a:ext cx="1185" cy="120"/>
                  </a:xfrm>
                  <a:prstGeom prst="parallelogram">
                    <a:avLst>
                      <a:gd fmla="val 4356" name="adj"/>
                    </a:avLst>
                  </a:prstGeom>
                  <a:solidFill>
                    <a:srgbClr val="969696"/>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sp>
              <p:nvSpPr>
                <p:cNvPr id="125" name="Google Shape;125;p16"/>
                <p:cNvSpPr txBox="1"/>
                <p:nvPr/>
              </p:nvSpPr>
              <p:spPr>
                <a:xfrm>
                  <a:off x="3569369" y="4315491"/>
                  <a:ext cx="388665" cy="398085"/>
                </a:xfrm>
                <a:prstGeom prst="rect">
                  <a:avLst/>
                </a:prstGeom>
                <a:solidFill>
                  <a:srgbClr val="969696"/>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cxnSp>
              <p:nvCxnSpPr>
                <p:cNvPr id="126" name="Google Shape;126;p16"/>
                <p:cNvCxnSpPr/>
                <p:nvPr/>
              </p:nvCxnSpPr>
              <p:spPr>
                <a:xfrm>
                  <a:off x="2721644" y="4560564"/>
                  <a:ext cx="3095844" cy="0"/>
                </a:xfrm>
                <a:prstGeom prst="straightConnector1">
                  <a:avLst/>
                </a:prstGeom>
                <a:noFill/>
                <a:ln cap="flat" cmpd="sng" w="19050">
                  <a:solidFill>
                    <a:srgbClr val="0000FF"/>
                  </a:solidFill>
                  <a:prstDash val="solid"/>
                  <a:miter lim="800000"/>
                  <a:headEnd len="med" w="med" type="none"/>
                  <a:tailEnd len="med" w="med" type="none"/>
                </a:ln>
              </p:spPr>
            </p:cxnSp>
            <p:sp>
              <p:nvSpPr>
                <p:cNvPr id="127" name="Google Shape;127;p16"/>
                <p:cNvSpPr txBox="1"/>
                <p:nvPr/>
              </p:nvSpPr>
              <p:spPr>
                <a:xfrm>
                  <a:off x="3452545" y="4377077"/>
                  <a:ext cx="387917" cy="398085"/>
                </a:xfrm>
                <a:prstGeom prst="rect">
                  <a:avLst/>
                </a:prstGeom>
                <a:solidFill>
                  <a:srgbClr val="C0C0C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cxnSp>
              <p:nvCxnSpPr>
                <p:cNvPr id="128" name="Google Shape;128;p16"/>
                <p:cNvCxnSpPr/>
                <p:nvPr/>
              </p:nvCxnSpPr>
              <p:spPr>
                <a:xfrm rot="10800000">
                  <a:off x="7093569" y="3543448"/>
                  <a:ext cx="0" cy="974577"/>
                </a:xfrm>
                <a:prstGeom prst="straightConnector1">
                  <a:avLst/>
                </a:prstGeom>
                <a:noFill/>
                <a:ln cap="flat" cmpd="sng" w="28575">
                  <a:solidFill>
                    <a:srgbClr val="000000"/>
                  </a:solidFill>
                  <a:prstDash val="solid"/>
                  <a:miter lim="800000"/>
                  <a:headEnd len="med" w="med" type="none"/>
                  <a:tailEnd len="med" w="med" type="triangle"/>
                </a:ln>
              </p:spPr>
            </p:cxnSp>
          </p:grpSp>
        </p:grpSp>
        <p:cxnSp>
          <p:nvCxnSpPr>
            <p:cNvPr id="129" name="Google Shape;129;p16"/>
            <p:cNvCxnSpPr/>
            <p:nvPr/>
          </p:nvCxnSpPr>
          <p:spPr>
            <a:xfrm flipH="1" rot="10800000">
              <a:off x="7093569" y="4490089"/>
              <a:ext cx="512979" cy="48888"/>
            </a:xfrm>
            <a:prstGeom prst="straightConnector1">
              <a:avLst/>
            </a:prstGeom>
            <a:noFill/>
            <a:ln cap="flat" cmpd="sng" w="28575">
              <a:solidFill>
                <a:srgbClr val="000000"/>
              </a:solidFill>
              <a:prstDash val="solid"/>
              <a:miter lim="800000"/>
              <a:headEnd len="med" w="med" type="none"/>
              <a:tailEnd len="med" w="med" type="triangle"/>
            </a:ln>
          </p:spPr>
        </p:cxnSp>
      </p:grpSp>
      <p:sp>
        <p:nvSpPr>
          <p:cNvPr id="130" name="Google Shape;130;p16"/>
          <p:cNvSpPr txBox="1"/>
          <p:nvPr/>
        </p:nvSpPr>
        <p:spPr>
          <a:xfrm>
            <a:off x="5292725" y="5445125"/>
            <a:ext cx="1944687" cy="777875"/>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chemeClr val="dk1"/>
              </a:buClr>
              <a:buSzPts val="2200"/>
              <a:buFont typeface="Arial"/>
              <a:buNone/>
            </a:pPr>
            <a:r>
              <a:rPr b="0" i="0" lang="ar-DZ" sz="2200" u="none">
                <a:solidFill>
                  <a:schemeClr val="dk1"/>
                </a:solidFill>
                <a:latin typeface="Arial"/>
                <a:ea typeface="Arial"/>
                <a:cs typeface="Arial"/>
                <a:sym typeface="Arial"/>
              </a:rPr>
              <a:t>أنبوب</a:t>
            </a:r>
            <a:r>
              <a:rPr b="1" i="0" lang="ar-DZ" sz="2200" u="none">
                <a:solidFill>
                  <a:schemeClr val="dk1"/>
                </a:solidFill>
                <a:latin typeface="Arial"/>
                <a:ea typeface="Arial"/>
                <a:cs typeface="Arial"/>
                <a:sym typeface="Arial"/>
              </a:rPr>
              <a:t> </a:t>
            </a:r>
            <a:r>
              <a:rPr b="0" i="0" lang="ar-DZ" sz="2200" u="none">
                <a:solidFill>
                  <a:schemeClr val="dk1"/>
                </a:solidFill>
                <a:latin typeface="Arial"/>
                <a:ea typeface="Arial"/>
                <a:cs typeface="Arial"/>
                <a:sym typeface="Arial"/>
              </a:rPr>
              <a:t>من الزجاج مفرغ من الهواء  </a:t>
            </a:r>
            <a:endParaRPr/>
          </a:p>
        </p:txBody>
      </p:sp>
      <p:cxnSp>
        <p:nvCxnSpPr>
          <p:cNvPr id="131" name="Google Shape;131;p16"/>
          <p:cNvCxnSpPr/>
          <p:nvPr/>
        </p:nvCxnSpPr>
        <p:spPr>
          <a:xfrm flipH="1" rot="10800000">
            <a:off x="5889625" y="4995862"/>
            <a:ext cx="407987" cy="449262"/>
          </a:xfrm>
          <a:prstGeom prst="straightConnector1">
            <a:avLst/>
          </a:prstGeom>
          <a:noFill/>
          <a:ln cap="flat" cmpd="sng" w="38100">
            <a:solidFill>
              <a:srgbClr val="000000"/>
            </a:solidFill>
            <a:prstDash val="solid"/>
            <a:miter lim="800000"/>
            <a:headEnd len="med" w="med" type="none"/>
            <a:tailEnd len="med" w="med" type="triangle"/>
          </a:ln>
        </p:spPr>
      </p:cxnSp>
      <p:sp>
        <p:nvSpPr>
          <p:cNvPr id="132" name="Google Shape;132;p16"/>
          <p:cNvSpPr txBox="1"/>
          <p:nvPr/>
        </p:nvSpPr>
        <p:spPr>
          <a:xfrm>
            <a:off x="615950" y="1855787"/>
            <a:ext cx="2105025" cy="1368425"/>
          </a:xfrm>
          <a:prstGeom prst="rect">
            <a:avLst/>
          </a:prstGeom>
          <a:noFill/>
          <a:ln cap="flat" cmpd="sng" w="381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200"/>
              <a:buFont typeface="Arial"/>
              <a:buNone/>
            </a:pPr>
            <a:r>
              <a:rPr b="0" i="0" lang="ar-DZ" sz="2200" u="none">
                <a:solidFill>
                  <a:schemeClr val="dk1"/>
                </a:solidFill>
                <a:latin typeface="Arial"/>
                <a:ea typeface="Arial"/>
                <a:cs typeface="Arial"/>
                <a:sym typeface="Arial"/>
              </a:rPr>
              <a:t>فتيل</a:t>
            </a:r>
            <a:endParaRPr b="0" i="0" sz="2200" u="none">
              <a:solidFill>
                <a:schemeClr val="dk1"/>
              </a:solidFill>
              <a:latin typeface="Arial"/>
              <a:ea typeface="Arial"/>
              <a:cs typeface="Arial"/>
              <a:sym typeface="Arial"/>
            </a:endParaRPr>
          </a:p>
          <a:p>
            <a:pPr indent="0" lvl="0" marL="0" marR="0" rtl="1" algn="ctr">
              <a:lnSpc>
                <a:spcPct val="100000"/>
              </a:lnSpc>
              <a:spcBef>
                <a:spcPts val="1000"/>
              </a:spcBef>
              <a:spcAft>
                <a:spcPts val="0"/>
              </a:spcAft>
              <a:buClr>
                <a:schemeClr val="dk1"/>
              </a:buClr>
              <a:buSzPts val="2200"/>
              <a:buFont typeface="Arial"/>
              <a:buNone/>
            </a:pPr>
            <a:r>
              <a:rPr b="0" i="0" lang="ar-DZ" sz="2200" u="none">
                <a:solidFill>
                  <a:schemeClr val="dk1"/>
                </a:solidFill>
                <a:latin typeface="Arial"/>
                <a:ea typeface="Arial"/>
                <a:cs typeface="Arial"/>
                <a:sym typeface="Arial"/>
              </a:rPr>
              <a:t> (مصدر التسخين الحراري للمهبط)</a:t>
            </a:r>
            <a:endParaRPr/>
          </a:p>
        </p:txBody>
      </p:sp>
      <p:cxnSp>
        <p:nvCxnSpPr>
          <p:cNvPr id="133" name="Google Shape;133;p16"/>
          <p:cNvCxnSpPr/>
          <p:nvPr/>
        </p:nvCxnSpPr>
        <p:spPr>
          <a:xfrm flipH="1">
            <a:off x="1336675" y="3151187"/>
            <a:ext cx="66675" cy="793750"/>
          </a:xfrm>
          <a:prstGeom prst="straightConnector1">
            <a:avLst/>
          </a:prstGeom>
          <a:noFill/>
          <a:ln cap="flat" cmpd="sng" w="38100">
            <a:solidFill>
              <a:srgbClr val="000000"/>
            </a:solidFill>
            <a:prstDash val="solid"/>
            <a:miter lim="800000"/>
            <a:headEnd len="med" w="med" type="none"/>
            <a:tailEnd len="med" w="med" type="triangle"/>
          </a:ln>
        </p:spPr>
      </p:cxnSp>
      <p:sp>
        <p:nvSpPr>
          <p:cNvPr id="134" name="Google Shape;134;p16"/>
          <p:cNvSpPr txBox="1"/>
          <p:nvPr/>
        </p:nvSpPr>
        <p:spPr>
          <a:xfrm>
            <a:off x="468312" y="4813300"/>
            <a:ext cx="863600" cy="508000"/>
          </a:xfrm>
          <a:prstGeom prst="rect">
            <a:avLst/>
          </a:prstGeom>
          <a:no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1" algn="ctr">
              <a:lnSpc>
                <a:spcPct val="100000"/>
              </a:lnSpc>
              <a:spcBef>
                <a:spcPts val="0"/>
              </a:spcBef>
              <a:spcAft>
                <a:spcPts val="0"/>
              </a:spcAft>
              <a:buClr>
                <a:schemeClr val="dk1"/>
              </a:buClr>
              <a:buSzPts val="2200"/>
              <a:buFont typeface="Arial"/>
              <a:buNone/>
            </a:pPr>
            <a:r>
              <a:rPr b="0" i="0" lang="ar-DZ" sz="2200" u="none">
                <a:solidFill>
                  <a:schemeClr val="dk1"/>
                </a:solidFill>
                <a:latin typeface="Arial"/>
                <a:ea typeface="Arial"/>
                <a:cs typeface="Arial"/>
                <a:sym typeface="Arial"/>
              </a:rPr>
              <a:t>المهبط</a:t>
            </a:r>
            <a:endParaRPr/>
          </a:p>
        </p:txBody>
      </p:sp>
      <p:cxnSp>
        <p:nvCxnSpPr>
          <p:cNvPr id="135" name="Google Shape;135;p16"/>
          <p:cNvCxnSpPr/>
          <p:nvPr/>
        </p:nvCxnSpPr>
        <p:spPr>
          <a:xfrm flipH="1" rot="10800000">
            <a:off x="1258887" y="4292600"/>
            <a:ext cx="350837" cy="504825"/>
          </a:xfrm>
          <a:prstGeom prst="straightConnector1">
            <a:avLst/>
          </a:prstGeom>
          <a:noFill/>
          <a:ln cap="flat" cmpd="sng" w="38100">
            <a:solidFill>
              <a:srgbClr val="000000"/>
            </a:solidFill>
            <a:prstDash val="solid"/>
            <a:miter lim="800000"/>
            <a:headEnd len="med" w="med" type="none"/>
            <a:tailEnd len="med" w="med" type="triangle"/>
          </a:ln>
        </p:spPr>
      </p:cxnSp>
      <p:sp>
        <p:nvSpPr>
          <p:cNvPr id="136" name="Google Shape;136;p16"/>
          <p:cNvSpPr txBox="1"/>
          <p:nvPr/>
        </p:nvSpPr>
        <p:spPr>
          <a:xfrm>
            <a:off x="1476375" y="4813300"/>
            <a:ext cx="863600" cy="466725"/>
          </a:xfrm>
          <a:prstGeom prst="rect">
            <a:avLst/>
          </a:prstGeom>
          <a:no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1" algn="ctr">
              <a:lnSpc>
                <a:spcPct val="100000"/>
              </a:lnSpc>
              <a:spcBef>
                <a:spcPts val="0"/>
              </a:spcBef>
              <a:spcAft>
                <a:spcPts val="0"/>
              </a:spcAft>
              <a:buClr>
                <a:schemeClr val="dk1"/>
              </a:buClr>
              <a:buSzPts val="2200"/>
              <a:buFont typeface="Arial"/>
              <a:buNone/>
            </a:pPr>
            <a:r>
              <a:rPr b="0" i="0" lang="ar-DZ" sz="2200" u="none">
                <a:solidFill>
                  <a:schemeClr val="dk1"/>
                </a:solidFill>
                <a:latin typeface="Arial"/>
                <a:ea typeface="Arial"/>
                <a:cs typeface="Arial"/>
                <a:sym typeface="Arial"/>
              </a:rPr>
              <a:t>المصعد</a:t>
            </a:r>
            <a:endParaRPr/>
          </a:p>
        </p:txBody>
      </p:sp>
      <p:cxnSp>
        <p:nvCxnSpPr>
          <p:cNvPr id="137" name="Google Shape;137;p16"/>
          <p:cNvCxnSpPr/>
          <p:nvPr/>
        </p:nvCxnSpPr>
        <p:spPr>
          <a:xfrm flipH="1" rot="10800000">
            <a:off x="1908175" y="4365625"/>
            <a:ext cx="287337" cy="447675"/>
          </a:xfrm>
          <a:prstGeom prst="straightConnector1">
            <a:avLst/>
          </a:prstGeom>
          <a:noFill/>
          <a:ln cap="flat" cmpd="sng" w="38100">
            <a:solidFill>
              <a:srgbClr val="000000"/>
            </a:solidFill>
            <a:prstDash val="solid"/>
            <a:miter lim="800000"/>
            <a:headEnd len="med" w="med" type="none"/>
            <a:tailEnd len="med" w="med" type="triangle"/>
          </a:ln>
        </p:spPr>
      </p:cxnSp>
      <p:sp>
        <p:nvSpPr>
          <p:cNvPr id="138" name="Google Shape;138;p16"/>
          <p:cNvSpPr/>
          <p:nvPr/>
        </p:nvSpPr>
        <p:spPr>
          <a:xfrm rot="5400000">
            <a:off x="867568" y="4455318"/>
            <a:ext cx="914400" cy="2173287"/>
          </a:xfrm>
          <a:prstGeom prst="rightBrace">
            <a:avLst>
              <a:gd fmla="val 1950" name="adj1"/>
              <a:gd fmla="val 10605" name="adj2"/>
            </a:avLst>
          </a:prstGeom>
          <a:no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39" name="Google Shape;139;p16"/>
          <p:cNvSpPr txBox="1"/>
          <p:nvPr/>
        </p:nvSpPr>
        <p:spPr>
          <a:xfrm>
            <a:off x="250825" y="6018212"/>
            <a:ext cx="1944687" cy="4429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t" bIns="0" lIns="18000" spcFirstLastPara="1" rIns="18000" wrap="square" tIns="0">
            <a:noAutofit/>
          </a:bodyPr>
          <a:lstStyle/>
          <a:p>
            <a:pPr indent="0" lvl="0" marL="0" marR="0" rtl="1" algn="ctr">
              <a:lnSpc>
                <a:spcPct val="100000"/>
              </a:lnSpc>
              <a:spcBef>
                <a:spcPts val="0"/>
              </a:spcBef>
              <a:spcAft>
                <a:spcPts val="0"/>
              </a:spcAft>
              <a:buClr>
                <a:schemeClr val="dk1"/>
              </a:buClr>
              <a:buSzPts val="2200"/>
              <a:buFont typeface="Arial"/>
              <a:buNone/>
            </a:pPr>
            <a:r>
              <a:rPr b="0" i="0" lang="ar-DZ" sz="2200" u="none">
                <a:solidFill>
                  <a:schemeClr val="dk1"/>
                </a:solidFill>
                <a:latin typeface="Arial"/>
                <a:ea typeface="Arial"/>
                <a:cs typeface="Arial"/>
                <a:sym typeface="Arial"/>
              </a:rPr>
              <a:t>مدفع إلكتروني</a:t>
            </a:r>
            <a:endParaRPr/>
          </a:p>
        </p:txBody>
      </p:sp>
      <p:sp>
        <p:nvSpPr>
          <p:cNvPr id="140" name="Google Shape;140;p16"/>
          <p:cNvSpPr txBox="1"/>
          <p:nvPr/>
        </p:nvSpPr>
        <p:spPr>
          <a:xfrm>
            <a:off x="2555875" y="4868862"/>
            <a:ext cx="1582737" cy="312737"/>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t" bIns="0" lIns="18000" spcFirstLastPara="1" rIns="18000" wrap="square" tIns="0">
            <a:noAutofit/>
          </a:bodyPr>
          <a:lstStyle/>
          <a:p>
            <a:pPr indent="0" lvl="0" marL="0" marR="0" rtl="1" algn="ctr">
              <a:lnSpc>
                <a:spcPct val="100000"/>
              </a:lnSpc>
              <a:spcBef>
                <a:spcPts val="0"/>
              </a:spcBef>
              <a:spcAft>
                <a:spcPts val="0"/>
              </a:spcAft>
              <a:buClr>
                <a:schemeClr val="dk1"/>
              </a:buClr>
              <a:buSzPts val="2200"/>
              <a:buFont typeface="Arial"/>
              <a:buNone/>
            </a:pPr>
            <a:r>
              <a:rPr b="0" i="0" lang="ar-DZ" sz="2200" u="none">
                <a:solidFill>
                  <a:schemeClr val="dk1"/>
                </a:solidFill>
                <a:latin typeface="Arial"/>
                <a:ea typeface="Arial"/>
                <a:cs typeface="Arial"/>
                <a:sym typeface="Arial"/>
              </a:rPr>
              <a:t>حزمة إلكترونية</a:t>
            </a:r>
            <a:endParaRPr/>
          </a:p>
        </p:txBody>
      </p:sp>
      <p:sp>
        <p:nvSpPr>
          <p:cNvPr id="141" name="Google Shape;141;p16"/>
          <p:cNvSpPr/>
          <p:nvPr/>
        </p:nvSpPr>
        <p:spPr>
          <a:xfrm rot="5400000">
            <a:off x="3013075" y="3900487"/>
            <a:ext cx="107950" cy="504825"/>
          </a:xfrm>
          <a:prstGeom prst="upArrow">
            <a:avLst>
              <a:gd fmla="val 11562" name="adj1"/>
              <a:gd fmla="val 50000" name="adj2"/>
            </a:avLst>
          </a:prstGeom>
          <a:solidFill>
            <a:srgbClr val="FFFF00"/>
          </a:solidFill>
          <a:ln cap="flat" cmpd="sng" w="9525">
            <a:solidFill>
              <a:srgbClr val="0000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6"/>
          <p:cNvSpPr txBox="1"/>
          <p:nvPr/>
        </p:nvSpPr>
        <p:spPr>
          <a:xfrm rot="10800000">
            <a:off x="2814638" y="4146647"/>
            <a:ext cx="498584" cy="124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cxnSp>
        <p:nvCxnSpPr>
          <p:cNvPr id="143" name="Google Shape;143;p16"/>
          <p:cNvCxnSpPr/>
          <p:nvPr/>
        </p:nvCxnSpPr>
        <p:spPr>
          <a:xfrm flipH="1" rot="10800000">
            <a:off x="3059112" y="4159250"/>
            <a:ext cx="111125" cy="720725"/>
          </a:xfrm>
          <a:prstGeom prst="straightConnector1">
            <a:avLst/>
          </a:prstGeom>
          <a:noFill/>
          <a:ln cap="flat" cmpd="sng" w="38100">
            <a:solidFill>
              <a:srgbClr val="000000"/>
            </a:solidFill>
            <a:prstDash val="solid"/>
            <a:miter lim="800000"/>
            <a:headEnd len="med" w="med" type="none"/>
            <a:tailEnd len="med" w="med" type="triangle"/>
          </a:ln>
        </p:spPr>
      </p:cxnSp>
      <p:sp>
        <p:nvSpPr>
          <p:cNvPr id="144" name="Google Shape;144;p16"/>
          <p:cNvSpPr/>
          <p:nvPr/>
        </p:nvSpPr>
        <p:spPr>
          <a:xfrm>
            <a:off x="3286125" y="3773487"/>
            <a:ext cx="852487" cy="738187"/>
          </a:xfrm>
          <a:prstGeom prst="ellipse">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45" name="Google Shape;145;p16"/>
          <p:cNvSpPr txBox="1"/>
          <p:nvPr/>
        </p:nvSpPr>
        <p:spPr>
          <a:xfrm>
            <a:off x="2859087" y="1844675"/>
            <a:ext cx="1989137" cy="1223962"/>
          </a:xfrm>
          <a:prstGeom prst="rect">
            <a:avLst/>
          </a:prstGeom>
          <a:no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200"/>
              <a:buFont typeface="Arial"/>
              <a:buNone/>
            </a:pPr>
            <a:r>
              <a:rPr b="0" i="0" lang="ar-DZ" sz="2200" u="none">
                <a:solidFill>
                  <a:schemeClr val="dk1"/>
                </a:solidFill>
                <a:latin typeface="Arial"/>
                <a:ea typeface="Arial"/>
                <a:cs typeface="Arial"/>
                <a:sym typeface="Arial"/>
              </a:rPr>
              <a:t>صفائح عمودية</a:t>
            </a:r>
            <a:endParaRPr b="0" i="0" sz="2200" u="none">
              <a:solidFill>
                <a:schemeClr val="dk1"/>
              </a:solidFill>
              <a:latin typeface="Arial"/>
              <a:ea typeface="Arial"/>
              <a:cs typeface="Arial"/>
              <a:sym typeface="Arial"/>
            </a:endParaRPr>
          </a:p>
          <a:p>
            <a:pPr indent="0" lvl="0" marL="0" marR="0" rtl="1" algn="ctr">
              <a:lnSpc>
                <a:spcPct val="100000"/>
              </a:lnSpc>
              <a:spcBef>
                <a:spcPts val="1000"/>
              </a:spcBef>
              <a:spcAft>
                <a:spcPts val="0"/>
              </a:spcAft>
              <a:buClr>
                <a:schemeClr val="dk1"/>
              </a:buClr>
              <a:buSzPts val="2200"/>
              <a:buFont typeface="Arial"/>
              <a:buNone/>
            </a:pPr>
            <a:r>
              <a:rPr b="0" i="0" lang="ar-DZ" sz="2200" u="none">
                <a:solidFill>
                  <a:schemeClr val="dk1"/>
                </a:solidFill>
                <a:latin typeface="Arial"/>
                <a:ea typeface="Arial"/>
                <a:cs typeface="Arial"/>
                <a:sym typeface="Arial"/>
              </a:rPr>
              <a:t>(انحراف أفقي للحزمة الإلكترونية)</a:t>
            </a:r>
            <a:endParaRPr/>
          </a:p>
        </p:txBody>
      </p:sp>
      <p:cxnSp>
        <p:nvCxnSpPr>
          <p:cNvPr id="146" name="Google Shape;146;p16"/>
          <p:cNvCxnSpPr/>
          <p:nvPr/>
        </p:nvCxnSpPr>
        <p:spPr>
          <a:xfrm flipH="1">
            <a:off x="3689350" y="3141662"/>
            <a:ext cx="90487" cy="631825"/>
          </a:xfrm>
          <a:prstGeom prst="straightConnector1">
            <a:avLst/>
          </a:prstGeom>
          <a:noFill/>
          <a:ln cap="flat" cmpd="sng" w="38100">
            <a:solidFill>
              <a:srgbClr val="000000"/>
            </a:solidFill>
            <a:prstDash val="solid"/>
            <a:miter lim="800000"/>
            <a:headEnd len="med" w="med" type="none"/>
            <a:tailEnd len="med" w="med" type="triangle"/>
          </a:ln>
        </p:spPr>
      </p:cxnSp>
      <p:sp>
        <p:nvSpPr>
          <p:cNvPr id="147" name="Google Shape;147;p16"/>
          <p:cNvSpPr txBox="1"/>
          <p:nvPr/>
        </p:nvSpPr>
        <p:spPr>
          <a:xfrm>
            <a:off x="5051425" y="1773237"/>
            <a:ext cx="2400300" cy="1295400"/>
          </a:xfrm>
          <a:prstGeom prst="rect">
            <a:avLst/>
          </a:prstGeom>
          <a:no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200"/>
              <a:buFont typeface="Arial"/>
              <a:buNone/>
            </a:pPr>
            <a:r>
              <a:rPr b="0" i="0" lang="ar-DZ" sz="2200" u="none">
                <a:solidFill>
                  <a:schemeClr val="dk1"/>
                </a:solidFill>
                <a:latin typeface="Arial"/>
                <a:ea typeface="Arial"/>
                <a:cs typeface="Arial"/>
                <a:sym typeface="Arial"/>
              </a:rPr>
              <a:t>صفائح أفقية</a:t>
            </a:r>
            <a:endParaRPr b="0" i="0" sz="2200" u="none">
              <a:solidFill>
                <a:schemeClr val="dk1"/>
              </a:solidFill>
              <a:latin typeface="Arial"/>
              <a:ea typeface="Arial"/>
              <a:cs typeface="Arial"/>
              <a:sym typeface="Arial"/>
            </a:endParaRPr>
          </a:p>
          <a:p>
            <a:pPr indent="0" lvl="0" marL="0" marR="0" rtl="1" algn="ctr">
              <a:lnSpc>
                <a:spcPct val="100000"/>
              </a:lnSpc>
              <a:spcBef>
                <a:spcPts val="1000"/>
              </a:spcBef>
              <a:spcAft>
                <a:spcPts val="0"/>
              </a:spcAft>
              <a:buClr>
                <a:schemeClr val="dk1"/>
              </a:buClr>
              <a:buSzPts val="2200"/>
              <a:buFont typeface="Arial"/>
              <a:buNone/>
            </a:pPr>
            <a:r>
              <a:rPr b="0" i="0" lang="ar-DZ" sz="2200" u="none">
                <a:solidFill>
                  <a:schemeClr val="dk1"/>
                </a:solidFill>
                <a:latin typeface="Arial"/>
                <a:ea typeface="Arial"/>
                <a:cs typeface="Arial"/>
                <a:sym typeface="Arial"/>
              </a:rPr>
              <a:t>(انحراف عمودي للحزمة الإلكترونية)</a:t>
            </a:r>
            <a:endParaRPr/>
          </a:p>
        </p:txBody>
      </p:sp>
      <p:sp>
        <p:nvSpPr>
          <p:cNvPr id="148" name="Google Shape;148;p16"/>
          <p:cNvSpPr/>
          <p:nvPr/>
        </p:nvSpPr>
        <p:spPr>
          <a:xfrm>
            <a:off x="4189412" y="3719512"/>
            <a:ext cx="854075" cy="739775"/>
          </a:xfrm>
          <a:prstGeom prst="ellipse">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cxnSp>
        <p:nvCxnSpPr>
          <p:cNvPr id="149" name="Google Shape;149;p16"/>
          <p:cNvCxnSpPr/>
          <p:nvPr/>
        </p:nvCxnSpPr>
        <p:spPr>
          <a:xfrm flipH="1">
            <a:off x="4859337" y="3141662"/>
            <a:ext cx="461962" cy="650875"/>
          </a:xfrm>
          <a:prstGeom prst="straightConnector1">
            <a:avLst/>
          </a:prstGeom>
          <a:noFill/>
          <a:ln cap="flat" cmpd="sng" w="38100">
            <a:solidFill>
              <a:srgbClr val="000000"/>
            </a:solidFill>
            <a:prstDash val="solid"/>
            <a:miter lim="800000"/>
            <a:headEnd len="med" w="med" type="none"/>
            <a:tailEnd len="med" w="med" type="triangle"/>
          </a:ln>
        </p:spPr>
      </p:cxnSp>
      <p:sp>
        <p:nvSpPr>
          <p:cNvPr id="150" name="Google Shape;150;p16"/>
          <p:cNvSpPr txBox="1"/>
          <p:nvPr/>
        </p:nvSpPr>
        <p:spPr>
          <a:xfrm>
            <a:off x="7667625" y="4829175"/>
            <a:ext cx="1368425" cy="471487"/>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chemeClr val="dk1"/>
              </a:buClr>
              <a:buSzPts val="2200"/>
              <a:buFont typeface="Arial"/>
              <a:buNone/>
            </a:pPr>
            <a:r>
              <a:rPr b="0" i="0" lang="ar-DZ" sz="2200" u="none">
                <a:solidFill>
                  <a:schemeClr val="dk1"/>
                </a:solidFill>
                <a:latin typeface="Arial"/>
                <a:ea typeface="Arial"/>
                <a:cs typeface="Arial"/>
                <a:sym typeface="Arial"/>
              </a:rPr>
              <a:t>شاشة فلورية</a:t>
            </a:r>
            <a:endParaRPr/>
          </a:p>
        </p:txBody>
      </p:sp>
      <p:cxnSp>
        <p:nvCxnSpPr>
          <p:cNvPr id="151" name="Google Shape;151;p16"/>
          <p:cNvCxnSpPr/>
          <p:nvPr/>
        </p:nvCxnSpPr>
        <p:spPr>
          <a:xfrm rot="10800000">
            <a:off x="7324725" y="4754562"/>
            <a:ext cx="342900" cy="258762"/>
          </a:xfrm>
          <a:prstGeom prst="straightConnector1">
            <a:avLst/>
          </a:prstGeom>
          <a:noFill/>
          <a:ln cap="flat" cmpd="sng" w="38100">
            <a:solidFill>
              <a:srgbClr val="000000"/>
            </a:solidFill>
            <a:prstDash val="solid"/>
            <a:miter lim="800000"/>
            <a:headEnd len="med" w="med" type="none"/>
            <a:tailEnd len="med" w="med" type="triangle"/>
          </a:ln>
        </p:spPr>
      </p:cxnSp>
      <p:sp>
        <p:nvSpPr>
          <p:cNvPr id="152" name="Google Shape;152;p16"/>
          <p:cNvSpPr/>
          <p:nvPr/>
        </p:nvSpPr>
        <p:spPr>
          <a:xfrm>
            <a:off x="7070725" y="4065587"/>
            <a:ext cx="71437" cy="73025"/>
          </a:xfrm>
          <a:prstGeom prst="ellipse">
            <a:avLst/>
          </a:prstGeom>
          <a:solidFill>
            <a:schemeClr val="accent1"/>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2000"/>
                                        <p:tgtEl>
                                          <p:spTgt spid="131"/>
                                        </p:tgtEl>
                                      </p:cBhvr>
                                    </p:animEffect>
                                  </p:childTnLst>
                                </p:cTn>
                              </p:par>
                              <p:par>
                                <p:cTn fill="hold" nodeType="with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2000"/>
                                        <p:tgtEl>
                                          <p:spTgt spid="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2000"/>
                                        <p:tgtEl>
                                          <p:spTgt spid="132"/>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20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2000"/>
                                        <p:tgtEl>
                                          <p:spTgt spid="134"/>
                                        </p:tgtEl>
                                      </p:cBhvr>
                                    </p:animEffect>
                                  </p:childTnLst>
                                </p:cTn>
                              </p:par>
                              <p:par>
                                <p:cTn fill="hold" nodeType="with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20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2000"/>
                                        <p:tgtEl>
                                          <p:spTgt spid="136"/>
                                        </p:tgtEl>
                                      </p:cBhvr>
                                    </p:animEffect>
                                  </p:childTnLst>
                                </p:cTn>
                              </p:par>
                              <p:par>
                                <p:cTn fill="hold" nodeType="with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2000"/>
                                        <p:tgtEl>
                                          <p:spTgt spid="1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2000"/>
                                        <p:tgtEl>
                                          <p:spTgt spid="138"/>
                                        </p:tgtEl>
                                      </p:cBhvr>
                                    </p:animEffect>
                                  </p:childTnLst>
                                </p:cTn>
                              </p:par>
                              <p:par>
                                <p:cTn fill="hold" nodeType="with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2000"/>
                                        <p:tgtEl>
                                          <p:spTgt spid="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2000"/>
                                        <p:tgtEl>
                                          <p:spTgt spid="140"/>
                                        </p:tgtEl>
                                      </p:cBhvr>
                                    </p:animEffect>
                                  </p:childTnLst>
                                </p:cTn>
                              </p:par>
                              <p:par>
                                <p:cTn fill="hold" nodeType="with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2000"/>
                                        <p:tgtEl>
                                          <p:spTgt spid="143"/>
                                        </p:tgtEl>
                                      </p:cBhvr>
                                    </p:animEffect>
                                  </p:childTnLst>
                                </p:cTn>
                              </p:par>
                              <p:par>
                                <p:cTn fill="hold" nodeType="with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2000"/>
                                        <p:tgtEl>
                                          <p:spTgt spid="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2000"/>
                                        <p:tgtEl>
                                          <p:spTgt spid="144"/>
                                        </p:tgtEl>
                                      </p:cBhvr>
                                    </p:animEffect>
                                  </p:childTnLst>
                                </p:cTn>
                              </p:par>
                              <p:par>
                                <p:cTn fill="hold" nodeType="with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2000"/>
                                        <p:tgtEl>
                                          <p:spTgt spid="145"/>
                                        </p:tgtEl>
                                      </p:cBhvr>
                                    </p:animEffect>
                                  </p:childTnLst>
                                </p:cTn>
                              </p:par>
                              <p:par>
                                <p:cTn fill="hold" nodeType="with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2000"/>
                                        <p:tgtEl>
                                          <p:spTgt spid="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2000"/>
                                        <p:tgtEl>
                                          <p:spTgt spid="148"/>
                                        </p:tgtEl>
                                      </p:cBhvr>
                                    </p:animEffect>
                                  </p:childTnLst>
                                </p:cTn>
                              </p:par>
                              <p:par>
                                <p:cTn fill="hold" nodeType="with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2000"/>
                                        <p:tgtEl>
                                          <p:spTgt spid="149"/>
                                        </p:tgtEl>
                                      </p:cBhvr>
                                    </p:animEffect>
                                  </p:childTnLst>
                                </p:cTn>
                              </p:par>
                              <p:par>
                                <p:cTn fill="hold" nodeType="with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2000"/>
                                        <p:tgtEl>
                                          <p:spTgt spid="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2000"/>
                                        <p:tgtEl>
                                          <p:spTgt spid="152"/>
                                        </p:tgtEl>
                                      </p:cBhvr>
                                    </p:animEffect>
                                  </p:childTnLst>
                                </p:cTn>
                              </p:par>
                              <p:par>
                                <p:cTn fill="hold" nodeType="with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2000"/>
                                        <p:tgtEl>
                                          <p:spTgt spid="151"/>
                                        </p:tgtEl>
                                      </p:cBhvr>
                                    </p:animEffect>
                                  </p:childTnLst>
                                </p:cTn>
                              </p:par>
                              <p:par>
                                <p:cTn fill="hold" nodeType="with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2000"/>
                                        <p:tgtEl>
                                          <p:spTgt spid="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17"/>
          <p:cNvPicPr preferRelativeResize="0"/>
          <p:nvPr/>
        </p:nvPicPr>
        <p:blipFill rotWithShape="1">
          <a:blip r:embed="rId3">
            <a:alphaModFix/>
          </a:blip>
          <a:srcRect b="0" l="0" r="0" t="0"/>
          <a:stretch/>
        </p:blipFill>
        <p:spPr>
          <a:xfrm>
            <a:off x="323850" y="1987550"/>
            <a:ext cx="8496300" cy="3097212"/>
          </a:xfrm>
          <a:prstGeom prst="rect">
            <a:avLst/>
          </a:prstGeom>
          <a:noFill/>
          <a:ln>
            <a:noFill/>
          </a:ln>
        </p:spPr>
      </p:pic>
      <p:sp>
        <p:nvSpPr>
          <p:cNvPr id="158" name="Google Shape;158;p17"/>
          <p:cNvSpPr/>
          <p:nvPr/>
        </p:nvSpPr>
        <p:spPr>
          <a:xfrm>
            <a:off x="0" y="5589240"/>
            <a:ext cx="2555776" cy="1224136"/>
          </a:xfrm>
          <a:prstGeom prst="ellipse">
            <a:avLst/>
          </a:prstGeom>
          <a:solidFill>
            <a:schemeClr val="accent1"/>
          </a:solidFill>
          <a:ln cap="flat" cmpd="sng" w="57150">
            <a:solidFill>
              <a:srgbClr val="FF0000"/>
            </a:solidFill>
            <a:prstDash val="lgDash"/>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4F0E2"/>
              </a:buClr>
              <a:buSzPts val="2400"/>
              <a:buFont typeface="Arial"/>
              <a:buNone/>
            </a:pPr>
            <a:r>
              <a:rPr b="1" i="0" lang="ar-DZ" sz="2400" u="none" cap="none" strike="noStrike">
                <a:solidFill>
                  <a:srgbClr val="F4F0E2"/>
                </a:solidFill>
                <a:latin typeface="Arial"/>
                <a:ea typeface="Arial"/>
                <a:cs typeface="Arial"/>
                <a:sym typeface="Arial"/>
              </a:rPr>
              <a:t>قسم التحكم في التشغيل</a:t>
            </a:r>
            <a:endParaRPr b="1" i="0" sz="2400" u="none" cap="none" strike="noStrike">
              <a:solidFill>
                <a:srgbClr val="F4F0E2"/>
              </a:solidFill>
              <a:latin typeface="Arial"/>
              <a:ea typeface="Arial"/>
              <a:cs typeface="Arial"/>
              <a:sym typeface="Arial"/>
            </a:endParaRPr>
          </a:p>
        </p:txBody>
      </p:sp>
      <p:sp>
        <p:nvSpPr>
          <p:cNvPr id="159" name="Google Shape;159;p17"/>
          <p:cNvSpPr/>
          <p:nvPr/>
        </p:nvSpPr>
        <p:spPr>
          <a:xfrm>
            <a:off x="0" y="1196653"/>
            <a:ext cx="1944216" cy="575915"/>
          </a:xfrm>
          <a:prstGeom prst="ellipse">
            <a:avLst/>
          </a:prstGeom>
          <a:solidFill>
            <a:schemeClr val="accent1"/>
          </a:solidFill>
          <a:ln cap="flat" cmpd="sng" w="571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4F0E2"/>
              </a:buClr>
              <a:buSzPts val="2400"/>
              <a:buFont typeface="Arial"/>
              <a:buNone/>
            </a:pPr>
            <a:r>
              <a:rPr b="1" i="0" lang="ar-DZ" sz="2400" u="none" cap="none" strike="noStrike">
                <a:solidFill>
                  <a:srgbClr val="F4F0E2"/>
                </a:solidFill>
                <a:latin typeface="Arial"/>
                <a:ea typeface="Arial"/>
                <a:cs typeface="Arial"/>
                <a:sym typeface="Arial"/>
              </a:rPr>
              <a:t>قسم الشاشة</a:t>
            </a:r>
            <a:endParaRPr b="1" i="0" sz="2400" u="none" cap="none" strike="noStrike">
              <a:solidFill>
                <a:srgbClr val="F4F0E2"/>
              </a:solidFill>
              <a:latin typeface="Arial"/>
              <a:ea typeface="Arial"/>
              <a:cs typeface="Arial"/>
              <a:sym typeface="Arial"/>
            </a:endParaRPr>
          </a:p>
        </p:txBody>
      </p:sp>
      <p:sp>
        <p:nvSpPr>
          <p:cNvPr id="160" name="Google Shape;160;p17"/>
          <p:cNvSpPr/>
          <p:nvPr/>
        </p:nvSpPr>
        <p:spPr>
          <a:xfrm>
            <a:off x="611187" y="2347912"/>
            <a:ext cx="2881312" cy="2160587"/>
          </a:xfrm>
          <a:prstGeom prst="roundRect">
            <a:avLst>
              <a:gd fmla="val 16667" name="adj"/>
            </a:avLst>
          </a:prstGeom>
          <a:noFill/>
          <a:ln cap="flat" cmpd="sng" w="5715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cxnSp>
        <p:nvCxnSpPr>
          <p:cNvPr id="161" name="Google Shape;161;p17"/>
          <p:cNvCxnSpPr/>
          <p:nvPr/>
        </p:nvCxnSpPr>
        <p:spPr>
          <a:xfrm>
            <a:off x="1116012" y="1773237"/>
            <a:ext cx="71437" cy="576262"/>
          </a:xfrm>
          <a:prstGeom prst="straightConnector1">
            <a:avLst/>
          </a:prstGeom>
          <a:noFill/>
          <a:ln cap="flat" cmpd="sng" w="57150">
            <a:solidFill>
              <a:srgbClr val="FF0000"/>
            </a:solidFill>
            <a:prstDash val="solid"/>
            <a:miter lim="800000"/>
            <a:headEnd len="med" w="med" type="none"/>
            <a:tailEnd len="med" w="med" type="stealth"/>
          </a:ln>
        </p:spPr>
      </p:cxnSp>
      <p:sp>
        <p:nvSpPr>
          <p:cNvPr id="162" name="Google Shape;162;p17"/>
          <p:cNvSpPr/>
          <p:nvPr/>
        </p:nvSpPr>
        <p:spPr>
          <a:xfrm>
            <a:off x="3779837" y="2060575"/>
            <a:ext cx="936625" cy="3024187"/>
          </a:xfrm>
          <a:prstGeom prst="roundRect">
            <a:avLst>
              <a:gd fmla="val 16667" name="adj"/>
            </a:avLst>
          </a:prstGeom>
          <a:noFill/>
          <a:ln cap="flat" cmpd="sng" w="5715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id="163" name="Google Shape;163;p17"/>
          <p:cNvPicPr preferRelativeResize="0"/>
          <p:nvPr/>
        </p:nvPicPr>
        <p:blipFill rotWithShape="1">
          <a:blip r:embed="rId4">
            <a:alphaModFix/>
          </a:blip>
          <a:srcRect b="0" l="0" r="0" t="0"/>
          <a:stretch/>
        </p:blipFill>
        <p:spPr>
          <a:xfrm>
            <a:off x="1925637" y="4479925"/>
            <a:ext cx="2328862" cy="1408112"/>
          </a:xfrm>
          <a:prstGeom prst="rect">
            <a:avLst/>
          </a:prstGeom>
          <a:noFill/>
          <a:ln>
            <a:noFill/>
          </a:ln>
        </p:spPr>
      </p:pic>
      <p:sp>
        <p:nvSpPr>
          <p:cNvPr id="164" name="Google Shape;164;p17"/>
          <p:cNvSpPr/>
          <p:nvPr/>
        </p:nvSpPr>
        <p:spPr>
          <a:xfrm>
            <a:off x="2843808" y="5661248"/>
            <a:ext cx="2448272" cy="1152128"/>
          </a:xfrm>
          <a:prstGeom prst="ellipse">
            <a:avLst/>
          </a:prstGeom>
          <a:solidFill>
            <a:schemeClr val="accent1"/>
          </a:solidFill>
          <a:ln cap="flat" cmpd="sng" w="57150">
            <a:solidFill>
              <a:srgbClr val="00B0F0"/>
            </a:solidFill>
            <a:prstDash val="lgDash"/>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4F0E2"/>
              </a:buClr>
              <a:buSzPts val="2400"/>
              <a:buFont typeface="Arial"/>
              <a:buNone/>
            </a:pPr>
            <a:r>
              <a:rPr b="1" i="0" lang="ar-DZ" sz="2400" u="none" cap="none" strike="noStrike">
                <a:solidFill>
                  <a:srgbClr val="F4F0E2"/>
                </a:solidFill>
                <a:latin typeface="Arial"/>
                <a:ea typeface="Arial"/>
                <a:cs typeface="Arial"/>
                <a:sym typeface="Arial"/>
              </a:rPr>
              <a:t>قسم التحكم في  مدخل القناة</a:t>
            </a:r>
            <a:endParaRPr b="1" i="0" sz="2400" u="none" cap="none" strike="noStrike">
              <a:solidFill>
                <a:srgbClr val="F4F0E2"/>
              </a:solidFill>
              <a:latin typeface="Arial"/>
              <a:ea typeface="Arial"/>
              <a:cs typeface="Arial"/>
              <a:sym typeface="Arial"/>
            </a:endParaRPr>
          </a:p>
        </p:txBody>
      </p:sp>
      <p:sp>
        <p:nvSpPr>
          <p:cNvPr id="165" name="Google Shape;165;p17"/>
          <p:cNvSpPr/>
          <p:nvPr/>
        </p:nvSpPr>
        <p:spPr>
          <a:xfrm>
            <a:off x="4787900" y="3933825"/>
            <a:ext cx="1471612" cy="1079500"/>
          </a:xfrm>
          <a:prstGeom prst="roundRect">
            <a:avLst>
              <a:gd fmla="val 16667" name="adj"/>
            </a:avLst>
          </a:prstGeom>
          <a:noFill/>
          <a:ln cap="flat" cmpd="sng" w="57150">
            <a:solidFill>
              <a:srgbClr val="00B0F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id="166" name="Google Shape;166;p17"/>
          <p:cNvPicPr preferRelativeResize="0"/>
          <p:nvPr/>
        </p:nvPicPr>
        <p:blipFill rotWithShape="1">
          <a:blip r:embed="rId5">
            <a:alphaModFix/>
          </a:blip>
          <a:srcRect b="0" l="0" r="0" t="0"/>
          <a:stretch/>
        </p:blipFill>
        <p:spPr>
          <a:xfrm>
            <a:off x="4578350" y="5084762"/>
            <a:ext cx="719137" cy="779462"/>
          </a:xfrm>
          <a:prstGeom prst="rect">
            <a:avLst/>
          </a:prstGeom>
          <a:noFill/>
          <a:ln>
            <a:noFill/>
          </a:ln>
        </p:spPr>
      </p:pic>
      <p:sp>
        <p:nvSpPr>
          <p:cNvPr id="167" name="Google Shape;167;p17"/>
          <p:cNvSpPr txBox="1"/>
          <p:nvPr/>
        </p:nvSpPr>
        <p:spPr>
          <a:xfrm>
            <a:off x="4787900" y="2060575"/>
            <a:ext cx="1519237" cy="1804987"/>
          </a:xfrm>
          <a:prstGeom prst="rect">
            <a:avLst/>
          </a:prstGeom>
          <a:noFill/>
          <a:ln cap="flat" cmpd="sng" w="57150">
            <a:solidFill>
              <a:srgbClr val="7030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68" name="Google Shape;168;p17"/>
          <p:cNvSpPr/>
          <p:nvPr/>
        </p:nvSpPr>
        <p:spPr>
          <a:xfrm>
            <a:off x="2123728" y="764704"/>
            <a:ext cx="3096344" cy="1008112"/>
          </a:xfrm>
          <a:prstGeom prst="ellipse">
            <a:avLst/>
          </a:prstGeom>
          <a:solidFill>
            <a:schemeClr val="accent1"/>
          </a:solidFill>
          <a:ln cap="flat" cmpd="sng" w="57150">
            <a:solidFill>
              <a:srgbClr val="7030A0"/>
            </a:solidFill>
            <a:prstDash val="lgDash"/>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4F0E2"/>
              </a:buClr>
              <a:buSzPts val="2400"/>
              <a:buFont typeface="Arial"/>
              <a:buNone/>
            </a:pPr>
            <a:r>
              <a:rPr b="1" i="0" lang="ar-DZ" sz="2400" u="none" cap="none" strike="noStrike">
                <a:solidFill>
                  <a:srgbClr val="F4F0E2"/>
                </a:solidFill>
                <a:latin typeface="Arial"/>
                <a:ea typeface="Arial"/>
                <a:cs typeface="Arial"/>
                <a:sym typeface="Arial"/>
              </a:rPr>
              <a:t>قسم التحكم العمودي  في الإشارة</a:t>
            </a:r>
            <a:endParaRPr b="1" i="0" sz="2400" u="none" cap="none" strike="noStrike">
              <a:solidFill>
                <a:srgbClr val="F4F0E2"/>
              </a:solidFill>
              <a:latin typeface="Arial"/>
              <a:ea typeface="Arial"/>
              <a:cs typeface="Arial"/>
              <a:sym typeface="Arial"/>
            </a:endParaRPr>
          </a:p>
        </p:txBody>
      </p:sp>
      <p:pic>
        <p:nvPicPr>
          <p:cNvPr id="169" name="Google Shape;169;p17"/>
          <p:cNvPicPr preferRelativeResize="0"/>
          <p:nvPr/>
        </p:nvPicPr>
        <p:blipFill rotWithShape="1">
          <a:blip r:embed="rId6">
            <a:alphaModFix/>
          </a:blip>
          <a:srcRect b="0" l="0" r="0" t="0"/>
          <a:stretch/>
        </p:blipFill>
        <p:spPr>
          <a:xfrm>
            <a:off x="4632325" y="1493837"/>
            <a:ext cx="909637" cy="938212"/>
          </a:xfrm>
          <a:prstGeom prst="rect">
            <a:avLst/>
          </a:prstGeom>
          <a:noFill/>
          <a:ln>
            <a:noFill/>
          </a:ln>
        </p:spPr>
      </p:pic>
      <p:sp>
        <p:nvSpPr>
          <p:cNvPr id="170" name="Google Shape;170;p17"/>
          <p:cNvSpPr/>
          <p:nvPr/>
        </p:nvSpPr>
        <p:spPr>
          <a:xfrm>
            <a:off x="5436096" y="764704"/>
            <a:ext cx="3707904" cy="1008112"/>
          </a:xfrm>
          <a:prstGeom prst="ellipse">
            <a:avLst/>
          </a:prstGeom>
          <a:solidFill>
            <a:schemeClr val="accent1"/>
          </a:solidFill>
          <a:ln cap="flat" cmpd="sng" w="57150">
            <a:solidFill>
              <a:srgbClr val="FFC000"/>
            </a:solidFill>
            <a:prstDash val="lgDash"/>
            <a:round/>
            <a:headEnd len="sm" w="sm" type="none"/>
            <a:tailEnd len="sm" w="sm" type="none"/>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4F0E2"/>
              </a:buClr>
              <a:buSzPts val="2400"/>
              <a:buFont typeface="Arial"/>
              <a:buNone/>
            </a:pPr>
            <a:r>
              <a:rPr b="1" i="0" lang="ar-DZ" sz="2400" u="none" cap="none" strike="noStrike">
                <a:solidFill>
                  <a:srgbClr val="F4F0E2"/>
                </a:solidFill>
                <a:latin typeface="Arial"/>
                <a:ea typeface="Arial"/>
                <a:cs typeface="Arial"/>
                <a:sym typeface="Arial"/>
              </a:rPr>
              <a:t>قسم التحكم الأفقي في الإشارة والمسح الزمني</a:t>
            </a:r>
            <a:endParaRPr b="1" i="0" sz="2400" u="none" cap="none" strike="noStrike">
              <a:solidFill>
                <a:srgbClr val="F4F0E2"/>
              </a:solidFill>
              <a:latin typeface="Arial"/>
              <a:ea typeface="Arial"/>
              <a:cs typeface="Arial"/>
              <a:sym typeface="Arial"/>
            </a:endParaRPr>
          </a:p>
        </p:txBody>
      </p:sp>
      <p:pic>
        <p:nvPicPr>
          <p:cNvPr id="171" name="Google Shape;171;p17"/>
          <p:cNvPicPr preferRelativeResize="0"/>
          <p:nvPr/>
        </p:nvPicPr>
        <p:blipFill rotWithShape="1">
          <a:blip r:embed="rId7">
            <a:alphaModFix/>
          </a:blip>
          <a:srcRect b="0" l="0" r="0" t="0"/>
          <a:stretch/>
        </p:blipFill>
        <p:spPr>
          <a:xfrm>
            <a:off x="7235825" y="1646237"/>
            <a:ext cx="725487" cy="779462"/>
          </a:xfrm>
          <a:prstGeom prst="rect">
            <a:avLst/>
          </a:prstGeom>
          <a:noFill/>
          <a:ln>
            <a:noFill/>
          </a:ln>
        </p:spPr>
      </p:pic>
      <p:sp>
        <p:nvSpPr>
          <p:cNvPr id="172" name="Google Shape;172;p17"/>
          <p:cNvSpPr txBox="1"/>
          <p:nvPr/>
        </p:nvSpPr>
        <p:spPr>
          <a:xfrm>
            <a:off x="6405562" y="2060575"/>
            <a:ext cx="2270125" cy="1871662"/>
          </a:xfrm>
          <a:prstGeom prst="rect">
            <a:avLst/>
          </a:prstGeom>
          <a:noFill/>
          <a:ln cap="flat" cmpd="sng" w="57150">
            <a:solidFill>
              <a:srgbClr val="FFC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73" name="Google Shape;173;p17"/>
          <p:cNvSpPr txBox="1"/>
          <p:nvPr/>
        </p:nvSpPr>
        <p:spPr>
          <a:xfrm>
            <a:off x="6348412" y="3932237"/>
            <a:ext cx="2400300" cy="1079500"/>
          </a:xfrm>
          <a:prstGeom prst="rect">
            <a:avLst/>
          </a:prstGeom>
          <a:noFill/>
          <a:ln cap="flat" cmpd="sng" w="57150">
            <a:solidFill>
              <a:srgbClr val="6F3F0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74" name="Google Shape;174;p17"/>
          <p:cNvSpPr/>
          <p:nvPr/>
        </p:nvSpPr>
        <p:spPr>
          <a:xfrm>
            <a:off x="5652120" y="5301208"/>
            <a:ext cx="3491880" cy="1512168"/>
          </a:xfrm>
          <a:prstGeom prst="ellipse">
            <a:avLst/>
          </a:prstGeom>
          <a:solidFill>
            <a:schemeClr val="accent1"/>
          </a:solidFill>
          <a:ln cap="flat" cmpd="sng" w="57150">
            <a:solidFill>
              <a:srgbClr val="6F3F0F"/>
            </a:solidFill>
            <a:prstDash val="lgDash"/>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4F0E2"/>
              </a:buClr>
              <a:buSzPts val="2400"/>
              <a:buFont typeface="Arial"/>
              <a:buNone/>
            </a:pPr>
            <a:r>
              <a:rPr b="1" i="0" lang="ar-DZ" sz="2400" u="none" cap="none" strike="noStrike">
                <a:solidFill>
                  <a:srgbClr val="F4F0E2"/>
                </a:solidFill>
                <a:latin typeface="Arial"/>
                <a:ea typeface="Arial"/>
                <a:cs typeface="Arial"/>
                <a:sym typeface="Arial"/>
              </a:rPr>
              <a:t>قسم التحكم في مزامنة المسح الأفقي مع  الإشارة المراد عرضها</a:t>
            </a:r>
            <a:endParaRPr b="1" i="0" sz="2400" u="none" cap="none" strike="noStrike">
              <a:solidFill>
                <a:srgbClr val="F4F0E2"/>
              </a:solidFill>
              <a:latin typeface="Arial"/>
              <a:ea typeface="Arial"/>
              <a:cs typeface="Arial"/>
              <a:sym typeface="Arial"/>
            </a:endParaRPr>
          </a:p>
        </p:txBody>
      </p:sp>
      <p:pic>
        <p:nvPicPr>
          <p:cNvPr id="175" name="Google Shape;175;p17"/>
          <p:cNvPicPr preferRelativeResize="0"/>
          <p:nvPr/>
        </p:nvPicPr>
        <p:blipFill rotWithShape="1">
          <a:blip r:embed="rId8">
            <a:alphaModFix/>
          </a:blip>
          <a:srcRect b="0" l="0" r="0" t="0"/>
          <a:stretch/>
        </p:blipFill>
        <p:spPr>
          <a:xfrm>
            <a:off x="7473950" y="4438650"/>
            <a:ext cx="719137" cy="981075"/>
          </a:xfrm>
          <a:prstGeom prst="rect">
            <a:avLst/>
          </a:prstGeom>
          <a:noFill/>
          <a:ln>
            <a:noFill/>
          </a:ln>
        </p:spPr>
      </p:pic>
      <p:sp>
        <p:nvSpPr>
          <p:cNvPr id="176" name="Google Shape;176;p17"/>
          <p:cNvSpPr txBox="1"/>
          <p:nvPr/>
        </p:nvSpPr>
        <p:spPr>
          <a:xfrm>
            <a:off x="1547812" y="-26987"/>
            <a:ext cx="7596187" cy="646112"/>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chemeClr val="dk1"/>
              </a:buClr>
              <a:buSzPts val="3600"/>
              <a:buFont typeface="Calibri"/>
              <a:buNone/>
            </a:pPr>
            <a:r>
              <a:rPr b="1" i="0" lang="ar-DZ" sz="3600" u="none">
                <a:solidFill>
                  <a:schemeClr val="dk1"/>
                </a:solidFill>
                <a:latin typeface="Calibri"/>
                <a:ea typeface="Calibri"/>
                <a:cs typeface="Calibri"/>
                <a:sym typeface="Calibri"/>
              </a:rPr>
              <a:t>2/ مكونات جهاز راسم الإهتزاز المهبطي</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2000"/>
                                        <p:tgtEl>
                                          <p:spTgt spid="160"/>
                                        </p:tgtEl>
                                      </p:cBhvr>
                                    </p:animEffect>
                                  </p:childTnLst>
                                </p:cTn>
                              </p:par>
                              <p:par>
                                <p:cTn fill="hold" nodeType="with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20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2000"/>
                                        <p:tgtEl>
                                          <p:spTgt spid="163"/>
                                        </p:tgtEl>
                                      </p:cBhvr>
                                    </p:animEffect>
                                  </p:childTnLst>
                                </p:cTn>
                              </p:par>
                              <p:par>
                                <p:cTn fill="hold" nodeType="with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20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2000"/>
                                        <p:tgtEl>
                                          <p:spTgt spid="166"/>
                                        </p:tgtEl>
                                      </p:cBhvr>
                                    </p:animEffect>
                                  </p:childTnLst>
                                </p:cTn>
                              </p:par>
                              <p:par>
                                <p:cTn fill="hold" nodeType="with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20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2000"/>
                                        <p:tgtEl>
                                          <p:spTgt spid="167"/>
                                        </p:tgtEl>
                                      </p:cBhvr>
                                    </p:animEffect>
                                  </p:childTnLst>
                                </p:cTn>
                              </p:par>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2000"/>
                                        <p:tgtEl>
                                          <p:spTgt spid="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2000"/>
                                        <p:tgtEl>
                                          <p:spTgt spid="172"/>
                                        </p:tgtEl>
                                      </p:cBhvr>
                                    </p:animEffect>
                                  </p:childTnLst>
                                </p:cTn>
                              </p:par>
                              <p:par>
                                <p:cTn fill="hold" nodeType="with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20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2000"/>
                                        <p:tgtEl>
                                          <p:spTgt spid="173"/>
                                        </p:tgtEl>
                                      </p:cBhvr>
                                    </p:animEffect>
                                  </p:childTnLst>
                                </p:cTn>
                              </p:par>
                              <p:par>
                                <p:cTn fill="hold" nodeType="with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2000"/>
                                        <p:tgtEl>
                                          <p:spTgt spid="1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descr="Image associée" id="181" name="Google Shape;181;p18"/>
          <p:cNvPicPr preferRelativeResize="0"/>
          <p:nvPr/>
        </p:nvPicPr>
        <p:blipFill rotWithShape="1">
          <a:blip r:embed="rId3">
            <a:alphaModFix/>
          </a:blip>
          <a:srcRect b="0" l="0" r="0" t="0"/>
          <a:stretch/>
        </p:blipFill>
        <p:spPr>
          <a:xfrm>
            <a:off x="1187450" y="908050"/>
            <a:ext cx="5976937" cy="4949825"/>
          </a:xfrm>
          <a:prstGeom prst="rect">
            <a:avLst/>
          </a:prstGeom>
          <a:noFill/>
          <a:ln>
            <a:noFill/>
          </a:ln>
        </p:spPr>
      </p:pic>
      <p:sp>
        <p:nvSpPr>
          <p:cNvPr id="182" name="Google Shape;182;p18"/>
          <p:cNvSpPr/>
          <p:nvPr/>
        </p:nvSpPr>
        <p:spPr>
          <a:xfrm>
            <a:off x="6254035" y="116632"/>
            <a:ext cx="2484976" cy="646331"/>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FF0000"/>
              </a:buClr>
              <a:buSzPts val="3600"/>
              <a:buFont typeface="Arial"/>
              <a:buNone/>
            </a:pPr>
            <a:r>
              <a:rPr b="1" i="0" lang="ar-DZ" sz="3600" u="none" cap="none" strike="noStrike">
                <a:solidFill>
                  <a:srgbClr val="FF0000"/>
                </a:solidFill>
                <a:latin typeface="Arial"/>
                <a:ea typeface="Arial"/>
                <a:cs typeface="Arial"/>
                <a:sym typeface="Arial"/>
              </a:rPr>
              <a:t>1. قسم الشاشة</a:t>
            </a:r>
            <a:endParaRPr b="0" i="0" sz="3600" u="none" cap="none" strike="noStrike">
              <a:solidFill>
                <a:srgbClr val="FF0000"/>
              </a:solidFill>
              <a:latin typeface="Arial"/>
              <a:ea typeface="Arial"/>
              <a:cs typeface="Arial"/>
              <a:sym typeface="Arial"/>
            </a:endParaRPr>
          </a:p>
        </p:txBody>
      </p:sp>
      <p:sp>
        <p:nvSpPr>
          <p:cNvPr id="183" name="Google Shape;183;p18"/>
          <p:cNvSpPr txBox="1"/>
          <p:nvPr/>
        </p:nvSpPr>
        <p:spPr>
          <a:xfrm>
            <a:off x="1835150" y="2205037"/>
            <a:ext cx="865187" cy="5032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i="0" lang="ar-DZ" sz="1800" u="none">
                <a:solidFill>
                  <a:schemeClr val="dk1"/>
                </a:solidFill>
                <a:latin typeface="Arial"/>
                <a:ea typeface="Arial"/>
                <a:cs typeface="Arial"/>
                <a:sym typeface="Arial"/>
              </a:rPr>
              <a:t>1Div</a:t>
            </a:r>
            <a:endParaRPr/>
          </a:p>
        </p:txBody>
      </p:sp>
      <p:sp>
        <p:nvSpPr>
          <p:cNvPr id="184" name="Google Shape;184;p18"/>
          <p:cNvSpPr txBox="1"/>
          <p:nvPr/>
        </p:nvSpPr>
        <p:spPr>
          <a:xfrm>
            <a:off x="1187450" y="1700212"/>
            <a:ext cx="863600" cy="504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i="0" lang="ar-DZ" sz="1800" u="none">
                <a:solidFill>
                  <a:schemeClr val="dk1"/>
                </a:solidFill>
                <a:latin typeface="Arial"/>
                <a:ea typeface="Arial"/>
                <a:cs typeface="Arial"/>
                <a:sym typeface="Arial"/>
              </a:rPr>
              <a:t>1Div</a:t>
            </a:r>
            <a:endParaRPr/>
          </a:p>
        </p:txBody>
      </p:sp>
      <p:cxnSp>
        <p:nvCxnSpPr>
          <p:cNvPr id="185" name="Google Shape;185;p18"/>
          <p:cNvCxnSpPr/>
          <p:nvPr/>
        </p:nvCxnSpPr>
        <p:spPr>
          <a:xfrm>
            <a:off x="1870075" y="1612900"/>
            <a:ext cx="0" cy="576262"/>
          </a:xfrm>
          <a:prstGeom prst="straightConnector1">
            <a:avLst/>
          </a:prstGeom>
          <a:noFill/>
          <a:ln cap="flat" cmpd="sng" w="57150">
            <a:solidFill>
              <a:srgbClr val="FF0000"/>
            </a:solidFill>
            <a:prstDash val="solid"/>
            <a:miter lim="800000"/>
            <a:headEnd len="med" w="med" type="none"/>
            <a:tailEnd len="med" w="med" type="none"/>
          </a:ln>
        </p:spPr>
      </p:cxnSp>
      <p:cxnSp>
        <p:nvCxnSpPr>
          <p:cNvPr id="186" name="Google Shape;186;p18"/>
          <p:cNvCxnSpPr/>
          <p:nvPr/>
        </p:nvCxnSpPr>
        <p:spPr>
          <a:xfrm rot="10800000">
            <a:off x="1835150" y="2205037"/>
            <a:ext cx="606425" cy="6350"/>
          </a:xfrm>
          <a:prstGeom prst="straightConnector1">
            <a:avLst/>
          </a:prstGeom>
          <a:noFill/>
          <a:ln cap="flat" cmpd="sng" w="57150">
            <a:solidFill>
              <a:srgbClr val="FF0000"/>
            </a:solidFill>
            <a:prstDash val="solid"/>
            <a:miter lim="800000"/>
            <a:headEnd len="med" w="med" type="none"/>
            <a:tailEnd len="med" w="med" type="none"/>
          </a:ln>
        </p:spPr>
      </p:cxnSp>
      <p:grpSp>
        <p:nvGrpSpPr>
          <p:cNvPr id="187" name="Google Shape;187;p18"/>
          <p:cNvGrpSpPr/>
          <p:nvPr/>
        </p:nvGrpSpPr>
        <p:grpSpPr>
          <a:xfrm>
            <a:off x="3643312" y="1571625"/>
            <a:ext cx="1906587" cy="1223962"/>
            <a:chOff x="3643580" y="1572160"/>
            <a:chExt cx="1905796" cy="1224136"/>
          </a:xfrm>
        </p:grpSpPr>
        <p:pic>
          <p:nvPicPr>
            <p:cNvPr id="188" name="Google Shape;188;p18"/>
            <p:cNvPicPr preferRelativeResize="0"/>
            <p:nvPr/>
          </p:nvPicPr>
          <p:blipFill rotWithShape="1">
            <a:blip r:embed="rId4">
              <a:alphaModFix/>
            </a:blip>
            <a:srcRect b="0" l="0" r="0" t="0"/>
            <a:stretch/>
          </p:blipFill>
          <p:spPr>
            <a:xfrm>
              <a:off x="3643580" y="1572160"/>
              <a:ext cx="1800200" cy="1224136"/>
            </a:xfrm>
            <a:prstGeom prst="rect">
              <a:avLst/>
            </a:prstGeom>
            <a:noFill/>
            <a:ln>
              <a:noFill/>
            </a:ln>
          </p:spPr>
        </p:pic>
        <p:sp>
          <p:nvSpPr>
            <p:cNvPr id="189" name="Google Shape;189;p18"/>
            <p:cNvSpPr/>
            <p:nvPr/>
          </p:nvSpPr>
          <p:spPr>
            <a:xfrm>
              <a:off x="4372216" y="1788184"/>
              <a:ext cx="144016" cy="288032"/>
            </a:xfrm>
            <a:prstGeom prst="rightBrace">
              <a:avLst>
                <a:gd fmla="val 900" name="adj1"/>
                <a:gd fmla="val 50000" name="adj2"/>
              </a:avLst>
            </a:prstGeom>
            <a:solidFill>
              <a:schemeClr val="accent1"/>
            </a:solidFill>
            <a:ln cap="flat" cmpd="sng" w="381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90" name="Google Shape;190;p18"/>
            <p:cNvSpPr txBox="1"/>
            <p:nvPr/>
          </p:nvSpPr>
          <p:spPr>
            <a:xfrm>
              <a:off x="4469256" y="1716176"/>
              <a:ext cx="1080120" cy="50405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ar-DZ" sz="2400" u="none">
                  <a:solidFill>
                    <a:schemeClr val="dk1"/>
                  </a:solidFill>
                  <a:latin typeface="Arial"/>
                  <a:ea typeface="Arial"/>
                  <a:cs typeface="Arial"/>
                  <a:sym typeface="Arial"/>
                </a:rPr>
                <a:t>0,2Div</a:t>
              </a:r>
              <a:endParaRPr/>
            </a:p>
          </p:txBody>
        </p:sp>
      </p:grpSp>
      <p:sp>
        <p:nvSpPr>
          <p:cNvPr id="191" name="Google Shape;191;p18"/>
          <p:cNvSpPr txBox="1"/>
          <p:nvPr/>
        </p:nvSpPr>
        <p:spPr>
          <a:xfrm>
            <a:off x="7164387" y="3068637"/>
            <a:ext cx="1871662" cy="431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3200"/>
              <a:buFont typeface="Arial"/>
              <a:buNone/>
            </a:pPr>
            <a:r>
              <a:rPr b="0" i="0" lang="ar-DZ" sz="3200" u="none">
                <a:solidFill>
                  <a:schemeClr val="dk1"/>
                </a:solidFill>
                <a:latin typeface="Arial"/>
                <a:ea typeface="Arial"/>
                <a:cs typeface="Arial"/>
                <a:sym typeface="Arial"/>
              </a:rPr>
              <a:t>محور أفقي</a:t>
            </a:r>
            <a:endParaRPr/>
          </a:p>
        </p:txBody>
      </p:sp>
      <p:sp>
        <p:nvSpPr>
          <p:cNvPr id="192" name="Google Shape;192;p18"/>
          <p:cNvSpPr txBox="1"/>
          <p:nvPr/>
        </p:nvSpPr>
        <p:spPr>
          <a:xfrm>
            <a:off x="2700337" y="188912"/>
            <a:ext cx="2447925" cy="6477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3200"/>
              <a:buFont typeface="Arial"/>
              <a:buNone/>
            </a:pPr>
            <a:r>
              <a:rPr b="0" i="0" lang="ar-DZ" sz="3200" u="none">
                <a:solidFill>
                  <a:schemeClr val="dk1"/>
                </a:solidFill>
                <a:latin typeface="Arial"/>
                <a:ea typeface="Arial"/>
                <a:cs typeface="Arial"/>
                <a:sym typeface="Arial"/>
              </a:rPr>
              <a:t>محور عمودي</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2000"/>
                                        <p:tgtEl>
                                          <p:spTgt spid="191"/>
                                        </p:tgtEl>
                                      </p:cBhvr>
                                    </p:animEffect>
                                  </p:childTnLst>
                                </p:cTn>
                              </p:par>
                              <p:par>
                                <p:cTn fill="hold" nodeType="with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2000"/>
                                        <p:tgtEl>
                                          <p:spTgt spid="1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par>
                                <p:cTn fill="hold" nodeType="with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par>
                                <p:cTn fill="hold" nodeType="with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par>
                                <p:cTn fill="hold" nodeType="with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9"/>
          <p:cNvSpPr/>
          <p:nvPr/>
        </p:nvSpPr>
        <p:spPr>
          <a:xfrm>
            <a:off x="3419872" y="0"/>
            <a:ext cx="4104455" cy="646331"/>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FF0000"/>
              </a:buClr>
              <a:buSzPts val="3600"/>
              <a:buFont typeface="Arial"/>
              <a:buNone/>
            </a:pPr>
            <a:r>
              <a:rPr b="1" i="0" lang="ar-DZ" sz="3600" u="none" cap="none" strike="noStrike">
                <a:solidFill>
                  <a:srgbClr val="FF0000"/>
                </a:solidFill>
                <a:latin typeface="Arial"/>
                <a:ea typeface="Arial"/>
                <a:cs typeface="Arial"/>
                <a:sym typeface="Arial"/>
              </a:rPr>
              <a:t>2. قسم التحكم في التشغيل</a:t>
            </a:r>
            <a:endParaRPr b="1" i="0" sz="3600" u="none" cap="none" strike="noStrike">
              <a:solidFill>
                <a:srgbClr val="FF0000"/>
              </a:solidFill>
              <a:latin typeface="Arial"/>
              <a:ea typeface="Arial"/>
              <a:cs typeface="Arial"/>
              <a:sym typeface="Arial"/>
            </a:endParaRPr>
          </a:p>
        </p:txBody>
      </p:sp>
      <p:pic>
        <p:nvPicPr>
          <p:cNvPr id="198" name="Google Shape;198;p19"/>
          <p:cNvPicPr preferRelativeResize="0"/>
          <p:nvPr/>
        </p:nvPicPr>
        <p:blipFill rotWithShape="1">
          <a:blip r:embed="rId3">
            <a:alphaModFix/>
          </a:blip>
          <a:srcRect b="0" l="0" r="0" t="0"/>
          <a:stretch/>
        </p:blipFill>
        <p:spPr>
          <a:xfrm>
            <a:off x="468312" y="836612"/>
            <a:ext cx="3095625" cy="5545137"/>
          </a:xfrm>
          <a:prstGeom prst="rect">
            <a:avLst/>
          </a:prstGeom>
          <a:noFill/>
          <a:ln>
            <a:noFill/>
          </a:ln>
        </p:spPr>
      </p:pic>
      <p:sp>
        <p:nvSpPr>
          <p:cNvPr id="199" name="Google Shape;199;p19"/>
          <p:cNvSpPr txBox="1"/>
          <p:nvPr/>
        </p:nvSpPr>
        <p:spPr>
          <a:xfrm>
            <a:off x="4716462" y="5229225"/>
            <a:ext cx="4248150" cy="461962"/>
          </a:xfrm>
          <a:prstGeom prst="rect">
            <a:avLst/>
          </a:prstGeom>
          <a:solidFill>
            <a:schemeClr val="lt1"/>
          </a:solidFill>
          <a:ln cap="flat" cmpd="sng" w="254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000000"/>
              </a:buClr>
              <a:buSzPts val="2400"/>
              <a:buFont typeface="Calibri"/>
              <a:buNone/>
            </a:pPr>
            <a:r>
              <a:rPr b="1" i="0" lang="ar-DZ" sz="2400" u="none">
                <a:solidFill>
                  <a:srgbClr val="000000"/>
                </a:solidFill>
                <a:latin typeface="Calibri"/>
                <a:ea typeface="Calibri"/>
                <a:cs typeface="Calibri"/>
                <a:sym typeface="Calibri"/>
              </a:rPr>
              <a:t>زر التشغيل والإطفاء   </a:t>
            </a:r>
            <a:r>
              <a:rPr b="1" i="0" lang="ar-DZ" sz="2400" u="none">
                <a:solidFill>
                  <a:srgbClr val="C00000"/>
                </a:solidFill>
                <a:latin typeface="Calibri"/>
                <a:ea typeface="Calibri"/>
                <a:cs typeface="Calibri"/>
                <a:sym typeface="Calibri"/>
              </a:rPr>
              <a:t>POWER</a:t>
            </a:r>
            <a:endParaRPr/>
          </a:p>
        </p:txBody>
      </p:sp>
      <p:sp>
        <p:nvSpPr>
          <p:cNvPr id="200" name="Google Shape;200;p19"/>
          <p:cNvSpPr/>
          <p:nvPr/>
        </p:nvSpPr>
        <p:spPr>
          <a:xfrm rot="5400000">
            <a:off x="3744118" y="4544218"/>
            <a:ext cx="71437" cy="1873250"/>
          </a:xfrm>
          <a:prstGeom prst="downArrow">
            <a:avLst>
              <a:gd fmla="val 21185" name="adj1"/>
              <a:gd fmla="val 50000" name="adj2"/>
            </a:avLst>
          </a:prstGeom>
          <a:solidFill>
            <a:schemeClr val="accent1"/>
          </a:solid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01" name="Google Shape;201;p19"/>
          <p:cNvSpPr txBox="1"/>
          <p:nvPr/>
        </p:nvSpPr>
        <p:spPr>
          <a:xfrm>
            <a:off x="4500562" y="4476750"/>
            <a:ext cx="4397375" cy="461962"/>
          </a:xfrm>
          <a:prstGeom prst="rect">
            <a:avLst/>
          </a:prstGeom>
          <a:solidFill>
            <a:schemeClr val="lt1"/>
          </a:solidFill>
          <a:ln cap="flat" cmpd="sng" w="254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1" i="0" lang="ar-DZ" sz="2400" u="none">
                <a:solidFill>
                  <a:srgbClr val="000000"/>
                </a:solidFill>
                <a:latin typeface="Calibri"/>
                <a:ea typeface="Calibri"/>
                <a:cs typeface="Calibri"/>
                <a:sym typeface="Calibri"/>
              </a:rPr>
              <a:t>مصباح شاهد على اشتغال أو إطفاء الجهاز</a:t>
            </a:r>
            <a:endParaRPr/>
          </a:p>
        </p:txBody>
      </p:sp>
      <p:sp>
        <p:nvSpPr>
          <p:cNvPr id="202" name="Google Shape;202;p19"/>
          <p:cNvSpPr/>
          <p:nvPr/>
        </p:nvSpPr>
        <p:spPr>
          <a:xfrm rot="5400000">
            <a:off x="3470275" y="3709987"/>
            <a:ext cx="44450" cy="2016125"/>
          </a:xfrm>
          <a:prstGeom prst="downArrow">
            <a:avLst>
              <a:gd fmla="val 21355" name="adj1"/>
              <a:gd fmla="val 50000" name="adj2"/>
            </a:avLst>
          </a:prstGeom>
          <a:solidFill>
            <a:schemeClr val="accent1"/>
          </a:solid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03" name="Google Shape;203;p19"/>
          <p:cNvSpPr txBox="1"/>
          <p:nvPr/>
        </p:nvSpPr>
        <p:spPr>
          <a:xfrm>
            <a:off x="5076825" y="3429000"/>
            <a:ext cx="3749675" cy="830262"/>
          </a:xfrm>
          <a:prstGeom prst="rect">
            <a:avLst/>
          </a:prstGeom>
          <a:solidFill>
            <a:schemeClr val="lt1"/>
          </a:solidFill>
          <a:ln cap="flat" cmpd="sng" w="254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1" i="0" lang="ar-DZ" sz="2400" u="none">
                <a:solidFill>
                  <a:srgbClr val="000000"/>
                </a:solidFill>
                <a:latin typeface="Calibri"/>
                <a:ea typeface="Calibri"/>
                <a:cs typeface="Calibri"/>
                <a:sym typeface="Calibri"/>
              </a:rPr>
              <a:t>1kHzمولد الإشارة المربعية بتردد </a:t>
            </a:r>
            <a:endParaRPr/>
          </a:p>
          <a:p>
            <a:pPr indent="0" lvl="0" marL="0" marR="0" rtl="0" algn="r">
              <a:lnSpc>
                <a:spcPct val="100000"/>
              </a:lnSpc>
              <a:spcBef>
                <a:spcPts val="0"/>
              </a:spcBef>
              <a:spcAft>
                <a:spcPts val="0"/>
              </a:spcAft>
              <a:buClr>
                <a:srgbClr val="000000"/>
              </a:buClr>
              <a:buSzPts val="2400"/>
              <a:buFont typeface="Calibri"/>
              <a:buNone/>
            </a:pPr>
            <a:r>
              <a:rPr b="1" i="0" lang="ar-DZ" sz="2400" u="none">
                <a:solidFill>
                  <a:srgbClr val="000000"/>
                </a:solidFill>
                <a:latin typeface="Calibri"/>
                <a:ea typeface="Calibri"/>
                <a:cs typeface="Calibri"/>
                <a:sym typeface="Calibri"/>
              </a:rPr>
              <a:t>  من ذروة إلى ذروة.0,5 V  وتوتر </a:t>
            </a:r>
            <a:endParaRPr/>
          </a:p>
        </p:txBody>
      </p:sp>
      <p:sp>
        <p:nvSpPr>
          <p:cNvPr id="204" name="Google Shape;204;p19"/>
          <p:cNvSpPr/>
          <p:nvPr/>
        </p:nvSpPr>
        <p:spPr>
          <a:xfrm rot="5400000">
            <a:off x="3793331" y="2593181"/>
            <a:ext cx="46037" cy="2520950"/>
          </a:xfrm>
          <a:prstGeom prst="downArrow">
            <a:avLst>
              <a:gd fmla="val 21404" name="adj1"/>
              <a:gd fmla="val 50000" name="adj2"/>
            </a:avLst>
          </a:prstGeom>
          <a:solidFill>
            <a:schemeClr val="accent1"/>
          </a:solid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05" name="Google Shape;205;p19"/>
          <p:cNvSpPr txBox="1"/>
          <p:nvPr/>
        </p:nvSpPr>
        <p:spPr>
          <a:xfrm>
            <a:off x="3851275" y="2451100"/>
            <a:ext cx="5046662" cy="461962"/>
          </a:xfrm>
          <a:prstGeom prst="rect">
            <a:avLst/>
          </a:prstGeom>
          <a:solidFill>
            <a:schemeClr val="lt1"/>
          </a:solidFill>
          <a:ln cap="flat" cmpd="sng" w="254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000000"/>
              </a:buClr>
              <a:buSzPts val="2400"/>
              <a:buFont typeface="Calibri"/>
              <a:buNone/>
            </a:pPr>
            <a:r>
              <a:rPr b="1" i="0" lang="ar-DZ" sz="2400" u="none">
                <a:solidFill>
                  <a:srgbClr val="000000"/>
                </a:solidFill>
                <a:latin typeface="Calibri"/>
                <a:ea typeface="Calibri"/>
                <a:cs typeface="Calibri"/>
                <a:sym typeface="Calibri"/>
              </a:rPr>
              <a:t>زر التحكم في سمك الإشارة الكهربائية </a:t>
            </a:r>
            <a:r>
              <a:rPr b="1" i="0" lang="ar-DZ" sz="2400" u="none">
                <a:solidFill>
                  <a:srgbClr val="C00000"/>
                </a:solidFill>
                <a:latin typeface="Calibri"/>
                <a:ea typeface="Calibri"/>
                <a:cs typeface="Calibri"/>
                <a:sym typeface="Calibri"/>
              </a:rPr>
              <a:t>FOCUS</a:t>
            </a:r>
            <a:endParaRPr/>
          </a:p>
        </p:txBody>
      </p:sp>
      <p:sp>
        <p:nvSpPr>
          <p:cNvPr id="206" name="Google Shape;206;p19"/>
          <p:cNvSpPr/>
          <p:nvPr/>
        </p:nvSpPr>
        <p:spPr>
          <a:xfrm rot="5400000">
            <a:off x="3217068" y="2161381"/>
            <a:ext cx="46037" cy="1079500"/>
          </a:xfrm>
          <a:prstGeom prst="downArrow">
            <a:avLst>
              <a:gd fmla="val 21145" name="adj1"/>
              <a:gd fmla="val 50000" name="adj2"/>
            </a:avLst>
          </a:prstGeom>
          <a:solidFill>
            <a:schemeClr val="accent1"/>
          </a:solid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07" name="Google Shape;207;p19"/>
          <p:cNvSpPr txBox="1"/>
          <p:nvPr/>
        </p:nvSpPr>
        <p:spPr>
          <a:xfrm>
            <a:off x="4284662" y="1196975"/>
            <a:ext cx="4686300" cy="830262"/>
          </a:xfrm>
          <a:prstGeom prst="rect">
            <a:avLst/>
          </a:prstGeom>
          <a:solidFill>
            <a:schemeClr val="lt1"/>
          </a:solidFill>
          <a:ln cap="flat" cmpd="sng" w="254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1" i="0" lang="ar-DZ" sz="2400" u="none">
                <a:solidFill>
                  <a:srgbClr val="000000"/>
                </a:solidFill>
                <a:latin typeface="Calibri"/>
                <a:ea typeface="Calibri"/>
                <a:cs typeface="Calibri"/>
                <a:sym typeface="Calibri"/>
              </a:rPr>
              <a:t>زر التحكم في شدة إضاءة الإشارة الكهربائية</a:t>
            </a:r>
            <a:endParaRPr b="1" i="0" sz="2400" u="non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C00000"/>
              </a:buClr>
              <a:buSzPts val="2400"/>
              <a:buFont typeface="Calibri"/>
              <a:buNone/>
            </a:pPr>
            <a:r>
              <a:rPr b="1" i="0" lang="ar-DZ" sz="2400" u="none">
                <a:solidFill>
                  <a:srgbClr val="C00000"/>
                </a:solidFill>
                <a:latin typeface="Calibri"/>
                <a:ea typeface="Calibri"/>
                <a:cs typeface="Calibri"/>
                <a:sym typeface="Calibri"/>
              </a:rPr>
              <a:t>INTENSITY</a:t>
            </a:r>
            <a:r>
              <a:rPr b="1" i="0" lang="ar-DZ" sz="2400" u="none">
                <a:solidFill>
                  <a:srgbClr val="000000"/>
                </a:solidFill>
                <a:latin typeface="Calibri"/>
                <a:ea typeface="Calibri"/>
                <a:cs typeface="Calibri"/>
                <a:sym typeface="Calibri"/>
              </a:rPr>
              <a:t> </a:t>
            </a:r>
            <a:endParaRPr/>
          </a:p>
        </p:txBody>
      </p:sp>
      <p:sp>
        <p:nvSpPr>
          <p:cNvPr id="208" name="Google Shape;208;p19"/>
          <p:cNvSpPr/>
          <p:nvPr/>
        </p:nvSpPr>
        <p:spPr>
          <a:xfrm flipH="1" rot="5400000">
            <a:off x="3491706" y="980281"/>
            <a:ext cx="144462" cy="1441450"/>
          </a:xfrm>
          <a:prstGeom prst="downArrow">
            <a:avLst>
              <a:gd fmla="val 19947" name="adj1"/>
              <a:gd fmla="val 50000" name="adj2"/>
            </a:avLst>
          </a:prstGeom>
          <a:solidFill>
            <a:schemeClr val="accent1"/>
          </a:solid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par>
                                <p:cTn fill="hold" nodeType="with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2000"/>
                                        <p:tgtEl>
                                          <p:spTgt spid="201"/>
                                        </p:tgtEl>
                                      </p:cBhvr>
                                    </p:animEffect>
                                  </p:childTnLst>
                                </p:cTn>
                              </p:par>
                              <p:par>
                                <p:cTn fill="hold" nodeType="with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20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2000"/>
                                        <p:tgtEl>
                                          <p:spTgt spid="203"/>
                                        </p:tgtEl>
                                      </p:cBhvr>
                                    </p:animEffect>
                                  </p:childTnLst>
                                </p:cTn>
                              </p:par>
                              <p:par>
                                <p:cTn fill="hold" nodeType="with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20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2000"/>
                                        <p:tgtEl>
                                          <p:spTgt spid="205"/>
                                        </p:tgtEl>
                                      </p:cBhvr>
                                    </p:animEffect>
                                  </p:childTnLst>
                                </p:cTn>
                              </p:par>
                              <p:par>
                                <p:cTn fill="hold" nodeType="with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2000"/>
                                        <p:tgtEl>
                                          <p:spTgt spid="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2000"/>
                                        <p:tgtEl>
                                          <p:spTgt spid="207"/>
                                        </p:tgtEl>
                                      </p:cBhvr>
                                    </p:animEffect>
                                  </p:childTnLst>
                                </p:cTn>
                              </p:par>
                              <p:par>
                                <p:cTn fill="hold" nodeType="with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20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0"/>
          <p:cNvSpPr/>
          <p:nvPr/>
        </p:nvSpPr>
        <p:spPr>
          <a:xfrm>
            <a:off x="1632629" y="0"/>
            <a:ext cx="7367722" cy="646331"/>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FF0000"/>
              </a:buClr>
              <a:buSzPts val="3600"/>
              <a:buFont typeface="Arial"/>
              <a:buNone/>
            </a:pPr>
            <a:r>
              <a:rPr b="1" i="0" lang="ar-DZ" sz="3600" u="none" cap="none" strike="noStrike">
                <a:solidFill>
                  <a:srgbClr val="FF0000"/>
                </a:solidFill>
                <a:latin typeface="Arial"/>
                <a:ea typeface="Arial"/>
                <a:cs typeface="Arial"/>
                <a:sym typeface="Arial"/>
              </a:rPr>
              <a:t>3. قسم التحكم في  قناة مدخل الإشارة الكهربائية</a:t>
            </a:r>
            <a:endParaRPr b="0" i="0" sz="3600" u="none" cap="none" strike="noStrike">
              <a:solidFill>
                <a:srgbClr val="FF0000"/>
              </a:solidFill>
              <a:latin typeface="Arial"/>
              <a:ea typeface="Arial"/>
              <a:cs typeface="Arial"/>
              <a:sym typeface="Arial"/>
            </a:endParaRPr>
          </a:p>
        </p:txBody>
      </p:sp>
      <p:pic>
        <p:nvPicPr>
          <p:cNvPr id="214" name="Google Shape;214;p20"/>
          <p:cNvPicPr preferRelativeResize="0"/>
          <p:nvPr/>
        </p:nvPicPr>
        <p:blipFill rotWithShape="1">
          <a:blip r:embed="rId3">
            <a:alphaModFix/>
          </a:blip>
          <a:srcRect b="0" l="0" r="0" t="0"/>
          <a:stretch/>
        </p:blipFill>
        <p:spPr>
          <a:xfrm>
            <a:off x="2987675" y="2133600"/>
            <a:ext cx="2160587" cy="2808287"/>
          </a:xfrm>
          <a:prstGeom prst="rect">
            <a:avLst/>
          </a:prstGeom>
          <a:noFill/>
          <a:ln>
            <a:noFill/>
          </a:ln>
        </p:spPr>
      </p:pic>
      <p:sp>
        <p:nvSpPr>
          <p:cNvPr id="215" name="Google Shape;215;p20"/>
          <p:cNvSpPr txBox="1"/>
          <p:nvPr/>
        </p:nvSpPr>
        <p:spPr>
          <a:xfrm>
            <a:off x="4186237" y="1095375"/>
            <a:ext cx="3554412" cy="461962"/>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FF0000"/>
              </a:buClr>
              <a:buSzPts val="2400"/>
              <a:buFont typeface="Arial"/>
              <a:buNone/>
            </a:pPr>
            <a:r>
              <a:rPr b="0" i="0" lang="ar-DZ" sz="2400" u="none">
                <a:solidFill>
                  <a:srgbClr val="FF0000"/>
                </a:solidFill>
                <a:latin typeface="Arial"/>
                <a:ea typeface="Arial"/>
                <a:cs typeface="Arial"/>
                <a:sym typeface="Arial"/>
              </a:rPr>
              <a:t>مبدل التحكم في المدخل </a:t>
            </a:r>
            <a:r>
              <a:rPr b="1" i="0" lang="ar-DZ" sz="2400" u="none">
                <a:solidFill>
                  <a:srgbClr val="0070C0"/>
                </a:solidFill>
                <a:latin typeface="Arial"/>
                <a:ea typeface="Arial"/>
                <a:cs typeface="Arial"/>
                <a:sym typeface="Arial"/>
              </a:rPr>
              <a:t>Y</a:t>
            </a:r>
            <a:r>
              <a:rPr b="1" i="0" lang="ar-DZ" sz="1600" u="none">
                <a:solidFill>
                  <a:srgbClr val="0070C0"/>
                </a:solidFill>
                <a:latin typeface="Arial"/>
                <a:ea typeface="Arial"/>
                <a:cs typeface="Arial"/>
                <a:sym typeface="Arial"/>
              </a:rPr>
              <a:t>INPUT</a:t>
            </a:r>
            <a:r>
              <a:rPr b="0" i="0" lang="ar-DZ" sz="2400" u="none">
                <a:solidFill>
                  <a:srgbClr val="FF0000"/>
                </a:solidFill>
                <a:latin typeface="Arial"/>
                <a:ea typeface="Arial"/>
                <a:cs typeface="Arial"/>
                <a:sym typeface="Arial"/>
              </a:rPr>
              <a:t>  </a:t>
            </a:r>
            <a:r>
              <a:rPr b="0" i="0" lang="ar-DZ" sz="2400" u="none">
                <a:solidFill>
                  <a:schemeClr val="dk1"/>
                </a:solidFill>
                <a:latin typeface="Arial"/>
                <a:ea typeface="Arial"/>
                <a:cs typeface="Arial"/>
                <a:sym typeface="Arial"/>
              </a:rPr>
              <a:t> </a:t>
            </a:r>
            <a:endParaRPr/>
          </a:p>
        </p:txBody>
      </p:sp>
      <p:cxnSp>
        <p:nvCxnSpPr>
          <p:cNvPr id="216" name="Google Shape;216;p20"/>
          <p:cNvCxnSpPr/>
          <p:nvPr/>
        </p:nvCxnSpPr>
        <p:spPr>
          <a:xfrm>
            <a:off x="4500562" y="1557337"/>
            <a:ext cx="0" cy="1727200"/>
          </a:xfrm>
          <a:prstGeom prst="straightConnector1">
            <a:avLst/>
          </a:prstGeom>
          <a:noFill/>
          <a:ln cap="flat" cmpd="sng" w="38100">
            <a:solidFill>
              <a:schemeClr val="dk1"/>
            </a:solidFill>
            <a:prstDash val="solid"/>
            <a:miter lim="800000"/>
            <a:headEnd len="med" w="med" type="none"/>
            <a:tailEnd len="med" w="med" type="stealth"/>
          </a:ln>
        </p:spPr>
      </p:cxnSp>
      <p:sp>
        <p:nvSpPr>
          <p:cNvPr id="217" name="Google Shape;217;p20"/>
          <p:cNvSpPr txBox="1"/>
          <p:nvPr/>
        </p:nvSpPr>
        <p:spPr>
          <a:xfrm>
            <a:off x="82550" y="3357562"/>
            <a:ext cx="2219325" cy="830262"/>
          </a:xfrm>
          <a:prstGeom prst="rect">
            <a:avLst/>
          </a:prstGeom>
          <a:solidFill>
            <a:schemeClr val="lt1"/>
          </a:solidFill>
          <a:ln cap="flat" cmpd="sng" w="254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FF0000"/>
              </a:buClr>
              <a:buSzPts val="2400"/>
              <a:buFont typeface="Calibri"/>
              <a:buNone/>
            </a:pPr>
            <a:r>
              <a:rPr b="0" i="0" lang="ar-DZ" sz="2400" u="none">
                <a:solidFill>
                  <a:srgbClr val="FF0000"/>
                </a:solidFill>
                <a:latin typeface="Calibri"/>
                <a:ea typeface="Calibri"/>
                <a:cs typeface="Calibri"/>
                <a:sym typeface="Calibri"/>
              </a:rPr>
              <a:t>قناة المدخل </a:t>
            </a:r>
            <a:r>
              <a:rPr b="1" i="0" lang="ar-DZ" sz="2400" u="none">
                <a:solidFill>
                  <a:srgbClr val="0070C0"/>
                </a:solidFill>
                <a:latin typeface="Calibri"/>
                <a:ea typeface="Calibri"/>
                <a:cs typeface="Calibri"/>
                <a:sym typeface="Calibri"/>
              </a:rPr>
              <a:t>Y</a:t>
            </a:r>
            <a:r>
              <a:rPr b="1" i="0" lang="ar-DZ" sz="1600" u="none">
                <a:solidFill>
                  <a:srgbClr val="0070C0"/>
                </a:solidFill>
                <a:latin typeface="Calibri"/>
                <a:ea typeface="Calibri"/>
                <a:cs typeface="Calibri"/>
                <a:sym typeface="Calibri"/>
              </a:rPr>
              <a:t>INPUT </a:t>
            </a:r>
            <a:endParaRPr/>
          </a:p>
          <a:p>
            <a:pPr indent="0" lvl="0" marL="0" marR="0" rtl="1" algn="r">
              <a:lnSpc>
                <a:spcPct val="100000"/>
              </a:lnSpc>
              <a:spcBef>
                <a:spcPts val="0"/>
              </a:spcBef>
              <a:spcAft>
                <a:spcPts val="0"/>
              </a:spcAft>
              <a:buClr>
                <a:srgbClr val="FF0000"/>
              </a:buClr>
              <a:buSzPts val="2400"/>
              <a:buFont typeface="Calibri"/>
              <a:buNone/>
            </a:pPr>
            <a:r>
              <a:rPr b="0" i="0" lang="ar-DZ" sz="2400" u="none">
                <a:solidFill>
                  <a:srgbClr val="FF0000"/>
                </a:solidFill>
                <a:latin typeface="Calibri"/>
                <a:ea typeface="Calibri"/>
                <a:cs typeface="Calibri"/>
                <a:sym typeface="Calibri"/>
              </a:rPr>
              <a:t>للإشارة الكهربائية</a:t>
            </a:r>
            <a:endParaRPr/>
          </a:p>
        </p:txBody>
      </p:sp>
      <p:cxnSp>
        <p:nvCxnSpPr>
          <p:cNvPr id="218" name="Google Shape;218;p20"/>
          <p:cNvCxnSpPr/>
          <p:nvPr/>
        </p:nvCxnSpPr>
        <p:spPr>
          <a:xfrm>
            <a:off x="2301875" y="3771900"/>
            <a:ext cx="757237" cy="17462"/>
          </a:xfrm>
          <a:prstGeom prst="straightConnector1">
            <a:avLst/>
          </a:prstGeom>
          <a:noFill/>
          <a:ln cap="flat" cmpd="sng" w="38100">
            <a:solidFill>
              <a:schemeClr val="dk1"/>
            </a:solidFill>
            <a:prstDash val="solid"/>
            <a:miter lim="800000"/>
            <a:headEnd len="med" w="med" type="none"/>
            <a:tailEnd len="med" w="med" type="stealth"/>
          </a:ln>
        </p:spPr>
      </p:cxnSp>
      <p:cxnSp>
        <p:nvCxnSpPr>
          <p:cNvPr id="219" name="Google Shape;219;p20"/>
          <p:cNvCxnSpPr/>
          <p:nvPr/>
        </p:nvCxnSpPr>
        <p:spPr>
          <a:xfrm flipH="1" rot="10800000">
            <a:off x="2411412" y="3933825"/>
            <a:ext cx="1008062" cy="647700"/>
          </a:xfrm>
          <a:prstGeom prst="straightConnector1">
            <a:avLst/>
          </a:prstGeom>
          <a:noFill/>
          <a:ln cap="flat" cmpd="sng" w="57150">
            <a:solidFill>
              <a:schemeClr val="dk1"/>
            </a:solidFill>
            <a:prstDash val="solid"/>
            <a:miter lim="800000"/>
            <a:headEnd len="med" w="med" type="none"/>
            <a:tailEnd len="med" w="med" type="stealth"/>
          </a:ln>
        </p:spPr>
      </p:cxnSp>
      <p:sp>
        <p:nvSpPr>
          <p:cNvPr id="220" name="Google Shape;220;p20"/>
          <p:cNvSpPr txBox="1"/>
          <p:nvPr/>
        </p:nvSpPr>
        <p:spPr>
          <a:xfrm>
            <a:off x="179387" y="4581525"/>
            <a:ext cx="2219325" cy="461962"/>
          </a:xfrm>
          <a:prstGeom prst="rect">
            <a:avLst/>
          </a:prstGeom>
          <a:solidFill>
            <a:schemeClr val="lt1"/>
          </a:solidFill>
          <a:ln cap="flat" cmpd="sng" w="254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FF0000"/>
              </a:buClr>
              <a:buSzPts val="2400"/>
              <a:buFont typeface="Calibri"/>
              <a:buNone/>
            </a:pPr>
            <a:r>
              <a:rPr b="0" i="0" lang="ar-DZ" sz="2400" u="none">
                <a:solidFill>
                  <a:srgbClr val="FF0000"/>
                </a:solidFill>
                <a:latin typeface="Calibri"/>
                <a:ea typeface="Calibri"/>
                <a:cs typeface="Calibri"/>
                <a:sym typeface="Calibri"/>
              </a:rPr>
              <a:t>القطب الموجب للقناة </a:t>
            </a:r>
            <a:endParaRPr/>
          </a:p>
        </p:txBody>
      </p:sp>
      <p:sp>
        <p:nvSpPr>
          <p:cNvPr id="221" name="Google Shape;221;p20"/>
          <p:cNvSpPr txBox="1"/>
          <p:nvPr/>
        </p:nvSpPr>
        <p:spPr>
          <a:xfrm>
            <a:off x="395287" y="5516562"/>
            <a:ext cx="2219325" cy="461962"/>
          </a:xfrm>
          <a:prstGeom prst="rect">
            <a:avLst/>
          </a:prstGeom>
          <a:solidFill>
            <a:schemeClr val="lt1"/>
          </a:solidFill>
          <a:ln cap="flat" cmpd="sng" w="254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FF0000"/>
              </a:buClr>
              <a:buSzPts val="2400"/>
              <a:buFont typeface="Calibri"/>
              <a:buNone/>
            </a:pPr>
            <a:r>
              <a:rPr b="0" i="0" lang="ar-DZ" sz="2400" u="none">
                <a:solidFill>
                  <a:srgbClr val="FF0000"/>
                </a:solidFill>
                <a:latin typeface="Calibri"/>
                <a:ea typeface="Calibri"/>
                <a:cs typeface="Calibri"/>
                <a:sym typeface="Calibri"/>
              </a:rPr>
              <a:t>القطب السالب للقناة </a:t>
            </a:r>
            <a:endParaRPr/>
          </a:p>
        </p:txBody>
      </p:sp>
      <p:cxnSp>
        <p:nvCxnSpPr>
          <p:cNvPr id="222" name="Google Shape;222;p20"/>
          <p:cNvCxnSpPr/>
          <p:nvPr/>
        </p:nvCxnSpPr>
        <p:spPr>
          <a:xfrm flipH="1" rot="10800000">
            <a:off x="2555875" y="4221162"/>
            <a:ext cx="792162" cy="1295400"/>
          </a:xfrm>
          <a:prstGeom prst="straightConnector1">
            <a:avLst/>
          </a:prstGeom>
          <a:noFill/>
          <a:ln cap="flat" cmpd="sng" w="57150">
            <a:solidFill>
              <a:schemeClr val="dk1"/>
            </a:solidFill>
            <a:prstDash val="solid"/>
            <a:miter lim="800000"/>
            <a:headEnd len="med" w="med" type="none"/>
            <a:tailEnd len="med" w="med" type="stealth"/>
          </a:ln>
        </p:spPr>
      </p:cxnSp>
      <p:sp>
        <p:nvSpPr>
          <p:cNvPr id="223" name="Google Shape;223;p20"/>
          <p:cNvSpPr txBox="1"/>
          <p:nvPr/>
        </p:nvSpPr>
        <p:spPr>
          <a:xfrm>
            <a:off x="5435600" y="1989137"/>
            <a:ext cx="3600450" cy="830262"/>
          </a:xfrm>
          <a:prstGeom prst="rect">
            <a:avLst/>
          </a:prstGeom>
          <a:solidFill>
            <a:schemeClr val="lt1"/>
          </a:solid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0070C0"/>
              </a:buClr>
              <a:buSzPts val="2400"/>
              <a:buFont typeface="Times New Roman"/>
              <a:buNone/>
            </a:pPr>
            <a:r>
              <a:rPr b="1" i="0" lang="ar-DZ" sz="2400" u="none">
                <a:solidFill>
                  <a:srgbClr val="0070C0"/>
                </a:solidFill>
                <a:latin typeface="Times New Roman"/>
                <a:ea typeface="Times New Roman"/>
                <a:cs typeface="Times New Roman"/>
                <a:sym typeface="Times New Roman"/>
              </a:rPr>
              <a:t>الموضع  : AC </a:t>
            </a:r>
            <a:r>
              <a:rPr b="0" i="0" lang="ar-DZ" sz="2400" u="none">
                <a:solidFill>
                  <a:srgbClr val="FF0000"/>
                </a:solidFill>
                <a:latin typeface="Times New Roman"/>
                <a:ea typeface="Times New Roman"/>
                <a:cs typeface="Times New Roman"/>
                <a:sym typeface="Times New Roman"/>
              </a:rPr>
              <a:t>قناة تسمح بدخول الإشارة المتغيرة فقط.</a:t>
            </a:r>
            <a:endParaRPr/>
          </a:p>
        </p:txBody>
      </p:sp>
      <p:sp>
        <p:nvSpPr>
          <p:cNvPr id="224" name="Google Shape;224;p20"/>
          <p:cNvSpPr txBox="1"/>
          <p:nvPr/>
        </p:nvSpPr>
        <p:spPr>
          <a:xfrm>
            <a:off x="5435600" y="3141662"/>
            <a:ext cx="3563937" cy="1200150"/>
          </a:xfrm>
          <a:prstGeom prst="rect">
            <a:avLst/>
          </a:prstGeom>
          <a:solidFill>
            <a:schemeClr val="lt1"/>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0070C0"/>
              </a:buClr>
              <a:buSzPts val="2400"/>
              <a:buFont typeface="Times New Roman"/>
              <a:buNone/>
            </a:pPr>
            <a:r>
              <a:rPr b="1" i="0" lang="ar-DZ" sz="2400" u="none">
                <a:solidFill>
                  <a:srgbClr val="0070C0"/>
                </a:solidFill>
                <a:latin typeface="Times New Roman"/>
                <a:ea typeface="Times New Roman"/>
                <a:cs typeface="Times New Roman"/>
                <a:sym typeface="Times New Roman"/>
              </a:rPr>
              <a:t>الموضع : GND  </a:t>
            </a:r>
            <a:r>
              <a:rPr b="0" i="0" lang="ar-DZ" sz="2400" u="none">
                <a:solidFill>
                  <a:srgbClr val="FF0000"/>
                </a:solidFill>
                <a:latin typeface="Times New Roman"/>
                <a:ea typeface="Times New Roman"/>
                <a:cs typeface="Times New Roman"/>
                <a:sym typeface="Times New Roman"/>
              </a:rPr>
              <a:t>قناة موصولة بالأرضي .</a:t>
            </a:r>
            <a:r>
              <a:rPr b="0" i="0" lang="ar-DZ" sz="2400" u="none">
                <a:solidFill>
                  <a:srgbClr val="0070C0"/>
                </a:solidFill>
                <a:latin typeface="Times New Roman"/>
                <a:ea typeface="Times New Roman"/>
                <a:cs typeface="Times New Roman"/>
                <a:sym typeface="Times New Roman"/>
              </a:rPr>
              <a:t>G</a:t>
            </a:r>
            <a:r>
              <a:rPr b="0" i="0" lang="ar-DZ" sz="2400" u="none">
                <a:solidFill>
                  <a:srgbClr val="FF0000"/>
                </a:solidFill>
                <a:latin typeface="Times New Roman"/>
                <a:ea typeface="Times New Roman"/>
                <a:cs typeface="Times New Roman"/>
                <a:sym typeface="Times New Roman"/>
              </a:rPr>
              <a:t>rou</a:t>
            </a:r>
            <a:r>
              <a:rPr b="0" i="0" lang="ar-DZ" sz="2400" u="none">
                <a:solidFill>
                  <a:srgbClr val="0070C0"/>
                </a:solidFill>
                <a:latin typeface="Times New Roman"/>
                <a:ea typeface="Times New Roman"/>
                <a:cs typeface="Times New Roman"/>
                <a:sym typeface="Times New Roman"/>
              </a:rPr>
              <a:t>nd</a:t>
            </a:r>
            <a:r>
              <a:rPr b="0" i="0" lang="ar-DZ" sz="2400" u="none">
                <a:solidFill>
                  <a:srgbClr val="FF0000"/>
                </a:solidFill>
                <a:latin typeface="Times New Roman"/>
                <a:ea typeface="Times New Roman"/>
                <a:cs typeface="Times New Roman"/>
                <a:sym typeface="Times New Roman"/>
              </a:rPr>
              <a:t> يستعمل هذا الموضع لضبط أزرار قسم التشغيل. </a:t>
            </a:r>
            <a:endParaRPr/>
          </a:p>
        </p:txBody>
      </p:sp>
      <p:cxnSp>
        <p:nvCxnSpPr>
          <p:cNvPr id="225" name="Google Shape;225;p20"/>
          <p:cNvCxnSpPr/>
          <p:nvPr/>
        </p:nvCxnSpPr>
        <p:spPr>
          <a:xfrm flipH="1">
            <a:off x="4859337" y="2405062"/>
            <a:ext cx="576262" cy="736600"/>
          </a:xfrm>
          <a:prstGeom prst="straightConnector1">
            <a:avLst/>
          </a:prstGeom>
          <a:noFill/>
          <a:ln cap="flat" cmpd="sng" w="38100">
            <a:solidFill>
              <a:schemeClr val="dk1"/>
            </a:solidFill>
            <a:prstDash val="solid"/>
            <a:miter lim="800000"/>
            <a:headEnd len="med" w="med" type="none"/>
            <a:tailEnd len="med" w="med" type="stealth"/>
          </a:ln>
        </p:spPr>
      </p:cxnSp>
      <p:cxnSp>
        <p:nvCxnSpPr>
          <p:cNvPr id="226" name="Google Shape;226;p20"/>
          <p:cNvCxnSpPr/>
          <p:nvPr/>
        </p:nvCxnSpPr>
        <p:spPr>
          <a:xfrm flipH="1">
            <a:off x="5076825" y="3741737"/>
            <a:ext cx="358775" cy="47625"/>
          </a:xfrm>
          <a:prstGeom prst="straightConnector1">
            <a:avLst/>
          </a:prstGeom>
          <a:noFill/>
          <a:ln cap="flat" cmpd="sng" w="38100">
            <a:solidFill>
              <a:schemeClr val="dk1"/>
            </a:solidFill>
            <a:prstDash val="solid"/>
            <a:miter lim="800000"/>
            <a:headEnd len="med" w="med" type="none"/>
            <a:tailEnd len="med" w="med" type="stealth"/>
          </a:ln>
        </p:spPr>
      </p:cxnSp>
      <p:sp>
        <p:nvSpPr>
          <p:cNvPr id="227" name="Google Shape;227;p20"/>
          <p:cNvSpPr txBox="1"/>
          <p:nvPr/>
        </p:nvSpPr>
        <p:spPr>
          <a:xfrm>
            <a:off x="5435600" y="4686300"/>
            <a:ext cx="3600450" cy="830262"/>
          </a:xfrm>
          <a:prstGeom prst="rect">
            <a:avLst/>
          </a:prstGeom>
          <a:solidFill>
            <a:schemeClr val="lt1"/>
          </a:solid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0070C0"/>
              </a:buClr>
              <a:buSzPts val="2400"/>
              <a:buFont typeface="Times New Roman"/>
              <a:buNone/>
            </a:pPr>
            <a:r>
              <a:rPr b="1" i="0" lang="ar-DZ" sz="2400" u="none">
                <a:solidFill>
                  <a:srgbClr val="0070C0"/>
                </a:solidFill>
                <a:latin typeface="Times New Roman"/>
                <a:ea typeface="Times New Roman"/>
                <a:cs typeface="Times New Roman"/>
                <a:sym typeface="Times New Roman"/>
              </a:rPr>
              <a:t>الموضع  : DC </a:t>
            </a:r>
            <a:r>
              <a:rPr b="0" i="0" lang="ar-DZ" sz="2400" u="none">
                <a:solidFill>
                  <a:srgbClr val="FF0000"/>
                </a:solidFill>
                <a:latin typeface="Times New Roman"/>
                <a:ea typeface="Times New Roman"/>
                <a:cs typeface="Times New Roman"/>
                <a:sym typeface="Times New Roman"/>
              </a:rPr>
              <a:t>قناة تسمح بدخول الإشارة المتغيرة والمستمرة معا.</a:t>
            </a:r>
            <a:endParaRPr/>
          </a:p>
        </p:txBody>
      </p:sp>
      <p:cxnSp>
        <p:nvCxnSpPr>
          <p:cNvPr id="228" name="Google Shape;228;p20"/>
          <p:cNvCxnSpPr/>
          <p:nvPr/>
        </p:nvCxnSpPr>
        <p:spPr>
          <a:xfrm rot="10800000">
            <a:off x="4932362" y="4437062"/>
            <a:ext cx="503237" cy="504825"/>
          </a:xfrm>
          <a:prstGeom prst="straightConnector1">
            <a:avLst/>
          </a:prstGeom>
          <a:noFill/>
          <a:ln cap="flat" cmpd="sng" w="38100">
            <a:solidFill>
              <a:schemeClr val="dk1"/>
            </a:solidFill>
            <a:prstDash val="solid"/>
            <a:miter lim="800000"/>
            <a:headEnd len="med" w="med" type="none"/>
            <a:tailEnd len="med" w="med" type="stealth"/>
          </a:ln>
        </p:spPr>
      </p:cxn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500"/>
                                        <p:tgtEl>
                                          <p:spTgt spid="21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2000"/>
                                        <p:tgtEl>
                                          <p:spTgt spid="217"/>
                                        </p:tgtEl>
                                      </p:cBhvr>
                                    </p:animEffect>
                                  </p:childTnLst>
                                </p:cTn>
                              </p:par>
                              <p:par>
                                <p:cTn fill="hold" nodeType="with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20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par>
                                <p:cTn fill="hold" nodeType="with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par>
                                <p:cTn fill="hold" nodeType="with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2000"/>
                                        <p:tgtEl>
                                          <p:spTgt spid="215"/>
                                        </p:tgtEl>
                                      </p:cBhvr>
                                    </p:animEffect>
                                  </p:childTnLst>
                                </p:cTn>
                              </p:par>
                              <p:par>
                                <p:cTn fill="hold" nodeType="with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2000"/>
                                        <p:tgtEl>
                                          <p:spTgt spid="2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500"/>
                                        <p:tgtEl>
                                          <p:spTgt spid="223"/>
                                        </p:tgtEl>
                                      </p:cBhvr>
                                    </p:animEffect>
                                  </p:childTnLst>
                                </p:cTn>
                              </p:par>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par>
                                <p:cTn fill="hold" nodeType="with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500"/>
                                        <p:tgtEl>
                                          <p:spTgt spid="2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par>
                                <p:cTn fill="hold" nodeType="with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1"/>
          <p:cNvSpPr/>
          <p:nvPr/>
        </p:nvSpPr>
        <p:spPr>
          <a:xfrm>
            <a:off x="3510727" y="116632"/>
            <a:ext cx="5633273" cy="64633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4F0E2"/>
              </a:buClr>
              <a:buSzPts val="2400"/>
              <a:buFont typeface="Arial"/>
              <a:buNone/>
            </a:pPr>
            <a:r>
              <a:rPr b="1" i="0" lang="ar-DZ" sz="2400" u="none" cap="none" strike="noStrike">
                <a:solidFill>
                  <a:srgbClr val="F4F0E2"/>
                </a:solidFill>
                <a:latin typeface="Arial"/>
                <a:ea typeface="Arial"/>
                <a:cs typeface="Arial"/>
                <a:sym typeface="Arial"/>
              </a:rPr>
              <a:t> </a:t>
            </a:r>
            <a:r>
              <a:rPr b="1" i="0" lang="ar-DZ" sz="3600" u="none" cap="none" strike="noStrike">
                <a:solidFill>
                  <a:srgbClr val="FF0000"/>
                </a:solidFill>
                <a:latin typeface="Arial"/>
                <a:ea typeface="Arial"/>
                <a:cs typeface="Arial"/>
                <a:sym typeface="Arial"/>
              </a:rPr>
              <a:t>4. قسم التحكم العمودي في الإشارة</a:t>
            </a:r>
            <a:endParaRPr b="1" i="0" sz="3600" u="none" cap="none" strike="noStrike">
              <a:solidFill>
                <a:srgbClr val="FF0000"/>
              </a:solidFill>
              <a:latin typeface="Arial"/>
              <a:ea typeface="Arial"/>
              <a:cs typeface="Arial"/>
              <a:sym typeface="Arial"/>
            </a:endParaRPr>
          </a:p>
        </p:txBody>
      </p:sp>
      <p:pic>
        <p:nvPicPr>
          <p:cNvPr id="234" name="Google Shape;234;p21"/>
          <p:cNvPicPr preferRelativeResize="0"/>
          <p:nvPr/>
        </p:nvPicPr>
        <p:blipFill rotWithShape="1">
          <a:blip r:embed="rId3">
            <a:alphaModFix/>
          </a:blip>
          <a:srcRect b="0" l="0" r="0" t="0"/>
          <a:stretch/>
        </p:blipFill>
        <p:spPr>
          <a:xfrm>
            <a:off x="2987675" y="908050"/>
            <a:ext cx="2443162" cy="3960812"/>
          </a:xfrm>
          <a:prstGeom prst="rect">
            <a:avLst/>
          </a:prstGeom>
          <a:noFill/>
          <a:ln>
            <a:noFill/>
          </a:ln>
        </p:spPr>
      </p:pic>
      <p:sp>
        <p:nvSpPr>
          <p:cNvPr id="235" name="Google Shape;235;p21"/>
          <p:cNvSpPr/>
          <p:nvPr/>
        </p:nvSpPr>
        <p:spPr>
          <a:xfrm>
            <a:off x="6101166" y="1484784"/>
            <a:ext cx="2844048" cy="584775"/>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4F0E2"/>
              </a:buClr>
              <a:buSzPts val="3200"/>
              <a:buFont typeface="Arial"/>
              <a:buNone/>
            </a:pPr>
            <a:r>
              <a:rPr b="1" i="0" lang="ar-DZ" sz="3200" u="none" cap="none" strike="noStrike">
                <a:solidFill>
                  <a:srgbClr val="F4F0E2"/>
                </a:solidFill>
                <a:latin typeface="Arial"/>
                <a:ea typeface="Arial"/>
                <a:cs typeface="Arial"/>
                <a:sym typeface="Arial"/>
              </a:rPr>
              <a:t>زر التأطير الشاقولي</a:t>
            </a:r>
            <a:endParaRPr b="1" i="0" sz="3200" u="none" cap="none" strike="noStrike">
              <a:solidFill>
                <a:srgbClr val="F4F0E2"/>
              </a:solidFill>
              <a:latin typeface="Arial"/>
              <a:ea typeface="Arial"/>
              <a:cs typeface="Arial"/>
              <a:sym typeface="Arial"/>
            </a:endParaRPr>
          </a:p>
        </p:txBody>
      </p:sp>
      <p:cxnSp>
        <p:nvCxnSpPr>
          <p:cNvPr id="236" name="Google Shape;236;p21"/>
          <p:cNvCxnSpPr/>
          <p:nvPr/>
        </p:nvCxnSpPr>
        <p:spPr>
          <a:xfrm rot="10800000">
            <a:off x="5219700" y="1773237"/>
            <a:ext cx="881062" cy="3175"/>
          </a:xfrm>
          <a:prstGeom prst="straightConnector1">
            <a:avLst/>
          </a:prstGeom>
          <a:noFill/>
          <a:ln cap="flat" cmpd="sng" w="57150">
            <a:solidFill>
              <a:srgbClr val="FF0000"/>
            </a:solidFill>
            <a:prstDash val="solid"/>
            <a:miter lim="800000"/>
            <a:headEnd len="med" w="med" type="none"/>
            <a:tailEnd len="med" w="med" type="stealth"/>
          </a:ln>
        </p:spPr>
      </p:cxnSp>
      <p:sp>
        <p:nvSpPr>
          <p:cNvPr id="237" name="Google Shape;237;p21"/>
          <p:cNvSpPr/>
          <p:nvPr/>
        </p:nvSpPr>
        <p:spPr>
          <a:xfrm>
            <a:off x="1763688" y="5301208"/>
            <a:ext cx="5540299" cy="1323439"/>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4F0E2"/>
              </a:buClr>
              <a:buSzPts val="3600"/>
              <a:buFont typeface="Arial"/>
              <a:buNone/>
            </a:pPr>
            <a:r>
              <a:rPr b="1" i="0" lang="ar-DZ" sz="3600" u="none" cap="none" strike="noStrike">
                <a:solidFill>
                  <a:srgbClr val="F4F0E2"/>
                </a:solidFill>
                <a:latin typeface="Arial"/>
                <a:ea typeface="Arial"/>
                <a:cs typeface="Arial"/>
                <a:sym typeface="Arial"/>
              </a:rPr>
              <a:t> S</a:t>
            </a:r>
            <a:r>
              <a:rPr b="1" i="0" lang="ar-DZ" sz="4400" u="none" cap="none" strike="noStrike">
                <a:solidFill>
                  <a:srgbClr val="F4F0E2"/>
                </a:solidFill>
                <a:latin typeface="Arial"/>
                <a:ea typeface="Arial"/>
                <a:cs typeface="Arial"/>
                <a:sym typeface="Arial"/>
              </a:rPr>
              <a:t>v </a:t>
            </a:r>
            <a:r>
              <a:rPr b="1" i="0" lang="ar-DZ" sz="3600" u="none" cap="none" strike="noStrike">
                <a:solidFill>
                  <a:srgbClr val="F4F0E2"/>
                </a:solidFill>
                <a:latin typeface="Arial"/>
                <a:ea typeface="Arial"/>
                <a:cs typeface="Arial"/>
                <a:sym typeface="Arial"/>
              </a:rPr>
              <a:t>زر ضبط الحساسية الشاقولية </a:t>
            </a:r>
            <a:endParaRPr/>
          </a:p>
          <a:p>
            <a:pPr indent="0" lvl="0" marL="0" marR="0" rtl="0" algn="ctr">
              <a:lnSpc>
                <a:spcPct val="100000"/>
              </a:lnSpc>
              <a:spcBef>
                <a:spcPts val="0"/>
              </a:spcBef>
              <a:spcAft>
                <a:spcPts val="0"/>
              </a:spcAft>
              <a:buClr>
                <a:srgbClr val="F4F0E2"/>
              </a:buClr>
              <a:buSzPts val="3600"/>
              <a:buFont typeface="Arial"/>
              <a:buNone/>
            </a:pPr>
            <a:r>
              <a:rPr b="1" i="0" lang="ar-DZ" sz="3600" u="none" cap="none" strike="noStrike">
                <a:solidFill>
                  <a:srgbClr val="F4F0E2"/>
                </a:solidFill>
                <a:latin typeface="Arial"/>
                <a:ea typeface="Arial"/>
                <a:cs typeface="Arial"/>
                <a:sym typeface="Arial"/>
              </a:rPr>
              <a:t>(VOLTS/DIV)  </a:t>
            </a:r>
            <a:endParaRPr b="1" i="0" sz="3600" u="none" cap="none" strike="noStrike">
              <a:solidFill>
                <a:srgbClr val="F4F0E2"/>
              </a:solidFill>
              <a:latin typeface="Arial"/>
              <a:ea typeface="Arial"/>
              <a:cs typeface="Arial"/>
              <a:sym typeface="Arial"/>
            </a:endParaRPr>
          </a:p>
        </p:txBody>
      </p:sp>
      <p:cxnSp>
        <p:nvCxnSpPr>
          <p:cNvPr id="238" name="Google Shape;238;p21"/>
          <p:cNvCxnSpPr/>
          <p:nvPr/>
        </p:nvCxnSpPr>
        <p:spPr>
          <a:xfrm rot="10800000">
            <a:off x="4356100" y="4581525"/>
            <a:ext cx="0" cy="719137"/>
          </a:xfrm>
          <a:prstGeom prst="straightConnector1">
            <a:avLst/>
          </a:prstGeom>
          <a:noFill/>
          <a:ln cap="flat" cmpd="sng" w="57150">
            <a:solidFill>
              <a:srgbClr val="FF0000"/>
            </a:solidFill>
            <a:prstDash val="solid"/>
            <a:miter lim="800000"/>
            <a:headEnd len="med" w="med" type="none"/>
            <a:tailEnd len="med" w="med" type="stealth"/>
          </a:ln>
        </p:spPr>
      </p:cxnSp>
      <p:sp>
        <p:nvSpPr>
          <p:cNvPr id="239" name="Google Shape;239;p21"/>
          <p:cNvSpPr/>
          <p:nvPr/>
        </p:nvSpPr>
        <p:spPr>
          <a:xfrm>
            <a:off x="107504" y="1484784"/>
            <a:ext cx="2376264" cy="1569660"/>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4F0E2"/>
              </a:buClr>
              <a:buSzPts val="3200"/>
              <a:buFont typeface="Arial"/>
              <a:buNone/>
            </a:pPr>
            <a:r>
              <a:rPr b="1" i="0" lang="ar-DZ" sz="3200" u="none" cap="none" strike="noStrike">
                <a:solidFill>
                  <a:srgbClr val="F4F0E2"/>
                </a:solidFill>
                <a:latin typeface="Arial"/>
                <a:ea typeface="Arial"/>
                <a:cs typeface="Arial"/>
                <a:sym typeface="Arial"/>
              </a:rPr>
              <a:t>زر ضبط توتر الإشارة على </a:t>
            </a:r>
            <a:r>
              <a:rPr b="1" i="0" lang="ar-DZ" sz="3200" u="none" cap="none" strike="noStrike">
                <a:solidFill>
                  <a:srgbClr val="0070C0"/>
                </a:solidFill>
                <a:latin typeface="Arial"/>
                <a:ea typeface="Arial"/>
                <a:cs typeface="Arial"/>
                <a:sym typeface="Arial"/>
              </a:rPr>
              <a:t>Y</a:t>
            </a:r>
            <a:r>
              <a:rPr b="1" i="0" lang="ar-DZ" sz="2000" u="none" cap="none" strike="noStrike">
                <a:solidFill>
                  <a:srgbClr val="0070C0"/>
                </a:solidFill>
                <a:latin typeface="Arial"/>
                <a:ea typeface="Arial"/>
                <a:cs typeface="Arial"/>
                <a:sym typeface="Arial"/>
              </a:rPr>
              <a:t>INPUT</a:t>
            </a:r>
            <a:r>
              <a:rPr b="1" i="0" lang="ar-DZ" sz="3200" u="none" cap="none" strike="noStrike">
                <a:solidFill>
                  <a:srgbClr val="F4F0E2"/>
                </a:solidFill>
                <a:latin typeface="Arial"/>
                <a:ea typeface="Arial"/>
                <a:cs typeface="Arial"/>
                <a:sym typeface="Arial"/>
              </a:rPr>
              <a:t>المدخل </a:t>
            </a:r>
            <a:endParaRPr b="1" i="0" sz="3200" u="none" cap="none" strike="noStrike">
              <a:solidFill>
                <a:srgbClr val="F4F0E2"/>
              </a:solidFill>
              <a:latin typeface="Arial"/>
              <a:ea typeface="Arial"/>
              <a:cs typeface="Arial"/>
              <a:sym typeface="Arial"/>
            </a:endParaRPr>
          </a:p>
        </p:txBody>
      </p:sp>
      <p:cxnSp>
        <p:nvCxnSpPr>
          <p:cNvPr id="240" name="Google Shape;240;p21"/>
          <p:cNvCxnSpPr/>
          <p:nvPr/>
        </p:nvCxnSpPr>
        <p:spPr>
          <a:xfrm>
            <a:off x="2484437" y="1844675"/>
            <a:ext cx="800100" cy="7937"/>
          </a:xfrm>
          <a:prstGeom prst="straightConnector1">
            <a:avLst/>
          </a:prstGeom>
          <a:noFill/>
          <a:ln cap="flat" cmpd="sng" w="57150">
            <a:solidFill>
              <a:srgbClr val="FF0000"/>
            </a:solidFill>
            <a:prstDash val="solid"/>
            <a:miter lim="800000"/>
            <a:headEnd len="med" w="med" type="none"/>
            <a:tailEnd len="med" w="med" type="stealth"/>
          </a:ln>
        </p:spPr>
      </p:cxn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20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20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20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2"/>
          <p:cNvSpPr/>
          <p:nvPr/>
        </p:nvSpPr>
        <p:spPr>
          <a:xfrm>
            <a:off x="1331640" y="188640"/>
            <a:ext cx="7592143" cy="64633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600"/>
              <a:buFont typeface="Arial"/>
              <a:buNone/>
            </a:pPr>
            <a:r>
              <a:rPr b="1" i="0" lang="ar-DZ" sz="3600" u="none" cap="none" strike="noStrike">
                <a:solidFill>
                  <a:srgbClr val="FF0000"/>
                </a:solidFill>
                <a:latin typeface="Arial"/>
                <a:ea typeface="Arial"/>
                <a:cs typeface="Arial"/>
                <a:sym typeface="Arial"/>
              </a:rPr>
              <a:t>5. قسم التحكم الأفقي  في الإشارة والمسح الزمني</a:t>
            </a:r>
            <a:endParaRPr b="1" i="0" sz="3600" u="none" cap="none" strike="noStrike">
              <a:solidFill>
                <a:srgbClr val="FF0000"/>
              </a:solidFill>
              <a:latin typeface="Arial"/>
              <a:ea typeface="Arial"/>
              <a:cs typeface="Arial"/>
              <a:sym typeface="Arial"/>
            </a:endParaRPr>
          </a:p>
        </p:txBody>
      </p:sp>
      <p:pic>
        <p:nvPicPr>
          <p:cNvPr id="246" name="Google Shape;246;p22"/>
          <p:cNvPicPr preferRelativeResize="0"/>
          <p:nvPr/>
        </p:nvPicPr>
        <p:blipFill rotWithShape="1">
          <a:blip r:embed="rId3">
            <a:alphaModFix/>
          </a:blip>
          <a:srcRect b="0" l="0" r="0" t="0"/>
          <a:stretch/>
        </p:blipFill>
        <p:spPr>
          <a:xfrm>
            <a:off x="3132137" y="2276475"/>
            <a:ext cx="3281362" cy="2640012"/>
          </a:xfrm>
          <a:prstGeom prst="rect">
            <a:avLst/>
          </a:prstGeom>
          <a:noFill/>
          <a:ln>
            <a:noFill/>
          </a:ln>
        </p:spPr>
      </p:pic>
      <p:sp>
        <p:nvSpPr>
          <p:cNvPr id="247" name="Google Shape;247;p22"/>
          <p:cNvSpPr/>
          <p:nvPr/>
        </p:nvSpPr>
        <p:spPr>
          <a:xfrm>
            <a:off x="3376376" y="1124744"/>
            <a:ext cx="2452916" cy="584775"/>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1" algn="l">
              <a:lnSpc>
                <a:spcPct val="100000"/>
              </a:lnSpc>
              <a:spcBef>
                <a:spcPts val="0"/>
              </a:spcBef>
              <a:spcAft>
                <a:spcPts val="0"/>
              </a:spcAft>
              <a:buClr>
                <a:srgbClr val="F4F0E2"/>
              </a:buClr>
              <a:buSzPts val="3200"/>
              <a:buFont typeface="Arial"/>
              <a:buNone/>
            </a:pPr>
            <a:r>
              <a:rPr b="1" i="0" lang="ar-DZ" sz="3200" u="none" cap="none" strike="noStrike">
                <a:solidFill>
                  <a:srgbClr val="F4F0E2"/>
                </a:solidFill>
                <a:latin typeface="Arial"/>
                <a:ea typeface="Arial"/>
                <a:cs typeface="Arial"/>
                <a:sym typeface="Arial"/>
              </a:rPr>
              <a:t>زر التأطير الأفقي</a:t>
            </a:r>
            <a:endParaRPr b="1" i="0" sz="3200" u="none" cap="none" strike="noStrike">
              <a:solidFill>
                <a:srgbClr val="F4F0E2"/>
              </a:solidFill>
              <a:latin typeface="Arial"/>
              <a:ea typeface="Arial"/>
              <a:cs typeface="Arial"/>
              <a:sym typeface="Arial"/>
            </a:endParaRPr>
          </a:p>
        </p:txBody>
      </p:sp>
      <p:cxnSp>
        <p:nvCxnSpPr>
          <p:cNvPr id="248" name="Google Shape;248;p22"/>
          <p:cNvCxnSpPr/>
          <p:nvPr/>
        </p:nvCxnSpPr>
        <p:spPr>
          <a:xfrm flipH="1">
            <a:off x="4643437" y="1704975"/>
            <a:ext cx="17462" cy="644525"/>
          </a:xfrm>
          <a:prstGeom prst="straightConnector1">
            <a:avLst/>
          </a:prstGeom>
          <a:noFill/>
          <a:ln cap="flat" cmpd="sng" w="57150">
            <a:solidFill>
              <a:srgbClr val="FF0000"/>
            </a:solidFill>
            <a:prstDash val="solid"/>
            <a:miter lim="800000"/>
            <a:headEnd len="med" w="med" type="none"/>
            <a:tailEnd len="med" w="med" type="stealth"/>
          </a:ln>
        </p:spPr>
      </p:cxnSp>
      <p:sp>
        <p:nvSpPr>
          <p:cNvPr id="249" name="Google Shape;249;p22"/>
          <p:cNvSpPr/>
          <p:nvPr/>
        </p:nvSpPr>
        <p:spPr>
          <a:xfrm>
            <a:off x="2049025" y="5301208"/>
            <a:ext cx="4969629" cy="1323439"/>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4F0E2"/>
              </a:buClr>
              <a:buSzPts val="3600"/>
              <a:buFont typeface="Arial"/>
              <a:buNone/>
            </a:pPr>
            <a:r>
              <a:rPr b="1" i="0" lang="ar-DZ" sz="3600" u="none" cap="none" strike="noStrike">
                <a:solidFill>
                  <a:srgbClr val="F4F0E2"/>
                </a:solidFill>
                <a:latin typeface="Arial"/>
                <a:ea typeface="Arial"/>
                <a:cs typeface="Arial"/>
                <a:sym typeface="Arial"/>
              </a:rPr>
              <a:t> S</a:t>
            </a:r>
            <a:r>
              <a:rPr b="1" i="0" lang="ar-DZ" sz="2000" u="none" cap="none" strike="noStrike">
                <a:solidFill>
                  <a:srgbClr val="F4F0E2"/>
                </a:solidFill>
                <a:latin typeface="Arial"/>
                <a:ea typeface="Arial"/>
                <a:cs typeface="Arial"/>
                <a:sym typeface="Arial"/>
              </a:rPr>
              <a:t>H</a:t>
            </a:r>
            <a:r>
              <a:rPr b="1" i="0" lang="ar-DZ" sz="4400" u="none" cap="none" strike="noStrike">
                <a:solidFill>
                  <a:srgbClr val="F4F0E2"/>
                </a:solidFill>
                <a:latin typeface="Arial"/>
                <a:ea typeface="Arial"/>
                <a:cs typeface="Arial"/>
                <a:sym typeface="Arial"/>
              </a:rPr>
              <a:t> </a:t>
            </a:r>
            <a:r>
              <a:rPr b="1" i="0" lang="ar-DZ" sz="3600" u="none" cap="none" strike="noStrike">
                <a:solidFill>
                  <a:srgbClr val="F4F0E2"/>
                </a:solidFill>
                <a:latin typeface="Arial"/>
                <a:ea typeface="Arial"/>
                <a:cs typeface="Arial"/>
                <a:sym typeface="Arial"/>
              </a:rPr>
              <a:t>زر ضبط الحساسية الأفقية </a:t>
            </a:r>
            <a:endParaRPr/>
          </a:p>
          <a:p>
            <a:pPr indent="0" lvl="0" marL="0" marR="0" rtl="0" algn="ctr">
              <a:lnSpc>
                <a:spcPct val="100000"/>
              </a:lnSpc>
              <a:spcBef>
                <a:spcPts val="0"/>
              </a:spcBef>
              <a:spcAft>
                <a:spcPts val="0"/>
              </a:spcAft>
              <a:buClr>
                <a:srgbClr val="F4F0E2"/>
              </a:buClr>
              <a:buSzPts val="3600"/>
              <a:buFont typeface="Arial"/>
              <a:buNone/>
            </a:pPr>
            <a:r>
              <a:rPr b="1" i="0" lang="ar-DZ" sz="3600" u="none" cap="none" strike="noStrike">
                <a:solidFill>
                  <a:srgbClr val="F4F0E2"/>
                </a:solidFill>
                <a:latin typeface="Arial"/>
                <a:ea typeface="Arial"/>
                <a:cs typeface="Arial"/>
                <a:sym typeface="Arial"/>
              </a:rPr>
              <a:t>(TIME/DIV)  </a:t>
            </a:r>
            <a:endParaRPr b="1" i="0" sz="3600" u="none" cap="none" strike="noStrike">
              <a:solidFill>
                <a:srgbClr val="F4F0E2"/>
              </a:solidFill>
              <a:latin typeface="Arial"/>
              <a:ea typeface="Arial"/>
              <a:cs typeface="Arial"/>
              <a:sym typeface="Arial"/>
            </a:endParaRPr>
          </a:p>
        </p:txBody>
      </p:sp>
      <p:cxnSp>
        <p:nvCxnSpPr>
          <p:cNvPr id="250" name="Google Shape;250;p22"/>
          <p:cNvCxnSpPr/>
          <p:nvPr/>
        </p:nvCxnSpPr>
        <p:spPr>
          <a:xfrm rot="10800000">
            <a:off x="4643437" y="4724400"/>
            <a:ext cx="0" cy="576262"/>
          </a:xfrm>
          <a:prstGeom prst="straightConnector1">
            <a:avLst/>
          </a:prstGeom>
          <a:noFill/>
          <a:ln cap="flat" cmpd="sng" w="57150">
            <a:solidFill>
              <a:srgbClr val="FF0000"/>
            </a:solidFill>
            <a:prstDash val="solid"/>
            <a:miter lim="800000"/>
            <a:headEnd len="med" w="med" type="none"/>
            <a:tailEnd len="med" w="med" type="stealth"/>
          </a:ln>
        </p:spPr>
      </p:cxnSp>
      <p:sp>
        <p:nvSpPr>
          <p:cNvPr id="251" name="Google Shape;251;p22"/>
          <p:cNvSpPr/>
          <p:nvPr/>
        </p:nvSpPr>
        <p:spPr>
          <a:xfrm>
            <a:off x="179512" y="2492896"/>
            <a:ext cx="2376264" cy="2062103"/>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4F0E2"/>
              </a:buClr>
              <a:buSzPts val="3200"/>
              <a:buFont typeface="Arial"/>
              <a:buNone/>
            </a:pPr>
            <a:r>
              <a:rPr b="1" i="0" lang="ar-DZ" sz="3200" u="none" cap="none" strike="noStrike">
                <a:solidFill>
                  <a:srgbClr val="F4F0E2"/>
                </a:solidFill>
                <a:latin typeface="Arial"/>
                <a:ea typeface="Arial"/>
                <a:cs typeface="Arial"/>
                <a:sym typeface="Arial"/>
              </a:rPr>
              <a:t>زر ضبط تزامن الإشارة مع </a:t>
            </a:r>
            <a:endParaRPr/>
          </a:p>
          <a:p>
            <a:pPr indent="0" lvl="0" marL="0" marR="0" rtl="0" algn="r">
              <a:lnSpc>
                <a:spcPct val="100000"/>
              </a:lnSpc>
              <a:spcBef>
                <a:spcPts val="0"/>
              </a:spcBef>
              <a:spcAft>
                <a:spcPts val="0"/>
              </a:spcAft>
              <a:buClr>
                <a:srgbClr val="F4F0E2"/>
              </a:buClr>
              <a:buSzPts val="3200"/>
              <a:buFont typeface="Arial"/>
              <a:buNone/>
            </a:pPr>
            <a:r>
              <a:rPr b="1" i="0" lang="ar-DZ" sz="3200" u="none" cap="none" strike="noStrike">
                <a:solidFill>
                  <a:srgbClr val="F4F0E2"/>
                </a:solidFill>
                <a:latin typeface="Arial"/>
                <a:ea typeface="Arial"/>
                <a:cs typeface="Arial"/>
                <a:sym typeface="Arial"/>
              </a:rPr>
              <a:t>المسح الزمني TIME VAR.</a:t>
            </a:r>
            <a:endParaRPr b="1" i="0" sz="3200" u="none" cap="none" strike="noStrike">
              <a:solidFill>
                <a:srgbClr val="F4F0E2"/>
              </a:solidFill>
              <a:latin typeface="Arial"/>
              <a:ea typeface="Arial"/>
              <a:cs typeface="Arial"/>
              <a:sym typeface="Arial"/>
            </a:endParaRPr>
          </a:p>
        </p:txBody>
      </p:sp>
      <p:cxnSp>
        <p:nvCxnSpPr>
          <p:cNvPr id="252" name="Google Shape;252;p22"/>
          <p:cNvCxnSpPr/>
          <p:nvPr/>
        </p:nvCxnSpPr>
        <p:spPr>
          <a:xfrm>
            <a:off x="2555875" y="2852737"/>
            <a:ext cx="800100" cy="7937"/>
          </a:xfrm>
          <a:prstGeom prst="straightConnector1">
            <a:avLst/>
          </a:prstGeom>
          <a:noFill/>
          <a:ln cap="flat" cmpd="sng" w="57150">
            <a:solidFill>
              <a:srgbClr val="FF0000"/>
            </a:solidFill>
            <a:prstDash val="solid"/>
            <a:miter lim="800000"/>
            <a:headEnd len="med" w="med" type="none"/>
            <a:tailEnd len="med" w="med" type="stealth"/>
          </a:ln>
        </p:spPr>
      </p:cxnSp>
      <p:sp>
        <p:nvSpPr>
          <p:cNvPr id="253" name="Google Shape;253;p22"/>
          <p:cNvSpPr/>
          <p:nvPr/>
        </p:nvSpPr>
        <p:spPr>
          <a:xfrm>
            <a:off x="6660232" y="2060848"/>
            <a:ext cx="2376264" cy="3046988"/>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1" algn="ctr">
              <a:lnSpc>
                <a:spcPct val="100000"/>
              </a:lnSpc>
              <a:spcBef>
                <a:spcPts val="0"/>
              </a:spcBef>
              <a:spcAft>
                <a:spcPts val="0"/>
              </a:spcAft>
              <a:buClr>
                <a:srgbClr val="F4F0E2"/>
              </a:buClr>
              <a:buSzPts val="3200"/>
              <a:buFont typeface="Arial"/>
              <a:buNone/>
            </a:pPr>
            <a:r>
              <a:rPr b="1" i="0" lang="ar-DZ" sz="3200" u="none" cap="none" strike="noStrike">
                <a:solidFill>
                  <a:srgbClr val="F4F0E2"/>
                </a:solidFill>
                <a:latin typeface="Arial"/>
                <a:ea typeface="Arial"/>
                <a:cs typeface="Arial"/>
                <a:sym typeface="Arial"/>
              </a:rPr>
              <a:t>زر ضبط  مستوى بداية تزامن الإشارة مع  </a:t>
            </a:r>
            <a:endParaRPr/>
          </a:p>
          <a:p>
            <a:pPr indent="0" lvl="0" marL="0" marR="0" rtl="1" algn="ctr">
              <a:lnSpc>
                <a:spcPct val="100000"/>
              </a:lnSpc>
              <a:spcBef>
                <a:spcPts val="0"/>
              </a:spcBef>
              <a:spcAft>
                <a:spcPts val="0"/>
              </a:spcAft>
              <a:buClr>
                <a:srgbClr val="F4F0E2"/>
              </a:buClr>
              <a:buSzPts val="3200"/>
              <a:buFont typeface="Arial"/>
              <a:buNone/>
            </a:pPr>
            <a:r>
              <a:rPr b="1" i="0" lang="ar-DZ" sz="3200" u="none" cap="none" strike="noStrike">
                <a:solidFill>
                  <a:srgbClr val="F4F0E2"/>
                </a:solidFill>
                <a:latin typeface="Arial"/>
                <a:ea typeface="Arial"/>
                <a:cs typeface="Arial"/>
                <a:sym typeface="Arial"/>
              </a:rPr>
              <a:t>المسح الزمني</a:t>
            </a:r>
            <a:endParaRPr b="1" i="0" sz="3200" u="none" cap="none" strike="noStrike">
              <a:solidFill>
                <a:srgbClr val="F4F0E2"/>
              </a:solidFill>
              <a:latin typeface="Arial"/>
              <a:ea typeface="Arial"/>
              <a:cs typeface="Arial"/>
              <a:sym typeface="Arial"/>
            </a:endParaRPr>
          </a:p>
          <a:p>
            <a:pPr indent="0" lvl="0" marL="0" marR="0" rtl="1" algn="r">
              <a:lnSpc>
                <a:spcPct val="100000"/>
              </a:lnSpc>
              <a:spcBef>
                <a:spcPts val="0"/>
              </a:spcBef>
              <a:spcAft>
                <a:spcPts val="0"/>
              </a:spcAft>
              <a:buClr>
                <a:srgbClr val="F4F0E2"/>
              </a:buClr>
              <a:buSzPts val="3200"/>
              <a:buFont typeface="Arial"/>
              <a:buNone/>
            </a:pPr>
            <a:r>
              <a:rPr b="1" i="0" lang="ar-DZ" sz="3200" u="none" cap="none" strike="noStrike">
                <a:solidFill>
                  <a:srgbClr val="F4F0E2"/>
                </a:solidFill>
                <a:latin typeface="Arial"/>
                <a:ea typeface="Arial"/>
                <a:cs typeface="Arial"/>
                <a:sym typeface="Arial"/>
              </a:rPr>
              <a:t>LEVEL     </a:t>
            </a:r>
            <a:endParaRPr b="1" i="0" sz="3200" u="none" cap="none" strike="noStrike">
              <a:solidFill>
                <a:srgbClr val="F4F0E2"/>
              </a:solidFill>
              <a:latin typeface="Arial"/>
              <a:ea typeface="Arial"/>
              <a:cs typeface="Arial"/>
              <a:sym typeface="Arial"/>
            </a:endParaRPr>
          </a:p>
        </p:txBody>
      </p:sp>
      <p:cxnSp>
        <p:nvCxnSpPr>
          <p:cNvPr id="254" name="Google Shape;254;p22"/>
          <p:cNvCxnSpPr/>
          <p:nvPr/>
        </p:nvCxnSpPr>
        <p:spPr>
          <a:xfrm rot="10800000">
            <a:off x="6156325" y="2852737"/>
            <a:ext cx="503237" cy="0"/>
          </a:xfrm>
          <a:prstGeom prst="straightConnector1">
            <a:avLst/>
          </a:prstGeom>
          <a:noFill/>
          <a:ln cap="flat" cmpd="sng" w="57150">
            <a:solidFill>
              <a:srgbClr val="FF0000"/>
            </a:solidFill>
            <a:prstDash val="solid"/>
            <a:miter lim="800000"/>
            <a:headEnd len="med" w="med" type="none"/>
            <a:tailEnd len="med" w="med" type="stealth"/>
          </a:ln>
        </p:spPr>
      </p:cxn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2000"/>
                                        <p:tgtEl>
                                          <p:spTgt spid="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2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20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2000"/>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3"/>
          <p:cNvSpPr/>
          <p:nvPr/>
        </p:nvSpPr>
        <p:spPr>
          <a:xfrm>
            <a:off x="107504" y="116632"/>
            <a:ext cx="8856984" cy="120032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600"/>
              <a:buFont typeface="Arial"/>
              <a:buNone/>
            </a:pPr>
            <a:r>
              <a:rPr b="1" i="0" lang="ar-DZ" sz="3600" u="none" cap="none" strike="noStrike">
                <a:solidFill>
                  <a:srgbClr val="FF0000"/>
                </a:solidFill>
                <a:latin typeface="Arial"/>
                <a:ea typeface="Arial"/>
                <a:cs typeface="Arial"/>
                <a:sym typeface="Arial"/>
              </a:rPr>
              <a:t>6. قسم التحكم في مزامنة المسح الأفقي مع  الإشارة المراد عرضها</a:t>
            </a:r>
            <a:endParaRPr b="1" i="0" sz="3600" u="none" cap="none" strike="noStrike">
              <a:solidFill>
                <a:srgbClr val="FF0000"/>
              </a:solidFill>
              <a:latin typeface="Arial"/>
              <a:ea typeface="Arial"/>
              <a:cs typeface="Arial"/>
              <a:sym typeface="Arial"/>
            </a:endParaRPr>
          </a:p>
        </p:txBody>
      </p:sp>
      <p:pic>
        <p:nvPicPr>
          <p:cNvPr id="260" name="Google Shape;260;p23"/>
          <p:cNvPicPr preferRelativeResize="0"/>
          <p:nvPr/>
        </p:nvPicPr>
        <p:blipFill rotWithShape="1">
          <a:blip r:embed="rId3">
            <a:alphaModFix/>
          </a:blip>
          <a:srcRect b="0" l="0" r="0" t="0"/>
          <a:stretch/>
        </p:blipFill>
        <p:spPr>
          <a:xfrm>
            <a:off x="3492500" y="1341437"/>
            <a:ext cx="3238500" cy="2592387"/>
          </a:xfrm>
          <a:prstGeom prst="rect">
            <a:avLst/>
          </a:prstGeom>
          <a:noFill/>
          <a:ln>
            <a:noFill/>
          </a:ln>
        </p:spPr>
      </p:pic>
      <p:sp>
        <p:nvSpPr>
          <p:cNvPr id="261" name="Google Shape;261;p23"/>
          <p:cNvSpPr txBox="1"/>
          <p:nvPr/>
        </p:nvSpPr>
        <p:spPr>
          <a:xfrm>
            <a:off x="6948264" y="1412776"/>
            <a:ext cx="2016224" cy="2308324"/>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1" algn="just">
              <a:lnSpc>
                <a:spcPct val="100000"/>
              </a:lnSpc>
              <a:spcBef>
                <a:spcPts val="0"/>
              </a:spcBef>
              <a:spcAft>
                <a:spcPts val="0"/>
              </a:spcAft>
              <a:buClr>
                <a:srgbClr val="F4F0E2"/>
              </a:buClr>
              <a:buSzPts val="2400"/>
              <a:buFont typeface="Calibri"/>
              <a:buNone/>
            </a:pPr>
            <a:r>
              <a:rPr b="1" i="0" lang="ar-DZ" sz="2400" u="none" cap="none" strike="noStrike">
                <a:solidFill>
                  <a:srgbClr val="F4F0E2"/>
                </a:solidFill>
                <a:latin typeface="Calibri"/>
                <a:ea typeface="Calibri"/>
                <a:cs typeface="Calibri"/>
                <a:sym typeface="Calibri"/>
              </a:rPr>
              <a:t>مدخل    </a:t>
            </a:r>
            <a:r>
              <a:rPr b="1" i="0" lang="ar-DZ" sz="2400" u="none" cap="none" strike="noStrike">
                <a:solidFill>
                  <a:srgbClr val="FF0000"/>
                </a:solidFill>
                <a:latin typeface="Calibri"/>
                <a:ea typeface="Calibri"/>
                <a:cs typeface="Calibri"/>
                <a:sym typeface="Calibri"/>
              </a:rPr>
              <a:t>X</a:t>
            </a:r>
            <a:r>
              <a:rPr b="1" i="0" lang="ar-DZ" sz="1800" u="none" cap="none" strike="noStrike">
                <a:solidFill>
                  <a:srgbClr val="FF0000"/>
                </a:solidFill>
                <a:latin typeface="Calibri"/>
                <a:ea typeface="Calibri"/>
                <a:cs typeface="Calibri"/>
                <a:sym typeface="Calibri"/>
              </a:rPr>
              <a:t>INPUT</a:t>
            </a:r>
            <a:r>
              <a:rPr b="1" i="0" lang="ar-DZ" sz="1400" u="none" cap="none" strike="noStrike">
                <a:solidFill>
                  <a:srgbClr val="F4F0E2"/>
                </a:solidFill>
                <a:latin typeface="Calibri"/>
                <a:ea typeface="Calibri"/>
                <a:cs typeface="Calibri"/>
                <a:sym typeface="Calibri"/>
              </a:rPr>
              <a:t> </a:t>
            </a:r>
            <a:r>
              <a:rPr b="1" i="0" lang="ar-DZ" sz="2400" u="none" cap="none" strike="noStrike">
                <a:solidFill>
                  <a:srgbClr val="F4F0E2"/>
                </a:solidFill>
                <a:latin typeface="Calibri"/>
                <a:ea typeface="Calibri"/>
                <a:cs typeface="Calibri"/>
                <a:sym typeface="Calibri"/>
              </a:rPr>
              <a:t> للإشارة الخارجية التي تستخدم في التزامن بدلا من الإشارة الداخلية للجهاز.</a:t>
            </a:r>
            <a:endParaRPr b="1" i="0" sz="2400" u="none" cap="none" strike="noStrike">
              <a:solidFill>
                <a:srgbClr val="F4F0E2"/>
              </a:solidFill>
              <a:latin typeface="Calibri"/>
              <a:ea typeface="Calibri"/>
              <a:cs typeface="Calibri"/>
              <a:sym typeface="Calibri"/>
            </a:endParaRPr>
          </a:p>
        </p:txBody>
      </p:sp>
      <p:cxnSp>
        <p:nvCxnSpPr>
          <p:cNvPr id="262" name="Google Shape;262;p23"/>
          <p:cNvCxnSpPr/>
          <p:nvPr/>
        </p:nvCxnSpPr>
        <p:spPr>
          <a:xfrm flipH="1">
            <a:off x="6300787" y="2276475"/>
            <a:ext cx="647700" cy="504825"/>
          </a:xfrm>
          <a:prstGeom prst="straightConnector1">
            <a:avLst/>
          </a:prstGeom>
          <a:noFill/>
          <a:ln cap="flat" cmpd="sng" w="57150">
            <a:solidFill>
              <a:srgbClr val="FF0000"/>
            </a:solidFill>
            <a:prstDash val="solid"/>
            <a:miter lim="800000"/>
            <a:headEnd len="med" w="med" type="none"/>
            <a:tailEnd len="med" w="med" type="stealth"/>
          </a:ln>
        </p:spPr>
      </p:cxnSp>
      <p:sp>
        <p:nvSpPr>
          <p:cNvPr id="263" name="Google Shape;263;p23"/>
          <p:cNvSpPr txBox="1"/>
          <p:nvPr/>
        </p:nvSpPr>
        <p:spPr>
          <a:xfrm>
            <a:off x="4427984" y="4063712"/>
            <a:ext cx="4716016" cy="2677656"/>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1" algn="just">
              <a:lnSpc>
                <a:spcPct val="100000"/>
              </a:lnSpc>
              <a:spcBef>
                <a:spcPts val="0"/>
              </a:spcBef>
              <a:spcAft>
                <a:spcPts val="0"/>
              </a:spcAft>
              <a:buClr>
                <a:srgbClr val="F4F0E2"/>
              </a:buClr>
              <a:buSzPts val="2400"/>
              <a:buFont typeface="Calibri"/>
              <a:buNone/>
            </a:pPr>
            <a:r>
              <a:rPr b="1" i="0" lang="ar-DZ" sz="2400" u="none" cap="none" strike="noStrike">
                <a:solidFill>
                  <a:srgbClr val="F4F0E2"/>
                </a:solidFill>
                <a:latin typeface="Calibri"/>
                <a:ea typeface="Calibri"/>
                <a:cs typeface="Calibri"/>
                <a:sym typeface="Calibri"/>
              </a:rPr>
              <a:t>مبدل يسمح باختيار منبع الإشارة التي تستخدم في التزامن  (SOURCE) :</a:t>
            </a:r>
            <a:endParaRPr b="1" i="0" sz="2400" u="none" cap="none" strike="noStrike">
              <a:solidFill>
                <a:srgbClr val="F4F0E2"/>
              </a:solidFill>
              <a:latin typeface="Calibri"/>
              <a:ea typeface="Calibri"/>
              <a:cs typeface="Calibri"/>
              <a:sym typeface="Calibri"/>
            </a:endParaRPr>
          </a:p>
          <a:p>
            <a:pPr indent="0" lvl="0" marL="0" marR="0" rtl="1" algn="just">
              <a:lnSpc>
                <a:spcPct val="100000"/>
              </a:lnSpc>
              <a:spcBef>
                <a:spcPts val="0"/>
              </a:spcBef>
              <a:spcAft>
                <a:spcPts val="0"/>
              </a:spcAft>
              <a:buClr>
                <a:srgbClr val="F4F0E2"/>
              </a:buClr>
              <a:buSzPts val="2400"/>
              <a:buFont typeface="Calibri"/>
              <a:buNone/>
            </a:pPr>
            <a:r>
              <a:rPr b="1" i="0" lang="ar-DZ" sz="2400" u="none" cap="none" strike="noStrike">
                <a:solidFill>
                  <a:srgbClr val="F4F0E2"/>
                </a:solidFill>
                <a:latin typeface="Calibri"/>
                <a:ea typeface="Calibri"/>
                <a:cs typeface="Calibri"/>
                <a:sym typeface="Calibri"/>
              </a:rPr>
              <a:t>Y : الإشارة الداخلية للجهاز.</a:t>
            </a:r>
            <a:endParaRPr/>
          </a:p>
          <a:p>
            <a:pPr indent="0" lvl="0" marL="0" marR="0" rtl="1" algn="just">
              <a:lnSpc>
                <a:spcPct val="100000"/>
              </a:lnSpc>
              <a:spcBef>
                <a:spcPts val="0"/>
              </a:spcBef>
              <a:spcAft>
                <a:spcPts val="0"/>
              </a:spcAft>
              <a:buClr>
                <a:srgbClr val="F4F0E2"/>
              </a:buClr>
              <a:buSzPts val="2400"/>
              <a:buFont typeface="Calibri"/>
              <a:buNone/>
            </a:pPr>
            <a:r>
              <a:rPr b="1" i="0" lang="ar-DZ" sz="2400" u="none" cap="none" strike="noStrike">
                <a:solidFill>
                  <a:srgbClr val="F4F0E2"/>
                </a:solidFill>
                <a:latin typeface="Calibri"/>
                <a:ea typeface="Calibri"/>
                <a:cs typeface="Calibri"/>
                <a:sym typeface="Calibri"/>
              </a:rPr>
              <a:t> LINE : إشارة شبكة التيار الكهربائي سونلغاز.</a:t>
            </a:r>
            <a:endParaRPr b="1" i="0" sz="2400" u="none" cap="none" strike="noStrike">
              <a:solidFill>
                <a:srgbClr val="F4F0E2"/>
              </a:solidFill>
              <a:latin typeface="Calibri"/>
              <a:ea typeface="Calibri"/>
              <a:cs typeface="Calibri"/>
              <a:sym typeface="Calibri"/>
            </a:endParaRPr>
          </a:p>
          <a:p>
            <a:pPr indent="0" lvl="0" marL="0" marR="0" rtl="1" algn="just">
              <a:lnSpc>
                <a:spcPct val="100000"/>
              </a:lnSpc>
              <a:spcBef>
                <a:spcPts val="0"/>
              </a:spcBef>
              <a:spcAft>
                <a:spcPts val="0"/>
              </a:spcAft>
              <a:buClr>
                <a:srgbClr val="F4F0E2"/>
              </a:buClr>
              <a:buSzPts val="2400"/>
              <a:buFont typeface="Calibri"/>
              <a:buNone/>
            </a:pPr>
            <a:r>
              <a:rPr b="1" i="0" lang="ar-DZ" sz="2400" u="none" cap="none" strike="noStrike">
                <a:solidFill>
                  <a:srgbClr val="F4F0E2"/>
                </a:solidFill>
                <a:latin typeface="Calibri"/>
                <a:ea typeface="Calibri"/>
                <a:cs typeface="Calibri"/>
                <a:sym typeface="Calibri"/>
              </a:rPr>
              <a:t>EXT : إشارة خارجية عبر المدخل </a:t>
            </a:r>
            <a:r>
              <a:rPr b="1" i="0" lang="ar-DZ" sz="2400" u="none" cap="none" strike="noStrike">
                <a:solidFill>
                  <a:srgbClr val="FF0000"/>
                </a:solidFill>
                <a:latin typeface="Calibri"/>
                <a:ea typeface="Calibri"/>
                <a:cs typeface="Calibri"/>
                <a:sym typeface="Calibri"/>
              </a:rPr>
              <a:t>XINPUT.</a:t>
            </a:r>
            <a:endParaRPr b="1" i="0" sz="2400" u="none" cap="none" strike="noStrike">
              <a:solidFill>
                <a:srgbClr val="F4F0E2"/>
              </a:solidFill>
              <a:latin typeface="Calibri"/>
              <a:ea typeface="Calibri"/>
              <a:cs typeface="Calibri"/>
              <a:sym typeface="Calibri"/>
            </a:endParaRPr>
          </a:p>
        </p:txBody>
      </p:sp>
      <p:cxnSp>
        <p:nvCxnSpPr>
          <p:cNvPr id="264" name="Google Shape;264;p23"/>
          <p:cNvCxnSpPr/>
          <p:nvPr/>
        </p:nvCxnSpPr>
        <p:spPr>
          <a:xfrm rot="10800000">
            <a:off x="5292725" y="3141662"/>
            <a:ext cx="215900" cy="935037"/>
          </a:xfrm>
          <a:prstGeom prst="straightConnector1">
            <a:avLst/>
          </a:prstGeom>
          <a:noFill/>
          <a:ln cap="flat" cmpd="sng" w="57150">
            <a:solidFill>
              <a:srgbClr val="FF0000"/>
            </a:solidFill>
            <a:prstDash val="solid"/>
            <a:miter lim="800000"/>
            <a:headEnd len="med" w="med" type="none"/>
            <a:tailEnd len="med" w="med" type="stealth"/>
          </a:ln>
        </p:spPr>
      </p:cxnSp>
      <p:sp>
        <p:nvSpPr>
          <p:cNvPr id="265" name="Google Shape;265;p23"/>
          <p:cNvSpPr txBox="1"/>
          <p:nvPr/>
        </p:nvSpPr>
        <p:spPr>
          <a:xfrm>
            <a:off x="179512" y="4221088"/>
            <a:ext cx="3960440" cy="1938992"/>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1" algn="just">
              <a:lnSpc>
                <a:spcPct val="100000"/>
              </a:lnSpc>
              <a:spcBef>
                <a:spcPts val="0"/>
              </a:spcBef>
              <a:spcAft>
                <a:spcPts val="0"/>
              </a:spcAft>
              <a:buClr>
                <a:srgbClr val="F4F0E2"/>
              </a:buClr>
              <a:buSzPts val="2400"/>
              <a:buFont typeface="Calibri"/>
              <a:buNone/>
            </a:pPr>
            <a:r>
              <a:rPr b="1" i="0" lang="ar-DZ" sz="2400" u="none" cap="none" strike="noStrike">
                <a:solidFill>
                  <a:srgbClr val="F4F0E2"/>
                </a:solidFill>
                <a:latin typeface="Calibri"/>
                <a:ea typeface="Calibri"/>
                <a:cs typeface="Calibri"/>
                <a:sym typeface="Calibri"/>
              </a:rPr>
              <a:t>مبدل يسمح باختيار بداية التزامن :</a:t>
            </a:r>
            <a:endParaRPr b="1" i="0" sz="2400" u="none" cap="none" strike="noStrike">
              <a:solidFill>
                <a:srgbClr val="F4F0E2"/>
              </a:solidFill>
              <a:latin typeface="Calibri"/>
              <a:ea typeface="Calibri"/>
              <a:cs typeface="Calibri"/>
              <a:sym typeface="Calibri"/>
            </a:endParaRPr>
          </a:p>
          <a:p>
            <a:pPr indent="0" lvl="0" marL="0" marR="0" rtl="1" algn="just">
              <a:lnSpc>
                <a:spcPct val="100000"/>
              </a:lnSpc>
              <a:spcBef>
                <a:spcPts val="0"/>
              </a:spcBef>
              <a:spcAft>
                <a:spcPts val="0"/>
              </a:spcAft>
              <a:buClr>
                <a:srgbClr val="F4F0E2"/>
              </a:buClr>
              <a:buSzPts val="2400"/>
              <a:buFont typeface="Calibri"/>
              <a:buNone/>
            </a:pPr>
            <a:r>
              <a:rPr b="1" i="0" lang="ar-DZ" sz="2400" u="none" cap="none" strike="noStrike">
                <a:solidFill>
                  <a:srgbClr val="F4F0E2"/>
                </a:solidFill>
                <a:latin typeface="Calibri"/>
                <a:ea typeface="Calibri"/>
                <a:cs typeface="Calibri"/>
                <a:sym typeface="Calibri"/>
              </a:rPr>
              <a:t>XY : عند ذروة الإشارة الكهربائية (إشارة مستمرة).</a:t>
            </a:r>
            <a:endParaRPr b="1" i="0" sz="2400" u="none" cap="none" strike="noStrike">
              <a:solidFill>
                <a:srgbClr val="F4F0E2"/>
              </a:solidFill>
              <a:latin typeface="Calibri"/>
              <a:ea typeface="Calibri"/>
              <a:cs typeface="Calibri"/>
              <a:sym typeface="Calibri"/>
            </a:endParaRPr>
          </a:p>
          <a:p>
            <a:pPr indent="0" lvl="0" marL="0" marR="0" rtl="1" algn="just">
              <a:lnSpc>
                <a:spcPct val="100000"/>
              </a:lnSpc>
              <a:spcBef>
                <a:spcPts val="0"/>
              </a:spcBef>
              <a:spcAft>
                <a:spcPts val="0"/>
              </a:spcAft>
              <a:buClr>
                <a:srgbClr val="F4F0E2"/>
              </a:buClr>
              <a:buSzPts val="2400"/>
              <a:buFont typeface="Calibri"/>
              <a:buNone/>
            </a:pPr>
            <a:r>
              <a:rPr b="1" i="0" lang="ar-DZ" sz="2400" u="none" cap="none" strike="noStrike">
                <a:solidFill>
                  <a:srgbClr val="F4F0E2"/>
                </a:solidFill>
                <a:latin typeface="Calibri"/>
                <a:ea typeface="Calibri"/>
                <a:cs typeface="Calibri"/>
                <a:sym typeface="Calibri"/>
              </a:rPr>
              <a:t> SLOPE : عند تزايد أو تناقص الإشارة الكهربائية (إشارة متناوبة). </a:t>
            </a:r>
            <a:endParaRPr b="1" i="0" sz="2400" u="none" cap="none" strike="noStrike">
              <a:solidFill>
                <a:srgbClr val="F4F0E2"/>
              </a:solidFill>
              <a:latin typeface="Calibri"/>
              <a:ea typeface="Calibri"/>
              <a:cs typeface="Calibri"/>
              <a:sym typeface="Calibri"/>
            </a:endParaRPr>
          </a:p>
        </p:txBody>
      </p:sp>
      <p:cxnSp>
        <p:nvCxnSpPr>
          <p:cNvPr id="266" name="Google Shape;266;p23"/>
          <p:cNvCxnSpPr/>
          <p:nvPr/>
        </p:nvCxnSpPr>
        <p:spPr>
          <a:xfrm flipH="1" rot="10800000">
            <a:off x="4067175" y="2997200"/>
            <a:ext cx="433387" cy="1223962"/>
          </a:xfrm>
          <a:prstGeom prst="straightConnector1">
            <a:avLst/>
          </a:prstGeom>
          <a:noFill/>
          <a:ln cap="flat" cmpd="sng" w="57150">
            <a:solidFill>
              <a:srgbClr val="FF0000"/>
            </a:solidFill>
            <a:prstDash val="solid"/>
            <a:miter lim="800000"/>
            <a:headEnd len="med" w="med" type="none"/>
            <a:tailEnd len="med" w="med" type="stealth"/>
          </a:ln>
        </p:spPr>
      </p:cxnSp>
      <p:sp>
        <p:nvSpPr>
          <p:cNvPr id="267" name="Google Shape;267;p23"/>
          <p:cNvSpPr txBox="1"/>
          <p:nvPr/>
        </p:nvSpPr>
        <p:spPr>
          <a:xfrm>
            <a:off x="107504" y="1102092"/>
            <a:ext cx="3168352" cy="3046988"/>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1" algn="just">
              <a:lnSpc>
                <a:spcPct val="100000"/>
              </a:lnSpc>
              <a:spcBef>
                <a:spcPts val="0"/>
              </a:spcBef>
              <a:spcAft>
                <a:spcPts val="0"/>
              </a:spcAft>
              <a:buClr>
                <a:srgbClr val="F4F0E2"/>
              </a:buClr>
              <a:buSzPts val="2400"/>
              <a:buFont typeface="Calibri"/>
              <a:buNone/>
            </a:pPr>
            <a:r>
              <a:rPr b="1" i="0" lang="ar-DZ" sz="2400" u="none" cap="none" strike="noStrike">
                <a:solidFill>
                  <a:srgbClr val="F4F0E2"/>
                </a:solidFill>
                <a:latin typeface="Calibri"/>
                <a:ea typeface="Calibri"/>
                <a:cs typeface="Calibri"/>
                <a:sym typeface="Calibri"/>
              </a:rPr>
              <a:t>مبدل يسمح باختيار طريقة التزامن (MODE) :</a:t>
            </a:r>
            <a:endParaRPr b="1" i="0" sz="2400" u="none" cap="none" strike="noStrike">
              <a:solidFill>
                <a:srgbClr val="F4F0E2"/>
              </a:solidFill>
              <a:latin typeface="Calibri"/>
              <a:ea typeface="Calibri"/>
              <a:cs typeface="Calibri"/>
              <a:sym typeface="Calibri"/>
            </a:endParaRPr>
          </a:p>
          <a:p>
            <a:pPr indent="0" lvl="0" marL="0" marR="0" rtl="1" algn="just">
              <a:lnSpc>
                <a:spcPct val="100000"/>
              </a:lnSpc>
              <a:spcBef>
                <a:spcPts val="0"/>
              </a:spcBef>
              <a:spcAft>
                <a:spcPts val="0"/>
              </a:spcAft>
              <a:buClr>
                <a:srgbClr val="F4F0E2"/>
              </a:buClr>
              <a:buSzPts val="2400"/>
              <a:buFont typeface="Calibri"/>
              <a:buNone/>
            </a:pPr>
            <a:r>
              <a:rPr b="1" i="0" lang="ar-DZ" sz="2400" u="none" cap="none" strike="noStrike">
                <a:solidFill>
                  <a:srgbClr val="F4F0E2"/>
                </a:solidFill>
                <a:latin typeface="Calibri"/>
                <a:ea typeface="Calibri"/>
                <a:cs typeface="Calibri"/>
                <a:sym typeface="Calibri"/>
              </a:rPr>
              <a:t>AUTO : تزامن تلقائي يكيفه جهاز راسم الإهتزاز المهبطي. </a:t>
            </a:r>
            <a:endParaRPr/>
          </a:p>
          <a:p>
            <a:pPr indent="0" lvl="0" marL="0" marR="0" rtl="1" algn="just">
              <a:lnSpc>
                <a:spcPct val="100000"/>
              </a:lnSpc>
              <a:spcBef>
                <a:spcPts val="0"/>
              </a:spcBef>
              <a:spcAft>
                <a:spcPts val="0"/>
              </a:spcAft>
              <a:buClr>
                <a:srgbClr val="F4F0E2"/>
              </a:buClr>
              <a:buSzPts val="2400"/>
              <a:buFont typeface="Calibri"/>
              <a:buNone/>
            </a:pPr>
            <a:r>
              <a:rPr b="1" i="0" lang="ar-DZ" sz="2400" u="none" cap="none" strike="noStrike">
                <a:solidFill>
                  <a:srgbClr val="F4F0E2"/>
                </a:solidFill>
                <a:latin typeface="Calibri"/>
                <a:ea typeface="Calibri"/>
                <a:cs typeface="Calibri"/>
                <a:sym typeface="Calibri"/>
              </a:rPr>
              <a:t>NORM : تزامن يدوي نكيفه باستعمال زر LEVEL.</a:t>
            </a:r>
            <a:endParaRPr b="1" i="0" sz="2400" u="none" cap="none" strike="noStrike">
              <a:solidFill>
                <a:srgbClr val="F4F0E2"/>
              </a:solidFill>
              <a:latin typeface="Calibri"/>
              <a:ea typeface="Calibri"/>
              <a:cs typeface="Calibri"/>
              <a:sym typeface="Calibri"/>
            </a:endParaRPr>
          </a:p>
          <a:p>
            <a:pPr indent="0" lvl="0" marL="0" marR="0" rtl="1" algn="just">
              <a:lnSpc>
                <a:spcPct val="100000"/>
              </a:lnSpc>
              <a:spcBef>
                <a:spcPts val="0"/>
              </a:spcBef>
              <a:spcAft>
                <a:spcPts val="0"/>
              </a:spcAft>
              <a:buClr>
                <a:srgbClr val="F4F0E2"/>
              </a:buClr>
              <a:buSzPts val="2400"/>
              <a:buFont typeface="Calibri"/>
              <a:buNone/>
            </a:pPr>
            <a:r>
              <a:rPr b="1" i="0" lang="ar-DZ" sz="2400" u="none" cap="none" strike="noStrike">
                <a:solidFill>
                  <a:srgbClr val="F4F0E2"/>
                </a:solidFill>
                <a:latin typeface="Calibri"/>
                <a:ea typeface="Calibri"/>
                <a:cs typeface="Calibri"/>
                <a:sym typeface="Calibri"/>
              </a:rPr>
              <a:t>TV : تزامن للإشارات عالية التردد. </a:t>
            </a:r>
            <a:endParaRPr b="1" i="0" sz="2400" u="none" cap="none" strike="noStrike">
              <a:solidFill>
                <a:srgbClr val="F4F0E2"/>
              </a:solidFill>
              <a:latin typeface="Calibri"/>
              <a:ea typeface="Calibri"/>
              <a:cs typeface="Calibri"/>
              <a:sym typeface="Calibri"/>
            </a:endParaRPr>
          </a:p>
        </p:txBody>
      </p:sp>
      <p:cxnSp>
        <p:nvCxnSpPr>
          <p:cNvPr id="268" name="Google Shape;268;p23"/>
          <p:cNvCxnSpPr/>
          <p:nvPr/>
        </p:nvCxnSpPr>
        <p:spPr>
          <a:xfrm>
            <a:off x="3276600" y="1773237"/>
            <a:ext cx="503237" cy="1008062"/>
          </a:xfrm>
          <a:prstGeom prst="straightConnector1">
            <a:avLst/>
          </a:prstGeom>
          <a:noFill/>
          <a:ln cap="flat" cmpd="sng" w="57150">
            <a:solidFill>
              <a:srgbClr val="FF0000"/>
            </a:solidFill>
            <a:prstDash val="solid"/>
            <a:miter lim="800000"/>
            <a:headEnd len="med" w="med" type="none"/>
            <a:tailEnd len="med" w="med" type="stealth"/>
          </a:ln>
        </p:spPr>
      </p:cxn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20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2000"/>
                                        <p:tgtEl>
                                          <p:spTgt spid="2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2000"/>
                                        <p:tgtEl>
                                          <p:spTgt spid="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2000"/>
                                        <p:tgtEl>
                                          <p:spTgt spid="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4"/>
          <p:cNvSpPr/>
          <p:nvPr/>
        </p:nvSpPr>
        <p:spPr>
          <a:xfrm>
            <a:off x="2095276" y="0"/>
            <a:ext cx="7048724" cy="70788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4000"/>
              <a:buFont typeface="Arial"/>
              <a:buNone/>
            </a:pPr>
            <a:r>
              <a:rPr b="1" i="0" lang="ar-DZ" sz="4000" u="none" cap="none" strike="noStrike">
                <a:solidFill>
                  <a:srgbClr val="FF0000"/>
                </a:solidFill>
                <a:latin typeface="Arial"/>
                <a:ea typeface="Arial"/>
                <a:cs typeface="Arial"/>
                <a:sym typeface="Arial"/>
              </a:rPr>
              <a:t>2/ خطوات تشغيل راسم الإهتزاز المهبطي</a:t>
            </a:r>
            <a:endParaRPr/>
          </a:p>
        </p:txBody>
      </p:sp>
      <p:sp>
        <p:nvSpPr>
          <p:cNvPr id="274" name="Google Shape;274;p24"/>
          <p:cNvSpPr txBox="1"/>
          <p:nvPr/>
        </p:nvSpPr>
        <p:spPr>
          <a:xfrm>
            <a:off x="2555875" y="1341437"/>
            <a:ext cx="6426200" cy="461962"/>
          </a:xfrm>
          <a:prstGeom prst="rect">
            <a:avLst/>
          </a:prstGeom>
          <a:noFill/>
          <a:ln>
            <a:noFill/>
          </a:ln>
        </p:spPr>
        <p:txBody>
          <a:bodyPr anchorCtr="0" anchor="t" bIns="45700" lIns="91425" spcFirstLastPara="1" rIns="91425" wrap="square" tIns="45700">
            <a:spAutoFit/>
          </a:bodyPr>
          <a:lstStyle/>
          <a:p>
            <a:pPr indent="-152400" lvl="0" marL="0" marR="0" rtl="1" algn="r">
              <a:lnSpc>
                <a:spcPct val="100000"/>
              </a:lnSpc>
              <a:spcBef>
                <a:spcPts val="0"/>
              </a:spcBef>
              <a:spcAft>
                <a:spcPts val="0"/>
              </a:spcAft>
              <a:buClr>
                <a:schemeClr val="dk1"/>
              </a:buClr>
              <a:buSzPts val="2400"/>
              <a:buFont typeface="Arial"/>
              <a:buChar char="•"/>
            </a:pPr>
            <a:r>
              <a:rPr b="0" i="0" lang="ar-DZ" sz="2400" u="none">
                <a:solidFill>
                  <a:schemeClr val="dk1"/>
                </a:solidFill>
                <a:latin typeface="Arial"/>
                <a:ea typeface="Arial"/>
                <a:cs typeface="Arial"/>
                <a:sym typeface="Arial"/>
              </a:rPr>
              <a:t> تشغيل الجهاز بضغط على زر التشغيل والإيقاف   POWER</a:t>
            </a:r>
            <a:endParaRPr/>
          </a:p>
        </p:txBody>
      </p:sp>
      <p:sp>
        <p:nvSpPr>
          <p:cNvPr id="275" name="Google Shape;275;p24"/>
          <p:cNvSpPr txBox="1"/>
          <p:nvPr/>
        </p:nvSpPr>
        <p:spPr>
          <a:xfrm>
            <a:off x="0" y="2205037"/>
            <a:ext cx="8939212" cy="830262"/>
          </a:xfrm>
          <a:prstGeom prst="rect">
            <a:avLst/>
          </a:prstGeom>
          <a:noFill/>
          <a:ln>
            <a:noFill/>
          </a:ln>
        </p:spPr>
        <p:txBody>
          <a:bodyPr anchorCtr="0" anchor="t" bIns="45700" lIns="91425" spcFirstLastPara="1" rIns="91425" wrap="square" tIns="45700">
            <a:spAutoFit/>
          </a:bodyPr>
          <a:lstStyle/>
          <a:p>
            <a:pPr indent="-152400" lvl="0" marL="0" marR="0" rtl="1" algn="r">
              <a:lnSpc>
                <a:spcPct val="100000"/>
              </a:lnSpc>
              <a:spcBef>
                <a:spcPts val="0"/>
              </a:spcBef>
              <a:spcAft>
                <a:spcPts val="0"/>
              </a:spcAft>
              <a:buClr>
                <a:schemeClr val="dk1"/>
              </a:buClr>
              <a:buSzPts val="2400"/>
              <a:buFont typeface="Arial"/>
              <a:buChar char="•"/>
            </a:pPr>
            <a:r>
              <a:rPr b="0" i="0" lang="ar-DZ" sz="2400" u="none">
                <a:solidFill>
                  <a:schemeClr val="dk1"/>
                </a:solidFill>
                <a:latin typeface="Arial"/>
                <a:ea typeface="Arial"/>
                <a:cs typeface="Arial"/>
                <a:sym typeface="Arial"/>
              </a:rPr>
              <a:t> بزرINTENSITY</a:t>
            </a:r>
            <a:r>
              <a:rPr b="0" i="0" lang="ar-DZ" sz="2400" u="none">
                <a:solidFill>
                  <a:schemeClr val="lt1"/>
                </a:solidFill>
                <a:latin typeface="Arial"/>
                <a:ea typeface="Arial"/>
                <a:cs typeface="Arial"/>
                <a:sym typeface="Arial"/>
              </a:rPr>
              <a:t> </a:t>
            </a:r>
            <a:r>
              <a:rPr b="0" i="0" lang="ar-DZ" sz="2400" u="none">
                <a:solidFill>
                  <a:schemeClr val="dk1"/>
                </a:solidFill>
                <a:latin typeface="Arial"/>
                <a:ea typeface="Arial"/>
                <a:cs typeface="Arial"/>
                <a:sym typeface="Arial"/>
              </a:rPr>
              <a:t>نضبط شدة إضاءة الإشارة على شكل نقطة (SPOT) أو على شكل خط مستقيم (TRACE) عندما نضاعف سرعة  SPOT بواسطة زر الحساسية الأفقية.</a:t>
            </a:r>
            <a:endParaRPr/>
          </a:p>
        </p:txBody>
      </p:sp>
      <p:sp>
        <p:nvSpPr>
          <p:cNvPr id="276" name="Google Shape;276;p24"/>
          <p:cNvSpPr txBox="1"/>
          <p:nvPr/>
        </p:nvSpPr>
        <p:spPr>
          <a:xfrm>
            <a:off x="0" y="2997200"/>
            <a:ext cx="8953500" cy="830262"/>
          </a:xfrm>
          <a:prstGeom prst="rect">
            <a:avLst/>
          </a:prstGeom>
          <a:noFill/>
          <a:ln>
            <a:noFill/>
          </a:ln>
        </p:spPr>
        <p:txBody>
          <a:bodyPr anchorCtr="0" anchor="t" bIns="45700" lIns="91425" spcFirstLastPara="1" rIns="91425" wrap="square" tIns="45700">
            <a:spAutoFit/>
          </a:bodyPr>
          <a:lstStyle/>
          <a:p>
            <a:pPr indent="-152400" lvl="0" marL="0" marR="0" rtl="1" algn="r">
              <a:lnSpc>
                <a:spcPct val="100000"/>
              </a:lnSpc>
              <a:spcBef>
                <a:spcPts val="0"/>
              </a:spcBef>
              <a:spcAft>
                <a:spcPts val="0"/>
              </a:spcAft>
              <a:buClr>
                <a:schemeClr val="dk1"/>
              </a:buClr>
              <a:buSzPts val="2400"/>
              <a:buFont typeface="Arial"/>
              <a:buChar char="•"/>
            </a:pPr>
            <a:r>
              <a:rPr b="0" i="0" lang="ar-DZ" sz="2400" u="none">
                <a:solidFill>
                  <a:schemeClr val="dk1"/>
                </a:solidFill>
                <a:latin typeface="Arial"/>
                <a:ea typeface="Arial"/>
                <a:cs typeface="Arial"/>
                <a:sym typeface="Arial"/>
              </a:rPr>
              <a:t> بزرFOCUS</a:t>
            </a:r>
            <a:r>
              <a:rPr b="0" i="0" lang="ar-DZ" sz="2400" u="none">
                <a:solidFill>
                  <a:schemeClr val="lt1"/>
                </a:solidFill>
                <a:latin typeface="Arial"/>
                <a:ea typeface="Arial"/>
                <a:cs typeface="Arial"/>
                <a:sym typeface="Arial"/>
              </a:rPr>
              <a:t> </a:t>
            </a:r>
            <a:r>
              <a:rPr b="0" i="0" lang="ar-DZ" sz="2400" u="none">
                <a:solidFill>
                  <a:schemeClr val="dk1"/>
                </a:solidFill>
                <a:latin typeface="Arial"/>
                <a:ea typeface="Arial"/>
                <a:cs typeface="Arial"/>
                <a:sym typeface="Arial"/>
              </a:rPr>
              <a:t>نضبط سمك الإشارة على الشاشة. يستحسن أن تكون رقيقة لتقليل الأخطاء المتعلقة بالقراءة.</a:t>
            </a:r>
            <a:endParaRPr/>
          </a:p>
        </p:txBody>
      </p:sp>
      <p:sp>
        <p:nvSpPr>
          <p:cNvPr id="277" name="Google Shape;277;p24"/>
          <p:cNvSpPr/>
          <p:nvPr/>
        </p:nvSpPr>
        <p:spPr>
          <a:xfrm>
            <a:off x="323528" y="3717032"/>
            <a:ext cx="8640763" cy="1200329"/>
          </a:xfrm>
          <a:prstGeom prst="rect">
            <a:avLst/>
          </a:prstGeom>
          <a:noFill/>
          <a:ln>
            <a:noFill/>
          </a:ln>
        </p:spPr>
        <p:txBody>
          <a:bodyPr anchorCtr="0" anchor="t" bIns="45700" lIns="91425" spcFirstLastPara="1" rIns="91425" wrap="square" tIns="45700">
            <a:noAutofit/>
          </a:bodyPr>
          <a:lstStyle/>
          <a:p>
            <a:pPr indent="-152400" lvl="0" marL="0" marR="0" rtl="1" algn="just">
              <a:lnSpc>
                <a:spcPct val="100000"/>
              </a:lnSpc>
              <a:spcBef>
                <a:spcPts val="0"/>
              </a:spcBef>
              <a:spcAft>
                <a:spcPts val="0"/>
              </a:spcAft>
              <a:buClr>
                <a:schemeClr val="dk1"/>
              </a:buClr>
              <a:buSzPts val="2400"/>
              <a:buFont typeface="Arial"/>
              <a:buChar char="•"/>
            </a:pPr>
            <a:r>
              <a:rPr b="0" i="0" lang="ar-DZ" sz="2400" u="none" cap="none" strike="noStrike">
                <a:solidFill>
                  <a:schemeClr val="dk1"/>
                </a:solidFill>
                <a:latin typeface="Arial"/>
                <a:ea typeface="Arial"/>
                <a:cs typeface="Arial"/>
                <a:sym typeface="Arial"/>
              </a:rPr>
              <a:t> ضبط وضعية SPOT  في مركز الشاشة (</a:t>
            </a:r>
            <a:r>
              <a:rPr b="1" i="0" lang="ar-DZ" sz="2400" u="none" cap="none" strike="noStrike">
                <a:solidFill>
                  <a:schemeClr val="dk1"/>
                </a:solidFill>
                <a:latin typeface="Arial"/>
                <a:ea typeface="Arial"/>
                <a:cs typeface="Arial"/>
                <a:sym typeface="Arial"/>
              </a:rPr>
              <a:t>مبدل بداية التزامن على XY</a:t>
            </a:r>
            <a:r>
              <a:rPr b="0" i="0" lang="ar-DZ" sz="2400" u="none" cap="none" strike="noStrike">
                <a:solidFill>
                  <a:schemeClr val="dk1"/>
                </a:solidFill>
                <a:latin typeface="Arial"/>
                <a:ea typeface="Arial"/>
                <a:cs typeface="Arial"/>
                <a:sym typeface="Arial"/>
              </a:rPr>
              <a:t>) أو وضعية TRACE منطبقة مع المحور الأفقي للشاشة (</a:t>
            </a:r>
            <a:r>
              <a:rPr b="1" i="0" lang="ar-DZ" sz="2400" u="none" cap="none" strike="noStrike">
                <a:solidFill>
                  <a:schemeClr val="dk1"/>
                </a:solidFill>
                <a:latin typeface="Arial"/>
                <a:ea typeface="Arial"/>
                <a:cs typeface="Arial"/>
                <a:sym typeface="Arial"/>
              </a:rPr>
              <a:t>مبدل بداية التزامن على SLOPE</a:t>
            </a:r>
            <a:r>
              <a:rPr b="0" i="0" lang="ar-DZ" sz="2400" u="none" cap="none" strike="noStrike">
                <a:solidFill>
                  <a:schemeClr val="dk1"/>
                </a:solidFill>
                <a:latin typeface="Arial"/>
                <a:ea typeface="Arial"/>
                <a:cs typeface="Arial"/>
                <a:sym typeface="Arial"/>
              </a:rPr>
              <a:t>) وذلك بالتأثير على أزرار التأطير الشاقولي والتأطير الأفقي. </a:t>
            </a:r>
            <a:endParaRPr/>
          </a:p>
        </p:txBody>
      </p:sp>
      <p:sp>
        <p:nvSpPr>
          <p:cNvPr id="278" name="Google Shape;278;p24"/>
          <p:cNvSpPr txBox="1"/>
          <p:nvPr/>
        </p:nvSpPr>
        <p:spPr>
          <a:xfrm>
            <a:off x="4910137" y="1773237"/>
            <a:ext cx="4032250" cy="461962"/>
          </a:xfrm>
          <a:prstGeom prst="rect">
            <a:avLst/>
          </a:prstGeom>
          <a:noFill/>
          <a:ln>
            <a:noFill/>
          </a:ln>
        </p:spPr>
        <p:txBody>
          <a:bodyPr anchorCtr="0" anchor="t" bIns="45700" lIns="91425" spcFirstLastPara="1" rIns="91425" wrap="square" tIns="45700">
            <a:spAutoFit/>
          </a:bodyPr>
          <a:lstStyle/>
          <a:p>
            <a:pPr indent="-152400" lvl="0" marL="0" marR="0" rtl="1" algn="r">
              <a:lnSpc>
                <a:spcPct val="100000"/>
              </a:lnSpc>
              <a:spcBef>
                <a:spcPts val="0"/>
              </a:spcBef>
              <a:spcAft>
                <a:spcPts val="0"/>
              </a:spcAft>
              <a:buClr>
                <a:schemeClr val="dk1"/>
              </a:buClr>
              <a:buSzPts val="2400"/>
              <a:buFont typeface="Arial"/>
              <a:buChar char="•"/>
            </a:pPr>
            <a:r>
              <a:rPr b="0" i="0" lang="ar-DZ" sz="2400" u="none">
                <a:solidFill>
                  <a:schemeClr val="dk1"/>
                </a:solidFill>
                <a:latin typeface="Arial"/>
                <a:ea typeface="Arial"/>
                <a:cs typeface="Arial"/>
                <a:sym typeface="Arial"/>
              </a:rPr>
              <a:t> ضبط الجهاز في وضعية GND</a:t>
            </a:r>
            <a:endParaRPr/>
          </a:p>
        </p:txBody>
      </p:sp>
      <p:sp>
        <p:nvSpPr>
          <p:cNvPr id="279" name="Google Shape;279;p24"/>
          <p:cNvSpPr/>
          <p:nvPr/>
        </p:nvSpPr>
        <p:spPr>
          <a:xfrm>
            <a:off x="3932806" y="620688"/>
            <a:ext cx="4833374" cy="584775"/>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chemeClr val="dk1"/>
              </a:buClr>
              <a:buSzPts val="3200"/>
              <a:buFont typeface="Arial"/>
              <a:buNone/>
            </a:pPr>
            <a:r>
              <a:rPr b="1" i="0" lang="ar-DZ" sz="3200" u="none" cap="none" strike="noStrike">
                <a:solidFill>
                  <a:schemeClr val="dk1"/>
                </a:solidFill>
                <a:latin typeface="Arial"/>
                <a:ea typeface="Arial"/>
                <a:cs typeface="Arial"/>
                <a:sym typeface="Arial"/>
              </a:rPr>
              <a:t>1.2 تعديل راسم الإهتزاز المهبطي </a:t>
            </a:r>
            <a:endParaRPr b="0" i="0" sz="3200" u="none" cap="none" strike="noStrike">
              <a:solidFill>
                <a:schemeClr val="dk1"/>
              </a:solidFill>
              <a:latin typeface="Arial"/>
              <a:ea typeface="Arial"/>
              <a:cs typeface="Arial"/>
              <a:sym typeface="Arial"/>
            </a:endParaRPr>
          </a:p>
        </p:txBody>
      </p:sp>
      <p:sp>
        <p:nvSpPr>
          <p:cNvPr id="280" name="Google Shape;280;p24"/>
          <p:cNvSpPr/>
          <p:nvPr/>
        </p:nvSpPr>
        <p:spPr>
          <a:xfrm>
            <a:off x="3740562" y="4869160"/>
            <a:ext cx="5192447" cy="1200329"/>
          </a:xfrm>
          <a:prstGeom prst="rect">
            <a:avLst/>
          </a:prstGeom>
          <a:noFill/>
          <a:ln>
            <a:noFill/>
          </a:ln>
        </p:spPr>
        <p:txBody>
          <a:bodyPr anchorCtr="0" anchor="t" bIns="45700" lIns="91425" spcFirstLastPara="1" rIns="91425" wrap="square" tIns="45700">
            <a:noAutofit/>
          </a:bodyPr>
          <a:lstStyle/>
          <a:p>
            <a:pPr indent="-152400" lvl="0" marL="0" marR="0" rtl="1" algn="r">
              <a:lnSpc>
                <a:spcPct val="100000"/>
              </a:lnSpc>
              <a:spcBef>
                <a:spcPts val="0"/>
              </a:spcBef>
              <a:spcAft>
                <a:spcPts val="0"/>
              </a:spcAft>
              <a:buClr>
                <a:srgbClr val="333333"/>
              </a:buClr>
              <a:buSzPts val="2400"/>
              <a:buFont typeface="Arial"/>
              <a:buChar char="•"/>
            </a:pPr>
            <a:r>
              <a:rPr b="0" i="0" lang="ar-DZ" sz="2400" u="none" cap="none" strike="noStrike">
                <a:solidFill>
                  <a:srgbClr val="333333"/>
                </a:solidFill>
                <a:latin typeface="Arial"/>
                <a:ea typeface="Arial"/>
                <a:cs typeface="Arial"/>
                <a:sym typeface="Arial"/>
              </a:rPr>
              <a:t> ضبط  قسم التحكم في مزامنة المسح الأفقي </a:t>
            </a:r>
            <a:r>
              <a:rPr b="1" i="0" lang="ar-DZ" sz="2400" u="none" cap="none" strike="noStrike">
                <a:solidFill>
                  <a:srgbClr val="333333"/>
                </a:solidFill>
                <a:latin typeface="Arial"/>
                <a:ea typeface="Arial"/>
                <a:cs typeface="Arial"/>
                <a:sym typeface="Arial"/>
              </a:rPr>
              <a:t>:</a:t>
            </a:r>
            <a:endParaRPr b="1" i="0" sz="2400" u="none" cap="none" strike="noStrike">
              <a:solidFill>
                <a:srgbClr val="333333"/>
              </a:solidFill>
              <a:latin typeface="Arial"/>
              <a:ea typeface="Arial"/>
              <a:cs typeface="Arial"/>
              <a:sym typeface="Arial"/>
            </a:endParaRPr>
          </a:p>
          <a:p>
            <a:pPr indent="-152400" lvl="0" marL="0" marR="0" rtl="1" algn="r">
              <a:lnSpc>
                <a:spcPct val="100000"/>
              </a:lnSpc>
              <a:spcBef>
                <a:spcPts val="0"/>
              </a:spcBef>
              <a:spcAft>
                <a:spcPts val="0"/>
              </a:spcAft>
              <a:buClr>
                <a:schemeClr val="dk1"/>
              </a:buClr>
              <a:buSzPts val="2400"/>
              <a:buFont typeface="Noto Sans Symbols"/>
              <a:buChar char="❑"/>
            </a:pPr>
            <a:r>
              <a:rPr b="0" i="0" lang="ar-DZ" sz="2400" u="none" cap="none" strike="noStrike">
                <a:solidFill>
                  <a:schemeClr val="dk1"/>
                </a:solidFill>
                <a:latin typeface="Arial"/>
                <a:ea typeface="Arial"/>
                <a:cs typeface="Arial"/>
                <a:sym typeface="Arial"/>
              </a:rPr>
              <a:t> المبدل </a:t>
            </a:r>
            <a:r>
              <a:rPr b="1" i="0" lang="ar-DZ" sz="2400" u="none" cap="none" strike="noStrike">
                <a:solidFill>
                  <a:schemeClr val="dk1"/>
                </a:solidFill>
                <a:latin typeface="Arial"/>
                <a:ea typeface="Arial"/>
                <a:cs typeface="Arial"/>
                <a:sym typeface="Arial"/>
              </a:rPr>
              <a:t>SOURCE</a:t>
            </a:r>
            <a:r>
              <a:rPr b="1" i="0" lang="ar-DZ" sz="2400" u="none" cap="none" strike="noStrike">
                <a:solidFill>
                  <a:srgbClr val="F4F0E2"/>
                </a:solidFill>
                <a:latin typeface="Arial"/>
                <a:ea typeface="Arial"/>
                <a:cs typeface="Arial"/>
                <a:sym typeface="Arial"/>
              </a:rPr>
              <a:t> </a:t>
            </a:r>
            <a:r>
              <a:rPr b="0" i="0" lang="ar-DZ" sz="2400" u="none" cap="none" strike="noStrike">
                <a:solidFill>
                  <a:srgbClr val="333333"/>
                </a:solidFill>
                <a:latin typeface="Arial"/>
                <a:ea typeface="Arial"/>
                <a:cs typeface="Arial"/>
                <a:sym typeface="Arial"/>
              </a:rPr>
              <a:t>على الوضعية  </a:t>
            </a:r>
            <a:r>
              <a:rPr b="1" i="0" lang="ar-DZ" sz="2400" u="none" cap="none" strike="noStrike">
                <a:solidFill>
                  <a:schemeClr val="dk1"/>
                </a:solidFill>
                <a:latin typeface="Arial"/>
                <a:ea typeface="Arial"/>
                <a:cs typeface="Arial"/>
                <a:sym typeface="Arial"/>
              </a:rPr>
              <a:t>Y</a:t>
            </a:r>
            <a:r>
              <a:rPr b="1" i="0" lang="ar-DZ" sz="2400" u="none" cap="none" strike="noStrike">
                <a:solidFill>
                  <a:srgbClr val="F4F0E2"/>
                </a:solidFill>
                <a:latin typeface="Arial"/>
                <a:ea typeface="Arial"/>
                <a:cs typeface="Arial"/>
                <a:sym typeface="Arial"/>
              </a:rPr>
              <a:t> </a:t>
            </a:r>
            <a:endParaRPr/>
          </a:p>
          <a:p>
            <a:pPr indent="-152400" lvl="0" marL="0" marR="0" rtl="1" algn="r">
              <a:lnSpc>
                <a:spcPct val="100000"/>
              </a:lnSpc>
              <a:spcBef>
                <a:spcPts val="0"/>
              </a:spcBef>
              <a:spcAft>
                <a:spcPts val="0"/>
              </a:spcAft>
              <a:buClr>
                <a:srgbClr val="F4F0E2"/>
              </a:buClr>
              <a:buSzPts val="2400"/>
              <a:buFont typeface="Noto Sans Symbols"/>
              <a:buChar char="❑"/>
            </a:pPr>
            <a:r>
              <a:rPr b="1" i="0" lang="ar-DZ" sz="2400" u="none" cap="none" strike="noStrike">
                <a:solidFill>
                  <a:srgbClr val="F4F0E2"/>
                </a:solidFill>
                <a:latin typeface="Arial"/>
                <a:ea typeface="Arial"/>
                <a:cs typeface="Arial"/>
                <a:sym typeface="Arial"/>
              </a:rPr>
              <a:t> </a:t>
            </a:r>
            <a:r>
              <a:rPr b="0" i="0" lang="ar-DZ" sz="2400" u="none" cap="none" strike="noStrike">
                <a:solidFill>
                  <a:schemeClr val="dk1"/>
                </a:solidFill>
                <a:latin typeface="Arial"/>
                <a:ea typeface="Arial"/>
                <a:cs typeface="Arial"/>
                <a:sym typeface="Arial"/>
              </a:rPr>
              <a:t>المبدل </a:t>
            </a:r>
            <a:r>
              <a:rPr b="1" i="0" lang="ar-DZ" sz="2400" u="none" cap="none" strike="noStrike">
                <a:solidFill>
                  <a:schemeClr val="dk1"/>
                </a:solidFill>
                <a:latin typeface="Arial"/>
                <a:ea typeface="Arial"/>
                <a:cs typeface="Arial"/>
                <a:sym typeface="Arial"/>
              </a:rPr>
              <a:t>MODE</a:t>
            </a:r>
            <a:r>
              <a:rPr b="1" i="0" lang="ar-DZ" sz="2400" u="none" cap="none" strike="noStrike">
                <a:solidFill>
                  <a:srgbClr val="F4F0E2"/>
                </a:solidFill>
                <a:latin typeface="Arial"/>
                <a:ea typeface="Arial"/>
                <a:cs typeface="Arial"/>
                <a:sym typeface="Arial"/>
              </a:rPr>
              <a:t> </a:t>
            </a:r>
            <a:r>
              <a:rPr b="0" i="0" lang="ar-DZ" sz="2400" u="none" cap="none" strike="noStrike">
                <a:solidFill>
                  <a:srgbClr val="333333"/>
                </a:solidFill>
                <a:latin typeface="Arial"/>
                <a:ea typeface="Arial"/>
                <a:cs typeface="Arial"/>
                <a:sym typeface="Arial"/>
              </a:rPr>
              <a:t>على الوضعية  </a:t>
            </a:r>
            <a:r>
              <a:rPr b="1" i="0" lang="ar-DZ" sz="2400" u="none" cap="none" strike="noStrike">
                <a:solidFill>
                  <a:schemeClr val="dk1"/>
                </a:solidFill>
                <a:latin typeface="Arial"/>
                <a:ea typeface="Arial"/>
                <a:cs typeface="Arial"/>
                <a:sym typeface="Arial"/>
              </a:rPr>
              <a:t>AUTO</a:t>
            </a:r>
            <a:endParaRPr b="0" i="0" sz="2400" u="none" cap="none" strike="noStrike">
              <a:solidFill>
                <a:schemeClr val="dk1"/>
              </a:solidFill>
              <a:latin typeface="Arial"/>
              <a:ea typeface="Arial"/>
              <a:cs typeface="Arial"/>
              <a:sym typeface="Arial"/>
            </a:endParaRPr>
          </a:p>
        </p:txBody>
      </p:sp>
      <p:sp>
        <p:nvSpPr>
          <p:cNvPr id="281" name="Google Shape;281;p24"/>
          <p:cNvSpPr/>
          <p:nvPr/>
        </p:nvSpPr>
        <p:spPr>
          <a:xfrm>
            <a:off x="0" y="5949280"/>
            <a:ext cx="9144000" cy="830997"/>
          </a:xfrm>
          <a:prstGeom prst="rect">
            <a:avLst/>
          </a:prstGeom>
          <a:noFill/>
          <a:ln>
            <a:noFill/>
          </a:ln>
        </p:spPr>
        <p:txBody>
          <a:bodyPr anchorCtr="0" anchor="t" bIns="45700" lIns="91425" spcFirstLastPara="1" rIns="91425" wrap="square" tIns="45700">
            <a:noAutofit/>
          </a:bodyPr>
          <a:lstStyle/>
          <a:p>
            <a:pPr indent="-96838" lvl="0" marL="271463" marR="0" rtl="1" algn="r">
              <a:lnSpc>
                <a:spcPct val="100000"/>
              </a:lnSpc>
              <a:spcBef>
                <a:spcPts val="0"/>
              </a:spcBef>
              <a:spcAft>
                <a:spcPts val="0"/>
              </a:spcAft>
              <a:buSzPts val="2400"/>
              <a:buFont typeface="Arial"/>
              <a:buNone/>
            </a:pPr>
            <a:r>
              <a:rPr b="1" i="0" lang="ar-DZ" sz="2400" u="none" cap="none" strike="noStrike">
                <a:latin typeface="Arial"/>
                <a:ea typeface="Arial"/>
                <a:cs typeface="Arial"/>
                <a:sym typeface="Arial"/>
              </a:rPr>
              <a:t>ملاحظة : </a:t>
            </a:r>
            <a:r>
              <a:rPr b="0" i="0" lang="ar-DZ" sz="2400" u="none" cap="none" strike="noStrike">
                <a:solidFill>
                  <a:schemeClr val="dk1"/>
                </a:solidFill>
                <a:latin typeface="Arial"/>
                <a:ea typeface="Arial"/>
                <a:cs typeface="Arial"/>
                <a:sym typeface="Arial"/>
              </a:rPr>
              <a:t>في معظم الأحيان يجب ضبط زر VAR. TIME و زر LEVEL للحصول على اشارة ثابتة و واضحة على الشاشة.</a:t>
            </a:r>
            <a:endParaRPr b="0" i="0" sz="2400" u="none" cap="none" strike="noStrike">
              <a:solidFill>
                <a:schemeClr val="dk1"/>
              </a:solidFill>
              <a:latin typeface="Arial"/>
              <a:ea typeface="Arial"/>
              <a:cs typeface="Arial"/>
              <a:sym typeface="Arial"/>
            </a:endParaRPr>
          </a:p>
        </p:txBody>
      </p:sp>
    </p:spTree>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5"/>
          <p:cNvSpPr/>
          <p:nvPr/>
        </p:nvSpPr>
        <p:spPr>
          <a:xfrm>
            <a:off x="198308" y="-27384"/>
            <a:ext cx="8838188" cy="584775"/>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chemeClr val="dk1"/>
              </a:buClr>
              <a:buSzPts val="3200"/>
              <a:buFont typeface="Arial"/>
              <a:buNone/>
            </a:pPr>
            <a:r>
              <a:rPr b="1" i="0" lang="ar-DZ" sz="3200" u="none" cap="none" strike="noStrike">
                <a:solidFill>
                  <a:schemeClr val="dk1"/>
                </a:solidFill>
                <a:latin typeface="Arial"/>
                <a:ea typeface="Arial"/>
                <a:cs typeface="Arial"/>
                <a:sym typeface="Arial"/>
              </a:rPr>
              <a:t>2.2 توصيل راسم الإهتزاز المهبطي بمنبع الإشارة المراد عرضها </a:t>
            </a:r>
            <a:endParaRPr b="0" i="0" sz="3200" u="none" cap="none" strike="noStrike">
              <a:solidFill>
                <a:schemeClr val="dk1"/>
              </a:solidFill>
              <a:latin typeface="Arial"/>
              <a:ea typeface="Arial"/>
              <a:cs typeface="Arial"/>
              <a:sym typeface="Arial"/>
            </a:endParaRPr>
          </a:p>
        </p:txBody>
      </p:sp>
      <p:sp>
        <p:nvSpPr>
          <p:cNvPr descr="Image associée" id="287" name="Google Shape;287;p25"/>
          <p:cNvSpPr txBox="1"/>
          <p:nvPr/>
        </p:nvSpPr>
        <p:spPr>
          <a:xfrm>
            <a:off x="155575" y="-2476500"/>
            <a:ext cx="5162550" cy="5162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descr="Image associée" id="288" name="Google Shape;288;p25"/>
          <p:cNvSpPr txBox="1"/>
          <p:nvPr/>
        </p:nvSpPr>
        <p:spPr>
          <a:xfrm>
            <a:off x="155575" y="-2476500"/>
            <a:ext cx="5162550" cy="5162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id="289" name="Google Shape;289;p25"/>
          <p:cNvPicPr preferRelativeResize="0"/>
          <p:nvPr/>
        </p:nvPicPr>
        <p:blipFill rotWithShape="1">
          <a:blip r:embed="rId3">
            <a:alphaModFix/>
          </a:blip>
          <a:srcRect b="0" l="0" r="0" t="0"/>
          <a:stretch/>
        </p:blipFill>
        <p:spPr>
          <a:xfrm>
            <a:off x="2268537" y="1196975"/>
            <a:ext cx="4535487" cy="2303462"/>
          </a:xfrm>
          <a:prstGeom prst="rect">
            <a:avLst/>
          </a:prstGeom>
          <a:noFill/>
          <a:ln>
            <a:noFill/>
          </a:ln>
        </p:spPr>
      </p:pic>
      <p:sp>
        <p:nvSpPr>
          <p:cNvPr id="290" name="Google Shape;290;p25"/>
          <p:cNvSpPr txBox="1"/>
          <p:nvPr/>
        </p:nvSpPr>
        <p:spPr>
          <a:xfrm>
            <a:off x="2339975" y="549275"/>
            <a:ext cx="6804025" cy="460375"/>
          </a:xfrm>
          <a:prstGeom prst="rect">
            <a:avLst/>
          </a:prstGeom>
          <a:noFill/>
          <a:ln>
            <a:noFill/>
          </a:ln>
        </p:spPr>
        <p:txBody>
          <a:bodyPr anchorCtr="0" anchor="t" bIns="45700" lIns="91425" spcFirstLastPara="1" rIns="91425" wrap="square" tIns="45700">
            <a:spAutoFit/>
          </a:bodyPr>
          <a:lstStyle/>
          <a:p>
            <a:pPr indent="-152400" lvl="0" marL="0" marR="0" rtl="1" algn="just">
              <a:lnSpc>
                <a:spcPct val="100000"/>
              </a:lnSpc>
              <a:spcBef>
                <a:spcPts val="0"/>
              </a:spcBef>
              <a:spcAft>
                <a:spcPts val="0"/>
              </a:spcAft>
              <a:buClr>
                <a:schemeClr val="dk1"/>
              </a:buClr>
              <a:buSzPts val="2400"/>
              <a:buFont typeface="Noto Sans Symbols"/>
              <a:buChar char="❑"/>
            </a:pPr>
            <a:r>
              <a:rPr b="0" i="0" lang="ar-DZ" sz="2400" u="none">
                <a:solidFill>
                  <a:schemeClr val="dk1"/>
                </a:solidFill>
                <a:latin typeface="Arial"/>
                <a:ea typeface="Arial"/>
                <a:cs typeface="Arial"/>
                <a:sym typeface="Arial"/>
              </a:rPr>
              <a:t> يتم ذلك باستعمال كبل يسمى </a:t>
            </a:r>
            <a:r>
              <a:rPr b="1" i="0" lang="ar-DZ" sz="2400" u="none">
                <a:solidFill>
                  <a:schemeClr val="dk1"/>
                </a:solidFill>
                <a:latin typeface="Arial"/>
                <a:ea typeface="Arial"/>
                <a:cs typeface="Arial"/>
                <a:sym typeface="Arial"/>
              </a:rPr>
              <a:t>المسبار</a:t>
            </a:r>
            <a:r>
              <a:rPr b="0" i="0" lang="ar-DZ" sz="2400" u="none">
                <a:solidFill>
                  <a:schemeClr val="dk1"/>
                </a:solidFill>
                <a:latin typeface="Arial"/>
                <a:ea typeface="Arial"/>
                <a:cs typeface="Arial"/>
                <a:sym typeface="Arial"/>
              </a:rPr>
              <a:t> ويتميز بجهتين مختلفين :</a:t>
            </a:r>
            <a:endParaRPr/>
          </a:p>
        </p:txBody>
      </p:sp>
      <p:sp>
        <p:nvSpPr>
          <p:cNvPr id="291" name="Google Shape;291;p25"/>
          <p:cNvSpPr txBox="1"/>
          <p:nvPr/>
        </p:nvSpPr>
        <p:spPr>
          <a:xfrm>
            <a:off x="7269162" y="1844675"/>
            <a:ext cx="1695450" cy="831850"/>
          </a:xfrm>
          <a:prstGeom prst="rect">
            <a:avLst/>
          </a:prstGeom>
          <a:solidFill>
            <a:schemeClr val="lt1"/>
          </a:solidFill>
          <a:ln cap="flat" cmpd="sng" w="571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FF0000"/>
              </a:buClr>
              <a:buSzPts val="2400"/>
              <a:buFont typeface="Arial"/>
              <a:buNone/>
            </a:pPr>
            <a:r>
              <a:rPr b="1" i="0" lang="ar-DZ" sz="2400" u="none">
                <a:solidFill>
                  <a:srgbClr val="FF0000"/>
                </a:solidFill>
                <a:latin typeface="Arial"/>
                <a:ea typeface="Arial"/>
                <a:cs typeface="Arial"/>
                <a:sym typeface="Arial"/>
              </a:rPr>
              <a:t>جهة التوصيل  BNC </a:t>
            </a:r>
            <a:endParaRPr/>
          </a:p>
        </p:txBody>
      </p:sp>
      <p:sp>
        <p:nvSpPr>
          <p:cNvPr id="292" name="Google Shape;292;p25"/>
          <p:cNvSpPr txBox="1"/>
          <p:nvPr/>
        </p:nvSpPr>
        <p:spPr>
          <a:xfrm>
            <a:off x="0" y="5287962"/>
            <a:ext cx="9144000" cy="1570037"/>
          </a:xfrm>
          <a:prstGeom prst="rect">
            <a:avLst/>
          </a:prstGeom>
          <a:solidFill>
            <a:schemeClr val="lt1"/>
          </a:solidFill>
          <a:ln cap="flat" cmpd="sng" w="254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152400" lvl="0" marL="0" marR="0" rtl="1" algn="just">
              <a:lnSpc>
                <a:spcPct val="100000"/>
              </a:lnSpc>
              <a:spcBef>
                <a:spcPts val="0"/>
              </a:spcBef>
              <a:spcAft>
                <a:spcPts val="0"/>
              </a:spcAft>
              <a:buClr>
                <a:srgbClr val="000000"/>
              </a:buClr>
              <a:buSzPts val="2400"/>
              <a:buFont typeface="Noto Sans Symbols"/>
              <a:buChar char="❑"/>
            </a:pPr>
            <a:r>
              <a:rPr b="0" i="0" lang="ar-DZ" sz="2400" u="none">
                <a:solidFill>
                  <a:srgbClr val="000000"/>
                </a:solidFill>
                <a:latin typeface="Calibri"/>
                <a:ea typeface="Calibri"/>
                <a:cs typeface="Calibri"/>
                <a:sym typeface="Calibri"/>
              </a:rPr>
              <a:t> جهة التوصيل بالمنبع التي تتركب من سلكين من النحاس : الأول له نهاية على شكل فم التمساح (مغطى بطبقة من البلاستيك ذو لون أسود دلالة على وجوب تركيبه بالقطب السالب للمنبع) والأخر عل شكل خطاف داخل هيكل من مادة عازلة كهربائيا يسهل التحكم فيه من أجل توصيله بالقطب الموجب للمولد الكهربائي.</a:t>
            </a:r>
            <a:endParaRPr/>
          </a:p>
        </p:txBody>
      </p:sp>
      <p:sp>
        <p:nvSpPr>
          <p:cNvPr id="293" name="Google Shape;293;p25"/>
          <p:cNvSpPr txBox="1"/>
          <p:nvPr/>
        </p:nvSpPr>
        <p:spPr>
          <a:xfrm>
            <a:off x="0" y="3644900"/>
            <a:ext cx="9144000" cy="1570037"/>
          </a:xfrm>
          <a:prstGeom prst="rect">
            <a:avLst/>
          </a:prstGeom>
          <a:solidFill>
            <a:schemeClr val="lt1"/>
          </a:solidFill>
          <a:ln cap="flat" cmpd="sng" w="254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152400" lvl="0" marL="0" marR="0" rtl="1" algn="just">
              <a:lnSpc>
                <a:spcPct val="100000"/>
              </a:lnSpc>
              <a:spcBef>
                <a:spcPts val="0"/>
              </a:spcBef>
              <a:spcAft>
                <a:spcPts val="0"/>
              </a:spcAft>
              <a:buClr>
                <a:srgbClr val="000000"/>
              </a:buClr>
              <a:buSzPts val="2400"/>
              <a:buFont typeface="Noto Sans Symbols"/>
              <a:buChar char="❑"/>
            </a:pPr>
            <a:r>
              <a:rPr b="0" i="0" lang="ar-DZ" sz="2400" u="none">
                <a:solidFill>
                  <a:srgbClr val="000000"/>
                </a:solidFill>
                <a:latin typeface="Calibri"/>
                <a:ea typeface="Calibri"/>
                <a:cs typeface="Calibri"/>
                <a:sym typeface="Calibri"/>
              </a:rPr>
              <a:t> جهة التوصيل BNC التي تتكون من سلكين : الأول داخلي (رفيع السمك من النحاس يكون دائما موصولا بالقطب الموجب لجهاز راسم الإهتزاز المهبطي) والثاني خارجي (من النحاس موصول بالقطب السالب)، يشتركان في نفس المحور وينفصلان عن بعضهما البعض بطبقة عازلة كهربائيا. السلكان يشكلان كبل ملفوف بطبقة واقية عازلة ليسهل استخدامه واستعماله.</a:t>
            </a:r>
            <a:endParaRPr/>
          </a:p>
        </p:txBody>
      </p:sp>
      <p:sp>
        <p:nvSpPr>
          <p:cNvPr id="294" name="Google Shape;294;p25"/>
          <p:cNvSpPr/>
          <p:nvPr/>
        </p:nvSpPr>
        <p:spPr>
          <a:xfrm rot="10800000">
            <a:off x="6659562" y="2133600"/>
            <a:ext cx="649287" cy="287337"/>
          </a:xfrm>
          <a:prstGeom prst="rightArrow">
            <a:avLst>
              <a:gd fmla="val 16800" name="adj1"/>
              <a:gd fmla="val 50000" name="adj2"/>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95" name="Google Shape;295;p25"/>
          <p:cNvSpPr txBox="1"/>
          <p:nvPr/>
        </p:nvSpPr>
        <p:spPr>
          <a:xfrm>
            <a:off x="179387" y="1484312"/>
            <a:ext cx="1871662" cy="1200150"/>
          </a:xfrm>
          <a:prstGeom prst="rect">
            <a:avLst/>
          </a:prstGeom>
          <a:solidFill>
            <a:schemeClr val="lt1"/>
          </a:solidFill>
          <a:ln cap="flat" cmpd="sng" w="57150">
            <a:solidFill>
              <a:srgbClr val="00206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Clr>
                <a:srgbClr val="FF0000"/>
              </a:buClr>
              <a:buSzPts val="2400"/>
              <a:buFont typeface="Arial"/>
              <a:buNone/>
            </a:pPr>
            <a:r>
              <a:rPr b="1" i="0" lang="ar-DZ" sz="2400" u="none">
                <a:solidFill>
                  <a:srgbClr val="FF0000"/>
                </a:solidFill>
                <a:latin typeface="Arial"/>
                <a:ea typeface="Arial"/>
                <a:cs typeface="Arial"/>
                <a:sym typeface="Arial"/>
              </a:rPr>
              <a:t>جهة التوصيل بمنبع الإشارة الكهربائية</a:t>
            </a:r>
            <a:endParaRPr/>
          </a:p>
        </p:txBody>
      </p:sp>
      <p:sp>
        <p:nvSpPr>
          <p:cNvPr id="296" name="Google Shape;296;p25"/>
          <p:cNvSpPr/>
          <p:nvPr/>
        </p:nvSpPr>
        <p:spPr>
          <a:xfrm rot="360000">
            <a:off x="2049462" y="1957387"/>
            <a:ext cx="881062" cy="295275"/>
          </a:xfrm>
          <a:prstGeom prst="rightArrow">
            <a:avLst>
              <a:gd fmla="val 17988" name="adj1"/>
              <a:gd fmla="val 50000" name="adj2"/>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2000"/>
                                        <p:tgtEl>
                                          <p:spTgt spid="290"/>
                                        </p:tgtEl>
                                      </p:cBhvr>
                                    </p:animEffect>
                                  </p:childTnLst>
                                </p:cTn>
                              </p:par>
                              <p:par>
                                <p:cTn fill="hold" nodeType="with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2000"/>
                                        <p:tgtEl>
                                          <p:spTgt spid="2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2000"/>
                                        <p:tgtEl>
                                          <p:spTgt spid="291"/>
                                        </p:tgtEl>
                                      </p:cBhvr>
                                    </p:animEffect>
                                  </p:childTnLst>
                                </p:cTn>
                              </p:par>
                              <p:par>
                                <p:cTn fill="hold" nodeType="with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2000"/>
                                        <p:tgtEl>
                                          <p:spTgt spid="294"/>
                                        </p:tgtEl>
                                      </p:cBhvr>
                                    </p:animEffect>
                                  </p:childTnLst>
                                </p:cTn>
                              </p:par>
                              <p:par>
                                <p:cTn fill="hold" nodeType="with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2000"/>
                                        <p:tgtEl>
                                          <p:spTgt spid="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2000"/>
                                        <p:tgtEl>
                                          <p:spTgt spid="296"/>
                                        </p:tgtEl>
                                      </p:cBhvr>
                                    </p:animEffect>
                                  </p:childTnLst>
                                </p:cTn>
                              </p:par>
                              <p:par>
                                <p:cTn fill="hold" nodeType="with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2000"/>
                                        <p:tgtEl>
                                          <p:spTgt spid="295"/>
                                        </p:tgtEl>
                                      </p:cBhvr>
                                    </p:animEffect>
                                  </p:childTnLst>
                                </p:cTn>
                              </p:par>
                              <p:par>
                                <p:cTn fill="hold" nodeType="with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2000"/>
                                        <p:tgtEl>
                                          <p:spTgt spid="2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6"/>
          <p:cNvSpPr/>
          <p:nvPr/>
        </p:nvSpPr>
        <p:spPr>
          <a:xfrm>
            <a:off x="323528" y="928670"/>
            <a:ext cx="8640959" cy="424731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5400"/>
              <a:buFont typeface="Arial"/>
              <a:buNone/>
            </a:pPr>
            <a:r>
              <a:rPr b="1" i="0" lang="ar-DZ" sz="5400" u="none" cap="none" strike="noStrike">
                <a:solidFill>
                  <a:schemeClr val="dk1"/>
                </a:solidFill>
                <a:latin typeface="Arial"/>
                <a:ea typeface="Arial"/>
                <a:cs typeface="Arial"/>
                <a:sym typeface="Arial"/>
              </a:rPr>
              <a:t>الآن قد تم تعديل راسم الإهتزاز المهبطي </a:t>
            </a:r>
            <a:endParaRPr/>
          </a:p>
          <a:p>
            <a:pPr indent="0" lvl="0" marL="0" marR="0" rtl="0" algn="ctr">
              <a:lnSpc>
                <a:spcPct val="100000"/>
              </a:lnSpc>
              <a:spcBef>
                <a:spcPts val="0"/>
              </a:spcBef>
              <a:spcAft>
                <a:spcPts val="0"/>
              </a:spcAft>
              <a:buClr>
                <a:schemeClr val="dk1"/>
              </a:buClr>
              <a:buSzPts val="5400"/>
              <a:buFont typeface="Arial"/>
              <a:buNone/>
            </a:pPr>
            <a:r>
              <a:rPr b="1" i="0" lang="ar-DZ" sz="5400" u="none" cap="none" strike="noStrike">
                <a:solidFill>
                  <a:schemeClr val="dk1"/>
                </a:solidFill>
                <a:latin typeface="Arial"/>
                <a:ea typeface="Arial"/>
                <a:cs typeface="Arial"/>
                <a:sym typeface="Arial"/>
              </a:rPr>
              <a:t>نشرع في توصيل أي جهاز كهربائي مع راسم الإهتزاز المهبطي </a:t>
            </a:r>
            <a:endParaRPr/>
          </a:p>
          <a:p>
            <a:pPr indent="0" lvl="0" marL="0" marR="0" rtl="0" algn="ctr">
              <a:lnSpc>
                <a:spcPct val="100000"/>
              </a:lnSpc>
              <a:spcBef>
                <a:spcPts val="0"/>
              </a:spcBef>
              <a:spcAft>
                <a:spcPts val="0"/>
              </a:spcAft>
              <a:buClr>
                <a:schemeClr val="dk1"/>
              </a:buClr>
              <a:buSzPts val="5400"/>
              <a:buFont typeface="Arial"/>
              <a:buNone/>
            </a:pPr>
            <a:r>
              <a:rPr b="1" i="0" lang="ar-DZ" sz="5400" u="none" cap="none" strike="noStrike">
                <a:solidFill>
                  <a:schemeClr val="dk1"/>
                </a:solidFill>
                <a:latin typeface="Arial"/>
                <a:ea typeface="Arial"/>
                <a:cs typeface="Arial"/>
                <a:sym typeface="Arial"/>
              </a:rPr>
              <a:t>(OSCILLOSCOPE</a:t>
            </a:r>
            <a:r>
              <a:rPr b="1" i="0" lang="ar-DZ" sz="5400" u="none" cap="none" strike="noStrike">
                <a:solidFill>
                  <a:srgbClr val="00B050"/>
                </a:solidFill>
                <a:latin typeface="Arial"/>
                <a:ea typeface="Arial"/>
                <a:cs typeface="Arial"/>
                <a:sym typeface="Arial"/>
              </a:rPr>
              <a:t>)</a:t>
            </a:r>
            <a:endParaRPr b="1" i="0" sz="5400" u="none" cap="none" strike="noStrike">
              <a:solidFill>
                <a:srgbClr val="00B050"/>
              </a:solidFill>
              <a:latin typeface="Arial"/>
              <a:ea typeface="Arial"/>
              <a:cs typeface="Arial"/>
              <a:sym typeface="Arial"/>
            </a:endParaRPr>
          </a:p>
        </p:txBody>
      </p:sp>
    </p:spTree>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7"/>
          <p:cNvSpPr txBox="1"/>
          <p:nvPr/>
        </p:nvSpPr>
        <p:spPr>
          <a:xfrm>
            <a:off x="2846387" y="188912"/>
            <a:ext cx="6189662" cy="646112"/>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chemeClr val="dk1"/>
              </a:buClr>
              <a:buSzPts val="2400"/>
              <a:buFont typeface="Arial"/>
              <a:buNone/>
            </a:pPr>
            <a:r>
              <a:rPr b="0" i="0" lang="ar-DZ" sz="2400" u="none">
                <a:solidFill>
                  <a:schemeClr val="dk1"/>
                </a:solidFill>
                <a:latin typeface="Arial"/>
                <a:ea typeface="Arial"/>
                <a:cs typeface="Arial"/>
                <a:sym typeface="Arial"/>
              </a:rPr>
              <a:t>4</a:t>
            </a:r>
            <a:r>
              <a:rPr b="0" i="0" lang="ar-DZ" sz="3600" u="none">
                <a:solidFill>
                  <a:schemeClr val="dk1"/>
                </a:solidFill>
                <a:latin typeface="Arial"/>
                <a:ea typeface="Arial"/>
                <a:cs typeface="Arial"/>
                <a:sym typeface="Arial"/>
              </a:rPr>
              <a:t>. تطبيقات جهاز راسم الإهتزاز المهبطي</a:t>
            </a:r>
            <a:endParaRPr/>
          </a:p>
        </p:txBody>
      </p:sp>
      <p:sp>
        <p:nvSpPr>
          <p:cNvPr id="307" name="Google Shape;307;p27"/>
          <p:cNvSpPr txBox="1"/>
          <p:nvPr/>
        </p:nvSpPr>
        <p:spPr>
          <a:xfrm>
            <a:off x="1276350" y="1052512"/>
            <a:ext cx="7685087" cy="585787"/>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chemeClr val="dk1"/>
              </a:buClr>
              <a:buSzPts val="3200"/>
              <a:buFont typeface="Arial"/>
              <a:buNone/>
            </a:pPr>
            <a:r>
              <a:rPr b="0" i="0" lang="ar-DZ" sz="3200" u="none">
                <a:solidFill>
                  <a:schemeClr val="dk1"/>
                </a:solidFill>
                <a:latin typeface="Arial"/>
                <a:ea typeface="Arial"/>
                <a:cs typeface="Arial"/>
                <a:sym typeface="Arial"/>
              </a:rPr>
              <a:t>1.4 </a:t>
            </a:r>
            <a:r>
              <a:rPr b="1" i="0" lang="ar-DZ" sz="3200" u="sng">
                <a:solidFill>
                  <a:srgbClr val="FF0000"/>
                </a:solidFill>
                <a:latin typeface="Arial"/>
                <a:ea typeface="Arial"/>
                <a:cs typeface="Arial"/>
                <a:sym typeface="Arial"/>
              </a:rPr>
              <a:t>النشاط الأول</a:t>
            </a:r>
            <a:r>
              <a:rPr b="1" i="0" lang="ar-DZ" sz="3200" u="none">
                <a:solidFill>
                  <a:srgbClr val="FF0000"/>
                </a:solidFill>
                <a:latin typeface="Arial"/>
                <a:ea typeface="Arial"/>
                <a:cs typeface="Arial"/>
                <a:sym typeface="Arial"/>
              </a:rPr>
              <a:t> :</a:t>
            </a:r>
            <a:r>
              <a:rPr b="0" i="0" lang="ar-DZ" sz="3200" u="none">
                <a:solidFill>
                  <a:schemeClr val="dk1"/>
                </a:solidFill>
                <a:latin typeface="Arial"/>
                <a:ea typeface="Arial"/>
                <a:cs typeface="Arial"/>
                <a:sym typeface="Arial"/>
              </a:rPr>
              <a:t> </a:t>
            </a:r>
            <a:r>
              <a:rPr b="0" i="0" lang="ar-DZ" sz="3200" u="none">
                <a:solidFill>
                  <a:srgbClr val="333333"/>
                </a:solidFill>
                <a:latin typeface="Arial"/>
                <a:ea typeface="Arial"/>
                <a:cs typeface="Arial"/>
                <a:sym typeface="Arial"/>
              </a:rPr>
              <a:t>معاينة إشارة كهربائية ذات توتر ثابت</a:t>
            </a:r>
            <a:endParaRPr/>
          </a:p>
        </p:txBody>
      </p:sp>
      <p:sp>
        <p:nvSpPr>
          <p:cNvPr id="308" name="Google Shape;308;p27"/>
          <p:cNvSpPr txBox="1"/>
          <p:nvPr/>
        </p:nvSpPr>
        <p:spPr>
          <a:xfrm>
            <a:off x="539750" y="1743075"/>
            <a:ext cx="8334375" cy="830262"/>
          </a:xfrm>
          <a:prstGeom prst="rect">
            <a:avLst/>
          </a:prstGeom>
          <a:noFill/>
          <a:ln>
            <a:noFill/>
          </a:ln>
        </p:spPr>
        <p:txBody>
          <a:bodyPr anchorCtr="0" anchor="t" bIns="45700" lIns="91425" spcFirstLastPara="1" rIns="91425" wrap="square" tIns="45700">
            <a:spAutoFit/>
          </a:bodyPr>
          <a:lstStyle/>
          <a:p>
            <a:pPr indent="-152400" lvl="0" marL="0" marR="0" rtl="1" algn="r">
              <a:lnSpc>
                <a:spcPct val="100000"/>
              </a:lnSpc>
              <a:spcBef>
                <a:spcPts val="0"/>
              </a:spcBef>
              <a:spcAft>
                <a:spcPts val="0"/>
              </a:spcAft>
              <a:buClr>
                <a:schemeClr val="dk1"/>
              </a:buClr>
              <a:buSzPts val="2400"/>
              <a:buFont typeface="Noto Sans Symbols"/>
              <a:buChar char="⮚"/>
            </a:pPr>
            <a:r>
              <a:rPr b="1" i="0" lang="ar-DZ" sz="2400" u="none">
                <a:solidFill>
                  <a:schemeClr val="dk1"/>
                </a:solidFill>
                <a:latin typeface="Arial"/>
                <a:ea typeface="Arial"/>
                <a:cs typeface="Arial"/>
                <a:sym typeface="Arial"/>
              </a:rPr>
              <a:t>  </a:t>
            </a:r>
            <a:r>
              <a:rPr b="0" i="0" lang="ar-DZ" sz="2400" u="none">
                <a:solidFill>
                  <a:schemeClr val="dk1"/>
                </a:solidFill>
                <a:latin typeface="Arial"/>
                <a:ea typeface="Arial"/>
                <a:cs typeface="Arial"/>
                <a:sym typeface="Arial"/>
              </a:rPr>
              <a:t>ربط مولد التيار المستمر بالمدخل </a:t>
            </a:r>
            <a:r>
              <a:rPr b="1" i="0" lang="ar-DZ" sz="2400" u="none">
                <a:solidFill>
                  <a:schemeClr val="dk1"/>
                </a:solidFill>
                <a:latin typeface="Arial"/>
                <a:ea typeface="Arial"/>
                <a:cs typeface="Arial"/>
                <a:sym typeface="Arial"/>
              </a:rPr>
              <a:t>Y</a:t>
            </a:r>
            <a:r>
              <a:rPr b="1" i="0" lang="ar-DZ" sz="1400" u="none">
                <a:solidFill>
                  <a:schemeClr val="dk1"/>
                </a:solidFill>
                <a:latin typeface="Arial"/>
                <a:ea typeface="Arial"/>
                <a:cs typeface="Arial"/>
                <a:sym typeface="Arial"/>
              </a:rPr>
              <a:t>INPUT</a:t>
            </a:r>
            <a:r>
              <a:rPr b="1" i="0" lang="ar-DZ" sz="2400" u="none">
                <a:solidFill>
                  <a:schemeClr val="dk1"/>
                </a:solidFill>
                <a:latin typeface="Arial"/>
                <a:ea typeface="Arial"/>
                <a:cs typeface="Arial"/>
                <a:sym typeface="Arial"/>
              </a:rPr>
              <a:t> </a:t>
            </a:r>
            <a:r>
              <a:rPr b="1" i="0" lang="ar-DZ" sz="2400" u="none">
                <a:solidFill>
                  <a:srgbClr val="0070C0"/>
                </a:solidFill>
                <a:latin typeface="Arial"/>
                <a:ea typeface="Arial"/>
                <a:cs typeface="Arial"/>
                <a:sym typeface="Arial"/>
              </a:rPr>
              <a:t>  </a:t>
            </a:r>
            <a:r>
              <a:rPr b="0" i="0" lang="ar-DZ" sz="2400" u="none">
                <a:solidFill>
                  <a:srgbClr val="333333"/>
                </a:solidFill>
                <a:latin typeface="Arial"/>
                <a:ea typeface="Arial"/>
                <a:cs typeface="Arial"/>
                <a:sym typeface="Arial"/>
              </a:rPr>
              <a:t>لجهاز راسم الإهتزاز المهبطي باحترام أقطاب كل جهاز كما هو معطى في الشكل أدناه.</a:t>
            </a:r>
            <a:endParaRPr/>
          </a:p>
        </p:txBody>
      </p:sp>
      <p:grpSp>
        <p:nvGrpSpPr>
          <p:cNvPr id="309" name="Google Shape;309;p27"/>
          <p:cNvGrpSpPr/>
          <p:nvPr/>
        </p:nvGrpSpPr>
        <p:grpSpPr>
          <a:xfrm>
            <a:off x="755650" y="2482850"/>
            <a:ext cx="7632700" cy="3178175"/>
            <a:chOff x="1763688" y="2483604"/>
            <a:chExt cx="6624203" cy="2457564"/>
          </a:xfrm>
        </p:grpSpPr>
        <p:grpSp>
          <p:nvGrpSpPr>
            <p:cNvPr id="310" name="Google Shape;310;p27"/>
            <p:cNvGrpSpPr/>
            <p:nvPr/>
          </p:nvGrpSpPr>
          <p:grpSpPr>
            <a:xfrm>
              <a:off x="1763688" y="2642054"/>
              <a:ext cx="6624203" cy="2299114"/>
              <a:chOff x="1763688" y="2204856"/>
              <a:chExt cx="6624203" cy="2299114"/>
            </a:xfrm>
          </p:grpSpPr>
          <p:sp>
            <p:nvSpPr>
              <p:cNvPr id="311" name="Google Shape;311;p27"/>
              <p:cNvSpPr/>
              <p:nvPr/>
            </p:nvSpPr>
            <p:spPr>
              <a:xfrm>
                <a:off x="6732240" y="3429000"/>
                <a:ext cx="216024" cy="432048"/>
              </a:xfrm>
              <a:prstGeom prst="can">
                <a:avLst>
                  <a:gd fmla="val 2700" name="adj"/>
                </a:avLst>
              </a:prstGeom>
              <a:solidFill>
                <a:schemeClr val="accent1"/>
              </a:solid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12" name="Google Shape;312;p27"/>
              <p:cNvSpPr txBox="1"/>
              <p:nvPr/>
            </p:nvSpPr>
            <p:spPr>
              <a:xfrm>
                <a:off x="1763688" y="4221088"/>
                <a:ext cx="288031" cy="28288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nvGrpSpPr>
              <p:cNvPr id="313" name="Google Shape;313;p27"/>
              <p:cNvGrpSpPr/>
              <p:nvPr/>
            </p:nvGrpSpPr>
            <p:grpSpPr>
              <a:xfrm>
                <a:off x="5392290" y="2204856"/>
                <a:ext cx="2995601" cy="1438574"/>
                <a:chOff x="8068" y="8832"/>
                <a:chExt cx="1886" cy="905"/>
              </a:xfrm>
            </p:grpSpPr>
            <p:sp>
              <p:nvSpPr>
                <p:cNvPr id="314" name="Google Shape;314;p27"/>
                <p:cNvSpPr txBox="1"/>
                <p:nvPr/>
              </p:nvSpPr>
              <p:spPr>
                <a:xfrm>
                  <a:off x="8096" y="8972"/>
                  <a:ext cx="655" cy="451"/>
                </a:xfrm>
                <a:prstGeom prst="rect">
                  <a:avLst/>
                </a:prstGeom>
                <a:no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cxnSp>
              <p:nvCxnSpPr>
                <p:cNvPr id="315" name="Google Shape;315;p27"/>
                <p:cNvCxnSpPr/>
                <p:nvPr/>
              </p:nvCxnSpPr>
              <p:spPr>
                <a:xfrm>
                  <a:off x="8419" y="8993"/>
                  <a:ext cx="0" cy="430"/>
                </a:xfrm>
                <a:prstGeom prst="straightConnector1">
                  <a:avLst/>
                </a:prstGeom>
                <a:noFill/>
                <a:ln cap="flat" cmpd="sng" w="28575">
                  <a:solidFill>
                    <a:srgbClr val="000000"/>
                  </a:solidFill>
                  <a:prstDash val="solid"/>
                  <a:miter lim="800000"/>
                  <a:headEnd len="med" w="med" type="none"/>
                  <a:tailEnd len="med" w="med" type="none"/>
                </a:ln>
              </p:spPr>
            </p:cxnSp>
            <p:cxnSp>
              <p:nvCxnSpPr>
                <p:cNvPr id="316" name="Google Shape;316;p27"/>
                <p:cNvCxnSpPr/>
                <p:nvPr/>
              </p:nvCxnSpPr>
              <p:spPr>
                <a:xfrm>
                  <a:off x="8104" y="9213"/>
                  <a:ext cx="647" cy="0"/>
                </a:xfrm>
                <a:prstGeom prst="straightConnector1">
                  <a:avLst/>
                </a:prstGeom>
                <a:noFill/>
                <a:ln cap="flat" cmpd="sng" w="28575">
                  <a:solidFill>
                    <a:srgbClr val="000000"/>
                  </a:solidFill>
                  <a:prstDash val="solid"/>
                  <a:miter lim="800000"/>
                  <a:headEnd len="med" w="med" type="none"/>
                  <a:tailEnd len="med" w="med" type="none"/>
                </a:ln>
              </p:spPr>
            </p:cxnSp>
            <p:sp>
              <p:nvSpPr>
                <p:cNvPr id="317" name="Google Shape;317;p27"/>
                <p:cNvSpPr txBox="1"/>
                <p:nvPr/>
              </p:nvSpPr>
              <p:spPr>
                <a:xfrm>
                  <a:off x="8951" y="8875"/>
                  <a:ext cx="958" cy="229"/>
                </a:xfrm>
                <a:prstGeom prst="rect">
                  <a:avLst/>
                </a:prstGeom>
                <a:noFill/>
                <a:ln cap="flat" cmpd="sng" w="28575">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Calibri"/>
                    <a:buNone/>
                  </a:pPr>
                  <a:r>
                    <a:rPr b="0" i="0" lang="ar-DZ" sz="2000" u="none">
                      <a:solidFill>
                        <a:schemeClr val="dk1"/>
                      </a:solidFill>
                      <a:latin typeface="Calibri"/>
                      <a:ea typeface="Calibri"/>
                      <a:cs typeface="Calibri"/>
                      <a:sym typeface="Calibri"/>
                    </a:rPr>
                    <a:t>oscilloscope</a:t>
                  </a:r>
                  <a:endParaRPr/>
                </a:p>
              </p:txBody>
            </p:sp>
            <p:sp>
              <p:nvSpPr>
                <p:cNvPr id="318" name="Google Shape;318;p27"/>
                <p:cNvSpPr txBox="1"/>
                <p:nvPr/>
              </p:nvSpPr>
              <p:spPr>
                <a:xfrm>
                  <a:off x="8776" y="9206"/>
                  <a:ext cx="663" cy="358"/>
                </a:xfrm>
                <a:prstGeom prst="rect">
                  <a:avLst/>
                </a:prstGeom>
                <a:noFill/>
                <a:ln cap="flat" cmpd="sng" w="28575">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400"/>
                    <a:buFont typeface="Arial"/>
                    <a:buNone/>
                  </a:pPr>
                  <a:r>
                    <a:rPr b="1" i="0" lang="ar-DZ" sz="2400" u="none">
                      <a:solidFill>
                        <a:schemeClr val="dk1"/>
                      </a:solidFill>
                      <a:latin typeface="Arial"/>
                      <a:ea typeface="Arial"/>
                      <a:cs typeface="Arial"/>
                      <a:sym typeface="Arial"/>
                    </a:rPr>
                    <a:t>Y</a:t>
                  </a:r>
                  <a:r>
                    <a:rPr b="1" i="0" lang="ar-DZ" sz="1800" u="none">
                      <a:solidFill>
                        <a:schemeClr val="dk1"/>
                      </a:solidFill>
                      <a:latin typeface="Arial"/>
                      <a:ea typeface="Arial"/>
                      <a:cs typeface="Arial"/>
                      <a:sym typeface="Arial"/>
                    </a:rPr>
                    <a:t>INPUT</a:t>
                  </a:r>
                  <a:endParaRPr/>
                </a:p>
              </p:txBody>
            </p:sp>
            <p:grpSp>
              <p:nvGrpSpPr>
                <p:cNvPr id="319" name="Google Shape;319;p27"/>
                <p:cNvGrpSpPr/>
                <p:nvPr/>
              </p:nvGrpSpPr>
              <p:grpSpPr>
                <a:xfrm>
                  <a:off x="8932" y="9482"/>
                  <a:ext cx="113" cy="255"/>
                  <a:chOff x="8932" y="9239"/>
                  <a:chExt cx="113" cy="255"/>
                </a:xfrm>
              </p:grpSpPr>
              <p:sp>
                <p:nvSpPr>
                  <p:cNvPr id="320" name="Google Shape;320;p27"/>
                  <p:cNvSpPr/>
                  <p:nvPr/>
                </p:nvSpPr>
                <p:spPr>
                  <a:xfrm>
                    <a:off x="8932" y="9239"/>
                    <a:ext cx="113" cy="113"/>
                  </a:xfrm>
                  <a:prstGeom prst="ellipse">
                    <a:avLst/>
                  </a:prstGeom>
                  <a:blipFill rotWithShape="1">
                    <a:blip r:embed="rId3">
                      <a:alphaModFix/>
                    </a:blip>
                    <a:stretch>
                      <a:fillRect b="0" l="0" r="0" t="0"/>
                    </a:stretch>
                  </a:blip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cxnSp>
                <p:nvCxnSpPr>
                  <p:cNvPr id="321" name="Google Shape;321;p27"/>
                  <p:cNvCxnSpPr/>
                  <p:nvPr/>
                </p:nvCxnSpPr>
                <p:spPr>
                  <a:xfrm>
                    <a:off x="8992" y="9327"/>
                    <a:ext cx="0" cy="167"/>
                  </a:xfrm>
                  <a:prstGeom prst="straightConnector1">
                    <a:avLst/>
                  </a:prstGeom>
                  <a:noFill/>
                  <a:ln cap="flat" cmpd="sng" w="28575">
                    <a:solidFill>
                      <a:srgbClr val="000000"/>
                    </a:solidFill>
                    <a:prstDash val="solid"/>
                    <a:miter lim="800000"/>
                    <a:headEnd len="med" w="med" type="none"/>
                    <a:tailEnd len="med" w="med" type="none"/>
                  </a:ln>
                </p:spPr>
              </p:cxnSp>
            </p:grpSp>
            <p:sp>
              <p:nvSpPr>
                <p:cNvPr id="322" name="Google Shape;322;p27"/>
                <p:cNvSpPr txBox="1"/>
                <p:nvPr/>
              </p:nvSpPr>
              <p:spPr>
                <a:xfrm>
                  <a:off x="8068" y="8832"/>
                  <a:ext cx="1886" cy="821"/>
                </a:xfrm>
                <a:prstGeom prst="rect">
                  <a:avLst/>
                </a:prstGeom>
                <a:no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sp>
            <p:nvSpPr>
              <p:cNvPr id="323" name="Google Shape;323;p27"/>
              <p:cNvSpPr txBox="1"/>
              <p:nvPr/>
            </p:nvSpPr>
            <p:spPr>
              <a:xfrm>
                <a:off x="2267943" y="2349612"/>
                <a:ext cx="1449389" cy="870336"/>
              </a:xfrm>
              <a:prstGeom prst="rect">
                <a:avLst/>
              </a:prstGeom>
              <a:gradFill>
                <a:gsLst>
                  <a:gs pos="0">
                    <a:srgbClr val="BCBCBC"/>
                  </a:gs>
                  <a:gs pos="35000">
                    <a:srgbClr val="D0D0D0"/>
                  </a:gs>
                  <a:gs pos="100000">
                    <a:srgbClr val="EDEDED"/>
                  </a:gs>
                </a:gsLst>
                <a:lin ang="16200000" scaled="0"/>
              </a:gradFill>
              <a:ln cap="flat" cmpd="sng" w="9525">
                <a:solidFill>
                  <a:srgbClr val="000000"/>
                </a:solidFill>
                <a:prstDash val="solid"/>
                <a:miter lim="800000"/>
                <a:headEnd len="sm" w="sm" type="none"/>
                <a:tailEnd len="sm" w="sm" type="none"/>
              </a:ln>
              <a:effectLst>
                <a:outerShdw blurRad="63500" dir="5400000" dist="20000">
                  <a:srgbClr val="000000">
                    <a:alpha val="37647"/>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24" name="Google Shape;324;p27"/>
              <p:cNvSpPr txBox="1"/>
              <p:nvPr/>
            </p:nvSpPr>
            <p:spPr>
              <a:xfrm>
                <a:off x="2354832" y="2420888"/>
                <a:ext cx="1296144" cy="297565"/>
              </a:xfrm>
              <a:prstGeom prst="rect">
                <a:avLst/>
              </a:prstGeom>
              <a:noFill/>
              <a:ln>
                <a:noFill/>
              </a:ln>
            </p:spPr>
            <p:txBody>
              <a:bodyPr anchorCtr="0" anchor="t" bIns="0" lIns="0" spcFirstLastPara="1" rIns="0" wrap="square" tIns="0">
                <a:noAutofit/>
              </a:bodyPr>
              <a:lstStyle/>
              <a:p>
                <a:pPr indent="0" lvl="0" marL="0" marR="0" rtl="1" algn="r">
                  <a:lnSpc>
                    <a:spcPct val="100000"/>
                  </a:lnSpc>
                  <a:spcBef>
                    <a:spcPts val="0"/>
                  </a:spcBef>
                  <a:spcAft>
                    <a:spcPts val="0"/>
                  </a:spcAft>
                  <a:buClr>
                    <a:schemeClr val="dk1"/>
                  </a:buClr>
                  <a:buSzPts val="2000"/>
                  <a:buFont typeface="Arial"/>
                  <a:buNone/>
                </a:pPr>
                <a:r>
                  <a:rPr b="1" i="0" lang="ar-DZ" sz="2000" u="none">
                    <a:solidFill>
                      <a:schemeClr val="dk1"/>
                    </a:solidFill>
                    <a:latin typeface="Arial"/>
                    <a:ea typeface="Arial"/>
                    <a:cs typeface="Arial"/>
                    <a:sym typeface="Arial"/>
                  </a:rPr>
                  <a:t> V 12 -   0 </a:t>
                </a:r>
                <a:endParaRPr/>
              </a:p>
            </p:txBody>
          </p:sp>
          <p:sp>
            <p:nvSpPr>
              <p:cNvPr id="325" name="Google Shape;325;p27"/>
              <p:cNvSpPr/>
              <p:nvPr/>
            </p:nvSpPr>
            <p:spPr>
              <a:xfrm>
                <a:off x="3186900" y="3212583"/>
                <a:ext cx="139152" cy="136259"/>
              </a:xfrm>
              <a:prstGeom prst="ellipse">
                <a:avLst/>
              </a:prstGeom>
              <a:gradFill>
                <a:gsLst>
                  <a:gs pos="0">
                    <a:srgbClr val="000000"/>
                  </a:gs>
                  <a:gs pos="80000">
                    <a:srgbClr val="000000"/>
                  </a:gs>
                  <a:gs pos="100000">
                    <a:srgbClr val="000000"/>
                  </a:gs>
                </a:gsLst>
                <a:lin ang="16200000" scaled="0"/>
              </a:gradFill>
              <a:ln cap="flat" cmpd="sng" w="9525">
                <a:solidFill>
                  <a:srgbClr val="000000"/>
                </a:solidFill>
                <a:prstDash val="solid"/>
                <a:miter lim="800000"/>
                <a:headEnd len="sm" w="sm" type="none"/>
                <a:tailEnd len="sm" w="sm" type="none"/>
              </a:ln>
              <a:effectLst>
                <a:outerShdw blurRad="63500" dir="5400000" dist="23000">
                  <a:srgbClr val="000000">
                    <a:alpha val="3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26" name="Google Shape;326;p27"/>
              <p:cNvSpPr/>
              <p:nvPr/>
            </p:nvSpPr>
            <p:spPr>
              <a:xfrm>
                <a:off x="3254409" y="3303422"/>
                <a:ext cx="3477431" cy="950127"/>
              </a:xfrm>
              <a:custGeom>
                <a:rect b="b" l="l" r="r" t="t"/>
                <a:pathLst>
                  <a:path extrusionOk="0" h="750" w="3255">
                    <a:moveTo>
                      <a:pt x="0" y="0"/>
                    </a:moveTo>
                    <a:lnTo>
                      <a:pt x="0" y="750"/>
                    </a:lnTo>
                    <a:lnTo>
                      <a:pt x="3255" y="750"/>
                    </a:lnTo>
                    <a:lnTo>
                      <a:pt x="3255" y="307"/>
                    </a:lnTo>
                  </a:path>
                </a:pathLst>
              </a:custGeom>
              <a:noFill/>
              <a:ln cap="flat" cmpd="sng" w="38100">
                <a:solidFill>
                  <a:srgbClr val="000000"/>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27" name="Google Shape;327;p27"/>
              <p:cNvSpPr/>
              <p:nvPr/>
            </p:nvSpPr>
            <p:spPr>
              <a:xfrm>
                <a:off x="2740510" y="3300967"/>
                <a:ext cx="4124972" cy="991864"/>
              </a:xfrm>
              <a:custGeom>
                <a:rect b="b" l="l" r="r" t="t"/>
                <a:pathLst>
                  <a:path extrusionOk="0" h="1013" w="3608">
                    <a:moveTo>
                      <a:pt x="0" y="0"/>
                    </a:moveTo>
                    <a:lnTo>
                      <a:pt x="0" y="1013"/>
                    </a:lnTo>
                    <a:lnTo>
                      <a:pt x="3608" y="1013"/>
                    </a:lnTo>
                    <a:lnTo>
                      <a:pt x="3608" y="293"/>
                    </a:lnTo>
                  </a:path>
                </a:pathLst>
              </a:custGeom>
              <a:noFill/>
              <a:ln cap="flat" cmpd="sng" w="38100">
                <a:solidFill>
                  <a:srgbClr val="FF0000"/>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28" name="Google Shape;328;p27"/>
              <p:cNvSpPr/>
              <p:nvPr/>
            </p:nvSpPr>
            <p:spPr>
              <a:xfrm>
                <a:off x="2627535" y="2852910"/>
                <a:ext cx="287948" cy="288475"/>
              </a:xfrm>
              <a:custGeom>
                <a:rect b="b" l="l" r="r" t="t"/>
                <a:pathLst>
                  <a:path extrusionOk="0" h="288475" w="287948">
                    <a:moveTo>
                      <a:pt x="38167" y="110375"/>
                    </a:moveTo>
                    <a:lnTo>
                      <a:pt x="110111" y="110375"/>
                    </a:lnTo>
                    <a:lnTo>
                      <a:pt x="110111" y="38237"/>
                    </a:lnTo>
                    <a:lnTo>
                      <a:pt x="177837" y="38237"/>
                    </a:lnTo>
                    <a:lnTo>
                      <a:pt x="177837" y="110375"/>
                    </a:lnTo>
                    <a:lnTo>
                      <a:pt x="249781" y="110375"/>
                    </a:lnTo>
                    <a:lnTo>
                      <a:pt x="249781" y="178100"/>
                    </a:lnTo>
                    <a:lnTo>
                      <a:pt x="177837" y="178100"/>
                    </a:lnTo>
                    <a:lnTo>
                      <a:pt x="177837" y="250238"/>
                    </a:lnTo>
                    <a:lnTo>
                      <a:pt x="110111" y="250238"/>
                    </a:lnTo>
                    <a:lnTo>
                      <a:pt x="110111" y="178100"/>
                    </a:lnTo>
                    <a:lnTo>
                      <a:pt x="38167" y="178100"/>
                    </a:lnTo>
                    <a:close/>
                  </a:path>
                </a:pathLst>
              </a:cu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29" name="Google Shape;329;p27"/>
              <p:cNvSpPr/>
              <p:nvPr/>
            </p:nvSpPr>
            <p:spPr>
              <a:xfrm>
                <a:off x="3131790" y="2996533"/>
                <a:ext cx="216306" cy="46647"/>
              </a:xfrm>
              <a:custGeom>
                <a:rect b="b" l="l" r="r" t="t"/>
                <a:pathLst>
                  <a:path extrusionOk="0" h="46647" w="216306">
                    <a:moveTo>
                      <a:pt x="28671" y="17838"/>
                    </a:moveTo>
                    <a:lnTo>
                      <a:pt x="187635" y="17838"/>
                    </a:lnTo>
                    <a:lnTo>
                      <a:pt x="187635" y="28809"/>
                    </a:lnTo>
                    <a:lnTo>
                      <a:pt x="28671" y="28809"/>
                    </a:lnTo>
                    <a:close/>
                  </a:path>
                </a:pathLst>
              </a:custGeom>
              <a:solidFill>
                <a:schemeClr val="lt1"/>
              </a:solidFill>
              <a:ln cap="flat" cmpd="sng" w="381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30" name="Google Shape;330;p27"/>
              <p:cNvSpPr/>
              <p:nvPr/>
            </p:nvSpPr>
            <p:spPr>
              <a:xfrm>
                <a:off x="2675257" y="3229105"/>
                <a:ext cx="139227" cy="136058"/>
              </a:xfrm>
              <a:prstGeom prst="ellipse">
                <a:avLst/>
              </a:prstGeom>
              <a:solidFill>
                <a:srgbClr val="FF0000"/>
              </a:solidFill>
              <a:ln cap="flat" cmpd="sng" w="254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sp>
          <p:nvSpPr>
            <p:cNvPr id="331" name="Google Shape;331;p27"/>
            <p:cNvSpPr txBox="1"/>
            <p:nvPr/>
          </p:nvSpPr>
          <p:spPr>
            <a:xfrm>
              <a:off x="2409699" y="2483604"/>
              <a:ext cx="1405390" cy="285591"/>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chemeClr val="dk1"/>
                </a:buClr>
                <a:buSzPts val="1800"/>
                <a:buFont typeface="Arial"/>
                <a:buNone/>
              </a:pPr>
              <a:r>
                <a:rPr b="0" i="0" lang="ar-DZ" sz="1800" u="none">
                  <a:solidFill>
                    <a:schemeClr val="dk1"/>
                  </a:solidFill>
                  <a:latin typeface="Arial"/>
                  <a:ea typeface="Arial"/>
                  <a:cs typeface="Arial"/>
                  <a:sym typeface="Arial"/>
                </a:rPr>
                <a:t>مولد التوتر المستمر</a:t>
              </a:r>
              <a:endParaRPr/>
            </a:p>
          </p:txBody>
        </p:sp>
      </p:grpSp>
      <p:sp>
        <p:nvSpPr>
          <p:cNvPr id="332" name="Google Shape;332;p27"/>
          <p:cNvSpPr txBox="1"/>
          <p:nvPr/>
        </p:nvSpPr>
        <p:spPr>
          <a:xfrm>
            <a:off x="179387" y="5661025"/>
            <a:ext cx="8766175" cy="461962"/>
          </a:xfrm>
          <a:prstGeom prst="rect">
            <a:avLst/>
          </a:prstGeom>
          <a:noFill/>
          <a:ln>
            <a:noFill/>
          </a:ln>
        </p:spPr>
        <p:txBody>
          <a:bodyPr anchorCtr="0" anchor="t" bIns="45700" lIns="91425" spcFirstLastPara="1" rIns="91425" wrap="square" tIns="45700">
            <a:spAutoFit/>
          </a:bodyPr>
          <a:lstStyle/>
          <a:p>
            <a:pPr indent="-152400" lvl="0" marL="0" marR="0" rtl="1" algn="r">
              <a:lnSpc>
                <a:spcPct val="100000"/>
              </a:lnSpc>
              <a:spcBef>
                <a:spcPts val="0"/>
              </a:spcBef>
              <a:spcAft>
                <a:spcPts val="0"/>
              </a:spcAft>
              <a:buClr>
                <a:schemeClr val="dk1"/>
              </a:buClr>
              <a:buSzPts val="2400"/>
              <a:buFont typeface="Noto Sans Symbols"/>
              <a:buChar char="⮚"/>
            </a:pPr>
            <a:r>
              <a:rPr b="1" i="0" lang="ar-DZ" sz="2400" u="none">
                <a:solidFill>
                  <a:schemeClr val="dk1"/>
                </a:solidFill>
                <a:latin typeface="Arial"/>
                <a:ea typeface="Arial"/>
                <a:cs typeface="Arial"/>
                <a:sym typeface="Arial"/>
              </a:rPr>
              <a:t>  تشغيل كلا من المولد وجهاز راسم الإهتزاز المهبطي بالضغط على زر </a:t>
            </a:r>
            <a:r>
              <a:rPr b="1" i="0" lang="ar-DZ" sz="2400" u="none">
                <a:solidFill>
                  <a:srgbClr val="C00000"/>
                </a:solidFill>
                <a:latin typeface="Arial"/>
                <a:ea typeface="Arial"/>
                <a:cs typeface="Arial"/>
                <a:sym typeface="Arial"/>
              </a:rPr>
              <a:t>POWER </a:t>
            </a:r>
            <a:endParaRPr/>
          </a:p>
        </p:txBody>
      </p:sp>
      <p:sp>
        <p:nvSpPr>
          <p:cNvPr id="333" name="Google Shape;333;p27"/>
          <p:cNvSpPr txBox="1"/>
          <p:nvPr/>
        </p:nvSpPr>
        <p:spPr>
          <a:xfrm>
            <a:off x="539552" y="6237312"/>
            <a:ext cx="7128792" cy="461665"/>
          </a:xfrm>
          <a:prstGeom prst="rect">
            <a:avLst/>
          </a:prstGeom>
          <a:solidFill>
            <a:schemeClr val="lt1"/>
          </a:solidFill>
          <a:ln cap="flat" cmpd="sng" w="5715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SzPts val="2400"/>
              <a:buFont typeface="Calibri"/>
              <a:buNone/>
            </a:pPr>
            <a:r>
              <a:rPr b="1" i="0" lang="ar-DZ" sz="2400" u="none" cap="none" strike="noStrike">
                <a:latin typeface="Calibri"/>
                <a:ea typeface="Calibri"/>
                <a:cs typeface="Calibri"/>
                <a:sym typeface="Calibri"/>
              </a:rPr>
              <a:t>ملاحظة : </a:t>
            </a:r>
            <a:r>
              <a:rPr b="1" i="0" lang="ar-DZ" sz="2400" u="none" cap="none" strike="noStrike">
                <a:solidFill>
                  <a:schemeClr val="dk1"/>
                </a:solidFill>
                <a:latin typeface="Calibri"/>
                <a:ea typeface="Calibri"/>
                <a:cs typeface="Calibri"/>
                <a:sym typeface="Calibri"/>
              </a:rPr>
              <a:t>المحور العمودي على الشاشة يمثل محور التوتر الكهربائي.</a:t>
            </a:r>
            <a:endParaRPr b="1" i="0" sz="2400" u="none" cap="none" strike="noStrike">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8"/>
          <p:cNvSpPr txBox="1"/>
          <p:nvPr/>
        </p:nvSpPr>
        <p:spPr>
          <a:xfrm>
            <a:off x="755576" y="44624"/>
            <a:ext cx="8208912" cy="523220"/>
          </a:xfrm>
          <a:prstGeom prst="rect">
            <a:avLst/>
          </a:prstGeom>
          <a:noFill/>
          <a:ln>
            <a:noFill/>
          </a:ln>
        </p:spPr>
        <p:txBody>
          <a:bodyPr anchorCtr="0" anchor="t" bIns="45700" lIns="91425" spcFirstLastPara="1" rIns="91425" wrap="square" tIns="45700">
            <a:spAutoFit/>
          </a:bodyPr>
          <a:lstStyle/>
          <a:p>
            <a:pPr indent="-177800" lvl="0" marL="0" marR="0" rtl="1" algn="r">
              <a:lnSpc>
                <a:spcPct val="100000"/>
              </a:lnSpc>
              <a:spcBef>
                <a:spcPts val="0"/>
              </a:spcBef>
              <a:spcAft>
                <a:spcPts val="0"/>
              </a:spcAft>
              <a:buClr>
                <a:srgbClr val="F4F0E2"/>
              </a:buClr>
              <a:buSzPts val="2800"/>
              <a:buFont typeface="Noto Sans Symbols"/>
              <a:buChar char="✔"/>
            </a:pPr>
            <a:r>
              <a:rPr b="1" i="0" lang="ar-DZ" sz="2800" u="none" cap="none" strike="noStrike">
                <a:solidFill>
                  <a:srgbClr val="F4F0E2"/>
                </a:solidFill>
                <a:latin typeface="Arial"/>
                <a:ea typeface="Arial"/>
                <a:cs typeface="Arial"/>
                <a:sym typeface="Arial"/>
              </a:rPr>
              <a:t> ضبط زر الحساسية الشاقولية VOLT/DIV 2 = Sv</a:t>
            </a:r>
            <a:endParaRPr b="0" i="0" sz="2400" u="none" cap="none" strike="noStrike">
              <a:solidFill>
                <a:schemeClr val="dk1"/>
              </a:solidFill>
              <a:latin typeface="Arial"/>
              <a:ea typeface="Arial"/>
              <a:cs typeface="Arial"/>
              <a:sym typeface="Arial"/>
            </a:endParaRPr>
          </a:p>
        </p:txBody>
      </p:sp>
      <p:grpSp>
        <p:nvGrpSpPr>
          <p:cNvPr id="339" name="Google Shape;339;p28"/>
          <p:cNvGrpSpPr/>
          <p:nvPr/>
        </p:nvGrpSpPr>
        <p:grpSpPr>
          <a:xfrm>
            <a:off x="4932362" y="620712"/>
            <a:ext cx="3744912" cy="3363912"/>
            <a:chOff x="4932363" y="620713"/>
            <a:chExt cx="3744912" cy="3363912"/>
          </a:xfrm>
        </p:grpSpPr>
        <p:pic>
          <p:nvPicPr>
            <p:cNvPr descr="Image associée" id="340" name="Google Shape;340;p28"/>
            <p:cNvPicPr preferRelativeResize="0"/>
            <p:nvPr/>
          </p:nvPicPr>
          <p:blipFill rotWithShape="1">
            <a:blip r:embed="rId3">
              <a:alphaModFix/>
            </a:blip>
            <a:srcRect b="0" l="0" r="0" t="0"/>
            <a:stretch/>
          </p:blipFill>
          <p:spPr>
            <a:xfrm>
              <a:off x="4932363" y="620713"/>
              <a:ext cx="3744912" cy="3363912"/>
            </a:xfrm>
            <a:prstGeom prst="rect">
              <a:avLst/>
            </a:prstGeom>
            <a:noFill/>
            <a:ln>
              <a:noFill/>
            </a:ln>
          </p:spPr>
        </p:pic>
        <p:sp>
          <p:nvSpPr>
            <p:cNvPr id="341" name="Google Shape;341;p28"/>
            <p:cNvSpPr/>
            <p:nvPr/>
          </p:nvSpPr>
          <p:spPr>
            <a:xfrm>
              <a:off x="6736368" y="1513822"/>
              <a:ext cx="108000" cy="108000"/>
            </a:xfrm>
            <a:prstGeom prst="ellipse">
              <a:avLst/>
            </a:prstGeom>
            <a:solidFill>
              <a:srgbClr val="0070C0"/>
            </a:solidFill>
            <a:ln cap="flat" cmpd="sng" w="9525">
              <a:solidFill>
                <a:srgbClr val="0070C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grpSp>
        <p:nvGrpSpPr>
          <p:cNvPr id="342" name="Google Shape;342;p28"/>
          <p:cNvGrpSpPr/>
          <p:nvPr/>
        </p:nvGrpSpPr>
        <p:grpSpPr>
          <a:xfrm>
            <a:off x="755650" y="620712"/>
            <a:ext cx="3744912" cy="3363912"/>
            <a:chOff x="755650" y="620713"/>
            <a:chExt cx="3744913" cy="3363912"/>
          </a:xfrm>
        </p:grpSpPr>
        <p:pic>
          <p:nvPicPr>
            <p:cNvPr descr="Image associée" id="343" name="Google Shape;343;p28"/>
            <p:cNvPicPr preferRelativeResize="0"/>
            <p:nvPr/>
          </p:nvPicPr>
          <p:blipFill rotWithShape="1">
            <a:blip r:embed="rId3">
              <a:alphaModFix/>
            </a:blip>
            <a:srcRect b="0" l="0" r="0" t="0"/>
            <a:stretch/>
          </p:blipFill>
          <p:spPr>
            <a:xfrm>
              <a:off x="755650" y="620713"/>
              <a:ext cx="3744913" cy="3363912"/>
            </a:xfrm>
            <a:prstGeom prst="rect">
              <a:avLst/>
            </a:prstGeom>
            <a:noFill/>
            <a:ln>
              <a:noFill/>
            </a:ln>
          </p:spPr>
        </p:pic>
        <p:cxnSp>
          <p:nvCxnSpPr>
            <p:cNvPr id="344" name="Google Shape;344;p28"/>
            <p:cNvCxnSpPr/>
            <p:nvPr/>
          </p:nvCxnSpPr>
          <p:spPr>
            <a:xfrm>
              <a:off x="827666" y="1578285"/>
              <a:ext cx="3600782" cy="0"/>
            </a:xfrm>
            <a:prstGeom prst="straightConnector1">
              <a:avLst/>
            </a:prstGeom>
            <a:noFill/>
            <a:ln cap="flat" cmpd="sng" w="28575">
              <a:solidFill>
                <a:srgbClr val="0070C0"/>
              </a:solidFill>
              <a:prstDash val="solid"/>
              <a:miter lim="800000"/>
              <a:headEnd len="med" w="med" type="none"/>
              <a:tailEnd len="med" w="med" type="none"/>
            </a:ln>
          </p:spPr>
        </p:cxnSp>
      </p:grpSp>
      <p:sp>
        <p:nvSpPr>
          <p:cNvPr id="345" name="Google Shape;345;p28"/>
          <p:cNvSpPr/>
          <p:nvPr/>
        </p:nvSpPr>
        <p:spPr>
          <a:xfrm>
            <a:off x="827584" y="4077072"/>
            <a:ext cx="7704906" cy="6477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1" algn="r">
              <a:lnSpc>
                <a:spcPct val="100000"/>
              </a:lnSpc>
              <a:spcBef>
                <a:spcPts val="0"/>
              </a:spcBef>
              <a:spcAft>
                <a:spcPts val="0"/>
              </a:spcAft>
              <a:buClr>
                <a:schemeClr val="hlink"/>
              </a:buClr>
              <a:buSzPts val="2400"/>
              <a:buFont typeface="Arial"/>
              <a:buNone/>
            </a:pPr>
            <a:r>
              <a:rPr b="1" i="0" lang="ar-DZ" sz="2400" u="none" cap="none" strike="noStrike">
                <a:solidFill>
                  <a:schemeClr val="hlink"/>
                </a:solidFill>
                <a:latin typeface="Arial"/>
                <a:ea typeface="Arial"/>
                <a:cs typeface="Arial"/>
                <a:sym typeface="Arial"/>
              </a:rPr>
              <a:t> التوتر الكهربائي (U)= عدد التدريجات  × </a:t>
            </a:r>
            <a:r>
              <a:rPr b="1" i="0" lang="ar-DZ" sz="2400" u="none" cap="none" strike="noStrike">
                <a:solidFill>
                  <a:srgbClr val="F4F0E2"/>
                </a:solidFill>
                <a:latin typeface="Arial"/>
                <a:ea typeface="Arial"/>
                <a:cs typeface="Arial"/>
                <a:sym typeface="Arial"/>
              </a:rPr>
              <a:t>(n)</a:t>
            </a:r>
            <a:r>
              <a:rPr b="1" i="0" lang="ar-DZ" sz="2400" u="none" cap="none" strike="noStrike">
                <a:solidFill>
                  <a:schemeClr val="hlink"/>
                </a:solidFill>
                <a:latin typeface="Arial"/>
                <a:ea typeface="Arial"/>
                <a:cs typeface="Arial"/>
                <a:sym typeface="Arial"/>
              </a:rPr>
              <a:t> الحساسية الشاقولية </a:t>
            </a:r>
            <a:r>
              <a:rPr b="1" i="0" lang="ar-DZ" sz="2400" u="none" cap="none" strike="noStrike">
                <a:solidFill>
                  <a:srgbClr val="F4F0E2"/>
                </a:solidFill>
                <a:latin typeface="Arial"/>
                <a:ea typeface="Arial"/>
                <a:cs typeface="Arial"/>
                <a:sym typeface="Arial"/>
              </a:rPr>
              <a:t>(Sv)</a:t>
            </a:r>
            <a:r>
              <a:rPr b="1" i="0" lang="ar-DZ" sz="2400" u="none" cap="none" strike="noStrike">
                <a:solidFill>
                  <a:schemeClr val="hlink"/>
                </a:solidFill>
                <a:latin typeface="Arial"/>
                <a:ea typeface="Arial"/>
                <a:cs typeface="Arial"/>
                <a:sym typeface="Arial"/>
              </a:rPr>
              <a:t> </a:t>
            </a:r>
            <a:endParaRPr b="1" i="0" sz="2400" u="none" cap="none" strike="noStrike">
              <a:solidFill>
                <a:srgbClr val="F4F0E2"/>
              </a:solidFill>
              <a:latin typeface="Arial"/>
              <a:ea typeface="Arial"/>
              <a:cs typeface="Arial"/>
              <a:sym typeface="Arial"/>
            </a:endParaRPr>
          </a:p>
        </p:txBody>
      </p:sp>
      <p:sp>
        <p:nvSpPr>
          <p:cNvPr id="346" name="Google Shape;346;p28"/>
          <p:cNvSpPr txBox="1"/>
          <p:nvPr/>
        </p:nvSpPr>
        <p:spPr>
          <a:xfrm>
            <a:off x="107504" y="5013176"/>
            <a:ext cx="9036496" cy="461665"/>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chemeClr val="dk1"/>
              </a:buClr>
              <a:buSzPts val="2400"/>
              <a:buFont typeface="Arial"/>
              <a:buNone/>
            </a:pPr>
            <a:r>
              <a:rPr b="0" i="0" lang="ar-DZ" sz="2400" u="none" cap="none" strike="noStrike">
                <a:solidFill>
                  <a:schemeClr val="dk1"/>
                </a:solidFill>
                <a:latin typeface="Arial"/>
                <a:ea typeface="Arial"/>
                <a:cs typeface="Arial"/>
                <a:sym typeface="Arial"/>
              </a:rPr>
              <a:t> عدد التدريجات </a:t>
            </a:r>
            <a:r>
              <a:rPr b="1" i="0" lang="ar-DZ" sz="2400" u="none" cap="none" strike="noStrike">
                <a:solidFill>
                  <a:srgbClr val="F4F0E2"/>
                </a:solidFill>
                <a:latin typeface="Arial"/>
                <a:ea typeface="Arial"/>
                <a:cs typeface="Arial"/>
                <a:sym typeface="Arial"/>
              </a:rPr>
              <a:t>n</a:t>
            </a:r>
            <a:r>
              <a:rPr b="0" i="0" lang="ar-DZ" sz="2400" u="none" cap="none" strike="noStrike">
                <a:solidFill>
                  <a:schemeClr val="dk1"/>
                </a:solidFill>
                <a:latin typeface="Arial"/>
                <a:ea typeface="Arial"/>
                <a:cs typeface="Arial"/>
                <a:sym typeface="Arial"/>
              </a:rPr>
              <a:t> التي تمثل مسافة انحراف الإشارة عموديا عن المبدأ تساوي إلى 1,8Div</a:t>
            </a:r>
            <a:endParaRPr/>
          </a:p>
        </p:txBody>
      </p:sp>
      <p:sp>
        <p:nvSpPr>
          <p:cNvPr id="347" name="Google Shape;347;p28"/>
          <p:cNvSpPr txBox="1"/>
          <p:nvPr/>
        </p:nvSpPr>
        <p:spPr>
          <a:xfrm>
            <a:off x="1763688" y="692696"/>
            <a:ext cx="1800200"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SzPts val="2400"/>
              <a:buFont typeface="Arial"/>
              <a:buNone/>
            </a:pPr>
            <a:r>
              <a:rPr b="0" i="0" lang="ar-DZ" sz="2400" u="none" cap="none" strike="noStrike">
                <a:latin typeface="Arial"/>
                <a:ea typeface="Arial"/>
                <a:cs typeface="Arial"/>
                <a:sym typeface="Arial"/>
              </a:rPr>
              <a:t>بمسح زمني</a:t>
            </a:r>
            <a:endParaRPr b="0" i="0" sz="2400" u="none" cap="none" strike="noStrike">
              <a:latin typeface="Arial"/>
              <a:ea typeface="Arial"/>
              <a:cs typeface="Arial"/>
              <a:sym typeface="Arial"/>
            </a:endParaRPr>
          </a:p>
        </p:txBody>
      </p:sp>
      <p:sp>
        <p:nvSpPr>
          <p:cNvPr id="348" name="Google Shape;348;p28"/>
          <p:cNvSpPr txBox="1"/>
          <p:nvPr/>
        </p:nvSpPr>
        <p:spPr>
          <a:xfrm>
            <a:off x="5868144" y="692150"/>
            <a:ext cx="1800200"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SzPts val="2400"/>
              <a:buFont typeface="Arial"/>
              <a:buNone/>
            </a:pPr>
            <a:r>
              <a:rPr b="0" i="0" lang="ar-DZ" sz="2400" u="none" cap="none" strike="noStrike">
                <a:latin typeface="Arial"/>
                <a:ea typeface="Arial"/>
                <a:cs typeface="Arial"/>
                <a:sym typeface="Arial"/>
              </a:rPr>
              <a:t>بدون مسح زمني</a:t>
            </a:r>
            <a:endParaRPr b="0" i="0" sz="2400" u="none" cap="none" strike="noStrike">
              <a:latin typeface="Arial"/>
              <a:ea typeface="Arial"/>
              <a:cs typeface="Arial"/>
              <a:sym typeface="Arial"/>
            </a:endParaRPr>
          </a:p>
        </p:txBody>
      </p:sp>
      <p:sp>
        <p:nvSpPr>
          <p:cNvPr id="349" name="Google Shape;349;p28"/>
          <p:cNvSpPr txBox="1"/>
          <p:nvPr/>
        </p:nvSpPr>
        <p:spPr>
          <a:xfrm>
            <a:off x="250825" y="5805487"/>
            <a:ext cx="4321175"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ar-DZ" sz="2400" u="none">
                <a:solidFill>
                  <a:schemeClr val="dk1"/>
                </a:solidFill>
                <a:latin typeface="Arial"/>
                <a:ea typeface="Arial"/>
                <a:cs typeface="Arial"/>
                <a:sym typeface="Arial"/>
              </a:rPr>
              <a:t>U = 2 (VOLT/DIV)</a:t>
            </a:r>
            <a:r>
              <a:rPr b="1" i="0" lang="ar-DZ" sz="2400" u="none">
                <a:solidFill>
                  <a:schemeClr val="hlink"/>
                </a:solidFill>
                <a:latin typeface="Arial"/>
                <a:ea typeface="Arial"/>
                <a:cs typeface="Arial"/>
                <a:sym typeface="Arial"/>
              </a:rPr>
              <a:t> </a:t>
            </a:r>
            <a:r>
              <a:rPr b="1" i="0" lang="ar-DZ" sz="2400" u="none">
                <a:solidFill>
                  <a:schemeClr val="dk1"/>
                </a:solidFill>
                <a:latin typeface="Arial"/>
                <a:ea typeface="Arial"/>
                <a:cs typeface="Arial"/>
                <a:sym typeface="Arial"/>
              </a:rPr>
              <a:t>×</a:t>
            </a:r>
            <a:r>
              <a:rPr b="1" i="0" lang="ar-DZ" sz="2400" u="none">
                <a:solidFill>
                  <a:schemeClr val="hlink"/>
                </a:solidFill>
                <a:latin typeface="Arial"/>
                <a:ea typeface="Arial"/>
                <a:cs typeface="Arial"/>
                <a:sym typeface="Arial"/>
              </a:rPr>
              <a:t> </a:t>
            </a:r>
            <a:r>
              <a:rPr b="0" i="0" lang="ar-DZ" sz="2400" u="none">
                <a:solidFill>
                  <a:schemeClr val="dk1"/>
                </a:solidFill>
                <a:latin typeface="Arial"/>
                <a:ea typeface="Arial"/>
                <a:cs typeface="Arial"/>
                <a:sym typeface="Arial"/>
              </a:rPr>
              <a:t>1,8 DIV</a:t>
            </a:r>
            <a:endParaRPr/>
          </a:p>
        </p:txBody>
      </p:sp>
      <p:sp>
        <p:nvSpPr>
          <p:cNvPr id="350" name="Google Shape;350;p28"/>
          <p:cNvSpPr/>
          <p:nvPr/>
        </p:nvSpPr>
        <p:spPr>
          <a:xfrm>
            <a:off x="4356100" y="5805487"/>
            <a:ext cx="720725" cy="476250"/>
          </a:xfrm>
          <a:prstGeom prst="rightArrow">
            <a:avLst>
              <a:gd fmla="val 14451" name="adj1"/>
              <a:gd fmla="val 50000" name="adj2"/>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51" name="Google Shape;351;p28"/>
          <p:cNvSpPr txBox="1"/>
          <p:nvPr/>
        </p:nvSpPr>
        <p:spPr>
          <a:xfrm>
            <a:off x="5172075" y="5805487"/>
            <a:ext cx="1474787"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ar-DZ" sz="2400" u="none">
                <a:solidFill>
                  <a:schemeClr val="dk1"/>
                </a:solidFill>
                <a:latin typeface="Arial"/>
                <a:ea typeface="Arial"/>
                <a:cs typeface="Arial"/>
                <a:sym typeface="Arial"/>
              </a:rPr>
              <a:t>U = 3,6 V</a:t>
            </a:r>
            <a:endParaRPr/>
          </a:p>
        </p:txBody>
      </p:sp>
    </p:spTree>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grpSp>
        <p:nvGrpSpPr>
          <p:cNvPr id="356" name="Google Shape;356;p29"/>
          <p:cNvGrpSpPr/>
          <p:nvPr/>
        </p:nvGrpSpPr>
        <p:grpSpPr>
          <a:xfrm>
            <a:off x="5219700" y="2728912"/>
            <a:ext cx="3744912" cy="2139950"/>
            <a:chOff x="5219700" y="2728913"/>
            <a:chExt cx="3744913" cy="2139950"/>
          </a:xfrm>
        </p:grpSpPr>
        <p:pic>
          <p:nvPicPr>
            <p:cNvPr descr="Image associée" id="357" name="Google Shape;357;p29"/>
            <p:cNvPicPr preferRelativeResize="0"/>
            <p:nvPr/>
          </p:nvPicPr>
          <p:blipFill rotWithShape="1">
            <a:blip r:embed="rId3">
              <a:alphaModFix/>
            </a:blip>
            <a:srcRect b="0" l="0" r="0" t="0"/>
            <a:stretch/>
          </p:blipFill>
          <p:spPr>
            <a:xfrm>
              <a:off x="5219700" y="2728913"/>
              <a:ext cx="3744913" cy="2139950"/>
            </a:xfrm>
            <a:prstGeom prst="rect">
              <a:avLst/>
            </a:prstGeom>
            <a:noFill/>
            <a:ln>
              <a:noFill/>
            </a:ln>
          </p:spPr>
        </p:pic>
        <p:sp>
          <p:nvSpPr>
            <p:cNvPr id="358" name="Google Shape;358;p29"/>
            <p:cNvSpPr/>
            <p:nvPr/>
          </p:nvSpPr>
          <p:spPr>
            <a:xfrm>
              <a:off x="7041836" y="4242114"/>
              <a:ext cx="72000" cy="72000"/>
            </a:xfrm>
            <a:prstGeom prst="ellipse">
              <a:avLst/>
            </a:prstGeom>
            <a:solidFill>
              <a:srgbClr val="0070C0"/>
            </a:solidFill>
            <a:ln cap="flat" cmpd="sng" w="9525">
              <a:solidFill>
                <a:srgbClr val="0070C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grpSp>
        <p:nvGrpSpPr>
          <p:cNvPr id="359" name="Google Shape;359;p29"/>
          <p:cNvGrpSpPr/>
          <p:nvPr/>
        </p:nvGrpSpPr>
        <p:grpSpPr>
          <a:xfrm>
            <a:off x="755650" y="2747962"/>
            <a:ext cx="3744912" cy="2160587"/>
            <a:chOff x="755576" y="1988840"/>
            <a:chExt cx="3744516" cy="3364979"/>
          </a:xfrm>
        </p:grpSpPr>
        <p:pic>
          <p:nvPicPr>
            <p:cNvPr descr="Image associée" id="360" name="Google Shape;360;p29"/>
            <p:cNvPicPr preferRelativeResize="0"/>
            <p:nvPr/>
          </p:nvPicPr>
          <p:blipFill rotWithShape="1">
            <a:blip r:embed="rId3">
              <a:alphaModFix/>
            </a:blip>
            <a:srcRect b="0" l="0" r="0" t="0"/>
            <a:stretch/>
          </p:blipFill>
          <p:spPr>
            <a:xfrm>
              <a:off x="755576" y="1988840"/>
              <a:ext cx="3744516" cy="3364979"/>
            </a:xfrm>
            <a:prstGeom prst="rect">
              <a:avLst/>
            </a:prstGeom>
            <a:noFill/>
            <a:ln>
              <a:noFill/>
            </a:ln>
          </p:spPr>
        </p:pic>
        <p:cxnSp>
          <p:nvCxnSpPr>
            <p:cNvPr id="361" name="Google Shape;361;p29"/>
            <p:cNvCxnSpPr/>
            <p:nvPr/>
          </p:nvCxnSpPr>
          <p:spPr>
            <a:xfrm>
              <a:off x="827584" y="4412153"/>
              <a:ext cx="3600400" cy="0"/>
            </a:xfrm>
            <a:prstGeom prst="straightConnector1">
              <a:avLst/>
            </a:prstGeom>
            <a:noFill/>
            <a:ln cap="flat" cmpd="sng" w="28575">
              <a:solidFill>
                <a:srgbClr val="0070C0"/>
              </a:solidFill>
              <a:prstDash val="solid"/>
              <a:miter lim="800000"/>
              <a:headEnd len="med" w="med" type="none"/>
              <a:tailEnd len="med" w="med" type="none"/>
            </a:ln>
          </p:spPr>
        </p:cxnSp>
      </p:grpSp>
      <p:sp>
        <p:nvSpPr>
          <p:cNvPr id="362" name="Google Shape;362;p29"/>
          <p:cNvSpPr/>
          <p:nvPr/>
        </p:nvSpPr>
        <p:spPr>
          <a:xfrm>
            <a:off x="2588434" y="5503848"/>
            <a:ext cx="6408762" cy="6477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1" algn="r">
              <a:lnSpc>
                <a:spcPct val="100000"/>
              </a:lnSpc>
              <a:spcBef>
                <a:spcPts val="0"/>
              </a:spcBef>
              <a:spcAft>
                <a:spcPts val="0"/>
              </a:spcAft>
              <a:buClr>
                <a:schemeClr val="hlink"/>
              </a:buClr>
              <a:buSzPts val="2400"/>
              <a:buFont typeface="Arial"/>
              <a:buNone/>
            </a:pPr>
            <a:r>
              <a:rPr b="1" i="0" lang="ar-DZ" sz="2400" u="none" cap="none" strike="noStrike">
                <a:solidFill>
                  <a:schemeClr val="hlink"/>
                </a:solidFill>
                <a:latin typeface="Arial"/>
                <a:ea typeface="Arial"/>
                <a:cs typeface="Arial"/>
                <a:sym typeface="Arial"/>
              </a:rPr>
              <a:t> </a:t>
            </a:r>
            <a:r>
              <a:rPr b="1" i="0" lang="ar-DZ" sz="2000" u="none" cap="none" strike="noStrike">
                <a:solidFill>
                  <a:schemeClr val="dk1"/>
                </a:solidFill>
                <a:latin typeface="Arial"/>
                <a:ea typeface="Arial"/>
                <a:cs typeface="Arial"/>
                <a:sym typeface="Arial"/>
              </a:rPr>
              <a:t>التوتر الكهربائي (U)= عدد التدريجات  × (n) الحساسية الشاقولية (Sv) </a:t>
            </a:r>
            <a:endParaRPr b="1" i="0" sz="2000" u="none" cap="none" strike="noStrike">
              <a:solidFill>
                <a:schemeClr val="dk1"/>
              </a:solidFill>
              <a:latin typeface="Arial"/>
              <a:ea typeface="Arial"/>
              <a:cs typeface="Arial"/>
              <a:sym typeface="Arial"/>
            </a:endParaRPr>
          </a:p>
        </p:txBody>
      </p:sp>
      <p:sp>
        <p:nvSpPr>
          <p:cNvPr id="363" name="Google Shape;363;p29"/>
          <p:cNvSpPr txBox="1"/>
          <p:nvPr/>
        </p:nvSpPr>
        <p:spPr>
          <a:xfrm>
            <a:off x="179512" y="5619400"/>
            <a:ext cx="2339752" cy="461665"/>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chemeClr val="dk1"/>
              </a:buClr>
              <a:buSzPts val="2400"/>
              <a:buFont typeface="Arial"/>
              <a:buNone/>
            </a:pPr>
            <a:r>
              <a:rPr b="0" i="0" lang="ar-DZ" sz="2400" u="none" cap="none" strike="noStrike">
                <a:solidFill>
                  <a:schemeClr val="dk1"/>
                </a:solidFill>
                <a:latin typeface="Arial"/>
                <a:ea typeface="Arial"/>
                <a:cs typeface="Arial"/>
                <a:sym typeface="Arial"/>
              </a:rPr>
              <a:t>مع </a:t>
            </a:r>
            <a:r>
              <a:rPr b="1" i="0" lang="ar-DZ" sz="2400" u="none" cap="none" strike="noStrike">
                <a:solidFill>
                  <a:srgbClr val="F4F0E2"/>
                </a:solidFill>
                <a:latin typeface="Arial"/>
                <a:ea typeface="Arial"/>
                <a:cs typeface="Arial"/>
                <a:sym typeface="Arial"/>
              </a:rPr>
              <a:t>n = - 1,8 DIV</a:t>
            </a:r>
            <a:endParaRPr b="0" i="0" sz="2400" u="none" cap="none" strike="noStrike">
              <a:solidFill>
                <a:schemeClr val="dk1"/>
              </a:solidFill>
              <a:latin typeface="Arial"/>
              <a:ea typeface="Arial"/>
              <a:cs typeface="Arial"/>
              <a:sym typeface="Arial"/>
            </a:endParaRPr>
          </a:p>
        </p:txBody>
      </p:sp>
      <p:sp>
        <p:nvSpPr>
          <p:cNvPr id="364" name="Google Shape;364;p29"/>
          <p:cNvSpPr txBox="1"/>
          <p:nvPr/>
        </p:nvSpPr>
        <p:spPr>
          <a:xfrm>
            <a:off x="1691680" y="2786058"/>
            <a:ext cx="1800200"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SzPts val="2400"/>
              <a:buFont typeface="Arial"/>
              <a:buNone/>
            </a:pPr>
            <a:r>
              <a:rPr b="0" i="0" lang="ar-DZ" sz="2400" u="none" cap="none" strike="noStrike">
                <a:latin typeface="Arial"/>
                <a:ea typeface="Arial"/>
                <a:cs typeface="Arial"/>
                <a:sym typeface="Arial"/>
              </a:rPr>
              <a:t>بمسح زمني</a:t>
            </a:r>
            <a:endParaRPr b="0" i="0" sz="2400" u="none" cap="none" strike="noStrike">
              <a:latin typeface="Arial"/>
              <a:ea typeface="Arial"/>
              <a:cs typeface="Arial"/>
              <a:sym typeface="Arial"/>
            </a:endParaRPr>
          </a:p>
        </p:txBody>
      </p:sp>
      <p:sp>
        <p:nvSpPr>
          <p:cNvPr id="365" name="Google Shape;365;p29"/>
          <p:cNvSpPr txBox="1"/>
          <p:nvPr/>
        </p:nvSpPr>
        <p:spPr>
          <a:xfrm>
            <a:off x="6300192" y="2786058"/>
            <a:ext cx="1800200"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SzPts val="2400"/>
              <a:buFont typeface="Arial"/>
              <a:buNone/>
            </a:pPr>
            <a:r>
              <a:rPr b="0" i="0" lang="ar-DZ" sz="2400" u="none" cap="none" strike="noStrike">
                <a:latin typeface="Arial"/>
                <a:ea typeface="Arial"/>
                <a:cs typeface="Arial"/>
                <a:sym typeface="Arial"/>
              </a:rPr>
              <a:t>بدون مسح زمني</a:t>
            </a:r>
            <a:endParaRPr b="0" i="0" sz="2400" u="none" cap="none" strike="noStrike">
              <a:latin typeface="Arial"/>
              <a:ea typeface="Arial"/>
              <a:cs typeface="Arial"/>
              <a:sym typeface="Arial"/>
            </a:endParaRPr>
          </a:p>
        </p:txBody>
      </p:sp>
      <p:sp>
        <p:nvSpPr>
          <p:cNvPr id="366" name="Google Shape;366;p29"/>
          <p:cNvSpPr txBox="1"/>
          <p:nvPr/>
        </p:nvSpPr>
        <p:spPr>
          <a:xfrm>
            <a:off x="323850" y="6280150"/>
            <a:ext cx="4319587"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ar-DZ" sz="2400" u="none">
                <a:solidFill>
                  <a:schemeClr val="dk1"/>
                </a:solidFill>
                <a:latin typeface="Arial"/>
                <a:ea typeface="Arial"/>
                <a:cs typeface="Arial"/>
                <a:sym typeface="Arial"/>
              </a:rPr>
              <a:t>U = 2 (VOLT/DIV)</a:t>
            </a:r>
            <a:r>
              <a:rPr b="1" i="0" lang="ar-DZ" sz="2400" u="none">
                <a:solidFill>
                  <a:schemeClr val="hlink"/>
                </a:solidFill>
                <a:latin typeface="Arial"/>
                <a:ea typeface="Arial"/>
                <a:cs typeface="Arial"/>
                <a:sym typeface="Arial"/>
              </a:rPr>
              <a:t> </a:t>
            </a:r>
            <a:r>
              <a:rPr b="1" i="0" lang="ar-DZ" sz="2400" u="none">
                <a:solidFill>
                  <a:schemeClr val="dk1"/>
                </a:solidFill>
                <a:latin typeface="Arial"/>
                <a:ea typeface="Arial"/>
                <a:cs typeface="Arial"/>
                <a:sym typeface="Arial"/>
              </a:rPr>
              <a:t>×</a:t>
            </a:r>
            <a:r>
              <a:rPr b="1" i="0" lang="ar-DZ" sz="2400" u="none">
                <a:solidFill>
                  <a:schemeClr val="hlink"/>
                </a:solidFill>
                <a:latin typeface="Arial"/>
                <a:ea typeface="Arial"/>
                <a:cs typeface="Arial"/>
                <a:sym typeface="Arial"/>
              </a:rPr>
              <a:t> </a:t>
            </a:r>
            <a:r>
              <a:rPr b="1" i="0" lang="ar-DZ" sz="2400" u="none">
                <a:solidFill>
                  <a:schemeClr val="dk1"/>
                </a:solidFill>
                <a:latin typeface="Arial"/>
                <a:ea typeface="Arial"/>
                <a:cs typeface="Arial"/>
                <a:sym typeface="Arial"/>
              </a:rPr>
              <a:t>(-</a:t>
            </a:r>
            <a:r>
              <a:rPr b="0" i="0" lang="ar-DZ" sz="2400" u="none">
                <a:solidFill>
                  <a:schemeClr val="dk1"/>
                </a:solidFill>
                <a:latin typeface="Arial"/>
                <a:ea typeface="Arial"/>
                <a:cs typeface="Arial"/>
                <a:sym typeface="Arial"/>
              </a:rPr>
              <a:t>1,8 DIV)</a:t>
            </a:r>
            <a:endParaRPr/>
          </a:p>
        </p:txBody>
      </p:sp>
      <p:sp>
        <p:nvSpPr>
          <p:cNvPr id="367" name="Google Shape;367;p29"/>
          <p:cNvSpPr/>
          <p:nvPr/>
        </p:nvSpPr>
        <p:spPr>
          <a:xfrm>
            <a:off x="4643437" y="6326187"/>
            <a:ext cx="720725" cy="476250"/>
          </a:xfrm>
          <a:prstGeom prst="rightArrow">
            <a:avLst>
              <a:gd fmla="val 14451" name="adj1"/>
              <a:gd fmla="val 50000" name="adj2"/>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68" name="Google Shape;368;p29"/>
          <p:cNvSpPr txBox="1"/>
          <p:nvPr/>
        </p:nvSpPr>
        <p:spPr>
          <a:xfrm>
            <a:off x="5580062" y="6165850"/>
            <a:ext cx="1697037"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ar-DZ" sz="2400" u="none">
                <a:solidFill>
                  <a:schemeClr val="dk1"/>
                </a:solidFill>
                <a:latin typeface="Arial"/>
                <a:ea typeface="Arial"/>
                <a:cs typeface="Arial"/>
                <a:sym typeface="Arial"/>
              </a:rPr>
              <a:t>U = </a:t>
            </a:r>
            <a:r>
              <a:rPr b="0" i="0" lang="ar-DZ" sz="3200" u="none">
                <a:solidFill>
                  <a:schemeClr val="dk1"/>
                </a:solidFill>
                <a:latin typeface="Arial"/>
                <a:ea typeface="Arial"/>
                <a:cs typeface="Arial"/>
                <a:sym typeface="Arial"/>
              </a:rPr>
              <a:t>-</a:t>
            </a:r>
            <a:r>
              <a:rPr b="0" i="0" lang="ar-DZ" sz="2400" u="none">
                <a:solidFill>
                  <a:schemeClr val="dk1"/>
                </a:solidFill>
                <a:latin typeface="Arial"/>
                <a:ea typeface="Arial"/>
                <a:cs typeface="Arial"/>
                <a:sym typeface="Arial"/>
              </a:rPr>
              <a:t> 3,6 V</a:t>
            </a:r>
            <a:endParaRPr/>
          </a:p>
        </p:txBody>
      </p:sp>
      <p:grpSp>
        <p:nvGrpSpPr>
          <p:cNvPr id="369" name="Google Shape;369;p29"/>
          <p:cNvGrpSpPr/>
          <p:nvPr/>
        </p:nvGrpSpPr>
        <p:grpSpPr>
          <a:xfrm>
            <a:off x="971550" y="549275"/>
            <a:ext cx="7632700" cy="2303462"/>
            <a:chOff x="971600" y="445044"/>
            <a:chExt cx="7632774" cy="3416004"/>
          </a:xfrm>
        </p:grpSpPr>
        <p:grpSp>
          <p:nvGrpSpPr>
            <p:cNvPr id="370" name="Google Shape;370;p29"/>
            <p:cNvGrpSpPr/>
            <p:nvPr/>
          </p:nvGrpSpPr>
          <p:grpSpPr>
            <a:xfrm>
              <a:off x="971600" y="887575"/>
              <a:ext cx="7632774" cy="2973473"/>
              <a:chOff x="1763688" y="2204856"/>
              <a:chExt cx="6624203" cy="2299114"/>
            </a:xfrm>
          </p:grpSpPr>
          <p:sp>
            <p:nvSpPr>
              <p:cNvPr id="371" name="Google Shape;371;p29"/>
              <p:cNvSpPr/>
              <p:nvPr/>
            </p:nvSpPr>
            <p:spPr>
              <a:xfrm>
                <a:off x="6732240" y="3429000"/>
                <a:ext cx="216024" cy="432048"/>
              </a:xfrm>
              <a:prstGeom prst="can">
                <a:avLst>
                  <a:gd fmla="val 2700" name="adj"/>
                </a:avLst>
              </a:prstGeom>
              <a:solidFill>
                <a:schemeClr val="accent1"/>
              </a:solid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72" name="Google Shape;372;p29"/>
              <p:cNvSpPr txBox="1"/>
              <p:nvPr/>
            </p:nvSpPr>
            <p:spPr>
              <a:xfrm>
                <a:off x="1763688" y="4221088"/>
                <a:ext cx="288031" cy="28288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nvGrpSpPr>
              <p:cNvPr id="373" name="Google Shape;373;p29"/>
              <p:cNvGrpSpPr/>
              <p:nvPr/>
            </p:nvGrpSpPr>
            <p:grpSpPr>
              <a:xfrm>
                <a:off x="5392290" y="2204856"/>
                <a:ext cx="2995601" cy="1438574"/>
                <a:chOff x="8068" y="8832"/>
                <a:chExt cx="1886" cy="905"/>
              </a:xfrm>
            </p:grpSpPr>
            <p:sp>
              <p:nvSpPr>
                <p:cNvPr id="374" name="Google Shape;374;p29"/>
                <p:cNvSpPr txBox="1"/>
                <p:nvPr/>
              </p:nvSpPr>
              <p:spPr>
                <a:xfrm>
                  <a:off x="8096" y="8972"/>
                  <a:ext cx="655" cy="451"/>
                </a:xfrm>
                <a:prstGeom prst="rect">
                  <a:avLst/>
                </a:prstGeom>
                <a:no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cxnSp>
              <p:nvCxnSpPr>
                <p:cNvPr id="375" name="Google Shape;375;p29"/>
                <p:cNvCxnSpPr/>
                <p:nvPr/>
              </p:nvCxnSpPr>
              <p:spPr>
                <a:xfrm>
                  <a:off x="8419" y="8993"/>
                  <a:ext cx="0" cy="430"/>
                </a:xfrm>
                <a:prstGeom prst="straightConnector1">
                  <a:avLst/>
                </a:prstGeom>
                <a:noFill/>
                <a:ln cap="flat" cmpd="sng" w="28575">
                  <a:solidFill>
                    <a:srgbClr val="000000"/>
                  </a:solidFill>
                  <a:prstDash val="solid"/>
                  <a:miter lim="800000"/>
                  <a:headEnd len="med" w="med" type="none"/>
                  <a:tailEnd len="med" w="med" type="none"/>
                </a:ln>
              </p:spPr>
            </p:cxnSp>
            <p:cxnSp>
              <p:nvCxnSpPr>
                <p:cNvPr id="376" name="Google Shape;376;p29"/>
                <p:cNvCxnSpPr/>
                <p:nvPr/>
              </p:nvCxnSpPr>
              <p:spPr>
                <a:xfrm>
                  <a:off x="8104" y="9213"/>
                  <a:ext cx="647" cy="0"/>
                </a:xfrm>
                <a:prstGeom prst="straightConnector1">
                  <a:avLst/>
                </a:prstGeom>
                <a:noFill/>
                <a:ln cap="flat" cmpd="sng" w="28575">
                  <a:solidFill>
                    <a:srgbClr val="000000"/>
                  </a:solidFill>
                  <a:prstDash val="solid"/>
                  <a:miter lim="800000"/>
                  <a:headEnd len="med" w="med" type="none"/>
                  <a:tailEnd len="med" w="med" type="none"/>
                </a:ln>
              </p:spPr>
            </p:cxnSp>
            <p:sp>
              <p:nvSpPr>
                <p:cNvPr id="377" name="Google Shape;377;p29"/>
                <p:cNvSpPr txBox="1"/>
                <p:nvPr/>
              </p:nvSpPr>
              <p:spPr>
                <a:xfrm>
                  <a:off x="8951" y="8875"/>
                  <a:ext cx="958" cy="229"/>
                </a:xfrm>
                <a:prstGeom prst="rect">
                  <a:avLst/>
                </a:prstGeom>
                <a:noFill/>
                <a:ln cap="flat" cmpd="sng" w="28575">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Calibri"/>
                    <a:buNone/>
                  </a:pPr>
                  <a:r>
                    <a:rPr b="0" i="0" lang="ar-DZ" sz="2000" u="none">
                      <a:solidFill>
                        <a:schemeClr val="dk1"/>
                      </a:solidFill>
                      <a:latin typeface="Calibri"/>
                      <a:ea typeface="Calibri"/>
                      <a:cs typeface="Calibri"/>
                      <a:sym typeface="Calibri"/>
                    </a:rPr>
                    <a:t>oscilloscope</a:t>
                  </a:r>
                  <a:endParaRPr/>
                </a:p>
              </p:txBody>
            </p:sp>
            <p:sp>
              <p:nvSpPr>
                <p:cNvPr id="378" name="Google Shape;378;p29"/>
                <p:cNvSpPr txBox="1"/>
                <p:nvPr/>
              </p:nvSpPr>
              <p:spPr>
                <a:xfrm>
                  <a:off x="8776" y="9206"/>
                  <a:ext cx="663" cy="358"/>
                </a:xfrm>
                <a:prstGeom prst="rect">
                  <a:avLst/>
                </a:prstGeom>
                <a:noFill/>
                <a:ln cap="flat" cmpd="sng" w="28575">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400"/>
                    <a:buFont typeface="Arial"/>
                    <a:buNone/>
                  </a:pPr>
                  <a:r>
                    <a:rPr b="1" i="0" lang="ar-DZ" sz="2400" u="none">
                      <a:solidFill>
                        <a:schemeClr val="dk1"/>
                      </a:solidFill>
                      <a:latin typeface="Arial"/>
                      <a:ea typeface="Arial"/>
                      <a:cs typeface="Arial"/>
                      <a:sym typeface="Arial"/>
                    </a:rPr>
                    <a:t>Y</a:t>
                  </a:r>
                  <a:r>
                    <a:rPr b="1" i="0" lang="ar-DZ" sz="1800" u="none">
                      <a:solidFill>
                        <a:schemeClr val="dk1"/>
                      </a:solidFill>
                      <a:latin typeface="Arial"/>
                      <a:ea typeface="Arial"/>
                      <a:cs typeface="Arial"/>
                      <a:sym typeface="Arial"/>
                    </a:rPr>
                    <a:t>INPUT</a:t>
                  </a:r>
                  <a:endParaRPr/>
                </a:p>
              </p:txBody>
            </p:sp>
            <p:grpSp>
              <p:nvGrpSpPr>
                <p:cNvPr id="379" name="Google Shape;379;p29"/>
                <p:cNvGrpSpPr/>
                <p:nvPr/>
              </p:nvGrpSpPr>
              <p:grpSpPr>
                <a:xfrm>
                  <a:off x="8932" y="9482"/>
                  <a:ext cx="113" cy="255"/>
                  <a:chOff x="8932" y="9239"/>
                  <a:chExt cx="113" cy="255"/>
                </a:xfrm>
              </p:grpSpPr>
              <p:sp>
                <p:nvSpPr>
                  <p:cNvPr id="380" name="Google Shape;380;p29"/>
                  <p:cNvSpPr/>
                  <p:nvPr/>
                </p:nvSpPr>
                <p:spPr>
                  <a:xfrm>
                    <a:off x="8932" y="9239"/>
                    <a:ext cx="113" cy="113"/>
                  </a:xfrm>
                  <a:prstGeom prst="ellipse">
                    <a:avLst/>
                  </a:prstGeom>
                  <a:blipFill rotWithShape="1">
                    <a:blip r:embed="rId4">
                      <a:alphaModFix/>
                    </a:blip>
                    <a:stretch>
                      <a:fillRect b="0" l="0" r="0" t="0"/>
                    </a:stretch>
                  </a:blip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cxnSp>
                <p:nvCxnSpPr>
                  <p:cNvPr id="381" name="Google Shape;381;p29"/>
                  <p:cNvCxnSpPr/>
                  <p:nvPr/>
                </p:nvCxnSpPr>
                <p:spPr>
                  <a:xfrm>
                    <a:off x="8992" y="9327"/>
                    <a:ext cx="0" cy="167"/>
                  </a:xfrm>
                  <a:prstGeom prst="straightConnector1">
                    <a:avLst/>
                  </a:prstGeom>
                  <a:noFill/>
                  <a:ln cap="flat" cmpd="sng" w="28575">
                    <a:solidFill>
                      <a:srgbClr val="000000"/>
                    </a:solidFill>
                    <a:prstDash val="solid"/>
                    <a:miter lim="800000"/>
                    <a:headEnd len="med" w="med" type="none"/>
                    <a:tailEnd len="med" w="med" type="none"/>
                  </a:ln>
                </p:spPr>
              </p:cxnSp>
            </p:grpSp>
            <p:sp>
              <p:nvSpPr>
                <p:cNvPr id="382" name="Google Shape;382;p29"/>
                <p:cNvSpPr txBox="1"/>
                <p:nvPr/>
              </p:nvSpPr>
              <p:spPr>
                <a:xfrm>
                  <a:off x="8068" y="8832"/>
                  <a:ext cx="1886" cy="821"/>
                </a:xfrm>
                <a:prstGeom prst="rect">
                  <a:avLst/>
                </a:prstGeom>
                <a:no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sp>
            <p:nvSpPr>
              <p:cNvPr id="383" name="Google Shape;383;p29"/>
              <p:cNvSpPr txBox="1"/>
              <p:nvPr/>
            </p:nvSpPr>
            <p:spPr>
              <a:xfrm>
                <a:off x="2267943" y="2348713"/>
                <a:ext cx="1449389" cy="871932"/>
              </a:xfrm>
              <a:prstGeom prst="rect">
                <a:avLst/>
              </a:prstGeom>
              <a:gradFill>
                <a:gsLst>
                  <a:gs pos="0">
                    <a:srgbClr val="BCBCBC"/>
                  </a:gs>
                  <a:gs pos="35000">
                    <a:srgbClr val="D0D0D0"/>
                  </a:gs>
                  <a:gs pos="100000">
                    <a:srgbClr val="EDEDED"/>
                  </a:gs>
                </a:gsLst>
                <a:lin ang="16200000" scaled="0"/>
              </a:gradFill>
              <a:ln cap="flat" cmpd="sng" w="9525">
                <a:solidFill>
                  <a:srgbClr val="000000"/>
                </a:solidFill>
                <a:prstDash val="solid"/>
                <a:miter lim="800000"/>
                <a:headEnd len="sm" w="sm" type="none"/>
                <a:tailEnd len="sm" w="sm" type="none"/>
              </a:ln>
              <a:effectLst>
                <a:outerShdw blurRad="63500" dir="5400000" dist="20000">
                  <a:srgbClr val="000000">
                    <a:alpha val="37647"/>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4" name="Google Shape;384;p29"/>
              <p:cNvSpPr txBox="1"/>
              <p:nvPr/>
            </p:nvSpPr>
            <p:spPr>
              <a:xfrm>
                <a:off x="2354832" y="2420888"/>
                <a:ext cx="1296144" cy="297565"/>
              </a:xfrm>
              <a:prstGeom prst="rect">
                <a:avLst/>
              </a:prstGeom>
              <a:noFill/>
              <a:ln>
                <a:noFill/>
              </a:ln>
            </p:spPr>
            <p:txBody>
              <a:bodyPr anchorCtr="0" anchor="t" bIns="0" lIns="0" spcFirstLastPara="1" rIns="0" wrap="square" tIns="0">
                <a:noAutofit/>
              </a:bodyPr>
              <a:lstStyle/>
              <a:p>
                <a:pPr indent="0" lvl="0" marL="0" marR="0" rtl="1" algn="r">
                  <a:lnSpc>
                    <a:spcPct val="100000"/>
                  </a:lnSpc>
                  <a:spcBef>
                    <a:spcPts val="0"/>
                  </a:spcBef>
                  <a:spcAft>
                    <a:spcPts val="0"/>
                  </a:spcAft>
                  <a:buClr>
                    <a:schemeClr val="dk1"/>
                  </a:buClr>
                  <a:buSzPts val="2000"/>
                  <a:buFont typeface="Arial"/>
                  <a:buNone/>
                </a:pPr>
                <a:r>
                  <a:rPr b="1" i="0" lang="ar-DZ" sz="2000" u="none">
                    <a:solidFill>
                      <a:schemeClr val="dk1"/>
                    </a:solidFill>
                    <a:latin typeface="Arial"/>
                    <a:ea typeface="Arial"/>
                    <a:cs typeface="Arial"/>
                    <a:sym typeface="Arial"/>
                  </a:rPr>
                  <a:t> V 12 -   0 </a:t>
                </a:r>
                <a:endParaRPr/>
              </a:p>
            </p:txBody>
          </p:sp>
          <p:sp>
            <p:nvSpPr>
              <p:cNvPr id="385" name="Google Shape;385;p29"/>
              <p:cNvSpPr/>
              <p:nvPr/>
            </p:nvSpPr>
            <p:spPr>
              <a:xfrm>
                <a:off x="3186900" y="3213364"/>
                <a:ext cx="139152" cy="136524"/>
              </a:xfrm>
              <a:prstGeom prst="ellipse">
                <a:avLst/>
              </a:prstGeom>
              <a:gradFill>
                <a:gsLst>
                  <a:gs pos="0">
                    <a:srgbClr val="000000"/>
                  </a:gs>
                  <a:gs pos="80000">
                    <a:srgbClr val="000000"/>
                  </a:gs>
                  <a:gs pos="100000">
                    <a:srgbClr val="000000"/>
                  </a:gs>
                </a:gsLst>
                <a:lin ang="16200000" scaled="0"/>
              </a:gradFill>
              <a:ln cap="flat" cmpd="sng" w="9525">
                <a:solidFill>
                  <a:srgbClr val="000000"/>
                </a:solidFill>
                <a:prstDash val="solid"/>
                <a:miter lim="800000"/>
                <a:headEnd len="sm" w="sm" type="none"/>
                <a:tailEnd len="sm" w="sm" type="none"/>
              </a:ln>
              <a:effectLst>
                <a:outerShdw blurRad="63500" dir="5400000" dist="23000">
                  <a:srgbClr val="000000">
                    <a:alpha val="3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6" name="Google Shape;386;p29"/>
              <p:cNvSpPr/>
              <p:nvPr/>
            </p:nvSpPr>
            <p:spPr>
              <a:xfrm>
                <a:off x="2763932" y="3302560"/>
                <a:ext cx="3967909" cy="950206"/>
              </a:xfrm>
              <a:custGeom>
                <a:rect b="b" l="l" r="r" t="t"/>
                <a:pathLst>
                  <a:path extrusionOk="0" h="750" w="3255">
                    <a:moveTo>
                      <a:pt x="0" y="0"/>
                    </a:moveTo>
                    <a:lnTo>
                      <a:pt x="0" y="750"/>
                    </a:lnTo>
                    <a:lnTo>
                      <a:pt x="3255" y="750"/>
                    </a:lnTo>
                    <a:lnTo>
                      <a:pt x="3255" y="307"/>
                    </a:lnTo>
                  </a:path>
                </a:pathLst>
              </a:custGeom>
              <a:noFill/>
              <a:ln cap="flat" cmpd="sng" w="38100">
                <a:solidFill>
                  <a:srgbClr val="000000"/>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7" name="Google Shape;387;p29"/>
              <p:cNvSpPr/>
              <p:nvPr/>
            </p:nvSpPr>
            <p:spPr>
              <a:xfrm>
                <a:off x="3264054" y="3300739"/>
                <a:ext cx="3601428" cy="992074"/>
              </a:xfrm>
              <a:custGeom>
                <a:rect b="b" l="l" r="r" t="t"/>
                <a:pathLst>
                  <a:path extrusionOk="0" h="1013" w="3608">
                    <a:moveTo>
                      <a:pt x="0" y="0"/>
                    </a:moveTo>
                    <a:lnTo>
                      <a:pt x="0" y="1013"/>
                    </a:lnTo>
                    <a:lnTo>
                      <a:pt x="3608" y="1013"/>
                    </a:lnTo>
                    <a:lnTo>
                      <a:pt x="3608" y="293"/>
                    </a:lnTo>
                  </a:path>
                </a:pathLst>
              </a:custGeom>
              <a:noFill/>
              <a:ln cap="flat" cmpd="sng" w="38100">
                <a:solidFill>
                  <a:srgbClr val="FF0000"/>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8" name="Google Shape;388;p29"/>
              <p:cNvSpPr/>
              <p:nvPr/>
            </p:nvSpPr>
            <p:spPr>
              <a:xfrm>
                <a:off x="2627535" y="2852941"/>
                <a:ext cx="287948" cy="287610"/>
              </a:xfrm>
              <a:custGeom>
                <a:rect b="b" l="l" r="r" t="t"/>
                <a:pathLst>
                  <a:path extrusionOk="0" h="287610" w="287948">
                    <a:moveTo>
                      <a:pt x="38167" y="109982"/>
                    </a:moveTo>
                    <a:lnTo>
                      <a:pt x="110151" y="109982"/>
                    </a:lnTo>
                    <a:lnTo>
                      <a:pt x="110151" y="38123"/>
                    </a:lnTo>
                    <a:lnTo>
                      <a:pt x="177797" y="38123"/>
                    </a:lnTo>
                    <a:lnTo>
                      <a:pt x="177797" y="109982"/>
                    </a:lnTo>
                    <a:lnTo>
                      <a:pt x="249781" y="109982"/>
                    </a:lnTo>
                    <a:lnTo>
                      <a:pt x="249781" y="177628"/>
                    </a:lnTo>
                    <a:lnTo>
                      <a:pt x="177797" y="177628"/>
                    </a:lnTo>
                    <a:lnTo>
                      <a:pt x="177797" y="249487"/>
                    </a:lnTo>
                    <a:lnTo>
                      <a:pt x="110151" y="249487"/>
                    </a:lnTo>
                    <a:lnTo>
                      <a:pt x="110151" y="177628"/>
                    </a:lnTo>
                    <a:lnTo>
                      <a:pt x="38167" y="177628"/>
                    </a:lnTo>
                    <a:close/>
                  </a:path>
                </a:pathLst>
              </a:cu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9" name="Google Shape;389;p29"/>
              <p:cNvSpPr/>
              <p:nvPr/>
            </p:nvSpPr>
            <p:spPr>
              <a:xfrm>
                <a:off x="3131790" y="2996747"/>
                <a:ext cx="216306" cy="45507"/>
              </a:xfrm>
              <a:custGeom>
                <a:rect b="b" l="l" r="r" t="t"/>
                <a:pathLst>
                  <a:path extrusionOk="0" h="45507" w="216306">
                    <a:moveTo>
                      <a:pt x="28671" y="17402"/>
                    </a:moveTo>
                    <a:lnTo>
                      <a:pt x="187635" y="17402"/>
                    </a:lnTo>
                    <a:lnTo>
                      <a:pt x="187635" y="28105"/>
                    </a:lnTo>
                    <a:lnTo>
                      <a:pt x="28671" y="28105"/>
                    </a:lnTo>
                    <a:close/>
                  </a:path>
                </a:pathLst>
              </a:custGeom>
              <a:solidFill>
                <a:schemeClr val="lt1"/>
              </a:solidFill>
              <a:ln cap="flat" cmpd="sng" w="381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90" name="Google Shape;390;p29"/>
              <p:cNvSpPr/>
              <p:nvPr/>
            </p:nvSpPr>
            <p:spPr>
              <a:xfrm>
                <a:off x="2675257" y="3229105"/>
                <a:ext cx="139227" cy="136058"/>
              </a:xfrm>
              <a:prstGeom prst="ellipse">
                <a:avLst/>
              </a:prstGeom>
              <a:solidFill>
                <a:srgbClr val="FF0000"/>
              </a:solidFill>
              <a:ln cap="flat" cmpd="sng" w="254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sp>
          <p:nvSpPr>
            <p:cNvPr id="391" name="Google Shape;391;p29"/>
            <p:cNvSpPr txBox="1"/>
            <p:nvPr/>
          </p:nvSpPr>
          <p:spPr>
            <a:xfrm>
              <a:off x="1317995" y="445044"/>
              <a:ext cx="2101877" cy="684643"/>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chemeClr val="dk1"/>
                </a:buClr>
                <a:buSzPts val="2400"/>
                <a:buFont typeface="Arial"/>
                <a:buNone/>
              </a:pPr>
              <a:r>
                <a:rPr b="0" i="0" lang="ar-DZ" sz="2400" u="none">
                  <a:solidFill>
                    <a:schemeClr val="dk1"/>
                  </a:solidFill>
                  <a:latin typeface="Arial"/>
                  <a:ea typeface="Arial"/>
                  <a:cs typeface="Arial"/>
                  <a:sym typeface="Arial"/>
                </a:rPr>
                <a:t>مولد التوتر المستمر</a:t>
              </a:r>
              <a:endParaRPr/>
            </a:p>
          </p:txBody>
        </p:sp>
      </p:grpSp>
      <p:sp>
        <p:nvSpPr>
          <p:cNvPr id="392" name="Google Shape;392;p29"/>
          <p:cNvSpPr txBox="1"/>
          <p:nvPr/>
        </p:nvSpPr>
        <p:spPr>
          <a:xfrm>
            <a:off x="0" y="0"/>
            <a:ext cx="8945562" cy="830262"/>
          </a:xfrm>
          <a:prstGeom prst="rect">
            <a:avLst/>
          </a:prstGeom>
          <a:noFill/>
          <a:ln>
            <a:noFill/>
          </a:ln>
        </p:spPr>
        <p:txBody>
          <a:bodyPr anchorCtr="0" anchor="t" bIns="45700" lIns="91425" spcFirstLastPara="1" rIns="91425" wrap="square" tIns="45700">
            <a:spAutoFit/>
          </a:bodyPr>
          <a:lstStyle/>
          <a:p>
            <a:pPr indent="-152400" lvl="0" marL="0" marR="0" rtl="1" algn="r">
              <a:lnSpc>
                <a:spcPct val="100000"/>
              </a:lnSpc>
              <a:spcBef>
                <a:spcPts val="0"/>
              </a:spcBef>
              <a:spcAft>
                <a:spcPts val="0"/>
              </a:spcAft>
              <a:buClr>
                <a:schemeClr val="dk1"/>
              </a:buClr>
              <a:buSzPts val="2400"/>
              <a:buFont typeface="Noto Sans Symbols"/>
              <a:buChar char="⮚"/>
            </a:pPr>
            <a:r>
              <a:rPr b="1" i="0" lang="ar-DZ" sz="2400" u="none">
                <a:solidFill>
                  <a:schemeClr val="dk1"/>
                </a:solidFill>
                <a:latin typeface="Arial"/>
                <a:ea typeface="Arial"/>
                <a:cs typeface="Arial"/>
                <a:sym typeface="Arial"/>
              </a:rPr>
              <a:t>  </a:t>
            </a:r>
            <a:r>
              <a:rPr b="0" i="0" lang="ar-DZ" sz="2400" u="none">
                <a:solidFill>
                  <a:schemeClr val="dk1"/>
                </a:solidFill>
                <a:latin typeface="Arial"/>
                <a:ea typeface="Arial"/>
                <a:cs typeface="Arial"/>
                <a:sym typeface="Arial"/>
              </a:rPr>
              <a:t>ربط مولد التيار المستمر بالمدخل </a:t>
            </a:r>
            <a:r>
              <a:rPr b="1" i="0" lang="ar-DZ" sz="2400" u="none">
                <a:solidFill>
                  <a:schemeClr val="dk1"/>
                </a:solidFill>
                <a:latin typeface="Arial"/>
                <a:ea typeface="Arial"/>
                <a:cs typeface="Arial"/>
                <a:sym typeface="Arial"/>
              </a:rPr>
              <a:t>Y</a:t>
            </a:r>
            <a:r>
              <a:rPr b="1" i="0" lang="ar-DZ" sz="1400" u="none">
                <a:solidFill>
                  <a:schemeClr val="dk1"/>
                </a:solidFill>
                <a:latin typeface="Arial"/>
                <a:ea typeface="Arial"/>
                <a:cs typeface="Arial"/>
                <a:sym typeface="Arial"/>
              </a:rPr>
              <a:t>INPUT</a:t>
            </a:r>
            <a:r>
              <a:rPr b="1" i="0" lang="ar-DZ" sz="2400" u="none">
                <a:solidFill>
                  <a:schemeClr val="dk1"/>
                </a:solidFill>
                <a:latin typeface="Arial"/>
                <a:ea typeface="Arial"/>
                <a:cs typeface="Arial"/>
                <a:sym typeface="Arial"/>
              </a:rPr>
              <a:t> </a:t>
            </a:r>
            <a:r>
              <a:rPr b="1" i="0" lang="ar-DZ" sz="2400" u="none">
                <a:solidFill>
                  <a:srgbClr val="0070C0"/>
                </a:solidFill>
                <a:latin typeface="Arial"/>
                <a:ea typeface="Arial"/>
                <a:cs typeface="Arial"/>
                <a:sym typeface="Arial"/>
              </a:rPr>
              <a:t> </a:t>
            </a:r>
            <a:r>
              <a:rPr b="0" i="0" lang="ar-DZ" sz="2400" u="none">
                <a:solidFill>
                  <a:srgbClr val="333333"/>
                </a:solidFill>
                <a:latin typeface="Arial"/>
                <a:ea typeface="Arial"/>
                <a:cs typeface="Arial"/>
                <a:sym typeface="Arial"/>
              </a:rPr>
              <a:t>لجهاز راسم الإهتزاز المهبطي لكن نعكس أقطاب الأجهزة كما هو معطي في الشكل أدناه.</a:t>
            </a:r>
            <a:endParaRPr/>
          </a:p>
        </p:txBody>
      </p:sp>
      <p:sp>
        <p:nvSpPr>
          <p:cNvPr id="393" name="Google Shape;393;p29"/>
          <p:cNvSpPr txBox="1"/>
          <p:nvPr/>
        </p:nvSpPr>
        <p:spPr>
          <a:xfrm>
            <a:off x="2483768" y="4994012"/>
            <a:ext cx="6408712" cy="523220"/>
          </a:xfrm>
          <a:prstGeom prst="rect">
            <a:avLst/>
          </a:prstGeom>
          <a:noFill/>
          <a:ln>
            <a:noFill/>
          </a:ln>
        </p:spPr>
        <p:txBody>
          <a:bodyPr anchorCtr="0" anchor="t" bIns="45700" lIns="91425" spcFirstLastPara="1" rIns="91425" wrap="square" tIns="45700">
            <a:spAutoFit/>
          </a:bodyPr>
          <a:lstStyle/>
          <a:p>
            <a:pPr indent="-177800" lvl="0" marL="0" marR="0" rtl="1" algn="r">
              <a:lnSpc>
                <a:spcPct val="100000"/>
              </a:lnSpc>
              <a:spcBef>
                <a:spcPts val="0"/>
              </a:spcBef>
              <a:spcAft>
                <a:spcPts val="0"/>
              </a:spcAft>
              <a:buClr>
                <a:srgbClr val="F4F0E2"/>
              </a:buClr>
              <a:buSzPts val="2800"/>
              <a:buFont typeface="Noto Sans Symbols"/>
              <a:buChar char="✔"/>
            </a:pPr>
            <a:r>
              <a:rPr b="1" i="0" lang="ar-DZ" sz="2800" u="none" cap="none" strike="noStrike">
                <a:solidFill>
                  <a:srgbClr val="F4F0E2"/>
                </a:solidFill>
                <a:latin typeface="Arial"/>
                <a:ea typeface="Arial"/>
                <a:cs typeface="Arial"/>
                <a:sym typeface="Arial"/>
              </a:rPr>
              <a:t> </a:t>
            </a:r>
            <a:r>
              <a:rPr b="1" i="0" lang="ar-DZ" sz="2400" u="none" cap="none" strike="noStrike">
                <a:solidFill>
                  <a:srgbClr val="F4F0E2"/>
                </a:solidFill>
                <a:latin typeface="Arial"/>
                <a:ea typeface="Arial"/>
                <a:cs typeface="Arial"/>
                <a:sym typeface="Arial"/>
              </a:rPr>
              <a:t>ضبط زر الحساسية الشاقولية (VOLTS/DIV) 2 = Sv</a:t>
            </a:r>
            <a:endParaRPr b="0" i="0" sz="2400" u="none" cap="none" strike="noStrike">
              <a:solidFill>
                <a:schemeClr val="dk1"/>
              </a:solidFill>
              <a:latin typeface="Arial"/>
              <a:ea typeface="Arial"/>
              <a:cs typeface="Arial"/>
              <a:sym typeface="Arial"/>
            </a:endParaRPr>
          </a:p>
        </p:txBody>
      </p:sp>
    </p:spTree>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0"/>
          <p:cNvSpPr txBox="1"/>
          <p:nvPr/>
        </p:nvSpPr>
        <p:spPr>
          <a:xfrm>
            <a:off x="-9525" y="260350"/>
            <a:ext cx="8882062" cy="585787"/>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chemeClr val="dk1"/>
              </a:buClr>
              <a:buSzPts val="3200"/>
              <a:buFont typeface="Arial"/>
              <a:buNone/>
            </a:pPr>
            <a:r>
              <a:rPr b="0" i="0" lang="ar-DZ" sz="3200" u="none">
                <a:solidFill>
                  <a:schemeClr val="dk1"/>
                </a:solidFill>
                <a:latin typeface="Arial"/>
                <a:ea typeface="Arial"/>
                <a:cs typeface="Arial"/>
                <a:sym typeface="Arial"/>
              </a:rPr>
              <a:t>2.4 </a:t>
            </a:r>
            <a:r>
              <a:rPr b="1" i="0" lang="ar-DZ" sz="3200" u="sng">
                <a:solidFill>
                  <a:srgbClr val="FF0000"/>
                </a:solidFill>
                <a:latin typeface="Arial"/>
                <a:ea typeface="Arial"/>
                <a:cs typeface="Arial"/>
                <a:sym typeface="Arial"/>
              </a:rPr>
              <a:t>النشاط الثاني</a:t>
            </a:r>
            <a:r>
              <a:rPr b="1" i="0" lang="ar-DZ" sz="3200" u="none">
                <a:solidFill>
                  <a:srgbClr val="FF0000"/>
                </a:solidFill>
                <a:latin typeface="Arial"/>
                <a:ea typeface="Arial"/>
                <a:cs typeface="Arial"/>
                <a:sym typeface="Arial"/>
              </a:rPr>
              <a:t> :</a:t>
            </a:r>
            <a:r>
              <a:rPr b="0" i="0" lang="ar-DZ" sz="3200" u="none">
                <a:solidFill>
                  <a:schemeClr val="dk1"/>
                </a:solidFill>
                <a:latin typeface="Arial"/>
                <a:ea typeface="Arial"/>
                <a:cs typeface="Arial"/>
                <a:sym typeface="Arial"/>
              </a:rPr>
              <a:t> </a:t>
            </a:r>
            <a:r>
              <a:rPr b="0" i="0" lang="ar-DZ" sz="3200" u="none">
                <a:solidFill>
                  <a:srgbClr val="333333"/>
                </a:solidFill>
                <a:latin typeface="Arial"/>
                <a:ea typeface="Arial"/>
                <a:cs typeface="Arial"/>
                <a:sym typeface="Arial"/>
              </a:rPr>
              <a:t>معاينة إشارة كهربائية ذات توتر متناوب جيبي</a:t>
            </a:r>
            <a:endParaRPr/>
          </a:p>
        </p:txBody>
      </p:sp>
      <p:sp>
        <p:nvSpPr>
          <p:cNvPr id="399" name="Google Shape;399;p30"/>
          <p:cNvSpPr txBox="1"/>
          <p:nvPr/>
        </p:nvSpPr>
        <p:spPr>
          <a:xfrm>
            <a:off x="179387" y="1052512"/>
            <a:ext cx="8839200" cy="83185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152400" lvl="0" marL="0" marR="0" rtl="1" algn="r">
              <a:lnSpc>
                <a:spcPct val="100000"/>
              </a:lnSpc>
              <a:spcBef>
                <a:spcPts val="0"/>
              </a:spcBef>
              <a:spcAft>
                <a:spcPts val="0"/>
              </a:spcAft>
              <a:buClr>
                <a:schemeClr val="dk1"/>
              </a:buClr>
              <a:buSzPts val="2400"/>
              <a:buFont typeface="Noto Sans Symbols"/>
              <a:buChar char="⮚"/>
            </a:pPr>
            <a:r>
              <a:rPr b="1" i="0" lang="ar-DZ" sz="2400" u="none">
                <a:solidFill>
                  <a:schemeClr val="dk1"/>
                </a:solidFill>
                <a:latin typeface="Arial"/>
                <a:ea typeface="Arial"/>
                <a:cs typeface="Arial"/>
                <a:sym typeface="Arial"/>
              </a:rPr>
              <a:t>  </a:t>
            </a:r>
            <a:r>
              <a:rPr b="0" i="0" lang="ar-DZ" sz="2400" u="none">
                <a:solidFill>
                  <a:schemeClr val="dk1"/>
                </a:solidFill>
                <a:latin typeface="Arial"/>
                <a:ea typeface="Arial"/>
                <a:cs typeface="Arial"/>
                <a:sym typeface="Arial"/>
              </a:rPr>
              <a:t>ربط مولد التيار ال</a:t>
            </a:r>
            <a:r>
              <a:rPr b="0" i="0" lang="ar-DZ" sz="2400" u="none">
                <a:solidFill>
                  <a:srgbClr val="333333"/>
                </a:solidFill>
                <a:latin typeface="Arial"/>
                <a:ea typeface="Arial"/>
                <a:cs typeface="Arial"/>
                <a:sym typeface="Arial"/>
              </a:rPr>
              <a:t>متناوب الجيبي</a:t>
            </a:r>
            <a:r>
              <a:rPr b="0" i="0" lang="ar-DZ" sz="2400" u="none">
                <a:solidFill>
                  <a:schemeClr val="dk1"/>
                </a:solidFill>
                <a:latin typeface="Arial"/>
                <a:ea typeface="Arial"/>
                <a:cs typeface="Arial"/>
                <a:sym typeface="Arial"/>
              </a:rPr>
              <a:t> بالمدخل </a:t>
            </a:r>
            <a:r>
              <a:rPr b="1" i="0" lang="ar-DZ" sz="2400" u="none">
                <a:solidFill>
                  <a:srgbClr val="00B0F0"/>
                </a:solidFill>
                <a:latin typeface="Arial"/>
                <a:ea typeface="Arial"/>
                <a:cs typeface="Arial"/>
                <a:sym typeface="Arial"/>
              </a:rPr>
              <a:t>Y</a:t>
            </a:r>
            <a:r>
              <a:rPr b="1" i="0" lang="ar-DZ" sz="1400" u="none">
                <a:solidFill>
                  <a:srgbClr val="00B0F0"/>
                </a:solidFill>
                <a:latin typeface="Arial"/>
                <a:ea typeface="Arial"/>
                <a:cs typeface="Arial"/>
                <a:sym typeface="Arial"/>
              </a:rPr>
              <a:t>INPUT</a:t>
            </a:r>
            <a:r>
              <a:rPr b="1" i="0" lang="ar-DZ" sz="2400" u="none">
                <a:solidFill>
                  <a:srgbClr val="FFFF00"/>
                </a:solidFill>
                <a:latin typeface="Arial"/>
                <a:ea typeface="Arial"/>
                <a:cs typeface="Arial"/>
                <a:sym typeface="Arial"/>
              </a:rPr>
              <a:t> </a:t>
            </a:r>
            <a:r>
              <a:rPr b="1" i="0" lang="ar-DZ" sz="2400" u="none">
                <a:solidFill>
                  <a:srgbClr val="0070C0"/>
                </a:solidFill>
                <a:latin typeface="Arial"/>
                <a:ea typeface="Arial"/>
                <a:cs typeface="Arial"/>
                <a:sym typeface="Arial"/>
              </a:rPr>
              <a:t>  </a:t>
            </a:r>
            <a:r>
              <a:rPr b="0" i="0" lang="ar-DZ" sz="2400" u="none">
                <a:solidFill>
                  <a:srgbClr val="333333"/>
                </a:solidFill>
                <a:latin typeface="Arial"/>
                <a:ea typeface="Arial"/>
                <a:cs typeface="Arial"/>
                <a:sym typeface="Arial"/>
              </a:rPr>
              <a:t>لجهاز راسم الإهتزاز المهبطي كما هو موضح في الشكل أدناه.</a:t>
            </a:r>
            <a:endParaRPr/>
          </a:p>
        </p:txBody>
      </p:sp>
      <p:grpSp>
        <p:nvGrpSpPr>
          <p:cNvPr id="400" name="Google Shape;400;p30"/>
          <p:cNvGrpSpPr/>
          <p:nvPr/>
        </p:nvGrpSpPr>
        <p:grpSpPr>
          <a:xfrm>
            <a:off x="755650" y="1844675"/>
            <a:ext cx="7632700" cy="3178175"/>
            <a:chOff x="1763688" y="2483604"/>
            <a:chExt cx="6624203" cy="2457564"/>
          </a:xfrm>
        </p:grpSpPr>
        <p:grpSp>
          <p:nvGrpSpPr>
            <p:cNvPr id="401" name="Google Shape;401;p30"/>
            <p:cNvGrpSpPr/>
            <p:nvPr/>
          </p:nvGrpSpPr>
          <p:grpSpPr>
            <a:xfrm>
              <a:off x="1763688" y="2642054"/>
              <a:ext cx="6624203" cy="2299114"/>
              <a:chOff x="1763688" y="2204856"/>
              <a:chExt cx="6624203" cy="2299114"/>
            </a:xfrm>
          </p:grpSpPr>
          <p:sp>
            <p:nvSpPr>
              <p:cNvPr id="402" name="Google Shape;402;p30"/>
              <p:cNvSpPr/>
              <p:nvPr/>
            </p:nvSpPr>
            <p:spPr>
              <a:xfrm>
                <a:off x="6732240" y="3429000"/>
                <a:ext cx="216024" cy="432048"/>
              </a:xfrm>
              <a:prstGeom prst="can">
                <a:avLst>
                  <a:gd fmla="val 2700" name="adj"/>
                </a:avLst>
              </a:prstGeom>
              <a:solidFill>
                <a:schemeClr val="accent1"/>
              </a:solid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03" name="Google Shape;403;p30"/>
              <p:cNvSpPr txBox="1"/>
              <p:nvPr/>
            </p:nvSpPr>
            <p:spPr>
              <a:xfrm>
                <a:off x="1763688" y="4221088"/>
                <a:ext cx="288031" cy="28288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nvGrpSpPr>
              <p:cNvPr id="404" name="Google Shape;404;p30"/>
              <p:cNvGrpSpPr/>
              <p:nvPr/>
            </p:nvGrpSpPr>
            <p:grpSpPr>
              <a:xfrm>
                <a:off x="5392290" y="2204856"/>
                <a:ext cx="2995601" cy="1438574"/>
                <a:chOff x="8068" y="8832"/>
                <a:chExt cx="1886" cy="905"/>
              </a:xfrm>
            </p:grpSpPr>
            <p:sp>
              <p:nvSpPr>
                <p:cNvPr id="405" name="Google Shape;405;p30"/>
                <p:cNvSpPr txBox="1"/>
                <p:nvPr/>
              </p:nvSpPr>
              <p:spPr>
                <a:xfrm>
                  <a:off x="8096" y="8972"/>
                  <a:ext cx="655" cy="451"/>
                </a:xfrm>
                <a:prstGeom prst="rect">
                  <a:avLst/>
                </a:prstGeom>
                <a:no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cxnSp>
              <p:nvCxnSpPr>
                <p:cNvPr id="406" name="Google Shape;406;p30"/>
                <p:cNvCxnSpPr/>
                <p:nvPr/>
              </p:nvCxnSpPr>
              <p:spPr>
                <a:xfrm>
                  <a:off x="8419" y="8993"/>
                  <a:ext cx="0" cy="430"/>
                </a:xfrm>
                <a:prstGeom prst="straightConnector1">
                  <a:avLst/>
                </a:prstGeom>
                <a:noFill/>
                <a:ln cap="flat" cmpd="sng" w="28575">
                  <a:solidFill>
                    <a:srgbClr val="000000"/>
                  </a:solidFill>
                  <a:prstDash val="solid"/>
                  <a:miter lim="800000"/>
                  <a:headEnd len="med" w="med" type="none"/>
                  <a:tailEnd len="med" w="med" type="none"/>
                </a:ln>
              </p:spPr>
            </p:cxnSp>
            <p:cxnSp>
              <p:nvCxnSpPr>
                <p:cNvPr id="407" name="Google Shape;407;p30"/>
                <p:cNvCxnSpPr/>
                <p:nvPr/>
              </p:nvCxnSpPr>
              <p:spPr>
                <a:xfrm>
                  <a:off x="8104" y="9213"/>
                  <a:ext cx="647" cy="0"/>
                </a:xfrm>
                <a:prstGeom prst="straightConnector1">
                  <a:avLst/>
                </a:prstGeom>
                <a:noFill/>
                <a:ln cap="flat" cmpd="sng" w="28575">
                  <a:solidFill>
                    <a:srgbClr val="000000"/>
                  </a:solidFill>
                  <a:prstDash val="solid"/>
                  <a:miter lim="800000"/>
                  <a:headEnd len="med" w="med" type="none"/>
                  <a:tailEnd len="med" w="med" type="none"/>
                </a:ln>
              </p:spPr>
            </p:cxnSp>
            <p:sp>
              <p:nvSpPr>
                <p:cNvPr id="408" name="Google Shape;408;p30"/>
                <p:cNvSpPr txBox="1"/>
                <p:nvPr/>
              </p:nvSpPr>
              <p:spPr>
                <a:xfrm>
                  <a:off x="8951" y="8875"/>
                  <a:ext cx="958" cy="229"/>
                </a:xfrm>
                <a:prstGeom prst="rect">
                  <a:avLst/>
                </a:prstGeom>
                <a:noFill/>
                <a:ln cap="flat" cmpd="sng" w="28575">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B0F0"/>
                    </a:buClr>
                    <a:buSzPts val="2000"/>
                    <a:buFont typeface="Calibri"/>
                    <a:buNone/>
                  </a:pPr>
                  <a:r>
                    <a:rPr b="0" i="0" lang="ar-DZ" sz="2000" u="none">
                      <a:solidFill>
                        <a:srgbClr val="00B0F0"/>
                      </a:solidFill>
                      <a:latin typeface="Calibri"/>
                      <a:ea typeface="Calibri"/>
                      <a:cs typeface="Calibri"/>
                      <a:sym typeface="Calibri"/>
                    </a:rPr>
                    <a:t>oscilloscope</a:t>
                  </a:r>
                  <a:endParaRPr/>
                </a:p>
              </p:txBody>
            </p:sp>
            <p:sp>
              <p:nvSpPr>
                <p:cNvPr id="409" name="Google Shape;409;p30"/>
                <p:cNvSpPr txBox="1"/>
                <p:nvPr/>
              </p:nvSpPr>
              <p:spPr>
                <a:xfrm>
                  <a:off x="8776" y="9206"/>
                  <a:ext cx="663" cy="358"/>
                </a:xfrm>
                <a:prstGeom prst="rect">
                  <a:avLst/>
                </a:prstGeom>
                <a:noFill/>
                <a:ln cap="flat" cmpd="sng" w="28575">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B0F0"/>
                    </a:buClr>
                    <a:buSzPts val="2400"/>
                    <a:buFont typeface="Arial"/>
                    <a:buNone/>
                  </a:pPr>
                  <a:r>
                    <a:rPr b="1" i="0" lang="ar-DZ" sz="2400" u="none">
                      <a:solidFill>
                        <a:srgbClr val="00B0F0"/>
                      </a:solidFill>
                      <a:latin typeface="Arial"/>
                      <a:ea typeface="Arial"/>
                      <a:cs typeface="Arial"/>
                      <a:sym typeface="Arial"/>
                    </a:rPr>
                    <a:t>Y</a:t>
                  </a:r>
                  <a:r>
                    <a:rPr b="1" i="0" lang="ar-DZ" sz="1800" u="none">
                      <a:solidFill>
                        <a:srgbClr val="00B0F0"/>
                      </a:solidFill>
                      <a:latin typeface="Arial"/>
                      <a:ea typeface="Arial"/>
                      <a:cs typeface="Arial"/>
                      <a:sym typeface="Arial"/>
                    </a:rPr>
                    <a:t>INPUT</a:t>
                  </a:r>
                  <a:endParaRPr/>
                </a:p>
              </p:txBody>
            </p:sp>
            <p:grpSp>
              <p:nvGrpSpPr>
                <p:cNvPr id="410" name="Google Shape;410;p30"/>
                <p:cNvGrpSpPr/>
                <p:nvPr/>
              </p:nvGrpSpPr>
              <p:grpSpPr>
                <a:xfrm>
                  <a:off x="8932" y="9482"/>
                  <a:ext cx="113" cy="255"/>
                  <a:chOff x="8932" y="9239"/>
                  <a:chExt cx="113" cy="255"/>
                </a:xfrm>
              </p:grpSpPr>
              <p:sp>
                <p:nvSpPr>
                  <p:cNvPr id="411" name="Google Shape;411;p30"/>
                  <p:cNvSpPr/>
                  <p:nvPr/>
                </p:nvSpPr>
                <p:spPr>
                  <a:xfrm>
                    <a:off x="8932" y="9239"/>
                    <a:ext cx="113" cy="113"/>
                  </a:xfrm>
                  <a:prstGeom prst="ellipse">
                    <a:avLst/>
                  </a:prstGeom>
                  <a:blipFill rotWithShape="1">
                    <a:blip r:embed="rId3">
                      <a:alphaModFix/>
                    </a:blip>
                    <a:stretch>
                      <a:fillRect b="0" l="0" r="0" t="0"/>
                    </a:stretch>
                  </a:blip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cxnSp>
                <p:nvCxnSpPr>
                  <p:cNvPr id="412" name="Google Shape;412;p30"/>
                  <p:cNvCxnSpPr/>
                  <p:nvPr/>
                </p:nvCxnSpPr>
                <p:spPr>
                  <a:xfrm>
                    <a:off x="8992" y="9327"/>
                    <a:ext cx="0" cy="167"/>
                  </a:xfrm>
                  <a:prstGeom prst="straightConnector1">
                    <a:avLst/>
                  </a:prstGeom>
                  <a:noFill/>
                  <a:ln cap="flat" cmpd="sng" w="28575">
                    <a:solidFill>
                      <a:srgbClr val="000000"/>
                    </a:solidFill>
                    <a:prstDash val="solid"/>
                    <a:miter lim="800000"/>
                    <a:headEnd len="med" w="med" type="none"/>
                    <a:tailEnd len="med" w="med" type="none"/>
                  </a:ln>
                </p:spPr>
              </p:cxnSp>
            </p:grpSp>
            <p:sp>
              <p:nvSpPr>
                <p:cNvPr id="413" name="Google Shape;413;p30"/>
                <p:cNvSpPr txBox="1"/>
                <p:nvPr/>
              </p:nvSpPr>
              <p:spPr>
                <a:xfrm>
                  <a:off x="8068" y="8832"/>
                  <a:ext cx="1886" cy="821"/>
                </a:xfrm>
                <a:prstGeom prst="rect">
                  <a:avLst/>
                </a:prstGeom>
                <a:no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sp>
            <p:nvSpPr>
              <p:cNvPr id="414" name="Google Shape;414;p30"/>
              <p:cNvSpPr txBox="1"/>
              <p:nvPr/>
            </p:nvSpPr>
            <p:spPr>
              <a:xfrm>
                <a:off x="2267943" y="2349612"/>
                <a:ext cx="1449389" cy="870336"/>
              </a:xfrm>
              <a:prstGeom prst="rect">
                <a:avLst/>
              </a:prstGeom>
              <a:gradFill>
                <a:gsLst>
                  <a:gs pos="0">
                    <a:srgbClr val="BCBCBC"/>
                  </a:gs>
                  <a:gs pos="35000">
                    <a:srgbClr val="D0D0D0"/>
                  </a:gs>
                  <a:gs pos="100000">
                    <a:srgbClr val="EDEDED"/>
                  </a:gs>
                </a:gsLst>
                <a:lin ang="16200000" scaled="0"/>
              </a:gradFill>
              <a:ln cap="flat" cmpd="sng" w="9525">
                <a:solidFill>
                  <a:srgbClr val="000000"/>
                </a:solidFill>
                <a:prstDash val="solid"/>
                <a:miter lim="800000"/>
                <a:headEnd len="sm" w="sm" type="none"/>
                <a:tailEnd len="sm" w="sm" type="none"/>
              </a:ln>
              <a:effectLst>
                <a:outerShdw blurRad="63500" dir="5400000" dist="20000">
                  <a:srgbClr val="000000">
                    <a:alpha val="37647"/>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15" name="Google Shape;415;p30"/>
              <p:cNvSpPr txBox="1"/>
              <p:nvPr/>
            </p:nvSpPr>
            <p:spPr>
              <a:xfrm>
                <a:off x="2354832" y="2420888"/>
                <a:ext cx="1296144" cy="297565"/>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chemeClr val="dk1"/>
                  </a:buClr>
                  <a:buSzPts val="2000"/>
                  <a:buFont typeface="Arial"/>
                  <a:buNone/>
                </a:pPr>
                <a:r>
                  <a:rPr b="1" i="0" lang="ar-DZ" sz="2000" u="none">
                    <a:solidFill>
                      <a:schemeClr val="dk1"/>
                    </a:solidFill>
                    <a:latin typeface="Arial"/>
                    <a:ea typeface="Arial"/>
                    <a:cs typeface="Arial"/>
                    <a:sym typeface="Arial"/>
                  </a:rPr>
                  <a:t> </a:t>
                </a:r>
                <a:endParaRPr/>
              </a:p>
              <a:p>
                <a:pPr indent="0" lvl="0" marL="0" marR="0" rtl="1" algn="ctr">
                  <a:lnSpc>
                    <a:spcPct val="100000"/>
                  </a:lnSpc>
                  <a:spcBef>
                    <a:spcPts val="1000"/>
                  </a:spcBef>
                  <a:spcAft>
                    <a:spcPts val="0"/>
                  </a:spcAft>
                  <a:buClr>
                    <a:schemeClr val="dk1"/>
                  </a:buClr>
                  <a:buSzPts val="2000"/>
                  <a:buFont typeface="Arial"/>
                  <a:buNone/>
                </a:pPr>
                <a:r>
                  <a:rPr b="1" i="0" lang="ar-DZ" sz="2000" u="none">
                    <a:solidFill>
                      <a:schemeClr val="dk1"/>
                    </a:solidFill>
                    <a:latin typeface="Arial"/>
                    <a:ea typeface="Arial"/>
                    <a:cs typeface="Arial"/>
                    <a:sym typeface="Arial"/>
                  </a:rPr>
                  <a:t>V 12</a:t>
                </a:r>
                <a:endParaRPr/>
              </a:p>
            </p:txBody>
          </p:sp>
          <p:sp>
            <p:nvSpPr>
              <p:cNvPr id="416" name="Google Shape;416;p30"/>
              <p:cNvSpPr/>
              <p:nvPr/>
            </p:nvSpPr>
            <p:spPr>
              <a:xfrm>
                <a:off x="3186900" y="3212583"/>
                <a:ext cx="139152" cy="136259"/>
              </a:xfrm>
              <a:prstGeom prst="ellipse">
                <a:avLst/>
              </a:prstGeom>
              <a:gradFill>
                <a:gsLst>
                  <a:gs pos="0">
                    <a:srgbClr val="000000"/>
                  </a:gs>
                  <a:gs pos="80000">
                    <a:srgbClr val="000000"/>
                  </a:gs>
                  <a:gs pos="100000">
                    <a:srgbClr val="000000"/>
                  </a:gs>
                </a:gsLst>
                <a:lin ang="16200000" scaled="0"/>
              </a:gradFill>
              <a:ln cap="flat" cmpd="sng" w="9525">
                <a:solidFill>
                  <a:srgbClr val="000000"/>
                </a:solidFill>
                <a:prstDash val="solid"/>
                <a:miter lim="800000"/>
                <a:headEnd len="sm" w="sm" type="none"/>
                <a:tailEnd len="sm" w="sm" type="none"/>
              </a:ln>
              <a:effectLst>
                <a:outerShdw blurRad="63500" dir="5400000" dist="23000">
                  <a:srgbClr val="000000">
                    <a:alpha val="3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17" name="Google Shape;417;p30"/>
              <p:cNvSpPr/>
              <p:nvPr/>
            </p:nvSpPr>
            <p:spPr>
              <a:xfrm>
                <a:off x="3254409" y="3303422"/>
                <a:ext cx="3477431" cy="950127"/>
              </a:xfrm>
              <a:custGeom>
                <a:rect b="b" l="l" r="r" t="t"/>
                <a:pathLst>
                  <a:path extrusionOk="0" h="750" w="3255">
                    <a:moveTo>
                      <a:pt x="0" y="0"/>
                    </a:moveTo>
                    <a:lnTo>
                      <a:pt x="0" y="750"/>
                    </a:lnTo>
                    <a:lnTo>
                      <a:pt x="3255" y="750"/>
                    </a:lnTo>
                    <a:lnTo>
                      <a:pt x="3255" y="307"/>
                    </a:lnTo>
                  </a:path>
                </a:pathLst>
              </a:custGeom>
              <a:noFill/>
              <a:ln cap="flat" cmpd="sng" w="38100">
                <a:solidFill>
                  <a:srgbClr val="000000"/>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18" name="Google Shape;418;p30"/>
              <p:cNvSpPr/>
              <p:nvPr/>
            </p:nvSpPr>
            <p:spPr>
              <a:xfrm>
                <a:off x="2740510" y="3300967"/>
                <a:ext cx="4124972" cy="991864"/>
              </a:xfrm>
              <a:custGeom>
                <a:rect b="b" l="l" r="r" t="t"/>
                <a:pathLst>
                  <a:path extrusionOk="0" h="1013" w="3608">
                    <a:moveTo>
                      <a:pt x="0" y="0"/>
                    </a:moveTo>
                    <a:lnTo>
                      <a:pt x="0" y="1013"/>
                    </a:lnTo>
                    <a:lnTo>
                      <a:pt x="3608" y="1013"/>
                    </a:lnTo>
                    <a:lnTo>
                      <a:pt x="3608" y="293"/>
                    </a:lnTo>
                  </a:path>
                </a:pathLst>
              </a:custGeom>
              <a:noFill/>
              <a:ln cap="flat" cmpd="sng" w="38100">
                <a:solidFill>
                  <a:srgbClr val="FF0000"/>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19" name="Google Shape;419;p30"/>
              <p:cNvSpPr/>
              <p:nvPr/>
            </p:nvSpPr>
            <p:spPr>
              <a:xfrm>
                <a:off x="2675257" y="3229105"/>
                <a:ext cx="139227" cy="136058"/>
              </a:xfrm>
              <a:prstGeom prst="ellipse">
                <a:avLst/>
              </a:prstGeom>
              <a:solidFill>
                <a:srgbClr val="FF0000"/>
              </a:solidFill>
              <a:ln cap="flat" cmpd="sng" w="254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sp>
          <p:nvSpPr>
            <p:cNvPr id="420" name="Google Shape;420;p30"/>
            <p:cNvSpPr txBox="1"/>
            <p:nvPr/>
          </p:nvSpPr>
          <p:spPr>
            <a:xfrm>
              <a:off x="1879670" y="2483604"/>
              <a:ext cx="1935420" cy="285571"/>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00B0F0"/>
                </a:buClr>
                <a:buSzPts val="1800"/>
                <a:buFont typeface="Arial"/>
                <a:buNone/>
              </a:pPr>
              <a:r>
                <a:rPr b="0" i="0" lang="ar-DZ" sz="1800" u="none">
                  <a:solidFill>
                    <a:srgbClr val="00B0F0"/>
                  </a:solidFill>
                  <a:latin typeface="Arial"/>
                  <a:ea typeface="Arial"/>
                  <a:cs typeface="Arial"/>
                  <a:sym typeface="Arial"/>
                </a:rPr>
                <a:t>مولد التوتر المتناوب الجيبي</a:t>
              </a:r>
              <a:endParaRPr/>
            </a:p>
          </p:txBody>
        </p:sp>
      </p:grpSp>
      <p:sp>
        <p:nvSpPr>
          <p:cNvPr id="421" name="Google Shape;421;p30"/>
          <p:cNvSpPr txBox="1"/>
          <p:nvPr/>
        </p:nvSpPr>
        <p:spPr>
          <a:xfrm>
            <a:off x="179387" y="5661025"/>
            <a:ext cx="8766175" cy="461962"/>
          </a:xfrm>
          <a:prstGeom prst="rect">
            <a:avLst/>
          </a:prstGeom>
          <a:noFill/>
          <a:ln>
            <a:noFill/>
          </a:ln>
        </p:spPr>
        <p:txBody>
          <a:bodyPr anchorCtr="0" anchor="t" bIns="45700" lIns="91425" spcFirstLastPara="1" rIns="91425" wrap="square" tIns="45700">
            <a:spAutoFit/>
          </a:bodyPr>
          <a:lstStyle/>
          <a:p>
            <a:pPr indent="-152400" lvl="0" marL="0" marR="0" rtl="1" algn="r">
              <a:lnSpc>
                <a:spcPct val="100000"/>
              </a:lnSpc>
              <a:spcBef>
                <a:spcPts val="0"/>
              </a:spcBef>
              <a:spcAft>
                <a:spcPts val="0"/>
              </a:spcAft>
              <a:buClr>
                <a:schemeClr val="dk1"/>
              </a:buClr>
              <a:buSzPts val="2400"/>
              <a:buFont typeface="Noto Sans Symbols"/>
              <a:buChar char="⮚"/>
            </a:pPr>
            <a:r>
              <a:rPr b="1" i="0" lang="ar-DZ" sz="2400" u="none">
                <a:solidFill>
                  <a:schemeClr val="dk1"/>
                </a:solidFill>
                <a:latin typeface="Arial"/>
                <a:ea typeface="Arial"/>
                <a:cs typeface="Arial"/>
                <a:sym typeface="Arial"/>
              </a:rPr>
              <a:t>  تشغيل كلا من المولد وجهاز راسم الإهتزاز المهبطي بالضغط على زر </a:t>
            </a:r>
            <a:r>
              <a:rPr b="1" i="0" lang="ar-DZ" sz="2400" u="none">
                <a:solidFill>
                  <a:srgbClr val="C00000"/>
                </a:solidFill>
                <a:latin typeface="Arial"/>
                <a:ea typeface="Arial"/>
                <a:cs typeface="Arial"/>
                <a:sym typeface="Arial"/>
              </a:rPr>
              <a:t>POWER </a:t>
            </a:r>
            <a:endParaRPr/>
          </a:p>
        </p:txBody>
      </p:sp>
      <p:sp>
        <p:nvSpPr>
          <p:cNvPr id="422" name="Google Shape;422;p30"/>
          <p:cNvSpPr/>
          <p:nvPr/>
        </p:nvSpPr>
        <p:spPr>
          <a:xfrm>
            <a:off x="2051050" y="2420937"/>
            <a:ext cx="327025" cy="333375"/>
          </a:xfrm>
          <a:custGeom>
            <a:rect b="b" l="l" r="r" t="t"/>
            <a:pathLst>
              <a:path extrusionOk="0" h="333829" w="326572">
                <a:moveTo>
                  <a:pt x="0" y="194129"/>
                </a:moveTo>
                <a:cubicBezTo>
                  <a:pt x="9071" y="97064"/>
                  <a:pt x="18143" y="0"/>
                  <a:pt x="54429" y="19957"/>
                </a:cubicBezTo>
                <a:cubicBezTo>
                  <a:pt x="90715" y="39914"/>
                  <a:pt x="172357" y="293915"/>
                  <a:pt x="217714" y="313872"/>
                </a:cubicBezTo>
                <a:cubicBezTo>
                  <a:pt x="263071" y="333829"/>
                  <a:pt x="326572" y="139700"/>
                  <a:pt x="326572" y="139700"/>
                </a:cubicBezTo>
                <a:lnTo>
                  <a:pt x="326572" y="139700"/>
                </a:lnTo>
                <a:lnTo>
                  <a:pt x="326572" y="139700"/>
                </a:lnTo>
              </a:path>
            </a:pathLst>
          </a:cu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Tree>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1"/>
          <p:cNvSpPr txBox="1"/>
          <p:nvPr/>
        </p:nvSpPr>
        <p:spPr>
          <a:xfrm>
            <a:off x="755650" y="44450"/>
            <a:ext cx="8208962" cy="461962"/>
          </a:xfrm>
          <a:prstGeom prst="rect">
            <a:avLst/>
          </a:prstGeom>
          <a:noFill/>
          <a:ln>
            <a:noFill/>
          </a:ln>
        </p:spPr>
        <p:txBody>
          <a:bodyPr anchorCtr="0" anchor="t" bIns="45700" lIns="91425" spcFirstLastPara="1" rIns="91425" wrap="square" tIns="45700">
            <a:spAutoFit/>
          </a:bodyPr>
          <a:lstStyle/>
          <a:p>
            <a:pPr indent="-152400" lvl="0" marL="0" marR="0" rtl="1" algn="r">
              <a:lnSpc>
                <a:spcPct val="100000"/>
              </a:lnSpc>
              <a:spcBef>
                <a:spcPts val="0"/>
              </a:spcBef>
              <a:spcAft>
                <a:spcPts val="0"/>
              </a:spcAft>
              <a:buClr>
                <a:schemeClr val="dk1"/>
              </a:buClr>
              <a:buSzPts val="2400"/>
              <a:buFont typeface="Noto Sans Symbols"/>
              <a:buChar char="✔"/>
            </a:pPr>
            <a:r>
              <a:rPr b="0" i="0" lang="ar-DZ" sz="2400" u="none">
                <a:solidFill>
                  <a:schemeClr val="dk1"/>
                </a:solidFill>
                <a:latin typeface="Arial"/>
                <a:ea typeface="Arial"/>
                <a:cs typeface="Arial"/>
                <a:sym typeface="Arial"/>
              </a:rPr>
              <a:t> ضبط زر الحساسية الشاقولية  VOLT/DIV 2 = Sv</a:t>
            </a:r>
            <a:endParaRPr/>
          </a:p>
        </p:txBody>
      </p:sp>
      <p:sp>
        <p:nvSpPr>
          <p:cNvPr id="428" name="Google Shape;428;p31"/>
          <p:cNvSpPr txBox="1"/>
          <p:nvPr/>
        </p:nvSpPr>
        <p:spPr>
          <a:xfrm>
            <a:off x="0" y="1022350"/>
            <a:ext cx="9036050" cy="461962"/>
          </a:xfrm>
          <a:prstGeom prst="rect">
            <a:avLst/>
          </a:prstGeom>
          <a:solidFill>
            <a:schemeClr val="lt1"/>
          </a:solidFill>
          <a:ln>
            <a:noFill/>
          </a:ln>
        </p:spPr>
        <p:txBody>
          <a:bodyPr anchorCtr="0" anchor="t" bIns="45700" lIns="91425" spcFirstLastPara="1" rIns="91425" wrap="square" tIns="45700">
            <a:spAutoFit/>
          </a:bodyPr>
          <a:lstStyle/>
          <a:p>
            <a:pPr indent="-152400" lvl="0" marL="0" marR="0" rtl="1" algn="r">
              <a:lnSpc>
                <a:spcPct val="100000"/>
              </a:lnSpc>
              <a:spcBef>
                <a:spcPts val="0"/>
              </a:spcBef>
              <a:spcAft>
                <a:spcPts val="0"/>
              </a:spcAft>
              <a:buClr>
                <a:schemeClr val="dk1"/>
              </a:buClr>
              <a:buSzPts val="2400"/>
              <a:buFont typeface="Noto Sans Symbols"/>
              <a:buChar char="✔"/>
            </a:pPr>
            <a:r>
              <a:rPr b="1" i="0" lang="ar-DZ" sz="2400" u="none">
                <a:solidFill>
                  <a:schemeClr val="dk1"/>
                </a:solidFill>
                <a:latin typeface="Calibri"/>
                <a:ea typeface="Calibri"/>
                <a:cs typeface="Calibri"/>
                <a:sym typeface="Calibri"/>
              </a:rPr>
              <a:t> </a:t>
            </a:r>
            <a:r>
              <a:rPr b="0" i="0" lang="ar-DZ" sz="2400" u="none">
                <a:solidFill>
                  <a:schemeClr val="dk1"/>
                </a:solidFill>
                <a:latin typeface="Calibri"/>
                <a:ea typeface="Calibri"/>
                <a:cs typeface="Calibri"/>
                <a:sym typeface="Calibri"/>
              </a:rPr>
              <a:t>ضبط زر VAR. TIME و زر LEVEL للحصول على اشارة ثابتة وواضحة على الشاشة.                   </a:t>
            </a:r>
            <a:endParaRPr/>
          </a:p>
        </p:txBody>
      </p:sp>
      <p:pic>
        <p:nvPicPr>
          <p:cNvPr descr="Image associée" id="429" name="Google Shape;429;p31"/>
          <p:cNvPicPr preferRelativeResize="0"/>
          <p:nvPr/>
        </p:nvPicPr>
        <p:blipFill rotWithShape="1">
          <a:blip r:embed="rId3">
            <a:alphaModFix/>
          </a:blip>
          <a:srcRect b="0" l="0" r="0" t="0"/>
          <a:stretch/>
        </p:blipFill>
        <p:spPr>
          <a:xfrm>
            <a:off x="4932362" y="1557337"/>
            <a:ext cx="3744912" cy="3363912"/>
          </a:xfrm>
          <a:prstGeom prst="rect">
            <a:avLst/>
          </a:prstGeom>
          <a:noFill/>
          <a:ln>
            <a:noFill/>
          </a:ln>
        </p:spPr>
      </p:pic>
      <p:pic>
        <p:nvPicPr>
          <p:cNvPr descr="Image associée" id="430" name="Google Shape;430;p31"/>
          <p:cNvPicPr preferRelativeResize="0"/>
          <p:nvPr/>
        </p:nvPicPr>
        <p:blipFill rotWithShape="1">
          <a:blip r:embed="rId3">
            <a:alphaModFix/>
          </a:blip>
          <a:srcRect b="0" l="0" r="0" t="0"/>
          <a:stretch/>
        </p:blipFill>
        <p:spPr>
          <a:xfrm>
            <a:off x="755650" y="1557337"/>
            <a:ext cx="3816350" cy="3363912"/>
          </a:xfrm>
          <a:prstGeom prst="rect">
            <a:avLst/>
          </a:prstGeom>
          <a:noFill/>
          <a:ln>
            <a:noFill/>
          </a:ln>
        </p:spPr>
      </p:pic>
      <p:sp>
        <p:nvSpPr>
          <p:cNvPr id="431" name="Google Shape;431;p31"/>
          <p:cNvSpPr txBox="1"/>
          <p:nvPr/>
        </p:nvSpPr>
        <p:spPr>
          <a:xfrm>
            <a:off x="1763688" y="1628800"/>
            <a:ext cx="1800200"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SzPts val="2400"/>
              <a:buFont typeface="Arial"/>
              <a:buNone/>
            </a:pPr>
            <a:r>
              <a:rPr b="0" i="0" lang="ar-DZ" sz="2400" u="none" cap="none" strike="noStrike">
                <a:latin typeface="Arial"/>
                <a:ea typeface="Arial"/>
                <a:cs typeface="Arial"/>
                <a:sym typeface="Arial"/>
              </a:rPr>
              <a:t>بمسح زمني</a:t>
            </a:r>
            <a:endParaRPr b="0" i="0" sz="2400" u="none" cap="none" strike="noStrike">
              <a:latin typeface="Arial"/>
              <a:ea typeface="Arial"/>
              <a:cs typeface="Arial"/>
              <a:sym typeface="Arial"/>
            </a:endParaRPr>
          </a:p>
        </p:txBody>
      </p:sp>
      <p:sp>
        <p:nvSpPr>
          <p:cNvPr id="432" name="Google Shape;432;p31"/>
          <p:cNvSpPr txBox="1"/>
          <p:nvPr/>
        </p:nvSpPr>
        <p:spPr>
          <a:xfrm>
            <a:off x="5868144" y="1628800"/>
            <a:ext cx="1800200"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SzPts val="2400"/>
              <a:buFont typeface="Arial"/>
              <a:buNone/>
            </a:pPr>
            <a:r>
              <a:rPr b="0" i="0" lang="ar-DZ" sz="2400" u="none" cap="none" strike="noStrike">
                <a:latin typeface="Arial"/>
                <a:ea typeface="Arial"/>
                <a:cs typeface="Arial"/>
                <a:sym typeface="Arial"/>
              </a:rPr>
              <a:t>بدون مسح زمني</a:t>
            </a:r>
            <a:endParaRPr b="0" i="0" sz="2400" u="none" cap="none" strike="noStrike">
              <a:latin typeface="Arial"/>
              <a:ea typeface="Arial"/>
              <a:cs typeface="Arial"/>
              <a:sym typeface="Arial"/>
            </a:endParaRPr>
          </a:p>
        </p:txBody>
      </p:sp>
      <p:cxnSp>
        <p:nvCxnSpPr>
          <p:cNvPr id="433" name="Google Shape;433;p31"/>
          <p:cNvCxnSpPr/>
          <p:nvPr/>
        </p:nvCxnSpPr>
        <p:spPr>
          <a:xfrm>
            <a:off x="6792912" y="2420937"/>
            <a:ext cx="0" cy="1655762"/>
          </a:xfrm>
          <a:prstGeom prst="straightConnector1">
            <a:avLst/>
          </a:prstGeom>
          <a:noFill/>
          <a:ln cap="flat" cmpd="sng" w="57150">
            <a:solidFill>
              <a:srgbClr val="FFFF00"/>
            </a:solidFill>
            <a:prstDash val="solid"/>
            <a:miter lim="800000"/>
            <a:headEnd len="med" w="med" type="none"/>
            <a:tailEnd len="med" w="med" type="none"/>
          </a:ln>
        </p:spPr>
      </p:cxnSp>
      <p:sp>
        <p:nvSpPr>
          <p:cNvPr id="434" name="Google Shape;434;p31"/>
          <p:cNvSpPr/>
          <p:nvPr/>
        </p:nvSpPr>
        <p:spPr>
          <a:xfrm>
            <a:off x="1316037" y="2427287"/>
            <a:ext cx="2679700" cy="1627187"/>
          </a:xfrm>
          <a:custGeom>
            <a:rect b="b" l="l" r="r" t="t"/>
            <a:pathLst>
              <a:path extrusionOk="0" h="1627415" w="2569029">
                <a:moveTo>
                  <a:pt x="0" y="1621972"/>
                </a:moveTo>
                <a:cubicBezTo>
                  <a:pt x="217714" y="810986"/>
                  <a:pt x="435429" y="0"/>
                  <a:pt x="740229" y="0"/>
                </a:cubicBezTo>
                <a:cubicBezTo>
                  <a:pt x="1045029" y="0"/>
                  <a:pt x="1524000" y="1616529"/>
                  <a:pt x="1828800" y="1621972"/>
                </a:cubicBezTo>
                <a:cubicBezTo>
                  <a:pt x="2133600" y="1627415"/>
                  <a:pt x="2569029" y="32657"/>
                  <a:pt x="2569029" y="32657"/>
                </a:cubicBezTo>
                <a:lnTo>
                  <a:pt x="2569029" y="32657"/>
                </a:lnTo>
                <a:lnTo>
                  <a:pt x="2569029" y="32657"/>
                </a:lnTo>
              </a:path>
            </a:pathLst>
          </a:custGeom>
          <a:noFill/>
          <a:ln cap="flat" cmpd="sng" w="381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35" name="Google Shape;435;p31"/>
          <p:cNvSpPr txBox="1"/>
          <p:nvPr/>
        </p:nvSpPr>
        <p:spPr>
          <a:xfrm>
            <a:off x="3708400" y="549275"/>
            <a:ext cx="5291137" cy="460375"/>
          </a:xfrm>
          <a:prstGeom prst="rect">
            <a:avLst/>
          </a:prstGeom>
          <a:noFill/>
          <a:ln>
            <a:noFill/>
          </a:ln>
        </p:spPr>
        <p:txBody>
          <a:bodyPr anchorCtr="0" anchor="t" bIns="45700" lIns="91425" spcFirstLastPara="1" rIns="91425" wrap="square" tIns="45700">
            <a:spAutoFit/>
          </a:bodyPr>
          <a:lstStyle/>
          <a:p>
            <a:pPr indent="-152400" lvl="0" marL="0" marR="0" rtl="1" algn="r">
              <a:lnSpc>
                <a:spcPct val="100000"/>
              </a:lnSpc>
              <a:spcBef>
                <a:spcPts val="0"/>
              </a:spcBef>
              <a:spcAft>
                <a:spcPts val="0"/>
              </a:spcAft>
              <a:buClr>
                <a:schemeClr val="dk1"/>
              </a:buClr>
              <a:buSzPts val="2400"/>
              <a:buFont typeface="Noto Sans Symbols"/>
              <a:buChar char="✔"/>
            </a:pPr>
            <a:r>
              <a:rPr b="0" i="0" lang="ar-DZ" sz="2400" u="none">
                <a:solidFill>
                  <a:schemeClr val="dk1"/>
                </a:solidFill>
                <a:latin typeface="Calibri"/>
                <a:ea typeface="Calibri"/>
                <a:cs typeface="Calibri"/>
                <a:sym typeface="Calibri"/>
              </a:rPr>
              <a:t> ضبط زر الحساسية الأفقية DIV/S</a:t>
            </a:r>
            <a:r>
              <a:rPr b="0" i="0" lang="ar-DZ" sz="1800" u="none">
                <a:solidFill>
                  <a:schemeClr val="dk1"/>
                </a:solidFill>
                <a:latin typeface="Calibri"/>
                <a:ea typeface="Calibri"/>
                <a:cs typeface="Calibri"/>
                <a:sym typeface="Calibri"/>
              </a:rPr>
              <a:t>H</a:t>
            </a:r>
            <a:r>
              <a:rPr b="0" i="0" lang="ar-DZ" sz="2400" u="none">
                <a:solidFill>
                  <a:schemeClr val="dk1"/>
                </a:solidFill>
                <a:latin typeface="Calibri"/>
                <a:ea typeface="Calibri"/>
                <a:cs typeface="Calibri"/>
                <a:sym typeface="Calibri"/>
              </a:rPr>
              <a:t> = 0,5 ms</a:t>
            </a:r>
            <a:endParaRPr/>
          </a:p>
        </p:txBody>
      </p:sp>
      <p:sp>
        <p:nvSpPr>
          <p:cNvPr id="436" name="Google Shape;436;p31"/>
          <p:cNvSpPr txBox="1"/>
          <p:nvPr/>
        </p:nvSpPr>
        <p:spPr>
          <a:xfrm>
            <a:off x="1979612" y="4437062"/>
            <a:ext cx="5329237" cy="461962"/>
          </a:xfrm>
          <a:prstGeom prst="rect">
            <a:avLst/>
          </a:prstGeom>
          <a:solidFill>
            <a:schemeClr val="lt1"/>
          </a:solidFill>
          <a:ln cap="flat" cmpd="sng" w="254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Clr>
                <a:srgbClr val="000000"/>
              </a:buClr>
              <a:buSzPts val="2400"/>
              <a:buFont typeface="Calibri"/>
              <a:buNone/>
            </a:pPr>
            <a:r>
              <a:rPr b="1" i="0" lang="ar-DZ" sz="2400" u="none">
                <a:solidFill>
                  <a:srgbClr val="000000"/>
                </a:solidFill>
                <a:latin typeface="Calibri"/>
                <a:ea typeface="Calibri"/>
                <a:cs typeface="Calibri"/>
                <a:sym typeface="Calibri"/>
              </a:rPr>
              <a:t>من المنحنيين أعلاه، يمكن التعريف بالمقادير الأتية : </a:t>
            </a:r>
            <a:endParaRPr/>
          </a:p>
        </p:txBody>
      </p:sp>
      <p:sp>
        <p:nvSpPr>
          <p:cNvPr id="437" name="Google Shape;437;p31"/>
          <p:cNvSpPr txBox="1"/>
          <p:nvPr/>
        </p:nvSpPr>
        <p:spPr>
          <a:xfrm>
            <a:off x="1115616" y="4941168"/>
            <a:ext cx="7912832" cy="461665"/>
          </a:xfrm>
          <a:prstGeom prst="rect">
            <a:avLst/>
          </a:prstGeom>
          <a:noFill/>
          <a:ln>
            <a:noFill/>
          </a:ln>
        </p:spPr>
        <p:txBody>
          <a:bodyPr anchorCtr="0" anchor="t" bIns="45700" lIns="91425" spcFirstLastPara="1" rIns="91425" wrap="square" tIns="45700">
            <a:spAutoFit/>
          </a:bodyPr>
          <a:lstStyle/>
          <a:p>
            <a:pPr indent="0" lvl="0" marL="0" marR="0" rtl="1" algn="just">
              <a:lnSpc>
                <a:spcPct val="100000"/>
              </a:lnSpc>
              <a:spcBef>
                <a:spcPts val="0"/>
              </a:spcBef>
              <a:spcAft>
                <a:spcPts val="0"/>
              </a:spcAft>
              <a:buClr>
                <a:srgbClr val="0070C0"/>
              </a:buClr>
              <a:buSzPts val="2400"/>
              <a:buFont typeface="Arial"/>
              <a:buNone/>
            </a:pPr>
            <a:r>
              <a:rPr b="1" i="0" lang="ar-DZ" sz="2400" u="none" cap="none" strike="noStrike">
                <a:solidFill>
                  <a:srgbClr val="0070C0"/>
                </a:solidFill>
                <a:latin typeface="Arial"/>
                <a:ea typeface="Arial"/>
                <a:cs typeface="Arial"/>
                <a:sym typeface="Arial"/>
              </a:rPr>
              <a:t>nV</a:t>
            </a:r>
            <a:r>
              <a:rPr b="0" i="0" lang="ar-DZ" sz="2400" u="none" cap="none" strike="noStrike">
                <a:solidFill>
                  <a:schemeClr val="dk1"/>
                </a:solidFill>
                <a:latin typeface="Arial"/>
                <a:ea typeface="Arial"/>
                <a:cs typeface="Arial"/>
                <a:sym typeface="Arial"/>
              </a:rPr>
              <a:t> عدد التدريجات وفق المحورالعمودي التي تفصل مبدأ المعلم وذروة الإشارة.</a:t>
            </a:r>
            <a:endParaRPr b="0" i="0" sz="2400" u="none" cap="none" strike="noStrike">
              <a:solidFill>
                <a:schemeClr val="dk1"/>
              </a:solidFill>
              <a:latin typeface="Arial"/>
              <a:ea typeface="Arial"/>
              <a:cs typeface="Arial"/>
              <a:sym typeface="Arial"/>
            </a:endParaRPr>
          </a:p>
        </p:txBody>
      </p:sp>
      <p:sp>
        <p:nvSpPr>
          <p:cNvPr id="438" name="Google Shape;438;p31"/>
          <p:cNvSpPr/>
          <p:nvPr/>
        </p:nvSpPr>
        <p:spPr>
          <a:xfrm>
            <a:off x="5652120" y="5991671"/>
            <a:ext cx="1728192" cy="461665"/>
          </a:xfrm>
          <a:prstGeom prst="rect">
            <a:avLst/>
          </a:prstGeom>
          <a:solidFill>
            <a:schemeClr val="lt1"/>
          </a:solidFill>
          <a:ln cap="flat" cmpd="sng" w="254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1" algn="ctr">
              <a:lnSpc>
                <a:spcPct val="100000"/>
              </a:lnSpc>
              <a:spcBef>
                <a:spcPts val="0"/>
              </a:spcBef>
              <a:spcAft>
                <a:spcPts val="0"/>
              </a:spcAft>
              <a:buClr>
                <a:schemeClr val="dk1"/>
              </a:buClr>
              <a:buSzPts val="2400"/>
              <a:buFont typeface="Calibri"/>
              <a:buNone/>
            </a:pPr>
            <a:r>
              <a:rPr b="0" i="0" lang="ar-DZ" sz="2400" u="none" cap="none" strike="noStrike">
                <a:solidFill>
                  <a:schemeClr val="dk1"/>
                </a:solidFill>
                <a:latin typeface="Calibri"/>
                <a:ea typeface="Calibri"/>
                <a:cs typeface="Calibri"/>
                <a:sym typeface="Calibri"/>
              </a:rPr>
              <a:t>= 2DIV  </a:t>
            </a:r>
            <a:r>
              <a:rPr b="1" i="0" lang="ar-DZ" sz="2400" u="none" cap="none" strike="noStrike">
                <a:solidFill>
                  <a:srgbClr val="0070C0"/>
                </a:solidFill>
                <a:latin typeface="Calibri"/>
                <a:ea typeface="Calibri"/>
                <a:cs typeface="Calibri"/>
                <a:sym typeface="Calibri"/>
              </a:rPr>
              <a:t>nV</a:t>
            </a:r>
            <a:endParaRPr b="0" i="0" sz="2400" u="none" cap="none" strike="noStrike">
              <a:solidFill>
                <a:schemeClr val="dk1"/>
              </a:solidFill>
              <a:latin typeface="Calibri"/>
              <a:ea typeface="Calibri"/>
              <a:cs typeface="Calibri"/>
              <a:sym typeface="Calibri"/>
            </a:endParaRPr>
          </a:p>
        </p:txBody>
      </p:sp>
      <p:sp>
        <p:nvSpPr>
          <p:cNvPr id="439" name="Google Shape;439;p31"/>
          <p:cNvSpPr/>
          <p:nvPr/>
        </p:nvSpPr>
        <p:spPr>
          <a:xfrm>
            <a:off x="323528" y="5373216"/>
            <a:ext cx="8820472" cy="461665"/>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70C0"/>
              </a:buClr>
              <a:buSzPts val="2400"/>
              <a:buFont typeface="Arial"/>
              <a:buNone/>
            </a:pPr>
            <a:r>
              <a:rPr b="1" i="0" lang="ar-DZ" sz="2400" u="none" cap="none" strike="noStrike">
                <a:solidFill>
                  <a:srgbClr val="0070C0"/>
                </a:solidFill>
                <a:latin typeface="Arial"/>
                <a:ea typeface="Arial"/>
                <a:cs typeface="Arial"/>
                <a:sym typeface="Arial"/>
              </a:rPr>
              <a:t>nH</a:t>
            </a:r>
            <a:r>
              <a:rPr b="0" i="0" lang="ar-DZ" sz="2400" u="none" cap="none" strike="noStrike">
                <a:solidFill>
                  <a:schemeClr val="dk1"/>
                </a:solidFill>
                <a:latin typeface="Arial"/>
                <a:ea typeface="Arial"/>
                <a:cs typeface="Arial"/>
                <a:sym typeface="Arial"/>
              </a:rPr>
              <a:t> عدد التدريجات وفق المحور الأفقي التي تمثل طول دورة كاملة للإشارة المتناوبة. </a:t>
            </a:r>
            <a:endParaRPr b="0" i="0" sz="2400" u="none" cap="none" strike="noStrike">
              <a:solidFill>
                <a:schemeClr val="dk1"/>
              </a:solidFill>
              <a:latin typeface="Arial"/>
              <a:ea typeface="Arial"/>
              <a:cs typeface="Arial"/>
              <a:sym typeface="Arial"/>
            </a:endParaRPr>
          </a:p>
        </p:txBody>
      </p:sp>
      <p:sp>
        <p:nvSpPr>
          <p:cNvPr id="440" name="Google Shape;440;p31"/>
          <p:cNvSpPr txBox="1"/>
          <p:nvPr/>
        </p:nvSpPr>
        <p:spPr>
          <a:xfrm>
            <a:off x="7885112" y="5876925"/>
            <a:ext cx="1163637" cy="461962"/>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chemeClr val="dk1"/>
              </a:buClr>
              <a:buSzPts val="2400"/>
              <a:buFont typeface="Arial"/>
              <a:buNone/>
            </a:pPr>
            <a:r>
              <a:rPr b="1" i="0" lang="ar-DZ" sz="2400" u="none">
                <a:solidFill>
                  <a:schemeClr val="dk1"/>
                </a:solidFill>
                <a:latin typeface="Arial"/>
                <a:ea typeface="Arial"/>
                <a:cs typeface="Arial"/>
                <a:sym typeface="Arial"/>
              </a:rPr>
              <a:t>لاحظ</a:t>
            </a:r>
            <a:r>
              <a:rPr b="0" i="0" lang="ar-DZ" sz="2400" u="none">
                <a:solidFill>
                  <a:schemeClr val="dk1"/>
                </a:solidFill>
                <a:latin typeface="Arial"/>
                <a:ea typeface="Arial"/>
                <a:cs typeface="Arial"/>
                <a:sym typeface="Arial"/>
              </a:rPr>
              <a:t> </a:t>
            </a:r>
            <a:r>
              <a:rPr b="1" i="0" lang="ar-DZ" sz="2400" u="none">
                <a:solidFill>
                  <a:schemeClr val="dk1"/>
                </a:solidFill>
                <a:latin typeface="Arial"/>
                <a:ea typeface="Arial"/>
                <a:cs typeface="Arial"/>
                <a:sym typeface="Arial"/>
              </a:rPr>
              <a:t>أن :</a:t>
            </a:r>
            <a:endParaRPr/>
          </a:p>
        </p:txBody>
      </p:sp>
      <p:sp>
        <p:nvSpPr>
          <p:cNvPr id="441" name="Google Shape;441;p31"/>
          <p:cNvSpPr/>
          <p:nvPr/>
        </p:nvSpPr>
        <p:spPr>
          <a:xfrm>
            <a:off x="2987824" y="5988630"/>
            <a:ext cx="1728192" cy="461665"/>
          </a:xfrm>
          <a:prstGeom prst="rect">
            <a:avLst/>
          </a:prstGeom>
          <a:solidFill>
            <a:schemeClr val="lt1"/>
          </a:solidFill>
          <a:ln cap="flat" cmpd="sng" w="254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1" algn="ctr">
              <a:lnSpc>
                <a:spcPct val="100000"/>
              </a:lnSpc>
              <a:spcBef>
                <a:spcPts val="0"/>
              </a:spcBef>
              <a:spcAft>
                <a:spcPts val="0"/>
              </a:spcAft>
              <a:buClr>
                <a:schemeClr val="dk1"/>
              </a:buClr>
              <a:buSzPts val="2400"/>
              <a:buFont typeface="Calibri"/>
              <a:buNone/>
            </a:pPr>
            <a:r>
              <a:rPr b="0" i="0" lang="ar-DZ" sz="2400" u="none" cap="none" strike="noStrike">
                <a:solidFill>
                  <a:schemeClr val="dk1"/>
                </a:solidFill>
                <a:latin typeface="Calibri"/>
                <a:ea typeface="Calibri"/>
                <a:cs typeface="Calibri"/>
                <a:sym typeface="Calibri"/>
              </a:rPr>
              <a:t>= 6DIV  </a:t>
            </a:r>
            <a:r>
              <a:rPr b="1" i="0" lang="ar-DZ" sz="2400" u="none" cap="none" strike="noStrike">
                <a:solidFill>
                  <a:srgbClr val="0070C0"/>
                </a:solidFill>
                <a:latin typeface="Calibri"/>
                <a:ea typeface="Calibri"/>
                <a:cs typeface="Calibri"/>
                <a:sym typeface="Calibri"/>
              </a:rPr>
              <a:t>nH</a:t>
            </a:r>
            <a:endParaRPr b="0" i="0" sz="2400" u="none" cap="none" strike="noStrike">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2"/>
          <p:cNvSpPr txBox="1"/>
          <p:nvPr/>
        </p:nvSpPr>
        <p:spPr>
          <a:xfrm>
            <a:off x="2411412" y="1989137"/>
            <a:ext cx="3673475" cy="461962"/>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chemeClr val="dk1"/>
              </a:buClr>
              <a:buSzPts val="2400"/>
              <a:buFont typeface="Arial"/>
              <a:buNone/>
            </a:pPr>
            <a:r>
              <a:rPr b="0" i="0" lang="ar-DZ" sz="2400" u="none">
                <a:solidFill>
                  <a:schemeClr val="dk1"/>
                </a:solidFill>
                <a:latin typeface="Arial"/>
                <a:ea typeface="Arial"/>
                <a:cs typeface="Arial"/>
                <a:sym typeface="Arial"/>
              </a:rPr>
              <a:t>وهو الزمن اللازم للقيام بدورة واحدة</a:t>
            </a:r>
            <a:endParaRPr/>
          </a:p>
        </p:txBody>
      </p:sp>
      <p:sp>
        <p:nvSpPr>
          <p:cNvPr id="447" name="Google Shape;447;p32"/>
          <p:cNvSpPr/>
          <p:nvPr/>
        </p:nvSpPr>
        <p:spPr>
          <a:xfrm>
            <a:off x="611560" y="476672"/>
            <a:ext cx="6820810" cy="647700"/>
          </a:xfrm>
          <a:prstGeom prst="rect">
            <a:avLst/>
          </a:prstGeom>
          <a:solidFill>
            <a:schemeClr val="lt1"/>
          </a:solidFill>
          <a:ln>
            <a:noFill/>
          </a:ln>
        </p:spPr>
        <p:txBody>
          <a:bodyPr anchorCtr="0" anchor="ctr" bIns="46800" lIns="90000" spcFirstLastPara="1" rIns="90000" wrap="square" tIns="46800">
            <a:noAutofit/>
          </a:bodyPr>
          <a:lstStyle/>
          <a:p>
            <a:pPr indent="0" lvl="0" marL="0" marR="0" rtl="1" algn="r">
              <a:lnSpc>
                <a:spcPct val="100000"/>
              </a:lnSpc>
              <a:spcBef>
                <a:spcPts val="0"/>
              </a:spcBef>
              <a:spcAft>
                <a:spcPts val="0"/>
              </a:spcAft>
              <a:buClr>
                <a:schemeClr val="hlink"/>
              </a:buClr>
              <a:buSzPts val="2400"/>
              <a:buFont typeface="Arial"/>
              <a:buNone/>
            </a:pPr>
            <a:r>
              <a:rPr b="1" i="0" lang="ar-DZ" sz="2400" u="none" cap="none" strike="noStrike">
                <a:solidFill>
                  <a:schemeClr val="hlink"/>
                </a:solidFill>
                <a:latin typeface="Arial"/>
                <a:ea typeface="Arial"/>
                <a:cs typeface="Arial"/>
                <a:sym typeface="Arial"/>
              </a:rPr>
              <a:t> U</a:t>
            </a:r>
            <a:r>
              <a:rPr b="1" i="0" lang="ar-DZ" sz="2000" u="none" cap="none" strike="noStrike">
                <a:solidFill>
                  <a:schemeClr val="hlink"/>
                </a:solidFill>
                <a:latin typeface="Arial"/>
                <a:ea typeface="Arial"/>
                <a:cs typeface="Arial"/>
                <a:sym typeface="Arial"/>
              </a:rPr>
              <a:t>max</a:t>
            </a:r>
            <a:r>
              <a:rPr b="1" i="0" lang="ar-DZ" sz="2400" u="none" cap="none" strike="noStrike">
                <a:solidFill>
                  <a:schemeClr val="hlink"/>
                </a:solidFill>
                <a:latin typeface="Arial"/>
                <a:ea typeface="Arial"/>
                <a:cs typeface="Arial"/>
                <a:sym typeface="Arial"/>
              </a:rPr>
              <a:t>  = عدد التدريجات  × </a:t>
            </a:r>
            <a:r>
              <a:rPr b="1" i="0" lang="ar-DZ" sz="2400" u="none" cap="none" strike="noStrike">
                <a:solidFill>
                  <a:srgbClr val="0070C0"/>
                </a:solidFill>
                <a:latin typeface="Arial"/>
                <a:ea typeface="Arial"/>
                <a:cs typeface="Arial"/>
                <a:sym typeface="Arial"/>
              </a:rPr>
              <a:t>(nV)</a:t>
            </a:r>
            <a:r>
              <a:rPr b="1" i="0" lang="ar-DZ" sz="2400" u="none" cap="none" strike="noStrike">
                <a:solidFill>
                  <a:schemeClr val="hlink"/>
                </a:solidFill>
                <a:latin typeface="Arial"/>
                <a:ea typeface="Arial"/>
                <a:cs typeface="Arial"/>
                <a:sym typeface="Arial"/>
              </a:rPr>
              <a:t> الحساسية الشاقولية </a:t>
            </a:r>
            <a:r>
              <a:rPr b="1" i="0" lang="ar-DZ" sz="2400" u="none" cap="none" strike="noStrike">
                <a:solidFill>
                  <a:srgbClr val="0070C0"/>
                </a:solidFill>
                <a:latin typeface="Arial"/>
                <a:ea typeface="Arial"/>
                <a:cs typeface="Arial"/>
                <a:sym typeface="Arial"/>
              </a:rPr>
              <a:t>(Sv) </a:t>
            </a:r>
            <a:endParaRPr b="1" i="0" sz="2400" u="none" cap="none" strike="noStrike">
              <a:solidFill>
                <a:srgbClr val="0070C0"/>
              </a:solidFill>
              <a:latin typeface="Arial"/>
              <a:ea typeface="Arial"/>
              <a:cs typeface="Arial"/>
              <a:sym typeface="Arial"/>
            </a:endParaRPr>
          </a:p>
        </p:txBody>
      </p:sp>
      <p:grpSp>
        <p:nvGrpSpPr>
          <p:cNvPr id="448" name="Google Shape;448;p32"/>
          <p:cNvGrpSpPr/>
          <p:nvPr/>
        </p:nvGrpSpPr>
        <p:grpSpPr>
          <a:xfrm>
            <a:off x="1258887" y="1125537"/>
            <a:ext cx="6624637" cy="476250"/>
            <a:chOff x="1260408" y="692696"/>
            <a:chExt cx="6623960" cy="476250"/>
          </a:xfrm>
        </p:grpSpPr>
        <p:sp>
          <p:nvSpPr>
            <p:cNvPr id="449" name="Google Shape;449;p32"/>
            <p:cNvSpPr txBox="1"/>
            <p:nvPr/>
          </p:nvSpPr>
          <p:spPr>
            <a:xfrm>
              <a:off x="1260408" y="692696"/>
              <a:ext cx="4321175"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ar-DZ" sz="2400" u="none">
                  <a:solidFill>
                    <a:schemeClr val="dk1"/>
                  </a:solidFill>
                  <a:latin typeface="Arial"/>
                  <a:ea typeface="Arial"/>
                  <a:cs typeface="Arial"/>
                  <a:sym typeface="Arial"/>
                </a:rPr>
                <a:t>U</a:t>
              </a:r>
              <a:r>
                <a:rPr b="0" i="0" lang="ar-DZ" sz="2000" u="none">
                  <a:solidFill>
                    <a:schemeClr val="dk1"/>
                  </a:solidFill>
                  <a:latin typeface="Arial"/>
                  <a:ea typeface="Arial"/>
                  <a:cs typeface="Arial"/>
                  <a:sym typeface="Arial"/>
                </a:rPr>
                <a:t>max</a:t>
              </a:r>
              <a:r>
                <a:rPr b="0" i="0" lang="ar-DZ" sz="2400" u="none">
                  <a:solidFill>
                    <a:schemeClr val="dk1"/>
                  </a:solidFill>
                  <a:latin typeface="Arial"/>
                  <a:ea typeface="Arial"/>
                  <a:cs typeface="Arial"/>
                  <a:sym typeface="Arial"/>
                </a:rPr>
                <a:t> = 2 (VOLT/DIV)</a:t>
              </a:r>
              <a:r>
                <a:rPr b="1" i="0" lang="ar-DZ" sz="2400" u="none">
                  <a:solidFill>
                    <a:schemeClr val="hlink"/>
                  </a:solidFill>
                  <a:latin typeface="Arial"/>
                  <a:ea typeface="Arial"/>
                  <a:cs typeface="Arial"/>
                  <a:sym typeface="Arial"/>
                </a:rPr>
                <a:t> </a:t>
              </a:r>
              <a:r>
                <a:rPr b="1" i="0" lang="ar-DZ" sz="2400" u="none">
                  <a:solidFill>
                    <a:schemeClr val="dk1"/>
                  </a:solidFill>
                  <a:latin typeface="Arial"/>
                  <a:ea typeface="Arial"/>
                  <a:cs typeface="Arial"/>
                  <a:sym typeface="Arial"/>
                </a:rPr>
                <a:t>×</a:t>
              </a:r>
              <a:r>
                <a:rPr b="1" i="0" lang="ar-DZ" sz="2400" u="none">
                  <a:solidFill>
                    <a:schemeClr val="hlink"/>
                  </a:solidFill>
                  <a:latin typeface="Arial"/>
                  <a:ea typeface="Arial"/>
                  <a:cs typeface="Arial"/>
                  <a:sym typeface="Arial"/>
                </a:rPr>
                <a:t> </a:t>
              </a:r>
              <a:r>
                <a:rPr b="0" i="0" lang="ar-DZ" sz="2400" u="none">
                  <a:solidFill>
                    <a:schemeClr val="dk1"/>
                  </a:solidFill>
                  <a:latin typeface="Arial"/>
                  <a:ea typeface="Arial"/>
                  <a:cs typeface="Arial"/>
                  <a:sym typeface="Arial"/>
                </a:rPr>
                <a:t>2 DIV</a:t>
              </a:r>
              <a:endParaRPr/>
            </a:p>
          </p:txBody>
        </p:sp>
        <p:sp>
          <p:nvSpPr>
            <p:cNvPr id="450" name="Google Shape;450;p32"/>
            <p:cNvSpPr/>
            <p:nvPr/>
          </p:nvSpPr>
          <p:spPr>
            <a:xfrm>
              <a:off x="5365683" y="692696"/>
              <a:ext cx="720725" cy="476250"/>
            </a:xfrm>
            <a:prstGeom prst="rightArrow">
              <a:avLst>
                <a:gd fmla="val 14451" name="adj1"/>
                <a:gd fmla="val 50000" name="adj2"/>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51" name="Google Shape;451;p32"/>
            <p:cNvSpPr txBox="1"/>
            <p:nvPr/>
          </p:nvSpPr>
          <p:spPr>
            <a:xfrm>
              <a:off x="6181658" y="692696"/>
              <a:ext cx="170271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ar-DZ" sz="2400" u="none">
                  <a:solidFill>
                    <a:schemeClr val="dk1"/>
                  </a:solidFill>
                  <a:latin typeface="Arial"/>
                  <a:ea typeface="Arial"/>
                  <a:cs typeface="Arial"/>
                  <a:sym typeface="Arial"/>
                </a:rPr>
                <a:t>U</a:t>
              </a:r>
              <a:r>
                <a:rPr b="0" i="0" lang="ar-DZ" sz="2000" u="none">
                  <a:solidFill>
                    <a:schemeClr val="dk1"/>
                  </a:solidFill>
                  <a:latin typeface="Arial"/>
                  <a:ea typeface="Arial"/>
                  <a:cs typeface="Arial"/>
                  <a:sym typeface="Arial"/>
                </a:rPr>
                <a:t>max</a:t>
              </a:r>
              <a:r>
                <a:rPr b="0" i="0" lang="ar-DZ" sz="2400" u="none">
                  <a:solidFill>
                    <a:schemeClr val="dk1"/>
                  </a:solidFill>
                  <a:latin typeface="Arial"/>
                  <a:ea typeface="Arial"/>
                  <a:cs typeface="Arial"/>
                  <a:sym typeface="Arial"/>
                </a:rPr>
                <a:t> = 4 V</a:t>
              </a:r>
              <a:endParaRPr/>
            </a:p>
          </p:txBody>
        </p:sp>
      </p:grpSp>
      <p:sp>
        <p:nvSpPr>
          <p:cNvPr id="452" name="Google Shape;452;p32"/>
          <p:cNvSpPr/>
          <p:nvPr/>
        </p:nvSpPr>
        <p:spPr>
          <a:xfrm>
            <a:off x="1187624" y="2492896"/>
            <a:ext cx="6022803" cy="461665"/>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FF0000"/>
              </a:buClr>
              <a:buSzPts val="2400"/>
              <a:buFont typeface="Arial"/>
              <a:buNone/>
            </a:pPr>
            <a:r>
              <a:rPr b="1" i="0" lang="ar-DZ" sz="2400" u="none" cap="none" strike="noStrike">
                <a:solidFill>
                  <a:srgbClr val="FF0000"/>
                </a:solidFill>
                <a:latin typeface="Arial"/>
                <a:ea typeface="Arial"/>
                <a:cs typeface="Arial"/>
                <a:sym typeface="Arial"/>
              </a:rPr>
              <a:t>T  = </a:t>
            </a:r>
            <a:r>
              <a:rPr b="1" i="0" lang="ar-DZ" sz="2400" u="none" cap="none" strike="noStrike">
                <a:solidFill>
                  <a:schemeClr val="hlink"/>
                </a:solidFill>
                <a:latin typeface="Arial"/>
                <a:ea typeface="Arial"/>
                <a:cs typeface="Arial"/>
                <a:sym typeface="Arial"/>
              </a:rPr>
              <a:t>عدد التدريجات  × </a:t>
            </a:r>
            <a:r>
              <a:rPr b="1" i="0" lang="ar-DZ" sz="2400" u="none" cap="none" strike="noStrike">
                <a:solidFill>
                  <a:srgbClr val="0070C0"/>
                </a:solidFill>
                <a:latin typeface="Arial"/>
                <a:ea typeface="Arial"/>
                <a:cs typeface="Arial"/>
                <a:sym typeface="Arial"/>
              </a:rPr>
              <a:t>(nH)</a:t>
            </a:r>
            <a:r>
              <a:rPr b="1" i="0" lang="ar-DZ" sz="2400" u="none" cap="none" strike="noStrike">
                <a:solidFill>
                  <a:schemeClr val="hlink"/>
                </a:solidFill>
                <a:latin typeface="Arial"/>
                <a:ea typeface="Arial"/>
                <a:cs typeface="Arial"/>
                <a:sym typeface="Arial"/>
              </a:rPr>
              <a:t> الحساسية الأفقية </a:t>
            </a:r>
            <a:r>
              <a:rPr b="1" i="0" lang="ar-DZ" sz="2400" u="none" cap="none" strike="noStrike">
                <a:solidFill>
                  <a:srgbClr val="0070C0"/>
                </a:solidFill>
                <a:latin typeface="Arial"/>
                <a:ea typeface="Arial"/>
                <a:cs typeface="Arial"/>
                <a:sym typeface="Arial"/>
              </a:rPr>
              <a:t>(S</a:t>
            </a:r>
            <a:r>
              <a:rPr b="1" i="0" lang="ar-DZ" sz="2000" u="none" cap="none" strike="noStrike">
                <a:solidFill>
                  <a:srgbClr val="0070C0"/>
                </a:solidFill>
                <a:latin typeface="Arial"/>
                <a:ea typeface="Arial"/>
                <a:cs typeface="Arial"/>
                <a:sym typeface="Arial"/>
              </a:rPr>
              <a:t>H</a:t>
            </a:r>
            <a:r>
              <a:rPr b="1" i="0" lang="ar-DZ" sz="2400" u="none" cap="none" strike="noStrike">
                <a:solidFill>
                  <a:srgbClr val="0070C0"/>
                </a:solidFill>
                <a:latin typeface="Arial"/>
                <a:ea typeface="Arial"/>
                <a:cs typeface="Arial"/>
                <a:sym typeface="Arial"/>
              </a:rPr>
              <a:t>) </a:t>
            </a:r>
            <a:endParaRPr b="0" i="0" sz="2400" u="none" cap="none" strike="noStrike">
              <a:solidFill>
                <a:schemeClr val="dk1"/>
              </a:solidFill>
              <a:latin typeface="Arial"/>
              <a:ea typeface="Arial"/>
              <a:cs typeface="Arial"/>
              <a:sym typeface="Arial"/>
            </a:endParaRPr>
          </a:p>
        </p:txBody>
      </p:sp>
      <p:grpSp>
        <p:nvGrpSpPr>
          <p:cNvPr id="453" name="Google Shape;453;p32"/>
          <p:cNvGrpSpPr/>
          <p:nvPr/>
        </p:nvGrpSpPr>
        <p:grpSpPr>
          <a:xfrm>
            <a:off x="1692275" y="3068637"/>
            <a:ext cx="5635625" cy="476250"/>
            <a:chOff x="1115616" y="4581128"/>
            <a:chExt cx="5636994" cy="476250"/>
          </a:xfrm>
        </p:grpSpPr>
        <p:sp>
          <p:nvSpPr>
            <p:cNvPr id="454" name="Google Shape;454;p32"/>
            <p:cNvSpPr txBox="1"/>
            <p:nvPr/>
          </p:nvSpPr>
          <p:spPr>
            <a:xfrm>
              <a:off x="1115616" y="4581128"/>
              <a:ext cx="360226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Arial"/>
                <a:buNone/>
              </a:pPr>
              <a:r>
                <a:rPr b="1" i="0" lang="ar-DZ" sz="2400" u="none">
                  <a:solidFill>
                    <a:srgbClr val="FF0000"/>
                  </a:solidFill>
                  <a:latin typeface="Arial"/>
                  <a:ea typeface="Arial"/>
                  <a:cs typeface="Arial"/>
                  <a:sym typeface="Arial"/>
                </a:rPr>
                <a:t>T = </a:t>
              </a:r>
              <a:r>
                <a:rPr b="1" i="0" lang="ar-DZ" sz="2400" u="none">
                  <a:solidFill>
                    <a:schemeClr val="dk1"/>
                  </a:solidFill>
                  <a:latin typeface="Arial"/>
                  <a:ea typeface="Arial"/>
                  <a:cs typeface="Arial"/>
                  <a:sym typeface="Arial"/>
                </a:rPr>
                <a:t>0,5 (ms/DIV) × 6 DIV</a:t>
              </a:r>
              <a:endParaRPr/>
            </a:p>
          </p:txBody>
        </p:sp>
        <p:sp>
          <p:nvSpPr>
            <p:cNvPr id="455" name="Google Shape;455;p32"/>
            <p:cNvSpPr txBox="1"/>
            <p:nvPr/>
          </p:nvSpPr>
          <p:spPr>
            <a:xfrm>
              <a:off x="5364088" y="4581128"/>
              <a:ext cx="13885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Arial"/>
                <a:buNone/>
              </a:pPr>
              <a:r>
                <a:rPr b="1" i="0" lang="ar-DZ" sz="2400" u="none">
                  <a:solidFill>
                    <a:srgbClr val="FF0000"/>
                  </a:solidFill>
                  <a:latin typeface="Arial"/>
                  <a:ea typeface="Arial"/>
                  <a:cs typeface="Arial"/>
                  <a:sym typeface="Arial"/>
                </a:rPr>
                <a:t>T = </a:t>
              </a:r>
              <a:r>
                <a:rPr b="0" i="0" lang="ar-DZ" sz="2400" u="none">
                  <a:solidFill>
                    <a:schemeClr val="dk1"/>
                  </a:solidFill>
                  <a:latin typeface="Arial"/>
                  <a:ea typeface="Arial"/>
                  <a:cs typeface="Arial"/>
                  <a:sym typeface="Arial"/>
                </a:rPr>
                <a:t>3 ms</a:t>
              </a:r>
              <a:endParaRPr/>
            </a:p>
          </p:txBody>
        </p:sp>
        <p:sp>
          <p:nvSpPr>
            <p:cNvPr id="456" name="Google Shape;456;p32"/>
            <p:cNvSpPr/>
            <p:nvPr/>
          </p:nvSpPr>
          <p:spPr>
            <a:xfrm>
              <a:off x="4644008" y="4581128"/>
              <a:ext cx="720725" cy="476250"/>
            </a:xfrm>
            <a:prstGeom prst="rightArrow">
              <a:avLst>
                <a:gd fmla="val 14451" name="adj1"/>
                <a:gd fmla="val 50000" name="adj2"/>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sp>
        <p:nvSpPr>
          <p:cNvPr id="457" name="Google Shape;457;p32"/>
          <p:cNvSpPr txBox="1"/>
          <p:nvPr>
            <p:ph type="title"/>
          </p:nvPr>
        </p:nvSpPr>
        <p:spPr>
          <a:xfrm>
            <a:off x="6084887" y="3573462"/>
            <a:ext cx="3059112" cy="647700"/>
          </a:xfrm>
          <a:prstGeom prst="rect">
            <a:avLst/>
          </a:prstGeom>
          <a:noFill/>
          <a:ln>
            <a:noFill/>
          </a:ln>
        </p:spPr>
        <p:txBody>
          <a:bodyPr anchorCtr="0" anchor="ctr" bIns="45700" lIns="91425" spcFirstLastPara="1" rIns="91425" wrap="square" tIns="45700">
            <a:noAutofit/>
          </a:bodyPr>
          <a:lstStyle/>
          <a:p>
            <a:pPr indent="-203200" lvl="0" marL="0" rtl="1" algn="r">
              <a:lnSpc>
                <a:spcPct val="100000"/>
              </a:lnSpc>
              <a:spcBef>
                <a:spcPts val="0"/>
              </a:spcBef>
              <a:spcAft>
                <a:spcPts val="0"/>
              </a:spcAft>
              <a:buClr>
                <a:srgbClr val="FF0000"/>
              </a:buClr>
              <a:buSzPts val="3200"/>
              <a:buFont typeface="Noto Sans Symbols"/>
              <a:buChar char="✔"/>
            </a:pPr>
            <a:r>
              <a:rPr b="1" i="0" lang="ar-DZ" sz="3200" u="none">
                <a:solidFill>
                  <a:srgbClr val="FF0000"/>
                </a:solidFill>
                <a:latin typeface="Calibri"/>
                <a:ea typeface="Calibri"/>
                <a:cs typeface="Calibri"/>
                <a:sym typeface="Calibri"/>
              </a:rPr>
              <a:t> </a:t>
            </a:r>
            <a:r>
              <a:rPr b="1" i="0" lang="ar-DZ" sz="2800" u="none">
                <a:solidFill>
                  <a:srgbClr val="FF0000"/>
                </a:solidFill>
                <a:latin typeface="Calibri"/>
                <a:ea typeface="Calibri"/>
                <a:cs typeface="Calibri"/>
                <a:sym typeface="Calibri"/>
              </a:rPr>
              <a:t>التردد أو التواتر (f)</a:t>
            </a:r>
            <a:endParaRPr/>
          </a:p>
        </p:txBody>
      </p:sp>
      <p:grpSp>
        <p:nvGrpSpPr>
          <p:cNvPr id="458" name="Google Shape;458;p32"/>
          <p:cNvGrpSpPr/>
          <p:nvPr/>
        </p:nvGrpSpPr>
        <p:grpSpPr>
          <a:xfrm>
            <a:off x="395287" y="4724400"/>
            <a:ext cx="8497887" cy="622300"/>
            <a:chOff x="323528" y="3933056"/>
            <a:chExt cx="8496944" cy="621627"/>
          </a:xfrm>
        </p:grpSpPr>
        <p:sp>
          <p:nvSpPr>
            <p:cNvPr id="459" name="Google Shape;459;p32"/>
            <p:cNvSpPr txBox="1"/>
            <p:nvPr/>
          </p:nvSpPr>
          <p:spPr>
            <a:xfrm>
              <a:off x="323528" y="3969908"/>
              <a:ext cx="138050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ar-DZ" sz="3200" u="none">
                  <a:solidFill>
                    <a:srgbClr val="FF0000"/>
                  </a:solidFill>
                  <a:latin typeface="Arial"/>
                  <a:ea typeface="Arial"/>
                  <a:cs typeface="Arial"/>
                  <a:sym typeface="Arial"/>
                </a:rPr>
                <a:t>f = 1/T</a:t>
              </a:r>
              <a:endParaRPr/>
            </a:p>
          </p:txBody>
        </p:sp>
        <p:sp>
          <p:nvSpPr>
            <p:cNvPr id="460" name="Google Shape;460;p32"/>
            <p:cNvSpPr/>
            <p:nvPr/>
          </p:nvSpPr>
          <p:spPr>
            <a:xfrm>
              <a:off x="1835696" y="4048608"/>
              <a:ext cx="720725" cy="388504"/>
            </a:xfrm>
            <a:prstGeom prst="rightArrow">
              <a:avLst>
                <a:gd fmla="val 15768" name="adj1"/>
                <a:gd fmla="val 50000" name="adj2"/>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61" name="Google Shape;461;p32"/>
            <p:cNvSpPr txBox="1"/>
            <p:nvPr/>
          </p:nvSpPr>
          <p:spPr>
            <a:xfrm>
              <a:off x="2627784" y="3933056"/>
              <a:ext cx="244329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ar-DZ" sz="3200" u="none">
                  <a:solidFill>
                    <a:srgbClr val="FF0000"/>
                  </a:solidFill>
                  <a:latin typeface="Arial"/>
                  <a:ea typeface="Arial"/>
                  <a:cs typeface="Arial"/>
                  <a:sym typeface="Arial"/>
                </a:rPr>
                <a:t>f = 1/(3.10</a:t>
              </a:r>
              <a:r>
                <a:rPr b="1" baseline="30000" i="0" lang="ar-DZ" sz="3200" u="none">
                  <a:solidFill>
                    <a:srgbClr val="FF0000"/>
                  </a:solidFill>
                  <a:latin typeface="Arial"/>
                  <a:ea typeface="Arial"/>
                  <a:cs typeface="Arial"/>
                  <a:sym typeface="Arial"/>
                </a:rPr>
                <a:t>-3</a:t>
              </a:r>
              <a:r>
                <a:rPr b="1" i="0" lang="ar-DZ" sz="3200" u="none">
                  <a:solidFill>
                    <a:srgbClr val="FF0000"/>
                  </a:solidFill>
                  <a:latin typeface="Arial"/>
                  <a:ea typeface="Arial"/>
                  <a:cs typeface="Arial"/>
                  <a:sym typeface="Arial"/>
                </a:rPr>
                <a:t>)</a:t>
              </a:r>
              <a:endParaRPr/>
            </a:p>
          </p:txBody>
        </p:sp>
        <p:sp>
          <p:nvSpPr>
            <p:cNvPr id="462" name="Google Shape;462;p32"/>
            <p:cNvSpPr/>
            <p:nvPr/>
          </p:nvSpPr>
          <p:spPr>
            <a:xfrm>
              <a:off x="5118955" y="4011098"/>
              <a:ext cx="720725" cy="476250"/>
            </a:xfrm>
            <a:prstGeom prst="rightArrow">
              <a:avLst>
                <a:gd fmla="val 14451" name="adj1"/>
                <a:gd fmla="val 50000" name="adj2"/>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63" name="Google Shape;463;p32"/>
            <p:cNvSpPr txBox="1"/>
            <p:nvPr/>
          </p:nvSpPr>
          <p:spPr>
            <a:xfrm>
              <a:off x="6027720" y="3933056"/>
              <a:ext cx="279275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ar-DZ" sz="3200" u="none">
                  <a:solidFill>
                    <a:srgbClr val="FF0000"/>
                  </a:solidFill>
                  <a:latin typeface="Arial"/>
                  <a:ea typeface="Arial"/>
                  <a:cs typeface="Arial"/>
                  <a:sym typeface="Arial"/>
                </a:rPr>
                <a:t>f = 333,33 Hz)</a:t>
              </a:r>
              <a:endParaRPr/>
            </a:p>
          </p:txBody>
        </p:sp>
      </p:grpSp>
      <p:sp>
        <p:nvSpPr>
          <p:cNvPr id="464" name="Google Shape;464;p32"/>
          <p:cNvSpPr txBox="1"/>
          <p:nvPr/>
        </p:nvSpPr>
        <p:spPr>
          <a:xfrm>
            <a:off x="4156075" y="115887"/>
            <a:ext cx="4894262" cy="523875"/>
          </a:xfrm>
          <a:prstGeom prst="rect">
            <a:avLst/>
          </a:prstGeom>
          <a:noFill/>
          <a:ln>
            <a:noFill/>
          </a:ln>
        </p:spPr>
        <p:txBody>
          <a:bodyPr anchorCtr="0" anchor="t" bIns="45700" lIns="91425" spcFirstLastPara="1" rIns="91425" wrap="square" tIns="45700">
            <a:spAutoFit/>
          </a:bodyPr>
          <a:lstStyle/>
          <a:p>
            <a:pPr indent="-152400" lvl="0" marL="0" marR="0" rtl="1" algn="r">
              <a:lnSpc>
                <a:spcPct val="100000"/>
              </a:lnSpc>
              <a:spcBef>
                <a:spcPts val="0"/>
              </a:spcBef>
              <a:spcAft>
                <a:spcPts val="0"/>
              </a:spcAft>
              <a:buClr>
                <a:schemeClr val="hlink"/>
              </a:buClr>
              <a:buSzPts val="2400"/>
              <a:buFont typeface="Noto Sans Symbols"/>
              <a:buChar char="✔"/>
            </a:pPr>
            <a:r>
              <a:rPr b="1" i="0" lang="ar-DZ" sz="2400" u="none">
                <a:solidFill>
                  <a:schemeClr val="hlink"/>
                </a:solidFill>
                <a:latin typeface="Arial"/>
                <a:ea typeface="Arial"/>
                <a:cs typeface="Arial"/>
                <a:sym typeface="Arial"/>
              </a:rPr>
              <a:t> </a:t>
            </a:r>
            <a:r>
              <a:rPr b="1" i="0" lang="ar-DZ" sz="2800" u="none">
                <a:solidFill>
                  <a:schemeClr val="hlink"/>
                </a:solidFill>
                <a:latin typeface="Arial"/>
                <a:ea typeface="Arial"/>
                <a:cs typeface="Arial"/>
                <a:sym typeface="Arial"/>
              </a:rPr>
              <a:t>التوتر الكهربائي الأعظمي (Umax) </a:t>
            </a:r>
            <a:endParaRPr/>
          </a:p>
        </p:txBody>
      </p:sp>
      <p:sp>
        <p:nvSpPr>
          <p:cNvPr id="465" name="Google Shape;465;p32"/>
          <p:cNvSpPr txBox="1"/>
          <p:nvPr/>
        </p:nvSpPr>
        <p:spPr>
          <a:xfrm>
            <a:off x="4826000" y="1557337"/>
            <a:ext cx="4338637" cy="522287"/>
          </a:xfrm>
          <a:prstGeom prst="rect">
            <a:avLst/>
          </a:prstGeom>
          <a:noFill/>
          <a:ln>
            <a:noFill/>
          </a:ln>
        </p:spPr>
        <p:txBody>
          <a:bodyPr anchorCtr="0" anchor="t" bIns="45700" lIns="91425" spcFirstLastPara="1" rIns="91425" wrap="square" tIns="45700">
            <a:spAutoFit/>
          </a:bodyPr>
          <a:lstStyle/>
          <a:p>
            <a:pPr indent="-152400" lvl="0" marL="0" marR="0" rtl="1" algn="r">
              <a:lnSpc>
                <a:spcPct val="100000"/>
              </a:lnSpc>
              <a:spcBef>
                <a:spcPts val="0"/>
              </a:spcBef>
              <a:spcAft>
                <a:spcPts val="0"/>
              </a:spcAft>
              <a:buClr>
                <a:srgbClr val="FF0000"/>
              </a:buClr>
              <a:buSzPts val="2400"/>
              <a:buFont typeface="Noto Sans Symbols"/>
              <a:buChar char="✔"/>
            </a:pPr>
            <a:r>
              <a:rPr b="1" i="0" lang="ar-DZ" sz="2400" u="none">
                <a:solidFill>
                  <a:srgbClr val="FF0000"/>
                </a:solidFill>
                <a:latin typeface="Arial"/>
                <a:ea typeface="Arial"/>
                <a:cs typeface="Arial"/>
                <a:sym typeface="Arial"/>
              </a:rPr>
              <a:t> </a:t>
            </a:r>
            <a:r>
              <a:rPr b="1" i="0" lang="ar-DZ" sz="2800" u="none">
                <a:solidFill>
                  <a:srgbClr val="FF0000"/>
                </a:solidFill>
                <a:latin typeface="Arial"/>
                <a:ea typeface="Arial"/>
                <a:cs typeface="Arial"/>
                <a:sym typeface="Arial"/>
              </a:rPr>
              <a:t>دورالتوتر الكهربائي الجيبي (T) </a:t>
            </a:r>
            <a:endParaRPr/>
          </a:p>
        </p:txBody>
      </p:sp>
      <p:sp>
        <p:nvSpPr>
          <p:cNvPr id="466" name="Google Shape;466;p32"/>
          <p:cNvSpPr txBox="1"/>
          <p:nvPr/>
        </p:nvSpPr>
        <p:spPr>
          <a:xfrm>
            <a:off x="2051050" y="4221162"/>
            <a:ext cx="5005387" cy="461962"/>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chemeClr val="dk1"/>
              </a:buClr>
              <a:buSzPts val="2400"/>
              <a:buFont typeface="Arial"/>
              <a:buNone/>
            </a:pPr>
            <a:r>
              <a:rPr b="0" i="0" lang="ar-DZ" sz="2400" u="none">
                <a:solidFill>
                  <a:schemeClr val="dk1"/>
                </a:solidFill>
                <a:latin typeface="Arial"/>
                <a:ea typeface="Arial"/>
                <a:cs typeface="Arial"/>
                <a:sym typeface="Arial"/>
              </a:rPr>
              <a:t>يمثل عدد الدورات في الثانية الواحدة، وحدته </a:t>
            </a:r>
            <a:r>
              <a:rPr b="1" i="0" lang="ar-DZ" sz="2400" u="none">
                <a:solidFill>
                  <a:schemeClr val="dk1"/>
                </a:solidFill>
                <a:latin typeface="Arial"/>
                <a:ea typeface="Arial"/>
                <a:cs typeface="Arial"/>
                <a:sym typeface="Arial"/>
              </a:rPr>
              <a:t>Hz</a:t>
            </a:r>
            <a:endParaRPr/>
          </a:p>
        </p:txBody>
      </p:sp>
      <p:sp>
        <p:nvSpPr>
          <p:cNvPr id="467" name="Google Shape;467;p32"/>
          <p:cNvSpPr txBox="1"/>
          <p:nvPr/>
        </p:nvSpPr>
        <p:spPr>
          <a:xfrm>
            <a:off x="4792662" y="5516562"/>
            <a:ext cx="4108450" cy="461962"/>
          </a:xfrm>
          <a:prstGeom prst="rect">
            <a:avLst/>
          </a:prstGeom>
          <a:noFill/>
          <a:ln>
            <a:noFill/>
          </a:ln>
        </p:spPr>
        <p:txBody>
          <a:bodyPr anchorCtr="0" anchor="t" bIns="45700" lIns="91425" spcFirstLastPara="1" rIns="91425" wrap="square" tIns="45700">
            <a:spAutoFit/>
          </a:bodyPr>
          <a:lstStyle/>
          <a:p>
            <a:pPr indent="-152400" lvl="0" marL="0" marR="0" rtl="1" algn="r">
              <a:lnSpc>
                <a:spcPct val="100000"/>
              </a:lnSpc>
              <a:spcBef>
                <a:spcPts val="0"/>
              </a:spcBef>
              <a:spcAft>
                <a:spcPts val="0"/>
              </a:spcAft>
              <a:buClr>
                <a:schemeClr val="dk1"/>
              </a:buClr>
              <a:buSzPts val="2400"/>
              <a:buFont typeface="Noto Sans Symbols"/>
              <a:buChar char="✔"/>
            </a:pPr>
            <a:r>
              <a:rPr b="1" i="0" lang="ar-DZ" sz="2400" u="none">
                <a:solidFill>
                  <a:schemeClr val="dk1"/>
                </a:solidFill>
                <a:latin typeface="Arial"/>
                <a:ea typeface="Arial"/>
                <a:cs typeface="Arial"/>
                <a:sym typeface="Arial"/>
              </a:rPr>
              <a:t> </a:t>
            </a:r>
            <a:r>
              <a:rPr b="1" i="0" lang="ar-DZ" sz="2400" u="none">
                <a:solidFill>
                  <a:schemeClr val="accent1"/>
                </a:solidFill>
                <a:latin typeface="Arial"/>
                <a:ea typeface="Arial"/>
                <a:cs typeface="Arial"/>
                <a:sym typeface="Arial"/>
              </a:rPr>
              <a:t>التوتر الفعال أو التوتر المنتج (U</a:t>
            </a:r>
            <a:r>
              <a:rPr b="1" baseline="-25000" i="0" lang="ar-DZ" sz="2400" u="none">
                <a:solidFill>
                  <a:schemeClr val="accent1"/>
                </a:solidFill>
                <a:latin typeface="Arial"/>
                <a:ea typeface="Arial"/>
                <a:cs typeface="Arial"/>
                <a:sym typeface="Arial"/>
              </a:rPr>
              <a:t>eff</a:t>
            </a:r>
            <a:r>
              <a:rPr b="1" i="0" lang="ar-DZ" sz="2400" u="none">
                <a:solidFill>
                  <a:schemeClr val="accent1"/>
                </a:solidFill>
                <a:latin typeface="Arial"/>
                <a:ea typeface="Arial"/>
                <a:cs typeface="Arial"/>
                <a:sym typeface="Arial"/>
              </a:rPr>
              <a:t>)</a:t>
            </a:r>
            <a:endParaRPr/>
          </a:p>
        </p:txBody>
      </p:sp>
      <p:sp>
        <p:nvSpPr>
          <p:cNvPr id="468" name="Google Shape;468;p3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69" name="Google Shape;469;p3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70" name="Google Shape;470;p3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71" name="Google Shape;471;p3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72" name="Google Shape;472;p3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nvGrpSpPr>
          <p:cNvPr id="473" name="Google Shape;473;p32"/>
          <p:cNvGrpSpPr/>
          <p:nvPr/>
        </p:nvGrpSpPr>
        <p:grpSpPr>
          <a:xfrm>
            <a:off x="2124075" y="6092825"/>
            <a:ext cx="4248150" cy="720725"/>
            <a:chOff x="2123728" y="6093296"/>
            <a:chExt cx="4248473" cy="720080"/>
          </a:xfrm>
        </p:grpSpPr>
        <p:pic>
          <p:nvPicPr>
            <p:cNvPr id="474" name="Google Shape;474;p32"/>
            <p:cNvPicPr preferRelativeResize="0"/>
            <p:nvPr/>
          </p:nvPicPr>
          <p:blipFill rotWithShape="1">
            <a:blip r:embed="rId3">
              <a:alphaModFix/>
            </a:blip>
            <a:srcRect b="0" l="0" r="0" t="0"/>
            <a:stretch/>
          </p:blipFill>
          <p:spPr>
            <a:xfrm>
              <a:off x="2123728" y="6093296"/>
              <a:ext cx="1368152" cy="720080"/>
            </a:xfrm>
            <a:prstGeom prst="rect">
              <a:avLst/>
            </a:prstGeom>
            <a:noFill/>
            <a:ln>
              <a:noFill/>
            </a:ln>
          </p:spPr>
        </p:pic>
        <p:sp>
          <p:nvSpPr>
            <p:cNvPr id="475" name="Google Shape;475;p32"/>
            <p:cNvSpPr/>
            <p:nvPr/>
          </p:nvSpPr>
          <p:spPr>
            <a:xfrm>
              <a:off x="3779267" y="6265118"/>
              <a:ext cx="720725" cy="476250"/>
            </a:xfrm>
            <a:prstGeom prst="rightArrow">
              <a:avLst>
                <a:gd fmla="val 14451" name="adj1"/>
                <a:gd fmla="val 50000" name="adj2"/>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id="476" name="Google Shape;476;p32"/>
            <p:cNvPicPr preferRelativeResize="0"/>
            <p:nvPr/>
          </p:nvPicPr>
          <p:blipFill rotWithShape="1">
            <a:blip r:embed="rId4">
              <a:alphaModFix/>
            </a:blip>
            <a:srcRect b="0" l="0" r="0" t="0"/>
            <a:stretch/>
          </p:blipFill>
          <p:spPr>
            <a:xfrm>
              <a:off x="4860032" y="6237312"/>
              <a:ext cx="1512169" cy="432048"/>
            </a:xfrm>
            <a:prstGeom prst="rect">
              <a:avLst/>
            </a:prstGeom>
            <a:noFill/>
            <a:ln>
              <a:noFill/>
            </a:ln>
          </p:spPr>
        </p:pic>
      </p:grpSp>
    </p:spTree>
  </p:cSld>
  <p:clrMapOvr>
    <a:masterClrMapping/>
  </p:clrMapOvr>
  <p:transition spd="slow">
    <p:fade thruBlk="1"/>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grpSp>
        <p:nvGrpSpPr>
          <p:cNvPr id="481" name="Google Shape;481;p33"/>
          <p:cNvGrpSpPr/>
          <p:nvPr/>
        </p:nvGrpSpPr>
        <p:grpSpPr>
          <a:xfrm>
            <a:off x="1116012" y="1341437"/>
            <a:ext cx="6985000" cy="4248150"/>
            <a:chOff x="1115616" y="1340768"/>
            <a:chExt cx="6984776" cy="4248472"/>
          </a:xfrm>
        </p:grpSpPr>
        <p:sp>
          <p:nvSpPr>
            <p:cNvPr id="482" name="Google Shape;482;p33"/>
            <p:cNvSpPr/>
            <p:nvPr/>
          </p:nvSpPr>
          <p:spPr>
            <a:xfrm>
              <a:off x="1285852" y="1340768"/>
              <a:ext cx="6454011" cy="1107996"/>
            </a:xfrm>
            <a:prstGeom prst="rect">
              <a:avLst/>
            </a:prstGeom>
            <a:solidFill>
              <a:schemeClr val="lt1"/>
            </a:solidFill>
            <a:ln cap="flat" cmpd="sng" w="5715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515151"/>
                </a:buClr>
                <a:buSzPts val="6600"/>
                <a:buFont typeface="Arial"/>
                <a:buNone/>
              </a:pPr>
              <a:r>
                <a:rPr b="1" i="1" lang="ar-DZ" sz="6600" u="none" cap="none" strike="noStrike">
                  <a:solidFill>
                    <a:srgbClr val="515151"/>
                  </a:solidFill>
                  <a:latin typeface="Arial"/>
                  <a:ea typeface="Arial"/>
                  <a:cs typeface="Arial"/>
                  <a:sym typeface="Arial"/>
                </a:rPr>
                <a:t>نهـــــــــاية العـــــــرض</a:t>
              </a:r>
              <a:endParaRPr/>
            </a:p>
          </p:txBody>
        </p:sp>
        <p:sp>
          <p:nvSpPr>
            <p:cNvPr id="483" name="Google Shape;483;p33"/>
            <p:cNvSpPr/>
            <p:nvPr/>
          </p:nvSpPr>
          <p:spPr>
            <a:xfrm>
              <a:off x="1115616" y="2492896"/>
              <a:ext cx="6984776" cy="3096344"/>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DF322D"/>
                </a:buClr>
                <a:buSzPts val="6000"/>
                <a:buFont typeface="Calibri"/>
                <a:buNone/>
              </a:pPr>
              <a:r>
                <a:rPr b="1" i="0" lang="ar-DZ" sz="6000" u="none" cap="none" strike="noStrike">
                  <a:solidFill>
                    <a:srgbClr val="DF322D"/>
                  </a:solidFill>
                  <a:latin typeface="Calibri"/>
                  <a:ea typeface="Calibri"/>
                  <a:cs typeface="Calibri"/>
                  <a:sym typeface="Calibri"/>
                </a:rPr>
                <a:t>شكرا على الإصغاء  والانتباه</a:t>
              </a:r>
              <a:endParaRPr b="1" i="0" sz="6000" u="none" cap="none" strike="noStrike">
                <a:solidFill>
                  <a:srgbClr val="DF322D"/>
                </a:solidFill>
                <a:latin typeface="Calibri"/>
                <a:ea typeface="Calibri"/>
                <a:cs typeface="Calibri"/>
                <a:sym typeface="Calibri"/>
              </a:endParaRPr>
            </a:p>
          </p:txBody>
        </p:sp>
      </p:grpSp>
    </p:spTree>
  </p:cSld>
  <p:clrMapOvr>
    <a:masterClrMapping/>
  </p:clrMapOvr>
  <p:transition spd="slow">
    <p:fade thruBlk="1"/>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