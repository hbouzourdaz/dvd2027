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6" r:id="rId1"/>
    <p:sldMasterId id="2147483898" r:id="rId2"/>
  </p:sldMasterIdLst>
  <p:notesMasterIdLst>
    <p:notesMasterId r:id="rId30"/>
  </p:notesMasterIdLst>
  <p:handoutMasterIdLst>
    <p:handoutMasterId r:id="rId31"/>
  </p:handoutMasterIdLst>
  <p:sldIdLst>
    <p:sldId id="501" r:id="rId3"/>
    <p:sldId id="465" r:id="rId4"/>
    <p:sldId id="460" r:id="rId5"/>
    <p:sldId id="428" r:id="rId6"/>
    <p:sldId id="452" r:id="rId7"/>
    <p:sldId id="481" r:id="rId8"/>
    <p:sldId id="454" r:id="rId9"/>
    <p:sldId id="387" r:id="rId10"/>
    <p:sldId id="467" r:id="rId11"/>
    <p:sldId id="443" r:id="rId12"/>
    <p:sldId id="479" r:id="rId13"/>
    <p:sldId id="469" r:id="rId14"/>
    <p:sldId id="471" r:id="rId15"/>
    <p:sldId id="473" r:id="rId16"/>
    <p:sldId id="449" r:id="rId17"/>
    <p:sldId id="477" r:id="rId18"/>
    <p:sldId id="491" r:id="rId19"/>
    <p:sldId id="487" r:id="rId20"/>
    <p:sldId id="495" r:id="rId21"/>
    <p:sldId id="488" r:id="rId22"/>
    <p:sldId id="489" r:id="rId23"/>
    <p:sldId id="499" r:id="rId24"/>
    <p:sldId id="493" r:id="rId25"/>
    <p:sldId id="485" r:id="rId26"/>
    <p:sldId id="498" r:id="rId27"/>
    <p:sldId id="486" r:id="rId28"/>
    <p:sldId id="459" r:id="rId2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0000"/>
    <a:srgbClr val="00FF00"/>
    <a:srgbClr val="0000FF"/>
    <a:srgbClr val="CC0000"/>
    <a:srgbClr val="99FF66"/>
    <a:srgbClr val="FFCCFF"/>
    <a:srgbClr val="00FFFF"/>
    <a:srgbClr val="99FF99"/>
    <a:srgbClr val="00CC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294" autoAdjust="0"/>
    <p:restoredTop sz="94660"/>
  </p:normalViewPr>
  <p:slideViewPr>
    <p:cSldViewPr>
      <p:cViewPr>
        <p:scale>
          <a:sx n="80" d="100"/>
          <a:sy n="80" d="100"/>
        </p:scale>
        <p:origin x="-228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7D036C7-AD0A-424E-8485-E14B39C0C5B8}" type="datetimeFigureOut">
              <a:rPr lang="ar-SA" smtClean="0"/>
              <a:pPr/>
              <a:t>21/04/1440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142D1F50-7A4F-4C7C-A376-C95C9F077802}" type="slidenum">
              <a:rPr lang="ar-SA" smtClean="0"/>
              <a:pPr/>
              <a:t>‹N°›</a:t>
            </a:fld>
            <a:endParaRPr lang="ar-SA"/>
          </a:p>
        </p:txBody>
      </p:sp>
    </p:spTree>
    <p:extLst>
      <p:ext uri="{BB962C8B-B14F-4D97-AF65-F5344CB8AC3E}">
        <p14:creationId xmlns="" xmlns:p14="http://schemas.microsoft.com/office/powerpoint/2010/main" val="3662232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3A72F-9962-43D1-B58B-F829F96DEAA9}" type="datetimeFigureOut">
              <a:rPr lang="fr-FR" smtClean="0"/>
              <a:pPr/>
              <a:t>29/12/2018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F758D-ECFA-4ABA-969D-B5B1470D7A1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="" xmlns:p14="http://schemas.microsoft.com/office/powerpoint/2010/main" val="3376305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9F758D-ECFA-4ABA-969D-B5B1470D7A16}" type="slidenum">
              <a:rPr lang="fr-FR" smtClean="0"/>
              <a:pPr/>
              <a:t>7</a:t>
            </a:fld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</p:spTree>
    <p:extLst>
      <p:ext uri="{BB962C8B-B14F-4D97-AF65-F5344CB8AC3E}">
        <p14:creationId xmlns="" xmlns:p14="http://schemas.microsoft.com/office/powerpoint/2010/main" val="411520486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0952124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79311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0287165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659634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2708998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9527179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4667688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3605823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0186191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7358230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</p:spTree>
    <p:extLst>
      <p:ext uri="{BB962C8B-B14F-4D97-AF65-F5344CB8AC3E}">
        <p14:creationId xmlns="" xmlns:p14="http://schemas.microsoft.com/office/powerpoint/2010/main" val="403335132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2206209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01528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2815495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6941077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8679600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1220488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2993771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2203936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4214692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4157148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112843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  <p:hf hdr="0"/>
  <p:txStyles>
    <p:titleStyle>
      <a:lvl1pPr algn="ctr" rtl="1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r" rtl="1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r" rtl="1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r" rtl="1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r" rtl="1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r" rtl="1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r" rtl="1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r" rtl="1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r" rtl="1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r" rtl="1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773017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  <p:hf hdr="0"/>
  <p:txStyles>
    <p:titleStyle>
      <a:lvl1pPr algn="ctr" rtl="1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r" rtl="1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r" rtl="1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r" rtl="1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r" rtl="1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r" rtl="1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r" rtl="1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r" rtl="1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r" rtl="1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r" rtl="1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6" name="Titre 1"/>
          <p:cNvSpPr>
            <a:spLocks noGrp="1"/>
          </p:cNvSpPr>
          <p:nvPr>
            <p:ph type="ctrTitle"/>
          </p:nvPr>
        </p:nvSpPr>
        <p:spPr>
          <a:xfrm>
            <a:off x="516835" y="2449241"/>
            <a:ext cx="8017565" cy="2372139"/>
          </a:xfrm>
          <a:extLst/>
        </p:spPr>
        <p:txBody>
          <a:bodyPr anchor="ctr">
            <a:normAutofit/>
          </a:bodyPr>
          <a:lstStyle/>
          <a:p>
            <a:pPr eaLnBrk="1" hangingPunct="1">
              <a:defRPr/>
            </a:pPr>
            <a:r>
              <a:rPr lang="ar-DZ" sz="7200" b="1" u="sng" dirty="0">
                <a:ln w="57150" cmpd="sng">
                  <a:solidFill>
                    <a:sysClr val="windowText" lastClr="000000">
                      <a:alpha val="55000"/>
                    </a:sysClr>
                  </a:solidFill>
                  <a:prstDash val="solid"/>
                </a:ln>
                <a:solidFill>
                  <a:srgbClr val="FFFF0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cs typeface="Al-Hadith1" pitchFamily="2" charset="-78"/>
              </a:rPr>
              <a:t>بسم الله الرحمن الرحيم</a:t>
            </a:r>
          </a:p>
        </p:txBody>
      </p:sp>
    </p:spTree>
    <p:extLst>
      <p:ext uri="{BB962C8B-B14F-4D97-AF65-F5344CB8AC3E}">
        <p14:creationId xmlns="" xmlns:p14="http://schemas.microsoft.com/office/powerpoint/2010/main" val="176314385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684688"/>
          </a:xfrm>
        </p:spPr>
        <p:txBody>
          <a:bodyPr>
            <a:noAutofit/>
          </a:bodyPr>
          <a:lstStyle/>
          <a:p>
            <a:pPr algn="ctr"/>
            <a:r>
              <a:rPr lang="ar-DZ" sz="4400" dirty="0" smtClean="0">
                <a:solidFill>
                  <a:srgbClr val="FFC000"/>
                </a:solidFill>
                <a:latin typeface="Andalus" pitchFamily="18" charset="-78"/>
                <a:cs typeface="Andalus" pitchFamily="18" charset="-78"/>
              </a:rPr>
              <a:t>تذكير بمراحل الملف التعلمي </a:t>
            </a:r>
            <a:r>
              <a:rPr lang="ar-DZ" sz="4400" dirty="0" err="1" smtClean="0">
                <a:solidFill>
                  <a:srgbClr val="FFC000"/>
                </a:solidFill>
                <a:latin typeface="Andalus" pitchFamily="18" charset="-78"/>
                <a:cs typeface="Andalus" pitchFamily="18" charset="-78"/>
              </a:rPr>
              <a:t>واسقاطه</a:t>
            </a:r>
            <a:r>
              <a:rPr lang="ar-DZ" sz="4400" dirty="0" smtClean="0">
                <a:solidFill>
                  <a:srgbClr val="FFC000"/>
                </a:solidFill>
                <a:latin typeface="Andalus" pitchFamily="18" charset="-78"/>
                <a:cs typeface="Andalus" pitchFamily="18" charset="-78"/>
              </a:rPr>
              <a:t> على ملف الظواهر  الضوئية والفلكية</a:t>
            </a:r>
            <a:r>
              <a:rPr lang="ar-DZ" sz="4400" dirty="0" smtClean="0">
                <a:solidFill>
                  <a:srgbClr val="FFC000"/>
                </a:solidFill>
                <a:latin typeface="Aldhabi" pitchFamily="2" charset="-78"/>
                <a:cs typeface="Aldhabi" pitchFamily="2" charset="-78"/>
              </a:rPr>
              <a:t> </a:t>
            </a:r>
            <a:endParaRPr lang="fr-FR" sz="4400" dirty="0">
              <a:solidFill>
                <a:srgbClr val="FFC000"/>
              </a:solidFill>
              <a:latin typeface="Aldhabi" pitchFamily="2" charset="-78"/>
              <a:cs typeface="Aldhabi" pitchFamily="2" charset="-78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algn="ctr">
              <a:buNone/>
            </a:pPr>
            <a:endParaRPr lang="ar-DZ" sz="3600" dirty="0" smtClean="0">
              <a:solidFill>
                <a:srgbClr val="FFFF00"/>
              </a:solidFill>
              <a:latin typeface="Andalus" pitchFamily="18" charset="-78"/>
              <a:cs typeface="Andalus" pitchFamily="18" charset="-78"/>
            </a:endParaRPr>
          </a:p>
          <a:p>
            <a:pPr algn="ctr">
              <a:buNone/>
            </a:pPr>
            <a:r>
              <a:rPr lang="ar-DZ" sz="36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قراءة في الوحدات الجديدة</a:t>
            </a:r>
          </a:p>
          <a:p>
            <a:pPr algn="ctr">
              <a:buNone/>
            </a:pPr>
            <a:r>
              <a:rPr lang="ar-DZ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في منهاج السنة الرابعة متوسط</a:t>
            </a:r>
          </a:p>
          <a:p>
            <a:pPr algn="ctr">
              <a:buNone/>
            </a:pPr>
            <a:r>
              <a:rPr lang="ar-DZ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المعاد كتابته</a:t>
            </a:r>
          </a:p>
          <a:p>
            <a:pPr algn="ctr">
              <a:buNone/>
            </a:pPr>
            <a:endParaRPr lang="ar-DZ" sz="36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pPr algn="ctr">
              <a:buNone/>
            </a:pPr>
            <a:endParaRPr lang="ar-DZ" sz="36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pPr algn="ctr">
              <a:buNone/>
            </a:pPr>
            <a:endParaRPr lang="fr-FR" sz="36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dhabi" pitchFamily="2" charset="-78"/>
              <a:cs typeface="Aldhabi" pitchFamily="2" charset="-78"/>
            </a:endParaRPr>
          </a:p>
          <a:p>
            <a:pPr algn="ctr">
              <a:buNone/>
            </a:pPr>
            <a:r>
              <a:rPr lang="ar-DZ" sz="40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itchFamily="2" charset="-78"/>
                <a:cs typeface="Aldhabi" pitchFamily="2" charset="-78"/>
              </a:rPr>
              <a:t>اعداد</a:t>
            </a:r>
            <a:r>
              <a:rPr lang="ar-DZ" sz="4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itchFamily="2" charset="-78"/>
                <a:cs typeface="Aldhabi" pitchFamily="2" charset="-78"/>
              </a:rPr>
              <a:t> وتقديم: </a:t>
            </a:r>
            <a:endParaRPr lang="fr-FR" sz="4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dhabi" pitchFamily="2" charset="-78"/>
              <a:cs typeface="Aldhabi" pitchFamily="2" charset="-78"/>
            </a:endParaRPr>
          </a:p>
          <a:p>
            <a:pPr algn="ctr">
              <a:buNone/>
            </a:pPr>
            <a:r>
              <a:rPr lang="ar-DZ" sz="4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itchFamily="2" charset="-78"/>
                <a:cs typeface="Aldhabi" pitchFamily="2" charset="-78"/>
              </a:rPr>
              <a:t>مفتش التربية والتعليم المتوسط </a:t>
            </a:r>
          </a:p>
          <a:p>
            <a:pPr algn="ctr">
              <a:buNone/>
            </a:pPr>
            <a:r>
              <a:rPr lang="ar-DZ" sz="4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itchFamily="2" charset="-78"/>
                <a:cs typeface="Aldhabi" pitchFamily="2" charset="-78"/>
              </a:rPr>
              <a:t>و . </a:t>
            </a:r>
            <a:r>
              <a:rPr lang="ar-DZ" sz="40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itchFamily="2" charset="-78"/>
                <a:cs typeface="Aldhabi" pitchFamily="2" charset="-78"/>
              </a:rPr>
              <a:t>بوشامة</a:t>
            </a:r>
            <a:endParaRPr lang="ar-DZ" sz="4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dhabi" pitchFamily="2" charset="-78"/>
              <a:cs typeface="Aldhabi" pitchFamily="2" charset="-78"/>
            </a:endParaRPr>
          </a:p>
          <a:p>
            <a:pPr algn="ctr">
              <a:buNone/>
            </a:pPr>
            <a:r>
              <a:rPr lang="ar-DZ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itchFamily="2" charset="-78"/>
                <a:cs typeface="Aldhabi" pitchFamily="2" charset="-78"/>
              </a:rPr>
              <a:t>سبتمبر2018</a:t>
            </a:r>
          </a:p>
          <a:p>
            <a:pPr algn="ctr">
              <a:buNone/>
            </a:pPr>
            <a:endParaRPr lang="fr-F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dhabi" pitchFamily="2" charset="-78"/>
              <a:cs typeface="Aldhabi" pitchFamily="2" charset="-78"/>
            </a:endParaRPr>
          </a:p>
        </p:txBody>
      </p:sp>
      <p:sp>
        <p:nvSpPr>
          <p:cNvPr id="4" name="Ruban vers le haut 3"/>
          <p:cNvSpPr/>
          <p:nvPr/>
        </p:nvSpPr>
        <p:spPr>
          <a:xfrm>
            <a:off x="827584" y="188640"/>
            <a:ext cx="7632848" cy="432048"/>
          </a:xfrm>
          <a:prstGeom prst="ribbon2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 descr="65016_536792959678778_1190041371_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40768"/>
            <a:ext cx="3635896" cy="31683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 6" descr="astro_in_h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80112" y="1484784"/>
            <a:ext cx="3563888" cy="273630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3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57166"/>
            <a:ext cx="8286808" cy="6143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4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مستطيل مستدير الزوايا 4"/>
          <p:cNvSpPr/>
          <p:nvPr/>
        </p:nvSpPr>
        <p:spPr>
          <a:xfrm>
            <a:off x="1547664" y="0"/>
            <a:ext cx="6264696" cy="836712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-DZ" sz="4000" b="1" dirty="0" smtClean="0">
                <a:solidFill>
                  <a:prstClr val="white"/>
                </a:solidFill>
              </a:rPr>
              <a:t>توازن جسم صلب خاضع لعدة قوى</a:t>
            </a:r>
            <a:endParaRPr lang="ar-SA" sz="4000" b="1" dirty="0">
              <a:solidFill>
                <a:prstClr val="white"/>
              </a:solidFill>
            </a:endParaRPr>
          </a:p>
        </p:txBody>
      </p:sp>
      <p:sp>
        <p:nvSpPr>
          <p:cNvPr id="2" name="مستطيل مستدير الزوايا 1"/>
          <p:cNvSpPr/>
          <p:nvPr/>
        </p:nvSpPr>
        <p:spPr>
          <a:xfrm>
            <a:off x="5166552" y="2214554"/>
            <a:ext cx="3977448" cy="2107005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r"/>
            <a:r>
              <a:rPr lang="ar-DZ" sz="2400" b="1" dirty="0" smtClean="0">
                <a:solidFill>
                  <a:prstClr val="black"/>
                </a:solidFill>
              </a:rPr>
              <a:t>توازن جسم صلب خاضع لقوتين</a:t>
            </a:r>
          </a:p>
          <a:p>
            <a:pPr algn="r" rtl="1">
              <a:buFont typeface="Arial" charset="0"/>
              <a:buChar char="•"/>
            </a:pPr>
            <a:r>
              <a:rPr lang="ar-DZ" sz="2800" b="1" dirty="0" smtClean="0">
                <a:solidFill>
                  <a:srgbClr val="FF0000"/>
                </a:solidFill>
              </a:rPr>
              <a:t>شرطا التوازن</a:t>
            </a:r>
            <a:r>
              <a:rPr lang="ar-DZ" sz="2800" b="1" dirty="0" smtClean="0">
                <a:solidFill>
                  <a:prstClr val="black"/>
                </a:solidFill>
              </a:rPr>
              <a:t> </a:t>
            </a:r>
          </a:p>
          <a:p>
            <a:pPr algn="r" rtl="1"/>
            <a:r>
              <a:rPr lang="fr-FR" sz="2800" b="1" dirty="0" smtClean="0">
                <a:solidFill>
                  <a:srgbClr val="0070C0"/>
                </a:solidFill>
              </a:rPr>
              <a:t>F</a:t>
            </a:r>
            <a:r>
              <a:rPr lang="fr-FR" b="1" dirty="0" smtClean="0">
                <a:solidFill>
                  <a:srgbClr val="0070C0"/>
                </a:solidFill>
              </a:rPr>
              <a:t>1</a:t>
            </a:r>
            <a:r>
              <a:rPr lang="fr-FR" sz="2800" b="1" dirty="0" smtClean="0">
                <a:solidFill>
                  <a:srgbClr val="0070C0"/>
                </a:solidFill>
              </a:rPr>
              <a:t> +  F</a:t>
            </a:r>
            <a:r>
              <a:rPr lang="fr-FR" b="1" dirty="0" smtClean="0">
                <a:solidFill>
                  <a:srgbClr val="0070C0"/>
                </a:solidFill>
              </a:rPr>
              <a:t>2</a:t>
            </a:r>
            <a:r>
              <a:rPr lang="fr-FR" sz="2800" b="1" dirty="0" smtClean="0">
                <a:solidFill>
                  <a:srgbClr val="0070C0"/>
                </a:solidFill>
              </a:rPr>
              <a:t>  =  0</a:t>
            </a:r>
            <a:r>
              <a:rPr lang="ar-DZ" sz="2800" b="1" dirty="0" smtClean="0">
                <a:solidFill>
                  <a:srgbClr val="0070C0"/>
                </a:solidFill>
              </a:rPr>
              <a:t>  </a:t>
            </a:r>
          </a:p>
          <a:p>
            <a:pPr algn="r" rtl="1"/>
            <a:r>
              <a:rPr lang="ar-DZ" sz="2800" b="1" dirty="0" smtClean="0">
                <a:solidFill>
                  <a:prstClr val="black"/>
                </a:solidFill>
              </a:rPr>
              <a:t>والقوتان لهما نفس الحامل                           </a:t>
            </a:r>
            <a:endParaRPr lang="ar-SA" dirty="0">
              <a:solidFill>
                <a:prstClr val="black"/>
              </a:solidFill>
            </a:endParaRPr>
          </a:p>
        </p:txBody>
      </p:sp>
      <p:sp>
        <p:nvSpPr>
          <p:cNvPr id="6" name="سهم لأعلى 5"/>
          <p:cNvSpPr/>
          <p:nvPr/>
        </p:nvSpPr>
        <p:spPr>
          <a:xfrm rot="8789948">
            <a:off x="5908281" y="891447"/>
            <a:ext cx="504056" cy="1015767"/>
          </a:xfrm>
          <a:prstGeom prst="upArrow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prstClr val="white"/>
              </a:solidFill>
            </a:endParaRPr>
          </a:p>
        </p:txBody>
      </p:sp>
      <p:sp>
        <p:nvSpPr>
          <p:cNvPr id="14" name="سهم لأعلى 13"/>
          <p:cNvSpPr/>
          <p:nvPr/>
        </p:nvSpPr>
        <p:spPr>
          <a:xfrm rot="13095263">
            <a:off x="2684433" y="879420"/>
            <a:ext cx="504056" cy="1055606"/>
          </a:xfrm>
          <a:prstGeom prst="upArrow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prstClr val="white"/>
              </a:solidFill>
            </a:endParaRPr>
          </a:p>
        </p:txBody>
      </p:sp>
      <p:sp>
        <p:nvSpPr>
          <p:cNvPr id="15" name="سهم لأعلى 14"/>
          <p:cNvSpPr/>
          <p:nvPr/>
        </p:nvSpPr>
        <p:spPr>
          <a:xfrm rot="10800000">
            <a:off x="4099342" y="980728"/>
            <a:ext cx="504056" cy="3662718"/>
          </a:xfrm>
          <a:prstGeom prst="upArrow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prstClr val="white"/>
              </a:solidFill>
            </a:endParaRPr>
          </a:p>
        </p:txBody>
      </p:sp>
      <p:sp>
        <p:nvSpPr>
          <p:cNvPr id="11" name="مستطيل مستدير الزوايا 10"/>
          <p:cNvSpPr/>
          <p:nvPr/>
        </p:nvSpPr>
        <p:spPr>
          <a:xfrm>
            <a:off x="1357290" y="4714883"/>
            <a:ext cx="5929354" cy="1714513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r>
              <a:rPr lang="ar-DZ" sz="2400" b="1" dirty="0" smtClean="0">
                <a:solidFill>
                  <a:prstClr val="black"/>
                </a:solidFill>
              </a:rPr>
              <a:t>توازن جسم صلب خاضع لثلاث قوى غير  متوازية </a:t>
            </a:r>
            <a:endParaRPr lang="ar-DZ" sz="2400" b="1" dirty="0">
              <a:solidFill>
                <a:prstClr val="black"/>
              </a:solidFill>
            </a:endParaRPr>
          </a:p>
          <a:p>
            <a:pPr algn="r" rtl="1">
              <a:buFont typeface="Arial" charset="0"/>
              <a:buChar char="•"/>
            </a:pPr>
            <a:r>
              <a:rPr lang="ar-DZ" sz="2400" b="1" dirty="0" smtClean="0">
                <a:solidFill>
                  <a:srgbClr val="00FF00"/>
                </a:solidFill>
              </a:rPr>
              <a:t>شرطا  التوازن</a:t>
            </a:r>
          </a:p>
          <a:p>
            <a:pPr algn="r" rtl="1"/>
            <a:r>
              <a:rPr lang="fr-FR" sz="2800" b="1" dirty="0" smtClean="0">
                <a:solidFill>
                  <a:srgbClr val="0070C0"/>
                </a:solidFill>
              </a:rPr>
              <a:t>F</a:t>
            </a:r>
            <a:r>
              <a:rPr lang="fr-FR" b="1" dirty="0" smtClean="0">
                <a:solidFill>
                  <a:srgbClr val="0070C0"/>
                </a:solidFill>
              </a:rPr>
              <a:t>1</a:t>
            </a:r>
            <a:r>
              <a:rPr lang="fr-FR" sz="2800" b="1" dirty="0" smtClean="0">
                <a:solidFill>
                  <a:srgbClr val="0070C0"/>
                </a:solidFill>
              </a:rPr>
              <a:t>  +  F</a:t>
            </a:r>
            <a:r>
              <a:rPr lang="fr-FR" b="1" dirty="0" smtClean="0">
                <a:solidFill>
                  <a:srgbClr val="0070C0"/>
                </a:solidFill>
              </a:rPr>
              <a:t>2</a:t>
            </a:r>
            <a:r>
              <a:rPr lang="fr-FR" sz="2800" b="1" dirty="0" smtClean="0">
                <a:solidFill>
                  <a:srgbClr val="0070C0"/>
                </a:solidFill>
              </a:rPr>
              <a:t>  +  F</a:t>
            </a:r>
            <a:r>
              <a:rPr lang="fr-FR" b="1" dirty="0" smtClean="0">
                <a:solidFill>
                  <a:srgbClr val="0070C0"/>
                </a:solidFill>
              </a:rPr>
              <a:t>3</a:t>
            </a:r>
            <a:r>
              <a:rPr lang="fr-FR" sz="2800" b="1" dirty="0" smtClean="0">
                <a:solidFill>
                  <a:srgbClr val="0070C0"/>
                </a:solidFill>
              </a:rPr>
              <a:t>  =  0</a:t>
            </a:r>
            <a:endParaRPr lang="ar-DZ" sz="2800" b="1" dirty="0" smtClean="0">
              <a:solidFill>
                <a:srgbClr val="0070C0"/>
              </a:solidFill>
            </a:endParaRPr>
          </a:p>
          <a:p>
            <a:pPr algn="r" rtl="1"/>
            <a:r>
              <a:rPr lang="ar-DZ" sz="2800" b="1" dirty="0" smtClean="0">
                <a:solidFill>
                  <a:prstClr val="black"/>
                </a:solidFill>
              </a:rPr>
              <a:t>وتلاقي حوامل القوى في نقطة واحدة</a:t>
            </a:r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214282" y="2071678"/>
            <a:ext cx="3514313" cy="2143140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DZ" sz="3200" b="1" dirty="0" smtClean="0">
                <a:solidFill>
                  <a:prstClr val="black"/>
                </a:solidFill>
              </a:rPr>
              <a:t>مفهوم محصلة قوتين</a:t>
            </a:r>
          </a:p>
          <a:p>
            <a:pPr algn="ctr"/>
            <a:r>
              <a:rPr lang="ar-DZ" sz="3200" b="1" dirty="0" smtClean="0">
                <a:solidFill>
                  <a:prstClr val="black"/>
                </a:solidFill>
              </a:rPr>
              <a:t>تركيب قوتين</a:t>
            </a:r>
          </a:p>
          <a:p>
            <a:pPr algn="ctr"/>
            <a:r>
              <a:rPr lang="ar-DZ" sz="3200" b="1" dirty="0" smtClean="0">
                <a:solidFill>
                  <a:prstClr val="black"/>
                </a:solidFill>
              </a:rPr>
              <a:t>تحليل قوة </a:t>
            </a:r>
            <a:r>
              <a:rPr lang="ar-DZ" sz="3200" b="1" dirty="0" err="1" smtClean="0">
                <a:solidFill>
                  <a:prstClr val="black"/>
                </a:solidFill>
              </a:rPr>
              <a:t>الى</a:t>
            </a:r>
            <a:r>
              <a:rPr lang="ar-DZ" sz="3200" b="1" dirty="0" smtClean="0">
                <a:solidFill>
                  <a:prstClr val="black"/>
                </a:solidFill>
              </a:rPr>
              <a:t> مركبتين</a:t>
            </a:r>
            <a:endParaRPr lang="ar-SA" sz="2000" dirty="0">
              <a:solidFill>
                <a:prstClr val="black"/>
              </a:solidFill>
            </a:endParaRPr>
          </a:p>
        </p:txBody>
      </p:sp>
      <p:cxnSp>
        <p:nvCxnSpPr>
          <p:cNvPr id="27" name="Connecteur droit avec flèche 26"/>
          <p:cNvCxnSpPr/>
          <p:nvPr/>
        </p:nvCxnSpPr>
        <p:spPr>
          <a:xfrm>
            <a:off x="7929586" y="3286124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>
            <a:off x="7143768" y="3286124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/>
          <p:cNvCxnSpPr/>
          <p:nvPr/>
        </p:nvCxnSpPr>
        <p:spPr>
          <a:xfrm>
            <a:off x="8715404" y="3286124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/>
          <p:cNvCxnSpPr/>
          <p:nvPr/>
        </p:nvCxnSpPr>
        <p:spPr>
          <a:xfrm>
            <a:off x="4357686" y="5500702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/>
          <p:cNvCxnSpPr/>
          <p:nvPr/>
        </p:nvCxnSpPr>
        <p:spPr>
          <a:xfrm>
            <a:off x="5214942" y="5500702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/>
          <p:cNvCxnSpPr/>
          <p:nvPr/>
        </p:nvCxnSpPr>
        <p:spPr>
          <a:xfrm>
            <a:off x="6072198" y="5500702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/>
          <p:cNvCxnSpPr/>
          <p:nvPr/>
        </p:nvCxnSpPr>
        <p:spPr>
          <a:xfrm>
            <a:off x="6858016" y="5500702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72861516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6" grpId="0" animBg="1"/>
      <p:bldP spid="14" grpId="0" animBg="1"/>
      <p:bldP spid="15" grpId="0" animBg="1"/>
      <p:bldP spid="11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5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مستطيل مستدير الزوايا 4"/>
          <p:cNvSpPr/>
          <p:nvPr/>
        </p:nvSpPr>
        <p:spPr>
          <a:xfrm>
            <a:off x="1547664" y="0"/>
            <a:ext cx="6264696" cy="836712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-DZ" sz="3600" b="1" dirty="0" smtClean="0">
                <a:solidFill>
                  <a:prstClr val="white"/>
                </a:solidFill>
              </a:rPr>
              <a:t>شرطا توازن جسم صلب خاضع لقوتين</a:t>
            </a:r>
            <a:endParaRPr lang="ar-SA" sz="3600" b="1" dirty="0">
              <a:solidFill>
                <a:prstClr val="white"/>
              </a:solidFill>
            </a:endParaRPr>
          </a:p>
        </p:txBody>
      </p:sp>
      <p:sp>
        <p:nvSpPr>
          <p:cNvPr id="2" name="مستطيل مستدير الزوايا 1"/>
          <p:cNvSpPr/>
          <p:nvPr/>
        </p:nvSpPr>
        <p:spPr>
          <a:xfrm>
            <a:off x="5166552" y="2143116"/>
            <a:ext cx="3977448" cy="2107005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r>
              <a:rPr lang="fr-FR" sz="4000" b="1" dirty="0" smtClean="0">
                <a:solidFill>
                  <a:srgbClr val="0070C0"/>
                </a:solidFill>
              </a:rPr>
              <a:t>F</a:t>
            </a:r>
            <a:r>
              <a:rPr lang="fr-FR" sz="2000" b="1" dirty="0" smtClean="0">
                <a:solidFill>
                  <a:srgbClr val="0070C0"/>
                </a:solidFill>
              </a:rPr>
              <a:t>1</a:t>
            </a:r>
            <a:r>
              <a:rPr lang="fr-FR" sz="4000" b="1" dirty="0" smtClean="0">
                <a:solidFill>
                  <a:srgbClr val="0070C0"/>
                </a:solidFill>
              </a:rPr>
              <a:t> +  F</a:t>
            </a:r>
            <a:r>
              <a:rPr lang="fr-FR" sz="2000" b="1" dirty="0" smtClean="0">
                <a:solidFill>
                  <a:srgbClr val="0070C0"/>
                </a:solidFill>
              </a:rPr>
              <a:t>2</a:t>
            </a:r>
            <a:r>
              <a:rPr lang="fr-FR" sz="4000" b="1" dirty="0" smtClean="0">
                <a:solidFill>
                  <a:srgbClr val="0070C0"/>
                </a:solidFill>
              </a:rPr>
              <a:t>  =  0</a:t>
            </a:r>
            <a:r>
              <a:rPr lang="ar-DZ" sz="4000" b="1" dirty="0" smtClean="0">
                <a:solidFill>
                  <a:srgbClr val="0070C0"/>
                </a:solidFill>
              </a:rPr>
              <a:t>     </a:t>
            </a:r>
          </a:p>
        </p:txBody>
      </p:sp>
      <p:sp>
        <p:nvSpPr>
          <p:cNvPr id="6" name="سهم لأعلى 5"/>
          <p:cNvSpPr/>
          <p:nvPr/>
        </p:nvSpPr>
        <p:spPr>
          <a:xfrm rot="8789948">
            <a:off x="5908281" y="891447"/>
            <a:ext cx="504056" cy="1015767"/>
          </a:xfrm>
          <a:prstGeom prst="upArrow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prstClr val="white"/>
              </a:solidFill>
            </a:endParaRPr>
          </a:p>
        </p:txBody>
      </p:sp>
      <p:sp>
        <p:nvSpPr>
          <p:cNvPr id="14" name="سهم لأعلى 13"/>
          <p:cNvSpPr/>
          <p:nvPr/>
        </p:nvSpPr>
        <p:spPr>
          <a:xfrm rot="13095263">
            <a:off x="2684433" y="879420"/>
            <a:ext cx="504056" cy="1055606"/>
          </a:xfrm>
          <a:prstGeom prst="upArrow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prstClr val="white"/>
              </a:solidFill>
            </a:endParaRPr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214282" y="2071678"/>
            <a:ext cx="3514313" cy="2143140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DZ" sz="2400" b="1" dirty="0" smtClean="0">
                <a:solidFill>
                  <a:prstClr val="black"/>
                </a:solidFill>
              </a:rPr>
              <a:t>القوتان لهما نفس الحامل   </a:t>
            </a:r>
            <a:r>
              <a:rPr lang="ar-DZ" sz="2400" b="1" dirty="0" smtClean="0">
                <a:solidFill>
                  <a:srgbClr val="FF0000"/>
                </a:solidFill>
              </a:rPr>
              <a:t>(شرط لغياب الدوران )</a:t>
            </a:r>
            <a:endParaRPr lang="ar-SA" sz="2400" dirty="0">
              <a:solidFill>
                <a:srgbClr val="FF0000"/>
              </a:solidFill>
            </a:endParaRPr>
          </a:p>
        </p:txBody>
      </p:sp>
      <p:cxnSp>
        <p:nvCxnSpPr>
          <p:cNvPr id="18" name="Connecteur droit avec flèche 17"/>
          <p:cNvCxnSpPr/>
          <p:nvPr/>
        </p:nvCxnSpPr>
        <p:spPr>
          <a:xfrm>
            <a:off x="6357950" y="2928934"/>
            <a:ext cx="50006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>
            <a:off x="7429520" y="2928934"/>
            <a:ext cx="50006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>
            <a:off x="8643966" y="2928934"/>
            <a:ext cx="50003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72861516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6" grpId="0" animBg="1"/>
      <p:bldP spid="14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6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مستطيل مستدير الزوايا 4"/>
          <p:cNvSpPr/>
          <p:nvPr/>
        </p:nvSpPr>
        <p:spPr>
          <a:xfrm>
            <a:off x="1547664" y="0"/>
            <a:ext cx="6264696" cy="836712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-DZ" sz="3200" b="1" dirty="0" smtClean="0">
                <a:solidFill>
                  <a:prstClr val="white"/>
                </a:solidFill>
              </a:rPr>
              <a:t>شرطا توازن جسم صلب خاضع لثلاث قوى</a:t>
            </a:r>
            <a:endParaRPr lang="ar-SA" sz="3200" b="1" dirty="0">
              <a:solidFill>
                <a:prstClr val="white"/>
              </a:solidFill>
            </a:endParaRPr>
          </a:p>
        </p:txBody>
      </p:sp>
      <p:sp>
        <p:nvSpPr>
          <p:cNvPr id="2" name="مستطيل مستدير الزوايا 1"/>
          <p:cNvSpPr/>
          <p:nvPr/>
        </p:nvSpPr>
        <p:spPr>
          <a:xfrm>
            <a:off x="5166552" y="2214554"/>
            <a:ext cx="3977448" cy="2107005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r>
              <a:rPr lang="fr-FR" sz="3200" b="1" dirty="0" smtClean="0">
                <a:solidFill>
                  <a:srgbClr val="0070C0"/>
                </a:solidFill>
              </a:rPr>
              <a:t>F</a:t>
            </a:r>
            <a:r>
              <a:rPr lang="fr-FR" sz="2000" b="1" dirty="0" smtClean="0">
                <a:solidFill>
                  <a:srgbClr val="0070C0"/>
                </a:solidFill>
              </a:rPr>
              <a:t>1</a:t>
            </a:r>
            <a:r>
              <a:rPr lang="fr-FR" sz="3200" b="1" dirty="0" smtClean="0">
                <a:solidFill>
                  <a:srgbClr val="0070C0"/>
                </a:solidFill>
              </a:rPr>
              <a:t>  +  F</a:t>
            </a:r>
            <a:r>
              <a:rPr lang="fr-FR" sz="2000" b="1" dirty="0" smtClean="0">
                <a:solidFill>
                  <a:srgbClr val="0070C0"/>
                </a:solidFill>
              </a:rPr>
              <a:t>2</a:t>
            </a:r>
            <a:r>
              <a:rPr lang="fr-FR" sz="3200" b="1" dirty="0" smtClean="0">
                <a:solidFill>
                  <a:srgbClr val="0070C0"/>
                </a:solidFill>
              </a:rPr>
              <a:t>  +  F</a:t>
            </a:r>
            <a:r>
              <a:rPr lang="fr-FR" sz="2000" b="1" dirty="0" smtClean="0">
                <a:solidFill>
                  <a:srgbClr val="0070C0"/>
                </a:solidFill>
              </a:rPr>
              <a:t>3</a:t>
            </a:r>
            <a:r>
              <a:rPr lang="fr-FR" sz="3200" b="1" dirty="0" smtClean="0">
                <a:solidFill>
                  <a:srgbClr val="0070C0"/>
                </a:solidFill>
              </a:rPr>
              <a:t>  =  0</a:t>
            </a:r>
            <a:endParaRPr lang="ar-DZ" sz="3200" b="1" dirty="0" smtClean="0">
              <a:solidFill>
                <a:srgbClr val="0070C0"/>
              </a:solidFill>
            </a:endParaRPr>
          </a:p>
        </p:txBody>
      </p:sp>
      <p:sp>
        <p:nvSpPr>
          <p:cNvPr id="6" name="سهم لأعلى 5"/>
          <p:cNvSpPr/>
          <p:nvPr/>
        </p:nvSpPr>
        <p:spPr>
          <a:xfrm rot="8789948">
            <a:off x="5908281" y="891447"/>
            <a:ext cx="504056" cy="1015767"/>
          </a:xfrm>
          <a:prstGeom prst="upArrow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prstClr val="white"/>
              </a:solidFill>
            </a:endParaRPr>
          </a:p>
        </p:txBody>
      </p:sp>
      <p:sp>
        <p:nvSpPr>
          <p:cNvPr id="14" name="سهم لأعلى 13"/>
          <p:cNvSpPr/>
          <p:nvPr/>
        </p:nvSpPr>
        <p:spPr>
          <a:xfrm rot="13095263">
            <a:off x="2684433" y="879420"/>
            <a:ext cx="504056" cy="1055606"/>
          </a:xfrm>
          <a:prstGeom prst="upArrow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prstClr val="white"/>
              </a:solidFill>
            </a:endParaRPr>
          </a:p>
        </p:txBody>
      </p:sp>
      <p:sp>
        <p:nvSpPr>
          <p:cNvPr id="15" name="سهم لأعلى 14"/>
          <p:cNvSpPr/>
          <p:nvPr/>
        </p:nvSpPr>
        <p:spPr>
          <a:xfrm rot="10800000">
            <a:off x="4099342" y="980728"/>
            <a:ext cx="504056" cy="3662718"/>
          </a:xfrm>
          <a:prstGeom prst="upArrow">
            <a:avLst/>
          </a:prstGeo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>
              <a:solidFill>
                <a:prstClr val="white"/>
              </a:solidFill>
            </a:endParaRPr>
          </a:p>
        </p:txBody>
      </p:sp>
      <p:sp>
        <p:nvSpPr>
          <p:cNvPr id="11" name="مستطيل مستدير الزوايا 10"/>
          <p:cNvSpPr/>
          <p:nvPr/>
        </p:nvSpPr>
        <p:spPr>
          <a:xfrm>
            <a:off x="2928926" y="4857760"/>
            <a:ext cx="3429024" cy="1714513"/>
          </a:xfrm>
          <a:prstGeom prst="roundRect">
            <a:avLst/>
          </a:prstGeom>
          <a:solidFill>
            <a:srgbClr val="00FF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r>
              <a:rPr lang="ar-DZ" sz="3200" b="1" dirty="0" smtClean="0">
                <a:solidFill>
                  <a:prstClr val="black"/>
                </a:solidFill>
              </a:rPr>
              <a:t>تتلاقى حوامل القوى في نقطة واحدة               </a:t>
            </a:r>
            <a:r>
              <a:rPr lang="ar-DZ" sz="2400" b="1" dirty="0" smtClean="0">
                <a:solidFill>
                  <a:srgbClr val="FF0066"/>
                </a:solidFill>
              </a:rPr>
              <a:t>(شرط لغياب دوران الجسم)</a:t>
            </a:r>
          </a:p>
        </p:txBody>
      </p:sp>
      <p:sp>
        <p:nvSpPr>
          <p:cNvPr id="16" name="مستطيل مستدير الزوايا 15"/>
          <p:cNvSpPr/>
          <p:nvPr/>
        </p:nvSpPr>
        <p:spPr>
          <a:xfrm>
            <a:off x="214282" y="2071678"/>
            <a:ext cx="3514313" cy="2143140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DZ" sz="2400" b="1" dirty="0" smtClean="0">
                <a:solidFill>
                  <a:srgbClr val="CC0000"/>
                </a:solidFill>
              </a:rPr>
              <a:t>ملاحظة :</a:t>
            </a:r>
          </a:p>
          <a:p>
            <a:pPr algn="ctr"/>
            <a:r>
              <a:rPr lang="ar-DZ" sz="2400" b="1" dirty="0" err="1" smtClean="0">
                <a:solidFill>
                  <a:srgbClr val="0000FF"/>
                </a:solidFill>
              </a:rPr>
              <a:t>اذا</a:t>
            </a:r>
            <a:r>
              <a:rPr lang="ar-DZ" sz="2400" b="1" dirty="0" smtClean="0">
                <a:solidFill>
                  <a:srgbClr val="0000FF"/>
                </a:solidFill>
              </a:rPr>
              <a:t> كان الجسم خاضعا لعدة قوى  غير متوازية وكان مجموعها </a:t>
            </a:r>
            <a:r>
              <a:rPr lang="ar-DZ" sz="2400" b="1" dirty="0" err="1" smtClean="0">
                <a:solidFill>
                  <a:srgbClr val="0000FF"/>
                </a:solidFill>
              </a:rPr>
              <a:t>الشعاعي</a:t>
            </a:r>
            <a:r>
              <a:rPr lang="ar-DZ" sz="2400" b="1" dirty="0" smtClean="0">
                <a:solidFill>
                  <a:srgbClr val="0000FF"/>
                </a:solidFill>
              </a:rPr>
              <a:t> معدوما ، فان هذا </a:t>
            </a:r>
            <a:r>
              <a:rPr lang="ar-DZ" sz="2400" b="1" dirty="0" err="1" smtClean="0">
                <a:solidFill>
                  <a:srgbClr val="0000FF"/>
                </a:solidFill>
              </a:rPr>
              <a:t>لايعني</a:t>
            </a:r>
            <a:r>
              <a:rPr lang="ar-DZ" sz="2400" b="1" dirty="0" smtClean="0">
                <a:solidFill>
                  <a:srgbClr val="0000FF"/>
                </a:solidFill>
              </a:rPr>
              <a:t> بالضرورة أن الجسم متوازن</a:t>
            </a:r>
          </a:p>
        </p:txBody>
      </p:sp>
      <p:cxnSp>
        <p:nvCxnSpPr>
          <p:cNvPr id="18" name="Connecteur droit avec flèche 17"/>
          <p:cNvCxnSpPr/>
          <p:nvPr/>
        </p:nvCxnSpPr>
        <p:spPr>
          <a:xfrm>
            <a:off x="5643570" y="3000372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>
            <a:off x="6643702" y="3000372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/>
          <p:nvPr/>
        </p:nvCxnSpPr>
        <p:spPr>
          <a:xfrm>
            <a:off x="7715272" y="3000372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/>
          <p:cNvCxnSpPr/>
          <p:nvPr/>
        </p:nvCxnSpPr>
        <p:spPr>
          <a:xfrm>
            <a:off x="8643966" y="3000372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72861516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6" grpId="0" animBg="1"/>
      <p:bldP spid="14" grpId="0" animBg="1"/>
      <p:bldP spid="15" grpId="0" animBg="1"/>
      <p:bldP spid="11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814388" y="55291"/>
            <a:ext cx="7772400" cy="685800"/>
          </a:xfrm>
        </p:spPr>
        <p:txBody>
          <a:bodyPr>
            <a:normAutofit fontScale="90000"/>
          </a:bodyPr>
          <a:lstStyle/>
          <a:p>
            <a:pPr algn="ctr" rtl="1">
              <a:defRPr/>
            </a:pPr>
            <a:r>
              <a:rPr lang="ar-DZ" sz="2800" smtClean="0">
                <a:solidFill>
                  <a:schemeClr val="bg2"/>
                </a:solidFill>
              </a:rPr>
              <a:t>مفهوم محصلة </a:t>
            </a:r>
            <a:r>
              <a:rPr lang="ar-DZ" sz="2800" dirty="0" smtClean="0">
                <a:solidFill>
                  <a:schemeClr val="bg2"/>
                </a:solidFill>
              </a:rPr>
              <a:t>قوتين (تركيب قوتين وتحليل قوة)</a:t>
            </a:r>
            <a:endParaRPr lang="fr-FR" sz="2800" dirty="0" smtClean="0">
              <a:solidFill>
                <a:schemeClr val="bg2"/>
              </a:solidFill>
            </a:endParaRPr>
          </a:p>
        </p:txBody>
      </p:sp>
      <p:sp>
        <p:nvSpPr>
          <p:cNvPr id="9" name="Parchemin horizontal 8"/>
          <p:cNvSpPr/>
          <p:nvPr/>
        </p:nvSpPr>
        <p:spPr bwMode="auto">
          <a:xfrm>
            <a:off x="1643042" y="4214818"/>
            <a:ext cx="5897563" cy="2857520"/>
          </a:xfrm>
          <a:prstGeom prst="horizontalScroll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2800" b="1" dirty="0" smtClean="0">
                <a:solidFill>
                  <a:srgbClr val="0070C0"/>
                </a:solidFill>
              </a:rPr>
              <a:t>القوة</a:t>
            </a:r>
            <a:r>
              <a:rPr lang="fr-FR" sz="2800" b="1" dirty="0" smtClean="0">
                <a:solidFill>
                  <a:srgbClr val="0070C0"/>
                </a:solidFill>
              </a:rPr>
              <a:t> F</a:t>
            </a:r>
            <a:r>
              <a:rPr lang="ar-DZ" sz="2800" b="1" dirty="0" smtClean="0">
                <a:solidFill>
                  <a:srgbClr val="0070C0"/>
                </a:solidFill>
              </a:rPr>
              <a:t>التي لها نفس تأثير القوتين</a:t>
            </a:r>
            <a:r>
              <a:rPr lang="fr-FR" sz="2800" b="1" dirty="0" smtClean="0">
                <a:solidFill>
                  <a:srgbClr val="0070C0"/>
                </a:solidFill>
              </a:rPr>
              <a:t>F</a:t>
            </a:r>
            <a:r>
              <a:rPr lang="fr-FR" sz="2000" b="1" dirty="0" smtClean="0">
                <a:solidFill>
                  <a:srgbClr val="0070C0"/>
                </a:solidFill>
              </a:rPr>
              <a:t>1</a:t>
            </a:r>
            <a:r>
              <a:rPr lang="ar-DZ" sz="2000" b="1" dirty="0" smtClean="0">
                <a:solidFill>
                  <a:srgbClr val="0070C0"/>
                </a:solidFill>
              </a:rPr>
              <a:t>،</a:t>
            </a:r>
            <a:r>
              <a:rPr lang="fr-FR" sz="2800" b="1" dirty="0" smtClean="0">
                <a:solidFill>
                  <a:srgbClr val="0070C0"/>
                </a:solidFill>
              </a:rPr>
              <a:t> F</a:t>
            </a:r>
            <a:r>
              <a:rPr lang="fr-FR" sz="2000" b="1" dirty="0" smtClean="0">
                <a:solidFill>
                  <a:srgbClr val="0070C0"/>
                </a:solidFill>
              </a:rPr>
              <a:t>2</a:t>
            </a:r>
            <a:r>
              <a:rPr lang="ar-DZ" sz="2800" b="1" dirty="0" smtClean="0">
                <a:solidFill>
                  <a:srgbClr val="0070C0"/>
                </a:solidFill>
              </a:rPr>
              <a:t>على الجسم تسمى محصلة القوتين</a:t>
            </a:r>
            <a:r>
              <a:rPr lang="fr-FR" sz="2800" b="1" dirty="0" smtClean="0">
                <a:solidFill>
                  <a:srgbClr val="0070C0"/>
                </a:solidFill>
              </a:rPr>
              <a:t>F</a:t>
            </a:r>
            <a:r>
              <a:rPr lang="fr-FR" b="1" dirty="0" smtClean="0">
                <a:solidFill>
                  <a:srgbClr val="0070C0"/>
                </a:solidFill>
              </a:rPr>
              <a:t>2</a:t>
            </a:r>
            <a:r>
              <a:rPr lang="fr-FR" sz="2800" b="1" dirty="0" smtClean="0">
                <a:solidFill>
                  <a:srgbClr val="0070C0"/>
                </a:solidFill>
              </a:rPr>
              <a:t>  </a:t>
            </a:r>
            <a:r>
              <a:rPr lang="ar-DZ" sz="2800" b="1" dirty="0" smtClean="0">
                <a:solidFill>
                  <a:srgbClr val="0070C0"/>
                </a:solidFill>
              </a:rPr>
              <a:t>،</a:t>
            </a:r>
            <a:r>
              <a:rPr lang="fr-FR" sz="2800" b="1" dirty="0" smtClean="0">
                <a:solidFill>
                  <a:srgbClr val="0070C0"/>
                </a:solidFill>
              </a:rPr>
              <a:t> F</a:t>
            </a:r>
            <a:r>
              <a:rPr lang="fr-FR" b="1" dirty="0" smtClean="0">
                <a:solidFill>
                  <a:srgbClr val="0070C0"/>
                </a:solidFill>
              </a:rPr>
              <a:t>1</a:t>
            </a:r>
            <a:r>
              <a:rPr lang="fr-FR" sz="2800" b="1" dirty="0" smtClean="0">
                <a:solidFill>
                  <a:srgbClr val="0070C0"/>
                </a:solidFill>
              </a:rPr>
              <a:t> </a:t>
            </a:r>
            <a:r>
              <a:rPr lang="ar-DZ" sz="2800" b="1" dirty="0" smtClean="0">
                <a:solidFill>
                  <a:srgbClr val="0070C0"/>
                </a:solidFill>
              </a:rPr>
              <a:t>.</a:t>
            </a:r>
          </a:p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2800" b="1" dirty="0" smtClean="0">
                <a:solidFill>
                  <a:srgbClr val="0070C0"/>
                </a:solidFill>
              </a:rPr>
              <a:t>تمثل المحصلة</a:t>
            </a:r>
            <a:r>
              <a:rPr lang="fr-FR" sz="2800" b="1" dirty="0" smtClean="0">
                <a:solidFill>
                  <a:srgbClr val="0070C0"/>
                </a:solidFill>
              </a:rPr>
              <a:t>F </a:t>
            </a:r>
            <a:r>
              <a:rPr lang="ar-DZ" sz="2800" b="1" dirty="0" smtClean="0">
                <a:solidFill>
                  <a:srgbClr val="0070C0"/>
                </a:solidFill>
              </a:rPr>
              <a:t> بالشعاع الممثل لقطر متوازي الأضلاع المنشأ على الشعاعين الممثلين للقوتين</a:t>
            </a:r>
            <a:r>
              <a:rPr lang="fr-FR" sz="2800" b="1" dirty="0" smtClean="0">
                <a:solidFill>
                  <a:srgbClr val="0070C0"/>
                </a:solidFill>
              </a:rPr>
              <a:t> F</a:t>
            </a:r>
            <a:r>
              <a:rPr lang="fr-FR" sz="2000" b="1" dirty="0" smtClean="0">
                <a:solidFill>
                  <a:srgbClr val="0070C0"/>
                </a:solidFill>
              </a:rPr>
              <a:t>1</a:t>
            </a:r>
            <a:r>
              <a:rPr lang="fr-FR" sz="2800" b="1" dirty="0" smtClean="0">
                <a:solidFill>
                  <a:srgbClr val="0070C0"/>
                </a:solidFill>
              </a:rPr>
              <a:t>  </a:t>
            </a:r>
            <a:r>
              <a:rPr lang="ar-DZ" sz="2800" b="1" dirty="0" smtClean="0">
                <a:solidFill>
                  <a:srgbClr val="0070C0"/>
                </a:solidFill>
              </a:rPr>
              <a:t>، </a:t>
            </a:r>
            <a:r>
              <a:rPr lang="fr-FR" sz="2800" b="1" dirty="0" smtClean="0">
                <a:solidFill>
                  <a:srgbClr val="0070C0"/>
                </a:solidFill>
              </a:rPr>
              <a:t>F</a:t>
            </a:r>
            <a:r>
              <a:rPr lang="fr-FR" sz="2000" b="1" dirty="0" smtClean="0">
                <a:solidFill>
                  <a:srgbClr val="0070C0"/>
                </a:solidFill>
              </a:rPr>
              <a:t>2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2800" b="1" dirty="0" smtClean="0">
                <a:solidFill>
                  <a:srgbClr val="FF0066"/>
                </a:solidFill>
              </a:rPr>
              <a:t>تسمى </a:t>
            </a:r>
            <a:r>
              <a:rPr lang="fr-FR" sz="2800" b="1" dirty="0" smtClean="0">
                <a:solidFill>
                  <a:srgbClr val="FF0066"/>
                </a:solidFill>
              </a:rPr>
              <a:t>F</a:t>
            </a:r>
            <a:r>
              <a:rPr lang="fr-FR" sz="2000" b="1" dirty="0" smtClean="0">
                <a:solidFill>
                  <a:srgbClr val="FF0066"/>
                </a:solidFill>
              </a:rPr>
              <a:t>1</a:t>
            </a:r>
            <a:r>
              <a:rPr lang="ar-DZ" sz="2000" b="1" dirty="0" smtClean="0">
                <a:solidFill>
                  <a:srgbClr val="FF0066"/>
                </a:solidFill>
              </a:rPr>
              <a:t>’  </a:t>
            </a:r>
            <a:r>
              <a:rPr lang="fr-FR" sz="2800" b="1" dirty="0" smtClean="0">
                <a:solidFill>
                  <a:srgbClr val="FF0066"/>
                </a:solidFill>
              </a:rPr>
              <a:t>F</a:t>
            </a:r>
            <a:r>
              <a:rPr lang="fr-FR" sz="2000" b="1" dirty="0" smtClean="0">
                <a:solidFill>
                  <a:srgbClr val="FF0066"/>
                </a:solidFill>
              </a:rPr>
              <a:t>2</a:t>
            </a:r>
            <a:r>
              <a:rPr lang="ar-DZ" sz="2800" b="1" dirty="0" smtClean="0">
                <a:solidFill>
                  <a:srgbClr val="FF0066"/>
                </a:solidFill>
              </a:rPr>
              <a:t> مركبتا </a:t>
            </a:r>
            <a:r>
              <a:rPr lang="fr-FR" sz="2800" b="1" dirty="0" smtClean="0">
                <a:solidFill>
                  <a:srgbClr val="FF0066"/>
                </a:solidFill>
              </a:rPr>
              <a:t>F</a:t>
            </a:r>
            <a:endParaRPr lang="ar-DZ" sz="2000" b="1" dirty="0" smtClean="0">
              <a:solidFill>
                <a:srgbClr val="FF0066"/>
              </a:solidFill>
            </a:endParaRPr>
          </a:p>
        </p:txBody>
      </p:sp>
      <p:sp>
        <p:nvSpPr>
          <p:cNvPr id="13" name="Flèche vers le bas 12"/>
          <p:cNvSpPr>
            <a:spLocks noChangeArrowheads="1"/>
          </p:cNvSpPr>
          <p:nvPr/>
        </p:nvSpPr>
        <p:spPr bwMode="auto">
          <a:xfrm>
            <a:off x="4500562" y="4000504"/>
            <a:ext cx="401638" cy="422275"/>
          </a:xfrm>
          <a:prstGeom prst="downArrow">
            <a:avLst>
              <a:gd name="adj1" fmla="val 50000"/>
              <a:gd name="adj2" fmla="val 50004"/>
            </a:avLst>
          </a:prstGeom>
          <a:solidFill>
            <a:schemeClr val="bg2"/>
          </a:solidFill>
          <a:ln w="12700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altLang="fr-FR" sz="2400" b="0">
              <a:solidFill>
                <a:srgbClr val="C00000"/>
              </a:solidFill>
            </a:endParaRPr>
          </a:p>
        </p:txBody>
      </p:sp>
      <p:sp>
        <p:nvSpPr>
          <p:cNvPr id="18" name="Organigramme : Données 17"/>
          <p:cNvSpPr/>
          <p:nvPr/>
        </p:nvSpPr>
        <p:spPr>
          <a:xfrm>
            <a:off x="1928794" y="1785926"/>
            <a:ext cx="5072098" cy="1928826"/>
          </a:xfrm>
          <a:prstGeom prst="flowChartInputOutp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rgbClr val="0070C0"/>
                </a:solidFill>
              </a:rPr>
              <a:t>F</a:t>
            </a:r>
            <a:r>
              <a:rPr lang="fr-FR" sz="1400" b="1" dirty="0" smtClean="0">
                <a:solidFill>
                  <a:srgbClr val="0070C0"/>
                </a:solidFill>
              </a:rPr>
              <a:t>1</a:t>
            </a:r>
            <a:r>
              <a:rPr lang="ar-DZ" dirty="0" smtClean="0">
                <a:solidFill>
                  <a:srgbClr val="0070C0"/>
                </a:solidFill>
              </a:rPr>
              <a:t>                                        </a:t>
            </a:r>
            <a:endParaRPr lang="fr-FR" dirty="0" smtClean="0">
              <a:solidFill>
                <a:srgbClr val="0070C0"/>
              </a:solidFill>
            </a:endParaRPr>
          </a:p>
          <a:p>
            <a:pPr algn="ctr"/>
            <a:endParaRPr lang="fr-FR" dirty="0" smtClean="0">
              <a:solidFill>
                <a:srgbClr val="0070C0"/>
              </a:solidFill>
            </a:endParaRPr>
          </a:p>
          <a:p>
            <a:pPr algn="ctr"/>
            <a:endParaRPr lang="fr-FR" dirty="0" smtClean="0">
              <a:solidFill>
                <a:srgbClr val="0070C0"/>
              </a:solidFill>
            </a:endParaRPr>
          </a:p>
          <a:p>
            <a:pPr algn="ctr"/>
            <a:r>
              <a:rPr lang="fr-FR" dirty="0" smtClean="0">
                <a:solidFill>
                  <a:srgbClr val="0070C0"/>
                </a:solidFill>
              </a:rPr>
              <a:t>F</a:t>
            </a:r>
          </a:p>
          <a:p>
            <a:pPr algn="ctr"/>
            <a:endParaRPr lang="fr-FR" dirty="0" smtClean="0">
              <a:solidFill>
                <a:srgbClr val="0070C0"/>
              </a:solidFill>
            </a:endParaRPr>
          </a:p>
          <a:p>
            <a:pPr algn="ctr"/>
            <a:r>
              <a:rPr lang="fr-FR" dirty="0" smtClean="0">
                <a:solidFill>
                  <a:srgbClr val="0070C0"/>
                </a:solidFill>
              </a:rPr>
              <a:t>                         </a:t>
            </a:r>
            <a:r>
              <a:rPr lang="ar-DZ" dirty="0" smtClean="0"/>
              <a:t> </a:t>
            </a:r>
            <a:r>
              <a:rPr lang="fr-FR" dirty="0" smtClean="0"/>
              <a:t>     </a:t>
            </a:r>
            <a:r>
              <a:rPr lang="ar-DZ" dirty="0" smtClean="0"/>
              <a:t>   </a:t>
            </a:r>
            <a:r>
              <a:rPr lang="fr-FR" b="1" dirty="0" smtClean="0">
                <a:solidFill>
                  <a:srgbClr val="0070C0"/>
                </a:solidFill>
              </a:rPr>
              <a:t>F</a:t>
            </a:r>
            <a:r>
              <a:rPr lang="fr-FR" sz="1400" b="1" dirty="0" smtClean="0">
                <a:solidFill>
                  <a:srgbClr val="0070C0"/>
                </a:solidFill>
              </a:rPr>
              <a:t>2</a:t>
            </a:r>
            <a:endParaRPr lang="fr-FR" b="1" dirty="0">
              <a:solidFill>
                <a:srgbClr val="0070C0"/>
              </a:solidFill>
            </a:endParaRPr>
          </a:p>
        </p:txBody>
      </p:sp>
      <p:cxnSp>
        <p:nvCxnSpPr>
          <p:cNvPr id="22" name="Connecteur droit avec flèche 21"/>
          <p:cNvCxnSpPr/>
          <p:nvPr/>
        </p:nvCxnSpPr>
        <p:spPr>
          <a:xfrm rot="5400000" flipH="1" flipV="1">
            <a:off x="1464447" y="2250273"/>
            <a:ext cx="1928826" cy="10001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/>
          <p:cNvCxnSpPr/>
          <p:nvPr/>
        </p:nvCxnSpPr>
        <p:spPr>
          <a:xfrm flipV="1">
            <a:off x="1928794" y="1785926"/>
            <a:ext cx="5072098" cy="19288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/>
          <p:nvPr/>
        </p:nvCxnSpPr>
        <p:spPr>
          <a:xfrm>
            <a:off x="5000628" y="5500702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/>
          <p:nvPr/>
        </p:nvCxnSpPr>
        <p:spPr>
          <a:xfrm>
            <a:off x="3786182" y="6357958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/>
          <p:cNvCxnSpPr/>
          <p:nvPr/>
        </p:nvCxnSpPr>
        <p:spPr>
          <a:xfrm>
            <a:off x="3286116" y="6357958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>
            <a:off x="3214678" y="1928802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>
            <a:off x="4429124" y="2714620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/>
          <p:cNvCxnSpPr/>
          <p:nvPr/>
        </p:nvCxnSpPr>
        <p:spPr>
          <a:xfrm>
            <a:off x="5357818" y="3286124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/>
          <p:cNvCxnSpPr/>
          <p:nvPr/>
        </p:nvCxnSpPr>
        <p:spPr>
          <a:xfrm>
            <a:off x="6572264" y="464344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/>
          <p:cNvCxnSpPr/>
          <p:nvPr/>
        </p:nvCxnSpPr>
        <p:spPr>
          <a:xfrm>
            <a:off x="2714612" y="464344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/>
          <p:cNvCxnSpPr/>
          <p:nvPr/>
        </p:nvCxnSpPr>
        <p:spPr>
          <a:xfrm>
            <a:off x="3143240" y="464344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/>
          <p:cNvCxnSpPr/>
          <p:nvPr/>
        </p:nvCxnSpPr>
        <p:spPr>
          <a:xfrm>
            <a:off x="3214678" y="5072074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/>
          <p:cNvCxnSpPr/>
          <p:nvPr/>
        </p:nvCxnSpPr>
        <p:spPr>
          <a:xfrm>
            <a:off x="2714612" y="5072074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/>
          <p:cNvCxnSpPr/>
          <p:nvPr/>
        </p:nvCxnSpPr>
        <p:spPr>
          <a:xfrm>
            <a:off x="1928794" y="3714752"/>
            <a:ext cx="407196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/>
          <p:nvPr/>
        </p:nvCxnSpPr>
        <p:spPr>
          <a:xfrm>
            <a:off x="5000628" y="6858000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/>
          <p:cNvCxnSpPr/>
          <p:nvPr/>
        </p:nvCxnSpPr>
        <p:spPr>
          <a:xfrm>
            <a:off x="4500562" y="6858000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/>
          <p:cNvCxnSpPr/>
          <p:nvPr/>
        </p:nvCxnSpPr>
        <p:spPr>
          <a:xfrm>
            <a:off x="3428992" y="6858000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17213750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8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5" name="مستطيل مستدير الزوايا 4"/>
          <p:cNvSpPr/>
          <p:nvPr/>
        </p:nvSpPr>
        <p:spPr>
          <a:xfrm>
            <a:off x="6894902" y="0"/>
            <a:ext cx="2249098" cy="936104"/>
          </a:xfrm>
          <a:prstGeom prst="roundRect">
            <a:avLst/>
          </a:prstGeom>
          <a:solidFill>
            <a:srgbClr val="99FF6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دافعة </a:t>
            </a:r>
            <a:r>
              <a:rPr lang="ar-DZ" sz="2800" b="1" dirty="0" err="1" smtClean="0">
                <a:solidFill>
                  <a:schemeClr val="bg1"/>
                </a:solidFill>
              </a:rPr>
              <a:t>أرخميدس</a:t>
            </a:r>
            <a:endParaRPr lang="ar-DZ" sz="28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في السوائل</a:t>
            </a:r>
            <a:endParaRPr lang="ar-SA" sz="2800" b="1" dirty="0">
              <a:solidFill>
                <a:schemeClr val="bg1"/>
              </a:solidFill>
            </a:endParaRPr>
          </a:p>
        </p:txBody>
      </p:sp>
      <p:sp>
        <p:nvSpPr>
          <p:cNvPr id="6" name="مستطيل مستدير الزوايا 5"/>
          <p:cNvSpPr/>
          <p:nvPr/>
        </p:nvSpPr>
        <p:spPr>
          <a:xfrm>
            <a:off x="0" y="468052"/>
            <a:ext cx="5981256" cy="2203553"/>
          </a:xfrm>
          <a:prstGeom prst="roundRect">
            <a:avLst/>
          </a:prstGeom>
          <a:solidFill>
            <a:srgbClr val="FF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DZ" sz="3200" b="1" dirty="0" smtClean="0">
                <a:solidFill>
                  <a:srgbClr val="FF0000"/>
                </a:solidFill>
              </a:rPr>
              <a:t>خصائص دافعة </a:t>
            </a:r>
            <a:r>
              <a:rPr lang="ar-DZ" sz="3200" b="1" dirty="0" err="1" smtClean="0">
                <a:solidFill>
                  <a:srgbClr val="FF0000"/>
                </a:solidFill>
              </a:rPr>
              <a:t>أرخميدس</a:t>
            </a:r>
            <a:endParaRPr lang="ar-DZ" sz="32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ـ الحامل </a:t>
            </a:r>
            <a:r>
              <a:rPr lang="ar-DZ" sz="2800" b="1" dirty="0" err="1" smtClean="0">
                <a:solidFill>
                  <a:schemeClr val="bg1"/>
                </a:solidFill>
              </a:rPr>
              <a:t>ـ</a:t>
            </a:r>
            <a:r>
              <a:rPr lang="ar-DZ" sz="2800" b="1" dirty="0" smtClean="0">
                <a:solidFill>
                  <a:schemeClr val="bg1"/>
                </a:solidFill>
              </a:rPr>
              <a:t> الجهة </a:t>
            </a:r>
            <a:r>
              <a:rPr lang="ar-DZ" sz="2800" b="1" dirty="0" err="1" smtClean="0">
                <a:solidFill>
                  <a:schemeClr val="bg1"/>
                </a:solidFill>
              </a:rPr>
              <a:t>ـ</a:t>
            </a:r>
            <a:r>
              <a:rPr lang="ar-DZ" sz="2800" b="1" dirty="0" smtClean="0">
                <a:solidFill>
                  <a:schemeClr val="bg1"/>
                </a:solidFill>
              </a:rPr>
              <a:t> الشدة </a:t>
            </a:r>
            <a:r>
              <a:rPr lang="ar-DZ" sz="2800" b="1" dirty="0" err="1" smtClean="0">
                <a:solidFill>
                  <a:schemeClr val="bg1"/>
                </a:solidFill>
              </a:rPr>
              <a:t>ـ</a:t>
            </a:r>
            <a:r>
              <a:rPr lang="ar-DZ" sz="2800" b="1" dirty="0" smtClean="0">
                <a:solidFill>
                  <a:schemeClr val="bg1"/>
                </a:solidFill>
              </a:rPr>
              <a:t> نقطة التأثير</a:t>
            </a:r>
          </a:p>
          <a:p>
            <a:pPr algn="ctr"/>
            <a:r>
              <a:rPr lang="ar-DZ" sz="3200" b="1" dirty="0" smtClean="0">
                <a:solidFill>
                  <a:srgbClr val="FF0000"/>
                </a:solidFill>
              </a:rPr>
              <a:t>الثقل الظاهري لجسم</a:t>
            </a:r>
          </a:p>
          <a:p>
            <a:pPr algn="ctr"/>
            <a:endParaRPr lang="ar-SA" sz="2800" b="1" dirty="0">
              <a:solidFill>
                <a:srgbClr val="FF0000"/>
              </a:solidFill>
            </a:endParaRPr>
          </a:p>
        </p:txBody>
      </p:sp>
      <p:sp>
        <p:nvSpPr>
          <p:cNvPr id="7" name="مستطيل مستدير الزوايا 6"/>
          <p:cNvSpPr/>
          <p:nvPr/>
        </p:nvSpPr>
        <p:spPr>
          <a:xfrm>
            <a:off x="342418" y="3140968"/>
            <a:ext cx="4176464" cy="1728192"/>
          </a:xfrm>
          <a:prstGeom prst="roundRect">
            <a:avLst/>
          </a:prstGeom>
          <a:solidFill>
            <a:srgbClr val="00FF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DZ" sz="3200" b="1" dirty="0" smtClean="0">
                <a:solidFill>
                  <a:schemeClr val="bg1"/>
                </a:solidFill>
              </a:rPr>
              <a:t>العوامل المؤثرة في شدة دافعة </a:t>
            </a:r>
            <a:r>
              <a:rPr lang="ar-DZ" sz="3200" b="1" dirty="0" err="1" smtClean="0">
                <a:solidFill>
                  <a:schemeClr val="bg1"/>
                </a:solidFill>
              </a:rPr>
              <a:t>أرخميدس</a:t>
            </a:r>
            <a:endParaRPr lang="ar-SA" sz="3200" b="1" dirty="0">
              <a:solidFill>
                <a:schemeClr val="bg1"/>
              </a:solidFill>
            </a:endParaRPr>
          </a:p>
        </p:txBody>
      </p:sp>
      <p:sp>
        <p:nvSpPr>
          <p:cNvPr id="8" name="مستطيل مستدير الزوايا 7"/>
          <p:cNvSpPr/>
          <p:nvPr/>
        </p:nvSpPr>
        <p:spPr>
          <a:xfrm>
            <a:off x="357158" y="5143512"/>
            <a:ext cx="3748566" cy="1379210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DZ" sz="3200" b="1" dirty="0" smtClean="0">
                <a:solidFill>
                  <a:schemeClr val="bg1"/>
                </a:solidFill>
              </a:rPr>
              <a:t>شرط توازن جسم مغمور </a:t>
            </a:r>
          </a:p>
          <a:p>
            <a:pPr algn="ctr"/>
            <a:r>
              <a:rPr lang="ar-DZ" sz="3200" b="1" dirty="0" smtClean="0">
                <a:solidFill>
                  <a:schemeClr val="bg1"/>
                </a:solidFill>
              </a:rPr>
              <a:t>شرط توازن جسم طافي</a:t>
            </a:r>
          </a:p>
          <a:p>
            <a:pPr algn="ctr"/>
            <a:r>
              <a:rPr lang="ar-DZ" sz="3200" b="1" dirty="0" smtClean="0">
                <a:solidFill>
                  <a:schemeClr val="bg1"/>
                </a:solidFill>
              </a:rPr>
              <a:t>في سائل</a:t>
            </a:r>
            <a:endParaRPr lang="ar-SA" sz="3200" b="1" dirty="0">
              <a:solidFill>
                <a:schemeClr val="bg1"/>
              </a:solidFill>
            </a:endParaRPr>
          </a:p>
        </p:txBody>
      </p:sp>
      <p:cxnSp>
        <p:nvCxnSpPr>
          <p:cNvPr id="11" name="رابط كسهم مستقيم 10"/>
          <p:cNvCxnSpPr>
            <a:stCxn id="5" idx="2"/>
            <a:endCxn id="6" idx="3"/>
          </p:cNvCxnSpPr>
          <p:nvPr/>
        </p:nvCxnSpPr>
        <p:spPr>
          <a:xfrm rot="5400000">
            <a:off x="6683492" y="233869"/>
            <a:ext cx="633725" cy="2038195"/>
          </a:xfrm>
          <a:prstGeom prst="straightConnector1">
            <a:avLst/>
          </a:prstGeom>
          <a:ln w="7620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رابط كسهم مستقيم 11"/>
          <p:cNvCxnSpPr>
            <a:stCxn id="5" idx="2"/>
            <a:endCxn id="8" idx="3"/>
          </p:cNvCxnSpPr>
          <p:nvPr/>
        </p:nvCxnSpPr>
        <p:spPr>
          <a:xfrm rot="5400000">
            <a:off x="3614082" y="1427747"/>
            <a:ext cx="4897013" cy="3913727"/>
          </a:xfrm>
          <a:prstGeom prst="straightConnector1">
            <a:avLst/>
          </a:prstGeom>
          <a:ln w="7620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رابط كسهم مستقيم 12"/>
          <p:cNvCxnSpPr>
            <a:stCxn id="5" idx="2"/>
            <a:endCxn id="7" idx="3"/>
          </p:cNvCxnSpPr>
          <p:nvPr/>
        </p:nvCxnSpPr>
        <p:spPr>
          <a:xfrm rot="5400000">
            <a:off x="4734687" y="720300"/>
            <a:ext cx="3068960" cy="3500569"/>
          </a:xfrm>
          <a:prstGeom prst="straightConnector1">
            <a:avLst/>
          </a:prstGeom>
          <a:ln w="7620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07820136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960120" y="2471587"/>
            <a:ext cx="2719701" cy="1384995"/>
          </a:xfrm>
          <a:prstGeom prst="rect">
            <a:avLst/>
          </a:prstGeom>
          <a:solidFill>
            <a:srgbClr val="FFCC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ar-DZ" sz="2800" b="1" dirty="0" err="1" smtClean="0">
                <a:ln w="10541" cmpd="sng">
                  <a:solidFill>
                    <a:srgbClr val="3891A7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schemeClr val="bg2"/>
                </a:solidFill>
              </a:rPr>
              <a:t>ماهي</a:t>
            </a:r>
            <a:r>
              <a:rPr lang="ar-DZ" sz="2800" b="1" dirty="0" smtClean="0">
                <a:ln w="10541" cmpd="sng">
                  <a:solidFill>
                    <a:srgbClr val="3891A7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schemeClr val="bg2"/>
                </a:solidFill>
              </a:rPr>
              <a:t> العوامل المؤثرة في</a:t>
            </a:r>
          </a:p>
          <a:p>
            <a:pPr algn="ctr" rtl="1"/>
            <a:r>
              <a:rPr lang="ar-DZ" sz="2800" b="1" dirty="0" smtClean="0">
                <a:ln w="10541" cmpd="sng">
                  <a:solidFill>
                    <a:srgbClr val="3891A7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schemeClr val="bg2"/>
                </a:solidFill>
              </a:rPr>
              <a:t>شدة دافعة </a:t>
            </a:r>
            <a:r>
              <a:rPr lang="ar-DZ" sz="2800" b="1" dirty="0" err="1" smtClean="0">
                <a:ln w="10541" cmpd="sng">
                  <a:solidFill>
                    <a:srgbClr val="3891A7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schemeClr val="bg2"/>
                </a:solidFill>
              </a:rPr>
              <a:t>أرخميدس</a:t>
            </a:r>
            <a:r>
              <a:rPr lang="ar-DZ" sz="2800" b="1" dirty="0" smtClean="0">
                <a:ln w="10541" cmpd="sng">
                  <a:solidFill>
                    <a:srgbClr val="3891A7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schemeClr val="bg2"/>
                </a:solidFill>
              </a:rPr>
              <a:t>؟</a:t>
            </a:r>
            <a:endParaRPr lang="fr-FR" sz="2800" b="1" dirty="0">
              <a:ln w="10541" cmpd="sng">
                <a:solidFill>
                  <a:srgbClr val="3891A7">
                    <a:shade val="88000"/>
                    <a:satMod val="110000"/>
                  </a:srgbClr>
                </a:solidFill>
                <a:prstDash val="solid"/>
              </a:ln>
              <a:solidFill>
                <a:schemeClr val="bg2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5292080" y="428604"/>
            <a:ext cx="3423324" cy="735747"/>
          </a:xfrm>
          <a:prstGeom prst="ellipse">
            <a:avLst/>
          </a:prstGeom>
          <a:solidFill>
            <a:srgbClr val="00FF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 rtl="1"/>
            <a:r>
              <a:rPr lang="ar-DZ" sz="2800" b="1" cap="all" dirty="0" smtClean="0">
                <a:ln w="0"/>
                <a:solidFill>
                  <a:srgbClr val="FF0000"/>
                </a:solidFill>
                <a:effectLst>
                  <a:reflection blurRad="12700" stA="50000" endPos="50000" dist="5000" dir="5400000" sy="-100000" rotWithShape="0"/>
                </a:effectLst>
                <a:latin typeface="Arabic Transparent" pitchFamily="34" charset="0"/>
                <a:cs typeface="Arabic Transparent" pitchFamily="34" charset="0"/>
              </a:rPr>
              <a:t>عمق الجسم</a:t>
            </a:r>
            <a:r>
              <a:rPr lang="ar-DZ" sz="2400" b="1" cap="all" dirty="0" smtClean="0">
                <a:ln w="0"/>
                <a:solidFill>
                  <a:srgbClr val="FF0000"/>
                </a:solidFill>
                <a:effectLst>
                  <a:reflection blurRad="12700" stA="50000" endPos="50000" dist="5000" dir="5400000" sy="-100000" rotWithShape="0"/>
                </a:effectLst>
                <a:latin typeface="Arabic Transparent" pitchFamily="34" charset="0"/>
                <a:cs typeface="Arabic Transparent" pitchFamily="34" charset="0"/>
              </a:rPr>
              <a:t>(الوضع)</a:t>
            </a:r>
            <a:endParaRPr lang="fr-FR" sz="2400" b="1" cap="all" dirty="0">
              <a:ln w="0"/>
              <a:solidFill>
                <a:srgbClr val="FF0000"/>
              </a:solidFill>
              <a:effectLst>
                <a:reflection blurRad="12700" stA="50000" endPos="50000" dist="5000" dir="5400000" sy="-100000" rotWithShape="0"/>
              </a:effectLst>
              <a:latin typeface="Arabic Transparent" pitchFamily="34" charset="0"/>
              <a:cs typeface="Arabic Transparent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432" y="428605"/>
            <a:ext cx="2592288" cy="1341656"/>
          </a:xfrm>
          <a:prstGeom prst="ellipse">
            <a:avLst/>
          </a:prstGeom>
          <a:solidFill>
            <a:srgbClr val="00FF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 rtl="1"/>
            <a:r>
              <a:rPr lang="ar-DZ" sz="2800" b="1" cap="all" dirty="0" smtClean="0">
                <a:ln w="0"/>
                <a:solidFill>
                  <a:srgbClr val="FF0000"/>
                </a:solidFill>
                <a:effectLst>
                  <a:reflection blurRad="12700" stA="50000" endPos="50000" dist="5000" dir="5400000" sy="-100000" rotWithShape="0"/>
                </a:effectLst>
                <a:latin typeface="Arabic Transparent" pitchFamily="34" charset="0"/>
                <a:cs typeface="Arabic Transparent" pitchFamily="34" charset="0"/>
              </a:rPr>
              <a:t>حجم الجسم المغمور</a:t>
            </a:r>
            <a:endParaRPr lang="fr-FR" sz="2800" b="1" cap="all" dirty="0">
              <a:ln w="0"/>
              <a:solidFill>
                <a:srgbClr val="FF0000"/>
              </a:solidFill>
              <a:effectLst>
                <a:reflection blurRad="12700" stA="50000" endPos="50000" dist="5000" dir="5400000" sy="-100000" rotWithShape="0"/>
              </a:effectLst>
              <a:latin typeface="Arabic Transparent" pitchFamily="34" charset="0"/>
              <a:cs typeface="Arabic Transparent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012160" y="3552392"/>
            <a:ext cx="3203848" cy="735747"/>
          </a:xfrm>
          <a:prstGeom prst="ellipse">
            <a:avLst/>
          </a:prstGeom>
          <a:solidFill>
            <a:srgbClr val="00FF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 rtl="1"/>
            <a:r>
              <a:rPr lang="ar-DZ" sz="2800" b="1" cap="all" dirty="0" smtClean="0">
                <a:ln w="0"/>
                <a:solidFill>
                  <a:srgbClr val="FF0000"/>
                </a:solidFill>
                <a:effectLst>
                  <a:reflection blurRad="12700" stA="50000" endPos="50000" dist="5000" dir="5400000" sy="-100000" rotWithShape="0"/>
                </a:effectLst>
                <a:latin typeface="Arabic Transparent" pitchFamily="34" charset="0"/>
                <a:cs typeface="Arabic Transparent" pitchFamily="34" charset="0"/>
              </a:rPr>
              <a:t>كتلة الجسم</a:t>
            </a:r>
            <a:endParaRPr lang="fr-FR" sz="2800" b="1" cap="all" dirty="0">
              <a:ln w="0"/>
              <a:solidFill>
                <a:srgbClr val="FF0000"/>
              </a:solidFill>
              <a:effectLst>
                <a:reflection blurRad="12700" stA="50000" endPos="50000" dist="5000" dir="5400000" sy="-100000" rotWithShape="0"/>
              </a:effectLst>
              <a:latin typeface="Arabic Transparent" pitchFamily="34" charset="0"/>
              <a:cs typeface="Arabic Transparent" pitchFamily="34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5600" y="4572008"/>
            <a:ext cx="3679144" cy="735747"/>
          </a:xfrm>
          <a:prstGeom prst="ellipse">
            <a:avLst/>
          </a:prstGeom>
          <a:solidFill>
            <a:srgbClr val="00FF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 rtl="1"/>
            <a:r>
              <a:rPr lang="ar-DZ" sz="2800" b="1" cap="all" dirty="0" smtClean="0">
                <a:ln w="0"/>
                <a:solidFill>
                  <a:srgbClr val="FF0000"/>
                </a:solidFill>
                <a:effectLst>
                  <a:reflection blurRad="12700" stA="50000" endPos="50000" dist="5000" dir="5400000" sy="-100000" rotWithShape="0"/>
                </a:effectLst>
                <a:latin typeface="Arabic Transparent" pitchFamily="34" charset="0"/>
                <a:cs typeface="Arabic Transparent" pitchFamily="34" charset="0"/>
              </a:rPr>
              <a:t>طبيعة السائل</a:t>
            </a:r>
            <a:r>
              <a:rPr lang="ar-DZ" sz="1600" b="1" cap="all" dirty="0" smtClean="0">
                <a:ln w="0"/>
                <a:solidFill>
                  <a:srgbClr val="FF0000"/>
                </a:solidFill>
                <a:effectLst>
                  <a:reflection blurRad="12700" stA="50000" endPos="50000" dist="5000" dir="5400000" sy="-100000" rotWithShape="0"/>
                </a:effectLst>
                <a:latin typeface="Arabic Transparent" pitchFamily="34" charset="0"/>
                <a:cs typeface="Arabic Transparent" pitchFamily="34" charset="0"/>
              </a:rPr>
              <a:t>(</a:t>
            </a:r>
            <a:r>
              <a:rPr lang="ar-DZ" sz="2400" b="1" cap="all" dirty="0" smtClean="0">
                <a:ln w="0"/>
                <a:solidFill>
                  <a:srgbClr val="FF0000"/>
                </a:solidFill>
                <a:effectLst>
                  <a:reflection blurRad="12700" stA="50000" endPos="50000" dist="5000" dir="5400000" sy="-100000" rotWithShape="0"/>
                </a:effectLst>
                <a:latin typeface="Arabic Transparent" pitchFamily="34" charset="0"/>
                <a:cs typeface="Arabic Transparent" pitchFamily="34" charset="0"/>
              </a:rPr>
              <a:t>كح</a:t>
            </a:r>
            <a:r>
              <a:rPr lang="ar-DZ" sz="1600" b="1" cap="all" dirty="0" smtClean="0">
                <a:ln w="0"/>
                <a:solidFill>
                  <a:srgbClr val="FF0000"/>
                </a:solidFill>
                <a:effectLst>
                  <a:reflection blurRad="12700" stA="50000" endPos="50000" dist="5000" dir="5400000" sy="-100000" rotWithShape="0"/>
                </a:effectLst>
                <a:latin typeface="Arabic Transparent" pitchFamily="34" charset="0"/>
                <a:cs typeface="Arabic Transparent" pitchFamily="34" charset="0"/>
              </a:rPr>
              <a:t>، </a:t>
            </a:r>
            <a:r>
              <a:rPr lang="ar-DZ" sz="2400" b="1" cap="all" dirty="0" smtClean="0">
                <a:ln w="0"/>
                <a:solidFill>
                  <a:srgbClr val="FF0000"/>
                </a:solidFill>
                <a:effectLst>
                  <a:reflection blurRad="12700" stA="50000" endPos="50000" dist="5000" dir="5400000" sy="-100000" rotWithShape="0"/>
                </a:effectLst>
                <a:latin typeface="Arabic Transparent" pitchFamily="34" charset="0"/>
                <a:cs typeface="Arabic Transparent" pitchFamily="34" charset="0"/>
              </a:rPr>
              <a:t>كث</a:t>
            </a:r>
            <a:r>
              <a:rPr lang="ar-DZ" sz="1600" b="1" cap="all" dirty="0" smtClean="0">
                <a:ln w="0"/>
                <a:solidFill>
                  <a:srgbClr val="FF0000"/>
                </a:solidFill>
                <a:effectLst>
                  <a:reflection blurRad="12700" stA="50000" endPos="50000" dist="5000" dir="5400000" sy="-100000" rotWithShape="0"/>
                </a:effectLst>
                <a:latin typeface="Arabic Transparent" pitchFamily="34" charset="0"/>
                <a:cs typeface="Arabic Transparent" pitchFamily="34" charset="0"/>
              </a:rPr>
              <a:t>)</a:t>
            </a:r>
            <a:endParaRPr lang="fr-FR" sz="2800" b="1" i="1" cap="all" dirty="0">
              <a:ln w="0"/>
              <a:solidFill>
                <a:srgbClr val="FF0000"/>
              </a:solidFill>
              <a:effectLst>
                <a:reflection blurRad="12700" stA="50000" endPos="50000" dist="5000" dir="5400000" sy="-100000" rotWithShape="0"/>
              </a:effectLst>
              <a:latin typeface="Arabic Transparent" pitchFamily="34" charset="0"/>
              <a:cs typeface="Arabic Transparent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86182" y="5357826"/>
            <a:ext cx="4000528" cy="735747"/>
          </a:xfrm>
          <a:prstGeom prst="ellipse">
            <a:avLst/>
          </a:prstGeom>
          <a:solidFill>
            <a:srgbClr val="00FFF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 rtl="1"/>
            <a:r>
              <a:rPr lang="ar-DZ" sz="2800" b="1" cap="all" dirty="0" smtClean="0">
                <a:ln w="0"/>
                <a:solidFill>
                  <a:srgbClr val="FF0000"/>
                </a:solidFill>
                <a:effectLst>
                  <a:reflection blurRad="12700" stA="50000" endPos="50000" dist="5000" dir="5400000" sy="-100000" rotWithShape="0"/>
                </a:effectLst>
                <a:latin typeface="Arabic Transparent" pitchFamily="34" charset="0"/>
                <a:cs typeface="Arabic Transparent" pitchFamily="34" charset="0"/>
              </a:rPr>
              <a:t>شكل الجسم</a:t>
            </a:r>
            <a:endParaRPr lang="fr-FR" sz="2800" b="1" cap="all" dirty="0">
              <a:ln w="0"/>
              <a:solidFill>
                <a:srgbClr val="FF0000"/>
              </a:solidFill>
              <a:effectLst>
                <a:reflection blurRad="12700" stA="50000" endPos="50000" dist="5000" dir="5400000" sy="-100000" rotWithShape="0"/>
              </a:effectLst>
              <a:latin typeface="Arabic Transparent" pitchFamily="34" charset="0"/>
              <a:cs typeface="Arabic Transparent" pitchFamily="34" charset="0"/>
            </a:endParaRPr>
          </a:p>
        </p:txBody>
      </p:sp>
      <p:sp>
        <p:nvSpPr>
          <p:cNvPr id="10" name="سهم للأسفل 9"/>
          <p:cNvSpPr/>
          <p:nvPr/>
        </p:nvSpPr>
        <p:spPr>
          <a:xfrm rot="3017982">
            <a:off x="2894527" y="3742618"/>
            <a:ext cx="360040" cy="1008112"/>
          </a:xfrm>
          <a:prstGeom prst="downArrow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1" name="سهم للأسفل 10"/>
          <p:cNvSpPr/>
          <p:nvPr/>
        </p:nvSpPr>
        <p:spPr>
          <a:xfrm rot="20065986">
            <a:off x="4772377" y="3869647"/>
            <a:ext cx="360040" cy="1341364"/>
          </a:xfrm>
          <a:prstGeom prst="downArrow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2" name="سهم للأسفل 11"/>
          <p:cNvSpPr/>
          <p:nvPr/>
        </p:nvSpPr>
        <p:spPr>
          <a:xfrm rot="8854316">
            <a:off x="2759952" y="1342884"/>
            <a:ext cx="360040" cy="1008112"/>
          </a:xfrm>
          <a:prstGeom prst="downArrow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3" name="سهم للأسفل 12"/>
          <p:cNvSpPr/>
          <p:nvPr/>
        </p:nvSpPr>
        <p:spPr>
          <a:xfrm rot="18411962">
            <a:off x="6130234" y="2877232"/>
            <a:ext cx="360040" cy="1008112"/>
          </a:xfrm>
          <a:prstGeom prst="downArrow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4" name="سهم للأسفل 13"/>
          <p:cNvSpPr/>
          <p:nvPr/>
        </p:nvSpPr>
        <p:spPr>
          <a:xfrm rot="14019434">
            <a:off x="5619053" y="1439833"/>
            <a:ext cx="360040" cy="1008112"/>
          </a:xfrm>
          <a:prstGeom prst="downArrow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="" xmlns:p14="http://schemas.microsoft.com/office/powerpoint/2010/main" val="15176759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chemin horizontal 4"/>
          <p:cNvSpPr/>
          <p:nvPr/>
        </p:nvSpPr>
        <p:spPr bwMode="auto">
          <a:xfrm>
            <a:off x="1181101" y="1058863"/>
            <a:ext cx="6497078" cy="1379247"/>
          </a:xfrm>
          <a:prstGeom prst="horizontalScroll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3200" b="1" dirty="0" smtClean="0">
                <a:solidFill>
                  <a:srgbClr val="0066CC">
                    <a:lumMod val="75000"/>
                  </a:srgbClr>
                </a:solidFill>
              </a:rPr>
              <a:t>نظرية </a:t>
            </a:r>
            <a:r>
              <a:rPr lang="ar-DZ" sz="3200" b="1" dirty="0" err="1" smtClean="0">
                <a:solidFill>
                  <a:srgbClr val="0066CC">
                    <a:lumMod val="75000"/>
                  </a:srgbClr>
                </a:solidFill>
              </a:rPr>
              <a:t>أرخميدس</a:t>
            </a:r>
            <a:endParaRPr lang="fr-FR" sz="3200" b="1" dirty="0">
              <a:solidFill>
                <a:srgbClr val="0066CC">
                  <a:lumMod val="75000"/>
                </a:srgbClr>
              </a:solidFill>
            </a:endParaRPr>
          </a:p>
        </p:txBody>
      </p:sp>
      <p:sp>
        <p:nvSpPr>
          <p:cNvPr id="9" name="Parchemin horizontal 8"/>
          <p:cNvSpPr/>
          <p:nvPr/>
        </p:nvSpPr>
        <p:spPr bwMode="auto">
          <a:xfrm>
            <a:off x="1528139" y="2686494"/>
            <a:ext cx="5508135" cy="3600026"/>
          </a:xfrm>
          <a:prstGeom prst="horizontalScroll">
            <a:avLst/>
          </a:prstGeom>
          <a:solidFill>
            <a:srgbClr val="99FF66"/>
          </a:solidFill>
          <a:ln w="12700" cap="sq" cmpd="sng" algn="ctr">
            <a:solidFill>
              <a:schemeClr val="bg2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3200" b="1" dirty="0" smtClean="0">
                <a:solidFill>
                  <a:srgbClr val="0066CC">
                    <a:lumMod val="75000"/>
                  </a:srgbClr>
                </a:solidFill>
              </a:rPr>
              <a:t>يخضع كل جسم مغمور في مائع متوازن </a:t>
            </a:r>
            <a:r>
              <a:rPr lang="ar-DZ" sz="3200" b="1" dirty="0" err="1" smtClean="0">
                <a:solidFill>
                  <a:srgbClr val="0066CC">
                    <a:lumMod val="75000"/>
                  </a:srgbClr>
                </a:solidFill>
              </a:rPr>
              <a:t>الى</a:t>
            </a:r>
            <a:r>
              <a:rPr lang="ar-DZ" sz="3200" b="1" dirty="0" smtClean="0">
                <a:solidFill>
                  <a:srgbClr val="0066CC">
                    <a:lumMod val="75000"/>
                  </a:srgbClr>
                </a:solidFill>
              </a:rPr>
              <a:t> قوة حاملها </a:t>
            </a:r>
            <a:r>
              <a:rPr lang="ar-DZ" sz="3200" b="1" dirty="0" err="1" smtClean="0">
                <a:solidFill>
                  <a:srgbClr val="0066CC">
                    <a:lumMod val="75000"/>
                  </a:srgbClr>
                </a:solidFill>
              </a:rPr>
              <a:t>شاقولي</a:t>
            </a:r>
            <a:r>
              <a:rPr lang="ar-DZ" sz="3200" b="1" dirty="0" smtClean="0">
                <a:solidFill>
                  <a:srgbClr val="0066CC">
                    <a:lumMod val="75000"/>
                  </a:srgbClr>
                </a:solidFill>
              </a:rPr>
              <a:t>،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3200" b="1" dirty="0" smtClean="0">
                <a:solidFill>
                  <a:srgbClr val="0066CC">
                    <a:lumMod val="75000"/>
                  </a:srgbClr>
                </a:solidFill>
              </a:rPr>
              <a:t>جهتها للأعلى، شدتها تساوي شدة </a:t>
            </a:r>
            <a:endParaRPr lang="fr-FR" sz="3200" b="1" dirty="0" smtClean="0">
              <a:solidFill>
                <a:srgbClr val="0066CC">
                  <a:lumMod val="75000"/>
                </a:srgbClr>
              </a:solidFill>
            </a:endParaRPr>
          </a:p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3200" b="1" dirty="0" smtClean="0">
                <a:solidFill>
                  <a:srgbClr val="0066CC">
                    <a:lumMod val="75000"/>
                  </a:srgbClr>
                </a:solidFill>
              </a:rPr>
              <a:t>ثقل المائع المزاح</a:t>
            </a:r>
            <a:r>
              <a:rPr lang="fr-FR" sz="3200" b="1" dirty="0" smtClean="0">
                <a:solidFill>
                  <a:srgbClr val="0066CC">
                    <a:lumMod val="75000"/>
                  </a:srgbClr>
                </a:solidFill>
              </a:rPr>
              <a:t> </a:t>
            </a:r>
          </a:p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fr-FR" sz="3200" b="1" dirty="0" smtClean="0">
                <a:solidFill>
                  <a:srgbClr val="0066CC">
                    <a:lumMod val="75000"/>
                  </a:srgbClr>
                </a:solidFill>
              </a:rPr>
              <a:t>F</a:t>
            </a:r>
            <a:r>
              <a:rPr lang="fr-FR" sz="2000" b="1" dirty="0" smtClean="0">
                <a:solidFill>
                  <a:srgbClr val="0066CC">
                    <a:lumMod val="75000"/>
                  </a:srgbClr>
                </a:solidFill>
              </a:rPr>
              <a:t>a</a:t>
            </a:r>
            <a:r>
              <a:rPr lang="fr-FR" sz="2800" b="1" dirty="0" smtClean="0">
                <a:solidFill>
                  <a:srgbClr val="0066CC">
                    <a:lumMod val="75000"/>
                  </a:srgbClr>
                </a:solidFill>
              </a:rPr>
              <a:t> = </a:t>
            </a:r>
            <a:r>
              <a:rPr lang="fr-FR" sz="2800" b="1" i="1" dirty="0" smtClean="0">
                <a:solidFill>
                  <a:srgbClr val="0066CC">
                    <a:lumMod val="75000"/>
                  </a:srgbClr>
                </a:solidFill>
              </a:rPr>
              <a:t>p</a:t>
            </a:r>
            <a:r>
              <a:rPr lang="fr-FR" sz="2800" b="1" dirty="0" smtClean="0">
                <a:solidFill>
                  <a:srgbClr val="0066CC">
                    <a:lumMod val="75000"/>
                  </a:srgbClr>
                </a:solidFill>
              </a:rPr>
              <a:t>  V  g</a:t>
            </a:r>
            <a:endParaRPr lang="fr-FR" sz="3200" b="1" dirty="0" smtClean="0">
              <a:solidFill>
                <a:srgbClr val="0066CC">
                  <a:lumMod val="75000"/>
                </a:srgbClr>
              </a:solidFill>
            </a:endParaRPr>
          </a:p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ar-DZ" sz="3200" b="1" dirty="0">
              <a:solidFill>
                <a:srgbClr val="0066CC">
                  <a:lumMod val="75000"/>
                </a:srgbClr>
              </a:solidFill>
            </a:endParaRPr>
          </a:p>
        </p:txBody>
      </p:sp>
      <p:sp>
        <p:nvSpPr>
          <p:cNvPr id="13" name="Flèche vers le bas 12"/>
          <p:cNvSpPr>
            <a:spLocks noChangeArrowheads="1"/>
          </p:cNvSpPr>
          <p:nvPr/>
        </p:nvSpPr>
        <p:spPr bwMode="auto">
          <a:xfrm>
            <a:off x="4273009" y="2264220"/>
            <a:ext cx="401638" cy="422275"/>
          </a:xfrm>
          <a:prstGeom prst="downArrow">
            <a:avLst>
              <a:gd name="adj1" fmla="val 50000"/>
              <a:gd name="adj2" fmla="val 50004"/>
            </a:avLst>
          </a:prstGeom>
          <a:solidFill>
            <a:schemeClr val="bg2"/>
          </a:solidFill>
          <a:ln w="12700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altLang="fr-FR" sz="2400" b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5105820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051720" y="0"/>
            <a:ext cx="5245044" cy="646331"/>
          </a:xfrm>
          <a:prstGeom prst="rect">
            <a:avLst/>
          </a:prstGeom>
          <a:solidFill>
            <a:srgbClr val="00FF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ar-DZ" sz="36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تنبيه</a:t>
            </a:r>
            <a:endParaRPr lang="fr-FR" sz="3600" b="1" dirty="0">
              <a:ln w="18415" cmpd="sng">
                <a:solidFill>
                  <a:srgbClr val="FFFFFF"/>
                </a:solidFill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194866" y="712391"/>
            <a:ext cx="3222345" cy="1077218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ar-DZ" sz="3200" b="1" dirty="0" smtClean="0">
                <a:solidFill>
                  <a:prstClr val="white"/>
                </a:solidFill>
              </a:rPr>
              <a:t>تطبيق نظرية </a:t>
            </a:r>
            <a:r>
              <a:rPr lang="ar-DZ" sz="3200" b="1" dirty="0" err="1" smtClean="0">
                <a:solidFill>
                  <a:prstClr val="white"/>
                </a:solidFill>
              </a:rPr>
              <a:t>أرخميدس</a:t>
            </a:r>
            <a:endParaRPr lang="fr-FR" sz="3200" b="1" dirty="0">
              <a:solidFill>
                <a:prstClr val="white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417211" y="2455330"/>
            <a:ext cx="2376264" cy="830997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ar-DZ" sz="2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0000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abic Transparent" pitchFamily="34" charset="0"/>
                <a:cs typeface="Arabic Transparent" pitchFamily="34" charset="0"/>
              </a:rPr>
              <a:t>تطبق على الأجسام المغمورة</a:t>
            </a:r>
            <a:endParaRPr lang="fr-FR" sz="2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0000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abic Transparent" pitchFamily="34" charset="0"/>
              <a:cs typeface="Arabic Transparent" pitchFamily="34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0" y="2071678"/>
            <a:ext cx="3000364" cy="1200329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ar-DZ" sz="2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abic Transparent" pitchFamily="34" charset="0"/>
                <a:cs typeface="Arabic Transparent" pitchFamily="34" charset="0"/>
              </a:rPr>
              <a:t>تعمم على الأجسام الطافية</a:t>
            </a:r>
          </a:p>
          <a:p>
            <a:pPr algn="ctr" rtl="1"/>
            <a:r>
              <a:rPr lang="ar-DZ" sz="2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abic Transparent" pitchFamily="34" charset="0"/>
                <a:cs typeface="Arabic Transparent" pitchFamily="34" charset="0"/>
              </a:rPr>
              <a:t>(الجسم الطافي مغمور في مائعين هما السائل والهواء)</a:t>
            </a:r>
            <a:endParaRPr lang="fr-FR" sz="2400" dirty="0">
              <a:ln w="18415" cmpd="sng">
                <a:solidFill>
                  <a:srgbClr val="FFFFFF"/>
                </a:solidFill>
                <a:prstDash val="solid"/>
              </a:ln>
              <a:solidFill>
                <a:prstClr val="black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abic Transparent" pitchFamily="34" charset="0"/>
              <a:cs typeface="Arabic Transparent" pitchFamily="34" charset="0"/>
            </a:endParaRPr>
          </a:p>
        </p:txBody>
      </p:sp>
      <p:cxnSp>
        <p:nvCxnSpPr>
          <p:cNvPr id="11" name="Connecteur droit avec flèche 10"/>
          <p:cNvCxnSpPr/>
          <p:nvPr/>
        </p:nvCxnSpPr>
        <p:spPr>
          <a:xfrm rot="5400000">
            <a:off x="3404977" y="1381313"/>
            <a:ext cx="996449" cy="18056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 rot="16200000" flipH="1">
            <a:off x="5051290" y="1520950"/>
            <a:ext cx="1081220" cy="161117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09272466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946024" y="10572"/>
            <a:ext cx="7772400" cy="685800"/>
          </a:xfrm>
        </p:spPr>
        <p:txBody>
          <a:bodyPr/>
          <a:lstStyle/>
          <a:p>
            <a:pPr algn="ctr" rtl="1">
              <a:defRPr/>
            </a:pPr>
            <a:r>
              <a:rPr lang="ar-DZ" sz="3600" dirty="0" smtClean="0">
                <a:solidFill>
                  <a:schemeClr val="bg2"/>
                </a:solidFill>
              </a:rPr>
              <a:t> </a:t>
            </a:r>
            <a:endParaRPr lang="fr-FR" sz="3600" dirty="0" smtClean="0">
              <a:solidFill>
                <a:schemeClr val="bg2"/>
              </a:solidFill>
            </a:endParaRPr>
          </a:p>
        </p:txBody>
      </p:sp>
      <p:sp>
        <p:nvSpPr>
          <p:cNvPr id="5" name="Parchemin horizontal 4"/>
          <p:cNvSpPr/>
          <p:nvPr/>
        </p:nvSpPr>
        <p:spPr bwMode="auto">
          <a:xfrm>
            <a:off x="406588" y="828759"/>
            <a:ext cx="8484812" cy="1209467"/>
          </a:xfrm>
          <a:prstGeom prst="horizontalScroll">
            <a:avLst/>
          </a:prstGeom>
          <a:solidFill>
            <a:srgbClr val="FF0066"/>
          </a:solidFill>
          <a:ln w="12700" cap="sq" cmpd="sng" algn="ctr">
            <a:solidFill>
              <a:schemeClr val="bg2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3200" b="1" dirty="0" smtClean="0"/>
              <a:t>شدة دافعة </a:t>
            </a:r>
            <a:r>
              <a:rPr lang="ar-DZ" sz="3200" b="1" dirty="0" err="1" smtClean="0"/>
              <a:t>أرخميدس</a:t>
            </a:r>
            <a:endParaRPr lang="fr-FR" sz="3200" b="1" dirty="0"/>
          </a:p>
        </p:txBody>
      </p:sp>
      <p:sp>
        <p:nvSpPr>
          <p:cNvPr id="6" name="Parchemin horizontal 5"/>
          <p:cNvSpPr/>
          <p:nvPr/>
        </p:nvSpPr>
        <p:spPr bwMode="auto">
          <a:xfrm>
            <a:off x="1240105" y="3924977"/>
            <a:ext cx="7028725" cy="1315498"/>
          </a:xfrm>
          <a:prstGeom prst="horizontalScroll">
            <a:avLst/>
          </a:prstGeom>
          <a:solidFill>
            <a:srgbClr val="FF0066"/>
          </a:solidFill>
          <a:ln w="12700" cap="sq" cmpd="sng" algn="ctr">
            <a:solidFill>
              <a:schemeClr val="bg2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3200" b="1" dirty="0"/>
              <a:t> </a:t>
            </a:r>
            <a:r>
              <a:rPr lang="fr-FR" sz="4000" b="1" i="1" dirty="0" smtClean="0"/>
              <a:t>F</a:t>
            </a:r>
            <a:r>
              <a:rPr lang="fr-FR" sz="2000" b="1" i="1" dirty="0" smtClean="0"/>
              <a:t>a</a:t>
            </a:r>
            <a:r>
              <a:rPr lang="fr-FR" sz="4000" b="1" i="1" dirty="0" smtClean="0"/>
              <a:t> = m</a:t>
            </a:r>
            <a:r>
              <a:rPr lang="fr-FR" sz="2000" b="1" i="1" dirty="0" smtClean="0"/>
              <a:t>(l)</a:t>
            </a:r>
            <a:r>
              <a:rPr lang="fr-FR" sz="4000" b="1" i="1" dirty="0" smtClean="0"/>
              <a:t>  g</a:t>
            </a:r>
            <a:endParaRPr lang="fr-FR" sz="4000" i="1" dirty="0"/>
          </a:p>
        </p:txBody>
      </p:sp>
      <p:sp>
        <p:nvSpPr>
          <p:cNvPr id="9" name="Parchemin horizontal 8"/>
          <p:cNvSpPr/>
          <p:nvPr/>
        </p:nvSpPr>
        <p:spPr bwMode="auto">
          <a:xfrm>
            <a:off x="1000100" y="2357430"/>
            <a:ext cx="7729660" cy="1324484"/>
          </a:xfrm>
          <a:prstGeom prst="horizontalScroll">
            <a:avLst/>
          </a:prstGeom>
          <a:solidFill>
            <a:srgbClr val="FF0066"/>
          </a:solidFill>
          <a:ln w="12700" cap="sq" cmpd="sng" algn="ctr">
            <a:solidFill>
              <a:schemeClr val="bg2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fr-FR" sz="4000" b="1" dirty="0" smtClean="0"/>
              <a:t>F</a:t>
            </a:r>
            <a:r>
              <a:rPr lang="fr-FR" sz="2000" b="1" i="1" dirty="0" smtClean="0"/>
              <a:t>a</a:t>
            </a:r>
            <a:r>
              <a:rPr lang="fr-FR" sz="4000" b="1" i="1" dirty="0" smtClean="0"/>
              <a:t> =  </a:t>
            </a:r>
            <a:r>
              <a:rPr lang="fr-FR" sz="4000" b="1" dirty="0" smtClean="0"/>
              <a:t>P</a:t>
            </a:r>
            <a:r>
              <a:rPr lang="fr-FR" sz="2000" b="1" i="1" dirty="0" smtClean="0"/>
              <a:t>( l )</a:t>
            </a:r>
            <a:endParaRPr lang="fr-FR" sz="4000" i="1" dirty="0"/>
          </a:p>
        </p:txBody>
      </p:sp>
      <p:sp>
        <p:nvSpPr>
          <p:cNvPr id="10" name="Flèche vers le bas 9"/>
          <p:cNvSpPr>
            <a:spLocks noChangeArrowheads="1"/>
          </p:cNvSpPr>
          <p:nvPr/>
        </p:nvSpPr>
        <p:spPr bwMode="auto">
          <a:xfrm>
            <a:off x="4555237" y="3652044"/>
            <a:ext cx="400050" cy="420688"/>
          </a:xfrm>
          <a:prstGeom prst="downArrow">
            <a:avLst>
              <a:gd name="adj1" fmla="val 50000"/>
              <a:gd name="adj2" fmla="val 50014"/>
            </a:avLst>
          </a:prstGeom>
          <a:solidFill>
            <a:schemeClr val="bg2"/>
          </a:solidFill>
          <a:ln w="12700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altLang="fr-FR" sz="2400" b="0">
              <a:solidFill>
                <a:srgbClr val="C00000"/>
              </a:solidFill>
            </a:endParaRPr>
          </a:p>
        </p:txBody>
      </p:sp>
      <p:sp>
        <p:nvSpPr>
          <p:cNvPr id="13" name="Flèche vers le bas 12"/>
          <p:cNvSpPr>
            <a:spLocks noChangeArrowheads="1"/>
          </p:cNvSpPr>
          <p:nvPr/>
        </p:nvSpPr>
        <p:spPr bwMode="auto">
          <a:xfrm>
            <a:off x="4553649" y="2012950"/>
            <a:ext cx="401638" cy="422275"/>
          </a:xfrm>
          <a:prstGeom prst="downArrow">
            <a:avLst>
              <a:gd name="adj1" fmla="val 50000"/>
              <a:gd name="adj2" fmla="val 50004"/>
            </a:avLst>
          </a:prstGeom>
          <a:solidFill>
            <a:schemeClr val="bg2"/>
          </a:solidFill>
          <a:ln w="12700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altLang="fr-FR" sz="2400" b="0">
              <a:solidFill>
                <a:srgbClr val="C00000"/>
              </a:solidFill>
            </a:endParaRPr>
          </a:p>
        </p:txBody>
      </p:sp>
      <p:sp>
        <p:nvSpPr>
          <p:cNvPr id="8" name="Parchemin horizontal 7"/>
          <p:cNvSpPr/>
          <p:nvPr/>
        </p:nvSpPr>
        <p:spPr bwMode="auto">
          <a:xfrm>
            <a:off x="1879134" y="5531719"/>
            <a:ext cx="5539720" cy="1326281"/>
          </a:xfrm>
          <a:prstGeom prst="horizontalScroll">
            <a:avLst/>
          </a:prstGeom>
          <a:solidFill>
            <a:srgbClr val="FF0066"/>
          </a:solidFill>
          <a:ln w="12700" cap="sq" cmpd="sng" algn="ctr">
            <a:solidFill>
              <a:schemeClr val="bg2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fr-FR" sz="4000" b="1" dirty="0" smtClean="0"/>
              <a:t>F</a:t>
            </a:r>
            <a:r>
              <a:rPr lang="fr-FR" sz="2000" b="1" dirty="0" smtClean="0"/>
              <a:t>a</a:t>
            </a:r>
            <a:r>
              <a:rPr lang="fr-FR" sz="2000" b="1" i="1" dirty="0" smtClean="0"/>
              <a:t> </a:t>
            </a:r>
            <a:r>
              <a:rPr lang="fr-FR" sz="4000" b="1" i="1" dirty="0" smtClean="0"/>
              <a:t> = p  </a:t>
            </a:r>
            <a:r>
              <a:rPr lang="fr-FR" sz="4000" b="1" dirty="0" smtClean="0"/>
              <a:t>V  g</a:t>
            </a:r>
            <a:endParaRPr lang="fr-FR" sz="4000" dirty="0"/>
          </a:p>
        </p:txBody>
      </p:sp>
      <p:sp>
        <p:nvSpPr>
          <p:cNvPr id="11" name="Flèche vers le bas 10"/>
          <p:cNvSpPr>
            <a:spLocks noChangeArrowheads="1"/>
          </p:cNvSpPr>
          <p:nvPr/>
        </p:nvSpPr>
        <p:spPr bwMode="auto">
          <a:xfrm>
            <a:off x="4553649" y="5245700"/>
            <a:ext cx="401638" cy="420687"/>
          </a:xfrm>
          <a:prstGeom prst="downArrow">
            <a:avLst>
              <a:gd name="adj1" fmla="val 50000"/>
              <a:gd name="adj2" fmla="val 49816"/>
            </a:avLst>
          </a:prstGeom>
          <a:solidFill>
            <a:schemeClr val="bg2"/>
          </a:solidFill>
          <a:ln w="12700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altLang="fr-FR" sz="2400" b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7230623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 animBg="1"/>
      <p:bldP spid="6" grpId="0" animBg="1"/>
      <p:bldP spid="9" grpId="0" animBg="1"/>
      <p:bldP spid="10" grpId="0" animBg="1"/>
      <p:bldP spid="13" grpId="0" animBg="1"/>
      <p:bldP spid="8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13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2" name="مستطيل مستدير الزوايا 1"/>
          <p:cNvSpPr/>
          <p:nvPr/>
        </p:nvSpPr>
        <p:spPr>
          <a:xfrm>
            <a:off x="5199527" y="3212976"/>
            <a:ext cx="3923928" cy="122413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r-FR" sz="4000" b="1" dirty="0" smtClean="0">
                <a:solidFill>
                  <a:schemeClr val="bg1"/>
                </a:solidFill>
              </a:rPr>
              <a:t>F</a:t>
            </a:r>
            <a:r>
              <a:rPr lang="fr-FR" sz="2000" b="1" dirty="0" smtClean="0">
                <a:solidFill>
                  <a:schemeClr val="bg1"/>
                </a:solidFill>
              </a:rPr>
              <a:t>a</a:t>
            </a:r>
            <a:r>
              <a:rPr lang="fr-FR" sz="2000" b="1" i="1" dirty="0" smtClean="0">
                <a:solidFill>
                  <a:schemeClr val="bg1"/>
                </a:solidFill>
              </a:rPr>
              <a:t> </a:t>
            </a:r>
            <a:r>
              <a:rPr lang="fr-FR" sz="4000" b="1" i="1" dirty="0" smtClean="0">
                <a:solidFill>
                  <a:schemeClr val="bg1"/>
                </a:solidFill>
              </a:rPr>
              <a:t>= p  </a:t>
            </a:r>
            <a:r>
              <a:rPr lang="fr-FR" sz="4000" b="1" dirty="0" smtClean="0">
                <a:solidFill>
                  <a:schemeClr val="bg1"/>
                </a:solidFill>
              </a:rPr>
              <a:t>V  g</a:t>
            </a:r>
            <a:endParaRPr lang="ar-SA" sz="4000" b="1" dirty="0">
              <a:solidFill>
                <a:schemeClr val="bg1"/>
              </a:solidFill>
            </a:endParaRPr>
          </a:p>
        </p:txBody>
      </p:sp>
      <p:sp>
        <p:nvSpPr>
          <p:cNvPr id="3" name="شكل بيضاوي 2"/>
          <p:cNvSpPr/>
          <p:nvPr/>
        </p:nvSpPr>
        <p:spPr>
          <a:xfrm>
            <a:off x="0" y="2024844"/>
            <a:ext cx="3888432" cy="936104"/>
          </a:xfrm>
          <a:prstGeom prst="ellipse">
            <a:avLst/>
          </a:prstGeom>
          <a:solidFill>
            <a:srgbClr val="99FF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 : </a:t>
            </a:r>
            <a:r>
              <a:rPr lang="ar-DZ" sz="2000" b="1" dirty="0" smtClean="0">
                <a:solidFill>
                  <a:schemeClr val="bg1"/>
                </a:solidFill>
              </a:rPr>
              <a:t>الكتلة </a:t>
            </a:r>
            <a:r>
              <a:rPr lang="ar-DZ" sz="2000" b="1" dirty="0" err="1" smtClean="0">
                <a:solidFill>
                  <a:schemeClr val="bg1"/>
                </a:solidFill>
              </a:rPr>
              <a:t>الحجمية</a:t>
            </a:r>
            <a:r>
              <a:rPr lang="ar-DZ" sz="2000" b="1" dirty="0" smtClean="0">
                <a:solidFill>
                  <a:schemeClr val="bg1"/>
                </a:solidFill>
              </a:rPr>
              <a:t> للسائل</a:t>
            </a:r>
            <a:r>
              <a:rPr lang="fr-FR" sz="2800" b="1" i="1" dirty="0" smtClean="0">
                <a:solidFill>
                  <a:schemeClr val="bg1"/>
                </a:solidFill>
              </a:rPr>
              <a:t>p</a:t>
            </a:r>
            <a:endParaRPr lang="ar-SA" sz="2800" b="1" i="1" dirty="0">
              <a:solidFill>
                <a:schemeClr val="bg1"/>
              </a:solidFill>
            </a:endParaRPr>
          </a:p>
        </p:txBody>
      </p:sp>
      <p:sp>
        <p:nvSpPr>
          <p:cNvPr id="12" name="شكل بيضاوي 11"/>
          <p:cNvSpPr/>
          <p:nvPr/>
        </p:nvSpPr>
        <p:spPr>
          <a:xfrm>
            <a:off x="0" y="3356992"/>
            <a:ext cx="3888432" cy="1215016"/>
          </a:xfrm>
          <a:prstGeom prst="ellipse">
            <a:avLst/>
          </a:prstGeom>
          <a:solidFill>
            <a:srgbClr val="00FF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DZ" sz="1400" b="1" smtClean="0">
                <a:solidFill>
                  <a:schemeClr val="bg1"/>
                </a:solidFill>
              </a:rPr>
              <a:t>:حجم </a:t>
            </a:r>
            <a:r>
              <a:rPr lang="ar-DZ" sz="1400" b="1" dirty="0" smtClean="0">
                <a:solidFill>
                  <a:schemeClr val="bg1"/>
                </a:solidFill>
              </a:rPr>
              <a:t>الجسم </a:t>
            </a:r>
            <a:r>
              <a:rPr lang="ar-DZ" sz="1400" b="1" dirty="0" err="1" smtClean="0">
                <a:solidFill>
                  <a:schemeClr val="bg1"/>
                </a:solidFill>
              </a:rPr>
              <a:t>الغمور</a:t>
            </a:r>
            <a:r>
              <a:rPr lang="ar-DZ" sz="1400" b="1" dirty="0" smtClean="0">
                <a:solidFill>
                  <a:schemeClr val="bg1"/>
                </a:solidFill>
              </a:rPr>
              <a:t>= حجم السائل المزاح</a:t>
            </a:r>
            <a:r>
              <a:rPr lang="fr-FR" sz="2800" b="1" i="1" dirty="0" smtClean="0">
                <a:solidFill>
                  <a:schemeClr val="bg1"/>
                </a:solidFill>
              </a:rPr>
              <a:t>V</a:t>
            </a:r>
            <a:endParaRPr lang="ar-SA" sz="2800" b="1" i="1" dirty="0">
              <a:solidFill>
                <a:schemeClr val="bg1"/>
              </a:solidFill>
            </a:endParaRPr>
          </a:p>
        </p:txBody>
      </p:sp>
      <p:sp>
        <p:nvSpPr>
          <p:cNvPr id="13" name="شكل بيضاوي 12"/>
          <p:cNvSpPr/>
          <p:nvPr/>
        </p:nvSpPr>
        <p:spPr>
          <a:xfrm>
            <a:off x="0" y="4714884"/>
            <a:ext cx="3888432" cy="936104"/>
          </a:xfrm>
          <a:prstGeom prst="ellipse">
            <a:avLst/>
          </a:prstGeom>
          <a:solidFill>
            <a:srgbClr val="FFCC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 : شدة الجاذبية الأرضية</a:t>
            </a:r>
            <a:r>
              <a:rPr lang="fr-FR" sz="2800" b="1" i="1" dirty="0" smtClean="0">
                <a:solidFill>
                  <a:schemeClr val="bg1"/>
                </a:solidFill>
              </a:rPr>
              <a:t>g</a:t>
            </a:r>
            <a:endParaRPr lang="ar-SA" sz="2800" b="1" i="1" dirty="0">
              <a:solidFill>
                <a:schemeClr val="bg1"/>
              </a:solidFill>
            </a:endParaRPr>
          </a:p>
        </p:txBody>
      </p:sp>
      <p:sp>
        <p:nvSpPr>
          <p:cNvPr id="6" name="سهم لأعلى 5"/>
          <p:cNvSpPr/>
          <p:nvPr/>
        </p:nvSpPr>
        <p:spPr>
          <a:xfrm rot="18012163">
            <a:off x="4330631" y="2276871"/>
            <a:ext cx="504056" cy="1368152"/>
          </a:xfrm>
          <a:prstGeom prst="upArrow">
            <a:avLst/>
          </a:prstGeom>
          <a:solidFill>
            <a:srgbClr val="FF006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4" name="سهم لأعلى 13"/>
          <p:cNvSpPr/>
          <p:nvPr/>
        </p:nvSpPr>
        <p:spPr>
          <a:xfrm rot="16200000">
            <a:off x="4197100" y="3371200"/>
            <a:ext cx="504056" cy="1055606"/>
          </a:xfrm>
          <a:prstGeom prst="upArrow">
            <a:avLst/>
          </a:prstGeom>
          <a:solidFill>
            <a:srgbClr val="FF006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5" name="سهم لأعلى 14"/>
          <p:cNvSpPr/>
          <p:nvPr/>
        </p:nvSpPr>
        <p:spPr>
          <a:xfrm rot="14613332">
            <a:off x="4323896" y="3997254"/>
            <a:ext cx="504056" cy="1368152"/>
          </a:xfrm>
          <a:prstGeom prst="upArrow">
            <a:avLst/>
          </a:prstGeom>
          <a:solidFill>
            <a:srgbClr val="FF006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="" xmlns:p14="http://schemas.microsoft.com/office/powerpoint/2010/main" val="411873149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2" grpId="0" animBg="1"/>
      <p:bldP spid="13" grpId="0" animBg="1"/>
      <p:bldP spid="6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/>
          <p:cNvSpPr/>
          <p:nvPr/>
        </p:nvSpPr>
        <p:spPr>
          <a:xfrm>
            <a:off x="2143108" y="0"/>
            <a:ext cx="4104456" cy="1222402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000" b="1" dirty="0" smtClean="0">
                <a:solidFill>
                  <a:srgbClr val="00FF00"/>
                </a:solidFill>
                <a:latin typeface="Arabic Typesetting" pitchFamily="66" charset="-78"/>
                <a:cs typeface="Arabic Typesetting" pitchFamily="66" charset="-78"/>
              </a:rPr>
              <a:t>ملاحظة</a:t>
            </a:r>
            <a:r>
              <a:rPr lang="ar-DZ" sz="3200" b="1" dirty="0" smtClean="0">
                <a:latin typeface="Arabic Typesetting" pitchFamily="66" charset="-78"/>
                <a:cs typeface="Arabic Typesetting" pitchFamily="66" charset="-78"/>
              </a:rPr>
              <a:t>                    نقطة تأثيـر قوة دافعة </a:t>
            </a:r>
            <a:r>
              <a:rPr lang="ar-DZ" sz="3200" b="1" dirty="0" err="1" smtClean="0">
                <a:latin typeface="Arabic Typesetting" pitchFamily="66" charset="-78"/>
                <a:cs typeface="Arabic Typesetting" pitchFamily="66" charset="-78"/>
              </a:rPr>
              <a:t>أرخميدس</a:t>
            </a:r>
            <a:endParaRPr lang="fr-FR" sz="3200" dirty="0">
              <a:latin typeface="Arabic Typesetting" pitchFamily="66" charset="-78"/>
              <a:cs typeface="Arabic Typesetting" pitchFamily="66" charset="-78"/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357158" y="1340768"/>
            <a:ext cx="8572560" cy="490566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r" rtl="1"/>
            <a:r>
              <a:rPr lang="ar-DZ" sz="4800" b="1" dirty="0" smtClean="0">
                <a:latin typeface="Arabic Typesetting" pitchFamily="66" charset="-78"/>
                <a:cs typeface="Arabic Typesetting" pitchFamily="66" charset="-78"/>
              </a:rPr>
              <a:t>              </a:t>
            </a:r>
            <a:r>
              <a:rPr lang="ar-DZ" sz="4800" b="1" dirty="0" smtClean="0">
                <a:solidFill>
                  <a:srgbClr val="0000FF"/>
                </a:solidFill>
                <a:latin typeface="Arabic Typesetting" pitchFamily="66" charset="-78"/>
                <a:cs typeface="Arabic Typesetting" pitchFamily="66" charset="-78"/>
              </a:rPr>
              <a:t>مركز ثقل السائل المزاح(مركز الدفع) </a:t>
            </a:r>
          </a:p>
          <a:p>
            <a:pPr marL="342900" indent="-342900" algn="ctr" rtl="1"/>
            <a:r>
              <a:rPr lang="ar-DZ" sz="4800" b="1" dirty="0" smtClean="0">
                <a:latin typeface="Arabic Typesetting" pitchFamily="66" charset="-78"/>
                <a:cs typeface="Arabic Typesetting" pitchFamily="66" charset="-78"/>
              </a:rPr>
              <a:t>وهي </a:t>
            </a:r>
            <a:r>
              <a:rPr lang="ar-DZ" sz="4800" b="1" dirty="0" err="1" smtClean="0">
                <a:latin typeface="Arabic Typesetting" pitchFamily="66" charset="-78"/>
                <a:cs typeface="Arabic Typesetting" pitchFamily="66" charset="-78"/>
              </a:rPr>
              <a:t>تنطيق</a:t>
            </a:r>
            <a:r>
              <a:rPr lang="ar-DZ" sz="4800" b="1" dirty="0" smtClean="0">
                <a:latin typeface="Arabic Typesetting" pitchFamily="66" charset="-78"/>
                <a:cs typeface="Arabic Typesetting" pitchFamily="66" charset="-78"/>
              </a:rPr>
              <a:t> على مركز ثقل الجسم المغمور </a:t>
            </a:r>
            <a:r>
              <a:rPr lang="ar-DZ" sz="4800" b="1" dirty="0" err="1" smtClean="0">
                <a:latin typeface="Arabic Typesetting" pitchFamily="66" charset="-78"/>
                <a:cs typeface="Arabic Typesetting" pitchFamily="66" charset="-78"/>
              </a:rPr>
              <a:t>اذا</a:t>
            </a:r>
            <a:r>
              <a:rPr lang="ar-DZ" sz="4800" b="1" dirty="0" smtClean="0">
                <a:latin typeface="Arabic Typesetting" pitchFamily="66" charset="-78"/>
                <a:cs typeface="Arabic Typesetting" pitchFamily="66" charset="-78"/>
              </a:rPr>
              <a:t> كان الجسم       </a:t>
            </a:r>
            <a:r>
              <a:rPr lang="ar-DZ" sz="4800" b="1" dirty="0" smtClean="0">
                <a:solidFill>
                  <a:srgbClr val="CC0000"/>
                </a:solidFill>
                <a:latin typeface="Arabic Typesetting" pitchFamily="66" charset="-78"/>
                <a:cs typeface="Arabic Typesetting" pitchFamily="66" charset="-78"/>
              </a:rPr>
              <a:t>متجانسا </a:t>
            </a:r>
            <a:r>
              <a:rPr lang="ar-DZ" sz="4800" b="1" dirty="0" err="1" smtClean="0">
                <a:solidFill>
                  <a:srgbClr val="CC0000"/>
                </a:solidFill>
                <a:latin typeface="Arabic Typesetting" pitchFamily="66" charset="-78"/>
                <a:cs typeface="Arabic Typesetting" pitchFamily="66" charset="-78"/>
              </a:rPr>
              <a:t>ولايحتوي</a:t>
            </a:r>
            <a:r>
              <a:rPr lang="ar-DZ" sz="4800" b="1" dirty="0" smtClean="0">
                <a:solidFill>
                  <a:srgbClr val="CC0000"/>
                </a:solidFill>
                <a:latin typeface="Arabic Typesetting" pitchFamily="66" charset="-78"/>
                <a:cs typeface="Arabic Typesetting" pitchFamily="66" charset="-78"/>
              </a:rPr>
              <a:t> على تجويف داخلي </a:t>
            </a:r>
            <a:endParaRPr lang="ar-DZ" sz="4800" b="1" dirty="0">
              <a:solidFill>
                <a:srgbClr val="CC0000"/>
              </a:solidFill>
              <a:latin typeface="Arabic Typesetting" pitchFamily="66" charset="-78"/>
              <a:cs typeface="Arabic Typesetting" pitchFamily="66" charset="-78"/>
            </a:endParaRPr>
          </a:p>
          <a:p>
            <a:pPr algn="r" rtl="1"/>
            <a:endParaRPr lang="ar-DZ" sz="2400" b="1" dirty="0"/>
          </a:p>
        </p:txBody>
      </p:sp>
    </p:spTree>
    <p:extLst>
      <p:ext uri="{BB962C8B-B14F-4D97-AF65-F5344CB8AC3E}">
        <p14:creationId xmlns="" xmlns:p14="http://schemas.microsoft.com/office/powerpoint/2010/main" val="39420625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946024" y="10572"/>
            <a:ext cx="7772400" cy="685800"/>
          </a:xfrm>
        </p:spPr>
        <p:txBody>
          <a:bodyPr/>
          <a:lstStyle/>
          <a:p>
            <a:pPr algn="ctr" rtl="1">
              <a:defRPr/>
            </a:pPr>
            <a:r>
              <a:rPr lang="ar-DZ" sz="3600" dirty="0" smtClean="0">
                <a:solidFill>
                  <a:schemeClr val="bg2"/>
                </a:solidFill>
              </a:rPr>
              <a:t> ملاحظات</a:t>
            </a:r>
            <a:endParaRPr lang="fr-FR" sz="3600" dirty="0" smtClean="0">
              <a:solidFill>
                <a:schemeClr val="bg2"/>
              </a:solidFill>
            </a:endParaRPr>
          </a:p>
        </p:txBody>
      </p:sp>
      <p:sp>
        <p:nvSpPr>
          <p:cNvPr id="5" name="Parchemin horizontal 4"/>
          <p:cNvSpPr/>
          <p:nvPr/>
        </p:nvSpPr>
        <p:spPr bwMode="auto">
          <a:xfrm>
            <a:off x="406588" y="828759"/>
            <a:ext cx="8484812" cy="1209467"/>
          </a:xfrm>
          <a:prstGeom prst="horizontalScroll">
            <a:avLst/>
          </a:prstGeom>
          <a:solidFill>
            <a:srgbClr val="FF0066"/>
          </a:solidFill>
          <a:ln w="12700" cap="sq" cmpd="sng" algn="ctr">
            <a:solidFill>
              <a:schemeClr val="bg2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3200" b="1" dirty="0" smtClean="0"/>
              <a:t>ينبغي أن </a:t>
            </a:r>
            <a:r>
              <a:rPr lang="ar-DZ" sz="3200" b="1" dirty="0" err="1" smtClean="0"/>
              <a:t>لايتفاعل</a:t>
            </a:r>
            <a:r>
              <a:rPr lang="ar-DZ" sz="3200" b="1" dirty="0" smtClean="0"/>
              <a:t> الجسم المغمور مع السائل ، ولا يذوب فيه</a:t>
            </a:r>
            <a:endParaRPr lang="fr-FR" sz="3200" b="1" dirty="0"/>
          </a:p>
        </p:txBody>
      </p:sp>
      <p:sp>
        <p:nvSpPr>
          <p:cNvPr id="9" name="Parchemin horizontal 8"/>
          <p:cNvSpPr/>
          <p:nvPr/>
        </p:nvSpPr>
        <p:spPr bwMode="auto">
          <a:xfrm>
            <a:off x="1000100" y="2357430"/>
            <a:ext cx="7729660" cy="2071702"/>
          </a:xfrm>
          <a:prstGeom prst="horizontalScroll">
            <a:avLst/>
          </a:prstGeom>
          <a:solidFill>
            <a:srgbClr val="FF0066"/>
          </a:solidFill>
          <a:ln w="12700" cap="sq" cmpd="sng" algn="ctr">
            <a:solidFill>
              <a:schemeClr val="bg2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3200" b="1" dirty="0" err="1" smtClean="0"/>
              <a:t>لاتنطبق</a:t>
            </a:r>
            <a:r>
              <a:rPr lang="ar-DZ" sz="3200" b="1" dirty="0" smtClean="0"/>
              <a:t> دافعة </a:t>
            </a:r>
            <a:r>
              <a:rPr lang="ar-DZ" sz="3200" b="1" dirty="0" err="1" smtClean="0"/>
              <a:t>أرخميدس</a:t>
            </a:r>
            <a:r>
              <a:rPr lang="ar-DZ" sz="3200" b="1" dirty="0" smtClean="0"/>
              <a:t> على الأجسام المغمورة التي  </a:t>
            </a:r>
            <a:r>
              <a:rPr lang="ar-DZ" sz="3200" b="1" dirty="0" err="1" smtClean="0"/>
              <a:t>لايحيط</a:t>
            </a:r>
            <a:r>
              <a:rPr lang="ar-DZ" sz="3200" b="1" dirty="0" smtClean="0"/>
              <a:t> السائل </a:t>
            </a:r>
            <a:r>
              <a:rPr lang="ar-DZ" sz="3200" b="1" dirty="0" err="1" smtClean="0"/>
              <a:t>احاطة</a:t>
            </a:r>
            <a:r>
              <a:rPr lang="ar-DZ" sz="3200" b="1" dirty="0" smtClean="0"/>
              <a:t> تامة </a:t>
            </a:r>
            <a:r>
              <a:rPr lang="ar-DZ" sz="3200" b="1" dirty="0" err="1" smtClean="0"/>
              <a:t>بها</a:t>
            </a:r>
            <a:r>
              <a:rPr lang="ar-DZ" sz="3200" b="1" dirty="0" smtClean="0"/>
              <a:t> ( كجسم </a:t>
            </a:r>
            <a:r>
              <a:rPr lang="ar-DZ" sz="3200" b="1" dirty="0" err="1" smtClean="0"/>
              <a:t>مغمورفي</a:t>
            </a:r>
            <a:r>
              <a:rPr lang="ar-DZ" sz="3200" b="1" dirty="0" smtClean="0"/>
              <a:t> سائل  ويستند على قاعدة </a:t>
            </a:r>
            <a:r>
              <a:rPr lang="ar-DZ" sz="3200" b="1" dirty="0" err="1" smtClean="0"/>
              <a:t>الاناء</a:t>
            </a:r>
            <a:r>
              <a:rPr lang="ar-DZ" sz="3200" b="1" dirty="0" smtClean="0"/>
              <a:t>)</a:t>
            </a:r>
            <a:endParaRPr lang="fr-FR" sz="3200" dirty="0"/>
          </a:p>
        </p:txBody>
      </p:sp>
      <p:sp>
        <p:nvSpPr>
          <p:cNvPr id="13" name="Flèche vers le bas 12"/>
          <p:cNvSpPr>
            <a:spLocks noChangeArrowheads="1"/>
          </p:cNvSpPr>
          <p:nvPr/>
        </p:nvSpPr>
        <p:spPr bwMode="auto">
          <a:xfrm>
            <a:off x="4553649" y="2012950"/>
            <a:ext cx="401638" cy="422275"/>
          </a:xfrm>
          <a:prstGeom prst="downArrow">
            <a:avLst>
              <a:gd name="adj1" fmla="val 50000"/>
              <a:gd name="adj2" fmla="val 50004"/>
            </a:avLst>
          </a:prstGeom>
          <a:solidFill>
            <a:schemeClr val="bg2"/>
          </a:solidFill>
          <a:ln w="12700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altLang="fr-FR" sz="2400" b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7230623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 animBg="1"/>
      <p:bldP spid="9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946024" y="10572"/>
            <a:ext cx="7772400" cy="685800"/>
          </a:xfrm>
        </p:spPr>
        <p:txBody>
          <a:bodyPr/>
          <a:lstStyle/>
          <a:p>
            <a:pPr algn="ctr" rtl="1">
              <a:defRPr/>
            </a:pPr>
            <a:r>
              <a:rPr lang="ar-DZ" sz="3600" dirty="0" smtClean="0">
                <a:solidFill>
                  <a:schemeClr val="bg2"/>
                </a:solidFill>
              </a:rPr>
              <a:t> هام</a:t>
            </a:r>
            <a:endParaRPr lang="fr-FR" sz="3600" dirty="0" smtClean="0">
              <a:solidFill>
                <a:schemeClr val="bg2"/>
              </a:solidFill>
            </a:endParaRPr>
          </a:p>
        </p:txBody>
      </p:sp>
      <p:sp>
        <p:nvSpPr>
          <p:cNvPr id="5" name="Parchemin horizontal 4"/>
          <p:cNvSpPr/>
          <p:nvPr/>
        </p:nvSpPr>
        <p:spPr bwMode="auto">
          <a:xfrm>
            <a:off x="406588" y="828759"/>
            <a:ext cx="8484812" cy="1209467"/>
          </a:xfrm>
          <a:prstGeom prst="horizontalScroll">
            <a:avLst/>
          </a:prstGeom>
          <a:solidFill>
            <a:srgbClr val="FF0066"/>
          </a:solidFill>
          <a:ln w="12700" cap="sq" cmpd="sng" algn="ctr">
            <a:solidFill>
              <a:schemeClr val="bg2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3200" b="1" dirty="0" smtClean="0"/>
              <a:t>مع3 : يوظف قوة ” دافعة </a:t>
            </a:r>
            <a:r>
              <a:rPr lang="ar-DZ" sz="3200" b="1" dirty="0" err="1" smtClean="0"/>
              <a:t>أرخميدس</a:t>
            </a:r>
            <a:r>
              <a:rPr lang="ar-DZ" sz="3200" b="1" dirty="0" smtClean="0"/>
              <a:t> ” في التمييز بين طبيعة  المواد</a:t>
            </a:r>
            <a:r>
              <a:rPr lang="ar-DZ" sz="2400" b="1" dirty="0" smtClean="0"/>
              <a:t> </a:t>
            </a:r>
            <a:r>
              <a:rPr lang="ar-DZ" sz="3200" b="1" dirty="0" smtClean="0">
                <a:solidFill>
                  <a:srgbClr val="99FF66"/>
                </a:solidFill>
              </a:rPr>
              <a:t>( المنهاج المعاد كتابته)</a:t>
            </a:r>
            <a:endParaRPr lang="fr-FR" sz="3200" b="1" dirty="0">
              <a:solidFill>
                <a:srgbClr val="99FF66"/>
              </a:solidFill>
            </a:endParaRPr>
          </a:p>
        </p:txBody>
      </p:sp>
      <p:sp>
        <p:nvSpPr>
          <p:cNvPr id="6" name="Parchemin horizontal 5"/>
          <p:cNvSpPr/>
          <p:nvPr/>
        </p:nvSpPr>
        <p:spPr bwMode="auto">
          <a:xfrm>
            <a:off x="1240105" y="3924977"/>
            <a:ext cx="7028725" cy="1315498"/>
          </a:xfrm>
          <a:prstGeom prst="horizontalScroll">
            <a:avLst/>
          </a:prstGeom>
          <a:solidFill>
            <a:srgbClr val="FF0066"/>
          </a:solidFill>
          <a:ln w="12700" cap="sq" cmpd="sng" algn="ctr">
            <a:solidFill>
              <a:schemeClr val="bg2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3200" b="1" dirty="0"/>
              <a:t> </a:t>
            </a:r>
            <a:r>
              <a:rPr lang="ar-DZ" sz="3600" b="1" dirty="0" smtClean="0"/>
              <a:t>يعين تجريبيا كثافة جسم صلب</a:t>
            </a:r>
            <a:endParaRPr lang="fr-FR" sz="3600" dirty="0"/>
          </a:p>
        </p:txBody>
      </p:sp>
      <p:sp>
        <p:nvSpPr>
          <p:cNvPr id="9" name="Parchemin horizontal 8"/>
          <p:cNvSpPr/>
          <p:nvPr/>
        </p:nvSpPr>
        <p:spPr bwMode="auto">
          <a:xfrm>
            <a:off x="1000100" y="2357430"/>
            <a:ext cx="7729660" cy="1324484"/>
          </a:xfrm>
          <a:prstGeom prst="horizontalScroll">
            <a:avLst/>
          </a:prstGeom>
          <a:solidFill>
            <a:srgbClr val="FF0066"/>
          </a:solidFill>
          <a:ln w="12700" cap="sq" cmpd="sng" algn="ctr">
            <a:solidFill>
              <a:schemeClr val="bg2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3200" b="1" dirty="0" smtClean="0"/>
              <a:t>يقارن بين كثافة الأجسام الصلبة باستخدام دافعة </a:t>
            </a:r>
            <a:r>
              <a:rPr lang="ar-DZ" sz="3200" b="1" dirty="0" err="1" smtClean="0"/>
              <a:t>أرخميدس</a:t>
            </a:r>
            <a:endParaRPr lang="fr-FR" sz="3200" dirty="0"/>
          </a:p>
        </p:txBody>
      </p:sp>
      <p:sp>
        <p:nvSpPr>
          <p:cNvPr id="10" name="Flèche vers le bas 9"/>
          <p:cNvSpPr>
            <a:spLocks noChangeArrowheads="1"/>
          </p:cNvSpPr>
          <p:nvPr/>
        </p:nvSpPr>
        <p:spPr bwMode="auto">
          <a:xfrm>
            <a:off x="4555237" y="3652044"/>
            <a:ext cx="400050" cy="420688"/>
          </a:xfrm>
          <a:prstGeom prst="downArrow">
            <a:avLst>
              <a:gd name="adj1" fmla="val 50000"/>
              <a:gd name="adj2" fmla="val 50014"/>
            </a:avLst>
          </a:prstGeom>
          <a:solidFill>
            <a:schemeClr val="bg2"/>
          </a:solidFill>
          <a:ln w="12700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altLang="fr-FR" sz="2400" b="0">
              <a:solidFill>
                <a:srgbClr val="C00000"/>
              </a:solidFill>
            </a:endParaRPr>
          </a:p>
        </p:txBody>
      </p:sp>
      <p:sp>
        <p:nvSpPr>
          <p:cNvPr id="13" name="Flèche vers le bas 12"/>
          <p:cNvSpPr>
            <a:spLocks noChangeArrowheads="1"/>
          </p:cNvSpPr>
          <p:nvPr/>
        </p:nvSpPr>
        <p:spPr bwMode="auto">
          <a:xfrm>
            <a:off x="4553649" y="2012950"/>
            <a:ext cx="401638" cy="422275"/>
          </a:xfrm>
          <a:prstGeom prst="downArrow">
            <a:avLst>
              <a:gd name="adj1" fmla="val 50000"/>
              <a:gd name="adj2" fmla="val 50004"/>
            </a:avLst>
          </a:prstGeom>
          <a:solidFill>
            <a:schemeClr val="bg2"/>
          </a:solidFill>
          <a:ln w="12700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altLang="fr-FR" sz="2400" b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7230623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 animBg="1"/>
      <p:bldP spid="6" grpId="0" animBg="1"/>
      <p:bldP spid="9" grpId="0" animBg="1"/>
      <p:bldP spid="10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chemin horizontal 5"/>
          <p:cNvSpPr>
            <a:spLocks noChangeArrowheads="1"/>
          </p:cNvSpPr>
          <p:nvPr/>
        </p:nvSpPr>
        <p:spPr bwMode="auto">
          <a:xfrm>
            <a:off x="1142976" y="3071810"/>
            <a:ext cx="6786610" cy="3500462"/>
          </a:xfrm>
          <a:prstGeom prst="horizontalScroll">
            <a:avLst>
              <a:gd name="adj" fmla="val 12500"/>
            </a:avLst>
          </a:prstGeom>
          <a:solidFill>
            <a:srgbClr val="FFCCFF"/>
          </a:solidFill>
          <a:ln w="12700" cap="sq" algn="ctr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ar-DZ" altLang="fr-FR" dirty="0" smtClean="0">
                <a:solidFill>
                  <a:srgbClr val="FF0000"/>
                </a:solidFill>
              </a:rPr>
              <a:t>البواخـر</a:t>
            </a:r>
          </a:p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ar-DZ" altLang="fr-FR" dirty="0" smtClean="0">
                <a:solidFill>
                  <a:srgbClr val="000000"/>
                </a:solidFill>
              </a:rPr>
              <a:t>تصمم بشكل تكون فيه </a:t>
            </a:r>
            <a:r>
              <a:rPr kumimoji="0" lang="ar-DZ" altLang="fr-FR" dirty="0" err="1" smtClean="0">
                <a:solidFill>
                  <a:srgbClr val="000000"/>
                </a:solidFill>
              </a:rPr>
              <a:t>دافعةأرخميدس</a:t>
            </a:r>
            <a:r>
              <a:rPr kumimoji="0" lang="ar-DZ" altLang="fr-FR" dirty="0" smtClean="0">
                <a:solidFill>
                  <a:srgbClr val="000000"/>
                </a:solidFill>
              </a:rPr>
              <a:t> دائما أكبر من ثقلها، حتى عندما تكون محملة</a:t>
            </a:r>
            <a:endParaRPr kumimoji="0" lang="fr-FR" altLang="fr-FR" dirty="0">
              <a:solidFill>
                <a:srgbClr val="000000"/>
              </a:solidFill>
            </a:endParaRPr>
          </a:p>
        </p:txBody>
      </p:sp>
      <p:sp>
        <p:nvSpPr>
          <p:cNvPr id="9" name="Parchemin horizontal 8"/>
          <p:cNvSpPr/>
          <p:nvPr/>
        </p:nvSpPr>
        <p:spPr bwMode="auto">
          <a:xfrm>
            <a:off x="1643042" y="642918"/>
            <a:ext cx="5897563" cy="1500198"/>
          </a:xfrm>
          <a:prstGeom prst="horizontalScroll">
            <a:avLst/>
          </a:prstGeom>
          <a:solidFill>
            <a:srgbClr val="00FF00"/>
          </a:solidFill>
          <a:ln w="12700" cap="sq" cmpd="sng" algn="ctr">
            <a:solidFill>
              <a:schemeClr val="bg2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2800" b="1" dirty="0" smtClean="0">
                <a:solidFill>
                  <a:srgbClr val="FF0000"/>
                </a:solidFill>
              </a:rPr>
              <a:t>تطبيق نظرية </a:t>
            </a:r>
            <a:r>
              <a:rPr lang="ar-DZ" sz="2800" b="1" dirty="0" err="1" smtClean="0">
                <a:solidFill>
                  <a:srgbClr val="FF0000"/>
                </a:solidFill>
              </a:rPr>
              <a:t>أرخميدس</a:t>
            </a:r>
            <a:r>
              <a:rPr lang="ar-DZ" sz="2800" b="1" dirty="0" smtClean="0">
                <a:solidFill>
                  <a:srgbClr val="FF0000"/>
                </a:solidFill>
              </a:rPr>
              <a:t>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2800" b="1" dirty="0" smtClean="0">
                <a:solidFill>
                  <a:srgbClr val="FF0000"/>
                </a:solidFill>
              </a:rPr>
              <a:t>على الأجسام الطافية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10" name="Flèche vers le bas 9"/>
          <p:cNvSpPr>
            <a:spLocks noChangeArrowheads="1"/>
          </p:cNvSpPr>
          <p:nvPr/>
        </p:nvSpPr>
        <p:spPr bwMode="auto">
          <a:xfrm>
            <a:off x="4500562" y="2500306"/>
            <a:ext cx="400050" cy="420688"/>
          </a:xfrm>
          <a:prstGeom prst="downArrow">
            <a:avLst>
              <a:gd name="adj1" fmla="val 50000"/>
              <a:gd name="adj2" fmla="val 50014"/>
            </a:avLst>
          </a:prstGeom>
          <a:solidFill>
            <a:schemeClr val="bg2"/>
          </a:solidFill>
          <a:ln w="12700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altLang="fr-FR" sz="2400" b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7213750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18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pic>
        <p:nvPicPr>
          <p:cNvPr id="1026" name="Picture 2" descr="RÃ©sultat de recherche d'images pour &quot;â«Ø§ÙØ¨ÙØ§Ø®Ø±â¬â&quot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642918"/>
            <a:ext cx="7929618" cy="542928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19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pic>
        <p:nvPicPr>
          <p:cNvPr id="70658" name="Picture 2" descr="RÃ©sultat de recherche d'images pour &quot;â«Ø§ÙØ¨ÙØ§Ø®Ø±â¬â&quot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85728"/>
            <a:ext cx="8715436" cy="5810273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20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pic>
        <p:nvPicPr>
          <p:cNvPr id="65538" name="Picture 2" descr="RÃ©sultat de recherche d'images pour &quot;â«Ø§ÙØ¨ÙØ§Ø®Ø±â¬â&quot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500042"/>
            <a:ext cx="8429684" cy="571504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21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pic>
        <p:nvPicPr>
          <p:cNvPr id="66562" name="Picture 2" descr="RÃ©sultat de recherche d'images pour &quot;â«Ø§ÙØ¨ÙØ§Ø®Ø±â¬â&quot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500042"/>
            <a:ext cx="8001056" cy="578647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22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pic>
        <p:nvPicPr>
          <p:cNvPr id="72706" name="Picture 2" descr="RÃ©sultat de recherche d'images pour &quot;â«Ø§ÙØ¨ÙØ§Ø®Ø±â¬â&quot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357166"/>
            <a:ext cx="8501122" cy="578647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rchemin horizontal 8"/>
          <p:cNvSpPr/>
          <p:nvPr/>
        </p:nvSpPr>
        <p:spPr bwMode="auto">
          <a:xfrm>
            <a:off x="1643042" y="642918"/>
            <a:ext cx="5897563" cy="1500198"/>
          </a:xfrm>
          <a:prstGeom prst="horizontalScroll">
            <a:avLst/>
          </a:prstGeom>
          <a:solidFill>
            <a:srgbClr val="00FF00"/>
          </a:solidFill>
          <a:ln w="12700" cap="sq" cmpd="sng" algn="ctr">
            <a:solidFill>
              <a:schemeClr val="bg2"/>
            </a:solidFill>
            <a:prstDash val="solid"/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2800" b="1" dirty="0" smtClean="0">
                <a:solidFill>
                  <a:srgbClr val="FF0000"/>
                </a:solidFill>
              </a:rPr>
              <a:t>تطبيق نظرية </a:t>
            </a:r>
            <a:r>
              <a:rPr lang="ar-DZ" sz="2800" b="1" dirty="0" err="1" smtClean="0">
                <a:solidFill>
                  <a:srgbClr val="FF0000"/>
                </a:solidFill>
              </a:rPr>
              <a:t>أرخميدس</a:t>
            </a:r>
            <a:r>
              <a:rPr lang="ar-DZ" sz="2800" b="1" dirty="0" smtClean="0">
                <a:solidFill>
                  <a:srgbClr val="FF0000"/>
                </a:solidFill>
              </a:rPr>
              <a:t>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2800" b="1" dirty="0" smtClean="0">
                <a:solidFill>
                  <a:srgbClr val="FF0000"/>
                </a:solidFill>
              </a:rPr>
              <a:t>على الأجسام الطافية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10" name="Flèche vers le bas 9"/>
          <p:cNvSpPr>
            <a:spLocks noChangeArrowheads="1"/>
          </p:cNvSpPr>
          <p:nvPr/>
        </p:nvSpPr>
        <p:spPr bwMode="auto">
          <a:xfrm>
            <a:off x="4572000" y="2071678"/>
            <a:ext cx="400050" cy="420688"/>
          </a:xfrm>
          <a:prstGeom prst="downArrow">
            <a:avLst>
              <a:gd name="adj1" fmla="val 50000"/>
              <a:gd name="adj2" fmla="val 50014"/>
            </a:avLst>
          </a:prstGeom>
          <a:solidFill>
            <a:schemeClr val="bg2"/>
          </a:solidFill>
          <a:ln w="12700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altLang="fr-FR" sz="2400" b="0">
              <a:solidFill>
                <a:srgbClr val="C00000"/>
              </a:solidFill>
            </a:endParaRPr>
          </a:p>
        </p:txBody>
      </p:sp>
      <p:sp>
        <p:nvSpPr>
          <p:cNvPr id="12" name="Parchemin horizontal 11"/>
          <p:cNvSpPr/>
          <p:nvPr/>
        </p:nvSpPr>
        <p:spPr bwMode="auto">
          <a:xfrm>
            <a:off x="571472" y="2357430"/>
            <a:ext cx="8143932" cy="4500570"/>
          </a:xfrm>
          <a:prstGeom prst="horizontalScroll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3200" b="1" dirty="0" err="1" smtClean="0">
                <a:solidFill>
                  <a:srgbClr val="FF0000"/>
                </a:solidFill>
              </a:rPr>
              <a:t>المكاثيف</a:t>
            </a:r>
            <a:endParaRPr lang="ar-DZ" sz="3200" b="1" dirty="0" smtClean="0">
              <a:solidFill>
                <a:srgbClr val="FF0000"/>
              </a:solidFill>
            </a:endParaRP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2400" b="1" dirty="0" smtClean="0">
                <a:solidFill>
                  <a:schemeClr val="bg2"/>
                </a:solidFill>
              </a:rPr>
              <a:t>يتكون </a:t>
            </a:r>
            <a:r>
              <a:rPr lang="ar-DZ" sz="2400" b="1" dirty="0" err="1" smtClean="0">
                <a:solidFill>
                  <a:schemeClr val="bg2"/>
                </a:solidFill>
              </a:rPr>
              <a:t>المكثاف</a:t>
            </a:r>
            <a:r>
              <a:rPr lang="ar-DZ" sz="2400" b="1" dirty="0" smtClean="0">
                <a:solidFill>
                  <a:schemeClr val="bg2"/>
                </a:solidFill>
              </a:rPr>
              <a:t> من انتفاخ زجاجي مثقل من الأسفل بواسطة </a:t>
            </a:r>
            <a:r>
              <a:rPr lang="ar-DZ" sz="2400" b="1" dirty="0" err="1" smtClean="0">
                <a:solidFill>
                  <a:schemeClr val="bg2"/>
                </a:solidFill>
              </a:rPr>
              <a:t>الزئبق</a:t>
            </a:r>
            <a:r>
              <a:rPr lang="ar-DZ" sz="2400" b="1" dirty="0" smtClean="0">
                <a:solidFill>
                  <a:schemeClr val="bg2"/>
                </a:solidFill>
              </a:rPr>
              <a:t> أو الرصاص . </a:t>
            </a: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2400" b="1" dirty="0" smtClean="0">
                <a:solidFill>
                  <a:schemeClr val="bg2"/>
                </a:solidFill>
              </a:rPr>
              <a:t>يطفو </a:t>
            </a:r>
            <a:r>
              <a:rPr lang="ar-DZ" sz="2400" b="1" dirty="0" err="1" smtClean="0">
                <a:solidFill>
                  <a:schemeClr val="bg2"/>
                </a:solidFill>
              </a:rPr>
              <a:t>المكثاف</a:t>
            </a:r>
            <a:r>
              <a:rPr lang="ar-DZ" sz="2400" b="1" dirty="0" smtClean="0">
                <a:solidFill>
                  <a:schemeClr val="bg2"/>
                </a:solidFill>
              </a:rPr>
              <a:t> فوق سائل ويعطي كثافته بالقراءة المباشرة، وهي نوعان :</a:t>
            </a: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2400" b="1" dirty="0" err="1" smtClean="0">
                <a:solidFill>
                  <a:srgbClr val="0070C0"/>
                </a:solidFill>
              </a:rPr>
              <a:t>مكاثيف</a:t>
            </a:r>
            <a:r>
              <a:rPr lang="ar-DZ" sz="2400" b="1" dirty="0" smtClean="0">
                <a:solidFill>
                  <a:srgbClr val="0070C0"/>
                </a:solidFill>
              </a:rPr>
              <a:t> للسوائل الأكبر كثافة من الماء</a:t>
            </a:r>
            <a:r>
              <a:rPr lang="ar-DZ" sz="2400" b="1" dirty="0" smtClean="0">
                <a:solidFill>
                  <a:schemeClr val="bg2"/>
                </a:solidFill>
              </a:rPr>
              <a:t>:ويكون تدريج </a:t>
            </a:r>
            <a:r>
              <a:rPr lang="ar-DZ" sz="2400" b="1" dirty="0" err="1" smtClean="0">
                <a:solidFill>
                  <a:schemeClr val="bg2"/>
                </a:solidFill>
              </a:rPr>
              <a:t>المكثاف</a:t>
            </a:r>
            <a:r>
              <a:rPr lang="ar-DZ" sz="2400" b="1" dirty="0" smtClean="0">
                <a:solidFill>
                  <a:schemeClr val="bg2"/>
                </a:solidFill>
              </a:rPr>
              <a:t> تصاعديا</a:t>
            </a: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2400" b="1" dirty="0" smtClean="0">
                <a:solidFill>
                  <a:schemeClr val="bg2"/>
                </a:solidFill>
              </a:rPr>
              <a:t>من واحد فما فوق ، ومن الأعلى </a:t>
            </a:r>
            <a:r>
              <a:rPr lang="ar-DZ" sz="2400" b="1" dirty="0" err="1" smtClean="0">
                <a:solidFill>
                  <a:schemeClr val="bg2"/>
                </a:solidFill>
              </a:rPr>
              <a:t>الى</a:t>
            </a:r>
            <a:r>
              <a:rPr lang="ar-DZ" sz="2400" b="1" dirty="0" smtClean="0">
                <a:solidFill>
                  <a:schemeClr val="bg2"/>
                </a:solidFill>
              </a:rPr>
              <a:t> الأسفل</a:t>
            </a: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2400" b="1" dirty="0" err="1" smtClean="0">
                <a:solidFill>
                  <a:srgbClr val="0070C0"/>
                </a:solidFill>
              </a:rPr>
              <a:t>مكاثيف</a:t>
            </a:r>
            <a:r>
              <a:rPr lang="ar-DZ" sz="2400" b="1" dirty="0" smtClean="0">
                <a:solidFill>
                  <a:srgbClr val="0070C0"/>
                </a:solidFill>
              </a:rPr>
              <a:t> للسوائل الأقـل كثافة من الماء</a:t>
            </a:r>
            <a:r>
              <a:rPr lang="ar-DZ" sz="2400" b="1" dirty="0" smtClean="0">
                <a:solidFill>
                  <a:schemeClr val="bg2"/>
                </a:solidFill>
              </a:rPr>
              <a:t>: ويكون تدريج </a:t>
            </a:r>
            <a:r>
              <a:rPr lang="ar-DZ" sz="2400" b="1" dirty="0" err="1" smtClean="0">
                <a:solidFill>
                  <a:schemeClr val="bg2"/>
                </a:solidFill>
              </a:rPr>
              <a:t>المكثاف</a:t>
            </a:r>
            <a:r>
              <a:rPr lang="ar-DZ" sz="2400" b="1" dirty="0" smtClean="0">
                <a:solidFill>
                  <a:schemeClr val="bg2"/>
                </a:solidFill>
              </a:rPr>
              <a:t> تنازليا من واحد فما تحت ، ومن الأسفل نحو الأعلى</a:t>
            </a:r>
            <a:endParaRPr lang="fr-FR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7213750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24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pic>
        <p:nvPicPr>
          <p:cNvPr id="4098" name="Picture 2" descr="RÃ©sultat de recherche d'images pour &quot;â«Ø§ÙÙÙØ«Ø§Ùâ¬â&quot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357166"/>
            <a:ext cx="7572428" cy="585791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25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pic>
        <p:nvPicPr>
          <p:cNvPr id="71682" name="Picture 2" descr="RÃ©sultat de recherche d'images pour &quot;â«Ø§ÙÙÙØ«Ø§Ùâ¬â&quot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428604"/>
            <a:ext cx="7643866" cy="623888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28 أكتوبر 2014م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>
                <a:solidFill>
                  <a:prstClr val="white">
                    <a:shade val="50000"/>
                  </a:prstClr>
                </a:solidFill>
              </a:rPr>
              <a:t>تفعيل تدريس مواد الإيقاظ في مرحلة التعليم الابتدائي(التربية  الموسيقية)</a:t>
            </a:r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5F60B-9CDF-4E0B-A82B-47FC6F97B274}" type="slidenum">
              <a:rPr lang="fr-FR" smtClean="0">
                <a:solidFill>
                  <a:prstClr val="white">
                    <a:shade val="50000"/>
                  </a:prstClr>
                </a:solidFill>
              </a:rPr>
              <a:pPr/>
              <a:t>26</a:t>
            </a:fld>
            <a:endParaRPr lang="fr-FR" dirty="0">
              <a:solidFill>
                <a:prstClr val="white">
                  <a:shade val="50000"/>
                </a:prstClr>
              </a:solidFill>
            </a:endParaRPr>
          </a:p>
        </p:txBody>
      </p:sp>
      <p:pic>
        <p:nvPicPr>
          <p:cNvPr id="63490" name="Picture 2" descr="RÃ©sultat de recherche d'images pour &quot;â«Ø§ÙÙÙØ«Ø§Ùâ¬â&quot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928670"/>
            <a:ext cx="6643734" cy="52864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250">
        <p14:warp dir="in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2" name="Parchemin : horizontal 1"/>
          <p:cNvSpPr/>
          <p:nvPr/>
        </p:nvSpPr>
        <p:spPr>
          <a:xfrm>
            <a:off x="368968" y="1090863"/>
            <a:ext cx="8518358" cy="5117432"/>
          </a:xfrm>
          <a:prstGeom prst="horizontalScroll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DZ" sz="6600" dirty="0">
                <a:solidFill>
                  <a:srgbClr val="FF0000"/>
                </a:solidFill>
                <a:cs typeface="Al-Hadith1" pitchFamily="2" charset="-78"/>
              </a:rPr>
              <a:t>أشكركم على حسن الاستماع والاصغاء</a:t>
            </a:r>
            <a:endParaRPr lang="fr-FR" sz="6600" dirty="0">
              <a:solidFill>
                <a:srgbClr val="FF0000"/>
              </a:solidFill>
              <a:cs typeface="Al-Hadith1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159834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Apex">
  <a:themeElements>
    <a:clrScheme name="انقلاب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Apex">
  <a:themeElements>
    <a:clrScheme name="انقلاب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3171</TotalTime>
  <Words>651</Words>
  <Application>Microsoft Office PowerPoint</Application>
  <PresentationFormat>Affichage à l'écran (4:3)</PresentationFormat>
  <Paragraphs>130</Paragraphs>
  <Slides>27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29" baseType="lpstr">
      <vt:lpstr>2_Apex</vt:lpstr>
      <vt:lpstr>5_Apex</vt:lpstr>
      <vt:lpstr>بسم الله الرحمن الرحيم</vt:lpstr>
      <vt:lpstr>تذكير بمراحل الملف التعلمي واسقاطه على ملف الظواهر  الضوئية والفلكية </vt:lpstr>
      <vt:lpstr>Diapositive 3</vt:lpstr>
      <vt:lpstr>Diapositive 4</vt:lpstr>
      <vt:lpstr>Diapositive 5</vt:lpstr>
      <vt:lpstr>Diapositive 6</vt:lpstr>
      <vt:lpstr>مفهوم محصلة قوتين (تركيب قوتين وتحليل قوة)</vt:lpstr>
      <vt:lpstr>Diapositive 8</vt:lpstr>
      <vt:lpstr>Diapositive 9</vt:lpstr>
      <vt:lpstr>Diapositive 10</vt:lpstr>
      <vt:lpstr>Diapositive 11</vt:lpstr>
      <vt:lpstr> </vt:lpstr>
      <vt:lpstr>Diapositive 13</vt:lpstr>
      <vt:lpstr>Diapositive 14</vt:lpstr>
      <vt:lpstr> ملاحظات</vt:lpstr>
      <vt:lpstr> هام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الجمهورية الجزائرية الديمقراطية الشعبية</dc:title>
  <dc:creator>yazid</dc:creator>
  <cp:lastModifiedBy>Admin</cp:lastModifiedBy>
  <cp:revision>331</cp:revision>
  <cp:lastPrinted>2016-04-09T19:43:22Z</cp:lastPrinted>
  <dcterms:created xsi:type="dcterms:W3CDTF">2015-01-08T19:25:31Z</dcterms:created>
  <dcterms:modified xsi:type="dcterms:W3CDTF">2018-12-29T14:57:10Z</dcterms:modified>
</cp:coreProperties>
</file>