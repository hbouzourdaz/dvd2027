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70" r:id="rId2"/>
    <p:sldId id="256" r:id="rId3"/>
    <p:sldId id="259" r:id="rId4"/>
    <p:sldId id="257" r:id="rId5"/>
    <p:sldId id="261" r:id="rId6"/>
    <p:sldId id="280" r:id="rId7"/>
    <p:sldId id="258" r:id="rId8"/>
    <p:sldId id="260" r:id="rId9"/>
    <p:sldId id="286" r:id="rId10"/>
    <p:sldId id="263" r:id="rId11"/>
    <p:sldId id="264" r:id="rId12"/>
    <p:sldId id="281" r:id="rId13"/>
    <p:sldId id="282" r:id="rId14"/>
    <p:sldId id="265" r:id="rId15"/>
    <p:sldId id="283" r:id="rId16"/>
    <p:sldId id="266" r:id="rId17"/>
    <p:sldId id="267" r:id="rId18"/>
    <p:sldId id="284" r:id="rId19"/>
    <p:sldId id="278" r:id="rId20"/>
    <p:sldId id="268" r:id="rId21"/>
    <p:sldId id="279" r:id="rId22"/>
    <p:sldId id="271" r:id="rId23"/>
    <p:sldId id="272" r:id="rId24"/>
    <p:sldId id="273" r:id="rId25"/>
    <p:sldId id="274" r:id="rId26"/>
    <p:sldId id="275"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0" d="100"/>
          <a:sy n="80" d="100"/>
        </p:scale>
        <p:origin x="-1068"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2B88A1-35FF-4FE0-AC52-C047A06BDF3F}" type="datetimeFigureOut">
              <a:rPr lang="fr-FR" smtClean="0"/>
              <a:pPr/>
              <a:t>20/11/2018</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90E72D-9F27-439D-A16C-88C8FBFF1019}"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B90E72D-9F27-439D-A16C-88C8FBFF1019}" type="slidenum">
              <a:rPr lang="fr-FR" smtClean="0"/>
              <a:pPr/>
              <a:t>5</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orme libre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r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fr-FR" smtClean="0"/>
              <a:t>Cliquez pour modifier le style du titre</a:t>
            </a:r>
            <a:endParaRPr kumimoji="0"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19" name="Espace réservé du pied de page 18"/>
          <p:cNvSpPr>
            <a:spLocks noGrp="1"/>
          </p:cNvSpPr>
          <p:nvPr>
            <p:ph type="ftr" sz="quarter" idx="11"/>
          </p:nvPr>
        </p:nvSpPr>
        <p:spPr/>
        <p:txBody>
          <a:bodyPr/>
          <a:lstStyle/>
          <a:p>
            <a:endParaRPr lang="fr-FR"/>
          </a:p>
        </p:txBody>
      </p:sp>
      <p:sp>
        <p:nvSpPr>
          <p:cNvPr id="27" name="Espace réservé du numéro de diapositive 26"/>
          <p:cNvSpPr>
            <a:spLocks noGrp="1"/>
          </p:cNvSpPr>
          <p:nvPr>
            <p:ph type="sldNum" sz="quarter" idx="12"/>
          </p:nvPr>
        </p:nvSpPr>
        <p:spPr/>
        <p:txBody>
          <a:bodyPr/>
          <a:lstStyle/>
          <a:p>
            <a:fld id="{97A9E1B7-CCF2-4036-90C3-4CEBF1C038FD}"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orme libre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nchor="ctr"/>
          <a:lstStyle>
            <a:lvl1pPr algn="l">
              <a:defRPr sz="4600"/>
            </a:lvl1pPr>
          </a:lstStyle>
          <a:p>
            <a:r>
              <a:rPr kumimoji="0" lang="fr-FR" smtClean="0"/>
              <a:t>Cliquez pour modifier le style du titre</a:t>
            </a:r>
            <a:endParaRPr kumimoji="0" lang="en-US"/>
          </a:p>
        </p:txBody>
      </p:sp>
      <p:sp>
        <p:nvSpPr>
          <p:cNvPr id="7" name="Espace réservé de la date 6"/>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8" name="Espace réservé du numéro de diapositive 7"/>
          <p:cNvSpPr>
            <a:spLocks noGrp="1"/>
          </p:cNvSpPr>
          <p:nvPr>
            <p:ph type="sldNum" sz="quarter" idx="11"/>
          </p:nvPr>
        </p:nvSpPr>
        <p:spPr/>
        <p:txBody>
          <a:bodyPr/>
          <a:lstStyle/>
          <a:p>
            <a:fld id="{97A9E1B7-CCF2-4036-90C3-4CEBF1C038FD}" type="slidenum">
              <a:rPr lang="fr-FR" smtClean="0"/>
              <a:pPr/>
              <a:t>‹N°›</a:t>
            </a:fld>
            <a:endParaRPr lang="fr-FR"/>
          </a:p>
        </p:txBody>
      </p:sp>
      <p:sp>
        <p:nvSpPr>
          <p:cNvPr id="9" name="Espace réservé du pied de page 8"/>
          <p:cNvSpPr>
            <a:spLocks noGrp="1"/>
          </p:cNvSpPr>
          <p:nvPr>
            <p:ph type="ftr" sz="quarter" idx="12"/>
          </p:nvPr>
        </p:nvSpPr>
        <p:spPr/>
        <p:txBody>
          <a:bodyPr/>
          <a:lstStyle/>
          <a:p>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156448" y="6422064"/>
            <a:ext cx="762000" cy="365125"/>
          </a:xfrm>
        </p:spPr>
        <p:txBody>
          <a:bodyPr/>
          <a:lstStyle/>
          <a:p>
            <a:fld id="{97A9E1B7-CCF2-4036-90C3-4CEBF1C038F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a:xfrm>
            <a:off x="457200" y="6422064"/>
            <a:ext cx="2133600" cy="365125"/>
          </a:xfrm>
        </p:spPr>
        <p:txBody>
          <a:bodyPr/>
          <a:lstStyle/>
          <a:p>
            <a:fld id="{F2CD3204-E3C2-4D1E-996F-7C5004F7E221}" type="datetimeFigureOut">
              <a:rPr lang="fr-FR" smtClean="0"/>
              <a:pPr/>
              <a:t>20/11/2018</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20/11/2018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orme libre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Espace réservé du titre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fr-FR" smtClean="0"/>
              <a:t>Cliquez pour modifier le style du titre</a:t>
            </a:r>
            <a:endParaRPr kumimoji="0" lang="en-US"/>
          </a:p>
        </p:txBody>
      </p:sp>
      <p:sp>
        <p:nvSpPr>
          <p:cNvPr id="30" name="Espace réservé du texte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Espace réservé de la date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F2CD3204-E3C2-4D1E-996F-7C5004F7E221}" type="datetimeFigureOut">
              <a:rPr lang="fr-FR" smtClean="0"/>
              <a:pPr/>
              <a:t>20/11/2018</a:t>
            </a:fld>
            <a:endParaRPr lang="fr-FR"/>
          </a:p>
        </p:txBody>
      </p:sp>
      <p:sp>
        <p:nvSpPr>
          <p:cNvPr id="22" name="Espace réservé du pied de page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fr-FR"/>
          </a:p>
        </p:txBody>
      </p:sp>
      <p:sp>
        <p:nvSpPr>
          <p:cNvPr id="18" name="Espace réservé du numéro de diapositive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7A9E1B7-CCF2-4036-90C3-4CEBF1C038FD}"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ideo" Target="file:///C:\Users\MCS\Desktop\Nouveau%20dossier\01.mp4"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ideo" Target="file:///C:\Users\MCS\Desktop\Nouveau%20dossier\02.mp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C:\Users\MCS\Desktop\Nouveau%20dossier\01.mp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ideo" Target="file:///C:\Users\MCS\Desktop\Nouveau%20dossier\03.mp4"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ideo" Target="file:///C:\Users\MCS\Desktop\Nouveau%20dossier\04.mp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ideo" Target="file:///C:\Users\MCS\Desktop\Nouveau%20dossier\Exp&#233;rience%20SI%20%20La%20densit&#233;.mp4"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ideo" Target="file:///C:\Users\MCS\Desktop\Nouveau%20dossier\05.mp4"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ideo" Target="file:///C:\Users\MCS\Desktop\Nouveau%20dossier\07.mp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2844" y="2500306"/>
            <a:ext cx="8572560" cy="3786214"/>
          </a:xfrm>
        </p:spPr>
        <p:txBody>
          <a:bodyPr>
            <a:normAutofit/>
          </a:bodyPr>
          <a:lstStyle/>
          <a:p>
            <a:pPr algn="ctr"/>
            <a:r>
              <a:rPr lang="ar-DZ" sz="4800" dirty="0" smtClean="0">
                <a:latin typeface="Estrangelo Edessa" pitchFamily="66" charset="0"/>
                <a:cs typeface="Estrangelo Edessa" pitchFamily="66" charset="0"/>
              </a:rPr>
              <a:t>متوسطة محمد </a:t>
            </a:r>
            <a:r>
              <a:rPr lang="ar-DZ" sz="4800" dirty="0" smtClean="0">
                <a:latin typeface="Estrangelo Edessa" pitchFamily="66" charset="0"/>
                <a:cs typeface="Estrangelo Edessa" pitchFamily="66" charset="0"/>
              </a:rPr>
              <a:t>بكاري</a:t>
            </a:r>
            <a:r>
              <a:rPr lang="ar-DZ" sz="4800" dirty="0" smtClean="0">
                <a:latin typeface="Estrangelo Edessa" pitchFamily="66" charset="0"/>
                <a:cs typeface="Estrangelo Edessa" pitchFamily="66" charset="0"/>
              </a:rPr>
              <a:t/>
            </a:r>
            <a:br>
              <a:rPr lang="ar-DZ" sz="4800" dirty="0" smtClean="0">
                <a:latin typeface="Estrangelo Edessa" pitchFamily="66" charset="0"/>
                <a:cs typeface="Estrangelo Edessa" pitchFamily="66" charset="0"/>
              </a:rPr>
            </a:br>
            <a:r>
              <a:rPr lang="ar-DZ" sz="4800" dirty="0" smtClean="0">
                <a:latin typeface="Estrangelo Edessa" pitchFamily="66" charset="0"/>
                <a:cs typeface="Estrangelo Edessa" pitchFamily="66" charset="0"/>
              </a:rPr>
              <a:t>خميس الخشنة</a:t>
            </a:r>
            <a:r>
              <a:rPr lang="ar-DZ" sz="4800" dirty="0" smtClean="0">
                <a:latin typeface="Estrangelo Edessa" pitchFamily="66" charset="0"/>
                <a:cs typeface="Estrangelo Edessa" pitchFamily="66" charset="0"/>
              </a:rPr>
              <a:t/>
            </a:r>
            <a:br>
              <a:rPr lang="ar-DZ" sz="4800" dirty="0" smtClean="0">
                <a:latin typeface="Estrangelo Edessa" pitchFamily="66" charset="0"/>
                <a:cs typeface="Estrangelo Edessa" pitchFamily="66" charset="0"/>
              </a:rPr>
            </a:br>
            <a:r>
              <a:rPr lang="ar-DZ" sz="4800" dirty="0" smtClean="0">
                <a:solidFill>
                  <a:srgbClr val="FF0000"/>
                </a:solidFill>
                <a:latin typeface="Estrangelo Edessa" pitchFamily="66" charset="0"/>
                <a:cs typeface="Estrangelo Edessa" pitchFamily="66" charset="0"/>
              </a:rPr>
              <a:t>إعداد مفتش التعليم المتوسط :</a:t>
            </a:r>
            <a:br>
              <a:rPr lang="ar-DZ" sz="4800" dirty="0" smtClean="0">
                <a:solidFill>
                  <a:srgbClr val="FF0000"/>
                </a:solidFill>
                <a:latin typeface="Estrangelo Edessa" pitchFamily="66" charset="0"/>
                <a:cs typeface="Estrangelo Edessa" pitchFamily="66" charset="0"/>
              </a:rPr>
            </a:br>
            <a:r>
              <a:rPr lang="ar-DZ" sz="4800" dirty="0" err="1" smtClean="0">
                <a:solidFill>
                  <a:srgbClr val="FF0000"/>
                </a:solidFill>
                <a:latin typeface="Estrangelo Edessa" pitchFamily="66" charset="0"/>
                <a:cs typeface="Estrangelo Edessa" pitchFamily="66" charset="0"/>
              </a:rPr>
              <a:t>بوقروة</a:t>
            </a:r>
            <a:r>
              <a:rPr lang="ar-DZ" sz="4800" dirty="0" smtClean="0">
                <a:solidFill>
                  <a:srgbClr val="FF0000"/>
                </a:solidFill>
                <a:latin typeface="Estrangelo Edessa" pitchFamily="66" charset="0"/>
                <a:cs typeface="Estrangelo Edessa" pitchFamily="66" charset="0"/>
              </a:rPr>
              <a:t> عبد الحق </a:t>
            </a:r>
            <a:br>
              <a:rPr lang="ar-DZ" sz="4800" dirty="0" smtClean="0">
                <a:solidFill>
                  <a:srgbClr val="FF0000"/>
                </a:solidFill>
                <a:latin typeface="Estrangelo Edessa" pitchFamily="66" charset="0"/>
                <a:cs typeface="Estrangelo Edessa" pitchFamily="66" charset="0"/>
              </a:rPr>
            </a:br>
            <a:r>
              <a:rPr lang="fr-FR" sz="4800" dirty="0" smtClean="0">
                <a:solidFill>
                  <a:srgbClr val="FF0000"/>
                </a:solidFill>
                <a:latin typeface="Estrangelo Edessa" pitchFamily="66" charset="0"/>
                <a:cs typeface="Estrangelo Edessa" pitchFamily="66" charset="0"/>
              </a:rPr>
              <a:t>2019/2018</a:t>
            </a:r>
            <a:r>
              <a:rPr lang="ar-DZ" sz="4800" dirty="0" smtClean="0">
                <a:solidFill>
                  <a:srgbClr val="FF0000"/>
                </a:solidFill>
                <a:latin typeface="Estrangelo Edessa" pitchFamily="66" charset="0"/>
                <a:cs typeface="Estrangelo Edessa" pitchFamily="66" charset="0"/>
              </a:rPr>
              <a:t>السنة الدراسية </a:t>
            </a:r>
            <a:r>
              <a:rPr lang="ar-DZ" dirty="0" smtClean="0">
                <a:solidFill>
                  <a:srgbClr val="FF0000"/>
                </a:solidFill>
                <a:latin typeface="Estrangelo Edessa" pitchFamily="66" charset="0"/>
                <a:cs typeface="Estrangelo Edessa" pitchFamily="66" charset="0"/>
              </a:rPr>
              <a:t>:</a:t>
            </a:r>
            <a:endParaRPr lang="fr-FR" dirty="0">
              <a:latin typeface="Estrangelo Edessa" pitchFamily="66" charset="0"/>
              <a:cs typeface="Estrangelo Edessa" pitchFamily="66" charset="0"/>
            </a:endParaRPr>
          </a:p>
        </p:txBody>
      </p:sp>
      <p:sp>
        <p:nvSpPr>
          <p:cNvPr id="3" name="Sous-titre 2"/>
          <p:cNvSpPr>
            <a:spLocks noGrp="1"/>
          </p:cNvSpPr>
          <p:nvPr>
            <p:ph type="subTitle" idx="1"/>
          </p:nvPr>
        </p:nvSpPr>
        <p:spPr>
          <a:xfrm>
            <a:off x="1071538" y="571480"/>
            <a:ext cx="6480048" cy="1752600"/>
          </a:xfrm>
        </p:spPr>
        <p:txBody>
          <a:bodyPr>
            <a:normAutofit/>
          </a:bodyPr>
          <a:lstStyle/>
          <a:p>
            <a:pPr algn="ctr"/>
            <a:r>
              <a:rPr lang="ar-DZ" sz="4400" b="1" dirty="0" smtClean="0">
                <a:latin typeface="Estrangelo Edessa" pitchFamily="66" charset="0"/>
                <a:cs typeface="Estrangelo Edessa" pitchFamily="66" charset="0"/>
              </a:rPr>
              <a:t>ندوة تربوية حول الميدان الثالث : الظواهر الميكانيكية للمستوى الرابعة متوسط</a:t>
            </a:r>
            <a:endParaRPr lang="fr-FR" sz="4400" b="1" dirty="0">
              <a:latin typeface="Estrangelo Edessa" pitchFamily="66" charset="0"/>
              <a:cs typeface="Estrangelo Edessa" pitchFamily="66"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2844" y="2130425"/>
            <a:ext cx="8715436" cy="1470025"/>
          </a:xfrm>
        </p:spPr>
        <p:txBody>
          <a:bodyPr>
            <a:normAutofit fontScale="90000"/>
          </a:bodyPr>
          <a:lstStyle/>
          <a:p>
            <a:pPr algn="ctr"/>
            <a:r>
              <a:rPr lang="ar-DZ" sz="6000" dirty="0" smtClean="0">
                <a:solidFill>
                  <a:srgbClr val="FF0000"/>
                </a:solidFill>
              </a:rPr>
              <a:t>دافـعـــة </a:t>
            </a:r>
            <a:r>
              <a:rPr lang="ar-DZ" sz="6000" dirty="0" err="1" smtClean="0">
                <a:solidFill>
                  <a:srgbClr val="FF0000"/>
                </a:solidFill>
              </a:rPr>
              <a:t>أرخميـدس</a:t>
            </a:r>
            <a:r>
              <a:rPr lang="ar-DZ" sz="6000" dirty="0" smtClean="0">
                <a:solidFill>
                  <a:srgbClr val="FF0000"/>
                </a:solidFill>
              </a:rPr>
              <a:t> في السـوائــل</a:t>
            </a:r>
            <a:endParaRPr lang="fr-FR" sz="6000" dirty="0">
              <a:solidFill>
                <a:srgbClr val="FF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ar-DZ" sz="7200" dirty="0" smtClean="0">
                <a:solidFill>
                  <a:srgbClr val="FFC000"/>
                </a:solidFill>
                <a:latin typeface="Estrangelo Edessa" pitchFamily="66" charset="0"/>
                <a:cs typeface="Estrangelo Edessa" pitchFamily="66" charset="0"/>
              </a:rPr>
              <a:t>مركبات الكفاءة</a:t>
            </a:r>
            <a:endParaRPr lang="fr-FR" sz="7200" dirty="0">
              <a:solidFill>
                <a:srgbClr val="FFC000"/>
              </a:solidFill>
              <a:latin typeface="Estrangelo Edessa" pitchFamily="66" charset="0"/>
              <a:cs typeface="Estrangelo Edessa" pitchFamily="66" charset="0"/>
            </a:endParaRPr>
          </a:p>
        </p:txBody>
      </p:sp>
      <p:sp>
        <p:nvSpPr>
          <p:cNvPr id="3" name="Espace réservé du contenu 2"/>
          <p:cNvSpPr>
            <a:spLocks noGrp="1"/>
          </p:cNvSpPr>
          <p:nvPr>
            <p:ph idx="1"/>
          </p:nvPr>
        </p:nvSpPr>
        <p:spPr>
          <a:xfrm>
            <a:off x="0" y="1428736"/>
            <a:ext cx="9144000" cy="5429264"/>
          </a:xfrm>
        </p:spPr>
        <p:txBody>
          <a:bodyPr/>
          <a:lstStyle/>
          <a:p>
            <a:pPr algn="r" rtl="1">
              <a:buNone/>
            </a:pPr>
            <a:r>
              <a:rPr lang="fr-FR" dirty="0" smtClean="0"/>
              <a:t>1</a:t>
            </a:r>
            <a:r>
              <a:rPr lang="ar-DZ" sz="3600" dirty="0" smtClean="0"/>
              <a:t> ــ </a:t>
            </a:r>
            <a:r>
              <a:rPr lang="ar-DZ" sz="4000" dirty="0" smtClean="0">
                <a:latin typeface="Estrangelo Edessa" pitchFamily="66" charset="0"/>
                <a:cs typeface="Estrangelo Edessa" pitchFamily="66" charset="0"/>
              </a:rPr>
              <a:t>خصائص دافعة أرخميدس</a:t>
            </a:r>
          </a:p>
          <a:p>
            <a:pPr algn="r" rtl="1">
              <a:buNone/>
            </a:pPr>
            <a:r>
              <a:rPr lang="ar-DZ" sz="4000" dirty="0" smtClean="0">
                <a:latin typeface="Estrangelo Edessa" pitchFamily="66" charset="0"/>
                <a:cs typeface="Estrangelo Edessa" pitchFamily="66" charset="0"/>
              </a:rPr>
              <a:t>  ـ الحامل </a:t>
            </a:r>
            <a:r>
              <a:rPr lang="ar-DZ" sz="4000" dirty="0" err="1" smtClean="0">
                <a:latin typeface="Estrangelo Edessa" pitchFamily="66" charset="0"/>
                <a:cs typeface="Estrangelo Edessa" pitchFamily="66" charset="0"/>
              </a:rPr>
              <a:t>ـ</a:t>
            </a:r>
            <a:r>
              <a:rPr lang="ar-DZ" sz="4000" dirty="0" smtClean="0">
                <a:latin typeface="Estrangelo Edessa" pitchFamily="66" charset="0"/>
                <a:cs typeface="Estrangelo Edessa" pitchFamily="66" charset="0"/>
              </a:rPr>
              <a:t> الجهة </a:t>
            </a:r>
            <a:r>
              <a:rPr lang="ar-DZ" sz="4000" dirty="0" err="1" smtClean="0">
                <a:latin typeface="Estrangelo Edessa" pitchFamily="66" charset="0"/>
                <a:cs typeface="Estrangelo Edessa" pitchFamily="66" charset="0"/>
              </a:rPr>
              <a:t>ـ</a:t>
            </a:r>
            <a:r>
              <a:rPr lang="ar-DZ" sz="4000" dirty="0" smtClean="0">
                <a:latin typeface="Estrangelo Edessa" pitchFamily="66" charset="0"/>
                <a:cs typeface="Estrangelo Edessa" pitchFamily="66" charset="0"/>
              </a:rPr>
              <a:t> الشدة </a:t>
            </a:r>
            <a:r>
              <a:rPr lang="ar-DZ" sz="4000" dirty="0" err="1" smtClean="0">
                <a:latin typeface="Estrangelo Edessa" pitchFamily="66" charset="0"/>
                <a:cs typeface="Estrangelo Edessa" pitchFamily="66" charset="0"/>
              </a:rPr>
              <a:t>ـ</a:t>
            </a:r>
            <a:r>
              <a:rPr lang="ar-DZ" sz="4000" dirty="0" smtClean="0">
                <a:latin typeface="Estrangelo Edessa" pitchFamily="66" charset="0"/>
                <a:cs typeface="Estrangelo Edessa" pitchFamily="66" charset="0"/>
              </a:rPr>
              <a:t> نقطة التأثير</a:t>
            </a:r>
          </a:p>
          <a:p>
            <a:pPr algn="r" rtl="1">
              <a:buNone/>
            </a:pPr>
            <a:r>
              <a:rPr lang="ar-DZ" sz="4000" dirty="0" smtClean="0">
                <a:latin typeface="Estrangelo Edessa" pitchFamily="66" charset="0"/>
                <a:cs typeface="Estrangelo Edessa" pitchFamily="66" charset="0"/>
              </a:rPr>
              <a:t>  ـ الثقل الظاهري لجسم</a:t>
            </a:r>
          </a:p>
          <a:p>
            <a:pPr algn="r" rtl="1">
              <a:buNone/>
            </a:pPr>
            <a:r>
              <a:rPr lang="fr-FR" sz="4000" dirty="0" smtClean="0">
                <a:latin typeface="Estrangelo Edessa" pitchFamily="66" charset="0"/>
                <a:cs typeface="Estrangelo Edessa" pitchFamily="66" charset="0"/>
              </a:rPr>
              <a:t>2</a:t>
            </a:r>
            <a:r>
              <a:rPr lang="ar-DZ" sz="4000" dirty="0" smtClean="0">
                <a:latin typeface="Estrangelo Edessa" pitchFamily="66" charset="0"/>
                <a:cs typeface="Estrangelo Edessa" pitchFamily="66" charset="0"/>
              </a:rPr>
              <a:t> ــ العوامل المؤثرة في شدة دافعة أرخميدس</a:t>
            </a:r>
          </a:p>
          <a:p>
            <a:pPr algn="r" rtl="1">
              <a:buNone/>
            </a:pPr>
            <a:r>
              <a:rPr lang="fr-FR" sz="4000" dirty="0" smtClean="0">
                <a:latin typeface="Estrangelo Edessa" pitchFamily="66" charset="0"/>
                <a:cs typeface="Estrangelo Edessa" pitchFamily="66" charset="0"/>
              </a:rPr>
              <a:t>3</a:t>
            </a:r>
            <a:r>
              <a:rPr lang="ar-DZ" sz="4000" dirty="0" smtClean="0">
                <a:latin typeface="Estrangelo Edessa" pitchFamily="66" charset="0"/>
                <a:cs typeface="Estrangelo Edessa" pitchFamily="66" charset="0"/>
              </a:rPr>
              <a:t> ــ شرط توازن جسم مغمور في سائل</a:t>
            </a:r>
          </a:p>
          <a:p>
            <a:pPr algn="r" rtl="1">
              <a:buNone/>
            </a:pPr>
            <a:r>
              <a:rPr lang="fr-FR" sz="4000" dirty="0" smtClean="0">
                <a:latin typeface="Estrangelo Edessa" pitchFamily="66" charset="0"/>
                <a:cs typeface="Estrangelo Edessa" pitchFamily="66" charset="0"/>
              </a:rPr>
              <a:t>4</a:t>
            </a:r>
            <a:r>
              <a:rPr lang="ar-DZ" sz="4000" dirty="0" smtClean="0">
                <a:latin typeface="Estrangelo Edessa" pitchFamily="66" charset="0"/>
                <a:cs typeface="Estrangelo Edessa" pitchFamily="66" charset="0"/>
              </a:rPr>
              <a:t> ــ شرط توازن جسم طافي في سائل </a:t>
            </a:r>
            <a:endParaRPr lang="fr-FR" sz="4000" dirty="0">
              <a:latin typeface="Estrangelo Edessa" pitchFamily="66" charset="0"/>
              <a:cs typeface="Estrangelo Edessa" pitchFamily="66"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571472" y="214290"/>
            <a:ext cx="8229600" cy="1219200"/>
          </a:xfrm>
        </p:spPr>
        <p:txBody>
          <a:bodyPr/>
          <a:lstStyle/>
          <a:p>
            <a:pPr algn="ctr" rtl="1"/>
            <a:r>
              <a:rPr lang="fr-FR" sz="3600" dirty="0" smtClean="0">
                <a:solidFill>
                  <a:srgbClr val="FF0000"/>
                </a:solidFill>
              </a:rPr>
              <a:t>1</a:t>
            </a:r>
            <a:r>
              <a:rPr lang="ar-DZ" sz="3600" dirty="0" smtClean="0">
                <a:solidFill>
                  <a:srgbClr val="FF0000"/>
                </a:solidFill>
              </a:rPr>
              <a:t> ـ</a:t>
            </a:r>
            <a:r>
              <a:rPr lang="ar-DZ" dirty="0" smtClean="0">
                <a:solidFill>
                  <a:srgbClr val="FF0000"/>
                </a:solidFill>
              </a:rPr>
              <a:t> </a:t>
            </a:r>
            <a:r>
              <a:rPr lang="ar-DZ" dirty="0" smtClean="0">
                <a:solidFill>
                  <a:srgbClr val="FF0000"/>
                </a:solidFill>
                <a:latin typeface="Estrangelo Edessa" pitchFamily="66" charset="0"/>
                <a:cs typeface="Estrangelo Edessa" pitchFamily="66" charset="0"/>
              </a:rPr>
              <a:t>خصـائـص دافـعــة </a:t>
            </a:r>
            <a:r>
              <a:rPr lang="ar-DZ" sz="6000" dirty="0" err="1" smtClean="0">
                <a:solidFill>
                  <a:srgbClr val="FF0000"/>
                </a:solidFill>
                <a:latin typeface="Estrangelo Edessa" pitchFamily="66" charset="0"/>
                <a:cs typeface="Estrangelo Edessa" pitchFamily="66" charset="0"/>
              </a:rPr>
              <a:t>أرخمـيــدس</a:t>
            </a:r>
            <a:endParaRPr lang="fr-FR" dirty="0">
              <a:solidFill>
                <a:srgbClr val="FF0000"/>
              </a:solidFill>
              <a:latin typeface="Estrangelo Edessa" pitchFamily="66" charset="0"/>
              <a:cs typeface="Estrangelo Edessa" pitchFamily="66" charset="0"/>
            </a:endParaRPr>
          </a:p>
        </p:txBody>
      </p:sp>
      <p:sp>
        <p:nvSpPr>
          <p:cNvPr id="2" name="Espace réservé du contenu 1"/>
          <p:cNvSpPr>
            <a:spLocks noGrp="1"/>
          </p:cNvSpPr>
          <p:nvPr>
            <p:ph idx="1"/>
          </p:nvPr>
        </p:nvSpPr>
        <p:spPr>
          <a:xfrm>
            <a:off x="0" y="1600200"/>
            <a:ext cx="9144000" cy="5257800"/>
          </a:xfrm>
        </p:spPr>
        <p:txBody>
          <a:bodyPr>
            <a:normAutofit/>
          </a:bodyPr>
          <a:lstStyle/>
          <a:p>
            <a:pPr algn="ctr" rtl="1">
              <a:buNone/>
            </a:pPr>
            <a:r>
              <a:rPr lang="ar-DZ" sz="5400" dirty="0" smtClean="0">
                <a:solidFill>
                  <a:srgbClr val="FFFF00"/>
                </a:solidFill>
                <a:latin typeface="Estrangelo Edessa" pitchFamily="66" charset="0"/>
                <a:cs typeface="Estrangelo Edessa" pitchFamily="66" charset="0"/>
              </a:rPr>
              <a:t>الأهداف التعلمية</a:t>
            </a:r>
          </a:p>
          <a:p>
            <a:pPr algn="r" rtl="1">
              <a:buNone/>
            </a:pPr>
            <a:r>
              <a:rPr lang="ar-DZ" sz="4000" dirty="0" smtClean="0">
                <a:latin typeface="Estrangelo Edessa" pitchFamily="66" charset="0"/>
                <a:cs typeface="Estrangelo Edessa" pitchFamily="66" charset="0"/>
              </a:rPr>
              <a:t>ــ </a:t>
            </a:r>
            <a:r>
              <a:rPr lang="ar-DZ" sz="4400" dirty="0" smtClean="0">
                <a:latin typeface="Estrangelo Edessa" pitchFamily="66" charset="0"/>
                <a:cs typeface="Estrangelo Edessa" pitchFamily="66" charset="0"/>
              </a:rPr>
              <a:t>يكتشف دافعة أرخميدس من خلال جسم مغمور في الماء</a:t>
            </a:r>
          </a:p>
          <a:p>
            <a:pPr algn="r" rtl="1">
              <a:buNone/>
            </a:pPr>
            <a:r>
              <a:rPr lang="ar-DZ" sz="4400" dirty="0" smtClean="0">
                <a:latin typeface="Estrangelo Edessa" pitchFamily="66" charset="0"/>
                <a:cs typeface="Estrangelo Edessa" pitchFamily="66" charset="0"/>
              </a:rPr>
              <a:t>ــ يحدد خصائص شعاع دافعة أرخميدس على جسم مغمور في الماء   </a:t>
            </a:r>
          </a:p>
          <a:p>
            <a:pPr algn="r" rtl="1">
              <a:buNone/>
            </a:pPr>
            <a:r>
              <a:rPr lang="ar-DZ" sz="4400" dirty="0" smtClean="0">
                <a:latin typeface="Estrangelo Edessa" pitchFamily="66" charset="0"/>
                <a:cs typeface="Estrangelo Edessa" pitchFamily="66" charset="0"/>
              </a:rPr>
              <a:t>ــ يعين تجريبيا شدة دافعة أرخميدس</a:t>
            </a:r>
          </a:p>
          <a:p>
            <a:pPr algn="r"/>
            <a:endParaRPr lang="fr-FR" sz="4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ar-DZ" dirty="0" smtClean="0">
                <a:solidFill>
                  <a:srgbClr val="00B0F0"/>
                </a:solidFill>
                <a:latin typeface="Estrangelo Edessa" pitchFamily="66" charset="0"/>
                <a:cs typeface="Estrangelo Edessa" pitchFamily="66" charset="0"/>
              </a:rPr>
              <a:t>الأنشطة المقترحة للوصول إلى الأهداف التعلمية</a:t>
            </a:r>
            <a:endParaRPr lang="fr-FR" dirty="0">
              <a:solidFill>
                <a:srgbClr val="00B0F0"/>
              </a:solidFill>
              <a:latin typeface="Estrangelo Edessa" pitchFamily="66" charset="0"/>
              <a:cs typeface="Estrangelo Edessa" pitchFamily="66" charset="0"/>
            </a:endParaRPr>
          </a:p>
        </p:txBody>
      </p:sp>
      <p:sp>
        <p:nvSpPr>
          <p:cNvPr id="3" name="Espace réservé du contenu 2"/>
          <p:cNvSpPr>
            <a:spLocks noGrp="1"/>
          </p:cNvSpPr>
          <p:nvPr>
            <p:ph idx="1"/>
          </p:nvPr>
        </p:nvSpPr>
        <p:spPr>
          <a:xfrm>
            <a:off x="0" y="1428736"/>
            <a:ext cx="9144000" cy="5429264"/>
          </a:xfrm>
        </p:spPr>
        <p:txBody>
          <a:bodyPr>
            <a:noAutofit/>
          </a:bodyPr>
          <a:lstStyle/>
          <a:p>
            <a:pPr algn="r" rtl="1">
              <a:buNone/>
            </a:pPr>
            <a:r>
              <a:rPr lang="ar-DZ" sz="4000" b="1" dirty="0" smtClean="0">
                <a:solidFill>
                  <a:srgbClr val="FF0000"/>
                </a:solidFill>
                <a:latin typeface="Estrangelo Edessa" pitchFamily="66" charset="0"/>
                <a:cs typeface="Estrangelo Edessa" pitchFamily="66" charset="0"/>
              </a:rPr>
              <a:t>نشاط </a:t>
            </a:r>
            <a:r>
              <a:rPr lang="fr-FR" sz="4000" b="1" dirty="0" smtClean="0">
                <a:solidFill>
                  <a:srgbClr val="FF0000"/>
                </a:solidFill>
                <a:latin typeface="Estrangelo Edessa" pitchFamily="66" charset="0"/>
                <a:cs typeface="Estrangelo Edessa" pitchFamily="66" charset="0"/>
              </a:rPr>
              <a:t>1</a:t>
            </a:r>
            <a:r>
              <a:rPr lang="ar-DZ" sz="4000" b="1" dirty="0" smtClean="0">
                <a:solidFill>
                  <a:srgbClr val="FF0000"/>
                </a:solidFill>
                <a:latin typeface="Estrangelo Edessa" pitchFamily="66" charset="0"/>
                <a:cs typeface="Estrangelo Edessa" pitchFamily="66" charset="0"/>
              </a:rPr>
              <a:t> ـ أكتشف الدافعة</a:t>
            </a:r>
          </a:p>
          <a:p>
            <a:pPr algn="r" rtl="1">
              <a:buNone/>
            </a:pPr>
            <a:r>
              <a:rPr lang="ar-DZ" sz="4000" b="1" dirty="0" smtClean="0">
                <a:latin typeface="Estrangelo Edessa" pitchFamily="66" charset="0"/>
                <a:cs typeface="Estrangelo Edessa" pitchFamily="66" charset="0"/>
              </a:rPr>
              <a:t>يقدم لكل فوج من المتعلمين جهاز </a:t>
            </a:r>
            <a:r>
              <a:rPr lang="ar-DZ" sz="4000" b="1" dirty="0" err="1" smtClean="0">
                <a:latin typeface="Estrangelo Edessa" pitchFamily="66" charset="0"/>
                <a:cs typeface="Estrangelo Edessa" pitchFamily="66" charset="0"/>
              </a:rPr>
              <a:t>الربيعة</a:t>
            </a:r>
            <a:r>
              <a:rPr lang="ar-DZ" sz="4000" b="1" dirty="0" smtClean="0">
                <a:latin typeface="Estrangelo Edessa" pitchFamily="66" charset="0"/>
                <a:cs typeface="Estrangelo Edessa" pitchFamily="66" charset="0"/>
              </a:rPr>
              <a:t> – أسطوانة </a:t>
            </a:r>
            <a:endParaRPr lang="fr-FR" sz="4000" b="1" dirty="0" smtClean="0">
              <a:latin typeface="Estrangelo Edessa" pitchFamily="66" charset="0"/>
              <a:cs typeface="Estrangelo Edessa" pitchFamily="66" charset="0"/>
            </a:endParaRPr>
          </a:p>
          <a:p>
            <a:pPr algn="r" rtl="1">
              <a:buNone/>
            </a:pPr>
            <a:r>
              <a:rPr lang="ar-DZ" sz="4000" b="1" dirty="0" smtClean="0">
                <a:latin typeface="Estrangelo Edessa" pitchFamily="66" charset="0"/>
                <a:cs typeface="Estrangelo Edessa" pitchFamily="66" charset="0"/>
              </a:rPr>
              <a:t>معدنية، كأس </a:t>
            </a:r>
            <a:r>
              <a:rPr lang="ar-DZ" sz="4000" b="1" dirty="0" err="1" smtClean="0">
                <a:latin typeface="Estrangelo Edessa" pitchFamily="66" charset="0"/>
                <a:cs typeface="Estrangelo Edessa" pitchFamily="66" charset="0"/>
              </a:rPr>
              <a:t>بيشر</a:t>
            </a:r>
            <a:r>
              <a:rPr lang="ar-DZ" sz="4000" b="1" dirty="0" smtClean="0">
                <a:latin typeface="Estrangelo Edessa" pitchFamily="66" charset="0"/>
                <a:cs typeface="Estrangelo Edessa" pitchFamily="66" charset="0"/>
              </a:rPr>
              <a:t> مملوء بالماء. </a:t>
            </a:r>
            <a:endParaRPr lang="fr-FR" sz="4000" b="1" dirty="0" smtClean="0">
              <a:latin typeface="Estrangelo Edessa" pitchFamily="66" charset="0"/>
              <a:cs typeface="Estrangelo Edessa" pitchFamily="66" charset="0"/>
            </a:endParaRPr>
          </a:p>
          <a:p>
            <a:pPr algn="r" rtl="1">
              <a:buNone/>
            </a:pPr>
            <a:r>
              <a:rPr lang="ar-DZ" sz="4000" b="1" dirty="0" smtClean="0">
                <a:latin typeface="Estrangelo Edessa" pitchFamily="66" charset="0"/>
                <a:cs typeface="Estrangelo Edessa" pitchFamily="66" charset="0"/>
              </a:rPr>
              <a:t>يطلب  منهم</a:t>
            </a:r>
            <a:r>
              <a:rPr lang="fr-FR" sz="4000" b="1" dirty="0" smtClean="0">
                <a:latin typeface="Estrangelo Edessa" pitchFamily="66" charset="0"/>
                <a:cs typeface="Estrangelo Edessa" pitchFamily="66" charset="0"/>
              </a:rPr>
              <a:t> </a:t>
            </a:r>
            <a:r>
              <a:rPr lang="ar-DZ" sz="4000" b="1" dirty="0" smtClean="0">
                <a:latin typeface="Estrangelo Edessa" pitchFamily="66" charset="0"/>
                <a:cs typeface="Estrangelo Edessa" pitchFamily="66" charset="0"/>
              </a:rPr>
              <a:t>تعليق الأسطوانة المعدنية بجهاز </a:t>
            </a:r>
            <a:r>
              <a:rPr lang="ar-DZ" sz="4000" b="1" dirty="0" err="1" smtClean="0">
                <a:latin typeface="Estrangelo Edessa" pitchFamily="66" charset="0"/>
                <a:cs typeface="Estrangelo Edessa" pitchFamily="66" charset="0"/>
              </a:rPr>
              <a:t>الربيعة</a:t>
            </a:r>
            <a:endParaRPr lang="fr-FR" sz="4000" b="1" dirty="0" smtClean="0">
              <a:latin typeface="Estrangelo Edessa" pitchFamily="66" charset="0"/>
              <a:cs typeface="Estrangelo Edessa" pitchFamily="66" charset="0"/>
            </a:endParaRPr>
          </a:p>
          <a:p>
            <a:pPr algn="r" rtl="1">
              <a:buNone/>
            </a:pPr>
            <a:r>
              <a:rPr lang="ar-DZ" sz="4000" b="1" dirty="0" smtClean="0">
                <a:latin typeface="Estrangelo Edessa" pitchFamily="66" charset="0"/>
                <a:cs typeface="Estrangelo Edessa" pitchFamily="66" charset="0"/>
              </a:rPr>
              <a:t> و قراءة قيمة ثقلها.  ثم غمرها في كاس </a:t>
            </a:r>
            <a:r>
              <a:rPr lang="ar-DZ" sz="4000" b="1" dirty="0" err="1" smtClean="0">
                <a:latin typeface="Estrangelo Edessa" pitchFamily="66" charset="0"/>
                <a:cs typeface="Estrangelo Edessa" pitchFamily="66" charset="0"/>
              </a:rPr>
              <a:t>بيشر</a:t>
            </a:r>
            <a:r>
              <a:rPr lang="ar-DZ" sz="4000" b="1" dirty="0" smtClean="0">
                <a:latin typeface="Estrangelo Edessa" pitchFamily="66" charset="0"/>
                <a:cs typeface="Estrangelo Edessa" pitchFamily="66" charset="0"/>
              </a:rPr>
              <a:t> </a:t>
            </a:r>
            <a:endParaRPr lang="fr-FR" sz="4000" b="1" dirty="0" smtClean="0">
              <a:latin typeface="Estrangelo Edessa" pitchFamily="66" charset="0"/>
              <a:cs typeface="Estrangelo Edessa" pitchFamily="66" charset="0"/>
            </a:endParaRPr>
          </a:p>
          <a:p>
            <a:pPr algn="r" rtl="1">
              <a:buNone/>
            </a:pPr>
            <a:r>
              <a:rPr lang="ar-DZ" sz="4000" b="1" dirty="0" smtClean="0">
                <a:latin typeface="Estrangelo Edessa" pitchFamily="66" charset="0"/>
                <a:cs typeface="Estrangelo Edessa" pitchFamily="66" charset="0"/>
              </a:rPr>
              <a:t>و إعادة قراءة قيمة الثقل كما هو موضح في الشكلين </a:t>
            </a:r>
            <a:r>
              <a:rPr lang="fr-FR" sz="3600" b="1" dirty="0" smtClean="0">
                <a:latin typeface="Estrangelo Edessa" pitchFamily="66" charset="0"/>
                <a:cs typeface="Estrangelo Edessa" pitchFamily="66" charset="0"/>
              </a:rPr>
              <a:t>1</a:t>
            </a:r>
            <a:r>
              <a:rPr lang="ar-DZ" sz="4000" b="1" dirty="0" smtClean="0">
                <a:latin typeface="Estrangelo Edessa" pitchFamily="66" charset="0"/>
                <a:cs typeface="Estrangelo Edessa" pitchFamily="66" charset="0"/>
              </a:rPr>
              <a:t> و </a:t>
            </a:r>
            <a:r>
              <a:rPr lang="fr-FR" sz="3600" b="1" dirty="0" smtClean="0">
                <a:latin typeface="Estrangelo Edessa" pitchFamily="66" charset="0"/>
                <a:cs typeface="Estrangelo Edessa" pitchFamily="66" charset="0"/>
              </a:rPr>
              <a:t>2</a:t>
            </a:r>
            <a:r>
              <a:rPr lang="ar-DZ" sz="4000" b="1" dirty="0" smtClean="0">
                <a:latin typeface="Estrangelo Edessa" pitchFamily="66" charset="0"/>
                <a:cs typeface="Estrangelo Edessa" pitchFamily="66" charset="0"/>
              </a:rPr>
              <a:t>و تسجيل ملاحظاتهم </a:t>
            </a:r>
            <a:endParaRPr lang="fr-FR" sz="4000" b="1" dirty="0" smtClean="0">
              <a:latin typeface="Estrangelo Edessa" pitchFamily="66" charset="0"/>
              <a:cs typeface="Estrangelo Edessa" pitchFamily="66" charset="0"/>
            </a:endParaRPr>
          </a:p>
          <a:p>
            <a:pPr algn="r" rtl="1">
              <a:buNone/>
            </a:pPr>
            <a:r>
              <a:rPr lang="ar-DZ" sz="4000" b="1" dirty="0" smtClean="0">
                <a:latin typeface="Estrangelo Edessa" pitchFamily="66" charset="0"/>
                <a:cs typeface="Estrangelo Edessa" pitchFamily="66" charset="0"/>
              </a:rPr>
              <a:t>و استنتاجاتهم مع إعطاء تفسيرا لذالك.</a:t>
            </a:r>
            <a:endParaRPr lang="fr-FR" sz="4000" b="1" dirty="0" smtClean="0">
              <a:latin typeface="Estrangelo Edessa" pitchFamily="66" charset="0"/>
              <a:cs typeface="Estrangelo Edessa" pitchFamily="66" charset="0"/>
            </a:endParaRPr>
          </a:p>
          <a:p>
            <a:pPr algn="r" rtl="1">
              <a:buNone/>
            </a:pPr>
            <a:endParaRPr lang="fr-FR" sz="4000" b="1" dirty="0" smtClean="0">
              <a:latin typeface="Estrangelo Edessa" pitchFamily="66" charset="0"/>
              <a:cs typeface="Estrangelo Edessa" pitchFamily="66" charset="0"/>
            </a:endParaRPr>
          </a:p>
          <a:p>
            <a:pPr algn="r" rtl="1">
              <a:buNone/>
            </a:pPr>
            <a:endParaRPr lang="fr-FR" sz="4000" b="1" dirty="0" smtClean="0">
              <a:latin typeface="Estrangelo Edessa" pitchFamily="66" charset="0"/>
              <a:cs typeface="Estrangelo Edessa" pitchFamily="66" charset="0"/>
            </a:endParaRPr>
          </a:p>
          <a:p>
            <a:pPr algn="r" rtl="1">
              <a:buNone/>
            </a:pPr>
            <a:endParaRPr lang="fr-FR" sz="4000" b="1" dirty="0" smtClean="0">
              <a:latin typeface="Estrangelo Edessa" pitchFamily="66" charset="0"/>
              <a:cs typeface="Estrangelo Edessa" pitchFamily="66" charset="0"/>
            </a:endParaRPr>
          </a:p>
          <a:p>
            <a:pPr algn="r" rtl="1">
              <a:buNone/>
            </a:pPr>
            <a:endParaRPr lang="ar-DZ" sz="4000" b="1" dirty="0" smtClean="0">
              <a:latin typeface="Estrangelo Edessa" pitchFamily="66" charset="0"/>
              <a:cs typeface="Estrangelo Edessa" pitchFamily="66" charset="0"/>
            </a:endParaRPr>
          </a:p>
          <a:p>
            <a:pPr algn="r" rtl="1">
              <a:buNone/>
            </a:pPr>
            <a:endParaRPr lang="ar-DZ" sz="4000" b="1" dirty="0" smtClean="0">
              <a:latin typeface="Estrangelo Edessa" pitchFamily="66" charset="0"/>
              <a:cs typeface="Estrangelo Edessa" pitchFamily="66" charset="0"/>
            </a:endParaRPr>
          </a:p>
          <a:p>
            <a:pPr algn="r" rtl="1">
              <a:buNone/>
            </a:pPr>
            <a:r>
              <a:rPr lang="ar-DZ" sz="4000" b="1" dirty="0" smtClean="0">
                <a:latin typeface="Estrangelo Edessa" pitchFamily="66" charset="0"/>
                <a:cs typeface="Estrangelo Edessa" pitchFamily="66" charset="0"/>
              </a:rPr>
              <a:t> </a:t>
            </a:r>
            <a:endParaRPr lang="fr-FR" sz="4000" b="1" dirty="0" smtClean="0">
              <a:latin typeface="Estrangelo Edessa" pitchFamily="66" charset="0"/>
              <a:cs typeface="Estrangelo Edessa" pitchFamily="66" charset="0"/>
            </a:endParaRPr>
          </a:p>
        </p:txBody>
      </p:sp>
      <p:pic>
        <p:nvPicPr>
          <p:cNvPr id="4" name="Image 3"/>
          <p:cNvPicPr/>
          <p:nvPr/>
        </p:nvPicPr>
        <p:blipFill>
          <a:blip r:embed="rId3"/>
          <a:srcRect/>
          <a:stretch>
            <a:fillRect/>
          </a:stretch>
        </p:blipFill>
        <p:spPr bwMode="auto">
          <a:xfrm>
            <a:off x="0" y="1500174"/>
            <a:ext cx="3071802" cy="35004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ar-DZ" dirty="0" smtClean="0">
                <a:solidFill>
                  <a:srgbClr val="FF0000"/>
                </a:solidFill>
                <a:latin typeface="Andalus" pitchFamily="18" charset="-78"/>
                <a:cs typeface="Andalus" pitchFamily="18" charset="-78"/>
              </a:rPr>
              <a:t>01    اكتشف دافعة </a:t>
            </a:r>
            <a:r>
              <a:rPr lang="ar-DZ" dirty="0" err="1" smtClean="0">
                <a:solidFill>
                  <a:srgbClr val="FF0000"/>
                </a:solidFill>
                <a:latin typeface="Andalus" pitchFamily="18" charset="-78"/>
                <a:cs typeface="Andalus" pitchFamily="18" charset="-78"/>
              </a:rPr>
              <a:t>ارخميدس</a:t>
            </a:r>
            <a:endParaRPr lang="fr-FR" dirty="0">
              <a:solidFill>
                <a:srgbClr val="FF0000"/>
              </a:solidFill>
              <a:latin typeface="Andalus" pitchFamily="18" charset="-78"/>
              <a:cs typeface="Andalus" pitchFamily="18" charset="-78"/>
            </a:endParaRPr>
          </a:p>
        </p:txBody>
      </p:sp>
      <p:pic>
        <p:nvPicPr>
          <p:cNvPr id="8" name="01.mp4">
            <a:hlinkClick r:id="" action="ppaction://media"/>
          </p:cNvPr>
          <p:cNvPicPr>
            <a:picLocks noGrp="1" noRot="1" noChangeAspect="1"/>
          </p:cNvPicPr>
          <p:nvPr>
            <p:ph idx="1"/>
            <a:videoFile r:link="rId1"/>
          </p:nvPr>
        </p:nvPicPr>
        <p:blipFill>
          <a:blip r:embed="rId3"/>
          <a:stretch>
            <a:fillRect/>
          </a:stretch>
        </p:blipFill>
        <p:spPr>
          <a:xfrm>
            <a:off x="1643042" y="2719388"/>
            <a:ext cx="4929222" cy="3281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528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normAutofit/>
          </a:bodyPr>
          <a:lstStyle/>
          <a:p>
            <a:pPr algn="r" rtl="1">
              <a:buNone/>
            </a:pPr>
            <a:r>
              <a:rPr lang="ar-DZ" dirty="0" smtClean="0"/>
              <a:t> </a:t>
            </a:r>
            <a:r>
              <a:rPr lang="ar-DZ" sz="4000" dirty="0" smtClean="0">
                <a:solidFill>
                  <a:srgbClr val="FF0000"/>
                </a:solidFill>
                <a:latin typeface="Estrangelo Edessa" pitchFamily="66" charset="0"/>
                <a:cs typeface="Estrangelo Edessa" pitchFamily="66" charset="0"/>
              </a:rPr>
              <a:t>النشاط </a:t>
            </a:r>
            <a:r>
              <a:rPr lang="fr-FR" sz="4000" dirty="0" smtClean="0">
                <a:solidFill>
                  <a:srgbClr val="FF0000"/>
                </a:solidFill>
                <a:latin typeface="Estrangelo Edessa" pitchFamily="66" charset="0"/>
                <a:cs typeface="Estrangelo Edessa" pitchFamily="66" charset="0"/>
              </a:rPr>
              <a:t>2</a:t>
            </a:r>
            <a:r>
              <a:rPr lang="ar-DZ" sz="4000" dirty="0" smtClean="0">
                <a:solidFill>
                  <a:srgbClr val="FF0000"/>
                </a:solidFill>
                <a:latin typeface="Estrangelo Edessa" pitchFamily="66" charset="0"/>
                <a:cs typeface="Estrangelo Edessa" pitchFamily="66" charset="0"/>
              </a:rPr>
              <a:t> ـ خصائص دافعة أرخميدس</a:t>
            </a:r>
            <a:r>
              <a:rPr lang="ar-DZ" sz="4000" dirty="0" smtClean="0">
                <a:latin typeface="Estrangelo Edessa" pitchFamily="66" charset="0"/>
                <a:cs typeface="Estrangelo Edessa" pitchFamily="66" charset="0"/>
              </a:rPr>
              <a:t> </a:t>
            </a:r>
            <a:endParaRPr lang="fr-FR" sz="4000" dirty="0" smtClean="0">
              <a:solidFill>
                <a:srgbClr val="FF0000"/>
              </a:solidFill>
              <a:latin typeface="Estrangelo Edessa" pitchFamily="66" charset="0"/>
              <a:cs typeface="Estrangelo Edessa" pitchFamily="66" charset="0"/>
            </a:endParaRPr>
          </a:p>
          <a:p>
            <a:pPr algn="r" rtl="1">
              <a:buNone/>
            </a:pPr>
            <a:r>
              <a:rPr lang="ar-DZ" sz="3200" dirty="0" smtClean="0">
                <a:latin typeface="Estrangelo Edessa" pitchFamily="66" charset="0"/>
                <a:cs typeface="Estrangelo Edessa" pitchFamily="66" charset="0"/>
              </a:rPr>
              <a:t>تقديم لكل فوج الوسائل التالية : حـوض زجـاجي، خـيـط من القطن، مـاء يمكن التحكم في غـزارته أثناء سكبه، كريه مطاطية.</a:t>
            </a:r>
            <a:endParaRPr lang="fr-FR" sz="3200" dirty="0" smtClean="0">
              <a:latin typeface="Estrangelo Edessa" pitchFamily="66" charset="0"/>
              <a:cs typeface="Estrangelo Edessa" pitchFamily="66" charset="0"/>
            </a:endParaRPr>
          </a:p>
          <a:p>
            <a:pPr algn="r" rtl="1">
              <a:buNone/>
            </a:pPr>
            <a:r>
              <a:rPr lang="ar-DZ" sz="3200" dirty="0" smtClean="0">
                <a:latin typeface="Estrangelo Edessa" pitchFamily="66" charset="0"/>
                <a:cs typeface="Estrangelo Edessa" pitchFamily="66" charset="0"/>
              </a:rPr>
              <a:t>توجيه المتعلمين إلى </a:t>
            </a:r>
            <a:r>
              <a:rPr lang="ar-DZ" sz="3200" dirty="0" err="1" smtClean="0">
                <a:latin typeface="Estrangelo Edessa" pitchFamily="66" charset="0"/>
                <a:cs typeface="Estrangelo Edessa" pitchFamily="66" charset="0"/>
              </a:rPr>
              <a:t>ت</a:t>
            </a:r>
            <a:r>
              <a:rPr lang="ar-SA" sz="3200" dirty="0" smtClean="0">
                <a:latin typeface="Estrangelo Edessa" pitchFamily="66" charset="0"/>
                <a:cs typeface="Estrangelo Edessa" pitchFamily="66" charset="0"/>
              </a:rPr>
              <a:t>ثبّ</a:t>
            </a:r>
            <a:r>
              <a:rPr lang="ar-DZ" sz="3200" dirty="0" smtClean="0">
                <a:latin typeface="Estrangelo Edessa" pitchFamily="66" charset="0"/>
                <a:cs typeface="Estrangelo Edessa" pitchFamily="66" charset="0"/>
              </a:rPr>
              <a:t>ي</a:t>
            </a:r>
            <a:r>
              <a:rPr lang="ar-SA" sz="3200" dirty="0" smtClean="0">
                <a:latin typeface="Estrangelo Edessa" pitchFamily="66" charset="0"/>
                <a:cs typeface="Estrangelo Edessa" pitchFamily="66" charset="0"/>
              </a:rPr>
              <a:t>ت أحـد طرفي خيط القطن بقعـر</a:t>
            </a:r>
            <a:r>
              <a:rPr lang="ar-DZ" sz="3200" dirty="0" smtClean="0">
                <a:latin typeface="Estrangelo Edessa" pitchFamily="66" charset="0"/>
                <a:cs typeface="Estrangelo Edessa" pitchFamily="66" charset="0"/>
              </a:rPr>
              <a:t> </a:t>
            </a:r>
            <a:r>
              <a:rPr lang="ar-SA" sz="3200" dirty="0" smtClean="0">
                <a:latin typeface="Estrangelo Edessa" pitchFamily="66" charset="0"/>
                <a:cs typeface="Estrangelo Edessa" pitchFamily="66" charset="0"/>
              </a:rPr>
              <a:t>الحوض الزجاجي </a:t>
            </a:r>
            <a:r>
              <a:rPr lang="ar-SA" sz="3200" dirty="0" err="1" smtClean="0">
                <a:latin typeface="Estrangelo Edessa" pitchFamily="66" charset="0"/>
                <a:cs typeface="Estrangelo Edessa" pitchFamily="66" charset="0"/>
              </a:rPr>
              <a:t>و</a:t>
            </a:r>
            <a:r>
              <a:rPr lang="ar-SA" sz="3200" dirty="0" smtClean="0">
                <a:latin typeface="Estrangelo Edessa" pitchFamily="66" charset="0"/>
                <a:cs typeface="Estrangelo Edessa" pitchFamily="66" charset="0"/>
              </a:rPr>
              <a:t> طـرفـه الثاني بالكري</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المطاطية ثـمّ ترك الكري</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مع الخيط في قعر الحوض.</a:t>
            </a:r>
            <a:r>
              <a:rPr lang="ar-DZ" sz="3200" dirty="0" smtClean="0">
                <a:latin typeface="Estrangelo Edessa" pitchFamily="66" charset="0"/>
                <a:cs typeface="Estrangelo Edessa" pitchFamily="66" charset="0"/>
              </a:rPr>
              <a:t> </a:t>
            </a:r>
            <a:endParaRPr lang="fr-FR" sz="3200" dirty="0" smtClean="0">
              <a:latin typeface="Estrangelo Edessa" pitchFamily="66" charset="0"/>
              <a:cs typeface="Estrangelo Edessa" pitchFamily="66" charset="0"/>
            </a:endParaRPr>
          </a:p>
          <a:p>
            <a:pPr algn="r" rtl="1">
              <a:buNone/>
            </a:pPr>
            <a:r>
              <a:rPr lang="ar-DZ" sz="3200" dirty="0" smtClean="0">
                <a:latin typeface="Estrangelo Edessa" pitchFamily="66" charset="0"/>
                <a:cs typeface="Estrangelo Edessa" pitchFamily="66" charset="0"/>
              </a:rPr>
              <a:t>إ</a:t>
            </a:r>
            <a:r>
              <a:rPr lang="ar-SA" sz="3200" dirty="0" err="1" smtClean="0">
                <a:latin typeface="Estrangelo Edessa" pitchFamily="66" charset="0"/>
                <a:cs typeface="Estrangelo Edessa" pitchFamily="66" charset="0"/>
              </a:rPr>
              <a:t>ضِّ</a:t>
            </a:r>
            <a:r>
              <a:rPr lang="ar-DZ" sz="3200" dirty="0" smtClean="0">
                <a:latin typeface="Estrangelo Edessa" pitchFamily="66" charset="0"/>
                <a:cs typeface="Estrangelo Edessa" pitchFamily="66" charset="0"/>
              </a:rPr>
              <a:t>ا</a:t>
            </a:r>
            <a:r>
              <a:rPr lang="ar-SA" sz="3200" dirty="0" smtClean="0">
                <a:latin typeface="Estrangelo Edessa" pitchFamily="66" charset="0"/>
                <a:cs typeface="Estrangelo Edessa" pitchFamily="66" charset="0"/>
              </a:rPr>
              <a:t>ف</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تدريجيا الـمـاء حتى يصبح الخيط  مــشــدودا</a:t>
            </a:r>
            <a:r>
              <a:rPr lang="ar-DZ" sz="3200" dirty="0" smtClean="0">
                <a:latin typeface="Estrangelo Edessa" pitchFamily="66" charset="0"/>
                <a:cs typeface="Estrangelo Edessa" pitchFamily="66" charset="0"/>
              </a:rPr>
              <a:t> </a:t>
            </a:r>
            <a:r>
              <a:rPr lang="ar-SA" sz="3200" dirty="0" smtClean="0">
                <a:latin typeface="Estrangelo Edessa" pitchFamily="66" charset="0"/>
                <a:cs typeface="Estrangelo Edessa" pitchFamily="66" charset="0"/>
              </a:rPr>
              <a:t>كـما في (الوثيقة</a:t>
            </a:r>
            <a:r>
              <a:rPr lang="fr-FR" sz="3200" dirty="0" smtClean="0">
                <a:latin typeface="Estrangelo Edessa" pitchFamily="66" charset="0"/>
                <a:cs typeface="Estrangelo Edessa" pitchFamily="66" charset="0"/>
              </a:rPr>
              <a:t>3</a:t>
            </a:r>
            <a:r>
              <a:rPr lang="ar-SA" sz="3200" dirty="0" smtClean="0">
                <a:latin typeface="Estrangelo Edessa" pitchFamily="66" charset="0"/>
                <a:cs typeface="Estrangelo Edessa" pitchFamily="66" charset="0"/>
              </a:rPr>
              <a:t>).</a:t>
            </a:r>
            <a:endParaRPr lang="ar-DZ" sz="3200" dirty="0" smtClean="0">
              <a:latin typeface="Estrangelo Edessa" pitchFamily="66" charset="0"/>
              <a:cs typeface="Estrangelo Edessa" pitchFamily="66" charset="0"/>
            </a:endParaRPr>
          </a:p>
          <a:p>
            <a:pPr algn="r" rtl="1">
              <a:buNone/>
            </a:pPr>
            <a:r>
              <a:rPr lang="ar-DZ" sz="3200" dirty="0" smtClean="0">
                <a:latin typeface="Estrangelo Edessa" pitchFamily="66" charset="0"/>
                <a:cs typeface="Estrangelo Edessa" pitchFamily="66" charset="0"/>
              </a:rPr>
              <a:t>م</a:t>
            </a:r>
            <a:r>
              <a:rPr lang="ar-SA" sz="3200" dirty="0" smtClean="0">
                <a:latin typeface="Estrangelo Edessa" pitchFamily="66" charset="0"/>
                <a:cs typeface="Estrangelo Edessa" pitchFamily="66" charset="0"/>
              </a:rPr>
              <a:t>واصـل</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إضافة الـمـاء بكميات قليلة إلى غاية اللحظة التي </a:t>
            </a:r>
            <a:r>
              <a:rPr lang="ar-DZ" sz="3200" dirty="0" smtClean="0">
                <a:latin typeface="Estrangelo Edessa" pitchFamily="66" charset="0"/>
                <a:cs typeface="Estrangelo Edessa" pitchFamily="66" charset="0"/>
              </a:rPr>
              <a:t>ي</a:t>
            </a:r>
            <a:r>
              <a:rPr lang="ar-SA" sz="3200" dirty="0" smtClean="0">
                <a:latin typeface="Estrangelo Edessa" pitchFamily="66" charset="0"/>
                <a:cs typeface="Estrangelo Edessa" pitchFamily="66" charset="0"/>
              </a:rPr>
              <a:t>ـلاحـظ فيها </a:t>
            </a:r>
            <a:endParaRPr lang="fr-FR" sz="3200" dirty="0" smtClean="0">
              <a:latin typeface="Estrangelo Edessa" pitchFamily="66" charset="0"/>
              <a:cs typeface="Estrangelo Edessa" pitchFamily="66" charset="0"/>
            </a:endParaRPr>
          </a:p>
          <a:p>
            <a:pPr algn="r" rtl="1">
              <a:buNone/>
            </a:pPr>
            <a:r>
              <a:rPr lang="ar-SA" sz="3200" dirty="0" smtClean="0">
                <a:latin typeface="Estrangelo Edessa" pitchFamily="66" charset="0"/>
                <a:cs typeface="Estrangelo Edessa" pitchFamily="66" charset="0"/>
              </a:rPr>
              <a:t>تحرّر الكري</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من تأثير الخيط. </a:t>
            </a:r>
            <a:endParaRPr lang="fr-FR" sz="3200" dirty="0" smtClean="0">
              <a:latin typeface="Estrangelo Edessa" pitchFamily="66" charset="0"/>
              <a:cs typeface="Estrangelo Edessa" pitchFamily="66" charset="0"/>
            </a:endParaRPr>
          </a:p>
          <a:p>
            <a:pPr lvl="0" algn="r" rtl="1">
              <a:buNone/>
            </a:pPr>
            <a:r>
              <a:rPr lang="ar-DZ" sz="3200" dirty="0" smtClean="0">
                <a:latin typeface="Estrangelo Edessa" pitchFamily="66" charset="0"/>
                <a:cs typeface="Estrangelo Edessa" pitchFamily="66" charset="0"/>
              </a:rPr>
              <a:t>اشرح</a:t>
            </a:r>
            <a:r>
              <a:rPr lang="ar-SA" sz="3200" dirty="0" smtClean="0">
                <a:latin typeface="Estrangelo Edessa" pitchFamily="66" charset="0"/>
                <a:cs typeface="Estrangelo Edessa" pitchFamily="66" charset="0"/>
              </a:rPr>
              <a:t> سبب تحرّر الكري</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من تأثير الخيط</a:t>
            </a:r>
            <a:r>
              <a:rPr lang="ar-DZ" sz="3200" dirty="0" smtClean="0">
                <a:latin typeface="Estrangelo Edessa" pitchFamily="66" charset="0"/>
                <a:cs typeface="Estrangelo Edessa" pitchFamily="66" charset="0"/>
              </a:rPr>
              <a:t>.</a:t>
            </a:r>
            <a:endParaRPr lang="fr-FR" sz="3200" dirty="0" smtClean="0">
              <a:latin typeface="Estrangelo Edessa" pitchFamily="66" charset="0"/>
              <a:cs typeface="Estrangelo Edessa" pitchFamily="66" charset="0"/>
            </a:endParaRPr>
          </a:p>
          <a:p>
            <a:pPr lvl="0" algn="r" rtl="1">
              <a:buNone/>
            </a:pPr>
            <a:r>
              <a:rPr lang="ar-SA" sz="3200" dirty="0" smtClean="0">
                <a:latin typeface="Estrangelo Edessa" pitchFamily="66" charset="0"/>
                <a:cs typeface="Estrangelo Edessa" pitchFamily="66" charset="0"/>
              </a:rPr>
              <a:t>مـا منحى حــركـة الكري</a:t>
            </a:r>
            <a:r>
              <a:rPr lang="ar-DZ" sz="3200" dirty="0" smtClean="0">
                <a:latin typeface="Estrangelo Edessa" pitchFamily="66" charset="0"/>
                <a:cs typeface="Estrangelo Edessa" pitchFamily="66" charset="0"/>
              </a:rPr>
              <a:t>ة</a:t>
            </a:r>
            <a:r>
              <a:rPr lang="ar-SA" sz="3200" dirty="0" smtClean="0">
                <a:latin typeface="Estrangelo Edessa" pitchFamily="66" charset="0"/>
                <a:cs typeface="Estrangelo Edessa" pitchFamily="66" charset="0"/>
              </a:rPr>
              <a:t> بعد تحرّرها من الخيط؟</a:t>
            </a:r>
            <a:r>
              <a:rPr lang="ar-DZ" sz="3200" dirty="0" smtClean="0">
                <a:latin typeface="Estrangelo Edessa" pitchFamily="66" charset="0"/>
                <a:cs typeface="Estrangelo Edessa" pitchFamily="66" charset="0"/>
              </a:rPr>
              <a:t>.</a:t>
            </a:r>
            <a:endParaRPr lang="fr-FR" sz="3200" dirty="0" smtClean="0">
              <a:latin typeface="Estrangelo Edessa" pitchFamily="66" charset="0"/>
              <a:cs typeface="Estrangelo Edessa" pitchFamily="66" charset="0"/>
            </a:endParaRPr>
          </a:p>
          <a:p>
            <a:pPr algn="l" rtl="1"/>
            <a:endParaRPr lang="fr-FR" dirty="0"/>
          </a:p>
        </p:txBody>
      </p:sp>
      <p:pic>
        <p:nvPicPr>
          <p:cNvPr id="2052" name="Picture 4"/>
          <p:cNvPicPr>
            <a:picLocks noChangeAspect="1" noChangeArrowheads="1"/>
          </p:cNvPicPr>
          <p:nvPr/>
        </p:nvPicPr>
        <p:blipFill>
          <a:blip r:embed="rId2"/>
          <a:srcRect/>
          <a:stretch>
            <a:fillRect/>
          </a:stretch>
        </p:blipFill>
        <p:spPr bwMode="auto">
          <a:xfrm>
            <a:off x="214282" y="2571744"/>
            <a:ext cx="2657477" cy="35004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5"/>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9" name="Rectangle 8"/>
          <p:cNvSpPr/>
          <p:nvPr/>
        </p:nvSpPr>
        <p:spPr>
          <a:xfrm>
            <a:off x="0" y="357166"/>
            <a:ext cx="9144000" cy="5632311"/>
          </a:xfrm>
          <a:prstGeom prst="rect">
            <a:avLst/>
          </a:prstGeom>
        </p:spPr>
        <p:txBody>
          <a:bodyPr wrap="square">
            <a:spAutoFit/>
          </a:bodyPr>
          <a:lstStyle/>
          <a:p>
            <a:pPr algn="r" rtl="1"/>
            <a:r>
              <a:rPr lang="ar-DZ" sz="3600" b="1" dirty="0" smtClean="0">
                <a:solidFill>
                  <a:srgbClr val="FF0000"/>
                </a:solidFill>
                <a:latin typeface="Estrangelo Edessa" pitchFamily="66" charset="0"/>
                <a:cs typeface="Estrangelo Edessa" pitchFamily="66" charset="0"/>
              </a:rPr>
              <a:t>النشاط </a:t>
            </a:r>
            <a:r>
              <a:rPr lang="fr-FR" sz="3600" b="1" dirty="0" smtClean="0">
                <a:solidFill>
                  <a:srgbClr val="FF0000"/>
                </a:solidFill>
                <a:latin typeface="Estrangelo Edessa" pitchFamily="66" charset="0"/>
                <a:cs typeface="Estrangelo Edessa" pitchFamily="66" charset="0"/>
              </a:rPr>
              <a:t>3</a:t>
            </a:r>
            <a:r>
              <a:rPr lang="ar-DZ" sz="3600" b="1" dirty="0" smtClean="0">
                <a:solidFill>
                  <a:srgbClr val="FF0000"/>
                </a:solidFill>
                <a:latin typeface="Estrangelo Edessa" pitchFamily="66" charset="0"/>
                <a:cs typeface="Estrangelo Edessa" pitchFamily="66" charset="0"/>
              </a:rPr>
              <a:t> ـ تعين تجريبيا شدة دافعة أرخميدس</a:t>
            </a:r>
          </a:p>
          <a:p>
            <a:pPr algn="r" rtl="1"/>
            <a:r>
              <a:rPr lang="ar-DZ" sz="3600" dirty="0" smtClean="0">
                <a:latin typeface="Estrangelo Edessa" pitchFamily="66" charset="0"/>
                <a:cs typeface="Estrangelo Edessa" pitchFamily="66" charset="0"/>
              </a:rPr>
              <a:t>ينجز الأستاذ التركيب  مع المتعلمين الموجود في (الوثيقة </a:t>
            </a:r>
            <a:r>
              <a:rPr lang="fr-FR" sz="2800" dirty="0" smtClean="0">
                <a:latin typeface="Estrangelo Edessa" pitchFamily="66" charset="0"/>
                <a:cs typeface="Estrangelo Edessa" pitchFamily="66" charset="0"/>
              </a:rPr>
              <a:t>4</a:t>
            </a:r>
            <a:r>
              <a:rPr lang="ar-DZ" sz="3600" dirty="0" smtClean="0">
                <a:latin typeface="Estrangelo Edessa" pitchFamily="66" charset="0"/>
                <a:cs typeface="Estrangelo Edessa" pitchFamily="66" charset="0"/>
              </a:rPr>
              <a:t>) ثم يطلب منهم </a:t>
            </a:r>
            <a:r>
              <a:rPr lang="ar-DZ" sz="3600" dirty="0" err="1" smtClean="0">
                <a:latin typeface="Estrangelo Edessa" pitchFamily="66" charset="0"/>
                <a:cs typeface="Estrangelo Edessa" pitchFamily="66" charset="0"/>
              </a:rPr>
              <a:t>مايلي</a:t>
            </a:r>
            <a:r>
              <a:rPr lang="ar-DZ" sz="3600" dirty="0" smtClean="0">
                <a:latin typeface="Estrangelo Edessa" pitchFamily="66" charset="0"/>
                <a:cs typeface="Estrangelo Edessa" pitchFamily="66" charset="0"/>
              </a:rPr>
              <a:t> : </a:t>
            </a:r>
          </a:p>
          <a:p>
            <a:pPr algn="r" rtl="1"/>
            <a:r>
              <a:rPr lang="ar-DZ" sz="3600" dirty="0" smtClean="0">
                <a:latin typeface="Estrangelo Edessa" pitchFamily="66" charset="0"/>
                <a:cs typeface="Estrangelo Edessa" pitchFamily="66" charset="0"/>
              </a:rPr>
              <a:t>غمر الجسم (</a:t>
            </a:r>
            <a:r>
              <a:rPr lang="fr-FR" sz="3600" dirty="0" smtClean="0">
                <a:latin typeface="Estrangelo Edessa" pitchFamily="66" charset="0"/>
                <a:cs typeface="Estrangelo Edessa" pitchFamily="66" charset="0"/>
              </a:rPr>
              <a:t>s </a:t>
            </a:r>
            <a:r>
              <a:rPr lang="ar-DZ" sz="3600" dirty="0" smtClean="0">
                <a:latin typeface="Estrangelo Edessa" pitchFamily="66" charset="0"/>
                <a:cs typeface="Estrangelo Edessa" pitchFamily="66" charset="0"/>
              </a:rPr>
              <a:t>) في الوعاء الخاص المزود بخرطوم لجمع الماء المنسكب بعد غمر</a:t>
            </a:r>
          </a:p>
          <a:p>
            <a:pPr algn="r" rtl="1"/>
            <a:r>
              <a:rPr lang="ar-DZ" sz="3600" dirty="0" smtClean="0">
                <a:latin typeface="Estrangelo Edessa" pitchFamily="66" charset="0"/>
                <a:cs typeface="Estrangelo Edessa" pitchFamily="66" charset="0"/>
              </a:rPr>
              <a:t>الجسم (الوثيقة</a:t>
            </a:r>
            <a:r>
              <a:rPr lang="fr-FR" sz="2400" dirty="0" smtClean="0">
                <a:latin typeface="Estrangelo Edessa" pitchFamily="66" charset="0"/>
                <a:cs typeface="Estrangelo Edessa" pitchFamily="66" charset="0"/>
              </a:rPr>
              <a:t>4</a:t>
            </a:r>
            <a:r>
              <a:rPr lang="ar-DZ" sz="3600" dirty="0" smtClean="0">
                <a:latin typeface="Estrangelo Edessa" pitchFamily="66" charset="0"/>
                <a:cs typeface="Estrangelo Edessa" pitchFamily="66" charset="0"/>
              </a:rPr>
              <a:t>) </a:t>
            </a:r>
          </a:p>
          <a:p>
            <a:pPr algn="r" rtl="1"/>
            <a:r>
              <a:rPr lang="ar-DZ" sz="3600" dirty="0" smtClean="0">
                <a:latin typeface="Estrangelo Edessa" pitchFamily="66" charset="0"/>
                <a:cs typeface="Estrangelo Edessa" pitchFamily="66" charset="0"/>
              </a:rPr>
              <a:t>ماذا يمثل حجم الماء المنسكب ؟</a:t>
            </a:r>
          </a:p>
          <a:p>
            <a:pPr algn="r" rtl="1"/>
            <a:r>
              <a:rPr lang="ar-DZ" sz="3600" dirty="0" smtClean="0">
                <a:latin typeface="Estrangelo Edessa" pitchFamily="66" charset="0"/>
                <a:cs typeface="Estrangelo Edessa" pitchFamily="66" charset="0"/>
              </a:rPr>
              <a:t>قِس كتلة الماء المنسكب ثم احسب ثقله علما أن </a:t>
            </a:r>
            <a:r>
              <a:rPr lang="fr-FR" sz="2400" dirty="0" smtClean="0">
                <a:latin typeface="Estrangelo Edessa" pitchFamily="66" charset="0"/>
                <a:cs typeface="Estrangelo Edessa" pitchFamily="66" charset="0"/>
              </a:rPr>
              <a:t>g = 10 N/kg</a:t>
            </a:r>
            <a:endParaRPr lang="ar-DZ" sz="2400" dirty="0" smtClean="0">
              <a:latin typeface="Estrangelo Edessa" pitchFamily="66" charset="0"/>
              <a:cs typeface="Estrangelo Edessa" pitchFamily="66" charset="0"/>
            </a:endParaRPr>
          </a:p>
          <a:p>
            <a:pPr algn="r" rtl="1"/>
            <a:r>
              <a:rPr lang="ar-DZ" sz="3600" dirty="0" smtClean="0">
                <a:latin typeface="Estrangelo Edessa" pitchFamily="66" charset="0"/>
                <a:cs typeface="Estrangelo Edessa" pitchFamily="66" charset="0"/>
              </a:rPr>
              <a:t>قارن قيمة ثقل الماء المنسكِب مع قيمة الفرق بين القراءتين قبل </a:t>
            </a:r>
            <a:endParaRPr lang="fr-FR" sz="3600" dirty="0" smtClean="0">
              <a:latin typeface="Estrangelo Edessa" pitchFamily="66" charset="0"/>
              <a:cs typeface="Estrangelo Edessa" pitchFamily="66" charset="0"/>
            </a:endParaRPr>
          </a:p>
          <a:p>
            <a:pPr algn="r" rtl="1"/>
            <a:r>
              <a:rPr lang="ar-DZ" sz="3600" dirty="0" smtClean="0">
                <a:latin typeface="Estrangelo Edessa" pitchFamily="66" charset="0"/>
                <a:cs typeface="Estrangelo Edessa" pitchFamily="66" charset="0"/>
              </a:rPr>
              <a:t>وبعد الغمر.</a:t>
            </a:r>
          </a:p>
          <a:p>
            <a:pPr algn="r" rtl="1"/>
            <a:r>
              <a:rPr lang="ar-DZ" sz="3600" dirty="0" smtClean="0">
                <a:latin typeface="Estrangelo Edessa" pitchFamily="66" charset="0"/>
                <a:ea typeface="Arial Unicode MS" pitchFamily="34" charset="-128"/>
                <a:cs typeface="Estrangelo Edessa" pitchFamily="66" charset="0"/>
              </a:rPr>
              <a:t>ماذا تستنتج ؟.</a:t>
            </a:r>
            <a:endParaRPr lang="fr-FR" sz="3600" dirty="0" smtClean="0">
              <a:latin typeface="Estrangelo Edessa" pitchFamily="66" charset="0"/>
              <a:ea typeface="Arial Unicode MS" pitchFamily="34" charset="-128"/>
              <a:cs typeface="Estrangelo Edessa" pitchFamily="66" charset="0"/>
            </a:endParaRPr>
          </a:p>
          <a:p>
            <a:pPr algn="r" rtl="1"/>
            <a:endParaRPr lang="ar-DZ" sz="3600" dirty="0" smtClean="0">
              <a:latin typeface="Estrangelo Edessa" pitchFamily="66" charset="0"/>
              <a:cs typeface="Estrangelo Edessa" pitchFamily="66" charset="0"/>
            </a:endParaRPr>
          </a:p>
        </p:txBody>
      </p:sp>
      <p:pic>
        <p:nvPicPr>
          <p:cNvPr id="3074" name="Picture 2"/>
          <p:cNvPicPr>
            <a:picLocks noChangeAspect="1" noChangeArrowheads="1"/>
          </p:cNvPicPr>
          <p:nvPr/>
        </p:nvPicPr>
        <p:blipFill>
          <a:blip r:embed="rId2"/>
          <a:srcRect/>
          <a:stretch>
            <a:fillRect/>
          </a:stretch>
        </p:blipFill>
        <p:spPr bwMode="auto">
          <a:xfrm>
            <a:off x="142844" y="2357430"/>
            <a:ext cx="2571750" cy="32861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ZoneTexte 12"/>
          <p:cNvSpPr txBox="1"/>
          <p:nvPr/>
        </p:nvSpPr>
        <p:spPr>
          <a:xfrm>
            <a:off x="4214810" y="857232"/>
            <a:ext cx="1571636" cy="584775"/>
          </a:xfrm>
          <a:prstGeom prst="rect">
            <a:avLst/>
          </a:prstGeom>
          <a:noFill/>
        </p:spPr>
        <p:txBody>
          <a:bodyPr wrap="square" rtlCol="0">
            <a:spAutoFit/>
          </a:bodyPr>
          <a:lstStyle/>
          <a:p>
            <a:pPr algn="r" rtl="1"/>
            <a:r>
              <a:rPr lang="ar-DZ" sz="3200" dirty="0" smtClean="0">
                <a:solidFill>
                  <a:srgbClr val="FF0000"/>
                </a:solidFill>
              </a:rPr>
              <a:t>02</a:t>
            </a:r>
            <a:endParaRPr lang="fr-FR" sz="3200" dirty="0">
              <a:solidFill>
                <a:srgbClr val="FF0000"/>
              </a:solidFill>
            </a:endParaRPr>
          </a:p>
        </p:txBody>
      </p:sp>
      <p:pic>
        <p:nvPicPr>
          <p:cNvPr id="14" name="02.mp4">
            <a:hlinkClick r:id="" action="ppaction://media"/>
          </p:cNvPr>
          <p:cNvPicPr>
            <a:picLocks noGrp="1" noRot="1" noChangeAspect="1"/>
          </p:cNvPicPr>
          <p:nvPr>
            <p:ph idx="1"/>
            <a:videoFile r:link="rId1"/>
          </p:nvPr>
        </p:nvPicPr>
        <p:blipFill>
          <a:blip r:embed="rId3"/>
          <a:stretch>
            <a:fillRect/>
          </a:stretch>
        </p:blipFill>
        <p:spPr>
          <a:xfrm>
            <a:off x="1428728" y="1500174"/>
            <a:ext cx="6643734" cy="44291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130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1417638"/>
          </a:xfrm>
        </p:spPr>
        <p:txBody>
          <a:bodyPr>
            <a:normAutofit/>
          </a:bodyPr>
          <a:lstStyle/>
          <a:p>
            <a:pPr algn="ctr" rtl="1"/>
            <a:r>
              <a:rPr lang="ar-DZ" sz="3600" dirty="0" smtClean="0">
                <a:solidFill>
                  <a:srgbClr val="FF0000"/>
                </a:solidFill>
              </a:rPr>
              <a:t>2</a:t>
            </a:r>
            <a:r>
              <a:rPr lang="ar-DZ" sz="5400" dirty="0" smtClean="0">
                <a:solidFill>
                  <a:srgbClr val="FF0000"/>
                </a:solidFill>
                <a:latin typeface="Estrangelo Edessa" pitchFamily="66" charset="0"/>
                <a:cs typeface="Estrangelo Edessa" pitchFamily="66" charset="0"/>
              </a:rPr>
              <a:t> </a:t>
            </a:r>
            <a:r>
              <a:rPr lang="ar-DZ" sz="5400" dirty="0" smtClean="0">
                <a:solidFill>
                  <a:srgbClr val="FF0000"/>
                </a:solidFill>
                <a:latin typeface="Estrangelo Edessa" pitchFamily="66" charset="0"/>
                <a:cs typeface="Estrangelo Edessa" pitchFamily="66" charset="0"/>
              </a:rPr>
              <a:t>ـ العوامل المؤثرة في شدة دافعة أرخميدس</a:t>
            </a:r>
            <a:endParaRPr lang="fr-FR" sz="5400" dirty="0">
              <a:solidFill>
                <a:srgbClr val="FF0000"/>
              </a:solidFill>
              <a:latin typeface="Estrangelo Edessa" pitchFamily="66" charset="0"/>
              <a:cs typeface="Estrangelo Edessa" pitchFamily="66" charset="0"/>
            </a:endParaRPr>
          </a:p>
        </p:txBody>
      </p:sp>
      <p:sp>
        <p:nvSpPr>
          <p:cNvPr id="3" name="Espace réservé du contenu 2"/>
          <p:cNvSpPr>
            <a:spLocks noGrp="1"/>
          </p:cNvSpPr>
          <p:nvPr>
            <p:ph idx="1"/>
          </p:nvPr>
        </p:nvSpPr>
        <p:spPr>
          <a:xfrm>
            <a:off x="0" y="1428736"/>
            <a:ext cx="9144000" cy="5429264"/>
          </a:xfrm>
        </p:spPr>
        <p:txBody>
          <a:bodyPr>
            <a:normAutofit/>
          </a:bodyPr>
          <a:lstStyle/>
          <a:p>
            <a:pPr algn="ctr" rtl="1">
              <a:buNone/>
            </a:pPr>
            <a:r>
              <a:rPr lang="ar-DZ" sz="6000" dirty="0" smtClean="0">
                <a:solidFill>
                  <a:srgbClr val="FFFF00"/>
                </a:solidFill>
                <a:latin typeface="Estrangelo Edessa" pitchFamily="66" charset="0"/>
                <a:cs typeface="Estrangelo Edessa" pitchFamily="66" charset="0"/>
              </a:rPr>
              <a:t>الأهداف </a:t>
            </a:r>
            <a:r>
              <a:rPr lang="ar-DZ" sz="6000" dirty="0" err="1" smtClean="0">
                <a:solidFill>
                  <a:srgbClr val="FFFF00"/>
                </a:solidFill>
                <a:latin typeface="Estrangelo Edessa" pitchFamily="66" charset="0"/>
                <a:cs typeface="Estrangelo Edessa" pitchFamily="66" charset="0"/>
              </a:rPr>
              <a:t>التعلمية</a:t>
            </a:r>
            <a:endParaRPr lang="ar-DZ" sz="6000" dirty="0" smtClean="0">
              <a:solidFill>
                <a:srgbClr val="FFFF00"/>
              </a:solidFill>
              <a:latin typeface="Estrangelo Edessa" pitchFamily="66" charset="0"/>
              <a:cs typeface="Estrangelo Edessa" pitchFamily="66" charset="0"/>
            </a:endParaRPr>
          </a:p>
          <a:p>
            <a:pPr algn="r" rtl="1">
              <a:buNone/>
            </a:pPr>
            <a:r>
              <a:rPr lang="ar-DZ" sz="6000" dirty="0" smtClean="0">
                <a:solidFill>
                  <a:srgbClr val="FFFF00"/>
                </a:solidFill>
                <a:latin typeface="Estrangelo Edessa" pitchFamily="66" charset="0"/>
                <a:cs typeface="Estrangelo Edessa" pitchFamily="66" charset="0"/>
              </a:rPr>
              <a:t>ـ يحدد العـوامل المـؤثرة في شـدة</a:t>
            </a:r>
            <a:r>
              <a:rPr lang="fr-FR" sz="6000" dirty="0" smtClean="0">
                <a:solidFill>
                  <a:srgbClr val="FFFF00"/>
                </a:solidFill>
                <a:latin typeface="Estrangelo Edessa" pitchFamily="66" charset="0"/>
                <a:cs typeface="Estrangelo Edessa" pitchFamily="66" charset="0"/>
              </a:rPr>
              <a:t> </a:t>
            </a:r>
            <a:r>
              <a:rPr lang="ar-DZ" sz="6000" dirty="0" smtClean="0">
                <a:solidFill>
                  <a:srgbClr val="FFFF00"/>
                </a:solidFill>
                <a:latin typeface="Estrangelo Edessa" pitchFamily="66" charset="0"/>
                <a:cs typeface="Estrangelo Edessa" pitchFamily="66" charset="0"/>
              </a:rPr>
              <a:t>دافعـة </a:t>
            </a:r>
            <a:r>
              <a:rPr lang="ar-DZ" sz="6000" dirty="0" err="1" smtClean="0">
                <a:solidFill>
                  <a:srgbClr val="FFFF00"/>
                </a:solidFill>
                <a:latin typeface="Estrangelo Edessa" pitchFamily="66" charset="0"/>
                <a:cs typeface="Estrangelo Edessa" pitchFamily="66" charset="0"/>
              </a:rPr>
              <a:t>أرخميــدس</a:t>
            </a:r>
            <a:r>
              <a:rPr lang="ar-DZ" sz="6000" dirty="0" smtClean="0">
                <a:solidFill>
                  <a:srgbClr val="FFFF00"/>
                </a:solidFill>
                <a:latin typeface="Estrangelo Edessa" pitchFamily="66" charset="0"/>
                <a:cs typeface="Estrangelo Edessa" pitchFamily="66" charset="0"/>
              </a:rPr>
              <a:t>.</a:t>
            </a:r>
          </a:p>
          <a:p>
            <a:pPr algn="r" rtl="1">
              <a:buNone/>
            </a:pPr>
            <a:r>
              <a:rPr lang="ar-DZ" sz="6000" dirty="0" smtClean="0">
                <a:solidFill>
                  <a:srgbClr val="FFFF00"/>
                </a:solidFill>
                <a:latin typeface="Estrangelo Edessa" pitchFamily="66" charset="0"/>
                <a:cs typeface="Estrangelo Edessa" pitchFamily="66" charset="0"/>
              </a:rPr>
              <a:t>ـ يستنتج علاقة شدة دافعة أرخميدس</a:t>
            </a:r>
            <a:r>
              <a:rPr lang="ar-DZ" sz="4000" dirty="0" smtClean="0">
                <a:solidFill>
                  <a:srgbClr val="FFFF00"/>
                </a:solidFill>
              </a:rPr>
              <a:t>.</a:t>
            </a:r>
            <a:endParaRPr lang="fr-FR" sz="4000" dirty="0">
              <a:solidFill>
                <a:srgbClr val="FFFF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0"/>
            <a:ext cx="9001156" cy="4071942"/>
          </a:xfrm>
        </p:spPr>
        <p:txBody>
          <a:bodyPr>
            <a:normAutofit fontScale="90000"/>
          </a:bodyPr>
          <a:lstStyle/>
          <a:p>
            <a:pPr algn="r" rtl="1"/>
            <a:r>
              <a:rPr lang="fr-FR" sz="4900" dirty="0" smtClean="0">
                <a:solidFill>
                  <a:srgbClr val="FF0000"/>
                </a:solidFill>
                <a:latin typeface="Estrangelo Edessa" pitchFamily="66" charset="0"/>
                <a:cs typeface="Estrangelo Edessa" pitchFamily="66" charset="0"/>
              </a:rPr>
              <a:t/>
            </a:r>
            <a:br>
              <a:rPr lang="fr-FR" sz="4900" dirty="0" smtClean="0">
                <a:solidFill>
                  <a:srgbClr val="FF0000"/>
                </a:solidFill>
                <a:latin typeface="Estrangelo Edessa" pitchFamily="66" charset="0"/>
                <a:cs typeface="Estrangelo Edessa" pitchFamily="66" charset="0"/>
              </a:rPr>
            </a:br>
            <a:r>
              <a:rPr lang="ar-DZ" sz="4900" dirty="0" smtClean="0">
                <a:solidFill>
                  <a:srgbClr val="FF0000"/>
                </a:solidFill>
                <a:latin typeface="Estrangelo Edessa" pitchFamily="66" charset="0"/>
                <a:cs typeface="Estrangelo Edessa" pitchFamily="66" charset="0"/>
              </a:rPr>
              <a:t>النشاط</a:t>
            </a:r>
            <a:r>
              <a:rPr lang="fr-FR" sz="4900" dirty="0" smtClean="0">
                <a:solidFill>
                  <a:srgbClr val="FF0000"/>
                </a:solidFill>
                <a:latin typeface="Estrangelo Edessa" pitchFamily="66" charset="0"/>
                <a:cs typeface="Estrangelo Edessa" pitchFamily="66" charset="0"/>
              </a:rPr>
              <a:t>1</a:t>
            </a:r>
            <a:r>
              <a:rPr lang="ar-DZ" sz="4900" dirty="0" smtClean="0">
                <a:latin typeface="Estrangelo Edessa" pitchFamily="66" charset="0"/>
                <a:cs typeface="Estrangelo Edessa" pitchFamily="66" charset="0"/>
              </a:rPr>
              <a:t> </a:t>
            </a:r>
            <a:r>
              <a:rPr lang="ar-DZ" sz="4900" dirty="0" smtClean="0">
                <a:solidFill>
                  <a:srgbClr val="FF0000"/>
                </a:solidFill>
                <a:latin typeface="Estrangelo Edessa" pitchFamily="66" charset="0"/>
                <a:cs typeface="Estrangelo Edessa" pitchFamily="66" charset="0"/>
              </a:rPr>
              <a:t>- العوامل المؤثرة في شدة دافعة أرخميدس</a:t>
            </a:r>
            <a:br>
              <a:rPr lang="ar-DZ" sz="4900" dirty="0" smtClean="0">
                <a:solidFill>
                  <a:srgbClr val="FF0000"/>
                </a:solidFill>
                <a:latin typeface="Estrangelo Edessa" pitchFamily="66" charset="0"/>
                <a:cs typeface="Estrangelo Edessa" pitchFamily="66" charset="0"/>
              </a:rPr>
            </a:br>
            <a:r>
              <a:rPr lang="ar-DZ" sz="4900" dirty="0" smtClean="0">
                <a:solidFill>
                  <a:srgbClr val="FF0000"/>
                </a:solidFill>
                <a:latin typeface="Estrangelo Edessa" pitchFamily="66" charset="0"/>
                <a:cs typeface="Estrangelo Edessa" pitchFamily="66" charset="0"/>
              </a:rPr>
              <a:t>أ/ تأثير حجم الجزء المغمور:</a:t>
            </a:r>
            <a:r>
              <a:rPr lang="ar-DZ" sz="4900" dirty="0" smtClean="0">
                <a:latin typeface="Estrangelo Edessa" pitchFamily="66" charset="0"/>
                <a:cs typeface="Estrangelo Edessa" pitchFamily="66" charset="0"/>
              </a:rPr>
              <a:t/>
            </a:r>
            <a:br>
              <a:rPr lang="ar-DZ" sz="4900" dirty="0" smtClean="0">
                <a:latin typeface="Estrangelo Edessa" pitchFamily="66" charset="0"/>
                <a:cs typeface="Estrangelo Edessa" pitchFamily="66" charset="0"/>
              </a:rPr>
            </a:br>
            <a:r>
              <a:rPr lang="ar-DZ" sz="4900" dirty="0" smtClean="0">
                <a:latin typeface="Estrangelo Edessa" pitchFamily="66" charset="0"/>
                <a:cs typeface="Estrangelo Edessa" pitchFamily="66" charset="0"/>
              </a:rPr>
              <a:t>تحضير التجربة: جسم صلب (</a:t>
            </a:r>
            <a:r>
              <a:rPr lang="fr-FR" sz="4900" dirty="0" smtClean="0">
                <a:latin typeface="Estrangelo Edessa" pitchFamily="66" charset="0"/>
                <a:cs typeface="Estrangelo Edessa" pitchFamily="66" charset="0"/>
              </a:rPr>
              <a:t>s </a:t>
            </a:r>
            <a:r>
              <a:rPr lang="ar-DZ" sz="4900" dirty="0" smtClean="0">
                <a:latin typeface="Estrangelo Edessa" pitchFamily="66" charset="0"/>
                <a:cs typeface="Estrangelo Edessa" pitchFamily="66" charset="0"/>
              </a:rPr>
              <a:t>)-ربيعة -وعاء </a:t>
            </a:r>
            <a:r>
              <a:rPr lang="ar-DZ" sz="4900" dirty="0" err="1" smtClean="0">
                <a:latin typeface="Estrangelo Edessa" pitchFamily="66" charset="0"/>
                <a:cs typeface="Estrangelo Edessa" pitchFamily="66" charset="0"/>
              </a:rPr>
              <a:t>به</a:t>
            </a:r>
            <a:r>
              <a:rPr lang="ar-DZ" sz="4900" dirty="0" smtClean="0">
                <a:latin typeface="Estrangelo Edessa" pitchFamily="66" charset="0"/>
                <a:cs typeface="Estrangelo Edessa" pitchFamily="66" charset="0"/>
              </a:rPr>
              <a:t> ماء.</a:t>
            </a:r>
            <a:br>
              <a:rPr lang="ar-DZ" sz="4900" dirty="0" smtClean="0">
                <a:latin typeface="Estrangelo Edessa" pitchFamily="66" charset="0"/>
                <a:cs typeface="Estrangelo Edessa" pitchFamily="66" charset="0"/>
              </a:rPr>
            </a:br>
            <a:r>
              <a:rPr lang="ar-DZ" sz="4900" dirty="0" smtClean="0">
                <a:latin typeface="Estrangelo Edessa" pitchFamily="66" charset="0"/>
                <a:cs typeface="Estrangelo Edessa" pitchFamily="66" charset="0"/>
              </a:rPr>
              <a:t>حقّق التجربة الموضحة في مراحلها الأربعة.</a:t>
            </a:r>
            <a:br>
              <a:rPr lang="ar-DZ" sz="4900" dirty="0" smtClean="0">
                <a:latin typeface="Estrangelo Edessa" pitchFamily="66" charset="0"/>
                <a:cs typeface="Estrangelo Edessa" pitchFamily="66" charset="0"/>
              </a:rPr>
            </a:br>
            <a:r>
              <a:rPr lang="ar-DZ" sz="4900" dirty="0" smtClean="0">
                <a:latin typeface="Estrangelo Edessa" pitchFamily="66" charset="0"/>
                <a:cs typeface="Estrangelo Edessa" pitchFamily="66" charset="0"/>
              </a:rPr>
              <a:t>ماذا تلاحظ فيما يتعلق بشدة الدافعة ؟</a:t>
            </a:r>
            <a:br>
              <a:rPr lang="ar-DZ" sz="4900" dirty="0" smtClean="0">
                <a:latin typeface="Estrangelo Edessa" pitchFamily="66" charset="0"/>
                <a:cs typeface="Estrangelo Edessa" pitchFamily="66" charset="0"/>
              </a:rPr>
            </a:br>
            <a:r>
              <a:rPr lang="ar-DZ" sz="4900" dirty="0" smtClean="0">
                <a:latin typeface="Estrangelo Edessa" pitchFamily="66" charset="0"/>
                <a:cs typeface="Estrangelo Edessa" pitchFamily="66" charset="0"/>
              </a:rPr>
              <a:t>ماذا تستنتج ؟</a:t>
            </a:r>
            <a:r>
              <a:rPr lang="ar-DZ" sz="3200" dirty="0" smtClean="0">
                <a:solidFill>
                  <a:srgbClr val="FF0000"/>
                </a:solidFill>
              </a:rPr>
              <a:t/>
            </a:r>
            <a:br>
              <a:rPr lang="ar-DZ" sz="3200" dirty="0" smtClean="0">
                <a:solidFill>
                  <a:srgbClr val="FF0000"/>
                </a:solidFill>
              </a:rPr>
            </a:br>
            <a:r>
              <a:rPr lang="ar-DZ" sz="3200" dirty="0" smtClean="0">
                <a:solidFill>
                  <a:srgbClr val="FF0000"/>
                </a:solidFill>
              </a:rPr>
              <a:t> </a:t>
            </a:r>
            <a:endParaRPr lang="fr-FR" dirty="0">
              <a:solidFill>
                <a:srgbClr val="FF0000"/>
              </a:solidFill>
            </a:endParaRPr>
          </a:p>
        </p:txBody>
      </p:sp>
      <p:pic>
        <p:nvPicPr>
          <p:cNvPr id="2050" name="Picture 2"/>
          <p:cNvPicPr>
            <a:picLocks noChangeAspect="1" noChangeArrowheads="1"/>
          </p:cNvPicPr>
          <p:nvPr/>
        </p:nvPicPr>
        <p:blipFill>
          <a:blip r:embed="rId2"/>
          <a:srcRect/>
          <a:stretch>
            <a:fillRect/>
          </a:stretch>
        </p:blipFill>
        <p:spPr bwMode="auto">
          <a:xfrm>
            <a:off x="214282" y="3143248"/>
            <a:ext cx="4214842" cy="27146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rtl="1"/>
            <a:r>
              <a:rPr lang="ar-DZ" dirty="0" smtClean="0"/>
              <a:t>01</a:t>
            </a:r>
            <a:endParaRPr lang="fr-FR" dirty="0"/>
          </a:p>
        </p:txBody>
      </p:sp>
      <p:pic>
        <p:nvPicPr>
          <p:cNvPr id="18" name="01.mp4">
            <a:hlinkClick r:id="" action="ppaction://media"/>
          </p:cNvPr>
          <p:cNvPicPr>
            <a:picLocks noGrp="1" noRot="1" noChangeAspect="1"/>
          </p:cNvPicPr>
          <p:nvPr>
            <p:ph idx="1"/>
            <a:videoFile r:link="rId1"/>
          </p:nvPr>
        </p:nvPicPr>
        <p:blipFill>
          <a:blip r:embed="rId3"/>
          <a:stretch>
            <a:fillRect/>
          </a:stretch>
        </p:blipFill>
        <p:spPr>
          <a:xfrm>
            <a:off x="1905000" y="2214578"/>
            <a:ext cx="4572000" cy="3429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5289"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rtl="1"/>
            <a:r>
              <a:rPr lang="ar-DZ" dirty="0" smtClean="0"/>
              <a:t>03</a:t>
            </a:r>
            <a:endParaRPr lang="fr-FR" dirty="0"/>
          </a:p>
        </p:txBody>
      </p:sp>
      <p:pic>
        <p:nvPicPr>
          <p:cNvPr id="6" name="03.mp4">
            <a:hlinkClick r:id="" action="ppaction://media"/>
          </p:cNvPr>
          <p:cNvPicPr>
            <a:picLocks noGrp="1" noRot="1" noChangeAspect="1"/>
          </p:cNvPicPr>
          <p:nvPr>
            <p:ph idx="1"/>
            <a:videoFile r:link="rId1"/>
          </p:nvPr>
        </p:nvPicPr>
        <p:blipFill>
          <a:blip r:embed="rId3"/>
          <a:stretch>
            <a:fillRect/>
          </a:stretch>
        </p:blipFill>
        <p:spPr>
          <a:xfrm>
            <a:off x="1428728" y="1928802"/>
            <a:ext cx="5214974" cy="30765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102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642918"/>
            <a:ext cx="9144000" cy="5011750"/>
          </a:xfrm>
        </p:spPr>
        <p:txBody>
          <a:bodyPr>
            <a:normAutofit fontScale="90000"/>
          </a:bodyPr>
          <a:lstStyle/>
          <a:p>
            <a:pPr algn="r" rtl="1"/>
            <a:r>
              <a:rPr lang="fr-FR" sz="4000" dirty="0" smtClean="0">
                <a:solidFill>
                  <a:srgbClr val="FF0000"/>
                </a:solidFill>
                <a:latin typeface="Estrangelo Edessa" pitchFamily="66" charset="0"/>
                <a:cs typeface="Estrangelo Edessa" pitchFamily="66" charset="0"/>
              </a:rPr>
              <a:t/>
            </a:r>
            <a:br>
              <a:rPr lang="fr-FR" sz="4000" dirty="0" smtClean="0">
                <a:solidFill>
                  <a:srgbClr val="FF0000"/>
                </a:solidFill>
                <a:latin typeface="Estrangelo Edessa" pitchFamily="66" charset="0"/>
                <a:cs typeface="Estrangelo Edessa" pitchFamily="66" charset="0"/>
              </a:rPr>
            </a:br>
            <a:r>
              <a:rPr lang="fr-FR" sz="4000" dirty="0" smtClean="0">
                <a:solidFill>
                  <a:srgbClr val="FF0000"/>
                </a:solidFill>
                <a:latin typeface="Estrangelo Edessa" pitchFamily="66" charset="0"/>
                <a:cs typeface="Estrangelo Edessa" pitchFamily="66" charset="0"/>
              </a:rPr>
              <a:t/>
            </a:r>
            <a:br>
              <a:rPr lang="fr-FR" sz="4000" dirty="0" smtClean="0">
                <a:solidFill>
                  <a:srgbClr val="FF0000"/>
                </a:solidFill>
                <a:latin typeface="Estrangelo Edessa" pitchFamily="66" charset="0"/>
                <a:cs typeface="Estrangelo Edessa" pitchFamily="66" charset="0"/>
              </a:rPr>
            </a:br>
            <a:r>
              <a:rPr lang="fr-FR" sz="4000" dirty="0" smtClean="0">
                <a:solidFill>
                  <a:srgbClr val="FF0000"/>
                </a:solidFill>
                <a:latin typeface="Estrangelo Edessa" pitchFamily="66" charset="0"/>
                <a:cs typeface="Estrangelo Edessa" pitchFamily="66" charset="0"/>
              </a:rPr>
              <a:t/>
            </a:r>
            <a:br>
              <a:rPr lang="fr-FR" sz="4000" dirty="0" smtClean="0">
                <a:solidFill>
                  <a:srgbClr val="FF0000"/>
                </a:solidFill>
                <a:latin typeface="Estrangelo Edessa" pitchFamily="66" charset="0"/>
                <a:cs typeface="Estrangelo Edessa" pitchFamily="66" charset="0"/>
              </a:rPr>
            </a:br>
            <a:r>
              <a:rPr lang="ar-DZ" sz="4000" dirty="0" smtClean="0">
                <a:solidFill>
                  <a:srgbClr val="FF0000"/>
                </a:solidFill>
                <a:latin typeface="Estrangelo Edessa" pitchFamily="66" charset="0"/>
                <a:cs typeface="Estrangelo Edessa" pitchFamily="66" charset="0"/>
              </a:rPr>
              <a:t>ب/ تأثير كثافة السائل:</a:t>
            </a:r>
            <a:br>
              <a:rPr lang="ar-DZ" sz="4000" dirty="0" smtClean="0">
                <a:solidFill>
                  <a:srgbClr val="FF0000"/>
                </a:solidFill>
                <a:latin typeface="Estrangelo Edessa" pitchFamily="66" charset="0"/>
                <a:cs typeface="Estrangelo Edessa" pitchFamily="66" charset="0"/>
              </a:rPr>
            </a:br>
            <a:r>
              <a:rPr lang="ar-DZ" sz="4000" b="1" dirty="0" smtClean="0">
                <a:latin typeface="Estrangelo Edessa" pitchFamily="66" charset="0"/>
                <a:cs typeface="Estrangelo Edessa" pitchFamily="66" charset="0"/>
              </a:rPr>
              <a:t>تحضير التجربة: جسم صلب (</a:t>
            </a:r>
            <a:r>
              <a:rPr lang="fr-FR" sz="4000" b="1" dirty="0" smtClean="0">
                <a:latin typeface="Estrangelo Edessa" pitchFamily="66" charset="0"/>
                <a:cs typeface="Estrangelo Edessa" pitchFamily="66" charset="0"/>
              </a:rPr>
              <a:t>s</a:t>
            </a:r>
            <a:r>
              <a:rPr lang="ar-DZ" sz="4000" b="1" dirty="0" smtClean="0">
                <a:latin typeface="Estrangelo Edessa" pitchFamily="66" charset="0"/>
                <a:cs typeface="Estrangelo Edessa" pitchFamily="66" charset="0"/>
              </a:rPr>
              <a:t>)- ربيعة - وعاء ماء مالح – زيت.</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خذ جسما صلبا( </a:t>
            </a:r>
            <a:r>
              <a:rPr lang="fr-FR" sz="4000" b="1" dirty="0" smtClean="0">
                <a:latin typeface="Estrangelo Edessa" pitchFamily="66" charset="0"/>
                <a:cs typeface="Estrangelo Edessa" pitchFamily="66" charset="0"/>
              </a:rPr>
              <a:t>s</a:t>
            </a:r>
            <a:r>
              <a:rPr lang="ar-DZ" sz="4000" b="1" dirty="0" smtClean="0">
                <a:latin typeface="Estrangelo Edessa" pitchFamily="66" charset="0"/>
                <a:cs typeface="Estrangelo Edessa" pitchFamily="66" charset="0"/>
              </a:rPr>
              <a:t>)</a:t>
            </a:r>
            <a:r>
              <a:rPr lang="fr-FR" sz="4000" b="1" dirty="0" smtClean="0">
                <a:latin typeface="Estrangelo Edessa" pitchFamily="66" charset="0"/>
                <a:cs typeface="Estrangelo Edessa" pitchFamily="66" charset="0"/>
              </a:rPr>
              <a:t> </a:t>
            </a:r>
            <a:r>
              <a:rPr lang="ar-DZ" sz="4000" b="1" dirty="0" smtClean="0">
                <a:latin typeface="Estrangelo Edessa" pitchFamily="66" charset="0"/>
                <a:cs typeface="Estrangelo Edessa" pitchFamily="66" charset="0"/>
              </a:rPr>
              <a:t>و علقه بربيعة.</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اغمر الجسم في وعاء </a:t>
            </a:r>
            <a:r>
              <a:rPr lang="ar-DZ" sz="4000" b="1" dirty="0" err="1" smtClean="0">
                <a:latin typeface="Estrangelo Edessa" pitchFamily="66" charset="0"/>
                <a:cs typeface="Estrangelo Edessa" pitchFamily="66" charset="0"/>
              </a:rPr>
              <a:t>به</a:t>
            </a:r>
            <a:r>
              <a:rPr lang="ar-DZ" sz="4000" b="1" dirty="0" smtClean="0">
                <a:latin typeface="Estrangelo Edessa" pitchFamily="66" charset="0"/>
                <a:cs typeface="Estrangelo Edessa" pitchFamily="66" charset="0"/>
              </a:rPr>
              <a:t> زيت</a:t>
            </a:r>
            <a:r>
              <a:rPr lang="fr-FR" sz="4000" b="1" dirty="0" smtClean="0">
                <a:latin typeface="Estrangelo Edessa" pitchFamily="66" charset="0"/>
                <a:cs typeface="Estrangelo Edessa" pitchFamily="66" charset="0"/>
              </a:rPr>
              <a:t> </a:t>
            </a:r>
            <a:r>
              <a:rPr lang="ar-DZ" sz="4000" b="1" dirty="0" smtClean="0">
                <a:latin typeface="Estrangelo Edessa" pitchFamily="66" charset="0"/>
                <a:cs typeface="Estrangelo Edessa" pitchFamily="66" charset="0"/>
              </a:rPr>
              <a:t>ثم استنتج قيمة دافعة أرخميدس.</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اغمر نفس الجسم في وعاء </a:t>
            </a:r>
            <a:r>
              <a:rPr lang="ar-DZ" sz="4000" b="1" dirty="0" err="1" smtClean="0">
                <a:latin typeface="Estrangelo Edessa" pitchFamily="66" charset="0"/>
                <a:cs typeface="Estrangelo Edessa" pitchFamily="66" charset="0"/>
              </a:rPr>
              <a:t>به</a:t>
            </a:r>
            <a:r>
              <a:rPr lang="ar-DZ" sz="4000" b="1" dirty="0" smtClean="0">
                <a:latin typeface="Estrangelo Edessa" pitchFamily="66" charset="0"/>
                <a:cs typeface="Estrangelo Edessa" pitchFamily="66" charset="0"/>
              </a:rPr>
              <a:t> ماء مالح جدا ثم استنتج</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قيمة دافعة أرخميدس في هذه الحالة.</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ماذا تلاحظ بين الحالتين ؟</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ماذا تستنتج ؟</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علما أنّ كثافة الماء المالح أكبر من</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 كثافة الزيت .</a:t>
            </a:r>
            <a:br>
              <a:rPr lang="ar-DZ" sz="4000" b="1" dirty="0" smtClean="0">
                <a:latin typeface="Estrangelo Edessa" pitchFamily="66" charset="0"/>
                <a:cs typeface="Estrangelo Edessa" pitchFamily="66" charset="0"/>
              </a:rPr>
            </a:br>
            <a:r>
              <a:rPr lang="ar-DZ" sz="4000" b="1" dirty="0" smtClean="0">
                <a:latin typeface="Estrangelo Edessa" pitchFamily="66" charset="0"/>
                <a:cs typeface="Estrangelo Edessa" pitchFamily="66" charset="0"/>
              </a:rPr>
              <a:t>ماذا تستنتج؟ .</a:t>
            </a:r>
            <a:r>
              <a:rPr lang="ar-DZ" sz="2800" dirty="0" smtClean="0"/>
              <a:t/>
            </a:r>
            <a:br>
              <a:rPr lang="ar-DZ" sz="2800" dirty="0" smtClean="0"/>
            </a:br>
            <a:r>
              <a:rPr lang="ar-DZ" sz="3200" dirty="0" smtClean="0">
                <a:solidFill>
                  <a:srgbClr val="FF0000"/>
                </a:solidFill>
              </a:rPr>
              <a:t/>
            </a:r>
            <a:br>
              <a:rPr lang="ar-DZ" sz="3200" dirty="0" smtClean="0">
                <a:solidFill>
                  <a:srgbClr val="FF0000"/>
                </a:solidFill>
              </a:rPr>
            </a:br>
            <a:r>
              <a:rPr lang="ar-DZ" sz="3200" dirty="0" smtClean="0">
                <a:solidFill>
                  <a:srgbClr val="FF0000"/>
                </a:solidFill>
              </a:rPr>
              <a:t> </a:t>
            </a:r>
            <a:endParaRPr lang="fr-FR" sz="3200" dirty="0">
              <a:solidFill>
                <a:srgbClr val="FF0000"/>
              </a:solidFill>
            </a:endParaRPr>
          </a:p>
        </p:txBody>
      </p:sp>
      <p:pic>
        <p:nvPicPr>
          <p:cNvPr id="3074" name="Picture 2"/>
          <p:cNvPicPr>
            <a:picLocks noChangeAspect="1" noChangeArrowheads="1"/>
          </p:cNvPicPr>
          <p:nvPr/>
        </p:nvPicPr>
        <p:blipFill>
          <a:blip r:embed="rId2"/>
          <a:srcRect/>
          <a:stretch>
            <a:fillRect/>
          </a:stretch>
        </p:blipFill>
        <p:spPr bwMode="auto">
          <a:xfrm>
            <a:off x="285720" y="3357562"/>
            <a:ext cx="5143536" cy="3071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DZ" dirty="0" smtClean="0"/>
              <a:t>04</a:t>
            </a:r>
            <a:endParaRPr lang="fr-FR" dirty="0"/>
          </a:p>
        </p:txBody>
      </p:sp>
      <p:pic>
        <p:nvPicPr>
          <p:cNvPr id="6" name="04.mp4">
            <a:hlinkClick r:id="" action="ppaction://media"/>
          </p:cNvPr>
          <p:cNvPicPr>
            <a:picLocks noGrp="1" noRot="1" noChangeAspect="1"/>
          </p:cNvPicPr>
          <p:nvPr>
            <p:ph idx="1"/>
            <a:videoFile r:link="rId1"/>
          </p:nvPr>
        </p:nvPicPr>
        <p:blipFill>
          <a:blip r:embed="rId3"/>
          <a:stretch>
            <a:fillRect/>
          </a:stretch>
        </p:blipFill>
        <p:spPr>
          <a:xfrm>
            <a:off x="1643042" y="2719388"/>
            <a:ext cx="4500594" cy="3281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6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74638"/>
            <a:ext cx="9144000" cy="1143000"/>
          </a:xfrm>
        </p:spPr>
        <p:txBody>
          <a:bodyPr>
            <a:normAutofit fontScale="90000"/>
          </a:bodyPr>
          <a:lstStyle/>
          <a:p>
            <a:pPr algn="ctr" rtl="1"/>
            <a:r>
              <a:rPr lang="fr-FR" sz="4900" dirty="0" smtClean="0">
                <a:solidFill>
                  <a:srgbClr val="FF0000"/>
                </a:solidFill>
                <a:latin typeface="Estrangelo Edessa" pitchFamily="66" charset="0"/>
                <a:cs typeface="Estrangelo Edessa" pitchFamily="66" charset="0"/>
              </a:rPr>
              <a:t/>
            </a:r>
            <a:br>
              <a:rPr lang="fr-FR" sz="4900" dirty="0" smtClean="0">
                <a:solidFill>
                  <a:srgbClr val="FF0000"/>
                </a:solidFill>
                <a:latin typeface="Estrangelo Edessa" pitchFamily="66" charset="0"/>
                <a:cs typeface="Estrangelo Edessa" pitchFamily="66" charset="0"/>
              </a:rPr>
            </a:br>
            <a:r>
              <a:rPr lang="fr-FR" sz="4900" dirty="0" smtClean="0">
                <a:solidFill>
                  <a:srgbClr val="FF0000"/>
                </a:solidFill>
                <a:latin typeface="Estrangelo Edessa" pitchFamily="66" charset="0"/>
                <a:cs typeface="Estrangelo Edessa" pitchFamily="66" charset="0"/>
              </a:rPr>
              <a:t/>
            </a:r>
            <a:br>
              <a:rPr lang="fr-FR" sz="4900" dirty="0" smtClean="0">
                <a:solidFill>
                  <a:srgbClr val="FF0000"/>
                </a:solidFill>
                <a:latin typeface="Estrangelo Edessa" pitchFamily="66" charset="0"/>
                <a:cs typeface="Estrangelo Edessa" pitchFamily="66" charset="0"/>
              </a:rPr>
            </a:br>
            <a:r>
              <a:rPr lang="fr-FR" sz="4900" dirty="0" smtClean="0">
                <a:solidFill>
                  <a:srgbClr val="FF0000"/>
                </a:solidFill>
                <a:latin typeface="Estrangelo Edessa" pitchFamily="66" charset="0"/>
                <a:cs typeface="Estrangelo Edessa" pitchFamily="66" charset="0"/>
              </a:rPr>
              <a:t>3</a:t>
            </a:r>
            <a:r>
              <a:rPr lang="ar-DZ" sz="6700" dirty="0" smtClean="0">
                <a:solidFill>
                  <a:srgbClr val="FF0000"/>
                </a:solidFill>
                <a:latin typeface="Estrangelo Edessa" pitchFamily="66" charset="0"/>
                <a:cs typeface="Estrangelo Edessa" pitchFamily="66" charset="0"/>
              </a:rPr>
              <a:t> – شرط توازن جسم في سائل </a:t>
            </a:r>
            <a:br>
              <a:rPr lang="ar-DZ" sz="6700" dirty="0" smtClean="0">
                <a:solidFill>
                  <a:srgbClr val="FF0000"/>
                </a:solidFill>
                <a:latin typeface="Estrangelo Edessa" pitchFamily="66" charset="0"/>
                <a:cs typeface="Estrangelo Edessa" pitchFamily="66" charset="0"/>
              </a:rPr>
            </a:br>
            <a:r>
              <a:rPr lang="ar-DZ" sz="6700" dirty="0" smtClean="0">
                <a:solidFill>
                  <a:schemeClr val="accent2"/>
                </a:solidFill>
                <a:latin typeface="Estrangelo Edessa" pitchFamily="66" charset="0"/>
                <a:cs typeface="Estrangelo Edessa" pitchFamily="66" charset="0"/>
              </a:rPr>
              <a:t>الأهداف </a:t>
            </a:r>
            <a:r>
              <a:rPr lang="ar-DZ" sz="7300" dirty="0" err="1" smtClean="0">
                <a:solidFill>
                  <a:schemeClr val="accent2"/>
                </a:solidFill>
                <a:latin typeface="Estrangelo Edessa" pitchFamily="66" charset="0"/>
                <a:cs typeface="Estrangelo Edessa" pitchFamily="66" charset="0"/>
              </a:rPr>
              <a:t>التعلمية</a:t>
            </a:r>
            <a:r>
              <a:rPr lang="ar-DZ" sz="7300" dirty="0" smtClean="0">
                <a:solidFill>
                  <a:schemeClr val="accent2"/>
                </a:solidFill>
                <a:latin typeface="Estrangelo Edessa" pitchFamily="66" charset="0"/>
                <a:cs typeface="Estrangelo Edessa" pitchFamily="66" charset="0"/>
              </a:rPr>
              <a:t> </a:t>
            </a:r>
            <a:r>
              <a:rPr lang="ar-DZ" dirty="0" smtClean="0">
                <a:solidFill>
                  <a:schemeClr val="accent2"/>
                </a:solidFill>
              </a:rPr>
              <a:t/>
            </a:r>
            <a:br>
              <a:rPr lang="ar-DZ" dirty="0" smtClean="0">
                <a:solidFill>
                  <a:schemeClr val="accent2"/>
                </a:solidFill>
              </a:rPr>
            </a:br>
            <a:endParaRPr lang="fr-FR" dirty="0">
              <a:solidFill>
                <a:srgbClr val="FF0000"/>
              </a:solidFill>
            </a:endParaRPr>
          </a:p>
        </p:txBody>
      </p:sp>
      <p:sp>
        <p:nvSpPr>
          <p:cNvPr id="4" name="ZoneTexte 3"/>
          <p:cNvSpPr txBox="1"/>
          <p:nvPr/>
        </p:nvSpPr>
        <p:spPr>
          <a:xfrm>
            <a:off x="142844" y="1785926"/>
            <a:ext cx="8786874" cy="3477875"/>
          </a:xfrm>
          <a:prstGeom prst="rect">
            <a:avLst/>
          </a:prstGeom>
          <a:noFill/>
        </p:spPr>
        <p:txBody>
          <a:bodyPr wrap="square" rtlCol="0">
            <a:spAutoFit/>
          </a:bodyPr>
          <a:lstStyle/>
          <a:p>
            <a:pPr algn="r" rtl="1"/>
            <a:endParaRPr lang="fr-FR" sz="4400" b="1" dirty="0" smtClean="0">
              <a:solidFill>
                <a:schemeClr val="accent2"/>
              </a:solidFill>
              <a:latin typeface="Estrangelo Edessa" pitchFamily="66" charset="0"/>
              <a:cs typeface="Estrangelo Edessa" pitchFamily="66" charset="0"/>
            </a:endParaRPr>
          </a:p>
          <a:p>
            <a:pPr algn="r" rtl="1"/>
            <a:r>
              <a:rPr lang="ar-DZ" sz="4400" b="1" dirty="0" smtClean="0">
                <a:solidFill>
                  <a:schemeClr val="accent2"/>
                </a:solidFill>
                <a:latin typeface="Estrangelo Edessa" pitchFamily="66" charset="0"/>
                <a:cs typeface="Estrangelo Edessa" pitchFamily="66" charset="0"/>
              </a:rPr>
              <a:t>- يكتب علاقة التوازن الجسم الصلب المغمور كليا داخل السائل .</a:t>
            </a:r>
          </a:p>
          <a:p>
            <a:pPr algn="r" rtl="1">
              <a:buFontTx/>
              <a:buChar char="-"/>
            </a:pPr>
            <a:r>
              <a:rPr lang="ar-DZ" sz="4400" b="1" dirty="0" smtClean="0">
                <a:solidFill>
                  <a:schemeClr val="accent2"/>
                </a:solidFill>
                <a:latin typeface="Estrangelo Edessa" pitchFamily="66" charset="0"/>
                <a:cs typeface="Estrangelo Edessa" pitchFamily="66" charset="0"/>
              </a:rPr>
              <a:t>يحدد شرط التوازن جسم يطفو فوق سطح السائل .</a:t>
            </a:r>
          </a:p>
          <a:p>
            <a:pPr algn="r" rtl="1">
              <a:buFontTx/>
              <a:buChar char="-"/>
            </a:pPr>
            <a:r>
              <a:rPr lang="ar-DZ" sz="4400" b="1" dirty="0" smtClean="0">
                <a:solidFill>
                  <a:schemeClr val="accent2"/>
                </a:solidFill>
                <a:latin typeface="Estrangelo Edessa" pitchFamily="66" charset="0"/>
                <a:cs typeface="Estrangelo Edessa" pitchFamily="66" charset="0"/>
              </a:rPr>
              <a:t> يقارن بين كثافة الأجسام الصلبة </a:t>
            </a:r>
            <a:r>
              <a:rPr lang="ar-DZ" sz="4400" b="1" dirty="0" err="1" smtClean="0">
                <a:solidFill>
                  <a:schemeClr val="accent2"/>
                </a:solidFill>
                <a:latin typeface="Estrangelo Edessa" pitchFamily="66" charset="0"/>
                <a:cs typeface="Estrangelo Edessa" pitchFamily="66" charset="0"/>
              </a:rPr>
              <a:t>بإستخدام</a:t>
            </a:r>
            <a:r>
              <a:rPr lang="ar-DZ" sz="4400" b="1" dirty="0" smtClean="0">
                <a:solidFill>
                  <a:schemeClr val="accent2"/>
                </a:solidFill>
                <a:latin typeface="Estrangelo Edessa" pitchFamily="66" charset="0"/>
                <a:cs typeface="Estrangelo Edessa" pitchFamily="66" charset="0"/>
              </a:rPr>
              <a:t> دافعة أرخميدس .</a:t>
            </a:r>
          </a:p>
          <a:p>
            <a:pPr algn="r" rtl="1">
              <a:buFontTx/>
              <a:buChar char="-"/>
            </a:pPr>
            <a:r>
              <a:rPr lang="ar-DZ" sz="4400" b="1" dirty="0" smtClean="0">
                <a:solidFill>
                  <a:schemeClr val="accent2"/>
                </a:solidFill>
                <a:latin typeface="Estrangelo Edessa" pitchFamily="66" charset="0"/>
                <a:cs typeface="Estrangelo Edessa" pitchFamily="66" charset="0"/>
              </a:rPr>
              <a:t> يعين تجريبيا كثافة جسم صلب .</a:t>
            </a:r>
            <a:endParaRPr lang="fr-FR" sz="4400" b="1" dirty="0">
              <a:solidFill>
                <a:schemeClr val="accent2"/>
              </a:solidFill>
              <a:latin typeface="Estrangelo Edessa" pitchFamily="66" charset="0"/>
              <a:cs typeface="Estrangelo Edessa" pitchFamily="66"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74638"/>
            <a:ext cx="9001156" cy="6226196"/>
          </a:xfrm>
        </p:spPr>
        <p:txBody>
          <a:bodyPr>
            <a:normAutofit fontScale="90000"/>
          </a:bodyPr>
          <a:lstStyle/>
          <a:p>
            <a:pPr algn="r" rtl="1"/>
            <a:r>
              <a:rPr lang="ar-DZ" sz="3200" dirty="0" smtClean="0">
                <a:solidFill>
                  <a:srgbClr val="FF0000"/>
                </a:solidFill>
              </a:rPr>
              <a:t> </a:t>
            </a:r>
            <a:r>
              <a:rPr lang="ar-DZ" sz="4000" dirty="0" smtClean="0">
                <a:solidFill>
                  <a:srgbClr val="FF0000"/>
                </a:solidFill>
                <a:latin typeface="Estrangelo Edessa" pitchFamily="66" charset="0"/>
                <a:cs typeface="Estrangelo Edessa" pitchFamily="66" charset="0"/>
              </a:rPr>
              <a:t>النشاط </a:t>
            </a:r>
            <a:r>
              <a:rPr lang="fr-FR" sz="4000" dirty="0" smtClean="0">
                <a:solidFill>
                  <a:srgbClr val="FF0000"/>
                </a:solidFill>
                <a:latin typeface="Estrangelo Edessa" pitchFamily="66" charset="0"/>
                <a:cs typeface="Estrangelo Edessa" pitchFamily="66" charset="0"/>
              </a:rPr>
              <a:t>1</a:t>
            </a:r>
            <a:r>
              <a:rPr lang="ar-DZ" sz="4000" dirty="0" smtClean="0">
                <a:solidFill>
                  <a:srgbClr val="FF0000"/>
                </a:solidFill>
                <a:latin typeface="Estrangelo Edessa" pitchFamily="66" charset="0"/>
                <a:cs typeface="Estrangelo Edessa" pitchFamily="66" charset="0"/>
              </a:rPr>
              <a:t> - شرط توازن جسم طافي </a:t>
            </a:r>
            <a:r>
              <a:rPr lang="ar-DZ" sz="4000" dirty="0" err="1" smtClean="0">
                <a:solidFill>
                  <a:srgbClr val="FF0000"/>
                </a:solidFill>
                <a:latin typeface="Estrangelo Edessa" pitchFamily="66" charset="0"/>
                <a:cs typeface="Estrangelo Edessa" pitchFamily="66" charset="0"/>
              </a:rPr>
              <a:t>و</a:t>
            </a:r>
            <a:r>
              <a:rPr lang="ar-DZ" sz="4000" dirty="0" smtClean="0">
                <a:solidFill>
                  <a:srgbClr val="FF0000"/>
                </a:solidFill>
                <a:latin typeface="Estrangelo Edessa" pitchFamily="66" charset="0"/>
                <a:cs typeface="Estrangelo Edessa" pitchFamily="66" charset="0"/>
              </a:rPr>
              <a:t> مغمور في سائل</a:t>
            </a:r>
            <a:r>
              <a:rPr lang="ar-DZ" sz="2800" dirty="0" smtClean="0">
                <a:solidFill>
                  <a:srgbClr val="FF0000"/>
                </a:solidFill>
                <a:latin typeface="Estrangelo Edessa" pitchFamily="66" charset="0"/>
                <a:cs typeface="Estrangelo Edessa" pitchFamily="66" charset="0"/>
              </a:rPr>
              <a:t/>
            </a:r>
            <a:br>
              <a:rPr lang="ar-DZ" sz="2800" dirty="0" smtClean="0">
                <a:solidFill>
                  <a:srgbClr val="FF0000"/>
                </a:solidFill>
                <a:latin typeface="Estrangelo Edessa" pitchFamily="66" charset="0"/>
                <a:cs typeface="Estrangelo Edessa" pitchFamily="66" charset="0"/>
              </a:rPr>
            </a:br>
            <a:r>
              <a:rPr lang="ar-DZ" sz="3100" b="1" dirty="0" smtClean="0">
                <a:latin typeface="Estrangelo Edessa" pitchFamily="66" charset="0"/>
                <a:cs typeface="Estrangelo Edessa" pitchFamily="66" charset="0"/>
              </a:rPr>
              <a:t>تحضير التجربة :جسم صلب (</a:t>
            </a:r>
            <a:r>
              <a:rPr lang="fr-FR" sz="3100" b="1" dirty="0" smtClean="0">
                <a:latin typeface="Estrangelo Edessa" pitchFamily="66" charset="0"/>
                <a:cs typeface="Estrangelo Edessa" pitchFamily="66" charset="0"/>
              </a:rPr>
              <a:t>s</a:t>
            </a:r>
            <a:r>
              <a:rPr lang="ar-DZ" sz="3100" b="1" dirty="0" smtClean="0">
                <a:latin typeface="Estrangelo Edessa" pitchFamily="66" charset="0"/>
                <a:cs typeface="Estrangelo Edessa" pitchFamily="66" charset="0"/>
              </a:rPr>
              <a:t>)- ربيعة - وعاء ماء مالح – زيت-بيضة - إناء زجاجي - ماء - ملح.</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ضع بهدوء بيضة داخل إناء زجاجي مملوء بالماء.</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ـ ماذا تلاحظ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ـ ماذا تستنتج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أضف تدريجيا كميات من الملح لماء الإناء </a:t>
            </a:r>
            <a:r>
              <a:rPr lang="ar-DZ" sz="3100" b="1" dirty="0" err="1" smtClean="0">
                <a:latin typeface="Estrangelo Edessa" pitchFamily="66" charset="0"/>
                <a:cs typeface="Estrangelo Edessa" pitchFamily="66" charset="0"/>
              </a:rPr>
              <a:t>و</a:t>
            </a:r>
            <a:r>
              <a:rPr lang="ar-DZ" sz="3100" b="1" dirty="0" smtClean="0">
                <a:latin typeface="Estrangelo Edessa" pitchFamily="66" charset="0"/>
                <a:cs typeface="Estrangelo Edessa" pitchFamily="66" charset="0"/>
              </a:rPr>
              <a:t> حرِّك بهدوء.</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لماذا نضيف الملح للماء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ماذا تلاحظ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ماذا تستنتج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تابع إضافة الملح لماء الإناء.</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ماذا تلاحظ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ماذا تستنتج ؟</a:t>
            </a:r>
            <a:br>
              <a:rPr lang="ar-DZ" sz="3100" b="1" dirty="0" smtClean="0">
                <a:latin typeface="Estrangelo Edessa" pitchFamily="66" charset="0"/>
                <a:cs typeface="Estrangelo Edessa" pitchFamily="66" charset="0"/>
              </a:rPr>
            </a:br>
            <a:r>
              <a:rPr lang="ar-DZ" sz="3100" b="1" dirty="0" smtClean="0">
                <a:latin typeface="Estrangelo Edessa" pitchFamily="66" charset="0"/>
                <a:cs typeface="Estrangelo Edessa" pitchFamily="66" charset="0"/>
              </a:rPr>
              <a:t>مما سبق استنتج شرط توازن جسم </a:t>
            </a:r>
            <a:r>
              <a:rPr lang="ar-DZ" sz="3100" b="1" dirty="0" err="1" smtClean="0">
                <a:latin typeface="Estrangelo Edessa" pitchFamily="66" charset="0"/>
                <a:cs typeface="Estrangelo Edessa" pitchFamily="66" charset="0"/>
              </a:rPr>
              <a:t>و</a:t>
            </a:r>
            <a:r>
              <a:rPr lang="ar-DZ" sz="3100" b="1" dirty="0" smtClean="0">
                <a:latin typeface="Estrangelo Edessa" pitchFamily="66" charset="0"/>
                <a:cs typeface="Estrangelo Edessa" pitchFamily="66" charset="0"/>
              </a:rPr>
              <a:t> هو مغمور </a:t>
            </a:r>
            <a:r>
              <a:rPr lang="ar-DZ" sz="3100" b="1" dirty="0" err="1" smtClean="0">
                <a:latin typeface="Estrangelo Edessa" pitchFamily="66" charset="0"/>
                <a:cs typeface="Estrangelo Edessa" pitchFamily="66" charset="0"/>
              </a:rPr>
              <a:t>و</a:t>
            </a:r>
            <a:r>
              <a:rPr lang="ar-DZ" sz="3100" b="1" dirty="0" smtClean="0">
                <a:latin typeface="Estrangelo Edessa" pitchFamily="66" charset="0"/>
                <a:cs typeface="Estrangelo Edessa" pitchFamily="66" charset="0"/>
              </a:rPr>
              <a:t> شرط توازنه </a:t>
            </a:r>
            <a:r>
              <a:rPr lang="ar-DZ" sz="3100" b="1" dirty="0" err="1" smtClean="0">
                <a:latin typeface="Estrangelo Edessa" pitchFamily="66" charset="0"/>
                <a:cs typeface="Estrangelo Edessa" pitchFamily="66" charset="0"/>
              </a:rPr>
              <a:t>و</a:t>
            </a:r>
            <a:r>
              <a:rPr lang="ar-DZ" sz="3100" b="1" dirty="0" smtClean="0">
                <a:latin typeface="Estrangelo Edessa" pitchFamily="66" charset="0"/>
                <a:cs typeface="Estrangelo Edessa" pitchFamily="66" charset="0"/>
              </a:rPr>
              <a:t> هو طافٍ.</a:t>
            </a:r>
            <a:br>
              <a:rPr lang="ar-DZ" sz="3100" b="1" dirty="0" smtClean="0">
                <a:latin typeface="Estrangelo Edessa" pitchFamily="66" charset="0"/>
                <a:cs typeface="Estrangelo Edessa" pitchFamily="66" charset="0"/>
              </a:rPr>
            </a:br>
            <a:endParaRPr lang="fr-FR" sz="3100" b="1" dirty="0">
              <a:solidFill>
                <a:srgbClr val="FF0000"/>
              </a:solidFill>
              <a:latin typeface="Estrangelo Edessa" pitchFamily="66" charset="0"/>
              <a:cs typeface="Estrangelo Edessa" pitchFamily="66" charset="0"/>
            </a:endParaRPr>
          </a:p>
        </p:txBody>
      </p:sp>
      <p:pic>
        <p:nvPicPr>
          <p:cNvPr id="1026" name="Picture 2"/>
          <p:cNvPicPr>
            <a:picLocks noChangeAspect="1" noChangeArrowheads="1"/>
          </p:cNvPicPr>
          <p:nvPr/>
        </p:nvPicPr>
        <p:blipFill>
          <a:blip r:embed="rId2"/>
          <a:srcRect/>
          <a:stretch>
            <a:fillRect/>
          </a:stretch>
        </p:blipFill>
        <p:spPr bwMode="auto">
          <a:xfrm>
            <a:off x="857224" y="2071678"/>
            <a:ext cx="2500329" cy="33575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ar-DZ" dirty="0" smtClean="0"/>
              <a:t> </a:t>
            </a:r>
            <a:endParaRPr lang="fr-FR" dirty="0"/>
          </a:p>
        </p:txBody>
      </p:sp>
      <p:pic>
        <p:nvPicPr>
          <p:cNvPr id="5" name="Expérience SI  La densité.mp4">
            <a:hlinkClick r:id="" action="ppaction://media"/>
          </p:cNvPr>
          <p:cNvPicPr>
            <a:picLocks noGrp="1" noRot="1" noChangeAspect="1"/>
          </p:cNvPicPr>
          <p:nvPr>
            <p:ph idx="1"/>
            <a:videoFile r:link="rId1"/>
          </p:nvPr>
        </p:nvPicPr>
        <p:blipFill>
          <a:blip r:embed="rId3"/>
          <a:stretch>
            <a:fillRect/>
          </a:stretch>
        </p:blipFill>
        <p:spPr>
          <a:xfrm>
            <a:off x="1428728" y="2000240"/>
            <a:ext cx="6000792" cy="3857652"/>
          </a:xfrm>
          <a:prstGeom prst="rect">
            <a:avLst/>
          </a:prstGeom>
        </p:spPr>
      </p:pic>
      <p:sp>
        <p:nvSpPr>
          <p:cNvPr id="6" name="ZoneTexte 5"/>
          <p:cNvSpPr txBox="1"/>
          <p:nvPr/>
        </p:nvSpPr>
        <p:spPr>
          <a:xfrm>
            <a:off x="3857620" y="857232"/>
            <a:ext cx="1643074" cy="707886"/>
          </a:xfrm>
          <a:prstGeom prst="rect">
            <a:avLst/>
          </a:prstGeom>
          <a:noFill/>
        </p:spPr>
        <p:txBody>
          <a:bodyPr wrap="square" rtlCol="0">
            <a:spAutoFit/>
          </a:bodyPr>
          <a:lstStyle/>
          <a:p>
            <a:r>
              <a:rPr lang="ar-DZ" sz="4000" dirty="0" smtClean="0"/>
              <a:t>05</a:t>
            </a:r>
            <a:endParaRPr lang="fr-FR"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50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071934" y="785794"/>
            <a:ext cx="2000264" cy="646331"/>
          </a:xfrm>
          <a:prstGeom prst="rect">
            <a:avLst/>
          </a:prstGeom>
          <a:noFill/>
        </p:spPr>
        <p:txBody>
          <a:bodyPr wrap="square" rtlCol="0">
            <a:spAutoFit/>
          </a:bodyPr>
          <a:lstStyle/>
          <a:p>
            <a:pPr algn="ctr" rtl="1"/>
            <a:r>
              <a:rPr lang="ar-DZ" sz="3600" dirty="0" smtClean="0"/>
              <a:t>06</a:t>
            </a:r>
            <a:endParaRPr lang="fr-FR" sz="3600" dirty="0"/>
          </a:p>
        </p:txBody>
      </p:sp>
      <p:pic>
        <p:nvPicPr>
          <p:cNvPr id="12" name="05.mp4">
            <a:hlinkClick r:id="" action="ppaction://media"/>
          </p:cNvPr>
          <p:cNvPicPr>
            <a:picLocks noGrp="1" noRot="1" noChangeAspect="1"/>
          </p:cNvPicPr>
          <p:nvPr>
            <p:ph idx="1"/>
            <a:videoFile r:link="rId1"/>
          </p:nvPr>
        </p:nvPicPr>
        <p:blipFill>
          <a:blip r:embed="rId3"/>
          <a:stretch>
            <a:fillRect/>
          </a:stretch>
        </p:blipFill>
        <p:spPr>
          <a:xfrm>
            <a:off x="1285852" y="1928802"/>
            <a:ext cx="5500726" cy="40005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7385"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7072338"/>
          </a:xfrm>
        </p:spPr>
        <p:txBody>
          <a:bodyPr>
            <a:normAutofit/>
          </a:bodyPr>
          <a:lstStyle/>
          <a:p>
            <a:pPr algn="r" rtl="1"/>
            <a:r>
              <a:rPr lang="ar-DZ" sz="4400" b="1" dirty="0" smtClean="0">
                <a:solidFill>
                  <a:srgbClr val="FF0000"/>
                </a:solidFill>
                <a:latin typeface="Estrangelo Edessa" pitchFamily="66" charset="0"/>
                <a:cs typeface="Estrangelo Edessa" pitchFamily="66" charset="0"/>
              </a:rPr>
              <a:t>النشاط</a:t>
            </a:r>
            <a:r>
              <a:rPr lang="ar-DZ" sz="4400" b="1" dirty="0" smtClean="0">
                <a:latin typeface="Estrangelo Edessa" pitchFamily="66" charset="0"/>
                <a:cs typeface="Estrangelo Edessa" pitchFamily="66" charset="0"/>
              </a:rPr>
              <a:t> </a:t>
            </a:r>
            <a:r>
              <a:rPr lang="fr-FR" sz="3600" b="1" dirty="0" smtClean="0">
                <a:solidFill>
                  <a:srgbClr val="FF0000"/>
                </a:solidFill>
                <a:latin typeface="Estrangelo Edessa" pitchFamily="66" charset="0"/>
                <a:cs typeface="Estrangelo Edessa" pitchFamily="66" charset="0"/>
              </a:rPr>
              <a:t>2</a:t>
            </a:r>
            <a:r>
              <a:rPr lang="ar-DZ" sz="4400" b="1" dirty="0" smtClean="0">
                <a:latin typeface="Estrangelo Edessa" pitchFamily="66" charset="0"/>
                <a:cs typeface="Estrangelo Edessa" pitchFamily="66" charset="0"/>
              </a:rPr>
              <a:t> </a:t>
            </a:r>
            <a:r>
              <a:rPr lang="ar-DZ" sz="4400" b="1" dirty="0" smtClean="0">
                <a:solidFill>
                  <a:srgbClr val="FF0000"/>
                </a:solidFill>
                <a:latin typeface="Estrangelo Edessa" pitchFamily="66" charset="0"/>
                <a:cs typeface="Estrangelo Edessa" pitchFamily="66" charset="0"/>
              </a:rPr>
              <a:t>-تعيين كثافة جسم صلب بالنسبة للماء </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DZ" sz="2800" b="1" dirty="0" smtClean="0">
                <a:latin typeface="Estrangelo Edessa" pitchFamily="66" charset="0"/>
                <a:cs typeface="Estrangelo Edessa" pitchFamily="66" charset="0"/>
              </a:rPr>
              <a:t>تحضير التجربة</a:t>
            </a:r>
            <a:r>
              <a:rPr lang="ar-SA" sz="2800" b="1" dirty="0" smtClean="0">
                <a:latin typeface="Estrangelo Edessa" pitchFamily="66" charset="0"/>
                <a:cs typeface="Estrangelo Edessa" pitchFamily="66" charset="0"/>
              </a:rPr>
              <a:t>: جسم صلب </a:t>
            </a:r>
            <a:r>
              <a:rPr lang="fr-FR" sz="2800" b="1" dirty="0" smtClean="0">
                <a:latin typeface="Estrangelo Edessa" pitchFamily="66" charset="0"/>
                <a:cs typeface="Estrangelo Edessa" pitchFamily="66" charset="0"/>
              </a:rPr>
              <a:t>(S) </a:t>
            </a:r>
            <a:r>
              <a:rPr lang="ar-DZ" sz="2800" b="1" dirty="0" err="1" smtClean="0">
                <a:latin typeface="Estrangelo Edessa" pitchFamily="66" charset="0"/>
                <a:cs typeface="Estrangelo Edessa" pitchFamily="66" charset="0"/>
              </a:rPr>
              <a:t>يـغــوص</a:t>
            </a:r>
            <a:r>
              <a:rPr lang="ar-DZ" sz="2800" b="1" dirty="0" smtClean="0">
                <a:latin typeface="Estrangelo Edessa" pitchFamily="66" charset="0"/>
                <a:cs typeface="Estrangelo Edessa" pitchFamily="66" charset="0"/>
              </a:rPr>
              <a:t> في الـمـاء، ربيعـة، حـامــل </a:t>
            </a:r>
            <a:r>
              <a:rPr lang="ar-DZ" sz="2800" b="1" dirty="0" err="1" smtClean="0">
                <a:latin typeface="Estrangelo Edessa" pitchFamily="66" charset="0"/>
                <a:cs typeface="Estrangelo Edessa" pitchFamily="66" charset="0"/>
              </a:rPr>
              <a:t>الربـيـعـة</a:t>
            </a:r>
            <a:r>
              <a:rPr lang="ar-DZ" sz="2800" b="1" dirty="0" smtClean="0">
                <a:latin typeface="Estrangelo Edessa" pitchFamily="66" charset="0"/>
                <a:cs typeface="Estrangelo Edessa" pitchFamily="66" charset="0"/>
              </a:rPr>
              <a:t>، وعــاء يحتوي ماء.</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قُـم بالتجربة الموضحة في (الوثيقة</a:t>
            </a:r>
            <a:r>
              <a:rPr lang="fr-FR" sz="2400" b="1" dirty="0" smtClean="0">
                <a:latin typeface="Estrangelo Edessa" pitchFamily="66" charset="0"/>
                <a:cs typeface="Estrangelo Edessa" pitchFamily="66" charset="0"/>
              </a:rPr>
              <a:t>2</a:t>
            </a:r>
            <a:r>
              <a:rPr lang="ar-SA" sz="2800" b="1" dirty="0" smtClean="0">
                <a:latin typeface="Estrangelo Edessa" pitchFamily="66" charset="0"/>
                <a:cs typeface="Estrangelo Edessa" pitchFamily="66" charset="0"/>
              </a:rPr>
              <a:t>) </a:t>
            </a:r>
            <a:r>
              <a:rPr lang="ar-SA" sz="2800" b="1" dirty="0" err="1" smtClean="0">
                <a:latin typeface="Estrangelo Edessa" pitchFamily="66" charset="0"/>
                <a:cs typeface="Estrangelo Edessa" pitchFamily="66" charset="0"/>
              </a:rPr>
              <a:t>و</a:t>
            </a:r>
            <a:r>
              <a:rPr lang="ar-SA" sz="2800" b="1" dirty="0" smtClean="0">
                <a:latin typeface="Estrangelo Edessa" pitchFamily="66" charset="0"/>
                <a:cs typeface="Estrangelo Edessa" pitchFamily="66" charset="0"/>
              </a:rPr>
              <a:t> ( الوثيقة</a:t>
            </a:r>
            <a:r>
              <a:rPr lang="fr-FR" sz="2400" b="1" dirty="0" smtClean="0">
                <a:latin typeface="Estrangelo Edessa" pitchFamily="66" charset="0"/>
                <a:cs typeface="Estrangelo Edessa" pitchFamily="66" charset="0"/>
              </a:rPr>
              <a:t>3</a:t>
            </a:r>
            <a:r>
              <a:rPr lang="ar-SA" sz="2800" b="1" dirty="0" smtClean="0">
                <a:latin typeface="Estrangelo Edessa" pitchFamily="66" charset="0"/>
                <a:cs typeface="Estrangelo Edessa" pitchFamily="66" charset="0"/>
              </a:rPr>
              <a:t>) باستعمال الجسم الصلب </a:t>
            </a:r>
            <a:r>
              <a:rPr lang="fr-FR" sz="2800" b="1" dirty="0" smtClean="0">
                <a:latin typeface="Estrangelo Edessa" pitchFamily="66" charset="0"/>
                <a:cs typeface="Estrangelo Edessa" pitchFamily="66" charset="0"/>
              </a:rPr>
              <a:t>(S)</a:t>
            </a:r>
            <a:r>
              <a:rPr lang="ar-SA" sz="2800" b="1" dirty="0" smtClean="0">
                <a:latin typeface="Estrangelo Edessa" pitchFamily="66" charset="0"/>
                <a:cs typeface="Estrangelo Edessa" pitchFamily="66" charset="0"/>
              </a:rPr>
              <a:t>.</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سجّل </a:t>
            </a:r>
            <a:r>
              <a:rPr lang="fr-FR" sz="2800" b="1" dirty="0" smtClean="0">
                <a:latin typeface="Estrangelo Edessa" pitchFamily="66" charset="0"/>
                <a:cs typeface="Estrangelo Edessa" pitchFamily="66" charset="0"/>
              </a:rPr>
              <a:t> </a:t>
            </a:r>
            <a:r>
              <a:rPr lang="ar-SA" sz="2800" b="1" dirty="0" smtClean="0">
                <a:latin typeface="Estrangelo Edessa" pitchFamily="66" charset="0"/>
                <a:cs typeface="Estrangelo Edessa" pitchFamily="66" charset="0"/>
              </a:rPr>
              <a:t>شّـدة ثقل الجسم </a:t>
            </a:r>
            <a:r>
              <a:rPr lang="fr-FR" sz="2800" b="1" dirty="0" smtClean="0">
                <a:latin typeface="Estrangelo Edessa" pitchFamily="66" charset="0"/>
                <a:cs typeface="Estrangelo Edessa" pitchFamily="66" charset="0"/>
              </a:rPr>
              <a:t>(S)</a:t>
            </a:r>
            <a:r>
              <a:rPr lang="ar-SA" sz="2800" b="1" dirty="0" smtClean="0">
                <a:latin typeface="Estrangelo Edessa" pitchFamily="66" charset="0"/>
                <a:cs typeface="Estrangelo Edessa" pitchFamily="66" charset="0"/>
              </a:rPr>
              <a:t> و هو خارج الماء.</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سجّل </a:t>
            </a:r>
            <a:r>
              <a:rPr lang="fr-FR" sz="2800" b="1" dirty="0" smtClean="0">
                <a:latin typeface="Estrangelo Edessa" pitchFamily="66" charset="0"/>
                <a:cs typeface="Estrangelo Edessa" pitchFamily="66" charset="0"/>
              </a:rPr>
              <a:t> </a:t>
            </a:r>
            <a:r>
              <a:rPr lang="ar-SA" sz="2800" b="1" dirty="0" smtClean="0">
                <a:latin typeface="Estrangelo Edessa" pitchFamily="66" charset="0"/>
                <a:cs typeface="Estrangelo Edessa" pitchFamily="66" charset="0"/>
              </a:rPr>
              <a:t>شّـدة الثقل الظاهري للجسم </a:t>
            </a:r>
            <a:r>
              <a:rPr lang="fr-FR" sz="2800" b="1" dirty="0" smtClean="0">
                <a:latin typeface="Estrangelo Edessa" pitchFamily="66" charset="0"/>
                <a:cs typeface="Estrangelo Edessa" pitchFamily="66" charset="0"/>
              </a:rPr>
              <a:t>(S)</a:t>
            </a:r>
            <a:r>
              <a:rPr lang="ar-SA" sz="2800" b="1" dirty="0" smtClean="0">
                <a:latin typeface="Estrangelo Edessa" pitchFamily="66" charset="0"/>
                <a:cs typeface="Estrangelo Edessa" pitchFamily="66" charset="0"/>
              </a:rPr>
              <a:t> </a:t>
            </a:r>
            <a:r>
              <a:rPr lang="ar-DZ" sz="2800" b="1" dirty="0" smtClean="0">
                <a:latin typeface="Estrangelo Edessa" pitchFamily="66" charset="0"/>
                <a:cs typeface="Estrangelo Edessa" pitchFamily="66" charset="0"/>
              </a:rPr>
              <a:t/>
            </a:r>
            <a:br>
              <a:rPr lang="ar-DZ"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و هو داخل الماء.</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أحسب </a:t>
            </a:r>
            <a:r>
              <a:rPr lang="fr-FR" sz="2800" b="1" dirty="0" smtClean="0">
                <a:latin typeface="Estrangelo Edessa" pitchFamily="66" charset="0"/>
                <a:cs typeface="Estrangelo Edessa" pitchFamily="66" charset="0"/>
              </a:rPr>
              <a:t> </a:t>
            </a:r>
            <a:r>
              <a:rPr lang="ar-SA" sz="2800" b="1" dirty="0" smtClean="0">
                <a:latin typeface="Estrangelo Edessa" pitchFamily="66" charset="0"/>
                <a:cs typeface="Estrangelo Edessa" pitchFamily="66" charset="0"/>
              </a:rPr>
              <a:t>شّـدة دافعة </a:t>
            </a:r>
            <a:r>
              <a:rPr lang="ar-SA" sz="2800" b="1" dirty="0" err="1" smtClean="0">
                <a:latin typeface="Estrangelo Edessa" pitchFamily="66" charset="0"/>
                <a:cs typeface="Estrangelo Edessa" pitchFamily="66" charset="0"/>
              </a:rPr>
              <a:t>أرخميدس</a:t>
            </a:r>
            <a:r>
              <a:rPr lang="ar-SA" sz="2800" b="1" dirty="0" smtClean="0">
                <a:latin typeface="Estrangelo Edessa" pitchFamily="66" charset="0"/>
                <a:cs typeface="Estrangelo Edessa" pitchFamily="66" charset="0"/>
              </a:rPr>
              <a:t> التي</a:t>
            </a:r>
            <a:r>
              <a:rPr lang="ar-DZ" sz="2800" b="1" dirty="0" smtClean="0">
                <a:latin typeface="Estrangelo Edessa" pitchFamily="66" charset="0"/>
                <a:cs typeface="Estrangelo Edessa" pitchFamily="66" charset="0"/>
              </a:rPr>
              <a:t/>
            </a:r>
            <a:br>
              <a:rPr lang="ar-DZ"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 تؤثر في الجسم </a:t>
            </a:r>
            <a:r>
              <a:rPr lang="fr-FR" sz="2800" b="1" dirty="0" smtClean="0">
                <a:latin typeface="Estrangelo Edessa" pitchFamily="66" charset="0"/>
                <a:cs typeface="Estrangelo Edessa" pitchFamily="66" charset="0"/>
              </a:rPr>
              <a:t>(S)</a:t>
            </a:r>
            <a:r>
              <a:rPr lang="ar-SA" sz="2800" b="1" dirty="0" smtClean="0">
                <a:latin typeface="Estrangelo Edessa" pitchFamily="66" charset="0"/>
                <a:cs typeface="Estrangelo Edessa" pitchFamily="66" charset="0"/>
              </a:rPr>
              <a:t> و هو مغمور في الماء.</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قِـس الكثافة </a:t>
            </a:r>
            <a:r>
              <a:rPr lang="fr-FR" sz="2800" b="1" dirty="0" smtClean="0">
                <a:latin typeface="Estrangelo Edessa" pitchFamily="66" charset="0"/>
                <a:cs typeface="Estrangelo Edessa" pitchFamily="66" charset="0"/>
              </a:rPr>
              <a:t> </a:t>
            </a:r>
            <a:r>
              <a:rPr lang="ar-SA" sz="2800" b="1" dirty="0" smtClean="0">
                <a:latin typeface="Estrangelo Edessa" pitchFamily="66" charset="0"/>
                <a:cs typeface="Estrangelo Edessa" pitchFamily="66" charset="0"/>
              </a:rPr>
              <a:t>بالنسبة للماء للجسم </a:t>
            </a:r>
            <a:r>
              <a:rPr lang="fr-FR" sz="2800" b="1" dirty="0" smtClean="0">
                <a:latin typeface="Estrangelo Edessa" pitchFamily="66" charset="0"/>
                <a:cs typeface="Estrangelo Edessa" pitchFamily="66" charset="0"/>
              </a:rPr>
              <a:t>(S) </a:t>
            </a:r>
            <a:r>
              <a:rPr lang="ar-DZ" sz="2800" b="1" dirty="0" smtClean="0">
                <a:latin typeface="Estrangelo Edessa" pitchFamily="66" charset="0"/>
                <a:cs typeface="Estrangelo Edessa" pitchFamily="66" charset="0"/>
              </a:rPr>
              <a:t/>
            </a:r>
            <a:br>
              <a:rPr lang="ar-DZ"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بطرقة الغمر التي درستها في السنة الأولى</a:t>
            </a:r>
            <a:r>
              <a:rPr lang="ar-DZ" sz="2800" b="1" dirty="0" smtClean="0">
                <a:latin typeface="Estrangelo Edessa" pitchFamily="66" charset="0"/>
                <a:cs typeface="Estrangelo Edessa" pitchFamily="66" charset="0"/>
              </a:rPr>
              <a:t/>
            </a:r>
            <a:br>
              <a:rPr lang="ar-DZ"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 متوسط، ثــمّ قـارن قيمتها مع قيمة حاصل </a:t>
            </a:r>
            <a:r>
              <a:rPr lang="ar-DZ" sz="2800" b="1" dirty="0" smtClean="0">
                <a:latin typeface="Estrangelo Edessa" pitchFamily="66" charset="0"/>
                <a:cs typeface="Estrangelo Edessa" pitchFamily="66" charset="0"/>
              </a:rPr>
              <a:t/>
            </a:r>
            <a:br>
              <a:rPr lang="ar-DZ" sz="2800" b="1" dirty="0" smtClean="0">
                <a:latin typeface="Estrangelo Edessa" pitchFamily="66" charset="0"/>
                <a:cs typeface="Estrangelo Edessa" pitchFamily="66" charset="0"/>
              </a:rPr>
            </a:br>
            <a:r>
              <a:rPr lang="ar-SA" sz="2800" b="1" dirty="0" smtClean="0">
                <a:latin typeface="Estrangelo Edessa" pitchFamily="66" charset="0"/>
                <a:cs typeface="Estrangelo Edessa" pitchFamily="66" charset="0"/>
              </a:rPr>
              <a:t>قسمة شّـدة ثـقـل الجسم </a:t>
            </a:r>
            <a:r>
              <a:rPr lang="fr-FR" sz="2800" b="1" dirty="0" smtClean="0">
                <a:latin typeface="Estrangelo Edessa" pitchFamily="66" charset="0"/>
                <a:cs typeface="Estrangelo Edessa" pitchFamily="66" charset="0"/>
              </a:rPr>
              <a:t>(S)</a:t>
            </a:r>
            <a:r>
              <a:rPr lang="ar-SA" sz="2800" b="1" dirty="0" smtClean="0">
                <a:latin typeface="Estrangelo Edessa" pitchFamily="66" charset="0"/>
                <a:cs typeface="Estrangelo Edessa" pitchFamily="66" charset="0"/>
              </a:rPr>
              <a:t> على شّـدة دافعة </a:t>
            </a:r>
            <a:r>
              <a:rPr lang="ar-SA" sz="2800" b="1" dirty="0" err="1" smtClean="0">
                <a:latin typeface="Estrangelo Edessa" pitchFamily="66" charset="0"/>
                <a:cs typeface="Estrangelo Edessa" pitchFamily="66" charset="0"/>
              </a:rPr>
              <a:t>أرخميدس</a:t>
            </a:r>
            <a:r>
              <a:rPr lang="ar-SA" sz="2800" b="1" dirty="0" smtClean="0">
                <a:latin typeface="Estrangelo Edessa" pitchFamily="66" charset="0"/>
                <a:cs typeface="Estrangelo Edessa" pitchFamily="66" charset="0"/>
              </a:rPr>
              <a:t> أي </a:t>
            </a:r>
            <a:r>
              <a:rPr lang="ar-SA" sz="2800" b="1" dirty="0" err="1" smtClean="0">
                <a:latin typeface="Estrangelo Edessa" pitchFamily="66" charset="0"/>
                <a:cs typeface="Estrangelo Edessa" pitchFamily="66" charset="0"/>
              </a:rPr>
              <a:t>ايجاد</a:t>
            </a:r>
            <a:r>
              <a:rPr lang="ar-SA" sz="2800" b="1" dirty="0" smtClean="0">
                <a:latin typeface="Estrangelo Edessa" pitchFamily="66" charset="0"/>
                <a:cs typeface="Estrangelo Edessa" pitchFamily="66" charset="0"/>
              </a:rPr>
              <a:t> قيمة النسبة </a:t>
            </a:r>
            <a:r>
              <a:rPr lang="fr-FR" sz="2800" b="1" dirty="0" smtClean="0">
                <a:latin typeface="Estrangelo Edessa" pitchFamily="66" charset="0"/>
                <a:cs typeface="Estrangelo Edessa" pitchFamily="66" charset="0"/>
              </a:rPr>
              <a:t> </a:t>
            </a:r>
            <a:r>
              <a:rPr lang="fr-FR" sz="2800" b="1" i="1" dirty="0" smtClean="0">
                <a:latin typeface="Estrangelo Edessa" pitchFamily="66" charset="0"/>
                <a:cs typeface="Estrangelo Edessa" pitchFamily="66" charset="0"/>
              </a:rPr>
              <a:t>.</a:t>
            </a:r>
            <a:r>
              <a:rPr lang="ar-DZ" sz="2800" b="1" dirty="0" smtClean="0">
                <a:latin typeface="Estrangelo Edessa" pitchFamily="66" charset="0"/>
                <a:cs typeface="Estrangelo Edessa" pitchFamily="66" charset="0"/>
              </a:rPr>
              <a:t> ماذا تلاحظ؟ و ماذا تستنتج ؟.</a:t>
            </a:r>
            <a:r>
              <a:rPr lang="fr-FR" sz="2800" b="1" dirty="0" smtClean="0">
                <a:latin typeface="Estrangelo Edessa" pitchFamily="66" charset="0"/>
                <a:cs typeface="Estrangelo Edessa" pitchFamily="66" charset="0"/>
              </a:rPr>
              <a:t/>
            </a:r>
            <a:br>
              <a:rPr lang="fr-FR" sz="2800" b="1" dirty="0" smtClean="0">
                <a:latin typeface="Estrangelo Edessa" pitchFamily="66" charset="0"/>
                <a:cs typeface="Estrangelo Edessa" pitchFamily="66" charset="0"/>
              </a:rPr>
            </a:br>
            <a:r>
              <a:rPr lang="ar-DZ" sz="2800" b="1" dirty="0" smtClean="0">
                <a:solidFill>
                  <a:srgbClr val="FF0000"/>
                </a:solidFill>
                <a:latin typeface="Estrangelo Edessa" pitchFamily="66" charset="0"/>
                <a:cs typeface="Estrangelo Edessa" pitchFamily="66" charset="0"/>
              </a:rPr>
              <a:t> </a:t>
            </a:r>
            <a:endParaRPr lang="fr-FR" sz="2800" b="1" dirty="0">
              <a:solidFill>
                <a:srgbClr val="FF0000"/>
              </a:solidFill>
              <a:latin typeface="Estrangelo Edessa" pitchFamily="66" charset="0"/>
              <a:cs typeface="Estrangelo Edessa" pitchFamily="66" charset="0"/>
            </a:endParaRPr>
          </a:p>
        </p:txBody>
      </p:sp>
      <p:pic>
        <p:nvPicPr>
          <p:cNvPr id="4" name="Image 3"/>
          <p:cNvPicPr/>
          <p:nvPr/>
        </p:nvPicPr>
        <p:blipFill>
          <a:blip r:embed="rId2" cstate="print">
            <a:extLst>
              <a:ext uri="{28A0092B-C50C-407E-A947-70E740481C1C}">
                <a14:useLocalDpi xmlns:lc="http://schemas.openxmlformats.org/drawingml/2006/lockedCanvas" xmlns:pic="http://schemas.openxmlformats.org/drawingml/2006/picture" xmlns:arto="http://schemas.microsoft.com/office/word/2006/arto"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714348" y="2357430"/>
            <a:ext cx="3852867" cy="2733675"/>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ar-DZ" dirty="0" smtClean="0">
                <a:solidFill>
                  <a:srgbClr val="FF0000"/>
                </a:solidFill>
                <a:latin typeface="Andalus" pitchFamily="18" charset="-78"/>
                <a:cs typeface="Andalus" pitchFamily="18" charset="-78"/>
              </a:rPr>
              <a:t>07</a:t>
            </a:r>
            <a:endParaRPr lang="fr-FR" dirty="0">
              <a:solidFill>
                <a:srgbClr val="FF0000"/>
              </a:solidFill>
              <a:latin typeface="Andalus" pitchFamily="18" charset="-78"/>
              <a:cs typeface="Andalus" pitchFamily="18" charset="-78"/>
            </a:endParaRPr>
          </a:p>
        </p:txBody>
      </p:sp>
      <p:pic>
        <p:nvPicPr>
          <p:cNvPr id="9" name="07.mp4">
            <a:hlinkClick r:id="" action="ppaction://media"/>
          </p:cNvPr>
          <p:cNvPicPr>
            <a:picLocks noGrp="1" noRot="1" noChangeAspect="1"/>
          </p:cNvPicPr>
          <p:nvPr>
            <p:ph idx="1"/>
            <a:videoFile r:link="rId1"/>
          </p:nvPr>
        </p:nvPicPr>
        <p:blipFill>
          <a:blip r:embed="rId3"/>
          <a:stretch>
            <a:fillRect/>
          </a:stretch>
        </p:blipFill>
        <p:spPr>
          <a:xfrm>
            <a:off x="1357290" y="1785926"/>
            <a:ext cx="6357982" cy="39290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822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rtl="1"/>
            <a:r>
              <a:rPr lang="ar-DZ" sz="8000" dirty="0" smtClean="0">
                <a:solidFill>
                  <a:srgbClr val="FF0000"/>
                </a:solidFill>
                <a:latin typeface="Estrangelo Edessa" pitchFamily="66" charset="0"/>
                <a:cs typeface="Estrangelo Edessa" pitchFamily="66" charset="0"/>
              </a:rPr>
              <a:t>الموارد المعرفية</a:t>
            </a:r>
            <a:endParaRPr lang="fr-FR" sz="8000" dirty="0">
              <a:solidFill>
                <a:srgbClr val="FF0000"/>
              </a:solidFill>
              <a:latin typeface="Estrangelo Edessa" pitchFamily="66" charset="0"/>
              <a:cs typeface="Estrangelo Edessa" pitchFamily="66" charset="0"/>
            </a:endParaRPr>
          </a:p>
        </p:txBody>
      </p:sp>
      <p:sp>
        <p:nvSpPr>
          <p:cNvPr id="3" name="Espace réservé du contenu 2"/>
          <p:cNvSpPr>
            <a:spLocks noGrp="1"/>
          </p:cNvSpPr>
          <p:nvPr>
            <p:ph idx="1"/>
          </p:nvPr>
        </p:nvSpPr>
        <p:spPr>
          <a:xfrm>
            <a:off x="0" y="1600200"/>
            <a:ext cx="9144000" cy="5257800"/>
          </a:xfrm>
        </p:spPr>
        <p:txBody>
          <a:bodyPr>
            <a:normAutofit fontScale="92500"/>
          </a:bodyPr>
          <a:lstStyle/>
          <a:p>
            <a:pPr algn="r" rtl="1">
              <a:buNone/>
            </a:pPr>
            <a:r>
              <a:rPr lang="fr-FR" sz="4000" dirty="0" smtClean="0">
                <a:solidFill>
                  <a:srgbClr val="FF0000"/>
                </a:solidFill>
                <a:latin typeface="Estrangelo Edessa" pitchFamily="66" charset="0"/>
                <a:cs typeface="Estrangelo Edessa" pitchFamily="66" charset="0"/>
              </a:rPr>
              <a:t>- 1</a:t>
            </a:r>
            <a:r>
              <a:rPr lang="ar-DZ" sz="4000" dirty="0" smtClean="0">
                <a:solidFill>
                  <a:srgbClr val="FF0000"/>
                </a:solidFill>
                <a:latin typeface="Estrangelo Edessa" pitchFamily="66" charset="0"/>
                <a:cs typeface="Estrangelo Edessa" pitchFamily="66" charset="0"/>
              </a:rPr>
              <a:t>دافعة أرخميدس :</a:t>
            </a:r>
            <a:endParaRPr lang="fr-FR" sz="4000" dirty="0" smtClean="0">
              <a:solidFill>
                <a:srgbClr val="FF0000"/>
              </a:solidFill>
              <a:latin typeface="Estrangelo Edessa" pitchFamily="66" charset="0"/>
              <a:cs typeface="Estrangelo Edessa" pitchFamily="66" charset="0"/>
            </a:endParaRPr>
          </a:p>
          <a:p>
            <a:pPr algn="r" rtl="1">
              <a:buNone/>
            </a:pPr>
            <a:r>
              <a:rPr lang="ar-DZ" sz="4000" dirty="0" smtClean="0">
                <a:latin typeface="Estrangelo Edessa" pitchFamily="66" charset="0"/>
                <a:cs typeface="Estrangelo Edessa" pitchFamily="66" charset="0"/>
              </a:rPr>
              <a:t>كل جسم مغمور في سائل يخضع لقوة دافـعـة شـاقـولـيـة مـوجـهـة من الأسـفـل نحو الأعلى مطبقة في مركز الجسم تدعى دافعة أرخميدس شدتها  تساوي ثقل حجم السائل المزاح.</a:t>
            </a:r>
            <a:endParaRPr lang="fr-FR" sz="4000" dirty="0" smtClean="0">
              <a:latin typeface="Estrangelo Edessa" pitchFamily="66" charset="0"/>
              <a:cs typeface="Estrangelo Edessa" pitchFamily="66" charset="0"/>
            </a:endParaRPr>
          </a:p>
          <a:p>
            <a:pPr algn="r" rtl="1">
              <a:buNone/>
            </a:pPr>
            <a:r>
              <a:rPr lang="fr-FR" sz="4000" dirty="0" smtClean="0">
                <a:solidFill>
                  <a:srgbClr val="FF0000"/>
                </a:solidFill>
                <a:latin typeface="Estrangelo Edessa" pitchFamily="66" charset="0"/>
                <a:cs typeface="Estrangelo Edessa" pitchFamily="66" charset="0"/>
              </a:rPr>
              <a:t>2</a:t>
            </a:r>
            <a:r>
              <a:rPr lang="ar-DZ" sz="4000" i="1" dirty="0" smtClean="0">
                <a:solidFill>
                  <a:srgbClr val="FF0000"/>
                </a:solidFill>
                <a:latin typeface="Estrangelo Edessa" pitchFamily="66" charset="0"/>
                <a:cs typeface="Estrangelo Edessa" pitchFamily="66" charset="0"/>
              </a:rPr>
              <a:t> - </a:t>
            </a:r>
            <a:r>
              <a:rPr lang="ar-DZ" sz="4000" dirty="0" smtClean="0">
                <a:solidFill>
                  <a:srgbClr val="FF0000"/>
                </a:solidFill>
                <a:latin typeface="Estrangelo Edessa" pitchFamily="66" charset="0"/>
                <a:cs typeface="Estrangelo Edessa" pitchFamily="66" charset="0"/>
              </a:rPr>
              <a:t>خصائص دافعة أرخميدس:</a:t>
            </a:r>
            <a:endParaRPr lang="fr-FR" sz="4000" dirty="0" smtClean="0">
              <a:solidFill>
                <a:srgbClr val="FF0000"/>
              </a:solidFill>
              <a:latin typeface="Estrangelo Edessa" pitchFamily="66" charset="0"/>
              <a:cs typeface="Estrangelo Edessa" pitchFamily="66" charset="0"/>
            </a:endParaRPr>
          </a:p>
          <a:p>
            <a:pPr algn="r" rtl="1">
              <a:buNone/>
            </a:pPr>
            <a:r>
              <a:rPr lang="ar-DZ" sz="4000" dirty="0" smtClean="0">
                <a:latin typeface="Estrangelo Edessa" pitchFamily="66" charset="0"/>
                <a:cs typeface="Estrangelo Edessa" pitchFamily="66" charset="0"/>
              </a:rPr>
              <a:t>نسمي الثقل الظاهري لجسم مغمور كليا في سـائل قيمة الـقـوة التي يشير إليها جهاز </a:t>
            </a:r>
            <a:r>
              <a:rPr lang="ar-DZ" sz="4000" dirty="0" err="1" smtClean="0">
                <a:latin typeface="Estrangelo Edessa" pitchFamily="66" charset="0"/>
                <a:cs typeface="Estrangelo Edessa" pitchFamily="66" charset="0"/>
              </a:rPr>
              <a:t>الربيعة</a:t>
            </a:r>
            <a:r>
              <a:rPr lang="ar-DZ" sz="4000" dirty="0" smtClean="0">
                <a:latin typeface="Estrangelo Edessa" pitchFamily="66" charset="0"/>
                <a:cs typeface="Estrangelo Edessa" pitchFamily="66" charset="0"/>
              </a:rPr>
              <a:t> لمّا يعلّق هذا الجسم بخطافه.</a:t>
            </a:r>
            <a:endParaRPr lang="fr-FR" sz="4000" dirty="0" smtClean="0">
              <a:latin typeface="Estrangelo Edessa" pitchFamily="66" charset="0"/>
              <a:cs typeface="Estrangelo Edessa" pitchFamily="66" charset="0"/>
            </a:endParaRPr>
          </a:p>
          <a:p>
            <a:pPr algn="r" rtl="1">
              <a:buNone/>
            </a:pPr>
            <a:r>
              <a:rPr lang="ar-DZ" sz="4000" dirty="0" smtClean="0">
                <a:latin typeface="Estrangelo Edessa" pitchFamily="66" charset="0"/>
                <a:cs typeface="Estrangelo Edessa" pitchFamily="66" charset="0"/>
              </a:rPr>
              <a:t>و يمكن حساب قيمة الثقل الظاهري لجسم مغمور في الماء بطرح قيمة دافعة أرخميدس من ثقله الحقيقي</a:t>
            </a:r>
            <a:r>
              <a:rPr lang="ar-DZ" sz="4000" dirty="0" smtClean="0"/>
              <a:t>. </a:t>
            </a:r>
            <a:endParaRPr lang="fr-FR" sz="4000" dirty="0" smtClean="0"/>
          </a:p>
          <a:p>
            <a:pPr algn="r" rtl="1"/>
            <a:endParaRPr lang="fr-FR" sz="4000" dirty="0">
              <a:latin typeface="Estrangelo Edessa" pitchFamily="66" charset="0"/>
              <a:cs typeface="Estrangelo Edessa" pitchFamily="66"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rmAutofit fontScale="70000" lnSpcReduction="20000"/>
          </a:bodyPr>
          <a:lstStyle/>
          <a:p>
            <a:pPr algn="r" rtl="1">
              <a:buNone/>
            </a:pPr>
            <a:r>
              <a:rPr lang="fr-FR" sz="3800" dirty="0" smtClean="0">
                <a:solidFill>
                  <a:srgbClr val="FF0000"/>
                </a:solidFill>
              </a:rPr>
              <a:t>3</a:t>
            </a:r>
            <a:r>
              <a:rPr lang="fr-FR" sz="4000" i="1" dirty="0" smtClean="0">
                <a:solidFill>
                  <a:srgbClr val="FF0000"/>
                </a:solidFill>
              </a:rPr>
              <a:t> </a:t>
            </a:r>
            <a:r>
              <a:rPr lang="ar-DZ" sz="4800" i="1" dirty="0" smtClean="0">
                <a:solidFill>
                  <a:srgbClr val="FF0000"/>
                </a:solidFill>
                <a:latin typeface="Estrangelo Edessa" pitchFamily="66" charset="0"/>
                <a:cs typeface="Estrangelo Edessa" pitchFamily="66" charset="0"/>
              </a:rPr>
              <a:t>- </a:t>
            </a:r>
            <a:r>
              <a:rPr lang="ar-DZ" sz="4800" dirty="0" smtClean="0">
                <a:solidFill>
                  <a:srgbClr val="FF0000"/>
                </a:solidFill>
                <a:latin typeface="Estrangelo Edessa" pitchFamily="66" charset="0"/>
                <a:cs typeface="Estrangelo Edessa" pitchFamily="66" charset="0"/>
              </a:rPr>
              <a:t>العوامل المؤثرة في شدة دافعة أرخميدس:</a:t>
            </a:r>
            <a:endParaRPr lang="fr-FR" sz="4800" dirty="0" smtClean="0">
              <a:solidFill>
                <a:srgbClr val="FF0000"/>
              </a:solidFill>
              <a:latin typeface="Estrangelo Edessa" pitchFamily="66" charset="0"/>
              <a:cs typeface="Estrangelo Edessa" pitchFamily="66" charset="0"/>
            </a:endParaRPr>
          </a:p>
          <a:p>
            <a:pPr lvl="0" algn="r" rtl="1">
              <a:buNone/>
            </a:pPr>
            <a:r>
              <a:rPr lang="ar-DZ" sz="4800" dirty="0" smtClean="0">
                <a:latin typeface="Estrangelo Edessa" pitchFamily="66" charset="0"/>
                <a:cs typeface="Estrangelo Edessa" pitchFamily="66" charset="0"/>
              </a:rPr>
              <a:t>تتعلّق شدة دافعة أرخميدس بعاملين يتمثلان في:</a:t>
            </a:r>
            <a:endParaRPr lang="fr-FR" sz="4800" dirty="0" smtClean="0">
              <a:latin typeface="Estrangelo Edessa" pitchFamily="66" charset="0"/>
              <a:cs typeface="Estrangelo Edessa" pitchFamily="66" charset="0"/>
            </a:endParaRPr>
          </a:p>
          <a:p>
            <a:pPr marL="950976" indent="-914400" algn="r" rtl="1">
              <a:buNone/>
            </a:pPr>
            <a:r>
              <a:rPr lang="ar-DZ" sz="4800" dirty="0" smtClean="0">
                <a:latin typeface="Estrangelo Edessa" pitchFamily="66" charset="0"/>
                <a:cs typeface="Estrangelo Edessa" pitchFamily="66" charset="0"/>
              </a:rPr>
              <a:t>أ </a:t>
            </a:r>
            <a:r>
              <a:rPr lang="ar-DZ" sz="4800" dirty="0" err="1" smtClean="0">
                <a:latin typeface="Estrangelo Edessa" pitchFamily="66" charset="0"/>
                <a:cs typeface="Estrangelo Edessa" pitchFamily="66" charset="0"/>
              </a:rPr>
              <a:t>ـ</a:t>
            </a:r>
            <a:r>
              <a:rPr lang="ar-DZ" sz="4800" dirty="0" smtClean="0">
                <a:latin typeface="Estrangelo Edessa" pitchFamily="66" charset="0"/>
                <a:cs typeface="Estrangelo Edessa" pitchFamily="66" charset="0"/>
              </a:rPr>
              <a:t> حجم </a:t>
            </a:r>
            <a:r>
              <a:rPr lang="ar-DZ" sz="4800" dirty="0" smtClean="0">
                <a:latin typeface="Estrangelo Edessa" pitchFamily="66" charset="0"/>
                <a:cs typeface="Estrangelo Edessa" pitchFamily="66" charset="0"/>
              </a:rPr>
              <a:t>الجسم : تزداد شّدة دافعة أرخميدس بزيادة حجم الجسم </a:t>
            </a:r>
            <a:r>
              <a:rPr lang="ar-DZ" sz="4800" dirty="0" smtClean="0">
                <a:latin typeface="Estrangelo Edessa" pitchFamily="66" charset="0"/>
                <a:cs typeface="Estrangelo Edessa" pitchFamily="66" charset="0"/>
              </a:rPr>
              <a:t>المغمور.</a:t>
            </a:r>
            <a:endParaRPr lang="fr-FR" sz="4800" dirty="0" smtClean="0">
              <a:latin typeface="Estrangelo Edessa" pitchFamily="66" charset="0"/>
              <a:cs typeface="Estrangelo Edessa" pitchFamily="66" charset="0"/>
            </a:endParaRPr>
          </a:p>
          <a:p>
            <a:pPr marL="950976" indent="-914400" algn="ctr" rtl="1">
              <a:buNone/>
            </a:pPr>
            <a:r>
              <a:rPr lang="fr-FR" sz="4800" dirty="0" smtClean="0">
                <a:solidFill>
                  <a:srgbClr val="FF0000"/>
                </a:solidFill>
                <a:latin typeface="Estrangelo Edessa" pitchFamily="66" charset="0"/>
                <a:cs typeface="Estrangelo Edessa" pitchFamily="66" charset="0"/>
              </a:rPr>
              <a:t>F</a:t>
            </a:r>
            <a:r>
              <a:rPr lang="fr-FR" sz="3400" dirty="0" smtClean="0">
                <a:solidFill>
                  <a:srgbClr val="FF0000"/>
                </a:solidFill>
                <a:latin typeface="Estrangelo Edessa" pitchFamily="66" charset="0"/>
                <a:cs typeface="Estrangelo Edessa" pitchFamily="66" charset="0"/>
              </a:rPr>
              <a:t>A</a:t>
            </a:r>
            <a:r>
              <a:rPr lang="fr-FR" sz="4800" dirty="0" smtClean="0">
                <a:solidFill>
                  <a:srgbClr val="FF0000"/>
                </a:solidFill>
                <a:latin typeface="Estrangelo Edessa" pitchFamily="66" charset="0"/>
                <a:cs typeface="Estrangelo Edessa" pitchFamily="66" charset="0"/>
              </a:rPr>
              <a:t> = V </a:t>
            </a:r>
            <a:r>
              <a:rPr lang="fr-FR" sz="5700" dirty="0" smtClean="0">
                <a:solidFill>
                  <a:srgbClr val="FF0000"/>
                </a:solidFill>
                <a:latin typeface="Estrangelo Edessa" pitchFamily="66" charset="0"/>
                <a:cs typeface="Estrangelo Edessa" pitchFamily="66" charset="0"/>
              </a:rPr>
              <a:t>x g</a:t>
            </a:r>
            <a:endParaRPr lang="fr-FR" sz="4800" dirty="0" smtClean="0">
              <a:solidFill>
                <a:srgbClr val="FF0000"/>
              </a:solidFill>
              <a:latin typeface="Estrangelo Edessa" pitchFamily="66" charset="0"/>
              <a:cs typeface="Estrangelo Edessa" pitchFamily="66" charset="0"/>
            </a:endParaRPr>
          </a:p>
          <a:p>
            <a:pPr algn="r" rtl="1">
              <a:buNone/>
            </a:pPr>
            <a:r>
              <a:rPr lang="ar-DZ" sz="4800" dirty="0" smtClean="0">
                <a:latin typeface="Estrangelo Edessa" pitchFamily="66" charset="0"/>
                <a:cs typeface="Estrangelo Edessa" pitchFamily="66" charset="0"/>
              </a:rPr>
              <a:t>ب- </a:t>
            </a:r>
            <a:r>
              <a:rPr lang="ar-DZ" sz="4800" dirty="0" smtClean="0">
                <a:latin typeface="Estrangelo Edessa" pitchFamily="66" charset="0"/>
                <a:cs typeface="Estrangelo Edessa" pitchFamily="66" charset="0"/>
              </a:rPr>
              <a:t>طبيعة السائل المستعمل : تتغيّر شّدة دافعة أرخميدس بتغيّر نوع السائل المستعمل. </a:t>
            </a:r>
            <a:endParaRPr lang="ar-DZ" sz="4800" dirty="0" smtClean="0">
              <a:latin typeface="Estrangelo Edessa" pitchFamily="66" charset="0"/>
              <a:cs typeface="Estrangelo Edessa" pitchFamily="66" charset="0"/>
            </a:endParaRPr>
          </a:p>
          <a:p>
            <a:pPr algn="ctr" rtl="1">
              <a:buNone/>
            </a:pPr>
            <a:endParaRPr lang="fr-FR" sz="4800" dirty="0" smtClean="0">
              <a:latin typeface="Estrangelo Edessa" pitchFamily="66" charset="0"/>
              <a:cs typeface="Estrangelo Edessa" pitchFamily="66" charset="0"/>
            </a:endParaRPr>
          </a:p>
          <a:p>
            <a:pPr lvl="0" algn="r" rtl="1">
              <a:buNone/>
            </a:pPr>
            <a:r>
              <a:rPr lang="ar-DZ" sz="4800" dirty="0" smtClean="0">
                <a:latin typeface="Estrangelo Edessa" pitchFamily="66" charset="0"/>
                <a:cs typeface="Estrangelo Edessa" pitchFamily="66" charset="0"/>
              </a:rPr>
              <a:t>لا تتعلّق شّـدة دافعة أرخميدس بكتلة الجسم المغمور، حيث جـســمـان لهما الحـجـم نفسـه </a:t>
            </a:r>
            <a:r>
              <a:rPr lang="ar-DZ" sz="4800" dirty="0" err="1" smtClean="0">
                <a:latin typeface="Estrangelo Edessa" pitchFamily="66" charset="0"/>
                <a:cs typeface="Estrangelo Edessa" pitchFamily="66" charset="0"/>
              </a:rPr>
              <a:t>و</a:t>
            </a:r>
            <a:r>
              <a:rPr lang="ar-DZ" sz="4800" dirty="0" smtClean="0">
                <a:latin typeface="Estrangelo Edessa" pitchFamily="66" charset="0"/>
                <a:cs typeface="Estrangelo Edessa" pitchFamily="66" charset="0"/>
              </a:rPr>
              <a:t> يختلفان في الكتلة تؤثر فيهما دافعة أرخميدس بالشدة نفسها.</a:t>
            </a:r>
            <a:endParaRPr lang="fr-FR" sz="4800" dirty="0" smtClean="0">
              <a:latin typeface="Estrangelo Edessa" pitchFamily="66" charset="0"/>
              <a:cs typeface="Estrangelo Edessa" pitchFamily="66" charset="0"/>
            </a:endParaRPr>
          </a:p>
          <a:p>
            <a:pPr algn="r" rtl="1">
              <a:buNone/>
            </a:pPr>
            <a:r>
              <a:rPr lang="ar-DZ" sz="4800" dirty="0" smtClean="0">
                <a:latin typeface="Estrangelo Edessa" pitchFamily="66" charset="0"/>
                <a:cs typeface="Estrangelo Edessa" pitchFamily="66" charset="0"/>
              </a:rPr>
              <a:t>لا تتعلّق شّـدة دافـعـة أرخميدس بـشـكـل الجسم المغـمـور، حيث نفس القطعة من عجينة الأطفال بشكلين مختلفين تؤثر في كل منهما دافعة أرخميدس بنفس الشدة.</a:t>
            </a:r>
          </a:p>
          <a:p>
            <a:pPr algn="r" rtl="1">
              <a:buNone/>
            </a:pPr>
            <a:r>
              <a:rPr lang="ar-DZ" sz="4400" dirty="0" smtClean="0">
                <a:latin typeface="Estrangelo Edessa" pitchFamily="66" charset="0"/>
                <a:cs typeface="Estrangelo Edessa" pitchFamily="66" charset="0"/>
              </a:rPr>
              <a:t> لا تتعلق شّـدة دافعة أرخميدس بعمق الـغـمـر، حيث تؤثر دافعة أرخميدس بـالشـدة نفسها سواء كان الجسم مغمـورا في وعـاء مملوء بـالسـائـل أو مغمورا في وعـاء مملوء جزئيا بنفس السائل.</a:t>
            </a:r>
            <a:endParaRPr lang="fr-FR" sz="4400" dirty="0" smtClean="0">
              <a:latin typeface="Estrangelo Edessa" pitchFamily="66" charset="0"/>
              <a:cs typeface="Estrangelo Edessa" pitchFamily="66" charset="0"/>
            </a:endParaRPr>
          </a:p>
          <a:p>
            <a:pPr lvl="0" algn="r" rtl="1">
              <a:buNone/>
            </a:pPr>
            <a:endParaRPr lang="fr-FR" sz="4800" dirty="0" smtClean="0">
              <a:latin typeface="Estrangelo Edessa" pitchFamily="66" charset="0"/>
              <a:cs typeface="Estrangelo Edessa" pitchFamily="66" charset="0"/>
            </a:endParaRPr>
          </a:p>
          <a:p>
            <a:pPr algn="r" rtl="1"/>
            <a:endParaRPr lang="fr-FR" sz="4000" dirty="0">
              <a:latin typeface="Estrangelo Edessa" pitchFamily="66" charset="0"/>
              <a:cs typeface="Estrangelo Edessa" pitchFamily="66" charset="0"/>
            </a:endParaRPr>
          </a:p>
        </p:txBody>
      </p:sp>
      <p:pic>
        <p:nvPicPr>
          <p:cNvPr id="1026" name="Image 1"/>
          <p:cNvPicPr>
            <a:picLocks noChangeAspect="1" noChangeArrowheads="1"/>
          </p:cNvPicPr>
          <p:nvPr/>
        </p:nvPicPr>
        <p:blipFill>
          <a:blip r:embed="rId2"/>
          <a:srcRect/>
          <a:stretch>
            <a:fillRect/>
          </a:stretch>
        </p:blipFill>
        <p:spPr bwMode="auto">
          <a:xfrm>
            <a:off x="3929058" y="2679698"/>
            <a:ext cx="2643206" cy="5349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lstStyle/>
          <a:p>
            <a:pPr algn="r" rtl="1">
              <a:buNone/>
            </a:pPr>
            <a:r>
              <a:rPr lang="fr-FR" sz="4400" dirty="0" smtClean="0">
                <a:solidFill>
                  <a:srgbClr val="FF0000"/>
                </a:solidFill>
                <a:latin typeface="Estrangelo Edessa" pitchFamily="66" charset="0"/>
                <a:cs typeface="Estrangelo Edessa" pitchFamily="66" charset="0"/>
              </a:rPr>
              <a:t>4</a:t>
            </a:r>
            <a:r>
              <a:rPr lang="ar-SA" sz="4400" i="1" dirty="0" smtClean="0">
                <a:solidFill>
                  <a:srgbClr val="FF0000"/>
                </a:solidFill>
                <a:latin typeface="Estrangelo Edessa" pitchFamily="66" charset="0"/>
                <a:cs typeface="Estrangelo Edessa" pitchFamily="66" charset="0"/>
              </a:rPr>
              <a:t> </a:t>
            </a:r>
            <a:r>
              <a:rPr lang="ar-DZ" sz="4400" i="1" dirty="0" smtClean="0">
                <a:solidFill>
                  <a:srgbClr val="FF0000"/>
                </a:solidFill>
                <a:latin typeface="Estrangelo Edessa" pitchFamily="66" charset="0"/>
                <a:cs typeface="Estrangelo Edessa" pitchFamily="66" charset="0"/>
              </a:rPr>
              <a:t>- </a:t>
            </a:r>
            <a:r>
              <a:rPr lang="ar-DZ" sz="4400" dirty="0" smtClean="0">
                <a:solidFill>
                  <a:srgbClr val="FF0000"/>
                </a:solidFill>
                <a:latin typeface="Estrangelo Edessa" pitchFamily="66" charset="0"/>
                <a:cs typeface="Estrangelo Edessa" pitchFamily="66" charset="0"/>
              </a:rPr>
              <a:t>شرط التوازن للجسم المغمور كليا في السائل :</a:t>
            </a:r>
            <a:endParaRPr lang="fr-FR" sz="4400" dirty="0" smtClean="0">
              <a:solidFill>
                <a:srgbClr val="FF0000"/>
              </a:solidFill>
              <a:latin typeface="Estrangelo Edessa" pitchFamily="66" charset="0"/>
              <a:cs typeface="Estrangelo Edessa" pitchFamily="66" charset="0"/>
            </a:endParaRPr>
          </a:p>
          <a:p>
            <a:pPr algn="r" rtl="1">
              <a:buNone/>
            </a:pPr>
            <a:r>
              <a:rPr lang="ar-DZ" dirty="0" smtClean="0">
                <a:latin typeface="Estrangelo Edessa" pitchFamily="66" charset="0"/>
                <a:cs typeface="Estrangelo Edessa" pitchFamily="66" charset="0"/>
              </a:rPr>
              <a:t>يكون الجسم المغمور كليا في السائل في حالة توازن لمّا تتساوى   شدة ثقله مع  شدة دافعة أرخميدس. نعبّر عـن الشرط التوازن في حالة التفاحة المغمورة داخل السائل بالعلاقة: </a:t>
            </a:r>
            <a:r>
              <a:rPr lang="fr-FR" dirty="0" smtClean="0"/>
              <a:t> </a:t>
            </a:r>
            <a:r>
              <a:rPr lang="ar-DZ" dirty="0" smtClean="0">
                <a:latin typeface="Estrangelo Edessa" pitchFamily="66" charset="0"/>
                <a:cs typeface="Estrangelo Edessa" pitchFamily="66" charset="0"/>
              </a:rPr>
              <a:t> </a:t>
            </a:r>
            <a:r>
              <a:rPr lang="fr-FR" dirty="0" smtClean="0">
                <a:latin typeface="Estrangelo Edessa" pitchFamily="66" charset="0"/>
                <a:cs typeface="Estrangelo Edessa" pitchFamily="66" charset="0"/>
              </a:rPr>
              <a:t>P   +   F</a:t>
            </a:r>
            <a:r>
              <a:rPr lang="fr-FR" sz="2000" dirty="0" smtClean="0">
                <a:latin typeface="Estrangelo Edessa" pitchFamily="66" charset="0"/>
                <a:cs typeface="Estrangelo Edessa" pitchFamily="66" charset="0"/>
              </a:rPr>
              <a:t>A</a:t>
            </a:r>
            <a:r>
              <a:rPr lang="fr-FR" dirty="0" smtClean="0">
                <a:latin typeface="Estrangelo Edessa" pitchFamily="66" charset="0"/>
                <a:cs typeface="Estrangelo Edessa" pitchFamily="66" charset="0"/>
              </a:rPr>
              <a:t>  = 0</a:t>
            </a:r>
            <a:endParaRPr lang="ar-DZ" dirty="0" smtClean="0">
              <a:latin typeface="Estrangelo Edessa" pitchFamily="66" charset="0"/>
              <a:cs typeface="Estrangelo Edessa" pitchFamily="66" charset="0"/>
            </a:endParaRPr>
          </a:p>
          <a:p>
            <a:pPr algn="r" rtl="1">
              <a:buNone/>
            </a:pPr>
            <a:r>
              <a:rPr lang="ar-SA" i="1" dirty="0" smtClean="0"/>
              <a:t> </a:t>
            </a:r>
            <a:r>
              <a:rPr lang="fr-FR" dirty="0" smtClean="0">
                <a:solidFill>
                  <a:srgbClr val="FF0000"/>
                </a:solidFill>
              </a:rPr>
              <a:t>5</a:t>
            </a:r>
            <a:r>
              <a:rPr lang="ar-DZ" sz="4800" i="1" dirty="0" smtClean="0">
                <a:solidFill>
                  <a:srgbClr val="FF0000"/>
                </a:solidFill>
              </a:rPr>
              <a:t> </a:t>
            </a:r>
            <a:r>
              <a:rPr lang="fr-FR" sz="4800" i="1" dirty="0" smtClean="0">
                <a:solidFill>
                  <a:srgbClr val="FF0000"/>
                </a:solidFill>
              </a:rPr>
              <a:t>-</a:t>
            </a:r>
            <a:r>
              <a:rPr lang="ar-DZ" sz="4800" dirty="0" smtClean="0">
                <a:solidFill>
                  <a:srgbClr val="FF0000"/>
                </a:solidFill>
                <a:latin typeface="Estrangelo Edessa" pitchFamily="66" charset="0"/>
                <a:cs typeface="Estrangelo Edessa" pitchFamily="66" charset="0"/>
              </a:rPr>
              <a:t>شرط توازن جسم يطفو فوق سطح الماء :</a:t>
            </a:r>
            <a:endParaRPr lang="fr-FR" sz="4800" dirty="0" smtClean="0">
              <a:solidFill>
                <a:srgbClr val="FF0000"/>
              </a:solidFill>
              <a:latin typeface="Estrangelo Edessa" pitchFamily="66" charset="0"/>
              <a:cs typeface="Estrangelo Edessa" pitchFamily="66" charset="0"/>
            </a:endParaRPr>
          </a:p>
          <a:p>
            <a:pPr algn="r" rtl="1"/>
            <a:r>
              <a:rPr lang="ar-SA" dirty="0" smtClean="0"/>
              <a:t>حيث نميز ثلاث حالات :</a:t>
            </a:r>
            <a:endParaRPr lang="fr-FR" dirty="0" smtClean="0"/>
          </a:p>
          <a:p>
            <a:pPr algn="r" rtl="1"/>
            <a:r>
              <a:rPr lang="ar-SA" dirty="0" smtClean="0"/>
              <a:t>إذا</a:t>
            </a:r>
            <a:r>
              <a:rPr lang="fr-FR" dirty="0" smtClean="0"/>
              <a:t> </a:t>
            </a:r>
            <a:r>
              <a:rPr lang="ar-SA" dirty="0" smtClean="0"/>
              <a:t>كان F</a:t>
            </a:r>
            <a:r>
              <a:rPr lang="fr-FR" sz="1800" dirty="0" smtClean="0"/>
              <a:t>A</a:t>
            </a:r>
            <a:r>
              <a:rPr lang="ar-SA" dirty="0" smtClean="0"/>
              <a:t> </a:t>
            </a:r>
            <a:r>
              <a:rPr lang="ar-SA" dirty="0" smtClean="0"/>
              <a:t>&lt;P  فإن الجسم </a:t>
            </a:r>
            <a:r>
              <a:rPr lang="ar-SA" dirty="0" err="1" smtClean="0"/>
              <a:t>يغوص</a:t>
            </a:r>
            <a:endParaRPr lang="fr-FR" dirty="0" smtClean="0"/>
          </a:p>
          <a:p>
            <a:pPr algn="r" rtl="1"/>
            <a:r>
              <a:rPr lang="ar-SA" dirty="0" smtClean="0"/>
              <a:t>إذا كان </a:t>
            </a:r>
            <a:r>
              <a:rPr lang="ar-SA" dirty="0" smtClean="0"/>
              <a:t>F</a:t>
            </a:r>
            <a:r>
              <a:rPr lang="fr-FR" sz="2000" dirty="0" smtClean="0"/>
              <a:t>A</a:t>
            </a:r>
            <a:r>
              <a:rPr lang="fr-FR" sz="3200" dirty="0" smtClean="0"/>
              <a:t> </a:t>
            </a:r>
            <a:r>
              <a:rPr lang="ar-SA" dirty="0" smtClean="0"/>
              <a:t>= </a:t>
            </a:r>
            <a:r>
              <a:rPr lang="ar-SA" dirty="0" smtClean="0"/>
              <a:t>P فإن الجسم </a:t>
            </a:r>
            <a:r>
              <a:rPr lang="ar-SA" dirty="0" smtClean="0"/>
              <a:t>يبقى</a:t>
            </a:r>
            <a:endParaRPr lang="ar-DZ" dirty="0" smtClean="0"/>
          </a:p>
          <a:p>
            <a:pPr algn="r" rtl="1">
              <a:buNone/>
            </a:pPr>
            <a:r>
              <a:rPr lang="ar-DZ" dirty="0" smtClean="0"/>
              <a:t> </a:t>
            </a:r>
            <a:r>
              <a:rPr lang="ar-DZ" dirty="0" smtClean="0"/>
              <a:t>  </a:t>
            </a:r>
            <a:r>
              <a:rPr lang="ar-SA" dirty="0" smtClean="0"/>
              <a:t> </a:t>
            </a:r>
            <a:r>
              <a:rPr lang="ar-SA" dirty="0" smtClean="0"/>
              <a:t>معلق في السائل</a:t>
            </a:r>
            <a:endParaRPr lang="fr-FR" dirty="0" smtClean="0"/>
          </a:p>
          <a:p>
            <a:pPr algn="r" rtl="1"/>
            <a:r>
              <a:rPr lang="ar-SA" dirty="0" smtClean="0"/>
              <a:t>إذا</a:t>
            </a:r>
            <a:r>
              <a:rPr lang="fr-FR" dirty="0" smtClean="0"/>
              <a:t> </a:t>
            </a:r>
            <a:r>
              <a:rPr lang="ar-SA" dirty="0" smtClean="0"/>
              <a:t>كان F</a:t>
            </a:r>
            <a:r>
              <a:rPr lang="fr-FR" sz="2400" dirty="0" smtClean="0"/>
              <a:t>A</a:t>
            </a:r>
            <a:r>
              <a:rPr lang="fr-FR" sz="3200" dirty="0" smtClean="0"/>
              <a:t> </a:t>
            </a:r>
            <a:r>
              <a:rPr lang="ar-SA" dirty="0" smtClean="0"/>
              <a:t>&gt;  </a:t>
            </a:r>
            <a:r>
              <a:rPr lang="ar-SA" dirty="0" smtClean="0"/>
              <a:t>P فإن الجسم يطفو </a:t>
            </a:r>
            <a:endParaRPr lang="fr-FR" dirty="0" smtClean="0"/>
          </a:p>
          <a:p>
            <a:pPr algn="r" rtl="1">
              <a:buNone/>
            </a:pPr>
            <a:endParaRPr lang="fr-FR" dirty="0" smtClean="0">
              <a:latin typeface="Estrangelo Edessa" pitchFamily="66" charset="0"/>
              <a:cs typeface="Estrangelo Edessa" pitchFamily="66"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4099" name="Rectangle 3"/>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pic>
        <p:nvPicPr>
          <p:cNvPr id="4101" name="Picture 5"/>
          <p:cNvPicPr>
            <a:picLocks noChangeAspect="1" noChangeArrowheads="1"/>
          </p:cNvPicPr>
          <p:nvPr/>
        </p:nvPicPr>
        <p:blipFill>
          <a:blip r:embed="rId2"/>
          <a:srcRect/>
          <a:stretch>
            <a:fillRect/>
          </a:stretch>
        </p:blipFill>
        <p:spPr bwMode="auto">
          <a:xfrm>
            <a:off x="357158" y="3214686"/>
            <a:ext cx="2286016" cy="2428892"/>
          </a:xfrm>
          <a:prstGeom prst="rect">
            <a:avLst/>
          </a:prstGeom>
          <a:noFill/>
          <a:ln w="9525">
            <a:noFill/>
            <a:miter lim="800000"/>
            <a:headEnd/>
            <a:tailEnd/>
          </a:ln>
          <a:effectLst/>
        </p:spPr>
      </p:pic>
      <p:sp>
        <p:nvSpPr>
          <p:cNvPr id="4116"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2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1030" name="Picture 6"/>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0"/>
            <a:ext cx="47625" cy="266700"/>
          </a:xfrm>
          <a:prstGeom prst="rect">
            <a:avLst/>
          </a:prstGeom>
          <a:noFill/>
        </p:spPr>
      </p:pic>
      <p:sp>
        <p:nvSpPr>
          <p:cNvPr id="1033"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4" name="Rectangle 10"/>
          <p:cNvSpPr>
            <a:spLocks noChangeArrowheads="1"/>
          </p:cNvSpPr>
          <p:nvPr/>
        </p:nvSpPr>
        <p:spPr bwMode="auto">
          <a:xfrm>
            <a:off x="0" y="7239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1036" name="Rectangle 1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7" name="Rectangle 13"/>
          <p:cNvSpPr>
            <a:spLocks noChangeArrowheads="1"/>
          </p:cNvSpPr>
          <p:nvPr/>
        </p:nvSpPr>
        <p:spPr bwMode="auto">
          <a:xfrm>
            <a:off x="0" y="7239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103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cxnSp>
        <p:nvCxnSpPr>
          <p:cNvPr id="21" name="Connecteur droit avec flèche 20"/>
          <p:cNvCxnSpPr/>
          <p:nvPr/>
        </p:nvCxnSpPr>
        <p:spPr>
          <a:xfrm>
            <a:off x="1285852" y="1285860"/>
            <a:ext cx="500066" cy="1588"/>
          </a:xfrm>
          <a:prstGeom prst="straightConnector1">
            <a:avLst/>
          </a:prstGeom>
          <a:ln w="25400">
            <a:solidFill>
              <a:srgbClr val="FF0000"/>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2" name="Connecteur droit avec flèche 21"/>
          <p:cNvCxnSpPr/>
          <p:nvPr/>
        </p:nvCxnSpPr>
        <p:spPr>
          <a:xfrm>
            <a:off x="2214546" y="1285860"/>
            <a:ext cx="500066" cy="1588"/>
          </a:xfrm>
          <a:prstGeom prst="straightConnector1">
            <a:avLst/>
          </a:prstGeom>
          <a:ln w="25400">
            <a:solidFill>
              <a:srgbClr val="FF0000"/>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3" name="Connecteur droit avec flèche 22"/>
          <p:cNvCxnSpPr/>
          <p:nvPr/>
        </p:nvCxnSpPr>
        <p:spPr>
          <a:xfrm>
            <a:off x="3000364" y="1285860"/>
            <a:ext cx="357190" cy="1588"/>
          </a:xfrm>
          <a:prstGeom prst="straightConnector1">
            <a:avLst/>
          </a:prstGeom>
          <a:ln w="25400">
            <a:solidFill>
              <a:srgbClr val="FF0000"/>
            </a:solidFill>
            <a:headEnd type="none" w="med" len="med"/>
            <a:tailEnd type="triangle" w="med" len="med"/>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126163"/>
          </a:xfrm>
        </p:spPr>
        <p:txBody>
          <a:bodyPr>
            <a:normAutofit/>
          </a:bodyPr>
          <a:lstStyle/>
          <a:p>
            <a:pPr algn="r" rtl="1">
              <a:buNone/>
            </a:pPr>
            <a:r>
              <a:rPr lang="fr-FR" sz="4400" dirty="0" smtClean="0">
                <a:solidFill>
                  <a:srgbClr val="FF0000"/>
                </a:solidFill>
                <a:latin typeface="Estrangelo Edessa" pitchFamily="66" charset="0"/>
                <a:cs typeface="Estrangelo Edessa" pitchFamily="66" charset="0"/>
              </a:rPr>
              <a:t>6</a:t>
            </a:r>
            <a:r>
              <a:rPr lang="ar-SA" sz="4400" dirty="0" smtClean="0">
                <a:solidFill>
                  <a:srgbClr val="FF0000"/>
                </a:solidFill>
                <a:latin typeface="Estrangelo Edessa" pitchFamily="66" charset="0"/>
                <a:cs typeface="Estrangelo Edessa" pitchFamily="66" charset="0"/>
              </a:rPr>
              <a:t> - تعيين شدة </a:t>
            </a:r>
            <a:r>
              <a:rPr lang="ar-DZ" sz="4400" dirty="0" smtClean="0">
                <a:solidFill>
                  <a:srgbClr val="FF0000"/>
                </a:solidFill>
                <a:latin typeface="Estrangelo Edessa" pitchFamily="66" charset="0"/>
                <a:cs typeface="Estrangelo Edessa" pitchFamily="66" charset="0"/>
              </a:rPr>
              <a:t>دافعة أرخميدس تجريبيا</a:t>
            </a:r>
            <a:r>
              <a:rPr lang="fr-FR" sz="4400" dirty="0" smtClean="0">
                <a:solidFill>
                  <a:srgbClr val="FF0000"/>
                </a:solidFill>
                <a:latin typeface="Estrangelo Edessa" pitchFamily="66" charset="0"/>
                <a:cs typeface="Estrangelo Edessa" pitchFamily="66" charset="0"/>
              </a:rPr>
              <a:t> </a:t>
            </a:r>
            <a:r>
              <a:rPr lang="ar-DZ" sz="4400" dirty="0" smtClean="0">
                <a:solidFill>
                  <a:srgbClr val="FF0000"/>
                </a:solidFill>
                <a:latin typeface="Estrangelo Edessa" pitchFamily="66" charset="0"/>
                <a:cs typeface="Estrangelo Edessa" pitchFamily="66" charset="0"/>
              </a:rPr>
              <a:t>:</a:t>
            </a:r>
            <a:endParaRPr lang="fr-FR" sz="4400" dirty="0" smtClean="0">
              <a:solidFill>
                <a:srgbClr val="FF0000"/>
              </a:solidFill>
              <a:latin typeface="Estrangelo Edessa" pitchFamily="66" charset="0"/>
              <a:cs typeface="Estrangelo Edessa" pitchFamily="66" charset="0"/>
            </a:endParaRPr>
          </a:p>
          <a:p>
            <a:pPr algn="r" rtl="1">
              <a:buNone/>
            </a:pPr>
            <a:r>
              <a:rPr lang="ar-DZ" dirty="0" smtClean="0">
                <a:latin typeface="Estrangelo Edessa" pitchFamily="66" charset="0"/>
                <a:cs typeface="Estrangelo Edessa" pitchFamily="66" charset="0"/>
              </a:rPr>
              <a:t>لتعيين </a:t>
            </a:r>
            <a:r>
              <a:rPr lang="ar-SA" dirty="0" smtClean="0">
                <a:latin typeface="Estrangelo Edessa" pitchFamily="66" charset="0"/>
                <a:cs typeface="Estrangelo Edessa" pitchFamily="66" charset="0"/>
              </a:rPr>
              <a:t>شدة</a:t>
            </a:r>
            <a:r>
              <a:rPr lang="ar-SA" i="1" dirty="0" smtClean="0">
                <a:latin typeface="Estrangelo Edessa" pitchFamily="66" charset="0"/>
                <a:cs typeface="Estrangelo Edessa" pitchFamily="66" charset="0"/>
              </a:rPr>
              <a:t> </a:t>
            </a:r>
            <a:r>
              <a:rPr lang="fr-FR" i="1" dirty="0" smtClean="0">
                <a:latin typeface="Estrangelo Edessa" pitchFamily="66" charset="0"/>
                <a:cs typeface="Estrangelo Edessa" pitchFamily="66" charset="0"/>
              </a:rPr>
              <a:t> </a:t>
            </a:r>
            <a:r>
              <a:rPr lang="ar-DZ" dirty="0" smtClean="0">
                <a:latin typeface="Estrangelo Edessa" pitchFamily="66" charset="0"/>
                <a:cs typeface="Estrangelo Edessa" pitchFamily="66" charset="0"/>
              </a:rPr>
              <a:t>دافعة أرخميدس تجريبيا توجد طريقتان:</a:t>
            </a:r>
          </a:p>
          <a:p>
            <a:pPr algn="r" rtl="1">
              <a:buNone/>
            </a:pPr>
            <a:r>
              <a:rPr lang="ar-DZ" dirty="0" smtClean="0">
                <a:solidFill>
                  <a:srgbClr val="FF0000"/>
                </a:solidFill>
                <a:latin typeface="Estrangelo Edessa" pitchFamily="66" charset="0"/>
                <a:cs typeface="Estrangelo Edessa" pitchFamily="66" charset="0"/>
              </a:rPr>
              <a:t>الطريقة الأولى: </a:t>
            </a:r>
            <a:r>
              <a:rPr lang="ar-DZ" dirty="0" smtClean="0">
                <a:latin typeface="Estrangelo Edessa" pitchFamily="66" charset="0"/>
                <a:cs typeface="Estrangelo Edessa" pitchFamily="66" charset="0"/>
              </a:rPr>
              <a:t>نقيس ثقل حجم السائل المزاح نتيجة غمر الجسم، حيث حجم السائل المزاح يساوي حجم الجسم المغمور أو يساوي حجم الـجــزء المـغـمـور من الجسم في حـالـة الجسم الطافي.</a:t>
            </a:r>
          </a:p>
          <a:p>
            <a:pPr algn="r" rtl="1">
              <a:buNone/>
            </a:pPr>
            <a:r>
              <a:rPr lang="ar-DZ" dirty="0" smtClean="0">
                <a:solidFill>
                  <a:srgbClr val="FF0000"/>
                </a:solidFill>
                <a:latin typeface="Estrangelo Edessa" pitchFamily="66" charset="0"/>
                <a:cs typeface="Estrangelo Edessa" pitchFamily="66" charset="0"/>
              </a:rPr>
              <a:t>الطريقة الثانية:  </a:t>
            </a:r>
            <a:r>
              <a:rPr lang="ar-DZ" dirty="0" smtClean="0">
                <a:latin typeface="Estrangelo Edessa" pitchFamily="66" charset="0"/>
                <a:cs typeface="Estrangelo Edessa" pitchFamily="66" charset="0"/>
              </a:rPr>
              <a:t>لتعيين </a:t>
            </a:r>
            <a:r>
              <a:rPr lang="ar-SA" dirty="0" smtClean="0">
                <a:latin typeface="Estrangelo Edessa" pitchFamily="66" charset="0"/>
                <a:cs typeface="Estrangelo Edessa" pitchFamily="66" charset="0"/>
              </a:rPr>
              <a:t>شدة</a:t>
            </a:r>
            <a:r>
              <a:rPr lang="ar-SA" i="1" dirty="0" smtClean="0">
                <a:latin typeface="Estrangelo Edessa" pitchFamily="66" charset="0"/>
                <a:cs typeface="Estrangelo Edessa" pitchFamily="66" charset="0"/>
              </a:rPr>
              <a:t> </a:t>
            </a:r>
            <a:r>
              <a:rPr lang="fr-FR" i="1" dirty="0" smtClean="0">
                <a:latin typeface="Estrangelo Edessa" pitchFamily="66" charset="0"/>
                <a:cs typeface="Estrangelo Edessa" pitchFamily="66" charset="0"/>
              </a:rPr>
              <a:t> </a:t>
            </a:r>
            <a:r>
              <a:rPr lang="ar-DZ" dirty="0" smtClean="0">
                <a:latin typeface="Estrangelo Edessa" pitchFamily="66" charset="0"/>
                <a:cs typeface="Estrangelo Edessa" pitchFamily="66" charset="0"/>
              </a:rPr>
              <a:t>دافعة أرخميدس نتبع الخطوات التالية:</a:t>
            </a:r>
            <a:endParaRPr lang="fr-FR" dirty="0" smtClean="0">
              <a:latin typeface="Estrangelo Edessa" pitchFamily="66" charset="0"/>
              <a:cs typeface="Estrangelo Edessa" pitchFamily="66" charset="0"/>
            </a:endParaRPr>
          </a:p>
          <a:p>
            <a:pPr lvl="0" algn="r" rtl="1">
              <a:buNone/>
            </a:pPr>
            <a:r>
              <a:rPr lang="ar-DZ" dirty="0" smtClean="0">
                <a:latin typeface="Estrangelo Edessa" pitchFamily="66" charset="0"/>
                <a:cs typeface="Estrangelo Edessa" pitchFamily="66" charset="0"/>
              </a:rPr>
              <a:t>نقيس قيمة  الثقل الحقيقي للجسم باستعمال </a:t>
            </a:r>
            <a:r>
              <a:rPr lang="ar-DZ" dirty="0" err="1" smtClean="0">
                <a:latin typeface="Estrangelo Edessa" pitchFamily="66" charset="0"/>
                <a:cs typeface="Estrangelo Edessa" pitchFamily="66" charset="0"/>
              </a:rPr>
              <a:t>الربيعة</a:t>
            </a:r>
            <a:r>
              <a:rPr lang="ar-DZ" dirty="0" smtClean="0">
                <a:latin typeface="Estrangelo Edessa" pitchFamily="66" charset="0"/>
                <a:cs typeface="Estrangelo Edessa" pitchFamily="66" charset="0"/>
              </a:rPr>
              <a:t>.</a:t>
            </a:r>
          </a:p>
          <a:p>
            <a:pPr lvl="0" algn="r" rtl="1">
              <a:buNone/>
            </a:pPr>
            <a:r>
              <a:rPr lang="ar-DZ" dirty="0" smtClean="0">
                <a:latin typeface="Estrangelo Edessa" pitchFamily="66" charset="0"/>
                <a:cs typeface="Estrangelo Edessa" pitchFamily="66" charset="0"/>
              </a:rPr>
              <a:t>نقيس قيمة  ثقله الظـاهـري </a:t>
            </a:r>
            <a:r>
              <a:rPr lang="ar-DZ" dirty="0" err="1" smtClean="0">
                <a:latin typeface="Estrangelo Edessa" pitchFamily="66" charset="0"/>
                <a:cs typeface="Estrangelo Edessa" pitchFamily="66" charset="0"/>
              </a:rPr>
              <a:t>و</a:t>
            </a:r>
            <a:r>
              <a:rPr lang="ar-DZ" dirty="0" smtClean="0">
                <a:latin typeface="Estrangelo Edessa" pitchFamily="66" charset="0"/>
                <a:cs typeface="Estrangelo Edessa" pitchFamily="66" charset="0"/>
              </a:rPr>
              <a:t> هي قيمة الثقل التي نـقـرأهـا على </a:t>
            </a:r>
            <a:r>
              <a:rPr lang="ar-DZ" dirty="0" err="1" smtClean="0">
                <a:latin typeface="Estrangelo Edessa" pitchFamily="66" charset="0"/>
                <a:cs typeface="Estrangelo Edessa" pitchFamily="66" charset="0"/>
              </a:rPr>
              <a:t>الربيعة</a:t>
            </a:r>
            <a:r>
              <a:rPr lang="ar-DZ" dirty="0" smtClean="0">
                <a:latin typeface="Estrangelo Edessa" pitchFamily="66" charset="0"/>
                <a:cs typeface="Estrangelo Edessa" pitchFamily="66" charset="0"/>
              </a:rPr>
              <a:t> لـمّـا يكون الجسم مغمورا بالكامل في السائل.</a:t>
            </a:r>
            <a:endParaRPr lang="fr-FR" dirty="0" smtClean="0">
              <a:latin typeface="Estrangelo Edessa" pitchFamily="66" charset="0"/>
              <a:cs typeface="Estrangelo Edessa" pitchFamily="66" charset="0"/>
            </a:endParaRPr>
          </a:p>
          <a:p>
            <a:pPr algn="r" rtl="1">
              <a:buNone/>
            </a:pPr>
            <a:r>
              <a:rPr lang="ar-DZ" dirty="0" smtClean="0">
                <a:latin typeface="Estrangelo Edessa" pitchFamily="66" charset="0"/>
                <a:cs typeface="Estrangelo Edessa" pitchFamily="66" charset="0"/>
              </a:rPr>
              <a:t>نحسب </a:t>
            </a:r>
            <a:r>
              <a:rPr lang="fr-FR" dirty="0" smtClean="0">
                <a:latin typeface="Estrangelo Edessa" pitchFamily="66" charset="0"/>
                <a:cs typeface="Estrangelo Edessa" pitchFamily="66" charset="0"/>
              </a:rPr>
              <a:t> </a:t>
            </a:r>
            <a:r>
              <a:rPr lang="ar-SA" dirty="0" smtClean="0">
                <a:latin typeface="Estrangelo Edessa" pitchFamily="66" charset="0"/>
                <a:cs typeface="Estrangelo Edessa" pitchFamily="66" charset="0"/>
              </a:rPr>
              <a:t>شدة </a:t>
            </a:r>
            <a:r>
              <a:rPr lang="ar-DZ" dirty="0" smtClean="0">
                <a:latin typeface="Estrangelo Edessa" pitchFamily="66" charset="0"/>
                <a:cs typeface="Estrangelo Edessa" pitchFamily="66" charset="0"/>
              </a:rPr>
              <a:t>دافعة أرخميدس باستعمال العلاقة</a:t>
            </a:r>
            <a:r>
              <a:rPr lang="ar-DZ" dirty="0" smtClean="0"/>
              <a:t>: </a:t>
            </a:r>
            <a:endParaRPr lang="fr-FR" dirty="0"/>
          </a:p>
        </p:txBody>
      </p:sp>
      <p:pic>
        <p:nvPicPr>
          <p:cNvPr id="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928926" y="4572008"/>
            <a:ext cx="1900244" cy="428628"/>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42852"/>
            <a:ext cx="9144000" cy="5983311"/>
          </a:xfrm>
        </p:spPr>
        <p:txBody>
          <a:bodyPr/>
          <a:lstStyle/>
          <a:p>
            <a:pPr algn="r" rtl="1">
              <a:buNone/>
            </a:pPr>
            <a:r>
              <a:rPr lang="fr-FR" sz="4000" dirty="0" smtClean="0">
                <a:solidFill>
                  <a:srgbClr val="FF0000"/>
                </a:solidFill>
                <a:latin typeface="Estrangelo Edessa" pitchFamily="66" charset="0"/>
                <a:cs typeface="Estrangelo Edessa" pitchFamily="66" charset="0"/>
              </a:rPr>
              <a:t>7</a:t>
            </a:r>
            <a:r>
              <a:rPr lang="ar-SA" sz="4000" dirty="0" smtClean="0">
                <a:solidFill>
                  <a:srgbClr val="FF0000"/>
                </a:solidFill>
                <a:latin typeface="Estrangelo Edessa" pitchFamily="66" charset="0"/>
                <a:cs typeface="Estrangelo Edessa" pitchFamily="66" charset="0"/>
              </a:rPr>
              <a:t> - تعيين كثافة جسم صلب تجريبيا  </a:t>
            </a:r>
            <a:r>
              <a:rPr lang="ar-DZ" sz="4000" dirty="0" smtClean="0">
                <a:solidFill>
                  <a:srgbClr val="FF0000"/>
                </a:solidFill>
                <a:latin typeface="Estrangelo Edessa" pitchFamily="66" charset="0"/>
                <a:cs typeface="Estrangelo Edessa" pitchFamily="66" charset="0"/>
              </a:rPr>
              <a:t>:</a:t>
            </a:r>
            <a:endParaRPr lang="fr-FR" sz="4000" dirty="0" smtClean="0">
              <a:solidFill>
                <a:srgbClr val="FF0000"/>
              </a:solidFill>
              <a:latin typeface="Estrangelo Edessa" pitchFamily="66" charset="0"/>
              <a:cs typeface="Estrangelo Edessa" pitchFamily="66" charset="0"/>
            </a:endParaRPr>
          </a:p>
          <a:p>
            <a:pPr algn="r" rtl="1">
              <a:buNone/>
            </a:pPr>
            <a:r>
              <a:rPr lang="ar-DZ" sz="4000" dirty="0" smtClean="0">
                <a:latin typeface="Estrangelo Edessa" pitchFamily="66" charset="0"/>
                <a:cs typeface="Estrangelo Edessa" pitchFamily="66" charset="0"/>
              </a:rPr>
              <a:t>لتعيين الكثافة  لجسم صلب تجريبيا نتبع الخطوات التالية:</a:t>
            </a:r>
            <a:endParaRPr lang="fr-FR" sz="4000" dirty="0" smtClean="0">
              <a:latin typeface="Estrangelo Edessa" pitchFamily="66" charset="0"/>
              <a:cs typeface="Estrangelo Edessa" pitchFamily="66" charset="0"/>
            </a:endParaRPr>
          </a:p>
          <a:p>
            <a:pPr lvl="0" algn="r" rtl="1">
              <a:buNone/>
            </a:pPr>
            <a:r>
              <a:rPr lang="ar-DZ" sz="4000" dirty="0" smtClean="0">
                <a:latin typeface="Estrangelo Edessa" pitchFamily="66" charset="0"/>
                <a:cs typeface="Estrangelo Edessa" pitchFamily="66" charset="0"/>
              </a:rPr>
              <a:t>نقيس </a:t>
            </a:r>
            <a:r>
              <a:rPr lang="fr-FR" sz="4000" dirty="0" smtClean="0">
                <a:latin typeface="Estrangelo Edessa" pitchFamily="66" charset="0"/>
                <a:cs typeface="Estrangelo Edessa" pitchFamily="66" charset="0"/>
              </a:rPr>
              <a:t> </a:t>
            </a:r>
            <a:r>
              <a:rPr lang="ar-DZ" sz="4000" dirty="0" smtClean="0">
                <a:latin typeface="Estrangelo Edessa" pitchFamily="66" charset="0"/>
                <a:cs typeface="Estrangelo Edessa" pitchFamily="66" charset="0"/>
              </a:rPr>
              <a:t>شّــدة ثـقـل الجسم </a:t>
            </a:r>
            <a:r>
              <a:rPr lang="fr-FR" sz="2800" dirty="0" smtClean="0">
                <a:latin typeface="Estrangelo Edessa" pitchFamily="66" charset="0"/>
                <a:cs typeface="Estrangelo Edessa" pitchFamily="66" charset="0"/>
              </a:rPr>
              <a:t>(S)</a:t>
            </a:r>
            <a:r>
              <a:rPr lang="fr-FR" sz="4000" dirty="0" smtClean="0">
                <a:latin typeface="Estrangelo Edessa" pitchFamily="66" charset="0"/>
                <a:cs typeface="Estrangelo Edessa" pitchFamily="66" charset="0"/>
              </a:rPr>
              <a:t> </a:t>
            </a:r>
            <a:r>
              <a:rPr lang="ar-DZ" sz="4000" dirty="0" smtClean="0">
                <a:latin typeface="Estrangelo Edessa" pitchFamily="66" charset="0"/>
                <a:cs typeface="Estrangelo Edessa" pitchFamily="66" charset="0"/>
              </a:rPr>
              <a:t>.</a:t>
            </a:r>
          </a:p>
          <a:p>
            <a:pPr lvl="0" algn="r" rtl="1">
              <a:buNone/>
            </a:pPr>
            <a:r>
              <a:rPr lang="ar-DZ" sz="4000" dirty="0" smtClean="0">
                <a:latin typeface="Estrangelo Edessa" pitchFamily="66" charset="0"/>
                <a:cs typeface="Estrangelo Edessa" pitchFamily="66" charset="0"/>
              </a:rPr>
              <a:t>نقيس  شّــدة الـثـقـل الظاهري للجسم </a:t>
            </a:r>
            <a:r>
              <a:rPr lang="fr-FR" sz="2800" dirty="0" smtClean="0">
                <a:latin typeface="Estrangelo Edessa" pitchFamily="66" charset="0"/>
                <a:cs typeface="Estrangelo Edessa" pitchFamily="66" charset="0"/>
              </a:rPr>
              <a:t>(S)</a:t>
            </a:r>
            <a:r>
              <a:rPr lang="ar-DZ" sz="4000" dirty="0" smtClean="0">
                <a:latin typeface="Estrangelo Edessa" pitchFamily="66" charset="0"/>
                <a:cs typeface="Estrangelo Edessa" pitchFamily="66" charset="0"/>
              </a:rPr>
              <a:t> و هو مغمور في الماء.</a:t>
            </a:r>
            <a:endParaRPr lang="fr-FR" sz="4000" dirty="0" smtClean="0">
              <a:latin typeface="Estrangelo Edessa" pitchFamily="66" charset="0"/>
              <a:cs typeface="Estrangelo Edessa" pitchFamily="66" charset="0"/>
            </a:endParaRPr>
          </a:p>
          <a:p>
            <a:pPr lvl="0" algn="r" rtl="1">
              <a:buNone/>
            </a:pPr>
            <a:r>
              <a:rPr lang="ar-DZ" sz="4000" dirty="0" smtClean="0">
                <a:latin typeface="Estrangelo Edessa" pitchFamily="66" charset="0"/>
                <a:cs typeface="Estrangelo Edessa" pitchFamily="66" charset="0"/>
              </a:rPr>
              <a:t>نحسب  شّــدة دافـعـة أرخميدس التي تؤثر في الجسم </a:t>
            </a:r>
            <a:r>
              <a:rPr lang="fr-FR" sz="2800" dirty="0" smtClean="0">
                <a:latin typeface="Estrangelo Edessa" pitchFamily="66" charset="0"/>
                <a:cs typeface="Estrangelo Edessa" pitchFamily="66" charset="0"/>
              </a:rPr>
              <a:t>(S)</a:t>
            </a:r>
            <a:r>
              <a:rPr lang="ar-DZ" sz="4000" dirty="0" smtClean="0">
                <a:latin typeface="Estrangelo Edessa" pitchFamily="66" charset="0"/>
                <a:cs typeface="Estrangelo Edessa" pitchFamily="66" charset="0"/>
              </a:rPr>
              <a:t> و هو مـغـمـور في الماء.</a:t>
            </a:r>
            <a:endParaRPr lang="fr-FR" sz="4000" dirty="0" smtClean="0">
              <a:latin typeface="Estrangelo Edessa" pitchFamily="66" charset="0"/>
              <a:cs typeface="Estrangelo Edessa" pitchFamily="66" charset="0"/>
            </a:endParaRPr>
          </a:p>
          <a:p>
            <a:pPr algn="r" rtl="1">
              <a:buNone/>
            </a:pPr>
            <a:r>
              <a:rPr lang="ar-DZ" sz="4000" dirty="0" smtClean="0">
                <a:latin typeface="Estrangelo Edessa" pitchFamily="66" charset="0"/>
                <a:cs typeface="Estrangelo Edessa" pitchFamily="66" charset="0"/>
              </a:rPr>
              <a:t>كثافة الجسم </a:t>
            </a:r>
            <a:r>
              <a:rPr lang="fr-FR" sz="2800" dirty="0" smtClean="0">
                <a:latin typeface="Estrangelo Edessa" pitchFamily="66" charset="0"/>
                <a:cs typeface="Estrangelo Edessa" pitchFamily="66" charset="0"/>
              </a:rPr>
              <a:t>(S)</a:t>
            </a:r>
            <a:r>
              <a:rPr lang="ar-DZ" sz="2800" dirty="0" smtClean="0"/>
              <a:t> </a:t>
            </a:r>
            <a:r>
              <a:rPr lang="ar-DZ" sz="4000" dirty="0" smtClean="0">
                <a:latin typeface="Estrangelo Edessa" pitchFamily="66" charset="0"/>
                <a:cs typeface="Estrangelo Edessa" pitchFamily="66" charset="0"/>
              </a:rPr>
              <a:t>بالنسبة للماء </a:t>
            </a:r>
            <a:r>
              <a:rPr lang="fr-FR" sz="3600" dirty="0" smtClean="0">
                <a:latin typeface="Estrangelo Edessa" pitchFamily="66" charset="0"/>
                <a:cs typeface="Estrangelo Edessa" pitchFamily="66" charset="0"/>
              </a:rPr>
              <a:t>d</a:t>
            </a:r>
            <a:r>
              <a:rPr lang="ar-DZ" sz="4000" dirty="0" smtClean="0">
                <a:latin typeface="Estrangelo Edessa" pitchFamily="66" charset="0"/>
                <a:cs typeface="Estrangelo Edessa" pitchFamily="66" charset="0"/>
              </a:rPr>
              <a:t>هي حاصل قسمة </a:t>
            </a:r>
            <a:r>
              <a:rPr lang="fr-FR" sz="4000" dirty="0" smtClean="0">
                <a:latin typeface="Estrangelo Edessa" pitchFamily="66" charset="0"/>
                <a:cs typeface="Estrangelo Edessa" pitchFamily="66" charset="0"/>
              </a:rPr>
              <a:t> </a:t>
            </a:r>
            <a:r>
              <a:rPr lang="ar-DZ" sz="4000" dirty="0" smtClean="0">
                <a:latin typeface="Estrangelo Edessa" pitchFamily="66" charset="0"/>
                <a:cs typeface="Estrangelo Edessa" pitchFamily="66" charset="0"/>
              </a:rPr>
              <a:t>شّدة ثقله </a:t>
            </a:r>
            <a:r>
              <a:rPr lang="fr-FR" sz="3600" dirty="0" smtClean="0">
                <a:latin typeface="Estrangelo Edessa" pitchFamily="66" charset="0"/>
                <a:cs typeface="Estrangelo Edessa" pitchFamily="66" charset="0"/>
              </a:rPr>
              <a:t>P</a:t>
            </a:r>
            <a:r>
              <a:rPr lang="ar-DZ" sz="4000" dirty="0" smtClean="0">
                <a:latin typeface="Estrangelo Edessa" pitchFamily="66" charset="0"/>
                <a:cs typeface="Estrangelo Edessa" pitchFamily="66" charset="0"/>
              </a:rPr>
              <a:t>على  شدة دافعة </a:t>
            </a:r>
            <a:r>
              <a:rPr lang="ar-DZ" sz="4000" dirty="0" err="1" smtClean="0">
                <a:latin typeface="Estrangelo Edessa" pitchFamily="66" charset="0"/>
                <a:cs typeface="Estrangelo Edessa" pitchFamily="66" charset="0"/>
              </a:rPr>
              <a:t>أرخميدس</a:t>
            </a:r>
            <a:r>
              <a:rPr lang="fr-FR" sz="4000" dirty="0" smtClean="0">
                <a:latin typeface="Estrangelo Edessa" pitchFamily="66" charset="0"/>
                <a:cs typeface="Estrangelo Edessa" pitchFamily="66" charset="0"/>
              </a:rPr>
              <a:t>F</a:t>
            </a:r>
            <a:r>
              <a:rPr lang="fr-FR" sz="1800" dirty="0" smtClean="0">
                <a:latin typeface="Estrangelo Edessa" pitchFamily="66" charset="0"/>
                <a:cs typeface="Estrangelo Edessa" pitchFamily="66" charset="0"/>
              </a:rPr>
              <a:t>A</a:t>
            </a:r>
            <a:r>
              <a:rPr lang="ar-DZ" sz="4000" dirty="0" smtClean="0">
                <a:latin typeface="Estrangelo Edessa" pitchFamily="66" charset="0"/>
                <a:cs typeface="Estrangelo Edessa" pitchFamily="66" charset="0"/>
              </a:rPr>
              <a:t>. العلاقة الرياضية التي تسمح بحساب كثافة الجسم </a:t>
            </a:r>
            <a:r>
              <a:rPr lang="fr-FR" sz="2800" dirty="0" smtClean="0">
                <a:latin typeface="Estrangelo Edessa" pitchFamily="66" charset="0"/>
                <a:cs typeface="Estrangelo Edessa" pitchFamily="66" charset="0"/>
              </a:rPr>
              <a:t>(S)</a:t>
            </a:r>
            <a:r>
              <a:rPr lang="ar-DZ" sz="4000" dirty="0" smtClean="0">
                <a:latin typeface="Estrangelo Edessa" pitchFamily="66" charset="0"/>
                <a:cs typeface="Estrangelo Edessa" pitchFamily="66" charset="0"/>
              </a:rPr>
              <a:t> بالنسبة للماء هي:</a:t>
            </a:r>
            <a:r>
              <a:rPr lang="fr-FR" sz="4000" dirty="0" smtClean="0">
                <a:solidFill>
                  <a:srgbClr val="FF0000"/>
                </a:solidFill>
                <a:latin typeface="Estrangelo Edessa" pitchFamily="66" charset="0"/>
                <a:cs typeface="Estrangelo Edessa" pitchFamily="66" charset="0"/>
              </a:rPr>
              <a:t>d =     </a:t>
            </a:r>
          </a:p>
          <a:p>
            <a:endParaRPr lang="fr-FR" dirty="0"/>
          </a:p>
        </p:txBody>
      </p:sp>
      <p:sp>
        <p:nvSpPr>
          <p:cNvPr id="296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pic>
        <p:nvPicPr>
          <p:cNvPr id="2969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286644" y="5072074"/>
            <a:ext cx="333375" cy="5715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que">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722</TotalTime>
  <Words>953</Words>
  <Application>Microsoft Office PowerPoint</Application>
  <PresentationFormat>Affichage à l'écran (4:3)</PresentationFormat>
  <Paragraphs>106</Paragraphs>
  <Slides>26</Slides>
  <Notes>1</Notes>
  <HiddenSlides>0</HiddenSlides>
  <MMClips>8</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Technique</vt:lpstr>
      <vt:lpstr>متوسطة محمد بكاري خميس الخشنة إعداد مفتش التعليم المتوسط : بوقروة عبد الحق  2019/2018السنة الدراسية :</vt:lpstr>
      <vt:lpstr>دافـعـــة أرخميـدس في السـوائــل</vt:lpstr>
      <vt:lpstr>مركبات الكفاءة</vt:lpstr>
      <vt:lpstr>1 ـ خصـائـص دافـعــة أرخمـيــدس</vt:lpstr>
      <vt:lpstr>الأنشطة المقترحة للوصول إلى الأهداف التعلمية</vt:lpstr>
      <vt:lpstr>01    اكتشف دافعة ارخميدس</vt:lpstr>
      <vt:lpstr>Diapositive 7</vt:lpstr>
      <vt:lpstr>Diapositive 8</vt:lpstr>
      <vt:lpstr>Diapositive 9</vt:lpstr>
      <vt:lpstr>2 ـ العوامل المؤثرة في شدة دافعة أرخميدس</vt:lpstr>
      <vt:lpstr> النشاط1 - العوامل المؤثرة في شدة دافعة أرخميدس أ/ تأثير حجم الجزء المغمور: تحضير التجربة: جسم صلب (s )-ربيعة -وعاء به ماء. حقّق التجربة الموضحة في مراحلها الأربعة. ماذا تلاحظ فيما يتعلق بشدة الدافعة ؟ ماذا تستنتج ؟  </vt:lpstr>
      <vt:lpstr>01</vt:lpstr>
      <vt:lpstr>03</vt:lpstr>
      <vt:lpstr>   ب/ تأثير كثافة السائل: تحضير التجربة: جسم صلب (s)- ربيعة - وعاء ماء مالح – زيت. خذ جسما صلبا( s) و علقه بربيعة. اغمر الجسم في وعاء به زيت ثم استنتج قيمة دافعة أرخميدس. اغمر نفس الجسم في وعاء به ماء مالح جدا ثم استنتج قيمة دافعة أرخميدس في هذه الحالة. ماذا تلاحظ بين الحالتين ؟ ماذا تستنتج ؟ علما أنّ كثافة الماء المالح أكبر من  كثافة الزيت . ماذا تستنتج؟ .   </vt:lpstr>
      <vt:lpstr>04</vt:lpstr>
      <vt:lpstr>  3 – شرط توازن جسم في سائل  الأهداف التعلمية  </vt:lpstr>
      <vt:lpstr> النشاط 1 - شرط توازن جسم طافي و مغمور في سائل تحضير التجربة :جسم صلب (s)- ربيعة - وعاء ماء مالح – زيت-بيضة - إناء زجاجي - ماء - ملح. ضع بهدوء بيضة داخل إناء زجاجي مملوء بالماء. ـ ماذا تلاحظ ؟ ـ ماذا تستنتج ؟ أضف تدريجيا كميات من الملح لماء الإناء و حرِّك بهدوء. لماذا نضيف الملح للماء ؟ ماذا تلاحظ ؟ ماذا تستنتج ؟ تابع إضافة الملح لماء الإناء. ماذا تلاحظ ؟ ماذا تستنتج ؟ مما سبق استنتج شرط توازن جسم و هو مغمور و شرط توازنه و هو طافٍ. </vt:lpstr>
      <vt:lpstr> </vt:lpstr>
      <vt:lpstr>Diapositive 19</vt:lpstr>
      <vt:lpstr>النشاط 2 -تعيين كثافة جسم صلب بالنسبة للماء  تحضير التجربة: جسم صلب (S) يـغــوص في الـمـاء، ربيعـة، حـامــل الربـيـعـة، وعــاء يحتوي ماء. قُـم بالتجربة الموضحة في (الوثيقة2) و ( الوثيقة3) باستعمال الجسم الصلب (S). سجّل  شّـدة ثقل الجسم (S) و هو خارج الماء. سجّل  شّـدة الثقل الظاهري للجسم (S)  و هو داخل الماء. أحسب  شّـدة دافعة أرخميدس التي  تؤثر في الجسم (S) و هو مغمور في الماء. قِـس الكثافة  بالنسبة للماء للجسم (S)  بطرقة الغمر التي درستها في السنة الأولى  متوسط، ثــمّ قـارن قيمتها مع قيمة حاصل  قسمة شّـدة ثـقـل الجسم (S) على شّـدة دافعة أرخميدس أي ايجاد قيمة النسبة  . ماذا تلاحظ؟ و ماذا تستنتج ؟.  </vt:lpstr>
      <vt:lpstr>07</vt:lpstr>
      <vt:lpstr>الموارد المعرفية</vt:lpstr>
      <vt:lpstr>Diapositive 23</vt:lpstr>
      <vt:lpstr>Diapositive 24</vt:lpstr>
      <vt:lpstr>Diapositive 25</vt:lpstr>
      <vt:lpstr>Diapositive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دافـعـــة أرخمــدس في السـوائــل</dc:title>
  <dc:creator>MIB</dc:creator>
  <cp:lastModifiedBy>MCS</cp:lastModifiedBy>
  <cp:revision>116</cp:revision>
  <dcterms:created xsi:type="dcterms:W3CDTF">2018-11-11T21:43:19Z</dcterms:created>
  <dcterms:modified xsi:type="dcterms:W3CDTF">2018-11-20T21:43:05Z</dcterms:modified>
</cp:coreProperties>
</file>