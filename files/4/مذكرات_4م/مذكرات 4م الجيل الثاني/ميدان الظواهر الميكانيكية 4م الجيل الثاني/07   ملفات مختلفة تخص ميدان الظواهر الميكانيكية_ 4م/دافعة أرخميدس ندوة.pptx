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activeX/activeX4.xml" ContentType="application/vnd.ms-office.activeX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activeX/activeX2.xml" ContentType="application/vnd.ms-office.activeX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Default Extension="bin" ContentType="application/vnd.ms-office.activeX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activeX/activeX3.xml" ContentType="application/vnd.ms-office.activeX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activeX/activeX1.xml" ContentType="application/vnd.ms-office.activeX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933" r:id="rId2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0" r:id="rId6"/>
    <p:sldId id="272" r:id="rId7"/>
    <p:sldId id="273" r:id="rId8"/>
    <p:sldId id="278" r:id="rId9"/>
    <p:sldId id="261" r:id="rId10"/>
    <p:sldId id="274" r:id="rId11"/>
    <p:sldId id="275" r:id="rId12"/>
    <p:sldId id="279" r:id="rId13"/>
    <p:sldId id="276" r:id="rId14"/>
    <p:sldId id="277" r:id="rId15"/>
    <p:sldId id="280" r:id="rId16"/>
    <p:sldId id="281" r:id="rId17"/>
    <p:sldId id="282" r:id="rId18"/>
    <p:sldId id="270" r:id="rId19"/>
    <p:sldId id="269" r:id="rId20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00"/>
    <a:srgbClr val="0000FF"/>
    <a:srgbClr val="00FFFF"/>
    <a:srgbClr val="00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Style à thème 2 - Accentuation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71" autoAdjust="0"/>
  </p:normalViewPr>
  <p:slideViewPr>
    <p:cSldViewPr snapToGrid="0">
      <p:cViewPr>
        <p:scale>
          <a:sx n="59" d="100"/>
          <a:sy n="59" d="100"/>
        </p:scale>
        <p:origin x="-492" y="-3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1" cy="502755"/>
          </a:xfrm>
          <a:prstGeom prst="rect">
            <a:avLst/>
          </a:prstGeom>
        </p:spPr>
        <p:txBody>
          <a:bodyPr vert="horz" lIns="96603" tIns="48301" rIns="96603" bIns="4830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03" tIns="48301" rIns="96603" bIns="48301" rtlCol="0"/>
          <a:lstStyle>
            <a:lvl1pPr algn="r">
              <a:defRPr sz="1300"/>
            </a:lvl1pPr>
          </a:lstStyle>
          <a:p>
            <a:fld id="{FD6DD24B-52F5-4D9B-8580-6B5A6D48D508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517548"/>
            <a:ext cx="2984871" cy="502754"/>
          </a:xfrm>
          <a:prstGeom prst="rect">
            <a:avLst/>
          </a:prstGeom>
        </p:spPr>
        <p:txBody>
          <a:bodyPr vert="horz" lIns="96603" tIns="48301" rIns="96603" bIns="4830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01698" y="9517548"/>
            <a:ext cx="2984871" cy="502754"/>
          </a:xfrm>
          <a:prstGeom prst="rect">
            <a:avLst/>
          </a:prstGeom>
        </p:spPr>
        <p:txBody>
          <a:bodyPr vert="horz" lIns="96603" tIns="48301" rIns="96603" bIns="48301" rtlCol="0" anchor="b"/>
          <a:lstStyle>
            <a:lvl1pPr algn="r">
              <a:defRPr sz="1300"/>
            </a:lvl1pPr>
          </a:lstStyle>
          <a:p>
            <a:fld id="{3BEC6675-2EEB-48F9-A34E-501DF21F2CE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95685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1" cy="502755"/>
          </a:xfrm>
          <a:prstGeom prst="rect">
            <a:avLst/>
          </a:prstGeom>
        </p:spPr>
        <p:txBody>
          <a:bodyPr vert="horz" lIns="96603" tIns="48301" rIns="96603" bIns="4830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03" tIns="48301" rIns="96603" bIns="48301" rtlCol="0"/>
          <a:lstStyle>
            <a:lvl1pPr algn="r">
              <a:defRPr sz="1300"/>
            </a:lvl1pPr>
          </a:lstStyle>
          <a:p>
            <a:fld id="{329C5B0E-E915-481E-861A-C499B4728188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3" tIns="48301" rIns="96603" bIns="48301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03" tIns="48301" rIns="96603" bIns="4830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517548"/>
            <a:ext cx="2984871" cy="502754"/>
          </a:xfrm>
          <a:prstGeom prst="rect">
            <a:avLst/>
          </a:prstGeom>
        </p:spPr>
        <p:txBody>
          <a:bodyPr vert="horz" lIns="96603" tIns="48301" rIns="96603" bIns="4830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1698" y="9517548"/>
            <a:ext cx="2984871" cy="502754"/>
          </a:xfrm>
          <a:prstGeom prst="rect">
            <a:avLst/>
          </a:prstGeom>
        </p:spPr>
        <p:txBody>
          <a:bodyPr vert="horz" lIns="96603" tIns="48301" rIns="96603" bIns="48301" rtlCol="0" anchor="b"/>
          <a:lstStyle>
            <a:lvl1pPr algn="r">
              <a:defRPr sz="1300"/>
            </a:lvl1pPr>
          </a:lstStyle>
          <a:p>
            <a:fld id="{8F91F737-F956-47C1-9EDC-C0133D7A628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0307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0ECF6-4FDA-4011-A450-E80CC55C658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658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83627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87995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968811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588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9739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6503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7606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04584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3923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4308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695943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156055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2470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48801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338762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94726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76614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05452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940664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56204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28583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33505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32533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56149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3046342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874518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74139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533637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6558025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353431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005593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3652512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0536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7196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34B98-F7F7-48E8-8BB5-32D07B258A61}" type="datetimeFigureOut">
              <a:rPr lang="fr-FR" smtClean="0"/>
              <a:pPr/>
              <a:t>13/02/2019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15C351B-A1F7-4DCD-9295-25C7656E504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264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3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ontrol" Target="../activeX/activeX4.xml"/><Relationship Id="rId1" Type="http://schemas.openxmlformats.org/officeDocument/2006/relationships/vmlDrawing" Target="../drawings/vmlDrawing4.v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571718" y="220853"/>
            <a:ext cx="1643168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-571997" y="3505380"/>
            <a:ext cx="7706907" cy="965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0" name="ZoneTexte 29"/>
          <p:cNvSpPr txBox="1"/>
          <p:nvPr/>
        </p:nvSpPr>
        <p:spPr>
          <a:xfrm>
            <a:off x="740979" y="3840592"/>
            <a:ext cx="10578662" cy="1754326"/>
          </a:xfrm>
          <a:prstGeom prst="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pPr algn="ctr" rtl="1"/>
            <a:r>
              <a:rPr lang="ar-DZ" sz="54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يوم تكويني حول كيفية تقديم الوحدة </a:t>
            </a:r>
            <a:r>
              <a:rPr lang="ar-DZ" sz="54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التعلمية</a:t>
            </a:r>
            <a:r>
              <a:rPr lang="ar-DZ" sz="54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: دافعة </a:t>
            </a:r>
            <a:r>
              <a:rPr lang="ar-DZ" sz="54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54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pic>
        <p:nvPicPr>
          <p:cNvPr id="15" name="Picture 9" descr="C:\Users\zerradi\Desktop\téléchargement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34871" y="1"/>
            <a:ext cx="5082988" cy="1241946"/>
          </a:xfrm>
          <a:prstGeom prst="rect">
            <a:avLst/>
          </a:prstGeom>
          <a:noFill/>
        </p:spPr>
      </p:pic>
      <p:sp>
        <p:nvSpPr>
          <p:cNvPr id="16" name="ZoneTexte 15"/>
          <p:cNvSpPr txBox="1"/>
          <p:nvPr/>
        </p:nvSpPr>
        <p:spPr>
          <a:xfrm>
            <a:off x="2581634" y="1247164"/>
            <a:ext cx="6656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u="sng" dirty="0" smtClean="0">
                <a:latin typeface="Amiri" pitchFamily="2" charset="-78"/>
                <a:cs typeface="Amiri" pitchFamily="2" charset="-78"/>
              </a:rPr>
              <a:t>الجمهـورية الجـزائرية الديمقراطية الشعـبية</a:t>
            </a:r>
          </a:p>
          <a:p>
            <a:pPr lvl="1" algn="ctr" rtl="1"/>
            <a:r>
              <a:rPr lang="ar-DZ" sz="2800" b="1" u="sng" dirty="0" smtClean="0">
                <a:latin typeface="Amiri" pitchFamily="2" charset="-78"/>
                <a:cs typeface="Amiri" pitchFamily="2" charset="-78"/>
              </a:rPr>
              <a:t>وزارة التربية الوطنية</a:t>
            </a:r>
            <a:endParaRPr lang="fr-FR" sz="2800" b="1" u="sng" dirty="0"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68720" y="2800441"/>
            <a:ext cx="11682482" cy="83099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algn="ctr" rtl="1"/>
            <a:r>
              <a:rPr lang="ar-DZ" sz="4800" b="1" dirty="0" smtClean="0">
                <a:solidFill>
                  <a:srgbClr val="0000FF"/>
                </a:solidFill>
                <a:latin typeface="Amiri" pitchFamily="2" charset="-78"/>
                <a:cs typeface="Amiri" pitchFamily="2" charset="-78"/>
              </a:rPr>
              <a:t>مفتشية التعليم المتوسط لمادة الفيزياء المقاطعة ( 03)</a:t>
            </a:r>
            <a:endParaRPr lang="fr-FR" sz="4800" b="1" dirty="0">
              <a:solidFill>
                <a:srgbClr val="0000FF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259305" y="2173005"/>
            <a:ext cx="6952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u="sng" dirty="0" smtClean="0">
                <a:latin typeface="Amiri" pitchFamily="2" charset="-78"/>
                <a:cs typeface="Amiri" pitchFamily="2" charset="-78"/>
              </a:rPr>
              <a:t>مديرية</a:t>
            </a:r>
            <a:r>
              <a:rPr lang="ar-DZ" sz="2800" b="1" u="sng" dirty="0" smtClean="0">
                <a:latin typeface="Amiri" pitchFamily="2" charset="-78"/>
                <a:cs typeface="Amiri" pitchFamily="2" charset="-78"/>
              </a:rPr>
              <a:t> التربية لولاية تلمسان</a:t>
            </a:r>
            <a:endParaRPr lang="fr-FR" sz="2800" b="1" u="sng" dirty="0">
              <a:latin typeface="Amiri" pitchFamily="2" charset="-78"/>
              <a:cs typeface="Amiri" pitchFamily="2" charset="-78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157546" y="5765235"/>
            <a:ext cx="4458538" cy="10156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u="sng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إعداد وتقــديم</a:t>
            </a:r>
            <a:r>
              <a:rPr lang="ar-DZ" sz="20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: </a:t>
            </a:r>
            <a:r>
              <a:rPr lang="ar-DZ" sz="2000" b="1" dirty="0" err="1" smtClean="0">
                <a:latin typeface="Amiri" pitchFamily="2" charset="-78"/>
                <a:cs typeface="Amiri" pitchFamily="2" charset="-78"/>
              </a:rPr>
              <a:t>زرادي</a:t>
            </a:r>
            <a:r>
              <a:rPr lang="ar-DZ" sz="2000" b="1" dirty="0" smtClean="0">
                <a:latin typeface="Amiri" pitchFamily="2" charset="-78"/>
                <a:cs typeface="Amiri" pitchFamily="2" charset="-78"/>
              </a:rPr>
              <a:t> محمد </a:t>
            </a:r>
          </a:p>
          <a:p>
            <a:pPr algn="r" rtl="1"/>
            <a:r>
              <a:rPr lang="ar-DZ" sz="2000" b="1" dirty="0" smtClean="0">
                <a:latin typeface="Amiri" pitchFamily="2" charset="-78"/>
                <a:cs typeface="Amiri" pitchFamily="2" charset="-78"/>
              </a:rPr>
              <a:t>                أستاذ التعليم المتوسط</a:t>
            </a:r>
          </a:p>
          <a:p>
            <a:pPr algn="r" rtl="1"/>
            <a:r>
              <a:rPr lang="ar-DZ" sz="2000" b="1" dirty="0" smtClean="0">
                <a:latin typeface="Amiri" pitchFamily="2" charset="-78"/>
                <a:cs typeface="Amiri" pitchFamily="2" charset="-78"/>
              </a:rPr>
              <a:t>               متوسطة: عفان جيلالي ( عين </a:t>
            </a:r>
            <a:r>
              <a:rPr lang="ar-DZ" sz="2000" b="1" dirty="0" err="1" smtClean="0">
                <a:latin typeface="Amiri" pitchFamily="2" charset="-78"/>
                <a:cs typeface="Amiri" pitchFamily="2" charset="-78"/>
              </a:rPr>
              <a:t>فتاح</a:t>
            </a:r>
            <a:r>
              <a:rPr lang="ar-DZ" sz="2000" b="1" dirty="0" smtClean="0">
                <a:latin typeface="Amiri" pitchFamily="2" charset="-78"/>
                <a:cs typeface="Amiri" pitchFamily="2" charset="-78"/>
              </a:rPr>
              <a:t>)        </a:t>
            </a:r>
            <a:endParaRPr lang="fr-FR" sz="2000" b="1" dirty="0">
              <a:latin typeface="Amiri" pitchFamily="2" charset="-78"/>
              <a:cs typeface="Amiri" pitchFamily="2" charset="-78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46523" y="5907124"/>
            <a:ext cx="4243261" cy="7078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u="sng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تحت إشراف مفتش المادة</a:t>
            </a:r>
            <a:r>
              <a:rPr lang="ar-DZ" sz="20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: </a:t>
            </a:r>
          </a:p>
          <a:p>
            <a:pPr algn="r" rtl="1"/>
            <a:r>
              <a:rPr lang="ar-DZ" sz="20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                            </a:t>
            </a:r>
            <a:r>
              <a:rPr lang="ar-DZ" sz="2000" b="1" dirty="0" err="1" smtClean="0">
                <a:latin typeface="Amiri" pitchFamily="2" charset="-78"/>
                <a:cs typeface="Amiri" pitchFamily="2" charset="-78"/>
              </a:rPr>
              <a:t>بلعجري</a:t>
            </a:r>
            <a:r>
              <a:rPr lang="ar-DZ" sz="2000" b="1" dirty="0" smtClean="0">
                <a:latin typeface="Amiri" pitchFamily="2" charset="-78"/>
                <a:cs typeface="Amiri" pitchFamily="2" charset="-78"/>
              </a:rPr>
              <a:t> عبد الوهاب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0"/>
            <a:ext cx="178150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ar-DZ" sz="2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13/02/2019</a:t>
            </a:r>
            <a:endParaRPr lang="fr-FR" sz="2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6719922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>
            <a:spLocks noChangeArrowheads="1"/>
          </p:cNvSpPr>
          <p:nvPr/>
        </p:nvSpPr>
        <p:spPr bwMode="auto">
          <a:xfrm>
            <a:off x="506437" y="239151"/>
            <a:ext cx="11029071" cy="98991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u="sng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raditional Arabic" panose="02020603050405020304" pitchFamily="18" charset="-78"/>
              </a:rPr>
              <a:t>المستوى</a:t>
            </a:r>
            <a:r>
              <a:rPr lang="ar-DZ" sz="32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raditional Arabic" panose="02020603050405020304" pitchFamily="18" charset="-78"/>
              </a:rPr>
              <a:t>: </a:t>
            </a:r>
            <a:r>
              <a:rPr lang="ar-DZ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الرابعــة  </a:t>
            </a:r>
            <a:r>
              <a:rPr lang="ar-DZ" sz="3200" b="1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متوســط                                     </a:t>
            </a:r>
            <a:r>
              <a:rPr lang="ar-DZ" sz="3200" b="1" u="sng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raditional Arabic" panose="02020603050405020304" pitchFamily="18" charset="-78"/>
              </a:rPr>
              <a:t>الميدان الثالث</a:t>
            </a:r>
            <a:r>
              <a:rPr lang="ar-DZ" sz="32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raditional Arabic" panose="02020603050405020304" pitchFamily="18" charset="-78"/>
              </a:rPr>
              <a:t>: </a:t>
            </a:r>
            <a:r>
              <a:rPr lang="ar-DZ" sz="3200" b="1" dirty="0" smtClean="0">
                <a:solidFill>
                  <a:srgbClr val="0000FF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الظواهر الميكانيكية</a:t>
            </a:r>
            <a:endParaRPr lang="fr-FR" sz="3200" dirty="0" smtClean="0">
              <a:solidFill>
                <a:srgbClr val="0000FF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endParaRPr lang="fr-FR" sz="32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à coins arrondis 9"/>
          <p:cNvSpPr>
            <a:spLocks noChangeArrowheads="1"/>
          </p:cNvSpPr>
          <p:nvPr/>
        </p:nvSpPr>
        <p:spPr bwMode="auto">
          <a:xfrm>
            <a:off x="134471" y="2446826"/>
            <a:ext cx="11963400" cy="134473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7001">
                <a:srgbClr val="E6E6E6"/>
              </a:gs>
              <a:gs pos="32001">
                <a:srgbClr val="7D8496"/>
              </a:gs>
              <a:gs pos="47000">
                <a:srgbClr val="E6E6E6"/>
              </a:gs>
              <a:gs pos="85001">
                <a:srgbClr val="7D8496"/>
              </a:gs>
              <a:gs pos="100000">
                <a:srgbClr val="E6E6E6"/>
              </a:gs>
            </a:gsLst>
            <a:lin ang="5400000" scaled="0"/>
          </a:gra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r" rtl="1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ar-DZ" sz="28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raditional Arabic" panose="02020603050405020304" pitchFamily="18" charset="-78"/>
              </a:rPr>
              <a:t>الكفاءة الختامية: </a:t>
            </a:r>
            <a:r>
              <a:rPr lang="ar-SA" sz="2800" b="1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يحل مشكلات من الحياة اليومية متعلقة بالحالة الحركية للأجسام باعتبارها جمل ميكانيكية موظفا المفاهيم المرتبطة بالقوة والتوازن</a:t>
            </a:r>
            <a:endParaRPr lang="fr-FR" sz="2000" dirty="0">
              <a:solidFill>
                <a:srgbClr val="0000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15000"/>
              </a:lnSpc>
              <a:spcAft>
                <a:spcPts val="0"/>
              </a:spcAft>
            </a:pPr>
            <a:r>
              <a:rPr lang="fr-FR" sz="1200" b="1" dirty="0"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 </a:t>
            </a:r>
            <a:endParaRPr lang="fr-FR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1400" b="1" dirty="0"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 </a:t>
            </a:r>
            <a:endParaRPr lang="fr-FR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14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à coins arrondis 10"/>
          <p:cNvSpPr>
            <a:spLocks noChangeArrowheads="1"/>
          </p:cNvSpPr>
          <p:nvPr/>
        </p:nvSpPr>
        <p:spPr bwMode="auto">
          <a:xfrm>
            <a:off x="453228" y="1343789"/>
            <a:ext cx="11295020" cy="90414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0"/>
              </a:spcAft>
            </a:pPr>
            <a:r>
              <a:rPr lang="ar-DZ" sz="4000" b="1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الوحدة </a:t>
            </a:r>
            <a:r>
              <a:rPr lang="ar-DZ" sz="4000" b="1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التعلمية</a:t>
            </a:r>
            <a:r>
              <a:rPr lang="ar-DZ" sz="4000" b="1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 </a:t>
            </a:r>
            <a:r>
              <a:rPr lang="ar-DZ" sz="4000" b="1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04: </a:t>
            </a:r>
            <a:r>
              <a:rPr lang="ar-DZ" sz="4000" b="1" dirty="0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دافعة أرخميدس في </a:t>
            </a:r>
            <a:r>
              <a:rPr lang="ar-DZ" sz="4000" b="1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السوائل</a:t>
            </a:r>
            <a:endParaRPr lang="fr-FR" sz="24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18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        </a:t>
            </a:r>
            <a:endParaRPr lang="fr-FR" sz="11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 </a:t>
            </a:r>
            <a:endParaRPr lang="fr-FR" sz="11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1400" dirty="0">
                <a:solidFill>
                  <a:srgbClr val="FF0000"/>
                </a:solidFill>
                <a:effectLst/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 </a:t>
            </a:r>
            <a:endParaRPr lang="fr-FR" sz="11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1400" b="1" dirty="0">
                <a:effectLst/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 </a:t>
            </a:r>
            <a:endParaRPr lang="fr-FR" sz="11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1400" b="1" dirty="0">
                <a:solidFill>
                  <a:srgbClr val="00B050"/>
                </a:solidFill>
                <a:effectLst/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 </a:t>
            </a:r>
            <a:endParaRPr lang="fr-FR" sz="1100" dirty="0">
              <a:effectLst/>
              <a:latin typeface="Amiri" pitchFamily="2" charset="-78"/>
              <a:ea typeface="Calibri" panose="020F0502020204030204" pitchFamily="34" charset="0"/>
              <a:cs typeface="Amiri" pitchFamily="2" charset="-78"/>
            </a:endParaRPr>
          </a:p>
        </p:txBody>
      </p:sp>
      <p:sp>
        <p:nvSpPr>
          <p:cNvPr id="12" name="Rectangle: Rounded Corners 7"/>
          <p:cNvSpPr>
            <a:spLocks noChangeArrowheads="1"/>
          </p:cNvSpPr>
          <p:nvPr/>
        </p:nvSpPr>
        <p:spPr bwMode="auto">
          <a:xfrm>
            <a:off x="94130" y="3959642"/>
            <a:ext cx="12003741" cy="253218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7001">
                <a:srgbClr val="E6E6E6"/>
              </a:gs>
              <a:gs pos="32001">
                <a:srgbClr val="7D8496"/>
              </a:gs>
              <a:gs pos="47000">
                <a:srgbClr val="E6E6E6"/>
              </a:gs>
              <a:gs pos="85001">
                <a:srgbClr val="7D8496"/>
              </a:gs>
              <a:gs pos="100000">
                <a:srgbClr val="E6E6E6"/>
              </a:gs>
            </a:gsLst>
            <a:lin ang="5400000" scaled="0"/>
          </a:gra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0"/>
              </a:spcAft>
            </a:pPr>
            <a:r>
              <a:rPr lang="ar-DZ" sz="3200" b="1" u="sng" dirty="0" smtClean="0">
                <a:solidFill>
                  <a:schemeClr val="tx1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مركبات </a:t>
            </a:r>
            <a:r>
              <a:rPr lang="ar-DZ" sz="3200" b="1" u="sng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الكفاءة:</a:t>
            </a:r>
            <a:endParaRPr lang="fr-FR" sz="2400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15000"/>
              </a:lnSpc>
              <a:spcAft>
                <a:spcPts val="0"/>
              </a:spcAft>
              <a:buClr>
                <a:srgbClr val="0000FF"/>
              </a:buClr>
              <a:buSzPts val="1300"/>
              <a:buFont typeface="Wingdings" pitchFamily="2" charset="2"/>
              <a:buChar char="Ø"/>
            </a:pPr>
            <a:r>
              <a:rPr lang="ar-SA" sz="3200" b="1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يوظف مفهومي الجملة الميكانيكية والقوة لتحديد الأفعال المتبادلة بين الأجسام المادية باعتبارها جمل ميكانيكية</a:t>
            </a:r>
            <a:endParaRPr lang="fr-FR" sz="2400" u="none" strike="noStrike" dirty="0">
              <a:solidFill>
                <a:srgbClr val="0000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15000"/>
              </a:lnSpc>
              <a:spcAft>
                <a:spcPts val="0"/>
              </a:spcAft>
              <a:buClr>
                <a:srgbClr val="0000FF"/>
              </a:buClr>
              <a:buSzPts val="1300"/>
              <a:buFont typeface="Wingdings" pitchFamily="2" charset="2"/>
              <a:buChar char="Ø"/>
            </a:pPr>
            <a:r>
              <a:rPr lang="ar-SA" sz="3200" b="1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يوظف مفهوم القوة لنمذجة حالات التوازن المألوفة</a:t>
            </a:r>
            <a:endParaRPr lang="fr-FR" sz="2400" u="none" strike="noStrike" dirty="0">
              <a:solidFill>
                <a:srgbClr val="0000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1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718938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6"/>
          <p:cNvSpPr>
            <a:spLocks noChangeArrowheads="1"/>
          </p:cNvSpPr>
          <p:nvPr/>
        </p:nvSpPr>
        <p:spPr bwMode="auto">
          <a:xfrm>
            <a:off x="8154504" y="147917"/>
            <a:ext cx="3835790" cy="6521824"/>
          </a:xfrm>
          <a:prstGeom prst="roundRect">
            <a:avLst>
              <a:gd name="adj" fmla="val 16667"/>
            </a:avLst>
          </a:prstGeo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vert="horz" wrap="square" lIns="0" tIns="0" rIns="0" bIns="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0"/>
              </a:spcAft>
            </a:pPr>
            <a:r>
              <a:rPr lang="ar-DZ" sz="2800" b="1" u="sng" dirty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الموارد </a:t>
            </a:r>
            <a:r>
              <a:rPr lang="ar-DZ" sz="2800" b="1" u="sng" dirty="0" smtClean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المعرفية:</a:t>
            </a:r>
            <a:endParaRPr lang="fr-FR" sz="2800" b="1" dirty="0">
              <a:solidFill>
                <a:srgbClr val="0000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indent="-22860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tabLst>
                <a:tab pos="200660" algn="l"/>
              </a:tabLst>
            </a:pPr>
            <a:r>
              <a:rPr lang="ar-SA" sz="2800" b="1" u="sng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دافعة أرخميدس في السوائل</a:t>
            </a:r>
            <a:endParaRPr lang="fr-FR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15000"/>
              </a:lnSpc>
              <a:spcAft>
                <a:spcPts val="0"/>
              </a:spcAft>
            </a:pPr>
            <a:r>
              <a:rPr lang="ar-DZ" sz="24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1</a:t>
            </a:r>
            <a:r>
              <a:rPr lang="ar-DZ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خصائص </a:t>
            </a:r>
            <a:r>
              <a:rPr lang="ar-SA" sz="2800" b="1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دافعة أرخميدس:</a:t>
            </a:r>
            <a:endParaRPr lang="fr-FR" sz="28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68960" indent="-457200" algn="r" rtl="1">
              <a:lnSpc>
                <a:spcPct val="115000"/>
              </a:lnSpc>
              <a:spcAft>
                <a:spcPts val="1000"/>
              </a:spcAft>
            </a:pP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الحامل- </a:t>
            </a:r>
            <a:r>
              <a:rPr lang="ar-SA" sz="2800" b="1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الجهة- الشدة- نقطة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التأثير</a:t>
            </a:r>
            <a:r>
              <a:rPr lang="ar-DZ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</a:p>
          <a:p>
            <a:pPr marL="568960" indent="-457200" algn="r" rtl="1">
              <a:lnSpc>
                <a:spcPct val="115000"/>
              </a:lnSpc>
              <a:spcAft>
                <a:spcPts val="1000"/>
              </a:spcAft>
            </a:pPr>
            <a:r>
              <a:rPr lang="ar-DZ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-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الثقل </a:t>
            </a:r>
            <a:r>
              <a:rPr lang="ar-SA" sz="2800" b="1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الظاهري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لجسم</a:t>
            </a:r>
            <a:endParaRPr lang="ar-DZ" sz="2800" b="1" dirty="0" smtClean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 algn="r" rtl="1">
              <a:lnSpc>
                <a:spcPct val="115000"/>
              </a:lnSpc>
              <a:spcAft>
                <a:spcPts val="1000"/>
              </a:spcAft>
            </a:pPr>
            <a:r>
              <a:rPr lang="ar-DZ" sz="2800" b="1" dirty="0" smtClean="0">
                <a:effectLst/>
                <a:latin typeface="Traditional Arabic" pitchFamily="18" charset="-78"/>
                <a:ea typeface="Times New Roman" panose="02020603050405020304" pitchFamily="18" charset="0"/>
                <a:cs typeface="Traditional Arabic" pitchFamily="18" charset="-78"/>
              </a:rPr>
              <a:t>2.</a:t>
            </a:r>
            <a:r>
              <a:rPr lang="ar-DZ" sz="2800" b="1" dirty="0" smtClean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ا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لعوامل المؤثر</a:t>
            </a:r>
            <a:r>
              <a:rPr lang="ar-DZ" sz="2800" b="1" dirty="0"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 في شدة دافعة </a:t>
            </a:r>
            <a:r>
              <a:rPr lang="ar-SA" sz="2800" b="1" dirty="0" err="1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أرخميدس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endParaRPr lang="fr-FR" sz="2800" b="1" dirty="0" smtClean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15000"/>
              </a:lnSpc>
              <a:spcAft>
                <a:spcPts val="0"/>
              </a:spcAft>
            </a:pPr>
            <a:r>
              <a:rPr lang="ar-DZ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3.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شرط توازن جسم مغمور</a:t>
            </a:r>
            <a:endParaRPr lang="fr-FR" sz="2800" b="1" dirty="0" smtClean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DZ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   </a:t>
            </a:r>
            <a:r>
              <a:rPr lang="ar-SA" sz="2800" b="1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شرط </a:t>
            </a:r>
            <a:r>
              <a:rPr lang="ar-SA" sz="2800" b="1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توازن جسم  طافي في سائل</a:t>
            </a:r>
            <a:endParaRPr lang="fr-FR" sz="28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tabLst>
                <a:tab pos="84455" algn="l"/>
                <a:tab pos="264795" algn="r"/>
              </a:tabLst>
            </a:pPr>
            <a:r>
              <a:rPr lang="ar-SA" b="1" u="none" strike="noStrike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 </a:t>
            </a:r>
            <a:endParaRPr lang="fr-FR" sz="105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10"/>
          <p:cNvSpPr>
            <a:spLocks noChangeArrowheads="1"/>
          </p:cNvSpPr>
          <p:nvPr/>
        </p:nvSpPr>
        <p:spPr bwMode="auto">
          <a:xfrm>
            <a:off x="4187415" y="161364"/>
            <a:ext cx="3766918" cy="6508376"/>
          </a:xfrm>
          <a:prstGeom prst="roundRect">
            <a:avLst>
              <a:gd name="adj" fmla="val 16667"/>
            </a:avLst>
          </a:prstGeo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vert="horz" wrap="square" lIns="0" tIns="0" rIns="0" bIns="0" anchor="t" anchorCtr="0" upright="1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ar-DZ" sz="2800" b="1" u="sng" dirty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أنماط من الوضعيات </a:t>
            </a:r>
            <a:r>
              <a:rPr lang="ar-DZ" sz="2800" b="1" u="sng" dirty="0" err="1" smtClean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التعلمية</a:t>
            </a:r>
            <a:r>
              <a:rPr lang="ar-DZ" sz="2800" b="1" dirty="0" smtClean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:</a:t>
            </a:r>
            <a:endParaRPr lang="fr-FR" sz="2800" b="1" dirty="0" smtClean="0">
              <a:solidFill>
                <a:srgbClr val="0000FF"/>
              </a:solidFill>
              <a:effectLst/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algn="ctr" rtl="1">
              <a:spcAft>
                <a:spcPts val="0"/>
              </a:spcAft>
            </a:pP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4625" lvl="0" indent="-174625" algn="r" rtl="1">
              <a:spcAft>
                <a:spcPts val="1000"/>
              </a:spcAft>
              <a:buSzPts val="1300"/>
              <a:buFont typeface="Wingdings" pitchFamily="2" charset="2"/>
              <a:buChar char="Ø"/>
            </a:pPr>
            <a:r>
              <a:rPr lang="ar-SA" sz="2800" b="1" u="none" strike="noStrike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طرح مشكلة الأجسام التي تغوص والتي تطفو في الماء ومنه:</a:t>
            </a:r>
            <a:endParaRPr lang="fr-FR" sz="2800" u="none" strike="noStrike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4625" lvl="0" indent="-174625" algn="r" rtl="1">
              <a:spcAft>
                <a:spcPts val="1000"/>
              </a:spcAft>
              <a:buSzPts val="1300"/>
              <a:buFont typeface="Wingdings" pitchFamily="2" charset="2"/>
              <a:buChar char="Ø"/>
            </a:pPr>
            <a:r>
              <a:rPr lang="ar-SA" sz="2800" b="1" u="none" strike="noStrike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اكتشاف وجود دافعة أرخميدس وقياس </a:t>
            </a:r>
            <a:r>
              <a:rPr lang="ar-SA" sz="2800" b="1" u="none" strike="noStrike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شدتها</a:t>
            </a:r>
            <a:r>
              <a:rPr lang="ar-DZ" sz="2800" b="1" u="none" strike="noStrike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.</a:t>
            </a:r>
            <a:endParaRPr lang="fr-FR" sz="2800" u="none" strike="noStrike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4625" lvl="0" indent="-174625" algn="r" rtl="1">
              <a:spcAft>
                <a:spcPts val="1000"/>
              </a:spcAft>
              <a:buSzPts val="1300"/>
              <a:buFont typeface="Wingdings" pitchFamily="2" charset="2"/>
              <a:buChar char="Ø"/>
            </a:pPr>
            <a:r>
              <a:rPr lang="ar-SA" sz="2800" b="1" u="none" strike="noStrike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دراسة تجريبية للعوامل المؤثرة في شدة دافعة </a:t>
            </a:r>
            <a:r>
              <a:rPr lang="ar-SA" sz="2800" b="1" u="none" strike="noStrike" dirty="0" err="1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أرخميدس</a:t>
            </a:r>
            <a:r>
              <a:rPr lang="ar-DZ" sz="2800" b="1" u="none" strike="noStrike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.</a:t>
            </a:r>
            <a:endParaRPr lang="fr-FR" sz="2800" u="none" strike="noStrike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4625" lvl="0" indent="-174625" algn="r" rtl="1">
              <a:spcAft>
                <a:spcPts val="1000"/>
              </a:spcAft>
              <a:buSzPts val="1300"/>
              <a:buFont typeface="Wingdings" pitchFamily="2" charset="2"/>
              <a:buChar char="Ø"/>
              <a:tabLst>
                <a:tab pos="104140" algn="l"/>
              </a:tabLst>
            </a:pPr>
            <a:r>
              <a:rPr lang="ar-SA" sz="2800" b="1" u="none" strike="noStrike" dirty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دراسة تجريبية حول توازن الجسم </a:t>
            </a:r>
            <a:r>
              <a:rPr lang="ar-SA" sz="2800" b="1" u="none" strike="noStrike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الطافي</a:t>
            </a:r>
            <a:r>
              <a:rPr lang="ar-DZ" sz="2800" b="1" u="none" strike="noStrike" dirty="0" smtClean="0">
                <a:effectLst/>
                <a:ea typeface="Times New Roman" panose="02020603050405020304" pitchFamily="18" charset="0"/>
                <a:cs typeface="Traditional Arabic" panose="02020603050405020304" pitchFamily="18" charset="-78"/>
              </a:rPr>
              <a:t>.</a:t>
            </a:r>
            <a:endParaRPr lang="fr-FR" sz="2800" u="none" strike="noStrike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algn="r" rtl="1">
              <a:lnSpc>
                <a:spcPct val="115000"/>
              </a:lnSpc>
              <a:spcAft>
                <a:spcPts val="0"/>
              </a:spcAft>
              <a:tabLst>
                <a:tab pos="111760" algn="l"/>
              </a:tabLst>
            </a:pPr>
            <a:r>
              <a:rPr lang="fr-FR" sz="1600" b="1" dirty="0">
                <a:effectLst/>
                <a:latin typeface="Traditional Arabic" panose="02020603050405020304" pitchFamily="18" charset="-78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fr-FR" sz="12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9"/>
          <p:cNvSpPr>
            <a:spLocks noChangeArrowheads="1"/>
          </p:cNvSpPr>
          <p:nvPr/>
        </p:nvSpPr>
        <p:spPr bwMode="auto">
          <a:xfrm>
            <a:off x="192190" y="107575"/>
            <a:ext cx="3795053" cy="6642847"/>
          </a:xfrm>
          <a:prstGeom prst="roundRect">
            <a:avLst>
              <a:gd name="adj" fmla="val 16667"/>
            </a:avLst>
          </a:prstGeo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vert="horz" wrap="square" lIns="0" tIns="0" rIns="0" bIns="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0"/>
              </a:spcAft>
            </a:pPr>
            <a:r>
              <a:rPr lang="ar-DZ" sz="2800" b="1" u="sng" dirty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معايير ومؤشرات التقويم</a:t>
            </a:r>
            <a:r>
              <a:rPr lang="ar-DZ" sz="2800" b="1" u="sng" dirty="0" smtClean="0">
                <a:solidFill>
                  <a:srgbClr val="0000FF"/>
                </a:solidFill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:</a:t>
            </a:r>
          </a:p>
          <a:p>
            <a:pPr algn="r" rtl="1"/>
            <a:r>
              <a:rPr lang="ar-DZ" sz="2200" b="1" u="sng" dirty="0" smtClean="0">
                <a:latin typeface="Traditional Arabic" pitchFamily="18" charset="-78"/>
                <a:cs typeface="Traditional Arabic" pitchFamily="18" charset="-78"/>
              </a:rPr>
              <a:t>مع1: يطبق شرط التوازن في حالة الجسم المغمور في السائل:</a:t>
            </a:r>
            <a:r>
              <a:rPr lang="ar-DZ" sz="2200" b="1" dirty="0" smtClean="0">
                <a:latin typeface="Traditional Arabic" pitchFamily="18" charset="-78"/>
                <a:cs typeface="Traditional Arabic" pitchFamily="18" charset="-78"/>
              </a:rPr>
              <a:t> </a:t>
            </a:r>
            <a:endParaRPr lang="fr-FR" sz="22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يحدّد خصائص شعاع دافعة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 المطبقة على جسم مغمور في الماء.</a:t>
            </a: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 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يحدد العوامل المؤثرة في شدة دافعة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.</a:t>
            </a:r>
            <a:endParaRPr lang="fr-FR" sz="2000" b="1" dirty="0">
              <a:solidFill>
                <a:srgbClr val="0000FF"/>
              </a:solidFill>
              <a:effectLst/>
              <a:latin typeface="Traditional Arabic" pitchFamily="18" charset="-78"/>
              <a:ea typeface="Calibri" panose="020F0502020204030204" pitchFamily="34" charset="0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يكتب علاقة التوازن لجسم صلب مغمور كليا داخل السائل.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ييحدد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 شرط توازن جسم يطفو فوق سطح الماء.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ar-DZ" sz="2200" b="1" u="sng" dirty="0" smtClean="0">
                <a:latin typeface="Traditional Arabic" pitchFamily="18" charset="-78"/>
                <a:cs typeface="Traditional Arabic" pitchFamily="18" charset="-78"/>
              </a:rPr>
              <a:t>مع2: يعيّن شدة دافعة </a:t>
            </a:r>
            <a:r>
              <a:rPr lang="ar-DZ" sz="2200" b="1" u="sng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200" b="1" dirty="0" smtClean="0">
                <a:latin typeface="Traditional Arabic" pitchFamily="18" charset="-78"/>
                <a:cs typeface="Traditional Arabic" pitchFamily="18" charset="-78"/>
              </a:rPr>
              <a:t>: </a:t>
            </a:r>
            <a:endParaRPr lang="fr-FR" sz="22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يعيّن تجريبيا شدة دافعة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.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يميّز بين ثقل الجسم ودافعة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.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ar-DZ" sz="2200" b="1" u="sng" dirty="0" smtClean="0">
                <a:latin typeface="Traditional Arabic" pitchFamily="18" charset="-78"/>
                <a:cs typeface="Traditional Arabic" pitchFamily="18" charset="-78"/>
              </a:rPr>
              <a:t>مع3: يوظّف قوة دافعة </a:t>
            </a:r>
            <a:r>
              <a:rPr lang="ar-DZ" sz="2200" b="1" u="sng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200" b="1" u="sng" dirty="0" smtClean="0">
                <a:latin typeface="Traditional Arabic" pitchFamily="18" charset="-78"/>
                <a:cs typeface="Traditional Arabic" pitchFamily="18" charset="-78"/>
              </a:rPr>
              <a:t> في التمييز بين </a:t>
            </a:r>
            <a:r>
              <a:rPr lang="ar-DZ" sz="2000" b="1" u="sng" dirty="0" smtClean="0">
                <a:latin typeface="Traditional Arabic" pitchFamily="18" charset="-78"/>
                <a:cs typeface="Traditional Arabic" pitchFamily="18" charset="-78"/>
              </a:rPr>
              <a:t>طبيعة المواد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: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يقارن بين كثافة الأجسام الصلبة باستخدام دافعة </a:t>
            </a:r>
            <a:r>
              <a:rPr lang="ar-DZ" sz="20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. </a:t>
            </a:r>
            <a:endParaRPr lang="fr-FR" sz="20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000" b="1" dirty="0" smtClean="0">
                <a:latin typeface="Traditional Arabic" pitchFamily="18" charset="-78"/>
                <a:cs typeface="Traditional Arabic" pitchFamily="18" charset="-78"/>
              </a:rPr>
              <a:t>يعيّن تجريبيا كثافة جسم صلب.</a:t>
            </a:r>
            <a:endParaRPr lang="fr-FR" sz="2000" b="1" dirty="0" smtClean="0">
              <a:latin typeface="Traditional Arabic" pitchFamily="18" charset="-78"/>
              <a:ea typeface="Calibri" panose="020F0502020204030204" pitchFamily="34" charset="0"/>
              <a:cs typeface="Traditional Arabic" pitchFamily="18" charset="-78"/>
            </a:endParaRPr>
          </a:p>
          <a:p>
            <a:pPr algn="r" rtl="1"/>
            <a:r>
              <a:rPr lang="ar-DZ" dirty="0" smtClean="0">
                <a:latin typeface="Traditional Arabic" pitchFamily="18" charset="-78"/>
                <a:cs typeface="Traditional Arabic" pitchFamily="18" charset="-78"/>
              </a:rPr>
              <a:t> </a:t>
            </a:r>
            <a:endParaRPr lang="fr-FR" b="1" u="none" strike="noStrike" dirty="0">
              <a:effectLst/>
              <a:latin typeface="Traditional Arabic" pitchFamily="18" charset="-78"/>
              <a:ea typeface="Calibri" panose="020F0502020204030204" pitchFamily="34" charset="0"/>
              <a:cs typeface="Traditional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219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267636" y="242047"/>
            <a:ext cx="5135262" cy="70788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4000" b="1" dirty="0">
                <a:solidFill>
                  <a:schemeClr val="bg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سير الوضعية </a:t>
            </a:r>
            <a:r>
              <a:rPr lang="ar-DZ" sz="4000" b="1" dirty="0" err="1" smtClean="0">
                <a:solidFill>
                  <a:schemeClr val="bg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التعلمية</a:t>
            </a:r>
            <a:endParaRPr lang="fr-FR" sz="2400" dirty="0">
              <a:solidFill>
                <a:schemeClr val="bg1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8627159" y="1404246"/>
            <a:ext cx="3214037" cy="5539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rtl="1"/>
            <a:r>
              <a:rPr lang="ar-DZ" sz="3600" b="1" dirty="0" smtClean="0">
                <a:solidFill>
                  <a:srgbClr val="C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miri" pitchFamily="2" charset="-78"/>
                <a:ea typeface="Calibri" panose="020F0502020204030204" pitchFamily="34" charset="0"/>
                <a:cs typeface="Amiri" pitchFamily="2" charset="-78"/>
              </a:rPr>
              <a:t>الوضعية الجزئية:</a:t>
            </a:r>
            <a:endParaRPr lang="fr-FR" dirty="0">
              <a:latin typeface="Amiri" pitchFamily="2" charset="-78"/>
              <a:cs typeface="Amiri" pitchFamily="2" charset="-78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12694" y="2151528"/>
            <a:ext cx="11080377" cy="1477328"/>
          </a:xfrm>
          <a:prstGeom prst="rect">
            <a:avLst/>
          </a:prstGeom>
          <a:gradFill flip="none"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  <a:tileRect r="-100000" b="-100000"/>
          </a:gradFill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ar-DZ" sz="3200" b="1" dirty="0" smtClean="0">
                <a:latin typeface="Traditional Arabic" pitchFamily="18" charset="-78"/>
                <a:cs typeface="Traditional Arabic" pitchFamily="18" charset="-78"/>
              </a:rPr>
              <a:t>لتسهيل التزود بالماء، عادة ما نستعمل خزانات للماء فوق أسطح المنازل، ويتم ملأها بواسطة أنبوب مزود في نهايته بصمام عائم يسد فتحة الأنبوب إذا امتلأ الخزان كما في الوثيقة أعلاه.</a:t>
            </a:r>
            <a:endParaRPr lang="fr-FR" sz="32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ar-DZ" sz="3200" b="1" dirty="0" smtClean="0">
                <a:latin typeface="Traditional Arabic" pitchFamily="18" charset="-78"/>
                <a:cs typeface="Traditional Arabic" pitchFamily="18" charset="-78"/>
              </a:rPr>
              <a:t>فيا ترى كيف تفسر عمل الصمام؟، وما هي القوى المؤثرة على كرة الصمام مبيّنا خصائصها؟</a:t>
            </a:r>
            <a:endParaRPr lang="fr-FR" sz="3200" b="1" dirty="0">
              <a:latin typeface="Traditional Arabic" pitchFamily="18" charset="-78"/>
              <a:cs typeface="Traditional Arabic" pitchFamily="18" charset="-78"/>
            </a:endParaRPr>
          </a:p>
        </p:txBody>
      </p:sp>
      <p:pic>
        <p:nvPicPr>
          <p:cNvPr id="17" name="Image 16" descr="C:\Users\zerradi\Downloads\merge_from_ofoct (1)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540" y="4249271"/>
            <a:ext cx="11349318" cy="186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45628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1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chemin horizontal 11"/>
          <p:cNvSpPr/>
          <p:nvPr/>
        </p:nvSpPr>
        <p:spPr>
          <a:xfrm>
            <a:off x="2111189" y="0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>
              <a:buFont typeface="+mj-lt"/>
              <a:buAutoNum type="romanUcPeriod"/>
            </a:pP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خصائص دافعة </a:t>
            </a:r>
            <a:r>
              <a:rPr lang="ar-DZ" sz="32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684494" y="1277471"/>
            <a:ext cx="816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النشاط01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اكتشاف دافعة </a:t>
            </a:r>
            <a:r>
              <a:rPr lang="ar-DZ" sz="2800" b="1" u="sng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899647" y="2003612"/>
            <a:ext cx="7960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Font typeface="Wingdings"/>
              <a:buChar char="E"/>
            </a:pPr>
            <a:r>
              <a:rPr lang="ar-SA" sz="2400" b="1" dirty="0" smtClean="0">
                <a:latin typeface="Traditional Arabic" pitchFamily="18" charset="-78"/>
                <a:cs typeface="Traditional Arabic" pitchFamily="18" charset="-78"/>
              </a:rPr>
              <a:t>ضع قطعة خشب في وعاء </a:t>
            </a:r>
            <a:r>
              <a:rPr lang="ar-SA" sz="2400" b="1" dirty="0" err="1" smtClean="0">
                <a:latin typeface="Traditional Arabic" pitchFamily="18" charset="-78"/>
                <a:cs typeface="Traditional Arabic" pitchFamily="18" charset="-78"/>
              </a:rPr>
              <a:t>به</a:t>
            </a:r>
            <a:r>
              <a:rPr lang="ar-SA" sz="2400" b="1" dirty="0" smtClean="0">
                <a:latin typeface="Traditional Arabic" pitchFamily="18" charset="-78"/>
                <a:cs typeface="Traditional Arabic" pitchFamily="18" charset="-78"/>
              </a:rPr>
              <a:t> ماء، ماذا تلاحظ؟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</a:rPr>
              <a:t>:</a:t>
            </a:r>
            <a:endParaRPr lang="ar-DZ" sz="24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>
              <a:buFont typeface="Wingdings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اضغط عموديا على قطعة الخشب ماذا يحدث لها؟،وبما تشعر؟</a:t>
            </a:r>
          </a:p>
          <a:p>
            <a:pPr algn="r" rtl="1">
              <a:buFont typeface="Wingdings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ارفع أصبعك عن القطعة الخشبية، ماذا تلاحظ؟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751729" y="3348318"/>
            <a:ext cx="816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400" b="1" u="dbl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الملاحظة</a:t>
            </a:r>
            <a:r>
              <a:rPr lang="en-US" sz="24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en-US" sz="20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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 </a:t>
            </a:r>
            <a:r>
              <a:rPr lang="ar-SA" sz="2400" b="1" dirty="0" smtClean="0">
                <a:latin typeface="Traditional Arabic" pitchFamily="18" charset="-78"/>
                <a:cs typeface="Traditional Arabic" pitchFamily="18" charset="-78"/>
              </a:rPr>
              <a:t>يدفع الماء القطعة الخشبية بقوة دائما نحو الأعلى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</a:rPr>
              <a:t>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793375" y="1425388"/>
            <a:ext cx="3227295" cy="2420471"/>
            <a:chOff x="1736" y="8749"/>
            <a:chExt cx="2649" cy="1689"/>
          </a:xfrm>
        </p:grpSpPr>
        <p:sp>
          <p:nvSpPr>
            <p:cNvPr id="2051" name="Oval 3"/>
            <p:cNvSpPr>
              <a:spLocks noChangeArrowheads="1"/>
            </p:cNvSpPr>
            <p:nvPr/>
          </p:nvSpPr>
          <p:spPr bwMode="auto">
            <a:xfrm>
              <a:off x="1780" y="9486"/>
              <a:ext cx="2595" cy="304"/>
            </a:xfrm>
            <a:prstGeom prst="ellipse">
              <a:avLst/>
            </a:prstGeom>
            <a:solidFill>
              <a:srgbClr val="00FFFF">
                <a:alpha val="50000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52" name="AutoShape 4" descr="Chêne"/>
            <p:cNvSpPr>
              <a:spLocks noChangeArrowheads="1"/>
            </p:cNvSpPr>
            <p:nvPr/>
          </p:nvSpPr>
          <p:spPr bwMode="auto">
            <a:xfrm>
              <a:off x="2422" y="9305"/>
              <a:ext cx="1235" cy="531"/>
            </a:xfrm>
            <a:prstGeom prst="cube">
              <a:avLst>
                <a:gd name="adj" fmla="val 36815"/>
              </a:avLst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53" name="Freeform 5"/>
            <p:cNvSpPr>
              <a:spLocks/>
            </p:cNvSpPr>
            <p:nvPr/>
          </p:nvSpPr>
          <p:spPr bwMode="auto">
            <a:xfrm>
              <a:off x="1736" y="9644"/>
              <a:ext cx="2643" cy="778"/>
            </a:xfrm>
            <a:custGeom>
              <a:avLst/>
              <a:gdLst/>
              <a:ahLst/>
              <a:cxnLst>
                <a:cxn ang="0">
                  <a:pos x="3113" y="0"/>
                </a:cxn>
                <a:cxn ang="0">
                  <a:pos x="3102" y="644"/>
                </a:cxn>
                <a:cxn ang="0">
                  <a:pos x="55" y="628"/>
                </a:cxn>
                <a:cxn ang="0">
                  <a:pos x="55" y="16"/>
                </a:cxn>
                <a:cxn ang="0">
                  <a:pos x="3113" y="0"/>
                </a:cxn>
              </a:cxnLst>
              <a:rect l="0" t="0" r="r" b="b"/>
              <a:pathLst>
                <a:path w="3113" h="862">
                  <a:moveTo>
                    <a:pt x="3113" y="0"/>
                  </a:moveTo>
                  <a:cubicBezTo>
                    <a:pt x="3108" y="322"/>
                    <a:pt x="3102" y="644"/>
                    <a:pt x="3102" y="644"/>
                  </a:cubicBezTo>
                  <a:cubicBezTo>
                    <a:pt x="2969" y="862"/>
                    <a:pt x="0" y="862"/>
                    <a:pt x="55" y="628"/>
                  </a:cubicBezTo>
                  <a:cubicBezTo>
                    <a:pt x="55" y="628"/>
                    <a:pt x="55" y="322"/>
                    <a:pt x="55" y="16"/>
                  </a:cubicBezTo>
                  <a:cubicBezTo>
                    <a:pt x="364" y="219"/>
                    <a:pt x="2949" y="212"/>
                    <a:pt x="3113" y="0"/>
                  </a:cubicBezTo>
                  <a:close/>
                </a:path>
              </a:pathLst>
            </a:custGeom>
            <a:solidFill>
              <a:srgbClr val="66FFC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54" name="Freeform 6"/>
            <p:cNvSpPr>
              <a:spLocks/>
            </p:cNvSpPr>
            <p:nvPr/>
          </p:nvSpPr>
          <p:spPr bwMode="auto">
            <a:xfrm>
              <a:off x="1765" y="8962"/>
              <a:ext cx="2620" cy="1476"/>
            </a:xfrm>
            <a:custGeom>
              <a:avLst/>
              <a:gdLst/>
              <a:ahLst/>
              <a:cxnLst>
                <a:cxn ang="0">
                  <a:pos x="3086" y="20"/>
                </a:cxn>
                <a:cxn ang="0">
                  <a:pos x="3086" y="1397"/>
                </a:cxn>
                <a:cxn ang="0">
                  <a:pos x="9" y="1397"/>
                </a:cxn>
                <a:cxn ang="0">
                  <a:pos x="0" y="0"/>
                </a:cxn>
                <a:cxn ang="0">
                  <a:pos x="3086" y="20"/>
                </a:cxn>
              </a:cxnLst>
              <a:rect l="0" t="0" r="r" b="b"/>
              <a:pathLst>
                <a:path w="3086" h="1637">
                  <a:moveTo>
                    <a:pt x="3086" y="20"/>
                  </a:moveTo>
                  <a:cubicBezTo>
                    <a:pt x="3086" y="708"/>
                    <a:pt x="3086" y="1397"/>
                    <a:pt x="3086" y="1397"/>
                  </a:cubicBezTo>
                  <a:cubicBezTo>
                    <a:pt x="2868" y="1637"/>
                    <a:pt x="72" y="1600"/>
                    <a:pt x="9" y="1397"/>
                  </a:cubicBezTo>
                  <a:cubicBezTo>
                    <a:pt x="9" y="1397"/>
                    <a:pt x="0" y="688"/>
                    <a:pt x="0" y="0"/>
                  </a:cubicBezTo>
                  <a:cubicBezTo>
                    <a:pt x="225" y="296"/>
                    <a:pt x="2755" y="272"/>
                    <a:pt x="3086" y="2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2055" name="Group 7"/>
            <p:cNvGrpSpPr>
              <a:grpSpLocks/>
            </p:cNvGrpSpPr>
            <p:nvPr/>
          </p:nvGrpSpPr>
          <p:grpSpPr bwMode="auto">
            <a:xfrm rot="821041">
              <a:off x="2712" y="8749"/>
              <a:ext cx="748" cy="729"/>
              <a:chOff x="4721" y="3084"/>
              <a:chExt cx="1880" cy="1822"/>
            </a:xfrm>
          </p:grpSpPr>
          <p:sp>
            <p:nvSpPr>
              <p:cNvPr id="2056" name="Freeform 8"/>
              <p:cNvSpPr>
                <a:spLocks/>
              </p:cNvSpPr>
              <p:nvPr/>
            </p:nvSpPr>
            <p:spPr bwMode="auto">
              <a:xfrm rot="4751964" flipH="1">
                <a:off x="4520" y="3285"/>
                <a:ext cx="1822" cy="1419"/>
              </a:xfrm>
              <a:custGeom>
                <a:avLst/>
                <a:gdLst/>
                <a:ahLst/>
                <a:cxnLst>
                  <a:cxn ang="0">
                    <a:pos x="55" y="153"/>
                  </a:cxn>
                  <a:cxn ang="0">
                    <a:pos x="215" y="58"/>
                  </a:cxn>
                  <a:cxn ang="0">
                    <a:pos x="498" y="23"/>
                  </a:cxn>
                  <a:cxn ang="0">
                    <a:pos x="886" y="195"/>
                  </a:cxn>
                  <a:cxn ang="0">
                    <a:pos x="932" y="322"/>
                  </a:cxn>
                  <a:cxn ang="0">
                    <a:pos x="1000" y="922"/>
                  </a:cxn>
                  <a:cxn ang="0">
                    <a:pos x="655" y="948"/>
                  </a:cxn>
                  <a:cxn ang="0">
                    <a:pos x="482" y="749"/>
                  </a:cxn>
                  <a:cxn ang="0">
                    <a:pos x="172" y="531"/>
                  </a:cxn>
                  <a:cxn ang="0">
                    <a:pos x="0" y="332"/>
                  </a:cxn>
                  <a:cxn ang="0">
                    <a:pos x="172" y="345"/>
                  </a:cxn>
                  <a:cxn ang="0">
                    <a:pos x="290" y="446"/>
                  </a:cxn>
                  <a:cxn ang="0">
                    <a:pos x="439" y="488"/>
                  </a:cxn>
                  <a:cxn ang="0">
                    <a:pos x="622" y="358"/>
                  </a:cxn>
                  <a:cxn ang="0">
                    <a:pos x="593" y="235"/>
                  </a:cxn>
                  <a:cxn ang="0">
                    <a:pos x="469" y="153"/>
                  </a:cxn>
                  <a:cxn ang="0">
                    <a:pos x="205" y="176"/>
                  </a:cxn>
                  <a:cxn ang="0">
                    <a:pos x="55" y="153"/>
                  </a:cxn>
                </a:cxnLst>
                <a:rect l="0" t="0" r="r" b="b"/>
                <a:pathLst>
                  <a:path w="1000" h="948">
                    <a:moveTo>
                      <a:pt x="55" y="153"/>
                    </a:moveTo>
                    <a:cubicBezTo>
                      <a:pt x="57" y="133"/>
                      <a:pt x="141" y="80"/>
                      <a:pt x="215" y="58"/>
                    </a:cubicBezTo>
                    <a:cubicBezTo>
                      <a:pt x="332" y="55"/>
                      <a:pt x="386" y="0"/>
                      <a:pt x="498" y="23"/>
                    </a:cubicBezTo>
                    <a:lnTo>
                      <a:pt x="886" y="195"/>
                    </a:lnTo>
                    <a:cubicBezTo>
                      <a:pt x="886" y="195"/>
                      <a:pt x="935" y="264"/>
                      <a:pt x="932" y="322"/>
                    </a:cubicBezTo>
                    <a:cubicBezTo>
                      <a:pt x="915" y="619"/>
                      <a:pt x="1000" y="922"/>
                      <a:pt x="1000" y="922"/>
                    </a:cubicBezTo>
                    <a:lnTo>
                      <a:pt x="655" y="948"/>
                    </a:lnTo>
                    <a:cubicBezTo>
                      <a:pt x="655" y="948"/>
                      <a:pt x="562" y="818"/>
                      <a:pt x="482" y="749"/>
                    </a:cubicBezTo>
                    <a:cubicBezTo>
                      <a:pt x="348" y="593"/>
                      <a:pt x="212" y="577"/>
                      <a:pt x="172" y="531"/>
                    </a:cubicBezTo>
                    <a:cubicBezTo>
                      <a:pt x="111" y="420"/>
                      <a:pt x="0" y="363"/>
                      <a:pt x="0" y="332"/>
                    </a:cubicBezTo>
                    <a:cubicBezTo>
                      <a:pt x="0" y="301"/>
                      <a:pt x="114" y="264"/>
                      <a:pt x="172" y="345"/>
                    </a:cubicBezTo>
                    <a:cubicBezTo>
                      <a:pt x="231" y="397"/>
                      <a:pt x="240" y="421"/>
                      <a:pt x="290" y="446"/>
                    </a:cubicBezTo>
                    <a:cubicBezTo>
                      <a:pt x="290" y="446"/>
                      <a:pt x="364" y="467"/>
                      <a:pt x="439" y="488"/>
                    </a:cubicBezTo>
                    <a:cubicBezTo>
                      <a:pt x="556" y="452"/>
                      <a:pt x="622" y="358"/>
                      <a:pt x="622" y="358"/>
                    </a:cubicBezTo>
                    <a:lnTo>
                      <a:pt x="593" y="235"/>
                    </a:lnTo>
                    <a:lnTo>
                      <a:pt x="469" y="153"/>
                    </a:lnTo>
                    <a:cubicBezTo>
                      <a:pt x="404" y="143"/>
                      <a:pt x="263" y="127"/>
                      <a:pt x="205" y="176"/>
                    </a:cubicBezTo>
                    <a:cubicBezTo>
                      <a:pt x="95" y="212"/>
                      <a:pt x="55" y="153"/>
                      <a:pt x="55" y="1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7" name="Freeform 9"/>
              <p:cNvSpPr>
                <a:spLocks/>
              </p:cNvSpPr>
              <p:nvPr/>
            </p:nvSpPr>
            <p:spPr bwMode="auto">
              <a:xfrm rot="4751964" flipH="1">
                <a:off x="5592" y="3329"/>
                <a:ext cx="1070" cy="683"/>
              </a:xfrm>
              <a:custGeom>
                <a:avLst/>
                <a:gdLst/>
                <a:ahLst/>
                <a:cxnLst>
                  <a:cxn ang="0">
                    <a:pos x="587" y="456"/>
                  </a:cxn>
                  <a:cxn ang="0">
                    <a:pos x="522" y="296"/>
                  </a:cxn>
                  <a:cxn ang="0">
                    <a:pos x="365" y="104"/>
                  </a:cxn>
                  <a:cxn ang="0">
                    <a:pos x="153" y="10"/>
                  </a:cxn>
                  <a:cxn ang="0">
                    <a:pos x="36" y="0"/>
                  </a:cxn>
                  <a:cxn ang="0">
                    <a:pos x="196" y="111"/>
                  </a:cxn>
                  <a:cxn ang="0">
                    <a:pos x="355" y="238"/>
                  </a:cxn>
                  <a:cxn ang="0">
                    <a:pos x="404" y="378"/>
                  </a:cxn>
                  <a:cxn ang="0">
                    <a:pos x="587" y="456"/>
                  </a:cxn>
                </a:cxnLst>
                <a:rect l="0" t="0" r="r" b="b"/>
                <a:pathLst>
                  <a:path w="587" h="456">
                    <a:moveTo>
                      <a:pt x="587" y="456"/>
                    </a:moveTo>
                    <a:lnTo>
                      <a:pt x="522" y="296"/>
                    </a:lnTo>
                    <a:cubicBezTo>
                      <a:pt x="485" y="237"/>
                      <a:pt x="482" y="137"/>
                      <a:pt x="365" y="104"/>
                    </a:cubicBezTo>
                    <a:cubicBezTo>
                      <a:pt x="259" y="57"/>
                      <a:pt x="251" y="0"/>
                      <a:pt x="153" y="10"/>
                    </a:cubicBezTo>
                    <a:cubicBezTo>
                      <a:pt x="94" y="5"/>
                      <a:pt x="36" y="0"/>
                      <a:pt x="36" y="0"/>
                    </a:cubicBezTo>
                    <a:cubicBezTo>
                      <a:pt x="43" y="17"/>
                      <a:pt x="0" y="92"/>
                      <a:pt x="196" y="111"/>
                    </a:cubicBezTo>
                    <a:cubicBezTo>
                      <a:pt x="258" y="199"/>
                      <a:pt x="355" y="238"/>
                      <a:pt x="355" y="238"/>
                    </a:cubicBezTo>
                    <a:lnTo>
                      <a:pt x="404" y="378"/>
                    </a:lnTo>
                    <a:lnTo>
                      <a:pt x="587" y="456"/>
                    </a:ln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8" name="Freeform 10"/>
              <p:cNvSpPr>
                <a:spLocks/>
              </p:cNvSpPr>
              <p:nvPr/>
            </p:nvSpPr>
            <p:spPr bwMode="auto">
              <a:xfrm>
                <a:off x="5695" y="3147"/>
                <a:ext cx="610" cy="168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203" y="6"/>
                  </a:cxn>
                  <a:cxn ang="0">
                    <a:pos x="380" y="20"/>
                  </a:cxn>
                  <a:cxn ang="0">
                    <a:pos x="585" y="0"/>
                  </a:cxn>
                  <a:cxn ang="0">
                    <a:pos x="541" y="135"/>
                  </a:cxn>
                  <a:cxn ang="0">
                    <a:pos x="396" y="133"/>
                  </a:cxn>
                  <a:cxn ang="0">
                    <a:pos x="327" y="157"/>
                  </a:cxn>
                  <a:cxn ang="0">
                    <a:pos x="0" y="68"/>
                  </a:cxn>
                </a:cxnLst>
                <a:rect l="0" t="0" r="r" b="b"/>
                <a:pathLst>
                  <a:path w="610" h="168">
                    <a:moveTo>
                      <a:pt x="0" y="68"/>
                    </a:moveTo>
                    <a:lnTo>
                      <a:pt x="203" y="6"/>
                    </a:lnTo>
                    <a:lnTo>
                      <a:pt x="380" y="20"/>
                    </a:lnTo>
                    <a:lnTo>
                      <a:pt x="585" y="0"/>
                    </a:lnTo>
                    <a:cubicBezTo>
                      <a:pt x="585" y="0"/>
                      <a:pt x="610" y="109"/>
                      <a:pt x="541" y="135"/>
                    </a:cubicBezTo>
                    <a:cubicBezTo>
                      <a:pt x="478" y="147"/>
                      <a:pt x="416" y="141"/>
                      <a:pt x="396" y="133"/>
                    </a:cubicBezTo>
                    <a:cubicBezTo>
                      <a:pt x="375" y="146"/>
                      <a:pt x="393" y="168"/>
                      <a:pt x="327" y="157"/>
                    </a:cubicBez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9" name="Freeform 11"/>
              <p:cNvSpPr>
                <a:spLocks/>
              </p:cNvSpPr>
              <p:nvPr/>
            </p:nvSpPr>
            <p:spPr bwMode="auto">
              <a:xfrm>
                <a:off x="6231" y="3410"/>
                <a:ext cx="370" cy="25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29" y="99"/>
                  </a:cxn>
                  <a:cxn ang="0">
                    <a:pos x="239" y="222"/>
                  </a:cxn>
                  <a:cxn ang="0">
                    <a:pos x="124" y="199"/>
                  </a:cxn>
                  <a:cxn ang="0">
                    <a:pos x="82" y="146"/>
                  </a:cxn>
                  <a:cxn ang="0">
                    <a:pos x="49" y="87"/>
                  </a:cxn>
                  <a:cxn ang="0">
                    <a:pos x="0" y="0"/>
                  </a:cxn>
                </a:cxnLst>
                <a:rect l="0" t="0" r="r" b="b"/>
                <a:pathLst>
                  <a:path w="370" h="255">
                    <a:moveTo>
                      <a:pt x="0" y="0"/>
                    </a:moveTo>
                    <a:lnTo>
                      <a:pt x="329" y="99"/>
                    </a:lnTo>
                    <a:cubicBezTo>
                      <a:pt x="370" y="136"/>
                      <a:pt x="300" y="255"/>
                      <a:pt x="239" y="222"/>
                    </a:cubicBezTo>
                    <a:cubicBezTo>
                      <a:pt x="163" y="207"/>
                      <a:pt x="124" y="199"/>
                      <a:pt x="124" y="199"/>
                    </a:cubicBezTo>
                    <a:lnTo>
                      <a:pt x="82" y="146"/>
                    </a:lnTo>
                    <a:lnTo>
                      <a:pt x="49" y="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0" name="Freeform 12"/>
              <p:cNvSpPr>
                <a:spLocks/>
              </p:cNvSpPr>
              <p:nvPr/>
            </p:nvSpPr>
            <p:spPr bwMode="auto">
              <a:xfrm rot="4751964" flipH="1">
                <a:off x="6193" y="3122"/>
                <a:ext cx="62" cy="121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4" y="30"/>
                  </a:cxn>
                  <a:cxn ang="0">
                    <a:pos x="34" y="81"/>
                  </a:cxn>
                </a:cxnLst>
                <a:rect l="0" t="0" r="r" b="b"/>
                <a:pathLst>
                  <a:path w="34" h="81">
                    <a:moveTo>
                      <a:pt x="22" y="0"/>
                    </a:moveTo>
                    <a:cubicBezTo>
                      <a:pt x="18" y="18"/>
                      <a:pt x="13" y="16"/>
                      <a:pt x="4" y="30"/>
                    </a:cubicBezTo>
                    <a:cubicBezTo>
                      <a:pt x="8" y="77"/>
                      <a:pt x="0" y="64"/>
                      <a:pt x="34" y="81"/>
                    </a:cubicBez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1" name="Freeform 13"/>
              <p:cNvSpPr>
                <a:spLocks/>
              </p:cNvSpPr>
              <p:nvPr/>
            </p:nvSpPr>
            <p:spPr bwMode="auto">
              <a:xfrm rot="4751964" flipH="1">
                <a:off x="6427" y="3967"/>
                <a:ext cx="169" cy="32"/>
              </a:xfrm>
              <a:custGeom>
                <a:avLst/>
                <a:gdLst/>
                <a:ahLst/>
                <a:cxnLst>
                  <a:cxn ang="0">
                    <a:pos x="93" y="9"/>
                  </a:cxn>
                  <a:cxn ang="0">
                    <a:pos x="75" y="21"/>
                  </a:cxn>
                  <a:cxn ang="0">
                    <a:pos x="0" y="0"/>
                  </a:cxn>
                </a:cxnLst>
                <a:rect l="0" t="0" r="r" b="b"/>
                <a:pathLst>
                  <a:path w="93" h="21">
                    <a:moveTo>
                      <a:pt x="93" y="9"/>
                    </a:moveTo>
                    <a:lnTo>
                      <a:pt x="75" y="2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2" name="Freeform 14"/>
              <p:cNvSpPr>
                <a:spLocks/>
              </p:cNvSpPr>
              <p:nvPr/>
            </p:nvSpPr>
            <p:spPr bwMode="auto">
              <a:xfrm rot="4751964" flipH="1">
                <a:off x="6449" y="3434"/>
                <a:ext cx="88" cy="130"/>
              </a:xfrm>
              <a:custGeom>
                <a:avLst/>
                <a:gdLst/>
                <a:ahLst/>
                <a:cxnLst>
                  <a:cxn ang="0">
                    <a:pos x="48" y="87"/>
                  </a:cxn>
                  <a:cxn ang="0">
                    <a:pos x="24" y="87"/>
                  </a:cxn>
                  <a:cxn ang="0">
                    <a:pos x="0" y="39"/>
                  </a:cxn>
                  <a:cxn ang="0">
                    <a:pos x="9" y="0"/>
                  </a:cxn>
                </a:cxnLst>
                <a:rect l="0" t="0" r="r" b="b"/>
                <a:pathLst>
                  <a:path w="48" h="87">
                    <a:moveTo>
                      <a:pt x="48" y="87"/>
                    </a:moveTo>
                    <a:lnTo>
                      <a:pt x="24" y="87"/>
                    </a:lnTo>
                    <a:lnTo>
                      <a:pt x="0" y="39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3" name="Freeform 15"/>
              <p:cNvSpPr>
                <a:spLocks/>
              </p:cNvSpPr>
              <p:nvPr/>
            </p:nvSpPr>
            <p:spPr bwMode="auto">
              <a:xfrm rot="4751964" flipH="1">
                <a:off x="5993" y="4536"/>
                <a:ext cx="191" cy="112"/>
              </a:xfrm>
              <a:custGeom>
                <a:avLst/>
                <a:gdLst/>
                <a:ahLst/>
                <a:cxnLst>
                  <a:cxn ang="0">
                    <a:pos x="0" y="75"/>
                  </a:cxn>
                  <a:cxn ang="0">
                    <a:pos x="99" y="42"/>
                  </a:cxn>
                  <a:cxn ang="0">
                    <a:pos x="105" y="0"/>
                  </a:cxn>
                </a:cxnLst>
                <a:rect l="0" t="0" r="r" b="b"/>
                <a:pathLst>
                  <a:path w="105" h="75">
                    <a:moveTo>
                      <a:pt x="0" y="75"/>
                    </a:moveTo>
                    <a:lnTo>
                      <a:pt x="99" y="42"/>
                    </a:lnTo>
                    <a:lnTo>
                      <a:pt x="105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4" name="Freeform 16"/>
              <p:cNvSpPr>
                <a:spLocks/>
              </p:cNvSpPr>
              <p:nvPr/>
            </p:nvSpPr>
            <p:spPr bwMode="auto">
              <a:xfrm rot="4751964" flipH="1">
                <a:off x="5661" y="4693"/>
                <a:ext cx="164" cy="1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9" y="0"/>
                  </a:cxn>
                  <a:cxn ang="0">
                    <a:pos x="90" y="42"/>
                  </a:cxn>
                  <a:cxn ang="0">
                    <a:pos x="69" y="90"/>
                  </a:cxn>
                </a:cxnLst>
                <a:rect l="0" t="0" r="r" b="b"/>
                <a:pathLst>
                  <a:path w="90" h="90">
                    <a:moveTo>
                      <a:pt x="0" y="0"/>
                    </a:moveTo>
                    <a:lnTo>
                      <a:pt x="39" y="0"/>
                    </a:lnTo>
                    <a:lnTo>
                      <a:pt x="90" y="42"/>
                    </a:lnTo>
                    <a:lnTo>
                      <a:pt x="69" y="9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5" name="Line 17"/>
              <p:cNvSpPr>
                <a:spLocks noChangeShapeType="1"/>
              </p:cNvSpPr>
              <p:nvPr/>
            </p:nvSpPr>
            <p:spPr bwMode="auto">
              <a:xfrm rot="26351964" flipH="1" flipV="1">
                <a:off x="6357" y="3768"/>
                <a:ext cx="5" cy="6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6" name="Line 18"/>
              <p:cNvSpPr>
                <a:spLocks noChangeShapeType="1"/>
              </p:cNvSpPr>
              <p:nvPr/>
            </p:nvSpPr>
            <p:spPr bwMode="auto">
              <a:xfrm rot="26351964" flipH="1" flipV="1">
                <a:off x="6098" y="3517"/>
                <a:ext cx="33" cy="5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7" name="Line 19"/>
              <p:cNvSpPr>
                <a:spLocks noChangeShapeType="1"/>
              </p:cNvSpPr>
              <p:nvPr/>
            </p:nvSpPr>
            <p:spPr bwMode="auto">
              <a:xfrm rot="4751964" flipV="1">
                <a:off x="6010" y="4282"/>
                <a:ext cx="6" cy="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8" name="Line 20"/>
              <p:cNvSpPr>
                <a:spLocks noChangeShapeType="1"/>
              </p:cNvSpPr>
              <p:nvPr/>
            </p:nvSpPr>
            <p:spPr bwMode="auto">
              <a:xfrm rot="4751964" flipV="1">
                <a:off x="5952" y="3914"/>
                <a:ext cx="27" cy="11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9" name="Line 21"/>
              <p:cNvSpPr>
                <a:spLocks noChangeShapeType="1"/>
              </p:cNvSpPr>
              <p:nvPr/>
            </p:nvSpPr>
            <p:spPr bwMode="auto">
              <a:xfrm rot="4751964" flipH="1">
                <a:off x="5660" y="3693"/>
                <a:ext cx="114" cy="3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 rot="26351964">
                <a:off x="5480" y="3697"/>
                <a:ext cx="5" cy="15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2071" name="Freeform 23"/>
            <p:cNvSpPr>
              <a:spLocks/>
            </p:cNvSpPr>
            <p:nvPr/>
          </p:nvSpPr>
          <p:spPr bwMode="auto">
            <a:xfrm>
              <a:off x="1772" y="8786"/>
              <a:ext cx="2606" cy="390"/>
            </a:xfrm>
            <a:custGeom>
              <a:avLst/>
              <a:gdLst/>
              <a:ahLst/>
              <a:cxnLst>
                <a:cxn ang="0">
                  <a:pos x="3070" y="215"/>
                </a:cxn>
                <a:cxn ang="0">
                  <a:pos x="0" y="194"/>
                </a:cxn>
                <a:cxn ang="0">
                  <a:pos x="1510" y="406"/>
                </a:cxn>
                <a:cxn ang="0">
                  <a:pos x="3070" y="215"/>
                </a:cxn>
              </a:cxnLst>
              <a:rect l="0" t="0" r="r" b="b"/>
              <a:pathLst>
                <a:path w="3070" h="432">
                  <a:moveTo>
                    <a:pt x="3070" y="215"/>
                  </a:moveTo>
                  <a:cubicBezTo>
                    <a:pt x="2958" y="0"/>
                    <a:pt x="169" y="0"/>
                    <a:pt x="0" y="194"/>
                  </a:cubicBezTo>
                  <a:cubicBezTo>
                    <a:pt x="157" y="432"/>
                    <a:pt x="1510" y="406"/>
                    <a:pt x="1510" y="406"/>
                  </a:cubicBezTo>
                  <a:cubicBezTo>
                    <a:pt x="1510" y="406"/>
                    <a:pt x="2747" y="426"/>
                    <a:pt x="3070" y="215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370390" y="4441784"/>
            <a:ext cx="11274447" cy="1213946"/>
            <a:chOff x="370390" y="4441784"/>
            <a:chExt cx="11274447" cy="1213946"/>
          </a:xfrm>
        </p:grpSpPr>
        <p:sp>
          <p:nvSpPr>
            <p:cNvPr id="16" name="ZoneTexte 15"/>
            <p:cNvSpPr txBox="1"/>
            <p:nvPr/>
          </p:nvSpPr>
          <p:spPr>
            <a:xfrm>
              <a:off x="370390" y="4455401"/>
              <a:ext cx="112744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SA" sz="2400" b="1" u="dbl" dirty="0" smtClean="0">
                  <a:solidFill>
                    <a:srgbClr val="0000FF"/>
                  </a:solidFill>
                  <a:latin typeface="Traditional Arabic" pitchFamily="18" charset="-78"/>
                  <a:cs typeface="Traditional Arabic" pitchFamily="18" charset="-78"/>
                </a:rPr>
                <a:t>الاستنتاج</a:t>
              </a:r>
              <a:r>
                <a:rPr lang="ar-DZ" sz="2400" b="1" u="dbl" dirty="0" smtClean="0">
                  <a:solidFill>
                    <a:srgbClr val="0000FF"/>
                  </a:solidFill>
                  <a:latin typeface="Traditional Arabic" pitchFamily="18" charset="-78"/>
                  <a:cs typeface="Traditional Arabic" pitchFamily="18" charset="-78"/>
                </a:rPr>
                <a:t>:</a:t>
              </a:r>
              <a:r>
                <a:rPr lang="en-US" sz="2400" b="1" dirty="0" smtClean="0">
                  <a:solidFill>
                    <a:srgbClr val="0000FF"/>
                  </a:solidFill>
                  <a:latin typeface="Traditional Arabic" pitchFamily="18" charset="-78"/>
                  <a:cs typeface="Traditional Arabic" pitchFamily="18" charset="-78"/>
                  <a:sym typeface="Wingdings"/>
                </a:rPr>
                <a:t> </a:t>
              </a:r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  <a:sym typeface="Wingdings"/>
                </a:rPr>
                <a:t></a:t>
              </a:r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</a:rPr>
                <a:t> </a:t>
              </a:r>
              <a:r>
                <a:rPr lang="ar-SA" sz="2400" b="1" dirty="0" smtClean="0">
                  <a:latin typeface="Traditional Arabic" pitchFamily="18" charset="-78"/>
                  <a:cs typeface="Traditional Arabic" pitchFamily="18" charset="-78"/>
                </a:rPr>
                <a:t>نسمي القوة التي تدفع </a:t>
              </a:r>
              <a:r>
                <a:rPr lang="ar-SA" sz="2400" b="1" dirty="0" err="1" smtClean="0">
                  <a:latin typeface="Traditional Arabic" pitchFamily="18" charset="-78"/>
                  <a:cs typeface="Traditional Arabic" pitchFamily="18" charset="-78"/>
                </a:rPr>
                <a:t>بها</a:t>
              </a:r>
              <a:r>
                <a:rPr lang="ar-SA" sz="2400" b="1" dirty="0" smtClean="0">
                  <a:latin typeface="Traditional Arabic" pitchFamily="18" charset="-78"/>
                  <a:cs typeface="Traditional Arabic" pitchFamily="18" charset="-78"/>
                </a:rPr>
                <a:t> السوائل الأجسام المغمورة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 </a:t>
              </a:r>
              <a:r>
                <a:rPr lang="ar-SA" sz="2400" b="1" dirty="0" smtClean="0">
                  <a:latin typeface="Traditional Arabic" pitchFamily="18" charset="-78"/>
                  <a:cs typeface="Traditional Arabic" pitchFamily="18" charset="-78"/>
                </a:rPr>
                <a:t>فيها كليا أو جزئياً بدافعة </a:t>
              </a:r>
              <a:r>
                <a:rPr lang="ar-SA" sz="2400" b="1" dirty="0" err="1" smtClean="0">
                  <a:latin typeface="Traditional Arabic" pitchFamily="18" charset="-78"/>
                  <a:cs typeface="Traditional Arabic" pitchFamily="18" charset="-78"/>
                </a:rPr>
                <a:t>أرخميدس</a:t>
              </a:r>
              <a:r>
                <a:rPr lang="ar-SA" sz="2400" b="1" dirty="0" smtClean="0">
                  <a:latin typeface="Traditional Arabic" pitchFamily="18" charset="-78"/>
                  <a:cs typeface="Traditional Arabic" pitchFamily="18" charset="-78"/>
                </a:rPr>
                <a:t> ونرمز لها بالرمز 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(     )</a:t>
              </a:r>
            </a:p>
            <a:p>
              <a:pPr algn="r" rtl="1"/>
              <a:endParaRPr lang="fr-FR" sz="2400" b="1" dirty="0">
                <a:latin typeface="Traditional Arabic" pitchFamily="18" charset="-78"/>
                <a:cs typeface="Traditional Arabic" pitchFamily="18" charset="-78"/>
              </a:endParaRPr>
            </a:p>
          </p:txBody>
        </p:sp>
        <p:grpSp>
          <p:nvGrpSpPr>
            <p:cNvPr id="45" name="Groupe 44"/>
            <p:cNvGrpSpPr/>
            <p:nvPr/>
          </p:nvGrpSpPr>
          <p:grpSpPr>
            <a:xfrm>
              <a:off x="1061287" y="4441784"/>
              <a:ext cx="707812" cy="523220"/>
              <a:chOff x="3054517" y="4870048"/>
              <a:chExt cx="662190" cy="523220"/>
            </a:xfrm>
          </p:grpSpPr>
          <p:sp>
            <p:nvSpPr>
              <p:cNvPr id="39" name="ZoneTexte 38"/>
              <p:cNvSpPr txBox="1"/>
              <p:nvPr/>
            </p:nvSpPr>
            <p:spPr>
              <a:xfrm>
                <a:off x="3054517" y="4870048"/>
                <a:ext cx="6621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b="1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fr-FR" b="1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fr-FR" sz="28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41" name="Connecteur droit avec flèche 40"/>
              <p:cNvCxnSpPr/>
              <p:nvPr/>
            </p:nvCxnSpPr>
            <p:spPr>
              <a:xfrm flipV="1">
                <a:off x="3169851" y="4953788"/>
                <a:ext cx="408032" cy="5645"/>
              </a:xfrm>
              <a:prstGeom prst="straightConnector1">
                <a:avLst/>
              </a:prstGeom>
              <a:ln w="28575" cmpd="sng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1"/>
      <p:bldP spid="14" grpId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chemin horizontal 11"/>
          <p:cNvSpPr/>
          <p:nvPr/>
        </p:nvSpPr>
        <p:spPr>
          <a:xfrm>
            <a:off x="2111189" y="0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>
              <a:buFont typeface="+mj-lt"/>
              <a:buAutoNum type="romanUcPeriod"/>
            </a:pP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خصائص دافعة </a:t>
            </a:r>
            <a:r>
              <a:rPr lang="ar-DZ" sz="32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684494" y="1277471"/>
            <a:ext cx="816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النشاط01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اكتشاف الثقل الظاهري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902036" y="2003612"/>
            <a:ext cx="5958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Font typeface="Wingdings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نعلق جسما (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في خطاف ربيعة ونقيس ثقله في الهواء.</a:t>
            </a:r>
          </a:p>
          <a:p>
            <a:pPr algn="r" rtl="1">
              <a:buFont typeface="Wingdings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نقيس ثقل الجسم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بعد غمره في الماء باستعمال وعاء خاص يسمح بتجميع الماء المزاح كما في الوثيقة (</a:t>
            </a:r>
            <a:r>
              <a:rPr lang="ar-DZ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445829" y="3823331"/>
            <a:ext cx="4432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400" b="1" u="dbl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الملاحظة</a:t>
            </a:r>
            <a:r>
              <a:rPr lang="en-US" sz="24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 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قيمة ثقل الجسم (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في الماء أقل </a:t>
            </a:r>
            <a:r>
              <a:rPr lang="fr-FR" sz="2400" b="1" dirty="0" smtClean="0">
                <a:latin typeface="Traditional Arabic" pitchFamily="18" charset="-78"/>
                <a:cs typeface="Traditional Arabic" pitchFamily="18" charset="-78"/>
              </a:rPr>
              <a:t>                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من ثقله داخل الماء.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244228" y="1032597"/>
            <a:ext cx="3579627" cy="3421062"/>
            <a:chOff x="1688" y="1179"/>
            <a:chExt cx="5338" cy="5388"/>
          </a:xfrm>
        </p:grpSpPr>
        <p:grpSp>
          <p:nvGrpSpPr>
            <p:cNvPr id="1027" name="Group 3"/>
            <p:cNvGrpSpPr>
              <a:grpSpLocks/>
            </p:cNvGrpSpPr>
            <p:nvPr/>
          </p:nvGrpSpPr>
          <p:grpSpPr bwMode="auto">
            <a:xfrm>
              <a:off x="1688" y="1192"/>
              <a:ext cx="2611" cy="4867"/>
              <a:chOff x="2602" y="939"/>
              <a:chExt cx="3609" cy="6211"/>
            </a:xfrm>
          </p:grpSpPr>
          <p:sp>
            <p:nvSpPr>
              <p:cNvPr id="1028" name="Freeform 4"/>
              <p:cNvSpPr>
                <a:spLocks/>
              </p:cNvSpPr>
              <p:nvPr/>
            </p:nvSpPr>
            <p:spPr bwMode="auto">
              <a:xfrm>
                <a:off x="2602" y="6400"/>
                <a:ext cx="3609" cy="620"/>
              </a:xfrm>
              <a:custGeom>
                <a:avLst/>
                <a:gdLst/>
                <a:ahLst/>
                <a:cxnLst>
                  <a:cxn ang="0">
                    <a:pos x="4255" y="0"/>
                  </a:cxn>
                  <a:cxn ang="0">
                    <a:pos x="4526" y="779"/>
                  </a:cxn>
                  <a:cxn ang="0">
                    <a:pos x="0" y="783"/>
                  </a:cxn>
                  <a:cxn ang="0">
                    <a:pos x="224" y="0"/>
                  </a:cxn>
                  <a:cxn ang="0">
                    <a:pos x="4255" y="0"/>
                  </a:cxn>
                </a:cxnLst>
                <a:rect l="0" t="0" r="r" b="b"/>
                <a:pathLst>
                  <a:path w="4526" h="783">
                    <a:moveTo>
                      <a:pt x="4255" y="0"/>
                    </a:moveTo>
                    <a:lnTo>
                      <a:pt x="4526" y="779"/>
                    </a:lnTo>
                    <a:lnTo>
                      <a:pt x="0" y="783"/>
                    </a:lnTo>
                    <a:lnTo>
                      <a:pt x="224" y="0"/>
                    </a:lnTo>
                    <a:lnTo>
                      <a:pt x="4255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029" name="Group 5"/>
              <p:cNvGrpSpPr>
                <a:grpSpLocks/>
              </p:cNvGrpSpPr>
              <p:nvPr/>
            </p:nvGrpSpPr>
            <p:grpSpPr bwMode="auto">
              <a:xfrm>
                <a:off x="3844" y="1318"/>
                <a:ext cx="535" cy="2569"/>
                <a:chOff x="7649" y="1203"/>
                <a:chExt cx="672" cy="3245"/>
              </a:xfrm>
            </p:grpSpPr>
            <p:sp>
              <p:nvSpPr>
                <p:cNvPr id="103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673" y="2450"/>
                  <a:ext cx="329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1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3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7661" y="2079"/>
                  <a:ext cx="309" cy="2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Arial" pitchFamily="34" charset="0"/>
                      <a:cs typeface="Arial" pitchFamily="34" charset="0"/>
                    </a:rPr>
                    <a:t>0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32" name="Rectangle 8"/>
                <p:cNvSpPr>
                  <a:spLocks noChangeArrowheads="1"/>
                </p:cNvSpPr>
                <p:nvPr/>
              </p:nvSpPr>
              <p:spPr bwMode="auto">
                <a:xfrm>
                  <a:off x="7742" y="1610"/>
                  <a:ext cx="579" cy="2561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33" name="Freeform 9"/>
                <p:cNvSpPr>
                  <a:spLocks/>
                </p:cNvSpPr>
                <p:nvPr/>
              </p:nvSpPr>
              <p:spPr bwMode="auto">
                <a:xfrm>
                  <a:off x="7870" y="1203"/>
                  <a:ext cx="233" cy="447"/>
                </a:xfrm>
                <a:custGeom>
                  <a:avLst/>
                  <a:gdLst/>
                  <a:ahLst/>
                  <a:cxnLst>
                    <a:cxn ang="0">
                      <a:pos x="157" y="447"/>
                    </a:cxn>
                    <a:cxn ang="0">
                      <a:pos x="149" y="205"/>
                    </a:cxn>
                    <a:cxn ang="0">
                      <a:pos x="149" y="14"/>
                    </a:cxn>
                    <a:cxn ang="0">
                      <a:pos x="233" y="71"/>
                    </a:cxn>
                  </a:cxnLst>
                  <a:rect l="0" t="0" r="r" b="b"/>
                  <a:pathLst>
                    <a:path w="233" h="447">
                      <a:moveTo>
                        <a:pt x="157" y="447"/>
                      </a:moveTo>
                      <a:cubicBezTo>
                        <a:pt x="160" y="378"/>
                        <a:pt x="149" y="255"/>
                        <a:pt x="149" y="205"/>
                      </a:cubicBezTo>
                      <a:cubicBezTo>
                        <a:pt x="0" y="210"/>
                        <a:pt x="7" y="0"/>
                        <a:pt x="149" y="14"/>
                      </a:cubicBezTo>
                      <a:cubicBezTo>
                        <a:pt x="221" y="28"/>
                        <a:pt x="233" y="71"/>
                        <a:pt x="233" y="71"/>
                      </a:cubicBez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34" name="Freeform 10"/>
                <p:cNvSpPr>
                  <a:spLocks/>
                </p:cNvSpPr>
                <p:nvPr/>
              </p:nvSpPr>
              <p:spPr bwMode="auto">
                <a:xfrm>
                  <a:off x="7871" y="2921"/>
                  <a:ext cx="233" cy="1527"/>
                </a:xfrm>
                <a:custGeom>
                  <a:avLst/>
                  <a:gdLst/>
                  <a:ahLst/>
                  <a:cxnLst>
                    <a:cxn ang="0">
                      <a:pos x="147" y="0"/>
                    </a:cxn>
                    <a:cxn ang="0">
                      <a:pos x="149" y="1327"/>
                    </a:cxn>
                    <a:cxn ang="0">
                      <a:pos x="149" y="1513"/>
                    </a:cxn>
                    <a:cxn ang="0">
                      <a:pos x="233" y="1458"/>
                    </a:cxn>
                  </a:cxnLst>
                  <a:rect l="0" t="0" r="r" b="b"/>
                  <a:pathLst>
                    <a:path w="233" h="1527">
                      <a:moveTo>
                        <a:pt x="147" y="0"/>
                      </a:moveTo>
                      <a:cubicBezTo>
                        <a:pt x="147" y="222"/>
                        <a:pt x="149" y="1075"/>
                        <a:pt x="149" y="1327"/>
                      </a:cubicBezTo>
                      <a:cubicBezTo>
                        <a:pt x="0" y="1322"/>
                        <a:pt x="7" y="1527"/>
                        <a:pt x="149" y="1513"/>
                      </a:cubicBezTo>
                      <a:cubicBezTo>
                        <a:pt x="221" y="1500"/>
                        <a:pt x="233" y="1458"/>
                        <a:pt x="233" y="1458"/>
                      </a:cubicBez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35" name="Freeform 11"/>
                <p:cNvSpPr>
                  <a:spLocks/>
                </p:cNvSpPr>
                <p:nvPr/>
              </p:nvSpPr>
              <p:spPr bwMode="auto">
                <a:xfrm>
                  <a:off x="7897" y="2909"/>
                  <a:ext cx="244" cy="71"/>
                </a:xfrm>
                <a:custGeom>
                  <a:avLst/>
                  <a:gdLst/>
                  <a:ahLst/>
                  <a:cxnLst>
                    <a:cxn ang="0">
                      <a:pos x="0" y="36"/>
                    </a:cxn>
                    <a:cxn ang="0">
                      <a:pos x="94" y="0"/>
                    </a:cxn>
                    <a:cxn ang="0">
                      <a:pos x="361" y="0"/>
                    </a:cxn>
                    <a:cxn ang="0">
                      <a:pos x="469" y="36"/>
                    </a:cxn>
                    <a:cxn ang="0">
                      <a:pos x="361" y="69"/>
                    </a:cxn>
                    <a:cxn ang="0">
                      <a:pos x="91" y="69"/>
                    </a:cxn>
                    <a:cxn ang="0">
                      <a:pos x="0" y="36"/>
                    </a:cxn>
                  </a:cxnLst>
                  <a:rect l="0" t="0" r="r" b="b"/>
                  <a:pathLst>
                    <a:path w="469" h="69">
                      <a:moveTo>
                        <a:pt x="0" y="36"/>
                      </a:moveTo>
                      <a:lnTo>
                        <a:pt x="94" y="0"/>
                      </a:lnTo>
                      <a:lnTo>
                        <a:pt x="361" y="0"/>
                      </a:lnTo>
                      <a:lnTo>
                        <a:pt x="469" y="36"/>
                      </a:lnTo>
                      <a:lnTo>
                        <a:pt x="361" y="69"/>
                      </a:lnTo>
                      <a:lnTo>
                        <a:pt x="91" y="6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36" name="Freeform 12"/>
                <p:cNvSpPr>
                  <a:spLocks/>
                </p:cNvSpPr>
                <p:nvPr/>
              </p:nvSpPr>
              <p:spPr bwMode="auto">
                <a:xfrm rot="-263923">
                  <a:off x="7923" y="2011"/>
                  <a:ext cx="78" cy="104"/>
                </a:xfrm>
                <a:custGeom>
                  <a:avLst/>
                  <a:gdLst/>
                  <a:ahLst/>
                  <a:cxnLst>
                    <a:cxn ang="0">
                      <a:pos x="88" y="110"/>
                    </a:cxn>
                    <a:cxn ang="0">
                      <a:pos x="25" y="0"/>
                    </a:cxn>
                  </a:cxnLst>
                  <a:rect l="0" t="0" r="r" b="b"/>
                  <a:pathLst>
                    <a:path w="88" h="110">
                      <a:moveTo>
                        <a:pt x="88" y="110"/>
                      </a:moveTo>
                      <a:cubicBezTo>
                        <a:pt x="0" y="87"/>
                        <a:pt x="25" y="0"/>
                        <a:pt x="25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3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661" y="2813"/>
                  <a:ext cx="329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2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649" y="3214"/>
                  <a:ext cx="329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3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3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661" y="3591"/>
                  <a:ext cx="329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4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7659" y="3912"/>
                  <a:ext cx="329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5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041" name="Group 17"/>
                <p:cNvGrpSpPr>
                  <a:grpSpLocks/>
                </p:cNvGrpSpPr>
                <p:nvPr/>
              </p:nvGrpSpPr>
              <p:grpSpPr bwMode="auto">
                <a:xfrm>
                  <a:off x="8151" y="2185"/>
                  <a:ext cx="147" cy="1896"/>
                  <a:chOff x="8151" y="2185"/>
                  <a:chExt cx="147" cy="1896"/>
                </a:xfrm>
              </p:grpSpPr>
              <p:sp>
                <p:nvSpPr>
                  <p:cNvPr id="1042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2185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3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2375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4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2566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5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2757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6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3139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7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3330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8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3521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4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2948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0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3712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1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8151" y="3903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2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2275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2465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4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2656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5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2847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6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229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7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420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8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611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59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038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0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802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1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203" y="3993"/>
                    <a:ext cx="9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2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8156" y="4081"/>
                    <a:ext cx="1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63" name="AutoShape 39" descr="noir)"/>
                <p:cNvSpPr>
                  <a:spLocks noChangeArrowheads="1"/>
                </p:cNvSpPr>
                <p:nvPr/>
              </p:nvSpPr>
              <p:spPr bwMode="auto">
                <a:xfrm>
                  <a:off x="7852" y="1485"/>
                  <a:ext cx="345" cy="119"/>
                </a:xfrm>
                <a:prstGeom prst="can">
                  <a:avLst>
                    <a:gd name="adj" fmla="val 45380"/>
                  </a:avLst>
                </a:prstGeom>
                <a:pattFill prst="ltVert">
                  <a:fgClr>
                    <a:srgbClr val="404040"/>
                  </a:fgClr>
                  <a:bgClr>
                    <a:srgbClr val="FFFFFF"/>
                  </a:bgClr>
                </a:patt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cxnSp>
              <p:nvCxnSpPr>
                <p:cNvPr id="1064" name="AutoShape 40"/>
                <p:cNvCxnSpPr>
                  <a:cxnSpLocks noChangeShapeType="1"/>
                </p:cNvCxnSpPr>
                <p:nvPr/>
              </p:nvCxnSpPr>
              <p:spPr bwMode="auto">
                <a:xfrm>
                  <a:off x="8021" y="1467"/>
                  <a:ext cx="0" cy="47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grpSp>
              <p:nvGrpSpPr>
                <p:cNvPr id="1065" name="Group 41"/>
                <p:cNvGrpSpPr>
                  <a:grpSpLocks/>
                </p:cNvGrpSpPr>
                <p:nvPr/>
              </p:nvGrpSpPr>
              <p:grpSpPr bwMode="auto">
                <a:xfrm flipV="1">
                  <a:off x="7927" y="1605"/>
                  <a:ext cx="185" cy="1294"/>
                  <a:chOff x="9731" y="1066"/>
                  <a:chExt cx="185" cy="969"/>
                </a:xfrm>
              </p:grpSpPr>
              <p:sp>
                <p:nvSpPr>
                  <p:cNvPr id="1066" name="Oval 42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140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7" name="Oval 4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198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8" name="Oval 44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256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69" name="Oval 45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314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0" name="Oval 4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372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1" name="Oval 47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1" y="1430"/>
                    <a:ext cx="180" cy="18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2" name="Oval 4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492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3" name="Oval 4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550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4" name="Oval 50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608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5" name="Oval 51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666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6" name="Oval 52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724"/>
                    <a:ext cx="180" cy="1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7" name="Oval 5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9736" y="1782"/>
                    <a:ext cx="180" cy="18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8" name="Line 5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9776" y="1103"/>
                    <a:ext cx="7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79" name="Line 5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9794" y="1998"/>
                    <a:ext cx="7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080" name="AutoShape 56"/>
              <p:cNvSpPr>
                <a:spLocks noChangeArrowheads="1"/>
              </p:cNvSpPr>
              <p:nvPr/>
            </p:nvSpPr>
            <p:spPr bwMode="auto">
              <a:xfrm>
                <a:off x="2784" y="939"/>
                <a:ext cx="142" cy="5786"/>
              </a:xfrm>
              <a:prstGeom prst="can">
                <a:avLst>
                  <a:gd name="adj" fmla="val 17166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1" name="Rectangle 57"/>
              <p:cNvSpPr>
                <a:spLocks noChangeArrowheads="1"/>
              </p:cNvSpPr>
              <p:nvPr/>
            </p:nvSpPr>
            <p:spPr bwMode="auto">
              <a:xfrm>
                <a:off x="2602" y="7016"/>
                <a:ext cx="3607" cy="134"/>
              </a:xfrm>
              <a:prstGeom prst="rect">
                <a:avLst/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082" name="Group 58"/>
              <p:cNvGrpSpPr>
                <a:grpSpLocks/>
              </p:cNvGrpSpPr>
              <p:nvPr/>
            </p:nvGrpSpPr>
            <p:grpSpPr bwMode="auto">
              <a:xfrm>
                <a:off x="4088" y="1165"/>
                <a:ext cx="77" cy="217"/>
                <a:chOff x="4176" y="729"/>
                <a:chExt cx="96" cy="274"/>
              </a:xfrm>
            </p:grpSpPr>
            <p:sp>
              <p:nvSpPr>
                <p:cNvPr id="1083" name="AutoShape 59"/>
                <p:cNvSpPr>
                  <a:spLocks noChangeArrowheads="1"/>
                </p:cNvSpPr>
                <p:nvPr/>
              </p:nvSpPr>
              <p:spPr bwMode="auto">
                <a:xfrm>
                  <a:off x="4192" y="729"/>
                  <a:ext cx="57" cy="164"/>
                </a:xfrm>
                <a:prstGeom prst="can">
                  <a:avLst>
                    <a:gd name="adj" fmla="val 12961"/>
                  </a:avLst>
                </a:prstGeom>
                <a:solidFill>
                  <a:srgbClr val="80808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84" name="AutoShape 60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149" y="881"/>
                  <a:ext cx="149" cy="96"/>
                </a:xfrm>
                <a:custGeom>
                  <a:avLst/>
                  <a:gdLst>
                    <a:gd name="G0" fmla="+- 4932 0 0"/>
                    <a:gd name="G1" fmla="+- 7482558 0 0"/>
                    <a:gd name="G2" fmla="+- 0 0 7482558"/>
                    <a:gd name="T0" fmla="*/ 0 256 1"/>
                    <a:gd name="T1" fmla="*/ 180 256 1"/>
                    <a:gd name="G3" fmla="+- 7482558 T0 T1"/>
                    <a:gd name="T2" fmla="*/ 0 256 1"/>
                    <a:gd name="T3" fmla="*/ 90 256 1"/>
                    <a:gd name="G4" fmla="+- 7482558 T2 T3"/>
                    <a:gd name="G5" fmla="*/ G4 2 1"/>
                    <a:gd name="T4" fmla="*/ 90 256 1"/>
                    <a:gd name="T5" fmla="*/ 0 256 1"/>
                    <a:gd name="G6" fmla="+- 7482558 T4 T5"/>
                    <a:gd name="G7" fmla="*/ G6 2 1"/>
                    <a:gd name="G8" fmla="abs 7482558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4932"/>
                    <a:gd name="G18" fmla="*/ 4932 1 2"/>
                    <a:gd name="G19" fmla="+- G18 5400 0"/>
                    <a:gd name="G20" fmla="cos G19 7482558"/>
                    <a:gd name="G21" fmla="sin G19 7482558"/>
                    <a:gd name="G22" fmla="+- G20 10800 0"/>
                    <a:gd name="G23" fmla="+- G21 10800 0"/>
                    <a:gd name="G24" fmla="+- 10800 0 G20"/>
                    <a:gd name="G25" fmla="+- 4932 10800 0"/>
                    <a:gd name="G26" fmla="?: G9 G17 G25"/>
                    <a:gd name="G27" fmla="?: G9 0 21600"/>
                    <a:gd name="G28" fmla="cos 10800 7482558"/>
                    <a:gd name="G29" fmla="sin 10800 7482558"/>
                    <a:gd name="G30" fmla="sin 4932 7482558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7482558 G34 0"/>
                    <a:gd name="G36" fmla="?: G6 G35 G31"/>
                    <a:gd name="G37" fmla="+- 21600 0 G36"/>
                    <a:gd name="G38" fmla="?: G4 0 G33"/>
                    <a:gd name="G39" fmla="?: 7482558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7578 w 21600"/>
                    <a:gd name="T15" fmla="*/ 17976 h 21600"/>
                    <a:gd name="T16" fmla="*/ 10800 w 21600"/>
                    <a:gd name="T17" fmla="*/ 5868 h 21600"/>
                    <a:gd name="T18" fmla="*/ 14022 w 21600"/>
                    <a:gd name="T19" fmla="*/ 17976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8780" y="15299"/>
                      </a:moveTo>
                      <a:cubicBezTo>
                        <a:pt x="7008" y="14503"/>
                        <a:pt x="5868" y="12742"/>
                        <a:pt x="5868" y="10800"/>
                      </a:cubicBezTo>
                      <a:cubicBezTo>
                        <a:pt x="5868" y="8076"/>
                        <a:pt x="8076" y="5868"/>
                        <a:pt x="10800" y="5868"/>
                      </a:cubicBezTo>
                      <a:cubicBezTo>
                        <a:pt x="13523" y="5868"/>
                        <a:pt x="15732" y="8076"/>
                        <a:pt x="15732" y="10800"/>
                      </a:cubicBezTo>
                      <a:cubicBezTo>
                        <a:pt x="15732" y="12742"/>
                        <a:pt x="14591" y="14503"/>
                        <a:pt x="12819" y="15299"/>
                      </a:cubicBezTo>
                      <a:lnTo>
                        <a:pt x="15222" y="20652"/>
                      </a:lnTo>
                      <a:cubicBezTo>
                        <a:pt x="19103" y="18910"/>
                        <a:pt x="21600" y="15053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5053"/>
                        <a:pt x="2496" y="18910"/>
                        <a:pt x="6377" y="20652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085" name="Freeform 61"/>
                <p:cNvSpPr>
                  <a:spLocks/>
                </p:cNvSpPr>
                <p:nvPr/>
              </p:nvSpPr>
              <p:spPr bwMode="auto">
                <a:xfrm>
                  <a:off x="4204" y="831"/>
                  <a:ext cx="40" cy="37"/>
                </a:xfrm>
                <a:custGeom>
                  <a:avLst/>
                  <a:gdLst/>
                  <a:ahLst/>
                  <a:cxnLst>
                    <a:cxn ang="0">
                      <a:pos x="57" y="36"/>
                    </a:cxn>
                    <a:cxn ang="0">
                      <a:pos x="0" y="37"/>
                    </a:cxn>
                  </a:cxnLst>
                  <a:rect l="0" t="0" r="r" b="b"/>
                  <a:pathLst>
                    <a:path w="57" h="37">
                      <a:moveTo>
                        <a:pt x="57" y="36"/>
                      </a:moveTo>
                      <a:cubicBezTo>
                        <a:pt x="26" y="0"/>
                        <a:pt x="0" y="37"/>
                        <a:pt x="0" y="37"/>
                      </a:cubicBezTo>
                    </a:path>
                  </a:pathLst>
                </a:cu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086" name="AutoShape 62"/>
              <p:cNvSpPr>
                <a:spLocks noChangeArrowheads="1"/>
              </p:cNvSpPr>
              <p:nvPr/>
            </p:nvSpPr>
            <p:spPr bwMode="auto">
              <a:xfrm rot="5400000">
                <a:off x="3333" y="461"/>
                <a:ext cx="45" cy="1401"/>
              </a:xfrm>
              <a:prstGeom prst="can">
                <a:avLst>
                  <a:gd name="adj" fmla="val 5044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7" name="AutoShape 63" descr="blanc)"/>
              <p:cNvSpPr>
                <a:spLocks noChangeArrowheads="1"/>
              </p:cNvSpPr>
              <p:nvPr/>
            </p:nvSpPr>
            <p:spPr bwMode="auto">
              <a:xfrm rot="-5400000">
                <a:off x="2524" y="1122"/>
                <a:ext cx="247" cy="83"/>
              </a:xfrm>
              <a:prstGeom prst="flowChartMagneticDisk">
                <a:avLst/>
              </a:prstGeom>
              <a:pattFill prst="dkHorz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8" name="AutoShape 64"/>
              <p:cNvSpPr>
                <a:spLocks noChangeArrowheads="1"/>
              </p:cNvSpPr>
              <p:nvPr/>
            </p:nvSpPr>
            <p:spPr bwMode="auto">
              <a:xfrm>
                <a:off x="2734" y="1063"/>
                <a:ext cx="248" cy="183"/>
              </a:xfrm>
              <a:prstGeom prst="roundRect">
                <a:avLst>
                  <a:gd name="adj" fmla="val 240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9" name="AutoShape 65"/>
              <p:cNvSpPr>
                <a:spLocks noChangeArrowheads="1"/>
              </p:cNvSpPr>
              <p:nvPr/>
            </p:nvSpPr>
            <p:spPr bwMode="auto">
              <a:xfrm>
                <a:off x="2982" y="1101"/>
                <a:ext cx="114" cy="11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0" name="Oval 66"/>
              <p:cNvSpPr>
                <a:spLocks noChangeArrowheads="1"/>
              </p:cNvSpPr>
              <p:nvPr/>
            </p:nvSpPr>
            <p:spPr bwMode="auto">
              <a:xfrm>
                <a:off x="4033" y="1058"/>
                <a:ext cx="199" cy="197"/>
              </a:xfrm>
              <a:prstGeom prst="ellipse">
                <a:avLst/>
              </a:prstGeom>
              <a:solidFill>
                <a:srgbClr val="7F7F7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1" name="Oval 67"/>
              <p:cNvSpPr>
                <a:spLocks noChangeArrowheads="1"/>
              </p:cNvSpPr>
              <p:nvPr/>
            </p:nvSpPr>
            <p:spPr bwMode="auto">
              <a:xfrm>
                <a:off x="4058" y="1083"/>
                <a:ext cx="144" cy="14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2" name="Oval 68"/>
              <p:cNvSpPr>
                <a:spLocks noChangeArrowheads="1"/>
              </p:cNvSpPr>
              <p:nvPr/>
            </p:nvSpPr>
            <p:spPr bwMode="auto">
              <a:xfrm>
                <a:off x="4080" y="1107"/>
                <a:ext cx="100" cy="99"/>
              </a:xfrm>
              <a:prstGeom prst="ellipse">
                <a:avLst/>
              </a:prstGeom>
              <a:solidFill>
                <a:srgbClr val="938953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3" name="Freeform 69"/>
              <p:cNvSpPr>
                <a:spLocks/>
              </p:cNvSpPr>
              <p:nvPr/>
            </p:nvSpPr>
            <p:spPr bwMode="auto">
              <a:xfrm>
                <a:off x="4088" y="3843"/>
                <a:ext cx="63" cy="63"/>
              </a:xfrm>
              <a:custGeom>
                <a:avLst/>
                <a:gdLst/>
                <a:ahLst/>
                <a:cxnLst>
                  <a:cxn ang="0">
                    <a:pos x="32" y="32"/>
                  </a:cxn>
                  <a:cxn ang="0">
                    <a:pos x="0" y="5"/>
                  </a:cxn>
                  <a:cxn ang="0">
                    <a:pos x="9" y="46"/>
                  </a:cxn>
                  <a:cxn ang="0">
                    <a:pos x="60" y="14"/>
                  </a:cxn>
                  <a:cxn ang="0">
                    <a:pos x="65" y="56"/>
                  </a:cxn>
                  <a:cxn ang="0">
                    <a:pos x="32" y="0"/>
                  </a:cxn>
                </a:cxnLst>
                <a:rect l="0" t="0" r="r" b="b"/>
                <a:pathLst>
                  <a:path w="65" h="56">
                    <a:moveTo>
                      <a:pt x="32" y="32"/>
                    </a:moveTo>
                    <a:lnTo>
                      <a:pt x="0" y="5"/>
                    </a:lnTo>
                    <a:lnTo>
                      <a:pt x="9" y="46"/>
                    </a:lnTo>
                    <a:lnTo>
                      <a:pt x="60" y="14"/>
                    </a:lnTo>
                    <a:lnTo>
                      <a:pt x="65" y="56"/>
                    </a:lnTo>
                    <a:lnTo>
                      <a:pt x="3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4" name="Freeform 70"/>
              <p:cNvSpPr>
                <a:spLocks/>
              </p:cNvSpPr>
              <p:nvPr/>
            </p:nvSpPr>
            <p:spPr bwMode="auto">
              <a:xfrm>
                <a:off x="4125" y="3868"/>
                <a:ext cx="17" cy="19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1964"/>
                  </a:cxn>
                </a:cxnLst>
                <a:rect l="0" t="0" r="r" b="b"/>
                <a:pathLst>
                  <a:path w="17" h="1964">
                    <a:moveTo>
                      <a:pt x="0" y="0"/>
                    </a:moveTo>
                    <a:lnTo>
                      <a:pt x="17" y="196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5" name="Freeform 71"/>
              <p:cNvSpPr>
                <a:spLocks/>
              </p:cNvSpPr>
              <p:nvPr/>
            </p:nvSpPr>
            <p:spPr bwMode="auto">
              <a:xfrm>
                <a:off x="4094" y="5360"/>
                <a:ext cx="90" cy="102"/>
              </a:xfrm>
              <a:custGeom>
                <a:avLst/>
                <a:gdLst/>
                <a:ahLst/>
                <a:cxnLst>
                  <a:cxn ang="0">
                    <a:pos x="38" y="95"/>
                  </a:cxn>
                  <a:cxn ang="0">
                    <a:pos x="0" y="53"/>
                  </a:cxn>
                  <a:cxn ang="0">
                    <a:pos x="90" y="66"/>
                  </a:cxn>
                  <a:cxn ang="0">
                    <a:pos x="59" y="102"/>
                  </a:cxn>
                  <a:cxn ang="0">
                    <a:pos x="0" y="0"/>
                  </a:cxn>
                </a:cxnLst>
                <a:rect l="0" t="0" r="r" b="b"/>
                <a:pathLst>
                  <a:path w="90" h="102">
                    <a:moveTo>
                      <a:pt x="38" y="95"/>
                    </a:moveTo>
                    <a:lnTo>
                      <a:pt x="0" y="53"/>
                    </a:lnTo>
                    <a:lnTo>
                      <a:pt x="90" y="66"/>
                    </a:lnTo>
                    <a:lnTo>
                      <a:pt x="59" y="102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1096" name="AutoShape 72"/>
              <p:cNvCxnSpPr>
                <a:cxnSpLocks noChangeShapeType="1"/>
              </p:cNvCxnSpPr>
              <p:nvPr/>
            </p:nvCxnSpPr>
            <p:spPr bwMode="auto">
              <a:xfrm flipV="1">
                <a:off x="4119" y="5354"/>
                <a:ext cx="60" cy="9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097" name="Group 73"/>
              <p:cNvGrpSpPr>
                <a:grpSpLocks/>
              </p:cNvGrpSpPr>
              <p:nvPr/>
            </p:nvGrpSpPr>
            <p:grpSpPr bwMode="auto">
              <a:xfrm>
                <a:off x="3896" y="5442"/>
                <a:ext cx="518" cy="693"/>
                <a:chOff x="4641" y="942"/>
                <a:chExt cx="518" cy="693"/>
              </a:xfrm>
            </p:grpSpPr>
            <p:grpSp>
              <p:nvGrpSpPr>
                <p:cNvPr id="1098" name="Group 74"/>
                <p:cNvGrpSpPr>
                  <a:grpSpLocks/>
                </p:cNvGrpSpPr>
                <p:nvPr/>
              </p:nvGrpSpPr>
              <p:grpSpPr bwMode="auto">
                <a:xfrm>
                  <a:off x="4710" y="942"/>
                  <a:ext cx="368" cy="693"/>
                  <a:chOff x="4710" y="942"/>
                  <a:chExt cx="368" cy="693"/>
                </a:xfrm>
              </p:grpSpPr>
              <p:sp>
                <p:nvSpPr>
                  <p:cNvPr id="1099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0" y="1044"/>
                    <a:ext cx="0" cy="6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00" name="AutoShape 76"/>
                  <p:cNvSpPr>
                    <a:spLocks noChangeArrowheads="1"/>
                  </p:cNvSpPr>
                  <p:nvPr/>
                </p:nvSpPr>
                <p:spPr bwMode="auto">
                  <a:xfrm>
                    <a:off x="4710" y="1072"/>
                    <a:ext cx="368" cy="563"/>
                  </a:xfrm>
                  <a:prstGeom prst="roundRect">
                    <a:avLst>
                      <a:gd name="adj" fmla="val 6523"/>
                    </a:avLst>
                  </a:prstGeom>
                  <a:gradFill rotWithShape="0">
                    <a:gsLst>
                      <a:gs pos="0">
                        <a:srgbClr val="FFFFFF">
                          <a:gamma/>
                          <a:shade val="76078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76078"/>
                          <a:invGamma/>
                        </a:srgbClr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01" name="Oval 7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849" y="942"/>
                    <a:ext cx="85" cy="8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0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784" y="997"/>
                    <a:ext cx="83" cy="4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103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641" y="1365"/>
                  <a:ext cx="518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20 g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1104" name="Group 80"/>
            <p:cNvGrpSpPr>
              <a:grpSpLocks/>
            </p:cNvGrpSpPr>
            <p:nvPr/>
          </p:nvGrpSpPr>
          <p:grpSpPr bwMode="auto">
            <a:xfrm>
              <a:off x="4390" y="1179"/>
              <a:ext cx="2636" cy="4867"/>
              <a:chOff x="7301" y="1141"/>
              <a:chExt cx="3609" cy="6211"/>
            </a:xfrm>
          </p:grpSpPr>
          <p:sp>
            <p:nvSpPr>
              <p:cNvPr id="1105" name="Freeform 81" descr="Tirets horizontaux"/>
              <p:cNvSpPr>
                <a:spLocks/>
              </p:cNvSpPr>
              <p:nvPr/>
            </p:nvSpPr>
            <p:spPr bwMode="auto">
              <a:xfrm>
                <a:off x="7874" y="4988"/>
                <a:ext cx="2035" cy="546"/>
              </a:xfrm>
              <a:custGeom>
                <a:avLst/>
                <a:gdLst/>
                <a:ahLst/>
                <a:cxnLst>
                  <a:cxn ang="0">
                    <a:pos x="2505" y="379"/>
                  </a:cxn>
                  <a:cxn ang="0">
                    <a:pos x="0" y="371"/>
                  </a:cxn>
                  <a:cxn ang="0">
                    <a:pos x="2505" y="379"/>
                  </a:cxn>
                </a:cxnLst>
                <a:rect l="0" t="0" r="r" b="b"/>
                <a:pathLst>
                  <a:path w="2552" h="690">
                    <a:moveTo>
                      <a:pt x="2505" y="379"/>
                    </a:moveTo>
                    <a:cubicBezTo>
                      <a:pt x="2552" y="651"/>
                      <a:pt x="33" y="690"/>
                      <a:pt x="0" y="371"/>
                    </a:cubicBezTo>
                    <a:cubicBezTo>
                      <a:pt x="60" y="151"/>
                      <a:pt x="2260" y="0"/>
                      <a:pt x="2505" y="379"/>
                    </a:cubicBezTo>
                    <a:close/>
                  </a:path>
                </a:pathLst>
              </a:custGeom>
              <a:pattFill prst="dashHorz">
                <a:fgClr>
                  <a:srgbClr val="365F91">
                    <a:alpha val="75000"/>
                  </a:srgbClr>
                </a:fgClr>
                <a:bgClr>
                  <a:srgbClr val="FFFFFF">
                    <a:alpha val="75000"/>
                  </a:srgbClr>
                </a:bgClr>
              </a:pattFill>
              <a:ln w="6350">
                <a:solidFill>
                  <a:srgbClr val="365F9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6" name="Freeform 82"/>
              <p:cNvSpPr>
                <a:spLocks/>
              </p:cNvSpPr>
              <p:nvPr/>
            </p:nvSpPr>
            <p:spPr bwMode="auto">
              <a:xfrm>
                <a:off x="7301" y="6602"/>
                <a:ext cx="3609" cy="620"/>
              </a:xfrm>
              <a:custGeom>
                <a:avLst/>
                <a:gdLst/>
                <a:ahLst/>
                <a:cxnLst>
                  <a:cxn ang="0">
                    <a:pos x="4255" y="0"/>
                  </a:cxn>
                  <a:cxn ang="0">
                    <a:pos x="4526" y="779"/>
                  </a:cxn>
                  <a:cxn ang="0">
                    <a:pos x="0" y="783"/>
                  </a:cxn>
                  <a:cxn ang="0">
                    <a:pos x="224" y="0"/>
                  </a:cxn>
                  <a:cxn ang="0">
                    <a:pos x="4255" y="0"/>
                  </a:cxn>
                </a:cxnLst>
                <a:rect l="0" t="0" r="r" b="b"/>
                <a:pathLst>
                  <a:path w="4526" h="783">
                    <a:moveTo>
                      <a:pt x="4255" y="0"/>
                    </a:moveTo>
                    <a:lnTo>
                      <a:pt x="4526" y="779"/>
                    </a:lnTo>
                    <a:lnTo>
                      <a:pt x="0" y="783"/>
                    </a:lnTo>
                    <a:lnTo>
                      <a:pt x="224" y="0"/>
                    </a:lnTo>
                    <a:lnTo>
                      <a:pt x="4255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7" name="AutoShape 83"/>
              <p:cNvSpPr>
                <a:spLocks noChangeArrowheads="1"/>
              </p:cNvSpPr>
              <p:nvPr/>
            </p:nvSpPr>
            <p:spPr bwMode="auto">
              <a:xfrm>
                <a:off x="7483" y="1141"/>
                <a:ext cx="142" cy="5786"/>
              </a:xfrm>
              <a:prstGeom prst="can">
                <a:avLst>
                  <a:gd name="adj" fmla="val 17166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8" name="Rectangle 84"/>
              <p:cNvSpPr>
                <a:spLocks noChangeArrowheads="1"/>
              </p:cNvSpPr>
              <p:nvPr/>
            </p:nvSpPr>
            <p:spPr bwMode="auto">
              <a:xfrm>
                <a:off x="7301" y="7218"/>
                <a:ext cx="3607" cy="134"/>
              </a:xfrm>
              <a:prstGeom prst="rect">
                <a:avLst/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109" name="Group 85"/>
              <p:cNvGrpSpPr>
                <a:grpSpLocks/>
              </p:cNvGrpSpPr>
              <p:nvPr/>
            </p:nvGrpSpPr>
            <p:grpSpPr bwMode="auto">
              <a:xfrm>
                <a:off x="8787" y="1367"/>
                <a:ext cx="77" cy="217"/>
                <a:chOff x="4176" y="729"/>
                <a:chExt cx="96" cy="274"/>
              </a:xfrm>
            </p:grpSpPr>
            <p:sp>
              <p:nvSpPr>
                <p:cNvPr id="1110" name="AutoShape 86"/>
                <p:cNvSpPr>
                  <a:spLocks noChangeArrowheads="1"/>
                </p:cNvSpPr>
                <p:nvPr/>
              </p:nvSpPr>
              <p:spPr bwMode="auto">
                <a:xfrm>
                  <a:off x="4192" y="729"/>
                  <a:ext cx="57" cy="164"/>
                </a:xfrm>
                <a:prstGeom prst="can">
                  <a:avLst>
                    <a:gd name="adj" fmla="val 12961"/>
                  </a:avLst>
                </a:prstGeom>
                <a:solidFill>
                  <a:srgbClr val="80808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11" name="AutoShape 87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149" y="881"/>
                  <a:ext cx="149" cy="96"/>
                </a:xfrm>
                <a:custGeom>
                  <a:avLst/>
                  <a:gdLst>
                    <a:gd name="G0" fmla="+- 4932 0 0"/>
                    <a:gd name="G1" fmla="+- 7482558 0 0"/>
                    <a:gd name="G2" fmla="+- 0 0 7482558"/>
                    <a:gd name="T0" fmla="*/ 0 256 1"/>
                    <a:gd name="T1" fmla="*/ 180 256 1"/>
                    <a:gd name="G3" fmla="+- 7482558 T0 T1"/>
                    <a:gd name="T2" fmla="*/ 0 256 1"/>
                    <a:gd name="T3" fmla="*/ 90 256 1"/>
                    <a:gd name="G4" fmla="+- 7482558 T2 T3"/>
                    <a:gd name="G5" fmla="*/ G4 2 1"/>
                    <a:gd name="T4" fmla="*/ 90 256 1"/>
                    <a:gd name="T5" fmla="*/ 0 256 1"/>
                    <a:gd name="G6" fmla="+- 7482558 T4 T5"/>
                    <a:gd name="G7" fmla="*/ G6 2 1"/>
                    <a:gd name="G8" fmla="abs 7482558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4932"/>
                    <a:gd name="G18" fmla="*/ 4932 1 2"/>
                    <a:gd name="G19" fmla="+- G18 5400 0"/>
                    <a:gd name="G20" fmla="cos G19 7482558"/>
                    <a:gd name="G21" fmla="sin G19 7482558"/>
                    <a:gd name="G22" fmla="+- G20 10800 0"/>
                    <a:gd name="G23" fmla="+- G21 10800 0"/>
                    <a:gd name="G24" fmla="+- 10800 0 G20"/>
                    <a:gd name="G25" fmla="+- 4932 10800 0"/>
                    <a:gd name="G26" fmla="?: G9 G17 G25"/>
                    <a:gd name="G27" fmla="?: G9 0 21600"/>
                    <a:gd name="G28" fmla="cos 10800 7482558"/>
                    <a:gd name="G29" fmla="sin 10800 7482558"/>
                    <a:gd name="G30" fmla="sin 4932 7482558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7482558 G34 0"/>
                    <a:gd name="G36" fmla="?: G6 G35 G31"/>
                    <a:gd name="G37" fmla="+- 21600 0 G36"/>
                    <a:gd name="G38" fmla="?: G4 0 G33"/>
                    <a:gd name="G39" fmla="?: 7482558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7578 w 21600"/>
                    <a:gd name="T15" fmla="*/ 17976 h 21600"/>
                    <a:gd name="T16" fmla="*/ 10800 w 21600"/>
                    <a:gd name="T17" fmla="*/ 5868 h 21600"/>
                    <a:gd name="T18" fmla="*/ 14022 w 21600"/>
                    <a:gd name="T19" fmla="*/ 17976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8780" y="15299"/>
                      </a:moveTo>
                      <a:cubicBezTo>
                        <a:pt x="7008" y="14503"/>
                        <a:pt x="5868" y="12742"/>
                        <a:pt x="5868" y="10800"/>
                      </a:cubicBezTo>
                      <a:cubicBezTo>
                        <a:pt x="5868" y="8076"/>
                        <a:pt x="8076" y="5868"/>
                        <a:pt x="10800" y="5868"/>
                      </a:cubicBezTo>
                      <a:cubicBezTo>
                        <a:pt x="13523" y="5868"/>
                        <a:pt x="15732" y="8076"/>
                        <a:pt x="15732" y="10800"/>
                      </a:cubicBezTo>
                      <a:cubicBezTo>
                        <a:pt x="15732" y="12742"/>
                        <a:pt x="14591" y="14503"/>
                        <a:pt x="12819" y="15299"/>
                      </a:cubicBezTo>
                      <a:lnTo>
                        <a:pt x="15222" y="20652"/>
                      </a:lnTo>
                      <a:cubicBezTo>
                        <a:pt x="19103" y="18910"/>
                        <a:pt x="21600" y="15053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5053"/>
                        <a:pt x="2496" y="18910"/>
                        <a:pt x="6377" y="20652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12" name="Freeform 88"/>
                <p:cNvSpPr>
                  <a:spLocks/>
                </p:cNvSpPr>
                <p:nvPr/>
              </p:nvSpPr>
              <p:spPr bwMode="auto">
                <a:xfrm>
                  <a:off x="4204" y="831"/>
                  <a:ext cx="40" cy="37"/>
                </a:xfrm>
                <a:custGeom>
                  <a:avLst/>
                  <a:gdLst/>
                  <a:ahLst/>
                  <a:cxnLst>
                    <a:cxn ang="0">
                      <a:pos x="57" y="36"/>
                    </a:cxn>
                    <a:cxn ang="0">
                      <a:pos x="0" y="37"/>
                    </a:cxn>
                  </a:cxnLst>
                  <a:rect l="0" t="0" r="r" b="b"/>
                  <a:pathLst>
                    <a:path w="57" h="37">
                      <a:moveTo>
                        <a:pt x="57" y="36"/>
                      </a:moveTo>
                      <a:cubicBezTo>
                        <a:pt x="26" y="0"/>
                        <a:pt x="0" y="37"/>
                        <a:pt x="0" y="37"/>
                      </a:cubicBezTo>
                    </a:path>
                  </a:pathLst>
                </a:cu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113" name="AutoShape 89"/>
              <p:cNvSpPr>
                <a:spLocks noChangeArrowheads="1"/>
              </p:cNvSpPr>
              <p:nvPr/>
            </p:nvSpPr>
            <p:spPr bwMode="auto">
              <a:xfrm rot="5400000">
                <a:off x="8032" y="663"/>
                <a:ext cx="45" cy="1401"/>
              </a:xfrm>
              <a:prstGeom prst="can">
                <a:avLst>
                  <a:gd name="adj" fmla="val 5044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4" name="AutoShape 90" descr="blanc)"/>
              <p:cNvSpPr>
                <a:spLocks noChangeArrowheads="1"/>
              </p:cNvSpPr>
              <p:nvPr/>
            </p:nvSpPr>
            <p:spPr bwMode="auto">
              <a:xfrm rot="-5400000">
                <a:off x="7223" y="1324"/>
                <a:ext cx="247" cy="83"/>
              </a:xfrm>
              <a:prstGeom prst="flowChartMagneticDisk">
                <a:avLst/>
              </a:prstGeom>
              <a:pattFill prst="dkHorz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5" name="AutoShape 91"/>
              <p:cNvSpPr>
                <a:spLocks noChangeArrowheads="1"/>
              </p:cNvSpPr>
              <p:nvPr/>
            </p:nvSpPr>
            <p:spPr bwMode="auto">
              <a:xfrm>
                <a:off x="7433" y="1265"/>
                <a:ext cx="248" cy="183"/>
              </a:xfrm>
              <a:prstGeom prst="roundRect">
                <a:avLst>
                  <a:gd name="adj" fmla="val 240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6" name="AutoShape 92"/>
              <p:cNvSpPr>
                <a:spLocks noChangeArrowheads="1"/>
              </p:cNvSpPr>
              <p:nvPr/>
            </p:nvSpPr>
            <p:spPr bwMode="auto">
              <a:xfrm>
                <a:off x="7681" y="1303"/>
                <a:ext cx="114" cy="11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7" name="Oval 93"/>
              <p:cNvSpPr>
                <a:spLocks noChangeArrowheads="1"/>
              </p:cNvSpPr>
              <p:nvPr/>
            </p:nvSpPr>
            <p:spPr bwMode="auto">
              <a:xfrm>
                <a:off x="8732" y="1260"/>
                <a:ext cx="199" cy="197"/>
              </a:xfrm>
              <a:prstGeom prst="ellipse">
                <a:avLst/>
              </a:prstGeom>
              <a:solidFill>
                <a:srgbClr val="7F7F7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8" name="Oval 94"/>
              <p:cNvSpPr>
                <a:spLocks noChangeArrowheads="1"/>
              </p:cNvSpPr>
              <p:nvPr/>
            </p:nvSpPr>
            <p:spPr bwMode="auto">
              <a:xfrm>
                <a:off x="8757" y="1285"/>
                <a:ext cx="144" cy="14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9" name="Oval 95"/>
              <p:cNvSpPr>
                <a:spLocks noChangeArrowheads="1"/>
              </p:cNvSpPr>
              <p:nvPr/>
            </p:nvSpPr>
            <p:spPr bwMode="auto">
              <a:xfrm>
                <a:off x="8779" y="1309"/>
                <a:ext cx="100" cy="99"/>
              </a:xfrm>
              <a:prstGeom prst="ellipse">
                <a:avLst/>
              </a:prstGeom>
              <a:solidFill>
                <a:srgbClr val="938953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0" name="Freeform 96"/>
              <p:cNvSpPr>
                <a:spLocks/>
              </p:cNvSpPr>
              <p:nvPr/>
            </p:nvSpPr>
            <p:spPr bwMode="auto">
              <a:xfrm>
                <a:off x="7808" y="4651"/>
                <a:ext cx="2159" cy="2501"/>
              </a:xfrm>
              <a:custGeom>
                <a:avLst/>
                <a:gdLst/>
                <a:ahLst/>
                <a:cxnLst>
                  <a:cxn ang="0">
                    <a:pos x="2707" y="0"/>
                  </a:cxn>
                  <a:cxn ang="0">
                    <a:pos x="2621" y="135"/>
                  </a:cxn>
                  <a:cxn ang="0">
                    <a:pos x="2611" y="2842"/>
                  </a:cxn>
                  <a:cxn ang="0">
                    <a:pos x="77" y="2842"/>
                  </a:cxn>
                  <a:cxn ang="0">
                    <a:pos x="57" y="125"/>
                  </a:cxn>
                  <a:cxn ang="0">
                    <a:pos x="0" y="0"/>
                  </a:cxn>
                </a:cxnLst>
                <a:rect l="0" t="0" r="r" b="b"/>
                <a:pathLst>
                  <a:path w="2707" h="3159">
                    <a:moveTo>
                      <a:pt x="2707" y="0"/>
                    </a:moveTo>
                    <a:lnTo>
                      <a:pt x="2621" y="135"/>
                    </a:lnTo>
                    <a:cubicBezTo>
                      <a:pt x="2621" y="135"/>
                      <a:pt x="2601" y="2295"/>
                      <a:pt x="2611" y="2842"/>
                    </a:cubicBezTo>
                    <a:cubicBezTo>
                      <a:pt x="2505" y="3092"/>
                      <a:pt x="221" y="3159"/>
                      <a:pt x="77" y="2842"/>
                    </a:cubicBezTo>
                    <a:cubicBezTo>
                      <a:pt x="72" y="1507"/>
                      <a:pt x="57" y="125"/>
                      <a:pt x="57" y="125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1" name="Freeform 97"/>
              <p:cNvSpPr>
                <a:spLocks/>
              </p:cNvSpPr>
              <p:nvPr/>
            </p:nvSpPr>
            <p:spPr bwMode="auto">
              <a:xfrm>
                <a:off x="7736" y="4195"/>
                <a:ext cx="2328" cy="600"/>
              </a:xfrm>
              <a:custGeom>
                <a:avLst/>
                <a:gdLst/>
                <a:ahLst/>
                <a:cxnLst>
                  <a:cxn ang="0">
                    <a:pos x="2842" y="413"/>
                  </a:cxn>
                  <a:cxn ang="0">
                    <a:pos x="0" y="404"/>
                  </a:cxn>
                  <a:cxn ang="0">
                    <a:pos x="2842" y="413"/>
                  </a:cxn>
                </a:cxnLst>
                <a:rect l="0" t="0" r="r" b="b"/>
                <a:pathLst>
                  <a:path w="2919" h="759">
                    <a:moveTo>
                      <a:pt x="2842" y="413"/>
                    </a:moveTo>
                    <a:cubicBezTo>
                      <a:pt x="2919" y="711"/>
                      <a:pt x="29" y="759"/>
                      <a:pt x="0" y="404"/>
                    </a:cubicBezTo>
                    <a:cubicBezTo>
                      <a:pt x="68" y="164"/>
                      <a:pt x="2564" y="0"/>
                      <a:pt x="2842" y="413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2" name="Freeform 98"/>
              <p:cNvSpPr>
                <a:spLocks/>
              </p:cNvSpPr>
              <p:nvPr/>
            </p:nvSpPr>
            <p:spPr bwMode="auto">
              <a:xfrm>
                <a:off x="7632" y="4172"/>
                <a:ext cx="2511" cy="684"/>
              </a:xfrm>
              <a:custGeom>
                <a:avLst/>
                <a:gdLst/>
                <a:ahLst/>
                <a:cxnLst>
                  <a:cxn ang="0">
                    <a:pos x="3086" y="438"/>
                  </a:cxn>
                  <a:cxn ang="0">
                    <a:pos x="39" y="426"/>
                  </a:cxn>
                  <a:cxn ang="0">
                    <a:pos x="3086" y="438"/>
                  </a:cxn>
                </a:cxnLst>
                <a:rect l="0" t="0" r="r" b="b"/>
                <a:pathLst>
                  <a:path w="3149" h="864">
                    <a:moveTo>
                      <a:pt x="3086" y="438"/>
                    </a:moveTo>
                    <a:cubicBezTo>
                      <a:pt x="3149" y="864"/>
                      <a:pt x="0" y="854"/>
                      <a:pt x="39" y="426"/>
                    </a:cubicBezTo>
                    <a:cubicBezTo>
                      <a:pt x="96" y="48"/>
                      <a:pt x="2966" y="0"/>
                      <a:pt x="3086" y="438"/>
                    </a:cubicBez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3" name="Freeform 99"/>
              <p:cNvSpPr>
                <a:spLocks/>
              </p:cNvSpPr>
              <p:nvPr/>
            </p:nvSpPr>
            <p:spPr bwMode="auto">
              <a:xfrm>
                <a:off x="9885" y="5229"/>
                <a:ext cx="495" cy="339"/>
              </a:xfrm>
              <a:custGeom>
                <a:avLst/>
                <a:gdLst/>
                <a:ahLst/>
                <a:cxnLst>
                  <a:cxn ang="0">
                    <a:pos x="8" y="145"/>
                  </a:cxn>
                  <a:cxn ang="0">
                    <a:pos x="426" y="128"/>
                  </a:cxn>
                  <a:cxn ang="0">
                    <a:pos x="536" y="206"/>
                  </a:cxn>
                  <a:cxn ang="0">
                    <a:pos x="536" y="421"/>
                  </a:cxn>
                  <a:cxn ang="0">
                    <a:pos x="605" y="428"/>
                  </a:cxn>
                  <a:cxn ang="0">
                    <a:pos x="605" y="191"/>
                  </a:cxn>
                  <a:cxn ang="0">
                    <a:pos x="513" y="45"/>
                  </a:cxn>
                  <a:cxn ang="0">
                    <a:pos x="0" y="0"/>
                  </a:cxn>
                  <a:cxn ang="0">
                    <a:pos x="8" y="145"/>
                  </a:cxn>
                </a:cxnLst>
                <a:rect l="0" t="0" r="r" b="b"/>
                <a:pathLst>
                  <a:path w="620" h="428">
                    <a:moveTo>
                      <a:pt x="8" y="145"/>
                    </a:moveTo>
                    <a:cubicBezTo>
                      <a:pt x="102" y="103"/>
                      <a:pt x="350" y="124"/>
                      <a:pt x="426" y="128"/>
                    </a:cubicBezTo>
                    <a:cubicBezTo>
                      <a:pt x="540" y="119"/>
                      <a:pt x="536" y="206"/>
                      <a:pt x="536" y="206"/>
                    </a:cubicBezTo>
                    <a:lnTo>
                      <a:pt x="536" y="421"/>
                    </a:lnTo>
                    <a:lnTo>
                      <a:pt x="605" y="428"/>
                    </a:lnTo>
                    <a:cubicBezTo>
                      <a:pt x="605" y="428"/>
                      <a:pt x="605" y="309"/>
                      <a:pt x="605" y="191"/>
                    </a:cubicBezTo>
                    <a:cubicBezTo>
                      <a:pt x="605" y="191"/>
                      <a:pt x="620" y="103"/>
                      <a:pt x="513" y="45"/>
                    </a:cubicBezTo>
                    <a:cubicBezTo>
                      <a:pt x="256" y="22"/>
                      <a:pt x="115" y="23"/>
                      <a:pt x="0" y="0"/>
                    </a:cubicBezTo>
                    <a:cubicBezTo>
                      <a:pt x="5" y="6"/>
                      <a:pt x="9" y="145"/>
                      <a:pt x="8" y="145"/>
                    </a:cubicBez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4" name="Freeform 100" descr="Tirets horizontaux"/>
              <p:cNvSpPr>
                <a:spLocks/>
              </p:cNvSpPr>
              <p:nvPr/>
            </p:nvSpPr>
            <p:spPr bwMode="auto">
              <a:xfrm>
                <a:off x="7878" y="5313"/>
                <a:ext cx="1998" cy="179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1943"/>
                  </a:cxn>
                  <a:cxn ang="0">
                    <a:pos x="2506" y="1993"/>
                  </a:cxn>
                  <a:cxn ang="0">
                    <a:pos x="2492" y="0"/>
                  </a:cxn>
                  <a:cxn ang="0">
                    <a:pos x="0" y="0"/>
                  </a:cxn>
                </a:cxnLst>
                <a:rect l="0" t="0" r="r" b="b"/>
                <a:pathLst>
                  <a:path w="2506" h="2267">
                    <a:moveTo>
                      <a:pt x="0" y="0"/>
                    </a:moveTo>
                    <a:cubicBezTo>
                      <a:pt x="0" y="0"/>
                      <a:pt x="3" y="971"/>
                      <a:pt x="7" y="1943"/>
                    </a:cubicBezTo>
                    <a:cubicBezTo>
                      <a:pt x="142" y="2267"/>
                      <a:pt x="2209" y="2217"/>
                      <a:pt x="2506" y="1993"/>
                    </a:cubicBezTo>
                    <a:cubicBezTo>
                      <a:pt x="2499" y="997"/>
                      <a:pt x="2492" y="0"/>
                      <a:pt x="2492" y="0"/>
                    </a:cubicBezTo>
                    <a:cubicBezTo>
                      <a:pt x="2136" y="290"/>
                      <a:pt x="416" y="267"/>
                      <a:pt x="0" y="0"/>
                    </a:cubicBezTo>
                    <a:close/>
                  </a:path>
                </a:pathLst>
              </a:custGeom>
              <a:pattFill prst="dashHorz">
                <a:fgClr>
                  <a:srgbClr val="365F91">
                    <a:alpha val="50000"/>
                  </a:srgbClr>
                </a:fgClr>
                <a:bgClr>
                  <a:srgbClr val="FFFFFF">
                    <a:alpha val="50000"/>
                  </a:srgbClr>
                </a:bgClr>
              </a:pattFill>
              <a:ln w="317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5" name="Freeform 101" descr="Tirets horizontaux"/>
              <p:cNvSpPr>
                <a:spLocks/>
              </p:cNvSpPr>
              <p:nvPr/>
            </p:nvSpPr>
            <p:spPr bwMode="auto">
              <a:xfrm>
                <a:off x="7878" y="6566"/>
                <a:ext cx="2050" cy="552"/>
              </a:xfrm>
              <a:custGeom>
                <a:avLst/>
                <a:gdLst/>
                <a:ahLst/>
                <a:cxnLst>
                  <a:cxn ang="0">
                    <a:pos x="2842" y="413"/>
                  </a:cxn>
                  <a:cxn ang="0">
                    <a:pos x="0" y="404"/>
                  </a:cxn>
                  <a:cxn ang="0">
                    <a:pos x="2842" y="413"/>
                  </a:cxn>
                </a:cxnLst>
                <a:rect l="0" t="0" r="r" b="b"/>
                <a:pathLst>
                  <a:path w="2919" h="759">
                    <a:moveTo>
                      <a:pt x="2842" y="413"/>
                    </a:moveTo>
                    <a:cubicBezTo>
                      <a:pt x="2919" y="711"/>
                      <a:pt x="29" y="759"/>
                      <a:pt x="0" y="404"/>
                    </a:cubicBezTo>
                    <a:cubicBezTo>
                      <a:pt x="68" y="164"/>
                      <a:pt x="2564" y="0"/>
                      <a:pt x="2842" y="413"/>
                    </a:cubicBezTo>
                    <a:close/>
                  </a:path>
                </a:pathLst>
              </a:custGeom>
              <a:pattFill prst="dashHorz">
                <a:fgClr>
                  <a:srgbClr val="365F91">
                    <a:alpha val="75000"/>
                  </a:srgbClr>
                </a:fgClr>
                <a:bgClr>
                  <a:srgbClr val="FFFFFF">
                    <a:alpha val="75000"/>
                  </a:srgbClr>
                </a:bgClr>
              </a:pattFill>
              <a:ln w="6350">
                <a:solidFill>
                  <a:srgbClr val="365F9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6" name="Rectangle 102"/>
              <p:cNvSpPr>
                <a:spLocks noChangeArrowheads="1"/>
              </p:cNvSpPr>
              <p:nvPr/>
            </p:nvSpPr>
            <p:spPr bwMode="auto">
              <a:xfrm>
                <a:off x="10176" y="5616"/>
                <a:ext cx="355" cy="1377"/>
              </a:xfrm>
              <a:prstGeom prst="rect">
                <a:avLst/>
              </a:pr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7" name="Freeform 103"/>
              <p:cNvSpPr>
                <a:spLocks/>
              </p:cNvSpPr>
              <p:nvPr/>
            </p:nvSpPr>
            <p:spPr bwMode="auto">
              <a:xfrm>
                <a:off x="10004" y="6993"/>
                <a:ext cx="683" cy="66"/>
              </a:xfrm>
              <a:custGeom>
                <a:avLst/>
                <a:gdLst/>
                <a:ahLst/>
                <a:cxnLst>
                  <a:cxn ang="0">
                    <a:pos x="408" y="0"/>
                  </a:cxn>
                  <a:cxn ang="0">
                    <a:pos x="0" y="195"/>
                  </a:cxn>
                  <a:cxn ang="0">
                    <a:pos x="1611" y="195"/>
                  </a:cxn>
                  <a:cxn ang="0">
                    <a:pos x="1248" y="3"/>
                  </a:cxn>
                </a:cxnLst>
                <a:rect l="0" t="0" r="r" b="b"/>
                <a:pathLst>
                  <a:path w="1611" h="195">
                    <a:moveTo>
                      <a:pt x="408" y="0"/>
                    </a:moveTo>
                    <a:lnTo>
                      <a:pt x="0" y="195"/>
                    </a:lnTo>
                    <a:lnTo>
                      <a:pt x="1611" y="195"/>
                    </a:lnTo>
                    <a:lnTo>
                      <a:pt x="1248" y="3"/>
                    </a:lnTo>
                  </a:path>
                </a:pathLst>
              </a:cu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128" name="Group 104"/>
              <p:cNvGrpSpPr>
                <a:grpSpLocks/>
              </p:cNvGrpSpPr>
              <p:nvPr/>
            </p:nvGrpSpPr>
            <p:grpSpPr bwMode="auto">
              <a:xfrm>
                <a:off x="10164" y="5518"/>
                <a:ext cx="378" cy="1434"/>
                <a:chOff x="2086" y="11408"/>
                <a:chExt cx="890" cy="4222"/>
              </a:xfrm>
            </p:grpSpPr>
            <p:grpSp>
              <p:nvGrpSpPr>
                <p:cNvPr id="1129" name="Group 105"/>
                <p:cNvGrpSpPr>
                  <a:grpSpLocks/>
                </p:cNvGrpSpPr>
                <p:nvPr/>
              </p:nvGrpSpPr>
              <p:grpSpPr bwMode="auto">
                <a:xfrm>
                  <a:off x="2086" y="11408"/>
                  <a:ext cx="890" cy="4222"/>
                  <a:chOff x="2086" y="11408"/>
                  <a:chExt cx="890" cy="4222"/>
                </a:xfrm>
              </p:grpSpPr>
              <p:sp>
                <p:nvSpPr>
                  <p:cNvPr id="1130" name="AutoShape 106"/>
                  <p:cNvSpPr>
                    <a:spLocks noChangeArrowheads="1"/>
                  </p:cNvSpPr>
                  <p:nvPr/>
                </p:nvSpPr>
                <p:spPr bwMode="auto">
                  <a:xfrm>
                    <a:off x="2157" y="11444"/>
                    <a:ext cx="764" cy="4186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31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2086" y="11408"/>
                    <a:ext cx="890" cy="40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132" name="Oval 108"/>
                <p:cNvSpPr>
                  <a:spLocks noChangeArrowheads="1"/>
                </p:cNvSpPr>
                <p:nvPr/>
              </p:nvSpPr>
              <p:spPr bwMode="auto">
                <a:xfrm>
                  <a:off x="2110" y="11773"/>
                  <a:ext cx="847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133" name="Oval 109"/>
              <p:cNvSpPr>
                <a:spLocks noChangeArrowheads="1"/>
              </p:cNvSpPr>
              <p:nvPr/>
            </p:nvSpPr>
            <p:spPr bwMode="auto">
              <a:xfrm>
                <a:off x="10189" y="5643"/>
                <a:ext cx="328" cy="28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134" name="Group 110"/>
              <p:cNvGrpSpPr>
                <a:grpSpLocks/>
              </p:cNvGrpSpPr>
              <p:nvPr/>
            </p:nvGrpSpPr>
            <p:grpSpPr bwMode="auto">
              <a:xfrm>
                <a:off x="10192" y="6406"/>
                <a:ext cx="326" cy="539"/>
                <a:chOff x="2154" y="14040"/>
                <a:chExt cx="768" cy="1587"/>
              </a:xfrm>
            </p:grpSpPr>
            <p:sp>
              <p:nvSpPr>
                <p:cNvPr id="1135" name="Freeform 111" descr="Tirets horizontaux"/>
                <p:cNvSpPr>
                  <a:spLocks/>
                </p:cNvSpPr>
                <p:nvPr/>
              </p:nvSpPr>
              <p:spPr bwMode="auto">
                <a:xfrm>
                  <a:off x="2162" y="14040"/>
                  <a:ext cx="760" cy="1587"/>
                </a:xfrm>
                <a:custGeom>
                  <a:avLst/>
                  <a:gdLst/>
                  <a:ahLst/>
                  <a:cxnLst>
                    <a:cxn ang="0">
                      <a:pos x="0" y="33"/>
                    </a:cxn>
                    <a:cxn ang="0">
                      <a:pos x="7" y="1317"/>
                    </a:cxn>
                    <a:cxn ang="0">
                      <a:pos x="88" y="1458"/>
                    </a:cxn>
                    <a:cxn ang="0">
                      <a:pos x="172" y="1524"/>
                    </a:cxn>
                    <a:cxn ang="0">
                      <a:pos x="310" y="1581"/>
                    </a:cxn>
                    <a:cxn ang="0">
                      <a:pos x="421" y="1587"/>
                    </a:cxn>
                    <a:cxn ang="0">
                      <a:pos x="516" y="1551"/>
                    </a:cxn>
                    <a:cxn ang="0">
                      <a:pos x="625" y="1494"/>
                    </a:cxn>
                    <a:cxn ang="0">
                      <a:pos x="706" y="1401"/>
                    </a:cxn>
                    <a:cxn ang="0">
                      <a:pos x="760" y="1269"/>
                    </a:cxn>
                    <a:cxn ang="0">
                      <a:pos x="748" y="36"/>
                    </a:cxn>
                    <a:cxn ang="0">
                      <a:pos x="622" y="9"/>
                    </a:cxn>
                    <a:cxn ang="0">
                      <a:pos x="379" y="0"/>
                    </a:cxn>
                    <a:cxn ang="0">
                      <a:pos x="154" y="6"/>
                    </a:cxn>
                    <a:cxn ang="0">
                      <a:pos x="0" y="33"/>
                    </a:cxn>
                  </a:cxnLst>
                  <a:rect l="0" t="0" r="r" b="b"/>
                  <a:pathLst>
                    <a:path w="760" h="1587">
                      <a:moveTo>
                        <a:pt x="0" y="33"/>
                      </a:moveTo>
                      <a:lnTo>
                        <a:pt x="7" y="1317"/>
                      </a:lnTo>
                      <a:lnTo>
                        <a:pt x="88" y="1458"/>
                      </a:lnTo>
                      <a:lnTo>
                        <a:pt x="172" y="1524"/>
                      </a:lnTo>
                      <a:lnTo>
                        <a:pt x="310" y="1581"/>
                      </a:lnTo>
                      <a:lnTo>
                        <a:pt x="421" y="1587"/>
                      </a:lnTo>
                      <a:lnTo>
                        <a:pt x="516" y="1551"/>
                      </a:lnTo>
                      <a:lnTo>
                        <a:pt x="625" y="1494"/>
                      </a:lnTo>
                      <a:lnTo>
                        <a:pt x="706" y="1401"/>
                      </a:lnTo>
                      <a:lnTo>
                        <a:pt x="760" y="1269"/>
                      </a:lnTo>
                      <a:lnTo>
                        <a:pt x="748" y="36"/>
                      </a:lnTo>
                      <a:lnTo>
                        <a:pt x="622" y="9"/>
                      </a:lnTo>
                      <a:lnTo>
                        <a:pt x="379" y="0"/>
                      </a:lnTo>
                      <a:lnTo>
                        <a:pt x="154" y="6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pattFill prst="dashHorz">
                  <a:fgClr>
                    <a:srgbClr val="365F91">
                      <a:alpha val="75000"/>
                    </a:srgbClr>
                  </a:fgClr>
                  <a:bgClr>
                    <a:srgbClr val="FFFFFF">
                      <a:alpha val="75000"/>
                    </a:srgbClr>
                  </a:bgClr>
                </a:patt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36" name="Oval 112" descr="Tirets horizontaux"/>
                <p:cNvSpPr>
                  <a:spLocks noChangeArrowheads="1"/>
                </p:cNvSpPr>
                <p:nvPr/>
              </p:nvSpPr>
              <p:spPr bwMode="auto">
                <a:xfrm>
                  <a:off x="2154" y="14049"/>
                  <a:ext cx="768" cy="71"/>
                </a:xfrm>
                <a:prstGeom prst="ellipse">
                  <a:avLst/>
                </a:prstGeom>
                <a:pattFill prst="dashHorz">
                  <a:fgClr>
                    <a:srgbClr val="548DD4">
                      <a:alpha val="50000"/>
                    </a:srgbClr>
                  </a:fgClr>
                  <a:bgClr>
                    <a:srgbClr val="FFFFFF">
                      <a:alpha val="50000"/>
                    </a:srgbClr>
                  </a:bgClr>
                </a:pattFill>
                <a:ln w="3175">
                  <a:solidFill>
                    <a:srgbClr val="548DD4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137" name="Freeform 113" descr="noir)"/>
              <p:cNvSpPr>
                <a:spLocks/>
              </p:cNvSpPr>
              <p:nvPr/>
            </p:nvSpPr>
            <p:spPr bwMode="auto">
              <a:xfrm>
                <a:off x="10290" y="5510"/>
                <a:ext cx="111" cy="890"/>
              </a:xfrm>
              <a:custGeom>
                <a:avLst/>
                <a:gdLst/>
                <a:ahLst/>
                <a:cxnLst>
                  <a:cxn ang="0">
                    <a:pos x="92" y="0"/>
                  </a:cxn>
                  <a:cxn ang="0">
                    <a:pos x="21" y="4"/>
                  </a:cxn>
                  <a:cxn ang="0">
                    <a:pos x="0" y="1334"/>
                  </a:cxn>
                  <a:cxn ang="0">
                    <a:pos x="122" y="1334"/>
                  </a:cxn>
                  <a:cxn ang="0">
                    <a:pos x="92" y="0"/>
                  </a:cxn>
                </a:cxnLst>
                <a:rect l="0" t="0" r="r" b="b"/>
                <a:pathLst>
                  <a:path w="122" h="1334">
                    <a:moveTo>
                      <a:pt x="92" y="0"/>
                    </a:moveTo>
                    <a:lnTo>
                      <a:pt x="21" y="4"/>
                    </a:lnTo>
                    <a:lnTo>
                      <a:pt x="0" y="1334"/>
                    </a:lnTo>
                    <a:lnTo>
                      <a:pt x="122" y="1334"/>
                    </a:lnTo>
                    <a:lnTo>
                      <a:pt x="92" y="0"/>
                    </a:lnTo>
                    <a:close/>
                  </a:path>
                </a:pathLst>
              </a:custGeom>
              <a:pattFill prst="ltVert">
                <a:fgClr>
                  <a:srgbClr val="365F91">
                    <a:alpha val="75000"/>
                  </a:srgbClr>
                </a:fgClr>
                <a:bgClr>
                  <a:srgbClr val="FFFFFF">
                    <a:alpha val="75000"/>
                  </a:srgb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138" name="Group 114"/>
              <p:cNvGrpSpPr>
                <a:grpSpLocks/>
              </p:cNvGrpSpPr>
              <p:nvPr/>
            </p:nvGrpSpPr>
            <p:grpSpPr bwMode="auto">
              <a:xfrm>
                <a:off x="10319" y="5711"/>
                <a:ext cx="184" cy="1181"/>
                <a:chOff x="9265" y="6955"/>
                <a:chExt cx="230" cy="1373"/>
              </a:xfrm>
            </p:grpSpPr>
            <p:grpSp>
              <p:nvGrpSpPr>
                <p:cNvPr id="1139" name="Group 115"/>
                <p:cNvGrpSpPr>
                  <a:grpSpLocks/>
                </p:cNvGrpSpPr>
                <p:nvPr/>
              </p:nvGrpSpPr>
              <p:grpSpPr bwMode="auto">
                <a:xfrm>
                  <a:off x="9265" y="6955"/>
                  <a:ext cx="230" cy="145"/>
                  <a:chOff x="2445" y="11931"/>
                  <a:chExt cx="432" cy="204"/>
                </a:xfrm>
              </p:grpSpPr>
              <p:sp>
                <p:nvSpPr>
                  <p:cNvPr id="1140" name="Freeform 116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1" name="Freeform 117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2" name="Freeform 118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3" name="Freeform 119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4" name="Freeform 120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45" name="Group 121"/>
                <p:cNvGrpSpPr>
                  <a:grpSpLocks/>
                </p:cNvGrpSpPr>
                <p:nvPr/>
              </p:nvGrpSpPr>
              <p:grpSpPr bwMode="auto">
                <a:xfrm>
                  <a:off x="9265" y="7125"/>
                  <a:ext cx="230" cy="142"/>
                  <a:chOff x="2445" y="11931"/>
                  <a:chExt cx="432" cy="204"/>
                </a:xfrm>
              </p:grpSpPr>
              <p:sp>
                <p:nvSpPr>
                  <p:cNvPr id="1146" name="Freeform 122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7" name="Freeform 123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8" name="Freeform 124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9" name="Freeform 125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0" name="Freeform 126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51" name="Group 127"/>
                <p:cNvGrpSpPr>
                  <a:grpSpLocks/>
                </p:cNvGrpSpPr>
                <p:nvPr/>
              </p:nvGrpSpPr>
              <p:grpSpPr bwMode="auto">
                <a:xfrm>
                  <a:off x="9265" y="7293"/>
                  <a:ext cx="230" cy="145"/>
                  <a:chOff x="2445" y="11931"/>
                  <a:chExt cx="432" cy="204"/>
                </a:xfrm>
              </p:grpSpPr>
              <p:sp>
                <p:nvSpPr>
                  <p:cNvPr id="1152" name="Freeform 128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3" name="Freeform 129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4" name="Freeform 130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5" name="Freeform 131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6" name="Freeform 132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57" name="Group 133"/>
                <p:cNvGrpSpPr>
                  <a:grpSpLocks/>
                </p:cNvGrpSpPr>
                <p:nvPr/>
              </p:nvGrpSpPr>
              <p:grpSpPr bwMode="auto">
                <a:xfrm>
                  <a:off x="9265" y="7462"/>
                  <a:ext cx="230" cy="145"/>
                  <a:chOff x="2445" y="11931"/>
                  <a:chExt cx="432" cy="204"/>
                </a:xfrm>
              </p:grpSpPr>
              <p:sp>
                <p:nvSpPr>
                  <p:cNvPr id="1158" name="Freeform 134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59" name="Freeform 135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0" name="Freeform 136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1" name="Freeform 137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2" name="Freeform 138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63" name="Group 139"/>
                <p:cNvGrpSpPr>
                  <a:grpSpLocks/>
                </p:cNvGrpSpPr>
                <p:nvPr/>
              </p:nvGrpSpPr>
              <p:grpSpPr bwMode="auto">
                <a:xfrm>
                  <a:off x="9265" y="7632"/>
                  <a:ext cx="230" cy="144"/>
                  <a:chOff x="2445" y="11931"/>
                  <a:chExt cx="432" cy="204"/>
                </a:xfrm>
              </p:grpSpPr>
              <p:sp>
                <p:nvSpPr>
                  <p:cNvPr id="1164" name="Freeform 140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5" name="Freeform 141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6" name="Freeform 142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7" name="Freeform 143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68" name="Freeform 144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69" name="Group 145"/>
                <p:cNvGrpSpPr>
                  <a:grpSpLocks/>
                </p:cNvGrpSpPr>
                <p:nvPr/>
              </p:nvGrpSpPr>
              <p:grpSpPr bwMode="auto">
                <a:xfrm>
                  <a:off x="9265" y="7801"/>
                  <a:ext cx="230" cy="144"/>
                  <a:chOff x="2445" y="11931"/>
                  <a:chExt cx="432" cy="204"/>
                </a:xfrm>
              </p:grpSpPr>
              <p:sp>
                <p:nvSpPr>
                  <p:cNvPr id="1170" name="Freeform 146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1" name="Freeform 147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2" name="Freeform 148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3" name="Freeform 149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4" name="Freeform 150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75" name="Group 151"/>
                <p:cNvGrpSpPr>
                  <a:grpSpLocks/>
                </p:cNvGrpSpPr>
                <p:nvPr/>
              </p:nvGrpSpPr>
              <p:grpSpPr bwMode="auto">
                <a:xfrm>
                  <a:off x="9265" y="7969"/>
                  <a:ext cx="230" cy="145"/>
                  <a:chOff x="2445" y="11931"/>
                  <a:chExt cx="432" cy="204"/>
                </a:xfrm>
              </p:grpSpPr>
              <p:sp>
                <p:nvSpPr>
                  <p:cNvPr id="1176" name="Freeform 152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7" name="Freeform 153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8" name="Freeform 154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79" name="Freeform 155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80" name="Freeform 156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181" name="Freeform 157"/>
                <p:cNvSpPr>
                  <a:spLocks/>
                </p:cNvSpPr>
                <p:nvPr/>
              </p:nvSpPr>
              <p:spPr bwMode="auto">
                <a:xfrm>
                  <a:off x="9265" y="8139"/>
                  <a:ext cx="230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82" name="Freeform 158"/>
                <p:cNvSpPr>
                  <a:spLocks/>
                </p:cNvSpPr>
                <p:nvPr/>
              </p:nvSpPr>
              <p:spPr bwMode="auto">
                <a:xfrm>
                  <a:off x="9364" y="8172"/>
                  <a:ext cx="131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83" name="Freeform 159"/>
                <p:cNvSpPr>
                  <a:spLocks/>
                </p:cNvSpPr>
                <p:nvPr/>
              </p:nvSpPr>
              <p:spPr bwMode="auto">
                <a:xfrm>
                  <a:off x="9364" y="8204"/>
                  <a:ext cx="131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84" name="Freeform 160"/>
                <p:cNvSpPr>
                  <a:spLocks/>
                </p:cNvSpPr>
                <p:nvPr/>
              </p:nvSpPr>
              <p:spPr bwMode="auto">
                <a:xfrm>
                  <a:off x="9364" y="8235"/>
                  <a:ext cx="131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85" name="Freeform 161"/>
                <p:cNvSpPr>
                  <a:spLocks/>
                </p:cNvSpPr>
                <p:nvPr/>
              </p:nvSpPr>
              <p:spPr bwMode="auto">
                <a:xfrm>
                  <a:off x="9364" y="8267"/>
                  <a:ext cx="131" cy="16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186" name="Freeform 162"/>
                <p:cNvSpPr>
                  <a:spLocks/>
                </p:cNvSpPr>
                <p:nvPr/>
              </p:nvSpPr>
              <p:spPr bwMode="auto">
                <a:xfrm>
                  <a:off x="9265" y="8308"/>
                  <a:ext cx="230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187" name="Line 163"/>
              <p:cNvSpPr>
                <a:spLocks noChangeShapeType="1"/>
              </p:cNvSpPr>
              <p:nvPr/>
            </p:nvSpPr>
            <p:spPr bwMode="auto">
              <a:xfrm flipH="1">
                <a:off x="10287" y="5673"/>
                <a:ext cx="11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8" name="Line 164"/>
              <p:cNvSpPr>
                <a:spLocks noChangeShapeType="1"/>
              </p:cNvSpPr>
              <p:nvPr/>
            </p:nvSpPr>
            <p:spPr bwMode="auto">
              <a:xfrm>
                <a:off x="9892" y="5236"/>
                <a:ext cx="1" cy="96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9" name="Freeform 165"/>
              <p:cNvSpPr>
                <a:spLocks/>
              </p:cNvSpPr>
              <p:nvPr/>
            </p:nvSpPr>
            <p:spPr bwMode="auto">
              <a:xfrm>
                <a:off x="7874" y="5289"/>
                <a:ext cx="1993" cy="240"/>
              </a:xfrm>
              <a:custGeom>
                <a:avLst/>
                <a:gdLst/>
                <a:ahLst/>
                <a:cxnLst>
                  <a:cxn ang="0">
                    <a:pos x="2499" y="33"/>
                  </a:cxn>
                  <a:cxn ang="0">
                    <a:pos x="0" y="0"/>
                  </a:cxn>
                </a:cxnLst>
                <a:rect l="0" t="0" r="r" b="b"/>
                <a:pathLst>
                  <a:path w="2499" h="302">
                    <a:moveTo>
                      <a:pt x="2499" y="33"/>
                    </a:moveTo>
                    <a:cubicBezTo>
                      <a:pt x="2137" y="302"/>
                      <a:pt x="204" y="289"/>
                      <a:pt x="0" y="0"/>
                    </a:cubicBezTo>
                  </a:path>
                </a:pathLst>
              </a:custGeom>
              <a:noFill/>
              <a:ln w="6350">
                <a:solidFill>
                  <a:srgbClr val="365F9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0" name="Freeform 166"/>
              <p:cNvSpPr>
                <a:spLocks/>
              </p:cNvSpPr>
              <p:nvPr/>
            </p:nvSpPr>
            <p:spPr bwMode="auto">
              <a:xfrm>
                <a:off x="8787" y="4045"/>
                <a:ext cx="63" cy="63"/>
              </a:xfrm>
              <a:custGeom>
                <a:avLst/>
                <a:gdLst/>
                <a:ahLst/>
                <a:cxnLst>
                  <a:cxn ang="0">
                    <a:pos x="32" y="32"/>
                  </a:cxn>
                  <a:cxn ang="0">
                    <a:pos x="0" y="5"/>
                  </a:cxn>
                  <a:cxn ang="0">
                    <a:pos x="9" y="46"/>
                  </a:cxn>
                  <a:cxn ang="0">
                    <a:pos x="60" y="14"/>
                  </a:cxn>
                  <a:cxn ang="0">
                    <a:pos x="65" y="56"/>
                  </a:cxn>
                  <a:cxn ang="0">
                    <a:pos x="32" y="0"/>
                  </a:cxn>
                </a:cxnLst>
                <a:rect l="0" t="0" r="r" b="b"/>
                <a:pathLst>
                  <a:path w="65" h="56">
                    <a:moveTo>
                      <a:pt x="32" y="32"/>
                    </a:moveTo>
                    <a:lnTo>
                      <a:pt x="0" y="5"/>
                    </a:lnTo>
                    <a:lnTo>
                      <a:pt x="9" y="46"/>
                    </a:lnTo>
                    <a:lnTo>
                      <a:pt x="60" y="14"/>
                    </a:lnTo>
                    <a:lnTo>
                      <a:pt x="65" y="56"/>
                    </a:lnTo>
                    <a:lnTo>
                      <a:pt x="3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1" name="Freeform 167"/>
              <p:cNvSpPr>
                <a:spLocks/>
              </p:cNvSpPr>
              <p:nvPr/>
            </p:nvSpPr>
            <p:spPr bwMode="auto">
              <a:xfrm>
                <a:off x="8824" y="4070"/>
                <a:ext cx="17" cy="19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1964"/>
                  </a:cxn>
                </a:cxnLst>
                <a:rect l="0" t="0" r="r" b="b"/>
                <a:pathLst>
                  <a:path w="17" h="1964">
                    <a:moveTo>
                      <a:pt x="0" y="0"/>
                    </a:moveTo>
                    <a:lnTo>
                      <a:pt x="17" y="196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2" name="Freeform 168"/>
              <p:cNvSpPr>
                <a:spLocks/>
              </p:cNvSpPr>
              <p:nvPr/>
            </p:nvSpPr>
            <p:spPr bwMode="auto">
              <a:xfrm>
                <a:off x="8793" y="5445"/>
                <a:ext cx="90" cy="102"/>
              </a:xfrm>
              <a:custGeom>
                <a:avLst/>
                <a:gdLst/>
                <a:ahLst/>
                <a:cxnLst>
                  <a:cxn ang="0">
                    <a:pos x="38" y="95"/>
                  </a:cxn>
                  <a:cxn ang="0">
                    <a:pos x="0" y="53"/>
                  </a:cxn>
                  <a:cxn ang="0">
                    <a:pos x="90" y="66"/>
                  </a:cxn>
                  <a:cxn ang="0">
                    <a:pos x="59" y="102"/>
                  </a:cxn>
                  <a:cxn ang="0">
                    <a:pos x="0" y="0"/>
                  </a:cxn>
                </a:cxnLst>
                <a:rect l="0" t="0" r="r" b="b"/>
                <a:pathLst>
                  <a:path w="90" h="102">
                    <a:moveTo>
                      <a:pt x="38" y="95"/>
                    </a:moveTo>
                    <a:lnTo>
                      <a:pt x="0" y="53"/>
                    </a:lnTo>
                    <a:lnTo>
                      <a:pt x="90" y="66"/>
                    </a:lnTo>
                    <a:lnTo>
                      <a:pt x="59" y="102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1193" name="AutoShape 169"/>
              <p:cNvCxnSpPr>
                <a:cxnSpLocks noChangeShapeType="1"/>
              </p:cNvCxnSpPr>
              <p:nvPr/>
            </p:nvCxnSpPr>
            <p:spPr bwMode="auto">
              <a:xfrm flipV="1">
                <a:off x="8818" y="5439"/>
                <a:ext cx="60" cy="9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194" name="Group 170"/>
              <p:cNvGrpSpPr>
                <a:grpSpLocks/>
              </p:cNvGrpSpPr>
              <p:nvPr/>
            </p:nvGrpSpPr>
            <p:grpSpPr bwMode="auto">
              <a:xfrm>
                <a:off x="8595" y="5527"/>
                <a:ext cx="518" cy="693"/>
                <a:chOff x="4641" y="942"/>
                <a:chExt cx="518" cy="693"/>
              </a:xfrm>
            </p:grpSpPr>
            <p:grpSp>
              <p:nvGrpSpPr>
                <p:cNvPr id="1195" name="Group 171"/>
                <p:cNvGrpSpPr>
                  <a:grpSpLocks/>
                </p:cNvGrpSpPr>
                <p:nvPr/>
              </p:nvGrpSpPr>
              <p:grpSpPr bwMode="auto">
                <a:xfrm>
                  <a:off x="4710" y="942"/>
                  <a:ext cx="368" cy="693"/>
                  <a:chOff x="4710" y="942"/>
                  <a:chExt cx="368" cy="693"/>
                </a:xfrm>
              </p:grpSpPr>
              <p:sp>
                <p:nvSpPr>
                  <p:cNvPr id="1196" name="Line 1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0" y="1044"/>
                    <a:ext cx="0" cy="6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97" name="AutoShape 173"/>
                  <p:cNvSpPr>
                    <a:spLocks noChangeArrowheads="1"/>
                  </p:cNvSpPr>
                  <p:nvPr/>
                </p:nvSpPr>
                <p:spPr bwMode="auto">
                  <a:xfrm>
                    <a:off x="4710" y="1072"/>
                    <a:ext cx="368" cy="563"/>
                  </a:xfrm>
                  <a:prstGeom prst="roundRect">
                    <a:avLst>
                      <a:gd name="adj" fmla="val 6523"/>
                    </a:avLst>
                  </a:prstGeom>
                  <a:gradFill rotWithShape="0">
                    <a:gsLst>
                      <a:gs pos="0">
                        <a:srgbClr val="FFFFFF">
                          <a:gamma/>
                          <a:shade val="76078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76078"/>
                          <a:invGamma/>
                        </a:srgbClr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98" name="Oval 17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849" y="942"/>
                    <a:ext cx="85" cy="8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99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784" y="997"/>
                    <a:ext cx="83" cy="4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200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641" y="1365"/>
                  <a:ext cx="518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9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20 g</a:t>
                  </a:r>
                  <a:endParaRPr kumimoji="0" lang="fr-FR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201" name="Text Box 177"/>
              <p:cNvSpPr txBox="1">
                <a:spLocks noChangeArrowheads="1"/>
              </p:cNvSpPr>
              <p:nvPr/>
            </p:nvSpPr>
            <p:spPr bwMode="auto">
              <a:xfrm>
                <a:off x="8562" y="2507"/>
                <a:ext cx="262" cy="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1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02" name="Text Box 178"/>
              <p:cNvSpPr txBox="1">
                <a:spLocks noChangeArrowheads="1"/>
              </p:cNvSpPr>
              <p:nvPr/>
            </p:nvSpPr>
            <p:spPr bwMode="auto">
              <a:xfrm>
                <a:off x="8583" y="2214"/>
                <a:ext cx="246" cy="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Arial" pitchFamily="34" charset="0"/>
                    <a:cs typeface="Arial" pitchFamily="34" charset="0"/>
                  </a:rPr>
                  <a:t>0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03" name="Rectangle 179"/>
              <p:cNvSpPr>
                <a:spLocks noChangeArrowheads="1"/>
              </p:cNvSpPr>
              <p:nvPr/>
            </p:nvSpPr>
            <p:spPr bwMode="auto">
              <a:xfrm>
                <a:off x="8617" y="1842"/>
                <a:ext cx="461" cy="2028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4" name="Freeform 180"/>
              <p:cNvSpPr>
                <a:spLocks/>
              </p:cNvSpPr>
              <p:nvPr/>
            </p:nvSpPr>
            <p:spPr bwMode="auto">
              <a:xfrm>
                <a:off x="8719" y="1520"/>
                <a:ext cx="185" cy="354"/>
              </a:xfrm>
              <a:custGeom>
                <a:avLst/>
                <a:gdLst/>
                <a:ahLst/>
                <a:cxnLst>
                  <a:cxn ang="0">
                    <a:pos x="157" y="447"/>
                  </a:cxn>
                  <a:cxn ang="0">
                    <a:pos x="149" y="205"/>
                  </a:cxn>
                  <a:cxn ang="0">
                    <a:pos x="149" y="14"/>
                  </a:cxn>
                  <a:cxn ang="0">
                    <a:pos x="233" y="71"/>
                  </a:cxn>
                </a:cxnLst>
                <a:rect l="0" t="0" r="r" b="b"/>
                <a:pathLst>
                  <a:path w="233" h="447">
                    <a:moveTo>
                      <a:pt x="157" y="447"/>
                    </a:moveTo>
                    <a:cubicBezTo>
                      <a:pt x="160" y="378"/>
                      <a:pt x="149" y="255"/>
                      <a:pt x="149" y="205"/>
                    </a:cubicBezTo>
                    <a:cubicBezTo>
                      <a:pt x="0" y="210"/>
                      <a:pt x="7" y="0"/>
                      <a:pt x="149" y="14"/>
                    </a:cubicBezTo>
                    <a:cubicBezTo>
                      <a:pt x="221" y="28"/>
                      <a:pt x="233" y="71"/>
                      <a:pt x="233" y="71"/>
                    </a:cubicBez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5" name="Freeform 181"/>
              <p:cNvSpPr>
                <a:spLocks/>
              </p:cNvSpPr>
              <p:nvPr/>
            </p:nvSpPr>
            <p:spPr bwMode="auto">
              <a:xfrm>
                <a:off x="8720" y="2785"/>
                <a:ext cx="185" cy="1304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149" y="1327"/>
                  </a:cxn>
                  <a:cxn ang="0">
                    <a:pos x="149" y="1513"/>
                  </a:cxn>
                  <a:cxn ang="0">
                    <a:pos x="233" y="1458"/>
                  </a:cxn>
                </a:cxnLst>
                <a:rect l="0" t="0" r="r" b="b"/>
                <a:pathLst>
                  <a:path w="233" h="1527">
                    <a:moveTo>
                      <a:pt x="147" y="0"/>
                    </a:moveTo>
                    <a:cubicBezTo>
                      <a:pt x="147" y="222"/>
                      <a:pt x="149" y="1075"/>
                      <a:pt x="149" y="1327"/>
                    </a:cubicBezTo>
                    <a:cubicBezTo>
                      <a:pt x="0" y="1322"/>
                      <a:pt x="7" y="1527"/>
                      <a:pt x="149" y="1513"/>
                    </a:cubicBezTo>
                    <a:cubicBezTo>
                      <a:pt x="221" y="1500"/>
                      <a:pt x="233" y="1458"/>
                      <a:pt x="233" y="1458"/>
                    </a:cubicBez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6" name="Freeform 182"/>
              <p:cNvSpPr>
                <a:spLocks/>
              </p:cNvSpPr>
              <p:nvPr/>
            </p:nvSpPr>
            <p:spPr bwMode="auto">
              <a:xfrm>
                <a:off x="8733" y="2745"/>
                <a:ext cx="195" cy="5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94" y="0"/>
                  </a:cxn>
                  <a:cxn ang="0">
                    <a:pos x="361" y="0"/>
                  </a:cxn>
                  <a:cxn ang="0">
                    <a:pos x="469" y="36"/>
                  </a:cxn>
                  <a:cxn ang="0">
                    <a:pos x="361" y="69"/>
                  </a:cxn>
                  <a:cxn ang="0">
                    <a:pos x="91" y="69"/>
                  </a:cxn>
                  <a:cxn ang="0">
                    <a:pos x="0" y="36"/>
                  </a:cxn>
                </a:cxnLst>
                <a:rect l="0" t="0" r="r" b="b"/>
                <a:pathLst>
                  <a:path w="469" h="69">
                    <a:moveTo>
                      <a:pt x="0" y="36"/>
                    </a:moveTo>
                    <a:lnTo>
                      <a:pt x="94" y="0"/>
                    </a:lnTo>
                    <a:lnTo>
                      <a:pt x="361" y="0"/>
                    </a:lnTo>
                    <a:lnTo>
                      <a:pt x="469" y="36"/>
                    </a:lnTo>
                    <a:lnTo>
                      <a:pt x="361" y="69"/>
                    </a:lnTo>
                    <a:lnTo>
                      <a:pt x="91" y="69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A5A5A5"/>
              </a:soli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7" name="Freeform 183"/>
              <p:cNvSpPr>
                <a:spLocks/>
              </p:cNvSpPr>
              <p:nvPr/>
            </p:nvSpPr>
            <p:spPr bwMode="auto">
              <a:xfrm rot="-263923">
                <a:off x="8761" y="2160"/>
                <a:ext cx="62" cy="82"/>
              </a:xfrm>
              <a:custGeom>
                <a:avLst/>
                <a:gdLst/>
                <a:ahLst/>
                <a:cxnLst>
                  <a:cxn ang="0">
                    <a:pos x="88" y="110"/>
                  </a:cxn>
                  <a:cxn ang="0">
                    <a:pos x="25" y="0"/>
                  </a:cxn>
                </a:cxnLst>
                <a:rect l="0" t="0" r="r" b="b"/>
                <a:pathLst>
                  <a:path w="88" h="110">
                    <a:moveTo>
                      <a:pt x="88" y="110"/>
                    </a:moveTo>
                    <a:cubicBezTo>
                      <a:pt x="0" y="87"/>
                      <a:pt x="25" y="0"/>
                      <a:pt x="25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8" name="Text Box 184"/>
              <p:cNvSpPr txBox="1">
                <a:spLocks noChangeArrowheads="1"/>
              </p:cNvSpPr>
              <p:nvPr/>
            </p:nvSpPr>
            <p:spPr bwMode="auto">
              <a:xfrm>
                <a:off x="8553" y="2795"/>
                <a:ext cx="26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2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09" name="Text Box 185"/>
              <p:cNvSpPr txBox="1">
                <a:spLocks noChangeArrowheads="1"/>
              </p:cNvSpPr>
              <p:nvPr/>
            </p:nvSpPr>
            <p:spPr bwMode="auto">
              <a:xfrm>
                <a:off x="8543" y="3112"/>
                <a:ext cx="262" cy="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3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10" name="Text Box 186"/>
              <p:cNvSpPr txBox="1">
                <a:spLocks noChangeArrowheads="1"/>
              </p:cNvSpPr>
              <p:nvPr/>
            </p:nvSpPr>
            <p:spPr bwMode="auto">
              <a:xfrm>
                <a:off x="8553" y="3411"/>
                <a:ext cx="26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4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11" name="Text Box 187"/>
              <p:cNvSpPr txBox="1">
                <a:spLocks noChangeArrowheads="1"/>
              </p:cNvSpPr>
              <p:nvPr/>
            </p:nvSpPr>
            <p:spPr bwMode="auto">
              <a:xfrm>
                <a:off x="8551" y="3665"/>
                <a:ext cx="262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9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5</a:t>
                </a:r>
                <a:endParaRPr kumimoji="0" lang="fr-F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212" name="Group 188"/>
              <p:cNvGrpSpPr>
                <a:grpSpLocks/>
              </p:cNvGrpSpPr>
              <p:nvPr/>
            </p:nvGrpSpPr>
            <p:grpSpPr bwMode="auto">
              <a:xfrm>
                <a:off x="8943" y="2297"/>
                <a:ext cx="117" cy="1501"/>
                <a:chOff x="8151" y="2185"/>
                <a:chExt cx="147" cy="1896"/>
              </a:xfrm>
            </p:grpSpPr>
            <p:sp>
              <p:nvSpPr>
                <p:cNvPr id="1213" name="Line 189"/>
                <p:cNvSpPr>
                  <a:spLocks noChangeShapeType="1"/>
                </p:cNvSpPr>
                <p:nvPr/>
              </p:nvSpPr>
              <p:spPr bwMode="auto">
                <a:xfrm>
                  <a:off x="8151" y="2185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4" name="Line 190"/>
                <p:cNvSpPr>
                  <a:spLocks noChangeShapeType="1"/>
                </p:cNvSpPr>
                <p:nvPr/>
              </p:nvSpPr>
              <p:spPr bwMode="auto">
                <a:xfrm>
                  <a:off x="8151" y="2375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5" name="Line 191"/>
                <p:cNvSpPr>
                  <a:spLocks noChangeShapeType="1"/>
                </p:cNvSpPr>
                <p:nvPr/>
              </p:nvSpPr>
              <p:spPr bwMode="auto">
                <a:xfrm>
                  <a:off x="8151" y="2566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6" name="Line 192"/>
                <p:cNvSpPr>
                  <a:spLocks noChangeShapeType="1"/>
                </p:cNvSpPr>
                <p:nvPr/>
              </p:nvSpPr>
              <p:spPr bwMode="auto">
                <a:xfrm>
                  <a:off x="8151" y="2757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7" name="Line 193"/>
                <p:cNvSpPr>
                  <a:spLocks noChangeShapeType="1"/>
                </p:cNvSpPr>
                <p:nvPr/>
              </p:nvSpPr>
              <p:spPr bwMode="auto">
                <a:xfrm>
                  <a:off x="8151" y="3139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8" name="Line 194"/>
                <p:cNvSpPr>
                  <a:spLocks noChangeShapeType="1"/>
                </p:cNvSpPr>
                <p:nvPr/>
              </p:nvSpPr>
              <p:spPr bwMode="auto">
                <a:xfrm>
                  <a:off x="8151" y="3330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19" name="Line 195"/>
                <p:cNvSpPr>
                  <a:spLocks noChangeShapeType="1"/>
                </p:cNvSpPr>
                <p:nvPr/>
              </p:nvSpPr>
              <p:spPr bwMode="auto">
                <a:xfrm>
                  <a:off x="8151" y="3521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0" name="Line 196"/>
                <p:cNvSpPr>
                  <a:spLocks noChangeShapeType="1"/>
                </p:cNvSpPr>
                <p:nvPr/>
              </p:nvSpPr>
              <p:spPr bwMode="auto">
                <a:xfrm>
                  <a:off x="8151" y="2948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1" name="Line 197"/>
                <p:cNvSpPr>
                  <a:spLocks noChangeShapeType="1"/>
                </p:cNvSpPr>
                <p:nvPr/>
              </p:nvSpPr>
              <p:spPr bwMode="auto">
                <a:xfrm>
                  <a:off x="8151" y="3712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2" name="Line 198"/>
                <p:cNvSpPr>
                  <a:spLocks noChangeShapeType="1"/>
                </p:cNvSpPr>
                <p:nvPr/>
              </p:nvSpPr>
              <p:spPr bwMode="auto">
                <a:xfrm>
                  <a:off x="8151" y="3903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3" name="Line 199"/>
                <p:cNvSpPr>
                  <a:spLocks noChangeShapeType="1"/>
                </p:cNvSpPr>
                <p:nvPr/>
              </p:nvSpPr>
              <p:spPr bwMode="auto">
                <a:xfrm>
                  <a:off x="8203" y="2275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4" name="Line 200"/>
                <p:cNvSpPr>
                  <a:spLocks noChangeShapeType="1"/>
                </p:cNvSpPr>
                <p:nvPr/>
              </p:nvSpPr>
              <p:spPr bwMode="auto">
                <a:xfrm>
                  <a:off x="8203" y="2465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5" name="Line 201"/>
                <p:cNvSpPr>
                  <a:spLocks noChangeShapeType="1"/>
                </p:cNvSpPr>
                <p:nvPr/>
              </p:nvSpPr>
              <p:spPr bwMode="auto">
                <a:xfrm>
                  <a:off x="8203" y="2656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6" name="Line 202"/>
                <p:cNvSpPr>
                  <a:spLocks noChangeShapeType="1"/>
                </p:cNvSpPr>
                <p:nvPr/>
              </p:nvSpPr>
              <p:spPr bwMode="auto">
                <a:xfrm>
                  <a:off x="8203" y="2847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7" name="Line 203"/>
                <p:cNvSpPr>
                  <a:spLocks noChangeShapeType="1"/>
                </p:cNvSpPr>
                <p:nvPr/>
              </p:nvSpPr>
              <p:spPr bwMode="auto">
                <a:xfrm>
                  <a:off x="8203" y="3229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8" name="Line 204"/>
                <p:cNvSpPr>
                  <a:spLocks noChangeShapeType="1"/>
                </p:cNvSpPr>
                <p:nvPr/>
              </p:nvSpPr>
              <p:spPr bwMode="auto">
                <a:xfrm>
                  <a:off x="8203" y="3420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29" name="Line 205"/>
                <p:cNvSpPr>
                  <a:spLocks noChangeShapeType="1"/>
                </p:cNvSpPr>
                <p:nvPr/>
              </p:nvSpPr>
              <p:spPr bwMode="auto">
                <a:xfrm>
                  <a:off x="8203" y="3611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0" name="Line 206"/>
                <p:cNvSpPr>
                  <a:spLocks noChangeShapeType="1"/>
                </p:cNvSpPr>
                <p:nvPr/>
              </p:nvSpPr>
              <p:spPr bwMode="auto">
                <a:xfrm>
                  <a:off x="8203" y="3038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1" name="Line 207"/>
                <p:cNvSpPr>
                  <a:spLocks noChangeShapeType="1"/>
                </p:cNvSpPr>
                <p:nvPr/>
              </p:nvSpPr>
              <p:spPr bwMode="auto">
                <a:xfrm>
                  <a:off x="8203" y="3802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2" name="Line 208"/>
                <p:cNvSpPr>
                  <a:spLocks noChangeShapeType="1"/>
                </p:cNvSpPr>
                <p:nvPr/>
              </p:nvSpPr>
              <p:spPr bwMode="auto">
                <a:xfrm>
                  <a:off x="8203" y="3993"/>
                  <a:ext cx="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3" name="Line 209"/>
                <p:cNvSpPr>
                  <a:spLocks noChangeShapeType="1"/>
                </p:cNvSpPr>
                <p:nvPr/>
              </p:nvSpPr>
              <p:spPr bwMode="auto">
                <a:xfrm>
                  <a:off x="8156" y="4081"/>
                  <a:ext cx="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234" name="AutoShape 210" descr="noir)"/>
              <p:cNvSpPr>
                <a:spLocks noChangeArrowheads="1"/>
              </p:cNvSpPr>
              <p:nvPr/>
            </p:nvSpPr>
            <p:spPr bwMode="auto">
              <a:xfrm>
                <a:off x="8705" y="1743"/>
                <a:ext cx="274" cy="94"/>
              </a:xfrm>
              <a:prstGeom prst="can">
                <a:avLst>
                  <a:gd name="adj" fmla="val 45380"/>
                </a:avLst>
              </a:prstGeom>
              <a:pattFill prst="ltVert">
                <a:fgClr>
                  <a:srgbClr val="40404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1235" name="AutoShape 211"/>
              <p:cNvCxnSpPr>
                <a:cxnSpLocks noChangeShapeType="1"/>
              </p:cNvCxnSpPr>
              <p:nvPr/>
            </p:nvCxnSpPr>
            <p:spPr bwMode="auto">
              <a:xfrm>
                <a:off x="8839" y="1729"/>
                <a:ext cx="0" cy="37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236" name="Group 212"/>
              <p:cNvGrpSpPr>
                <a:grpSpLocks/>
              </p:cNvGrpSpPr>
              <p:nvPr/>
            </p:nvGrpSpPr>
            <p:grpSpPr bwMode="auto">
              <a:xfrm flipV="1">
                <a:off x="8764" y="1838"/>
                <a:ext cx="148" cy="909"/>
                <a:chOff x="9731" y="1066"/>
                <a:chExt cx="185" cy="969"/>
              </a:xfrm>
            </p:grpSpPr>
            <p:sp>
              <p:nvSpPr>
                <p:cNvPr id="1237" name="Oval 213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140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8" name="Oval 214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198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39" name="Oval 215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256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0" name="Oval 216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314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1" name="Oval 217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372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2" name="Oval 218"/>
                <p:cNvSpPr>
                  <a:spLocks noChangeArrowheads="1"/>
                </p:cNvSpPr>
                <p:nvPr/>
              </p:nvSpPr>
              <p:spPr bwMode="auto">
                <a:xfrm rot="5400000">
                  <a:off x="9731" y="1430"/>
                  <a:ext cx="180" cy="1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3" name="Oval 219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492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4" name="Oval 220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550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5" name="Oval 221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608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6" name="Oval 222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666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7" name="Oval 223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724"/>
                  <a:ext cx="180" cy="1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8" name="Oval 224"/>
                <p:cNvSpPr>
                  <a:spLocks noChangeArrowheads="1"/>
                </p:cNvSpPr>
                <p:nvPr/>
              </p:nvSpPr>
              <p:spPr bwMode="auto">
                <a:xfrm rot="5400000">
                  <a:off x="9736" y="1782"/>
                  <a:ext cx="180" cy="1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49" name="Line 225"/>
                <p:cNvSpPr>
                  <a:spLocks noChangeShapeType="1"/>
                </p:cNvSpPr>
                <p:nvPr/>
              </p:nvSpPr>
              <p:spPr bwMode="auto">
                <a:xfrm rot="5400000">
                  <a:off x="9776" y="1103"/>
                  <a:ext cx="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250" name="Line 226"/>
                <p:cNvSpPr>
                  <a:spLocks noChangeShapeType="1"/>
                </p:cNvSpPr>
                <p:nvPr/>
              </p:nvSpPr>
              <p:spPr bwMode="auto">
                <a:xfrm rot="5400000">
                  <a:off x="9794" y="1998"/>
                  <a:ext cx="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</p:grpSp>
        <p:sp>
          <p:nvSpPr>
            <p:cNvPr id="1251" name="Text Box 227"/>
            <p:cNvSpPr txBox="1">
              <a:spLocks noChangeArrowheads="1"/>
            </p:cNvSpPr>
            <p:nvPr/>
          </p:nvSpPr>
          <p:spPr bwMode="auto">
            <a:xfrm>
              <a:off x="3891" y="6124"/>
              <a:ext cx="1378" cy="44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DZ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الوثيقة (2)</a:t>
              </a:r>
              <a:endPara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</p:grpSp>
      <p:graphicFrame>
        <p:nvGraphicFramePr>
          <p:cNvPr id="342" name="Tableau 341"/>
          <p:cNvGraphicFramePr>
            <a:graphicFrameLocks noGrp="1"/>
          </p:cNvGraphicFramePr>
          <p:nvPr/>
        </p:nvGraphicFramePr>
        <p:xfrm>
          <a:off x="558140" y="5237019"/>
          <a:ext cx="10972800" cy="1009403"/>
        </p:xfrm>
        <a:graphic>
          <a:graphicData uri="http://schemas.openxmlformats.org/drawingml/2006/table">
            <a:tbl>
              <a:tblPr rtl="1" firstRow="1" firstCol="1" bandRow="1">
                <a:tableStyleId>{5A111915-BE36-4E01-A7E5-04B1672EAD32}</a:tableStyleId>
              </a:tblPr>
              <a:tblGrid>
                <a:gridCol w="2044546"/>
                <a:gridCol w="2480070"/>
                <a:gridCol w="3169651"/>
                <a:gridCol w="3278533"/>
              </a:tblGrid>
              <a:tr h="486008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r>
                        <a:rPr lang="ar-DZ" sz="2400" dirty="0">
                          <a:solidFill>
                            <a:schemeClr val="tx1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الثقل الحقيقي</a:t>
                      </a:r>
                      <a:endParaRPr lang="fr-FR" sz="2800" b="1" dirty="0">
                        <a:solidFill>
                          <a:schemeClr val="tx1"/>
                        </a:solidFill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r>
                        <a:rPr lang="ar-DZ" sz="2400" dirty="0">
                          <a:solidFill>
                            <a:schemeClr val="tx1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الثقل الظاهري</a:t>
                      </a:r>
                      <a:endParaRPr lang="fr-FR" sz="2800" b="1" dirty="0">
                        <a:solidFill>
                          <a:schemeClr val="tx1"/>
                        </a:solidFill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r>
                        <a:rPr lang="ar-DZ" sz="2400" dirty="0">
                          <a:solidFill>
                            <a:schemeClr val="tx1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الثقل الحقيقي – الثقل الظاهري</a:t>
                      </a:r>
                      <a:endParaRPr lang="fr-FR" sz="2800" b="1" dirty="0">
                        <a:solidFill>
                          <a:schemeClr val="tx1"/>
                        </a:solidFill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r>
                        <a:rPr lang="ar-DZ" sz="2400" dirty="0">
                          <a:solidFill>
                            <a:schemeClr val="tx1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ثقل الماء المزاح</a:t>
                      </a:r>
                      <a:endParaRPr lang="fr-FR" sz="2800" b="1" dirty="0">
                        <a:solidFill>
                          <a:schemeClr val="tx1"/>
                        </a:solidFill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/>
                </a:tc>
              </a:tr>
              <a:tr h="523395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endParaRPr lang="fr-FR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endParaRPr lang="fr-FR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endParaRPr lang="fr-FR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  <a:tabLst>
                          <a:tab pos="3865245" algn="l"/>
                        </a:tabLst>
                      </a:pPr>
                      <a:endParaRPr lang="fr-FR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46" name="ZoneTexte 345"/>
          <p:cNvSpPr txBox="1"/>
          <p:nvPr/>
        </p:nvSpPr>
        <p:spPr>
          <a:xfrm>
            <a:off x="9761517" y="5747655"/>
            <a:ext cx="1769423" cy="461665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rtl="1">
              <a:spcAft>
                <a:spcPts val="0"/>
              </a:spcAft>
              <a:tabLst>
                <a:tab pos="3865245" algn="l"/>
              </a:tabLst>
            </a:pP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 =</a:t>
            </a:r>
            <a:endParaRPr lang="fr-FR" sz="2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47" name="ZoneTexte 346"/>
          <p:cNvSpPr txBox="1"/>
          <p:nvPr/>
        </p:nvSpPr>
        <p:spPr>
          <a:xfrm>
            <a:off x="7517081" y="5735781"/>
            <a:ext cx="1769423" cy="461665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rtl="1">
              <a:spcAft>
                <a:spcPts val="0"/>
              </a:spcAft>
              <a:tabLst>
                <a:tab pos="3865245" algn="l"/>
              </a:tabLst>
            </a:pP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endParaRPr lang="fr-FR" sz="2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48" name="ZoneTexte 347"/>
          <p:cNvSpPr txBox="1"/>
          <p:nvPr/>
        </p:nvSpPr>
        <p:spPr>
          <a:xfrm>
            <a:off x="4239492" y="5735781"/>
            <a:ext cx="2529444" cy="461665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  <a:tabLst>
                <a:tab pos="3865245" algn="l"/>
              </a:tabLst>
            </a:pP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0.2N</a:t>
            </a:r>
            <a:endParaRPr lang="fr-FR" sz="2800" dirty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49" name="ZoneTexte 348"/>
          <p:cNvSpPr txBox="1"/>
          <p:nvPr/>
        </p:nvSpPr>
        <p:spPr>
          <a:xfrm>
            <a:off x="581891" y="5735780"/>
            <a:ext cx="3182586" cy="523220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rtl="1">
              <a:spcAft>
                <a:spcPts val="0"/>
              </a:spcAft>
              <a:tabLst>
                <a:tab pos="3865245" algn="l"/>
              </a:tabLst>
            </a:pP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fr-FR" sz="2400" baseline="-25000" dirty="0" smtClean="0">
                <a:latin typeface="Script MT Bold" pitchFamily="66" charset="0"/>
                <a:cs typeface="Times New Roman" pitchFamily="18" charset="0"/>
              </a:rPr>
              <a:t>l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mg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fr-FR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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fr-FR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fr-FR" sz="2400" i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=</a:t>
            </a:r>
            <a:endParaRPr lang="fr-FR" sz="2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51" name="Pentagone 350"/>
          <p:cNvSpPr/>
          <p:nvPr/>
        </p:nvSpPr>
        <p:spPr>
          <a:xfrm flipH="1">
            <a:off x="1128150" y="1665027"/>
            <a:ext cx="890654" cy="522000"/>
          </a:xfrm>
          <a:prstGeom prst="homePlate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1">
              <a:spcAft>
                <a:spcPts val="0"/>
              </a:spcAft>
              <a:tabLst>
                <a:tab pos="3865245" algn="l"/>
              </a:tabLst>
            </a:pPr>
            <a:r>
              <a:rPr lang="fr-F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2N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52" name="Pentagone 351"/>
          <p:cNvSpPr/>
          <p:nvPr/>
        </p:nvSpPr>
        <p:spPr>
          <a:xfrm flipH="1">
            <a:off x="2956950" y="1640036"/>
            <a:ext cx="890654" cy="522000"/>
          </a:xfrm>
          <a:prstGeom prst="homePlate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1">
              <a:spcAft>
                <a:spcPts val="0"/>
              </a:spcAft>
              <a:tabLst>
                <a:tab pos="3865245" algn="l"/>
              </a:tabLst>
            </a:pPr>
            <a:r>
              <a:rPr lang="fr-F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1.8N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grpSp>
        <p:nvGrpSpPr>
          <p:cNvPr id="434" name="Groupe 433"/>
          <p:cNvGrpSpPr/>
          <p:nvPr/>
        </p:nvGrpSpPr>
        <p:grpSpPr>
          <a:xfrm>
            <a:off x="4053527" y="3133479"/>
            <a:ext cx="2255838" cy="1492250"/>
            <a:chOff x="4006026" y="3382860"/>
            <a:chExt cx="2255838" cy="1492250"/>
          </a:xfrm>
        </p:grpSpPr>
        <p:grpSp>
          <p:nvGrpSpPr>
            <p:cNvPr id="1335" name="Group 311"/>
            <p:cNvGrpSpPr>
              <a:grpSpLocks/>
            </p:cNvGrpSpPr>
            <p:nvPr/>
          </p:nvGrpSpPr>
          <p:grpSpPr bwMode="auto">
            <a:xfrm>
              <a:off x="5015676" y="3998810"/>
              <a:ext cx="1246188" cy="876300"/>
              <a:chOff x="3186" y="5035"/>
              <a:chExt cx="2593" cy="1546"/>
            </a:xfrm>
          </p:grpSpPr>
          <p:grpSp>
            <p:nvGrpSpPr>
              <p:cNvPr id="1336" name="Group 312"/>
              <p:cNvGrpSpPr>
                <a:grpSpLocks/>
              </p:cNvGrpSpPr>
              <p:nvPr/>
            </p:nvGrpSpPr>
            <p:grpSpPr bwMode="auto">
              <a:xfrm>
                <a:off x="3186" y="5765"/>
                <a:ext cx="2593" cy="703"/>
                <a:chOff x="956" y="6388"/>
                <a:chExt cx="2593" cy="703"/>
              </a:xfrm>
            </p:grpSpPr>
            <p:sp>
              <p:nvSpPr>
                <p:cNvPr id="1337" name="AutoShape 313"/>
                <p:cNvSpPr>
                  <a:spLocks noChangeArrowheads="1"/>
                </p:cNvSpPr>
                <p:nvPr/>
              </p:nvSpPr>
              <p:spPr bwMode="auto">
                <a:xfrm>
                  <a:off x="956" y="6482"/>
                  <a:ext cx="2593" cy="609"/>
                </a:xfrm>
                <a:prstGeom prst="roundRect">
                  <a:avLst>
                    <a:gd name="adj" fmla="val 16667"/>
                  </a:avLst>
                </a:prstGeom>
                <a:gradFill rotWithShape="0">
                  <a:gsLst>
                    <a:gs pos="0">
                      <a:srgbClr val="666666"/>
                    </a:gs>
                    <a:gs pos="50000">
                      <a:srgbClr val="CCCCCC"/>
                    </a:gs>
                    <a:gs pos="100000">
                      <a:srgbClr val="666666"/>
                    </a:gs>
                  </a:gsLst>
                  <a:lin ang="18900000" scaled="1"/>
                </a:gradFill>
                <a:ln w="12700">
                  <a:round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666666"/>
                  </a:extrusionClr>
                </a:sp3d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flatTx/>
                </a:bodyPr>
                <a:lstStyle/>
                <a:p>
                  <a:endParaRPr lang="fr-FR"/>
                </a:p>
              </p:txBody>
            </p:sp>
            <p:sp>
              <p:nvSpPr>
                <p:cNvPr id="1338" name="Oval 314"/>
                <p:cNvSpPr>
                  <a:spLocks noChangeArrowheads="1"/>
                </p:cNvSpPr>
                <p:nvPr/>
              </p:nvSpPr>
              <p:spPr bwMode="auto">
                <a:xfrm>
                  <a:off x="2739" y="6540"/>
                  <a:ext cx="133" cy="134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prstShdw prst="shdw18" dist="17961" dir="13500000">
                    <a:srgbClr val="C00000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39" name="Oval 315"/>
                <p:cNvSpPr>
                  <a:spLocks noChangeArrowheads="1"/>
                </p:cNvSpPr>
                <p:nvPr/>
              </p:nvSpPr>
              <p:spPr bwMode="auto">
                <a:xfrm>
                  <a:off x="3011" y="6547"/>
                  <a:ext cx="128" cy="122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prstShdw prst="shdw18" dist="17961" dir="13500000">
                    <a:srgbClr val="C00000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40" name="AutoShape 316"/>
                <p:cNvSpPr>
                  <a:spLocks noChangeArrowheads="1"/>
                </p:cNvSpPr>
                <p:nvPr/>
              </p:nvSpPr>
              <p:spPr bwMode="auto">
                <a:xfrm>
                  <a:off x="1062" y="6547"/>
                  <a:ext cx="1337" cy="350"/>
                </a:xfrm>
                <a:prstGeom prst="bevel">
                  <a:avLst>
                    <a:gd name="adj" fmla="val 12500"/>
                  </a:avLst>
                </a:prstGeom>
                <a:solidFill>
                  <a:srgbClr val="FBD4B4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54000" tIns="10800" rIns="54000" bIns="1080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10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ssaïm normal" pitchFamily="2" charset="-78"/>
                    </a:rPr>
                    <a:t>200 g   </a:t>
                  </a:r>
                  <a:endParaRPr kumimoji="0" lang="fr-FR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41" name="Oval 317"/>
                <p:cNvSpPr>
                  <a:spLocks noChangeArrowheads="1"/>
                </p:cNvSpPr>
                <p:nvPr/>
              </p:nvSpPr>
              <p:spPr bwMode="auto">
                <a:xfrm>
                  <a:off x="2734" y="6759"/>
                  <a:ext cx="133" cy="134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prstShdw prst="shdw18" dist="17961" dir="13500000">
                    <a:srgbClr val="C00000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42" name="Oval 318"/>
                <p:cNvSpPr>
                  <a:spLocks noChangeArrowheads="1"/>
                </p:cNvSpPr>
                <p:nvPr/>
              </p:nvSpPr>
              <p:spPr bwMode="auto">
                <a:xfrm>
                  <a:off x="3006" y="6766"/>
                  <a:ext cx="128" cy="122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prstShdw prst="shdw18" dist="17961" dir="13500000">
                    <a:srgbClr val="C00000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43" name="Rectangle 319"/>
                <p:cNvSpPr>
                  <a:spLocks noChangeArrowheads="1"/>
                </p:cNvSpPr>
                <p:nvPr/>
              </p:nvSpPr>
              <p:spPr bwMode="auto">
                <a:xfrm>
                  <a:off x="1019" y="6953"/>
                  <a:ext cx="2324" cy="85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FF"/>
                    </a:gs>
                    <a:gs pos="100000">
                      <a:srgbClr val="E5B8B7"/>
                    </a:gs>
                  </a:gsLst>
                  <a:lin ang="5400000" scaled="1"/>
                </a:gradFill>
                <a:ln w="12700">
                  <a:solidFill>
                    <a:srgbClr val="D99594"/>
                  </a:solidFill>
                  <a:miter lim="800000"/>
                  <a:headEnd/>
                  <a:tailEnd/>
                </a:ln>
                <a:effectLst>
                  <a:outerShdw dist="28398" dir="3806097" algn="ctr" rotWithShape="0">
                    <a:srgbClr val="622423">
                      <a:alpha val="5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44" name="Rectangle 320"/>
                <p:cNvSpPr>
                  <a:spLocks noChangeArrowheads="1"/>
                </p:cNvSpPr>
                <p:nvPr/>
              </p:nvSpPr>
              <p:spPr bwMode="auto">
                <a:xfrm>
                  <a:off x="1154" y="6410"/>
                  <a:ext cx="1257" cy="68"/>
                </a:xfrm>
                <a:prstGeom prst="rect">
                  <a:avLst/>
                </a:prstGeom>
                <a:gradFill rotWithShape="0">
                  <a:gsLst>
                    <a:gs pos="0">
                      <a:srgbClr val="D99594"/>
                    </a:gs>
                    <a:gs pos="50000">
                      <a:srgbClr val="F2DBDB"/>
                    </a:gs>
                    <a:gs pos="100000">
                      <a:srgbClr val="D99594"/>
                    </a:gs>
                  </a:gsLst>
                  <a:lin ang="18900000" scaled="1"/>
                </a:gradFill>
                <a:ln w="12700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D99594"/>
                  </a:extrusionClr>
                </a:sp3d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flatTx/>
                </a:bodyPr>
                <a:lstStyle/>
                <a:p>
                  <a:endParaRPr lang="fr-FR"/>
                </a:p>
              </p:txBody>
            </p:sp>
            <p:sp>
              <p:nvSpPr>
                <p:cNvPr id="1345" name="AutoShape 321"/>
                <p:cNvSpPr>
                  <a:spLocks noChangeArrowheads="1"/>
                </p:cNvSpPr>
                <p:nvPr/>
              </p:nvSpPr>
              <p:spPr bwMode="auto">
                <a:xfrm>
                  <a:off x="1002" y="6388"/>
                  <a:ext cx="1531" cy="57"/>
                </a:xfrm>
                <a:prstGeom prst="roundRect">
                  <a:avLst>
                    <a:gd name="adj" fmla="val 16667"/>
                  </a:avLst>
                </a:prstGeom>
                <a:gradFill rotWithShape="0">
                  <a:gsLst>
                    <a:gs pos="0">
                      <a:srgbClr val="D99594"/>
                    </a:gs>
                    <a:gs pos="50000">
                      <a:srgbClr val="C0504D"/>
                    </a:gs>
                    <a:gs pos="100000">
                      <a:srgbClr val="D99594"/>
                    </a:gs>
                  </a:gsLst>
                  <a:lin ang="5400000" scaled="1"/>
                </a:gradFill>
                <a:ln w="12700">
                  <a:round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D99594"/>
                  </a:extrusionClr>
                </a:sp3d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flatTx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346" name="Group 322"/>
              <p:cNvGrpSpPr>
                <a:grpSpLocks/>
              </p:cNvGrpSpPr>
              <p:nvPr/>
            </p:nvGrpSpPr>
            <p:grpSpPr bwMode="auto">
              <a:xfrm>
                <a:off x="3792" y="5035"/>
                <a:ext cx="540" cy="721"/>
                <a:chOff x="4288" y="7342"/>
                <a:chExt cx="540" cy="721"/>
              </a:xfrm>
            </p:grpSpPr>
            <p:sp>
              <p:nvSpPr>
                <p:cNvPr id="1347" name="AutoShape 323"/>
                <p:cNvSpPr>
                  <a:spLocks noChangeArrowheads="1"/>
                </p:cNvSpPr>
                <p:nvPr/>
              </p:nvSpPr>
              <p:spPr bwMode="auto">
                <a:xfrm>
                  <a:off x="4288" y="7342"/>
                  <a:ext cx="540" cy="720"/>
                </a:xfrm>
                <a:prstGeom prst="flowChartMagneticDisk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48" name="AutoShape 324"/>
                <p:cNvSpPr>
                  <a:spLocks noChangeArrowheads="1"/>
                </p:cNvSpPr>
                <p:nvPr/>
              </p:nvSpPr>
              <p:spPr bwMode="auto">
                <a:xfrm rot="5400000">
                  <a:off x="4369" y="7605"/>
                  <a:ext cx="377" cy="540"/>
                </a:xfrm>
                <a:prstGeom prst="flowChartDelay">
                  <a:avLst/>
                </a:prstGeom>
                <a:solidFill>
                  <a:srgbClr val="00B0F0">
                    <a:alpha val="47000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349" name="AutoShape 325"/>
              <p:cNvSpPr>
                <a:spLocks noChangeArrowheads="1"/>
              </p:cNvSpPr>
              <p:nvPr/>
            </p:nvSpPr>
            <p:spPr bwMode="auto">
              <a:xfrm>
                <a:off x="5052" y="6459"/>
                <a:ext cx="170" cy="11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0" name="AutoShape 326"/>
              <p:cNvSpPr>
                <a:spLocks noChangeArrowheads="1"/>
              </p:cNvSpPr>
              <p:nvPr/>
            </p:nvSpPr>
            <p:spPr bwMode="auto">
              <a:xfrm>
                <a:off x="3656" y="6468"/>
                <a:ext cx="170" cy="11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351" name="Group 327"/>
            <p:cNvGrpSpPr>
              <a:grpSpLocks/>
            </p:cNvGrpSpPr>
            <p:nvPr/>
          </p:nvGrpSpPr>
          <p:grpSpPr bwMode="auto">
            <a:xfrm>
              <a:off x="4006026" y="3528910"/>
              <a:ext cx="581025" cy="1343025"/>
              <a:chOff x="1892" y="6496"/>
              <a:chExt cx="915" cy="2115"/>
            </a:xfrm>
          </p:grpSpPr>
          <p:sp>
            <p:nvSpPr>
              <p:cNvPr id="1352" name="Rectangle 328"/>
              <p:cNvSpPr>
                <a:spLocks noChangeArrowheads="1"/>
              </p:cNvSpPr>
              <p:nvPr/>
            </p:nvSpPr>
            <p:spPr bwMode="auto">
              <a:xfrm>
                <a:off x="2123" y="6630"/>
                <a:ext cx="475" cy="1892"/>
              </a:xfrm>
              <a:prstGeom prst="rect">
                <a:avLst/>
              </a:pr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3" name="Freeform 329"/>
              <p:cNvSpPr>
                <a:spLocks/>
              </p:cNvSpPr>
              <p:nvPr/>
            </p:nvSpPr>
            <p:spPr bwMode="auto">
              <a:xfrm>
                <a:off x="1892" y="8522"/>
                <a:ext cx="915" cy="89"/>
              </a:xfrm>
              <a:custGeom>
                <a:avLst/>
                <a:gdLst/>
                <a:ahLst/>
                <a:cxnLst>
                  <a:cxn ang="0">
                    <a:pos x="408" y="0"/>
                  </a:cxn>
                  <a:cxn ang="0">
                    <a:pos x="0" y="195"/>
                  </a:cxn>
                  <a:cxn ang="0">
                    <a:pos x="1611" y="195"/>
                  </a:cxn>
                  <a:cxn ang="0">
                    <a:pos x="1248" y="3"/>
                  </a:cxn>
                </a:cxnLst>
                <a:rect l="0" t="0" r="r" b="b"/>
                <a:pathLst>
                  <a:path w="1611" h="195">
                    <a:moveTo>
                      <a:pt x="408" y="0"/>
                    </a:moveTo>
                    <a:lnTo>
                      <a:pt x="0" y="195"/>
                    </a:lnTo>
                    <a:lnTo>
                      <a:pt x="1611" y="195"/>
                    </a:lnTo>
                    <a:lnTo>
                      <a:pt x="1248" y="3"/>
                    </a:lnTo>
                  </a:path>
                </a:pathLst>
              </a:cu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354" name="Group 330"/>
              <p:cNvGrpSpPr>
                <a:grpSpLocks/>
              </p:cNvGrpSpPr>
              <p:nvPr/>
            </p:nvGrpSpPr>
            <p:grpSpPr bwMode="auto">
              <a:xfrm>
                <a:off x="2107" y="6496"/>
                <a:ext cx="506" cy="1970"/>
                <a:chOff x="2086" y="11408"/>
                <a:chExt cx="890" cy="4222"/>
              </a:xfrm>
            </p:grpSpPr>
            <p:grpSp>
              <p:nvGrpSpPr>
                <p:cNvPr id="1355" name="Group 331"/>
                <p:cNvGrpSpPr>
                  <a:grpSpLocks/>
                </p:cNvGrpSpPr>
                <p:nvPr/>
              </p:nvGrpSpPr>
              <p:grpSpPr bwMode="auto">
                <a:xfrm>
                  <a:off x="2086" y="11408"/>
                  <a:ext cx="890" cy="4222"/>
                  <a:chOff x="2086" y="11408"/>
                  <a:chExt cx="890" cy="4222"/>
                </a:xfrm>
              </p:grpSpPr>
              <p:sp>
                <p:nvSpPr>
                  <p:cNvPr id="1356" name="AutoShape 332"/>
                  <p:cNvSpPr>
                    <a:spLocks noChangeArrowheads="1"/>
                  </p:cNvSpPr>
                  <p:nvPr/>
                </p:nvSpPr>
                <p:spPr bwMode="auto">
                  <a:xfrm>
                    <a:off x="2157" y="11444"/>
                    <a:ext cx="764" cy="4186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57" name="Rectangle 333"/>
                  <p:cNvSpPr>
                    <a:spLocks noChangeArrowheads="1"/>
                  </p:cNvSpPr>
                  <p:nvPr/>
                </p:nvSpPr>
                <p:spPr bwMode="auto">
                  <a:xfrm>
                    <a:off x="2086" y="11408"/>
                    <a:ext cx="890" cy="40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358" name="Oval 334"/>
                <p:cNvSpPr>
                  <a:spLocks noChangeArrowheads="1"/>
                </p:cNvSpPr>
                <p:nvPr/>
              </p:nvSpPr>
              <p:spPr bwMode="auto">
                <a:xfrm>
                  <a:off x="2110" y="11773"/>
                  <a:ext cx="847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359" name="Oval 335"/>
              <p:cNvSpPr>
                <a:spLocks noChangeArrowheads="1"/>
              </p:cNvSpPr>
              <p:nvPr/>
            </p:nvSpPr>
            <p:spPr bwMode="auto">
              <a:xfrm>
                <a:off x="2140" y="6667"/>
                <a:ext cx="440" cy="39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1360" name="Group 336"/>
              <p:cNvGrpSpPr>
                <a:grpSpLocks/>
              </p:cNvGrpSpPr>
              <p:nvPr/>
            </p:nvGrpSpPr>
            <p:grpSpPr bwMode="auto">
              <a:xfrm>
                <a:off x="2145" y="7715"/>
                <a:ext cx="436" cy="740"/>
                <a:chOff x="2154" y="14040"/>
                <a:chExt cx="768" cy="1587"/>
              </a:xfrm>
            </p:grpSpPr>
            <p:sp>
              <p:nvSpPr>
                <p:cNvPr id="1361" name="Freeform 337" descr="Tirets horizontaux"/>
                <p:cNvSpPr>
                  <a:spLocks/>
                </p:cNvSpPr>
                <p:nvPr/>
              </p:nvSpPr>
              <p:spPr bwMode="auto">
                <a:xfrm>
                  <a:off x="2162" y="14040"/>
                  <a:ext cx="760" cy="1587"/>
                </a:xfrm>
                <a:custGeom>
                  <a:avLst/>
                  <a:gdLst/>
                  <a:ahLst/>
                  <a:cxnLst>
                    <a:cxn ang="0">
                      <a:pos x="0" y="33"/>
                    </a:cxn>
                    <a:cxn ang="0">
                      <a:pos x="7" y="1317"/>
                    </a:cxn>
                    <a:cxn ang="0">
                      <a:pos x="88" y="1458"/>
                    </a:cxn>
                    <a:cxn ang="0">
                      <a:pos x="172" y="1524"/>
                    </a:cxn>
                    <a:cxn ang="0">
                      <a:pos x="310" y="1581"/>
                    </a:cxn>
                    <a:cxn ang="0">
                      <a:pos x="421" y="1587"/>
                    </a:cxn>
                    <a:cxn ang="0">
                      <a:pos x="516" y="1551"/>
                    </a:cxn>
                    <a:cxn ang="0">
                      <a:pos x="625" y="1494"/>
                    </a:cxn>
                    <a:cxn ang="0">
                      <a:pos x="706" y="1401"/>
                    </a:cxn>
                    <a:cxn ang="0">
                      <a:pos x="760" y="1269"/>
                    </a:cxn>
                    <a:cxn ang="0">
                      <a:pos x="748" y="36"/>
                    </a:cxn>
                    <a:cxn ang="0">
                      <a:pos x="622" y="9"/>
                    </a:cxn>
                    <a:cxn ang="0">
                      <a:pos x="379" y="0"/>
                    </a:cxn>
                    <a:cxn ang="0">
                      <a:pos x="154" y="6"/>
                    </a:cxn>
                    <a:cxn ang="0">
                      <a:pos x="0" y="33"/>
                    </a:cxn>
                  </a:cxnLst>
                  <a:rect l="0" t="0" r="r" b="b"/>
                  <a:pathLst>
                    <a:path w="760" h="1587">
                      <a:moveTo>
                        <a:pt x="0" y="33"/>
                      </a:moveTo>
                      <a:lnTo>
                        <a:pt x="7" y="1317"/>
                      </a:lnTo>
                      <a:lnTo>
                        <a:pt x="88" y="1458"/>
                      </a:lnTo>
                      <a:lnTo>
                        <a:pt x="172" y="1524"/>
                      </a:lnTo>
                      <a:lnTo>
                        <a:pt x="310" y="1581"/>
                      </a:lnTo>
                      <a:lnTo>
                        <a:pt x="421" y="1587"/>
                      </a:lnTo>
                      <a:lnTo>
                        <a:pt x="516" y="1551"/>
                      </a:lnTo>
                      <a:lnTo>
                        <a:pt x="625" y="1494"/>
                      </a:lnTo>
                      <a:lnTo>
                        <a:pt x="706" y="1401"/>
                      </a:lnTo>
                      <a:lnTo>
                        <a:pt x="760" y="1269"/>
                      </a:lnTo>
                      <a:lnTo>
                        <a:pt x="748" y="36"/>
                      </a:lnTo>
                      <a:lnTo>
                        <a:pt x="622" y="9"/>
                      </a:lnTo>
                      <a:lnTo>
                        <a:pt x="379" y="0"/>
                      </a:lnTo>
                      <a:lnTo>
                        <a:pt x="154" y="6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pattFill prst="dashHorz">
                  <a:fgClr>
                    <a:srgbClr val="365F91">
                      <a:alpha val="75000"/>
                    </a:srgbClr>
                  </a:fgClr>
                  <a:bgClr>
                    <a:srgbClr val="FFFFFF">
                      <a:alpha val="75000"/>
                    </a:srgbClr>
                  </a:bgClr>
                </a:patt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362" name="Oval 338" descr="Tirets horizontaux"/>
                <p:cNvSpPr>
                  <a:spLocks noChangeArrowheads="1"/>
                </p:cNvSpPr>
                <p:nvPr/>
              </p:nvSpPr>
              <p:spPr bwMode="auto">
                <a:xfrm>
                  <a:off x="2154" y="14049"/>
                  <a:ext cx="768" cy="71"/>
                </a:xfrm>
                <a:prstGeom prst="ellipse">
                  <a:avLst/>
                </a:prstGeom>
                <a:pattFill prst="dashHorz">
                  <a:fgClr>
                    <a:srgbClr val="548DD4">
                      <a:alpha val="50000"/>
                    </a:srgbClr>
                  </a:fgClr>
                  <a:bgClr>
                    <a:srgbClr val="FFFFFF">
                      <a:alpha val="50000"/>
                    </a:srgbClr>
                  </a:bgClr>
                </a:pattFill>
                <a:ln w="3175">
                  <a:solidFill>
                    <a:srgbClr val="548DD4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363" name="Group 339"/>
              <p:cNvGrpSpPr>
                <a:grpSpLocks/>
              </p:cNvGrpSpPr>
              <p:nvPr/>
            </p:nvGrpSpPr>
            <p:grpSpPr bwMode="auto">
              <a:xfrm>
                <a:off x="2314" y="6760"/>
                <a:ext cx="247" cy="1623"/>
                <a:chOff x="9265" y="6955"/>
                <a:chExt cx="230" cy="1373"/>
              </a:xfrm>
            </p:grpSpPr>
            <p:grpSp>
              <p:nvGrpSpPr>
                <p:cNvPr id="1364" name="Group 340"/>
                <p:cNvGrpSpPr>
                  <a:grpSpLocks/>
                </p:cNvGrpSpPr>
                <p:nvPr/>
              </p:nvGrpSpPr>
              <p:grpSpPr bwMode="auto">
                <a:xfrm>
                  <a:off x="9265" y="6955"/>
                  <a:ext cx="230" cy="145"/>
                  <a:chOff x="2445" y="11931"/>
                  <a:chExt cx="432" cy="204"/>
                </a:xfrm>
              </p:grpSpPr>
              <p:sp>
                <p:nvSpPr>
                  <p:cNvPr id="1365" name="Freeform 341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66" name="Freeform 342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67" name="Freeform 343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68" name="Freeform 344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69" name="Freeform 345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370" name="Group 346"/>
                <p:cNvGrpSpPr>
                  <a:grpSpLocks/>
                </p:cNvGrpSpPr>
                <p:nvPr/>
              </p:nvGrpSpPr>
              <p:grpSpPr bwMode="auto">
                <a:xfrm>
                  <a:off x="9265" y="7125"/>
                  <a:ext cx="230" cy="142"/>
                  <a:chOff x="2445" y="11931"/>
                  <a:chExt cx="432" cy="204"/>
                </a:xfrm>
              </p:grpSpPr>
              <p:sp>
                <p:nvSpPr>
                  <p:cNvPr id="1371" name="Freeform 347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2" name="Freeform 348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3" name="Freeform 349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4" name="Freeform 350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5" name="Freeform 351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376" name="Group 352"/>
                <p:cNvGrpSpPr>
                  <a:grpSpLocks/>
                </p:cNvGrpSpPr>
                <p:nvPr/>
              </p:nvGrpSpPr>
              <p:grpSpPr bwMode="auto">
                <a:xfrm>
                  <a:off x="9265" y="7293"/>
                  <a:ext cx="230" cy="145"/>
                  <a:chOff x="2445" y="11931"/>
                  <a:chExt cx="432" cy="204"/>
                </a:xfrm>
              </p:grpSpPr>
              <p:sp>
                <p:nvSpPr>
                  <p:cNvPr id="1377" name="Freeform 353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8" name="Freeform 354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79" name="Freeform 355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0" name="Freeform 356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1" name="Freeform 357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382" name="Group 358"/>
                <p:cNvGrpSpPr>
                  <a:grpSpLocks/>
                </p:cNvGrpSpPr>
                <p:nvPr/>
              </p:nvGrpSpPr>
              <p:grpSpPr bwMode="auto">
                <a:xfrm>
                  <a:off x="9265" y="7462"/>
                  <a:ext cx="230" cy="145"/>
                  <a:chOff x="2445" y="11931"/>
                  <a:chExt cx="432" cy="204"/>
                </a:xfrm>
              </p:grpSpPr>
              <p:sp>
                <p:nvSpPr>
                  <p:cNvPr id="1383" name="Freeform 359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4" name="Freeform 360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5" name="Freeform 361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6" name="Freeform 362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87" name="Freeform 363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388" name="Group 364"/>
                <p:cNvGrpSpPr>
                  <a:grpSpLocks/>
                </p:cNvGrpSpPr>
                <p:nvPr/>
              </p:nvGrpSpPr>
              <p:grpSpPr bwMode="auto">
                <a:xfrm>
                  <a:off x="9265" y="7632"/>
                  <a:ext cx="230" cy="144"/>
                  <a:chOff x="2445" y="11931"/>
                  <a:chExt cx="432" cy="204"/>
                </a:xfrm>
              </p:grpSpPr>
              <p:sp>
                <p:nvSpPr>
                  <p:cNvPr id="1389" name="Freeform 365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0" name="Freeform 366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1" name="Freeform 367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2" name="Freeform 368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3" name="Freeform 369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394" name="Group 370"/>
                <p:cNvGrpSpPr>
                  <a:grpSpLocks/>
                </p:cNvGrpSpPr>
                <p:nvPr/>
              </p:nvGrpSpPr>
              <p:grpSpPr bwMode="auto">
                <a:xfrm>
                  <a:off x="9265" y="7801"/>
                  <a:ext cx="230" cy="144"/>
                  <a:chOff x="2445" y="11931"/>
                  <a:chExt cx="432" cy="204"/>
                </a:xfrm>
              </p:grpSpPr>
              <p:sp>
                <p:nvSpPr>
                  <p:cNvPr id="1395" name="Freeform 371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6" name="Freeform 372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7" name="Freeform 373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8" name="Freeform 374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399" name="Freeform 375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00" name="Group 376"/>
                <p:cNvGrpSpPr>
                  <a:grpSpLocks/>
                </p:cNvGrpSpPr>
                <p:nvPr/>
              </p:nvGrpSpPr>
              <p:grpSpPr bwMode="auto">
                <a:xfrm>
                  <a:off x="9265" y="7969"/>
                  <a:ext cx="230" cy="145"/>
                  <a:chOff x="2445" y="11931"/>
                  <a:chExt cx="432" cy="204"/>
                </a:xfrm>
              </p:grpSpPr>
              <p:sp>
                <p:nvSpPr>
                  <p:cNvPr id="1401" name="Freeform 377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402" name="Freeform 378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403" name="Freeform 379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404" name="Freeform 380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405" name="Freeform 381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406" name="Freeform 382"/>
                <p:cNvSpPr>
                  <a:spLocks/>
                </p:cNvSpPr>
                <p:nvPr/>
              </p:nvSpPr>
              <p:spPr bwMode="auto">
                <a:xfrm>
                  <a:off x="9265" y="8139"/>
                  <a:ext cx="230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407" name="Freeform 383"/>
                <p:cNvSpPr>
                  <a:spLocks/>
                </p:cNvSpPr>
                <p:nvPr/>
              </p:nvSpPr>
              <p:spPr bwMode="auto">
                <a:xfrm>
                  <a:off x="9364" y="8172"/>
                  <a:ext cx="131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408" name="Freeform 384"/>
                <p:cNvSpPr>
                  <a:spLocks/>
                </p:cNvSpPr>
                <p:nvPr/>
              </p:nvSpPr>
              <p:spPr bwMode="auto">
                <a:xfrm>
                  <a:off x="9364" y="8204"/>
                  <a:ext cx="131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409" name="Freeform 385"/>
                <p:cNvSpPr>
                  <a:spLocks/>
                </p:cNvSpPr>
                <p:nvPr/>
              </p:nvSpPr>
              <p:spPr bwMode="auto">
                <a:xfrm>
                  <a:off x="9364" y="8235"/>
                  <a:ext cx="131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410" name="Freeform 386"/>
                <p:cNvSpPr>
                  <a:spLocks/>
                </p:cNvSpPr>
                <p:nvPr/>
              </p:nvSpPr>
              <p:spPr bwMode="auto">
                <a:xfrm>
                  <a:off x="9364" y="8267"/>
                  <a:ext cx="131" cy="16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1411" name="Freeform 387"/>
                <p:cNvSpPr>
                  <a:spLocks/>
                </p:cNvSpPr>
                <p:nvPr/>
              </p:nvSpPr>
              <p:spPr bwMode="auto">
                <a:xfrm>
                  <a:off x="9265" y="8308"/>
                  <a:ext cx="230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412" name="Line 388"/>
              <p:cNvSpPr>
                <a:spLocks noChangeShapeType="1"/>
              </p:cNvSpPr>
              <p:nvPr/>
            </p:nvSpPr>
            <p:spPr bwMode="auto">
              <a:xfrm flipH="1">
                <a:off x="2272" y="6708"/>
                <a:ext cx="1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413" name="AutoShape 389"/>
            <p:cNvSpPr>
              <a:spLocks noChangeArrowheads="1"/>
            </p:cNvSpPr>
            <p:nvPr/>
          </p:nvSpPr>
          <p:spPr bwMode="auto">
            <a:xfrm rot="-5400000">
              <a:off x="4441001" y="4232173"/>
              <a:ext cx="168275" cy="14922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14" name="Text Box 390"/>
            <p:cNvSpPr txBox="1">
              <a:spLocks noChangeArrowheads="1"/>
            </p:cNvSpPr>
            <p:nvPr/>
          </p:nvSpPr>
          <p:spPr bwMode="auto">
            <a:xfrm>
              <a:off x="4526726" y="4176610"/>
              <a:ext cx="525463" cy="317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V= 200ml</a:t>
              </a:r>
              <a:endPara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15" name="Freeform 391"/>
            <p:cNvSpPr>
              <a:spLocks/>
            </p:cNvSpPr>
            <p:nvPr/>
          </p:nvSpPr>
          <p:spPr bwMode="auto">
            <a:xfrm>
              <a:off x="4325114" y="3382860"/>
              <a:ext cx="1087437" cy="712788"/>
            </a:xfrm>
            <a:custGeom>
              <a:avLst/>
              <a:gdLst/>
              <a:ahLst/>
              <a:cxnLst>
                <a:cxn ang="0">
                  <a:pos x="0" y="612"/>
                </a:cxn>
                <a:cxn ang="0">
                  <a:pos x="113" y="272"/>
                </a:cxn>
                <a:cxn ang="0">
                  <a:pos x="589" y="0"/>
                </a:cxn>
                <a:cxn ang="0">
                  <a:pos x="1304" y="204"/>
                </a:cxn>
                <a:cxn ang="0">
                  <a:pos x="1712" y="1122"/>
                </a:cxn>
              </a:cxnLst>
              <a:rect l="0" t="0" r="r" b="b"/>
              <a:pathLst>
                <a:path w="1712" h="1122">
                  <a:moveTo>
                    <a:pt x="0" y="612"/>
                  </a:moveTo>
                  <a:cubicBezTo>
                    <a:pt x="19" y="555"/>
                    <a:pt x="15" y="374"/>
                    <a:pt x="113" y="272"/>
                  </a:cubicBezTo>
                  <a:cubicBezTo>
                    <a:pt x="211" y="170"/>
                    <a:pt x="391" y="11"/>
                    <a:pt x="589" y="0"/>
                  </a:cubicBezTo>
                  <a:cubicBezTo>
                    <a:pt x="929" y="23"/>
                    <a:pt x="1134" y="91"/>
                    <a:pt x="1304" y="204"/>
                  </a:cubicBezTo>
                  <a:cubicBezTo>
                    <a:pt x="1621" y="612"/>
                    <a:pt x="1627" y="931"/>
                    <a:pt x="1712" y="1122"/>
                  </a:cubicBez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322" name="Rectangle 321"/>
          <p:cNvSpPr/>
          <p:nvPr/>
        </p:nvSpPr>
        <p:spPr>
          <a:xfrm>
            <a:off x="5022376" y="4640240"/>
            <a:ext cx="832514" cy="522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0.2N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171E-6 2.71045E-6 L 0.75602 0.59112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00" y="29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0046E-6 2.98797E-6 L 0.42021 0.59482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0" y="29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2653E-6 -2.29417E-6 L -0.15762 0.1575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00" y="7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346" grpId="0" animBg="1"/>
      <p:bldP spid="347" grpId="0" animBg="1"/>
      <p:bldP spid="348" grpId="0" animBg="1"/>
      <p:bldP spid="349" grpId="0" animBg="1"/>
      <p:bldP spid="351" grpId="0" animBg="1"/>
      <p:bldP spid="351" grpId="1" animBg="1"/>
      <p:bldP spid="352" grpId="0" animBg="1"/>
      <p:bldP spid="352" grpId="1" animBg="1"/>
      <p:bldP spid="322" grpId="0" animBg="1"/>
      <p:bldP spid="32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p:control spid="45060" name="ShockwaveFlash1" r:id="rId2" imgW="8262295" imgH="4984909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>
              <a:buFont typeface="+mj-lt"/>
              <a:buAutoNum type="romanUcPeriod"/>
            </a:pP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خصائص دافعة </a:t>
            </a:r>
            <a:r>
              <a:rPr lang="ar-DZ" sz="32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10273" y="770773"/>
            <a:ext cx="5017719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النشاط03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خصائص شعاع قوة دافعة </a:t>
            </a:r>
            <a:r>
              <a:rPr lang="ar-DZ" sz="2800" b="1" u="sng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19429" y="1259045"/>
            <a:ext cx="77928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rtl="1"/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بما أنّ دافعة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تعتبر قوة، فيكون تمثيلها بشعاع له خصائصه الأربعة: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932632" y="1699889"/>
          <a:ext cx="4498157" cy="1828800"/>
        </p:xfrm>
        <a:graphic>
          <a:graphicData uri="http://schemas.openxmlformats.org/drawingml/2006/table">
            <a:tbl>
              <a:tblPr rtl="1" firstRow="1" firstCol="1" bandRow="1"/>
              <a:tblGrid>
                <a:gridCol w="1554455"/>
                <a:gridCol w="2943702"/>
              </a:tblGrid>
              <a:tr h="0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دافعة </a:t>
                      </a:r>
                      <a:r>
                        <a:rPr lang="ar-DZ" sz="2400" b="1" dirty="0" err="1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أرخميدس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6DCAC"/>
                        </a:gs>
                        <a:gs pos="12000">
                          <a:srgbClr val="E6D78A"/>
                        </a:gs>
                        <a:gs pos="30000">
                          <a:srgbClr val="C7AC4C"/>
                        </a:gs>
                        <a:gs pos="45000">
                          <a:srgbClr val="E6D78A"/>
                        </a:gs>
                        <a:gs pos="77000">
                          <a:srgbClr val="C7AC4C"/>
                        </a:gs>
                        <a:gs pos="100000">
                          <a:srgbClr val="E6DCA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الخصائص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6DCAC"/>
                        </a:gs>
                        <a:gs pos="12000">
                          <a:srgbClr val="E6D78A"/>
                        </a:gs>
                        <a:gs pos="30000">
                          <a:srgbClr val="C7AC4C"/>
                        </a:gs>
                        <a:gs pos="45000">
                          <a:srgbClr val="E6D78A"/>
                        </a:gs>
                        <a:gs pos="77000">
                          <a:srgbClr val="C7AC4C"/>
                        </a:gs>
                        <a:gs pos="100000">
                          <a:srgbClr val="E6DCAC"/>
                        </a:gs>
                      </a:gsLst>
                      <a:lin ang="5400000" scaled="0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نقطة التأثير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مركز ثقل الجزء المغمور</a:t>
                      </a:r>
                      <a:endParaRPr lang="fr-FR" sz="280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الجهة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نحو الأعلى</a:t>
                      </a:r>
                      <a:endParaRPr lang="fr-FR" sz="280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الحامل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2400" b="1" dirty="0" err="1" smtClean="0">
                          <a:solidFill>
                            <a:srgbClr val="000000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الشاقول</a:t>
                      </a:r>
                      <a:r>
                        <a:rPr lang="ar-DZ" sz="2400" b="1" dirty="0" smtClean="0">
                          <a:solidFill>
                            <a:srgbClr val="000000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 </a:t>
                      </a: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cs typeface="Traditional Arabic" pitchFamily="18" charset="-78"/>
                        </a:rPr>
                        <a:t>المار بنقطة التأثير</a:t>
                      </a:r>
                      <a:r>
                        <a:rPr lang="fr-FR" sz="2000" dirty="0">
                          <a:latin typeface="Traditional Arabic" pitchFamily="18" charset="-78"/>
                          <a:cs typeface="Traditional Arabic" pitchFamily="18" charset="-78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الشدة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Traditional Arabic" pitchFamily="18" charset="-78"/>
                          <a:ea typeface="Times New Roman"/>
                          <a:cs typeface="Traditional Arabic" pitchFamily="18" charset="-78"/>
                        </a:rPr>
                        <a:t>شدة ثقل الماء المزاح</a:t>
                      </a:r>
                      <a:endParaRPr lang="fr-FR" sz="2800" dirty="0">
                        <a:latin typeface="Traditional Arabic" pitchFamily="18" charset="-78"/>
                        <a:ea typeface="Times New Roman"/>
                        <a:cs typeface="Traditional Arabic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</a:tr>
            </a:tbl>
          </a:graphicData>
        </a:graphic>
      </p:graphicFrame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540328" y="1163782"/>
            <a:ext cx="3339311" cy="2189018"/>
            <a:chOff x="1923" y="13397"/>
            <a:chExt cx="3053" cy="2005"/>
          </a:xfrm>
        </p:grpSpPr>
        <p:grpSp>
          <p:nvGrpSpPr>
            <p:cNvPr id="12292" name="Group 4"/>
            <p:cNvGrpSpPr>
              <a:grpSpLocks/>
            </p:cNvGrpSpPr>
            <p:nvPr/>
          </p:nvGrpSpPr>
          <p:grpSpPr bwMode="auto">
            <a:xfrm>
              <a:off x="1923" y="13397"/>
              <a:ext cx="2197" cy="2005"/>
              <a:chOff x="1754" y="13151"/>
              <a:chExt cx="2414" cy="2137"/>
            </a:xfrm>
          </p:grpSpPr>
          <p:sp>
            <p:nvSpPr>
              <p:cNvPr id="12293" name="Freeform 5"/>
              <p:cNvSpPr>
                <a:spLocks/>
              </p:cNvSpPr>
              <p:nvPr/>
            </p:nvSpPr>
            <p:spPr bwMode="auto">
              <a:xfrm>
                <a:off x="1780" y="13380"/>
                <a:ext cx="2387" cy="1908"/>
              </a:xfrm>
              <a:custGeom>
                <a:avLst/>
                <a:gdLst/>
                <a:ahLst/>
                <a:cxnLst>
                  <a:cxn ang="0">
                    <a:pos x="3086" y="20"/>
                  </a:cxn>
                  <a:cxn ang="0">
                    <a:pos x="3086" y="1397"/>
                  </a:cxn>
                  <a:cxn ang="0">
                    <a:pos x="9" y="1397"/>
                  </a:cxn>
                  <a:cxn ang="0">
                    <a:pos x="0" y="0"/>
                  </a:cxn>
                  <a:cxn ang="0">
                    <a:pos x="3086" y="20"/>
                  </a:cxn>
                </a:cxnLst>
                <a:rect l="0" t="0" r="r" b="b"/>
                <a:pathLst>
                  <a:path w="3086" h="1637">
                    <a:moveTo>
                      <a:pt x="3086" y="20"/>
                    </a:moveTo>
                    <a:cubicBezTo>
                      <a:pt x="3086" y="708"/>
                      <a:pt x="3086" y="1397"/>
                      <a:pt x="3086" y="1397"/>
                    </a:cubicBezTo>
                    <a:cubicBezTo>
                      <a:pt x="2868" y="1637"/>
                      <a:pt x="72" y="1600"/>
                      <a:pt x="9" y="1397"/>
                    </a:cubicBezTo>
                    <a:cubicBezTo>
                      <a:pt x="9" y="1397"/>
                      <a:pt x="0" y="688"/>
                      <a:pt x="0" y="0"/>
                    </a:cubicBezTo>
                    <a:cubicBezTo>
                      <a:pt x="225" y="296"/>
                      <a:pt x="2755" y="272"/>
                      <a:pt x="3086" y="20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94" name="Freeform 6"/>
              <p:cNvSpPr>
                <a:spLocks/>
              </p:cNvSpPr>
              <p:nvPr/>
            </p:nvSpPr>
            <p:spPr bwMode="auto">
              <a:xfrm>
                <a:off x="1787" y="13151"/>
                <a:ext cx="2374" cy="504"/>
              </a:xfrm>
              <a:custGeom>
                <a:avLst/>
                <a:gdLst/>
                <a:ahLst/>
                <a:cxnLst>
                  <a:cxn ang="0">
                    <a:pos x="3070" y="215"/>
                  </a:cxn>
                  <a:cxn ang="0">
                    <a:pos x="0" y="194"/>
                  </a:cxn>
                  <a:cxn ang="0">
                    <a:pos x="1510" y="406"/>
                  </a:cxn>
                  <a:cxn ang="0">
                    <a:pos x="3070" y="215"/>
                  </a:cxn>
                </a:cxnLst>
                <a:rect l="0" t="0" r="r" b="b"/>
                <a:pathLst>
                  <a:path w="3070" h="432">
                    <a:moveTo>
                      <a:pt x="3070" y="215"/>
                    </a:moveTo>
                    <a:cubicBezTo>
                      <a:pt x="2958" y="0"/>
                      <a:pt x="169" y="0"/>
                      <a:pt x="0" y="194"/>
                    </a:cubicBezTo>
                    <a:cubicBezTo>
                      <a:pt x="157" y="432"/>
                      <a:pt x="1510" y="406"/>
                      <a:pt x="1510" y="406"/>
                    </a:cubicBezTo>
                    <a:cubicBezTo>
                      <a:pt x="1510" y="406"/>
                      <a:pt x="2747" y="426"/>
                      <a:pt x="3070" y="215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95" name="AutoShape 7" descr="Chêne"/>
              <p:cNvSpPr>
                <a:spLocks noChangeArrowheads="1"/>
              </p:cNvSpPr>
              <p:nvPr/>
            </p:nvSpPr>
            <p:spPr bwMode="auto">
              <a:xfrm>
                <a:off x="2524" y="13712"/>
                <a:ext cx="934" cy="720"/>
              </a:xfrm>
              <a:prstGeom prst="cube">
                <a:avLst>
                  <a:gd name="adj" fmla="val 22338"/>
                </a:avLst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96" name="Freeform 8"/>
              <p:cNvSpPr>
                <a:spLocks/>
              </p:cNvSpPr>
              <p:nvPr/>
            </p:nvSpPr>
            <p:spPr bwMode="auto">
              <a:xfrm>
                <a:off x="1754" y="14089"/>
                <a:ext cx="2404" cy="1178"/>
              </a:xfrm>
              <a:custGeom>
                <a:avLst/>
                <a:gdLst/>
                <a:ahLst/>
                <a:cxnLst>
                  <a:cxn ang="0">
                    <a:pos x="2404" y="14"/>
                  </a:cxn>
                  <a:cxn ang="0">
                    <a:pos x="2399" y="948"/>
                  </a:cxn>
                  <a:cxn ang="0">
                    <a:pos x="43" y="925"/>
                  </a:cxn>
                  <a:cxn ang="0">
                    <a:pos x="46" y="0"/>
                  </a:cxn>
                  <a:cxn ang="0">
                    <a:pos x="2404" y="14"/>
                  </a:cxn>
                </a:cxnLst>
                <a:rect l="0" t="0" r="r" b="b"/>
                <a:pathLst>
                  <a:path w="2404" h="1269">
                    <a:moveTo>
                      <a:pt x="2404" y="14"/>
                    </a:moveTo>
                    <a:cubicBezTo>
                      <a:pt x="2400" y="488"/>
                      <a:pt x="2399" y="948"/>
                      <a:pt x="2399" y="948"/>
                    </a:cubicBezTo>
                    <a:cubicBezTo>
                      <a:pt x="2297" y="1269"/>
                      <a:pt x="0" y="1269"/>
                      <a:pt x="43" y="925"/>
                    </a:cubicBezTo>
                    <a:cubicBezTo>
                      <a:pt x="43" y="925"/>
                      <a:pt x="46" y="450"/>
                      <a:pt x="46" y="0"/>
                    </a:cubicBezTo>
                    <a:cubicBezTo>
                      <a:pt x="903" y="4"/>
                      <a:pt x="1430" y="14"/>
                      <a:pt x="2404" y="14"/>
                    </a:cubicBezTo>
                    <a:close/>
                  </a:path>
                </a:pathLst>
              </a:custGeom>
              <a:solidFill>
                <a:srgbClr val="66FFCC">
                  <a:alpha val="53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12297" name="AutoShape 9"/>
              <p:cNvCxnSpPr>
                <a:cxnSpLocks noChangeShapeType="1"/>
              </p:cNvCxnSpPr>
              <p:nvPr/>
            </p:nvCxnSpPr>
            <p:spPr bwMode="auto">
              <a:xfrm flipH="1" flipV="1">
                <a:off x="1771" y="14101"/>
                <a:ext cx="2392" cy="0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2298" name="AutoShape 10"/>
              <p:cNvCxnSpPr>
                <a:cxnSpLocks noChangeShapeType="1"/>
              </p:cNvCxnSpPr>
              <p:nvPr/>
            </p:nvCxnSpPr>
            <p:spPr bwMode="auto">
              <a:xfrm flipH="1">
                <a:off x="2521" y="14105"/>
                <a:ext cx="770" cy="323"/>
              </a:xfrm>
              <a:prstGeom prst="straightConnector1">
                <a:avLst/>
              </a:prstGeom>
              <a:noFill/>
              <a:ln w="6350">
                <a:solidFill>
                  <a:srgbClr val="0000FF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2299" name="AutoShape 11"/>
              <p:cNvCxnSpPr>
                <a:cxnSpLocks noChangeShapeType="1"/>
              </p:cNvCxnSpPr>
              <p:nvPr/>
            </p:nvCxnSpPr>
            <p:spPr bwMode="auto">
              <a:xfrm flipH="1" flipV="1">
                <a:off x="2525" y="14101"/>
                <a:ext cx="770" cy="333"/>
              </a:xfrm>
              <a:prstGeom prst="straightConnector1">
                <a:avLst/>
              </a:prstGeom>
              <a:noFill/>
              <a:ln w="6350">
                <a:solidFill>
                  <a:srgbClr val="0000FF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2300" name="AutoShape 12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2465" y="13803"/>
                <a:ext cx="907" cy="8"/>
              </a:xfrm>
              <a:prstGeom prst="straightConnector1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diamond" w="sm" len="sm"/>
                <a:tailEnd type="stealth" w="lg" len="lg"/>
              </a:ln>
            </p:spPr>
          </p:cxnSp>
          <p:sp>
            <p:nvSpPr>
              <p:cNvPr id="12301" name="Text Box 13"/>
              <p:cNvSpPr txBox="1">
                <a:spLocks noChangeArrowheads="1"/>
              </p:cNvSpPr>
              <p:nvPr/>
            </p:nvSpPr>
            <p:spPr bwMode="auto">
              <a:xfrm>
                <a:off x="1867" y="14707"/>
                <a:ext cx="526" cy="3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ar-SA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raditional Arabic" pitchFamily="18" charset="-78"/>
                    <a:ea typeface="Arial" pitchFamily="34" charset="0"/>
                    <a:cs typeface="Traditional Arabic" pitchFamily="18" charset="-78"/>
                  </a:rPr>
                  <a:t>ماء</a:t>
                </a:r>
                <a:endParaRPr kumimoji="0" lang="fr-FR" sz="3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grpSp>
            <p:nvGrpSpPr>
              <p:cNvPr id="12302" name="Group 14"/>
              <p:cNvGrpSpPr>
                <a:grpSpLocks/>
              </p:cNvGrpSpPr>
              <p:nvPr/>
            </p:nvGrpSpPr>
            <p:grpSpPr bwMode="auto">
              <a:xfrm>
                <a:off x="1943" y="13664"/>
                <a:ext cx="531" cy="402"/>
                <a:chOff x="3114" y="12920"/>
                <a:chExt cx="531" cy="402"/>
              </a:xfrm>
            </p:grpSpPr>
            <p:sp>
              <p:nvSpPr>
                <p:cNvPr id="1230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114" y="12920"/>
                  <a:ext cx="531" cy="4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sz="2400" b="1" i="1" u="none" strike="noStrike" cap="none" normalizeH="0" baseline="0" dirty="0" smtClean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latin typeface="Times New Roman" pitchFamily="18" charset="0"/>
                      <a:ea typeface="Arial" pitchFamily="34" charset="0"/>
                      <a:cs typeface="Times New Roman" pitchFamily="18" charset="0"/>
                    </a:rPr>
                    <a:t>F</a:t>
                  </a:r>
                  <a:r>
                    <a:rPr kumimoji="0" lang="fr-FR" sz="2400" b="1" i="0" u="none" strike="noStrike" cap="none" normalizeH="0" baseline="-25000" dirty="0" smtClean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latin typeface="Times New Roman" pitchFamily="18" charset="0"/>
                      <a:ea typeface="Arial" pitchFamily="34" charset="0"/>
                      <a:cs typeface="Times New Roman" pitchFamily="18" charset="0"/>
                    </a:rPr>
                    <a:t>A</a:t>
                  </a:r>
                  <a:endParaRPr kumimoji="0" lang="fr-FR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cxnSp>
              <p:nvCxnSpPr>
                <p:cNvPr id="12304" name="AutoShape 16"/>
                <p:cNvCxnSpPr>
                  <a:cxnSpLocks noChangeShapeType="1"/>
                </p:cNvCxnSpPr>
                <p:nvPr/>
              </p:nvCxnSpPr>
              <p:spPr bwMode="auto">
                <a:xfrm>
                  <a:off x="3217" y="12938"/>
                  <a:ext cx="351" cy="0"/>
                </a:xfrm>
                <a:prstGeom prst="straightConnector1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stealth" w="lg" len="lg"/>
                </a:ln>
              </p:spPr>
            </p:cxnSp>
          </p:grpSp>
          <p:sp>
            <p:nvSpPr>
              <p:cNvPr id="12305" name="Text Box 17"/>
              <p:cNvSpPr txBox="1">
                <a:spLocks noChangeArrowheads="1"/>
              </p:cNvSpPr>
              <p:nvPr/>
            </p:nvSpPr>
            <p:spPr bwMode="auto">
              <a:xfrm>
                <a:off x="3445" y="13698"/>
                <a:ext cx="723" cy="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ar-SA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raditional Arabic" pitchFamily="18" charset="-78"/>
                    <a:ea typeface="Arial" pitchFamily="34" charset="0"/>
                    <a:cs typeface="Traditional Arabic" pitchFamily="18" charset="-78"/>
                  </a:rPr>
                  <a:t>الجسم</a:t>
                </a:r>
                <a:endParaRPr kumimoji="0" lang="fr-FR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12306" name="Line 18"/>
              <p:cNvSpPr>
                <a:spLocks noChangeShapeType="1"/>
              </p:cNvSpPr>
              <p:nvPr/>
            </p:nvSpPr>
            <p:spPr bwMode="auto">
              <a:xfrm flipH="1">
                <a:off x="3373" y="13930"/>
                <a:ext cx="52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2616" y="14291"/>
              <a:ext cx="704" cy="3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12308" name="AutoShape 20"/>
            <p:cNvCxnSpPr>
              <a:cxnSpLocks noChangeShapeType="1"/>
            </p:cNvCxnSpPr>
            <p:nvPr/>
          </p:nvCxnSpPr>
          <p:spPr bwMode="auto">
            <a:xfrm flipH="1" flipV="1">
              <a:off x="3214" y="14440"/>
              <a:ext cx="101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</p:spPr>
        </p:cxnSp>
        <p:sp>
          <p:nvSpPr>
            <p:cNvPr id="12309" name="Text Box 21"/>
            <p:cNvSpPr txBox="1">
              <a:spLocks noChangeArrowheads="1"/>
            </p:cNvSpPr>
            <p:nvPr/>
          </p:nvSpPr>
          <p:spPr bwMode="auto">
            <a:xfrm>
              <a:off x="4073" y="14080"/>
              <a:ext cx="903" cy="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حجم الماء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ea typeface="Arial" pitchFamily="34" charset="0"/>
                <a:cs typeface="Traditional Arabic" pitchFamily="18" charset="-78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المزاح</a:t>
              </a:r>
              <a:endPara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</p:grpSp>
      <p:sp>
        <p:nvSpPr>
          <p:cNvPr id="35" name="ZoneTexte 34"/>
          <p:cNvSpPr txBox="1"/>
          <p:nvPr/>
        </p:nvSpPr>
        <p:spPr>
          <a:xfrm>
            <a:off x="4843571" y="3073680"/>
            <a:ext cx="1289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fr-FR" b="1" i="1" dirty="0" smtClean="0">
                <a:solidFill>
                  <a:srgbClr val="FF0000"/>
                </a:solidFill>
                <a:latin typeface="Script MT Bold" pitchFamily="66" charset="0"/>
                <a:cs typeface="Times New Roman" pitchFamily="18" charset="0"/>
              </a:rPr>
              <a:t>l</a:t>
            </a:r>
            <a:endParaRPr lang="fr-FR" sz="3600" b="1" i="1" dirty="0">
              <a:solidFill>
                <a:srgbClr val="FF0000"/>
              </a:solidFill>
              <a:latin typeface="Script MT Bold" pitchFamily="66" charset="0"/>
              <a:cs typeface="Times New Roman" pitchFamily="18" charset="0"/>
            </a:endParaRPr>
          </a:p>
        </p:txBody>
      </p:sp>
      <p:grpSp>
        <p:nvGrpSpPr>
          <p:cNvPr id="44" name="Groupe 43"/>
          <p:cNvGrpSpPr/>
          <p:nvPr/>
        </p:nvGrpSpPr>
        <p:grpSpPr>
          <a:xfrm>
            <a:off x="6568160" y="697053"/>
            <a:ext cx="607263" cy="523220"/>
            <a:chOff x="5602468" y="977093"/>
            <a:chExt cx="607263" cy="523220"/>
          </a:xfrm>
        </p:grpSpPr>
        <p:sp>
          <p:nvSpPr>
            <p:cNvPr id="36" name="ZoneTexte 35"/>
            <p:cNvSpPr txBox="1"/>
            <p:nvPr/>
          </p:nvSpPr>
          <p:spPr>
            <a:xfrm>
              <a:off x="5602468" y="977093"/>
              <a:ext cx="607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fr-FR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endParaRPr lang="fr-FR" sz="3600" b="1" i="1" dirty="0">
                <a:solidFill>
                  <a:srgbClr val="FF0000"/>
                </a:solidFill>
                <a:latin typeface="Script MT Bold" pitchFamily="66" charset="0"/>
                <a:cs typeface="Times New Roman" pitchFamily="18" charset="0"/>
              </a:endParaRPr>
            </a:p>
          </p:txBody>
        </p:sp>
        <p:cxnSp>
          <p:nvCxnSpPr>
            <p:cNvPr id="38" name="Connecteur droit avec flèche 37"/>
            <p:cNvCxnSpPr/>
            <p:nvPr/>
          </p:nvCxnSpPr>
          <p:spPr>
            <a:xfrm>
              <a:off x="5705273" y="1055451"/>
              <a:ext cx="408561" cy="486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124695" y="3680690"/>
          <a:ext cx="11887198" cy="2392680"/>
        </p:xfrm>
        <a:graphic>
          <a:graphicData uri="http://schemas.openxmlformats.org/drawingml/2006/table">
            <a:tbl>
              <a:tblPr/>
              <a:tblGrid>
                <a:gridCol w="11887198"/>
              </a:tblGrid>
              <a:tr h="0">
                <a:tc>
                  <a:txBody>
                    <a:bodyPr/>
                    <a:lstStyle/>
                    <a:p>
                      <a:pPr algn="r" rtl="1">
                        <a:spcBef>
                          <a:spcPts val="1000"/>
                        </a:spcBef>
                      </a:pPr>
                      <a:r>
                        <a:rPr lang="en-US" sz="2400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  <a:sym typeface="Wingdings"/>
                        </a:rPr>
                        <a:t>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إذا غمر في سائل جسم صلب غير قابل للذوبان ولا للتفاعل معه فإنّ هذا السائل يؤثر على الجسم بقوة (دافعة </a:t>
                      </a:r>
                      <a:r>
                        <a:rPr lang="ar-DZ" sz="2400" b="1" dirty="0" err="1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أرخميدس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نحو الأعلى تساوي ثقل السائل</a:t>
                      </a:r>
                      <a:r>
                        <a:rPr lang="ar-DZ" sz="2400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الذي</a:t>
                      </a:r>
                      <a:r>
                        <a:rPr lang="en-US" sz="2400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أزاحه الجسم (أو جزء من الجسم):</a:t>
                      </a:r>
                      <a:r>
                        <a:rPr lang="fr-FR" sz="3600" dirty="0" smtClean="0">
                          <a:latin typeface="Traditional Arabic" pitchFamily="18" charset="-78"/>
                          <a:cs typeface="Traditional Arabic" pitchFamily="18" charset="-78"/>
                        </a:rPr>
                        <a:t> </a:t>
                      </a:r>
                      <a:r>
                        <a:rPr lang="en-US" sz="2400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  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endParaRPr lang="fr-FR" sz="2400" b="1" dirty="0" smtClean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  <a:p>
                      <a:pPr algn="r" rtl="1">
                        <a:spcBef>
                          <a:spcPts val="1000"/>
                        </a:spcBef>
                      </a:pP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</a:t>
                      </a:r>
                      <a:r>
                        <a:rPr lang="fr-FR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                   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r>
                        <a:rPr lang="fr-FR" sz="24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 </a:t>
                      </a:r>
                      <a:r>
                        <a:rPr lang="fr-FR" sz="24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(Kg/</a:t>
                      </a:r>
                      <a:r>
                        <a:rPr lang="fr-FR" sz="24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</a:t>
                      </a:r>
                      <a:r>
                        <a:rPr lang="fr-FR" sz="2400" b="1" kern="12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r>
                        <a:rPr lang="fr-FR" sz="24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هي الكتلة </a:t>
                      </a:r>
                      <a:r>
                        <a:rPr lang="ar-DZ" sz="2400" b="1" dirty="0" err="1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الحجمية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للسائل.</a:t>
                      </a:r>
                      <a:endParaRPr lang="fr-FR" sz="3600" dirty="0" smtClean="0">
                        <a:latin typeface="Traditional Arabic" pitchFamily="18" charset="-78"/>
                        <a:cs typeface="Traditional Arabic" pitchFamily="18" charset="-78"/>
                      </a:endParaRPr>
                    </a:p>
                    <a:p>
                      <a:pPr algn="r" rtl="1">
                        <a:spcBef>
                          <a:spcPts val="1000"/>
                        </a:spcBef>
                      </a:pPr>
                      <a:r>
                        <a:rPr lang="ar-DZ" sz="2400" b="1" i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    </a:t>
                      </a:r>
                      <a:r>
                        <a:rPr lang="fr-FR" sz="2400" b="1" i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                 </a:t>
                      </a:r>
                      <a:r>
                        <a:rPr lang="ar-DZ" sz="2400" b="1" i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</a:t>
                      </a:r>
                      <a:r>
                        <a:rPr lang="ar-DZ" sz="2400" b="0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V</a:t>
                      </a:r>
                      <a:r>
                        <a:rPr lang="en-US" sz="24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</a:t>
                      </a:r>
                      <a:r>
                        <a:rPr lang="fr-FR" sz="24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</a:t>
                      </a:r>
                      <a:r>
                        <a:rPr lang="fr-FR" sz="2400" b="1" kern="12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r>
                        <a:rPr lang="en-US" sz="24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</a:t>
                      </a:r>
                      <a:r>
                        <a:rPr lang="ar-DZ" sz="24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هو حجم السائل المزاح = حجم الجزء المغمور من الجسم</a:t>
                      </a:r>
                      <a:r>
                        <a:rPr lang="ar-DZ" sz="24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.</a:t>
                      </a:r>
                      <a:endParaRPr lang="fr-FR" sz="2400" b="1" dirty="0" smtClean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  <a:p>
                      <a:pPr algn="r" rtl="1">
                        <a:spcBef>
                          <a:spcPts val="1000"/>
                        </a:spcBef>
                      </a:pPr>
                      <a:r>
                        <a:rPr lang="en-US" sz="2400" i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</a:t>
                      </a:r>
                      <a:r>
                        <a:rPr lang="en-US" sz="2400" b="1" i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(N/kg) </a:t>
                      </a: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                             </a:t>
                      </a: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Traditional Arabic" pitchFamily="18" charset="-78"/>
                          <a:ea typeface="+mn-ea"/>
                          <a:cs typeface="Traditional Arabic" pitchFamily="18" charset="-78"/>
                        </a:rPr>
                        <a:t>هي قيمة </a:t>
                      </a:r>
                      <a:r>
                        <a:rPr lang="ar-DZ" sz="2400" b="1" kern="1200" dirty="0" err="1" smtClean="0">
                          <a:solidFill>
                            <a:schemeClr val="tx1"/>
                          </a:solidFill>
                          <a:latin typeface="Traditional Arabic" pitchFamily="18" charset="-78"/>
                          <a:ea typeface="+mn-ea"/>
                          <a:cs typeface="Traditional Arabic" pitchFamily="18" charset="-78"/>
                        </a:rPr>
                        <a:t>الجادبية</a:t>
                      </a: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Traditional Arabic" pitchFamily="18" charset="-78"/>
                          <a:ea typeface="+mn-ea"/>
                          <a:cs typeface="Traditional Arabic" pitchFamily="18" charset="-78"/>
                        </a:rPr>
                        <a:t> الأرضية</a:t>
                      </a:r>
                      <a:endParaRPr lang="fr-FR" sz="4000" dirty="0">
                        <a:latin typeface="Traditional Arabic" pitchFamily="18" charset="-78"/>
                        <a:cs typeface="Traditional Arabic" pitchFamily="18" charset="-78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11006875" y="3078079"/>
            <a:ext cx="10118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spcAft>
                <a:spcPts val="0"/>
              </a:spcAft>
              <a:tabLst>
                <a:tab pos="3865245" algn="l"/>
              </a:tabLst>
            </a:pPr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ea typeface="Times New Roman"/>
                <a:cs typeface="Traditional Arabic" pitchFamily="18" charset="-78"/>
              </a:rPr>
              <a:t>النتيـــجة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ea typeface="Times New Roman"/>
                <a:cs typeface="Traditional Arabic" pitchFamily="18" charset="-78"/>
              </a:rPr>
              <a:t>:</a:t>
            </a:r>
            <a:endParaRPr lang="fr-FR" sz="3200" b="1" dirty="0">
              <a:solidFill>
                <a:srgbClr val="0000FF"/>
              </a:solidFill>
              <a:latin typeface="Traditional Arabic" pitchFamily="18" charset="-78"/>
              <a:ea typeface="Times New Roman"/>
              <a:cs typeface="Traditional Arabic" pitchFamily="18" charset="-78"/>
            </a:endParaRP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2202873" y="4142509"/>
            <a:ext cx="2994313" cy="468000"/>
          </a:xfrm>
          <a:prstGeom prst="rect">
            <a:avLst/>
          </a:prstGeom>
          <a:solidFill>
            <a:srgbClr val="D6E3BC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F</a:t>
            </a:r>
            <a:r>
              <a:rPr kumimoji="0" lang="fr-FR" sz="2400" b="1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A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 = P</a:t>
            </a:r>
            <a:r>
              <a:rPr kumimoji="0" lang="fr-FR" sz="2400" b="1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Script MT Bold" pitchFamily="66" charset="0"/>
                <a:ea typeface="Arial" pitchFamily="34" charset="0"/>
                <a:cs typeface="Times New Roman" pitchFamily="18" charset="0"/>
              </a:rPr>
              <a:t>l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 = 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  <a:sym typeface="Symbol" pitchFamily="18" charset="2"/>
              </a:rPr>
              <a:t>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 </a:t>
            </a:r>
            <a:r>
              <a:rPr kumimoji="0" lang="fr-FR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×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 V </a:t>
            </a:r>
            <a:r>
              <a:rPr kumimoji="0" lang="fr-FR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×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 g</a:t>
            </a: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5" grpId="0"/>
      <p:bldP spid="51" grpId="0"/>
      <p:bldP spid="123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fr-FR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.II </a:t>
            </a: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العوامل المؤثرة في شدة دافعة </a:t>
            </a:r>
            <a:r>
              <a:rPr lang="ar-DZ" sz="32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51432" y="770773"/>
            <a:ext cx="4576574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النشاط04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اختلاف الكتلة </a:t>
            </a:r>
            <a:r>
              <a:rPr lang="ar-DZ" sz="2800" b="1" u="sng" dirty="0" err="1" smtClean="0">
                <a:latin typeface="Traditional Arabic" pitchFamily="18" charset="-78"/>
                <a:cs typeface="Traditional Arabic" pitchFamily="18" charset="-78"/>
              </a:rPr>
              <a:t>الحجمية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 للسوائل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58145" y="1591554"/>
            <a:ext cx="743989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rtl="1">
              <a:buFont typeface="Wingdings" pitchFamily="2" charset="2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نغمر جسما صلبا في سائلين مختلفين أي لهما كثافة مختلفة مثلا نأخذ الماء </a:t>
            </a:r>
          </a:p>
          <a:p>
            <a:pPr algn="r" rtl="1"/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 والزيت، (كثافة الزيت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fr-FR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=0,9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وكثافة الماء المقطر 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fr-FR" sz="24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) الوثيقة (4).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592510" y="2939534"/>
            <a:ext cx="63818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الملاحظة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 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السائل الذي كتلته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الحجمية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كبيرة يؤثر بدافعة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أكبر</a:t>
            </a:r>
            <a:r>
              <a:rPr lang="ar-DZ" sz="24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 </a:t>
            </a:r>
            <a:endParaRPr lang="fr-FR" sz="28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683777" y="1377214"/>
            <a:ext cx="4304270" cy="3832095"/>
            <a:chOff x="1776" y="2200"/>
            <a:chExt cx="3977" cy="3592"/>
          </a:xfrm>
        </p:grpSpPr>
        <p:sp>
          <p:nvSpPr>
            <p:cNvPr id="57347" name="Text Box 3"/>
            <p:cNvSpPr txBox="1">
              <a:spLocks noChangeArrowheads="1"/>
            </p:cNvSpPr>
            <p:nvPr/>
          </p:nvSpPr>
          <p:spPr bwMode="auto">
            <a:xfrm>
              <a:off x="2609" y="5312"/>
              <a:ext cx="1560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DZ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الوثيقة (4)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sp>
          <p:nvSpPr>
            <p:cNvPr id="57348" name="Text Box 4"/>
            <p:cNvSpPr txBox="1">
              <a:spLocks noChangeArrowheads="1"/>
            </p:cNvSpPr>
            <p:nvPr/>
          </p:nvSpPr>
          <p:spPr bwMode="auto">
            <a:xfrm>
              <a:off x="2008" y="4810"/>
              <a:ext cx="3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  <a:sym typeface="Symbol" pitchFamily="18" charset="2"/>
                </a:rPr>
                <a:t></a:t>
              </a:r>
              <a:r>
                <a:rPr kumimoji="0" lang="fr-FR" sz="12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</a:rPr>
                <a:t>1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9" name="Text Box 5"/>
            <p:cNvSpPr txBox="1">
              <a:spLocks noChangeArrowheads="1"/>
            </p:cNvSpPr>
            <p:nvPr/>
          </p:nvSpPr>
          <p:spPr bwMode="auto">
            <a:xfrm>
              <a:off x="4084" y="4844"/>
              <a:ext cx="3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  <a:sym typeface="Symbol" pitchFamily="18" charset="2"/>
                </a:rPr>
                <a:t></a:t>
              </a:r>
              <a:r>
                <a:rPr kumimoji="0" lang="fr-FR" sz="12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</a:rPr>
                <a:t>2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0" name="Text Box 6"/>
            <p:cNvSpPr txBox="1">
              <a:spLocks noChangeArrowheads="1"/>
            </p:cNvSpPr>
            <p:nvPr/>
          </p:nvSpPr>
          <p:spPr bwMode="auto">
            <a:xfrm>
              <a:off x="4678" y="2200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=2.5N</a:t>
              </a:r>
              <a:endPara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51" name="Text Box 7"/>
            <p:cNvSpPr txBox="1">
              <a:spLocks noChangeArrowheads="1"/>
            </p:cNvSpPr>
            <p:nvPr/>
          </p:nvSpPr>
          <p:spPr bwMode="auto">
            <a:xfrm>
              <a:off x="4756" y="2506"/>
              <a:ext cx="997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ar-DZ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=2.2N</a:t>
              </a:r>
              <a:endPara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52" name="Text Box 8"/>
            <p:cNvSpPr txBox="1">
              <a:spLocks noChangeArrowheads="1"/>
            </p:cNvSpPr>
            <p:nvPr/>
          </p:nvSpPr>
          <p:spPr bwMode="auto">
            <a:xfrm>
              <a:off x="4804" y="2818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2000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=0.3N</a:t>
              </a:r>
              <a:endParaRPr kumimoji="0" lang="fr-FR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7353" name="Group 9"/>
            <p:cNvGrpSpPr>
              <a:grpSpLocks/>
            </p:cNvGrpSpPr>
            <p:nvPr/>
          </p:nvGrpSpPr>
          <p:grpSpPr bwMode="auto">
            <a:xfrm>
              <a:off x="3757" y="2304"/>
              <a:ext cx="1285" cy="2937"/>
              <a:chOff x="8879" y="8292"/>
              <a:chExt cx="1285" cy="2937"/>
            </a:xfrm>
          </p:grpSpPr>
          <p:grpSp>
            <p:nvGrpSpPr>
              <p:cNvPr id="57354" name="Group 10"/>
              <p:cNvGrpSpPr>
                <a:grpSpLocks/>
              </p:cNvGrpSpPr>
              <p:nvPr/>
            </p:nvGrpSpPr>
            <p:grpSpPr bwMode="auto">
              <a:xfrm>
                <a:off x="8879" y="8292"/>
                <a:ext cx="1009" cy="1009"/>
                <a:chOff x="5665" y="3560"/>
                <a:chExt cx="1466" cy="1465"/>
              </a:xfrm>
            </p:grpSpPr>
            <p:grpSp>
              <p:nvGrpSpPr>
                <p:cNvPr id="57355" name="Group 11"/>
                <p:cNvGrpSpPr>
                  <a:grpSpLocks/>
                </p:cNvGrpSpPr>
                <p:nvPr/>
              </p:nvGrpSpPr>
              <p:grpSpPr bwMode="auto">
                <a:xfrm>
                  <a:off x="5666" y="3560"/>
                  <a:ext cx="1465" cy="1465"/>
                  <a:chOff x="5671" y="3562"/>
                  <a:chExt cx="1465" cy="1465"/>
                </a:xfrm>
              </p:grpSpPr>
              <p:grpSp>
                <p:nvGrpSpPr>
                  <p:cNvPr id="57356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5671" y="3562"/>
                    <a:ext cx="1465" cy="1465"/>
                    <a:chOff x="5167" y="3427"/>
                    <a:chExt cx="1465" cy="1465"/>
                  </a:xfrm>
                </p:grpSpPr>
                <p:grpSp>
                  <p:nvGrpSpPr>
                    <p:cNvPr id="5735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167" y="3427"/>
                      <a:ext cx="1465" cy="1465"/>
                      <a:chOff x="5167" y="3427"/>
                      <a:chExt cx="1465" cy="1465"/>
                    </a:xfrm>
                  </p:grpSpPr>
                  <p:grpSp>
                    <p:nvGrpSpPr>
                      <p:cNvPr id="57358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167" y="3427"/>
                        <a:ext cx="1465" cy="1465"/>
                        <a:chOff x="7522" y="1563"/>
                        <a:chExt cx="1465" cy="1465"/>
                      </a:xfrm>
                    </p:grpSpPr>
                    <p:sp>
                      <p:nvSpPr>
                        <p:cNvPr id="57359" name="Oval 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22" y="1563"/>
                          <a:ext cx="1465" cy="146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0" name="Line 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793" y="1764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1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72452">
                          <a:off x="7904" y="169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2" name="Line 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20652">
                          <a:off x="8015" y="164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3" name="Line 1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798363">
                          <a:off x="8126" y="161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4" name="Line 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2672958">
                          <a:off x="8249" y="1603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5" name="Line 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204533">
                          <a:off x="7682" y="2613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6" name="Line 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3686280">
                          <a:off x="8367" y="1628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7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4178721">
                          <a:off x="8503" y="167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8" name="Line 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4826921">
                          <a:off x="8609" y="1742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69" name="Line 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5204632">
                          <a:off x="8695" y="181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0" name="Line 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079227">
                          <a:off x="8773" y="191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1" name="Line 2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721341">
                          <a:off x="8799" y="2024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2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493794">
                          <a:off x="8854" y="2158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3" name="Line 2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8141993">
                          <a:off x="8863" y="2282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4" name="Line 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8519704">
                          <a:off x="8849" y="2396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75" name="Line 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9394299">
                          <a:off x="8814" y="2514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grpSp>
                      <p:nvGrpSpPr>
                        <p:cNvPr id="57376" name="Group 32"/>
                        <p:cNvGrpSpPr>
                          <a:grpSpLocks/>
                        </p:cNvGrpSpPr>
                        <p:nvPr/>
                      </p:nvGrpSpPr>
                      <p:grpSpPr bwMode="auto">
                        <a:xfrm rot="10143224">
                          <a:off x="8321" y="2656"/>
                          <a:ext cx="521" cy="259"/>
                          <a:chOff x="4406" y="1717"/>
                          <a:chExt cx="521" cy="259"/>
                        </a:xfrm>
                      </p:grpSpPr>
                      <p:sp>
                        <p:nvSpPr>
                          <p:cNvPr id="57377" name="Line 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406" y="1878"/>
                            <a:ext cx="97" cy="98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378" name="Line 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772452">
                            <a:off x="4517" y="1813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379" name="Line 3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1420652">
                            <a:off x="4628" y="1759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380" name="Line 3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1798363">
                            <a:off x="4739" y="1729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381" name="Line 3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2672958">
                            <a:off x="4862" y="1717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</p:grpSp>
                    <p:sp>
                      <p:nvSpPr>
                        <p:cNvPr id="57382" name="Line 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440840">
                          <a:off x="8199" y="2867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83" name="Line 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039816">
                          <a:off x="8090" y="2890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84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688016">
                          <a:off x="7971" y="284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85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5065727">
                          <a:off x="7868" y="2798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86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5940322">
                          <a:off x="7767" y="2727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387" name="Oval 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66" y="1606"/>
                          <a:ext cx="1378" cy="1378"/>
                        </a:xfrm>
                        <a:prstGeom prst="ellipse">
                          <a:avLst/>
                        </a:prstGeom>
                        <a:noFill/>
                        <a:ln w="28575">
                          <a:solidFill>
                            <a:srgbClr val="FFFF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57388" name="WordArt 44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7898641">
                        <a:off x="5437" y="4336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50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389" name="WordArt 45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0834392">
                        <a:off x="5802" y="4510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40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390" name="WordArt 46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4016058">
                        <a:off x="6189" y="4333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30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391" name="WordArt 47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7697217">
                        <a:off x="6243" y="3931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20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392" name="WordArt 48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20430436">
                        <a:off x="5931" y="3628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10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393" name="WordArt 49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8422993">
                        <a:off x="5553" y="3721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 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57394" name="WordArt 50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5402491">
                      <a:off x="5143" y="3999"/>
                      <a:ext cx="454" cy="11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FF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x 0,1 N</a:t>
                      </a:r>
                      <a:endParaRPr lang="fr-FR" sz="800" kern="10" spc="0">
                        <a:ln w="9525">
                          <a:solidFill>
                            <a:srgbClr val="FF0000"/>
                          </a:solidFill>
                          <a:round/>
                          <a:headEnd/>
                          <a:tailEnd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57395" name="AutoShape 51"/>
                  <p:cNvSpPr>
                    <a:spLocks noChangeAspect="1" noChangeArrowheads="1"/>
                  </p:cNvSpPr>
                  <p:nvPr/>
                </p:nvSpPr>
                <p:spPr bwMode="auto">
                  <a:xfrm rot="7896017">
                    <a:off x="5883" y="3824"/>
                    <a:ext cx="74" cy="7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396" name="AutoShape 52"/>
                  <p:cNvSpPr>
                    <a:spLocks noChangeAspect="1" noChangeArrowheads="1"/>
                  </p:cNvSpPr>
                  <p:nvPr/>
                </p:nvSpPr>
                <p:spPr bwMode="auto">
                  <a:xfrm rot="3815911">
                    <a:off x="5790" y="4559"/>
                    <a:ext cx="74" cy="7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57397" name="Oval 53"/>
                <p:cNvSpPr>
                  <a:spLocks noChangeArrowheads="1"/>
                </p:cNvSpPr>
                <p:nvPr/>
              </p:nvSpPr>
              <p:spPr bwMode="auto">
                <a:xfrm>
                  <a:off x="5665" y="3560"/>
                  <a:ext cx="1465" cy="1465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57398" name="AutoShape 54"/>
              <p:cNvSpPr>
                <a:spLocks noChangeArrowheads="1"/>
              </p:cNvSpPr>
              <p:nvPr/>
            </p:nvSpPr>
            <p:spPr bwMode="auto">
              <a:xfrm rot="3000000" flipH="1">
                <a:off x="9476" y="8632"/>
                <a:ext cx="98" cy="137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399" name="Oval 55"/>
              <p:cNvSpPr>
                <a:spLocks noChangeArrowheads="1"/>
              </p:cNvSpPr>
              <p:nvPr/>
            </p:nvSpPr>
            <p:spPr bwMode="auto">
              <a:xfrm rot="131619">
                <a:off x="9263" y="8654"/>
                <a:ext cx="268" cy="26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57400" name="Group 56"/>
              <p:cNvGrpSpPr>
                <a:grpSpLocks/>
              </p:cNvGrpSpPr>
              <p:nvPr/>
            </p:nvGrpSpPr>
            <p:grpSpPr bwMode="auto">
              <a:xfrm>
                <a:off x="8956" y="9712"/>
                <a:ext cx="1208" cy="1517"/>
                <a:chOff x="7590" y="9659"/>
                <a:chExt cx="1208" cy="1517"/>
              </a:xfrm>
            </p:grpSpPr>
            <p:grpSp>
              <p:nvGrpSpPr>
                <p:cNvPr id="57401" name="Group 57"/>
                <p:cNvGrpSpPr>
                  <a:grpSpLocks/>
                </p:cNvGrpSpPr>
                <p:nvPr/>
              </p:nvGrpSpPr>
              <p:grpSpPr bwMode="auto">
                <a:xfrm>
                  <a:off x="7590" y="9659"/>
                  <a:ext cx="1208" cy="1517"/>
                  <a:chOff x="5304" y="3092"/>
                  <a:chExt cx="1315" cy="1646"/>
                </a:xfrm>
              </p:grpSpPr>
              <p:grpSp>
                <p:nvGrpSpPr>
                  <p:cNvPr id="57402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5304" y="3092"/>
                    <a:ext cx="1315" cy="1646"/>
                    <a:chOff x="5304" y="3092"/>
                    <a:chExt cx="1315" cy="1646"/>
                  </a:xfrm>
                </p:grpSpPr>
                <p:sp>
                  <p:nvSpPr>
                    <p:cNvPr id="57403" name="AutoShap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7" y="3140"/>
                      <a:ext cx="1065" cy="1560"/>
                    </a:xfrm>
                    <a:prstGeom prst="roundRect">
                      <a:avLst>
                        <a:gd name="adj" fmla="val 8264"/>
                      </a:avLst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7725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77255"/>
                            <a:invGamma/>
                          </a:srgbClr>
                        </a:gs>
                      </a:gsLst>
                      <a:lin ang="0" scaled="1"/>
                    </a:gradFill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4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6425" y="3176"/>
                      <a:ext cx="129" cy="15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7"/>
                        </a:cxn>
                        <a:cxn ang="0">
                          <a:pos x="0" y="156"/>
                        </a:cxn>
                        <a:cxn ang="0">
                          <a:pos x="30" y="153"/>
                        </a:cxn>
                        <a:cxn ang="0">
                          <a:pos x="66" y="45"/>
                        </a:cxn>
                        <a:cxn ang="0">
                          <a:pos x="129" y="0"/>
                        </a:cxn>
                        <a:cxn ang="0">
                          <a:pos x="0" y="27"/>
                        </a:cxn>
                      </a:cxnLst>
                      <a:rect l="0" t="0" r="r" b="b"/>
                      <a:pathLst>
                        <a:path w="129" h="156">
                          <a:moveTo>
                            <a:pt x="0" y="27"/>
                          </a:moveTo>
                          <a:lnTo>
                            <a:pt x="0" y="156"/>
                          </a:lnTo>
                          <a:lnTo>
                            <a:pt x="30" y="153"/>
                          </a:lnTo>
                          <a:lnTo>
                            <a:pt x="66" y="45"/>
                          </a:lnTo>
                          <a:lnTo>
                            <a:pt x="129" y="0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5" name="Arc 61"/>
                    <p:cNvSpPr>
                      <a:spLocks/>
                    </p:cNvSpPr>
                    <p:nvPr/>
                  </p:nvSpPr>
                  <p:spPr bwMode="auto">
                    <a:xfrm>
                      <a:off x="5306" y="3152"/>
                      <a:ext cx="71" cy="80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6" name="Arc 62"/>
                    <p:cNvSpPr>
                      <a:spLocks/>
                    </p:cNvSpPr>
                    <p:nvPr/>
                  </p:nvSpPr>
                  <p:spPr bwMode="auto">
                    <a:xfrm flipH="1">
                      <a:off x="6440" y="3152"/>
                      <a:ext cx="179" cy="251"/>
                    </a:xfrm>
                    <a:custGeom>
                      <a:avLst/>
                      <a:gdLst>
                        <a:gd name="G0" fmla="+- 182 0 0"/>
                        <a:gd name="G1" fmla="+- 21600 0 0"/>
                        <a:gd name="G2" fmla="+- 21600 0 0"/>
                        <a:gd name="T0" fmla="*/ 0 w 21772"/>
                        <a:gd name="T1" fmla="*/ 1 h 21600"/>
                        <a:gd name="T2" fmla="*/ 21772 w 21772"/>
                        <a:gd name="T3" fmla="*/ 20951 h 21600"/>
                        <a:gd name="T4" fmla="*/ 182 w 21772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772" h="21600" fill="none" extrusionOk="0">
                          <a:moveTo>
                            <a:pt x="-1" y="0"/>
                          </a:moveTo>
                          <a:cubicBezTo>
                            <a:pt x="60" y="0"/>
                            <a:pt x="121" y="-1"/>
                            <a:pt x="182" y="0"/>
                          </a:cubicBezTo>
                          <a:cubicBezTo>
                            <a:pt x="11858" y="0"/>
                            <a:pt x="21421" y="9279"/>
                            <a:pt x="21772" y="20950"/>
                          </a:cubicBezTo>
                        </a:path>
                        <a:path w="21772" h="21600" stroke="0" extrusionOk="0">
                          <a:moveTo>
                            <a:pt x="-1" y="0"/>
                          </a:moveTo>
                          <a:cubicBezTo>
                            <a:pt x="60" y="0"/>
                            <a:pt x="121" y="-1"/>
                            <a:pt x="182" y="0"/>
                          </a:cubicBezTo>
                          <a:cubicBezTo>
                            <a:pt x="11858" y="0"/>
                            <a:pt x="21421" y="9279"/>
                            <a:pt x="21772" y="20950"/>
                          </a:cubicBezTo>
                          <a:lnTo>
                            <a:pt x="182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7" name="Oval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04" y="3092"/>
                      <a:ext cx="1301" cy="1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8" name="Oval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" y="4644"/>
                      <a:ext cx="985" cy="94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09" name="Oval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9" y="4632"/>
                      <a:ext cx="973" cy="97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410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5378" y="3656"/>
                    <a:ext cx="1036" cy="1074"/>
                    <a:chOff x="1223" y="1511"/>
                    <a:chExt cx="1036" cy="1074"/>
                  </a:xfrm>
                </p:grpSpPr>
                <p:sp>
                  <p:nvSpPr>
                    <p:cNvPr id="57411" name="Freeform 67"/>
                    <p:cNvSpPr>
                      <a:spLocks/>
                    </p:cNvSpPr>
                    <p:nvPr/>
                  </p:nvSpPr>
                  <p:spPr bwMode="auto">
                    <a:xfrm>
                      <a:off x="1223" y="1567"/>
                      <a:ext cx="1036" cy="101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936"/>
                        </a:cxn>
                        <a:cxn ang="0">
                          <a:pos x="24" y="970"/>
                        </a:cxn>
                        <a:cxn ang="0">
                          <a:pos x="60" y="991"/>
                        </a:cxn>
                        <a:cxn ang="0">
                          <a:pos x="138" y="1000"/>
                        </a:cxn>
                        <a:cxn ang="0">
                          <a:pos x="480" y="1018"/>
                        </a:cxn>
                        <a:cxn ang="0">
                          <a:pos x="909" y="1000"/>
                        </a:cxn>
                        <a:cxn ang="0">
                          <a:pos x="999" y="982"/>
                        </a:cxn>
                        <a:cxn ang="0">
                          <a:pos x="1036" y="957"/>
                        </a:cxn>
                        <a:cxn ang="0">
                          <a:pos x="1036" y="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36" h="1018">
                          <a:moveTo>
                            <a:pt x="0" y="0"/>
                          </a:moveTo>
                          <a:lnTo>
                            <a:pt x="0" y="936"/>
                          </a:lnTo>
                          <a:lnTo>
                            <a:pt x="24" y="970"/>
                          </a:lnTo>
                          <a:lnTo>
                            <a:pt x="60" y="991"/>
                          </a:lnTo>
                          <a:lnTo>
                            <a:pt x="138" y="1000"/>
                          </a:lnTo>
                          <a:lnTo>
                            <a:pt x="480" y="1018"/>
                          </a:lnTo>
                          <a:lnTo>
                            <a:pt x="909" y="1000"/>
                          </a:lnTo>
                          <a:lnTo>
                            <a:pt x="999" y="982"/>
                          </a:lnTo>
                          <a:lnTo>
                            <a:pt x="1036" y="957"/>
                          </a:lnTo>
                          <a:lnTo>
                            <a:pt x="1036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50000"/>
                      </a:srgbClr>
                    </a:solidFill>
                    <a:ln w="317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12" name="Oval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24" y="1511"/>
                      <a:ext cx="1033" cy="97"/>
                    </a:xfrm>
                    <a:prstGeom prst="ellipse">
                      <a:avLst/>
                    </a:prstGeom>
                    <a:solidFill>
                      <a:srgbClr val="FFFF00">
                        <a:alpha val="50000"/>
                      </a:srgbClr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57413" name="Group 69"/>
                <p:cNvGrpSpPr>
                  <a:grpSpLocks/>
                </p:cNvGrpSpPr>
                <p:nvPr/>
              </p:nvGrpSpPr>
              <p:grpSpPr bwMode="auto">
                <a:xfrm>
                  <a:off x="7666" y="9810"/>
                  <a:ext cx="190" cy="1309"/>
                  <a:chOff x="8010" y="12054"/>
                  <a:chExt cx="417" cy="1049"/>
                </a:xfrm>
              </p:grpSpPr>
              <p:grpSp>
                <p:nvGrpSpPr>
                  <p:cNvPr id="57414" name="Group 70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054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415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16" name="Freeform 72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17" name="Freeform 73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18" name="Freeform 74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19" name="Freeform 75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420" name="Group 76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226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421" name="Freeform 77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2" name="Freeform 78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3" name="Freeform 79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4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5" name="Freeform 81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426" name="Group 82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398"/>
                    <a:ext cx="417" cy="146"/>
                    <a:chOff x="2445" y="11931"/>
                    <a:chExt cx="432" cy="204"/>
                  </a:xfrm>
                </p:grpSpPr>
                <p:sp>
                  <p:nvSpPr>
                    <p:cNvPr id="57427" name="Freeform 83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8" name="Freeform 84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29" name="Freeform 85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0" name="Freeform 86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1" name="Freeform 87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432" name="Group 88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569"/>
                    <a:ext cx="417" cy="146"/>
                    <a:chOff x="2445" y="11931"/>
                    <a:chExt cx="432" cy="204"/>
                  </a:xfrm>
                </p:grpSpPr>
                <p:sp>
                  <p:nvSpPr>
                    <p:cNvPr id="57433" name="Freeform 89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4" name="Freeform 90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5" name="Freeform 91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6" name="Freeform 92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37" name="Freeform 93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438" name="Group 94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739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439" name="Freeform 95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40" name="Freeform 96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41" name="Freeform 97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42" name="Freeform 98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443" name="Freeform 99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57444" name="Freeform 100"/>
                  <p:cNvSpPr>
                    <a:spLocks/>
                  </p:cNvSpPr>
                  <p:nvPr/>
                </p:nvSpPr>
                <p:spPr bwMode="auto">
                  <a:xfrm flipH="1">
                    <a:off x="8010" y="12912"/>
                    <a:ext cx="417" cy="20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45" name="Freeform 101"/>
                  <p:cNvSpPr>
                    <a:spLocks/>
                  </p:cNvSpPr>
                  <p:nvPr/>
                </p:nvSpPr>
                <p:spPr bwMode="auto">
                  <a:xfrm flipH="1">
                    <a:off x="8010" y="12945"/>
                    <a:ext cx="238" cy="1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46" name="Freeform 102"/>
                  <p:cNvSpPr>
                    <a:spLocks/>
                  </p:cNvSpPr>
                  <p:nvPr/>
                </p:nvSpPr>
                <p:spPr bwMode="auto">
                  <a:xfrm flipH="1">
                    <a:off x="8010" y="12977"/>
                    <a:ext cx="238" cy="1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47" name="Freeform 103"/>
                  <p:cNvSpPr>
                    <a:spLocks/>
                  </p:cNvSpPr>
                  <p:nvPr/>
                </p:nvSpPr>
                <p:spPr bwMode="auto">
                  <a:xfrm flipH="1">
                    <a:off x="8010" y="13009"/>
                    <a:ext cx="238" cy="17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48" name="Freeform 104"/>
                  <p:cNvSpPr>
                    <a:spLocks/>
                  </p:cNvSpPr>
                  <p:nvPr/>
                </p:nvSpPr>
                <p:spPr bwMode="auto">
                  <a:xfrm flipH="1">
                    <a:off x="8010" y="13041"/>
                    <a:ext cx="238" cy="16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49" name="Freeform 105"/>
                  <p:cNvSpPr>
                    <a:spLocks/>
                  </p:cNvSpPr>
                  <p:nvPr/>
                </p:nvSpPr>
                <p:spPr bwMode="auto">
                  <a:xfrm flipH="1">
                    <a:off x="8010" y="13083"/>
                    <a:ext cx="417" cy="20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57450" name="AutoShape 106"/>
              <p:cNvSpPr>
                <a:spLocks noChangeArrowheads="1"/>
              </p:cNvSpPr>
              <p:nvPr/>
            </p:nvSpPr>
            <p:spPr bwMode="auto">
              <a:xfrm>
                <a:off x="9307" y="10445"/>
                <a:ext cx="453" cy="493"/>
              </a:xfrm>
              <a:prstGeom prst="cube">
                <a:avLst>
                  <a:gd name="adj" fmla="val 24972"/>
                </a:avLst>
              </a:prstGeom>
              <a:gradFill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451" name="Freeform 107"/>
              <p:cNvSpPr>
                <a:spLocks/>
              </p:cNvSpPr>
              <p:nvPr/>
            </p:nvSpPr>
            <p:spPr bwMode="auto">
              <a:xfrm>
                <a:off x="9447" y="8787"/>
                <a:ext cx="114" cy="2146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14" y="1694"/>
                  </a:cxn>
                  <a:cxn ang="0">
                    <a:pos x="4" y="1774"/>
                  </a:cxn>
                  <a:cxn ang="0">
                    <a:pos x="0" y="2146"/>
                  </a:cxn>
                </a:cxnLst>
                <a:rect l="0" t="0" r="r" b="b"/>
                <a:pathLst>
                  <a:path w="114" h="2146">
                    <a:moveTo>
                      <a:pt x="83" y="0"/>
                    </a:moveTo>
                    <a:lnTo>
                      <a:pt x="114" y="1694"/>
                    </a:lnTo>
                    <a:lnTo>
                      <a:pt x="4" y="1774"/>
                    </a:lnTo>
                    <a:lnTo>
                      <a:pt x="0" y="2146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452" name="Freeform 108"/>
              <p:cNvSpPr>
                <a:spLocks/>
              </p:cNvSpPr>
              <p:nvPr/>
            </p:nvSpPr>
            <p:spPr bwMode="auto">
              <a:xfrm>
                <a:off x="9518" y="10398"/>
                <a:ext cx="111" cy="85"/>
              </a:xfrm>
              <a:custGeom>
                <a:avLst/>
                <a:gdLst/>
                <a:ahLst/>
                <a:cxnLst>
                  <a:cxn ang="0">
                    <a:pos x="111" y="43"/>
                  </a:cxn>
                  <a:cxn ang="0">
                    <a:pos x="31" y="79"/>
                  </a:cxn>
                  <a:cxn ang="0">
                    <a:pos x="0" y="44"/>
                  </a:cxn>
                  <a:cxn ang="0">
                    <a:pos x="76" y="55"/>
                  </a:cxn>
                  <a:cxn ang="0">
                    <a:pos x="49" y="85"/>
                  </a:cxn>
                  <a:cxn ang="0">
                    <a:pos x="0" y="0"/>
                  </a:cxn>
                </a:cxnLst>
                <a:rect l="0" t="0" r="r" b="b"/>
                <a:pathLst>
                  <a:path w="111" h="85">
                    <a:moveTo>
                      <a:pt x="111" y="43"/>
                    </a:moveTo>
                    <a:lnTo>
                      <a:pt x="31" y="79"/>
                    </a:lnTo>
                    <a:lnTo>
                      <a:pt x="0" y="44"/>
                    </a:lnTo>
                    <a:lnTo>
                      <a:pt x="76" y="55"/>
                    </a:lnTo>
                    <a:lnTo>
                      <a:pt x="49" y="85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57453" name="AutoShape 109"/>
              <p:cNvCxnSpPr>
                <a:cxnSpLocks noChangeShapeType="1"/>
              </p:cNvCxnSpPr>
              <p:nvPr/>
            </p:nvCxnSpPr>
            <p:spPr bwMode="auto">
              <a:xfrm flipV="1">
                <a:off x="9539" y="10394"/>
                <a:ext cx="58" cy="75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57454" name="Group 110"/>
            <p:cNvGrpSpPr>
              <a:grpSpLocks/>
            </p:cNvGrpSpPr>
            <p:nvPr/>
          </p:nvGrpSpPr>
          <p:grpSpPr bwMode="auto">
            <a:xfrm>
              <a:off x="1776" y="2294"/>
              <a:ext cx="1285" cy="2937"/>
              <a:chOff x="8879" y="8292"/>
              <a:chExt cx="1285" cy="2937"/>
            </a:xfrm>
          </p:grpSpPr>
          <p:grpSp>
            <p:nvGrpSpPr>
              <p:cNvPr id="57455" name="Group 111"/>
              <p:cNvGrpSpPr>
                <a:grpSpLocks/>
              </p:cNvGrpSpPr>
              <p:nvPr/>
            </p:nvGrpSpPr>
            <p:grpSpPr bwMode="auto">
              <a:xfrm>
                <a:off x="8879" y="8292"/>
                <a:ext cx="1009" cy="1009"/>
                <a:chOff x="5665" y="3560"/>
                <a:chExt cx="1466" cy="1465"/>
              </a:xfrm>
            </p:grpSpPr>
            <p:grpSp>
              <p:nvGrpSpPr>
                <p:cNvPr id="57456" name="Group 112"/>
                <p:cNvGrpSpPr>
                  <a:grpSpLocks/>
                </p:cNvGrpSpPr>
                <p:nvPr/>
              </p:nvGrpSpPr>
              <p:grpSpPr bwMode="auto">
                <a:xfrm>
                  <a:off x="5666" y="3560"/>
                  <a:ext cx="1465" cy="1465"/>
                  <a:chOff x="5671" y="3562"/>
                  <a:chExt cx="1465" cy="1465"/>
                </a:xfrm>
              </p:grpSpPr>
              <p:grpSp>
                <p:nvGrpSpPr>
                  <p:cNvPr id="57457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5671" y="3562"/>
                    <a:ext cx="1465" cy="1465"/>
                    <a:chOff x="5167" y="3427"/>
                    <a:chExt cx="1465" cy="1465"/>
                  </a:xfrm>
                </p:grpSpPr>
                <p:grpSp>
                  <p:nvGrpSpPr>
                    <p:cNvPr id="57458" name="Group 1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167" y="3427"/>
                      <a:ext cx="1465" cy="1465"/>
                      <a:chOff x="5167" y="3427"/>
                      <a:chExt cx="1465" cy="1465"/>
                    </a:xfrm>
                  </p:grpSpPr>
                  <p:grpSp>
                    <p:nvGrpSpPr>
                      <p:cNvPr id="57459" name="Group 11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167" y="3427"/>
                        <a:ext cx="1465" cy="1465"/>
                        <a:chOff x="7522" y="1563"/>
                        <a:chExt cx="1465" cy="1465"/>
                      </a:xfrm>
                    </p:grpSpPr>
                    <p:sp>
                      <p:nvSpPr>
                        <p:cNvPr id="57460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22" y="1563"/>
                          <a:ext cx="1465" cy="146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1" name="Line 1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793" y="1764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2" name="Line 1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72452">
                          <a:off x="7904" y="169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3" name="Line 11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20652">
                          <a:off x="8015" y="164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4" name="Line 1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798363">
                          <a:off x="8126" y="161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5" name="Line 1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2672958">
                          <a:off x="8249" y="1603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6" name="Line 1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204533">
                          <a:off x="7682" y="2613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7" name="Line 1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3686280">
                          <a:off x="8367" y="1628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8" name="Line 1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4178721">
                          <a:off x="8503" y="167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69" name="Line 1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4826921">
                          <a:off x="8609" y="1742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0" name="Line 1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5204632">
                          <a:off x="8695" y="181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1" name="Line 12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079227">
                          <a:off x="8773" y="1915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2" name="Line 1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6721341">
                          <a:off x="8799" y="2024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3" name="Line 12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493794">
                          <a:off x="8854" y="2158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4" name="Line 1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8141993">
                          <a:off x="8863" y="2282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5" name="Line 1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8519704">
                          <a:off x="8849" y="2396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76" name="Line 13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9394299">
                          <a:off x="8814" y="2514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grpSp>
                      <p:nvGrpSpPr>
                        <p:cNvPr id="57477" name="Group 133"/>
                        <p:cNvGrpSpPr>
                          <a:grpSpLocks/>
                        </p:cNvGrpSpPr>
                        <p:nvPr/>
                      </p:nvGrpSpPr>
                      <p:grpSpPr bwMode="auto">
                        <a:xfrm rot="10143224">
                          <a:off x="8321" y="2656"/>
                          <a:ext cx="521" cy="259"/>
                          <a:chOff x="4406" y="1717"/>
                          <a:chExt cx="521" cy="259"/>
                        </a:xfrm>
                      </p:grpSpPr>
                      <p:sp>
                        <p:nvSpPr>
                          <p:cNvPr id="57478" name="Line 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406" y="1878"/>
                            <a:ext cx="97" cy="98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479" name="Line 13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772452">
                            <a:off x="4517" y="1813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480" name="Line 13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1420652">
                            <a:off x="4628" y="1759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481" name="Line 13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1798363">
                            <a:off x="4739" y="1729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  <p:sp>
                        <p:nvSpPr>
                          <p:cNvPr id="57482" name="Line 13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2672958">
                            <a:off x="4862" y="1717"/>
                            <a:ext cx="65" cy="6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fr-FR"/>
                          </a:p>
                        </p:txBody>
                      </p:sp>
                    </p:grpSp>
                    <p:sp>
                      <p:nvSpPr>
                        <p:cNvPr id="57483" name="Line 1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440840">
                          <a:off x="8199" y="2867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84" name="Line 1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039816">
                          <a:off x="8090" y="2890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85" name="Line 1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688016">
                          <a:off x="7971" y="284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86" name="Line 1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5065727">
                          <a:off x="7868" y="2798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87" name="Line 1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5940322">
                          <a:off x="7767" y="2727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488" name="Oval 14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66" y="1606"/>
                          <a:ext cx="1378" cy="1378"/>
                        </a:xfrm>
                        <a:prstGeom prst="ellipse">
                          <a:avLst/>
                        </a:prstGeom>
                        <a:noFill/>
                        <a:ln w="28575">
                          <a:solidFill>
                            <a:srgbClr val="FFFF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57489" name="WordArt 145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7898641">
                        <a:off x="5437" y="4336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50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490" name="WordArt 146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0834392">
                        <a:off x="5802" y="4510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40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491" name="WordArt 147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4016058">
                        <a:off x="6189" y="4333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30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492" name="WordArt 148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17697217">
                        <a:off x="6243" y="3931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20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493" name="WordArt 149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-20430436">
                        <a:off x="5931" y="3628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10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7494" name="WordArt 150"/>
                      <p:cNvSpPr>
                        <a:spLocks noChangeArrowheads="1" noChangeShapeType="1" noTextEdit="1"/>
                      </p:cNvSpPr>
                      <p:nvPr/>
                    </p:nvSpPr>
                    <p:spPr bwMode="auto">
                      <a:xfrm rot="8422993">
                        <a:off x="5553" y="3721"/>
                        <a:ext cx="160" cy="171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</a:bodyPr>
                      <a:lstStyle/>
                      <a:p>
                        <a:pPr algn="ctr" rtl="0"/>
                        <a:r>
                          <a:rPr lang="fr-FR" sz="800" kern="10" spc="0" smtClean="0"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cs typeface="Times New Roman"/>
                          </a:rPr>
                          <a:t> 0</a:t>
                        </a:r>
                        <a:endParaRPr lang="fr-FR" sz="800" kern="10" spc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57495" name="WordArt 151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5402491">
                      <a:off x="5143" y="3999"/>
                      <a:ext cx="454" cy="11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FF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x 0,1 N</a:t>
                      </a:r>
                      <a:endParaRPr lang="fr-FR" sz="800" kern="10" spc="0">
                        <a:ln w="9525">
                          <a:solidFill>
                            <a:srgbClr val="FF0000"/>
                          </a:solidFill>
                          <a:round/>
                          <a:headEnd/>
                          <a:tailEnd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57496" name="AutoShape 152"/>
                  <p:cNvSpPr>
                    <a:spLocks noChangeAspect="1" noChangeArrowheads="1"/>
                  </p:cNvSpPr>
                  <p:nvPr/>
                </p:nvSpPr>
                <p:spPr bwMode="auto">
                  <a:xfrm rot="7896017">
                    <a:off x="5883" y="3824"/>
                    <a:ext cx="74" cy="7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497" name="AutoShape 153"/>
                  <p:cNvSpPr>
                    <a:spLocks noChangeAspect="1" noChangeArrowheads="1"/>
                  </p:cNvSpPr>
                  <p:nvPr/>
                </p:nvSpPr>
                <p:spPr bwMode="auto">
                  <a:xfrm rot="3815911">
                    <a:off x="5790" y="4559"/>
                    <a:ext cx="74" cy="7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57498" name="Oval 154"/>
                <p:cNvSpPr>
                  <a:spLocks noChangeArrowheads="1"/>
                </p:cNvSpPr>
                <p:nvPr/>
              </p:nvSpPr>
              <p:spPr bwMode="auto">
                <a:xfrm>
                  <a:off x="5665" y="3560"/>
                  <a:ext cx="1465" cy="1465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57499" name="AutoShape 155"/>
              <p:cNvSpPr>
                <a:spLocks noChangeArrowheads="1"/>
              </p:cNvSpPr>
              <p:nvPr/>
            </p:nvSpPr>
            <p:spPr bwMode="auto">
              <a:xfrm rot="3000000" flipH="1">
                <a:off x="9476" y="8632"/>
                <a:ext cx="98" cy="137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500" name="Oval 156"/>
              <p:cNvSpPr>
                <a:spLocks noChangeArrowheads="1"/>
              </p:cNvSpPr>
              <p:nvPr/>
            </p:nvSpPr>
            <p:spPr bwMode="auto">
              <a:xfrm rot="131619">
                <a:off x="9263" y="8654"/>
                <a:ext cx="268" cy="26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grpSp>
            <p:nvGrpSpPr>
              <p:cNvPr id="57501" name="Group 157"/>
              <p:cNvGrpSpPr>
                <a:grpSpLocks/>
              </p:cNvGrpSpPr>
              <p:nvPr/>
            </p:nvGrpSpPr>
            <p:grpSpPr bwMode="auto">
              <a:xfrm>
                <a:off x="8956" y="9712"/>
                <a:ext cx="1208" cy="1517"/>
                <a:chOff x="7590" y="9659"/>
                <a:chExt cx="1208" cy="1517"/>
              </a:xfrm>
            </p:grpSpPr>
            <p:grpSp>
              <p:nvGrpSpPr>
                <p:cNvPr id="57502" name="Group 158"/>
                <p:cNvGrpSpPr>
                  <a:grpSpLocks/>
                </p:cNvGrpSpPr>
                <p:nvPr/>
              </p:nvGrpSpPr>
              <p:grpSpPr bwMode="auto">
                <a:xfrm>
                  <a:off x="7590" y="9659"/>
                  <a:ext cx="1208" cy="1517"/>
                  <a:chOff x="5304" y="3092"/>
                  <a:chExt cx="1315" cy="1646"/>
                </a:xfrm>
              </p:grpSpPr>
              <p:grpSp>
                <p:nvGrpSpPr>
                  <p:cNvPr id="57503" name="Group 159"/>
                  <p:cNvGrpSpPr>
                    <a:grpSpLocks/>
                  </p:cNvGrpSpPr>
                  <p:nvPr/>
                </p:nvGrpSpPr>
                <p:grpSpPr bwMode="auto">
                  <a:xfrm>
                    <a:off x="5304" y="3092"/>
                    <a:ext cx="1315" cy="1646"/>
                    <a:chOff x="5304" y="3092"/>
                    <a:chExt cx="1315" cy="1646"/>
                  </a:xfrm>
                </p:grpSpPr>
                <p:sp>
                  <p:nvSpPr>
                    <p:cNvPr id="57504" name="AutoShape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7" y="3140"/>
                      <a:ext cx="1065" cy="1560"/>
                    </a:xfrm>
                    <a:prstGeom prst="roundRect">
                      <a:avLst>
                        <a:gd name="adj" fmla="val 8264"/>
                      </a:avLst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7725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77255"/>
                            <a:invGamma/>
                          </a:srgbClr>
                        </a:gs>
                      </a:gsLst>
                      <a:lin ang="0" scaled="1"/>
                    </a:gradFill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05" name="Freeform 161"/>
                    <p:cNvSpPr>
                      <a:spLocks/>
                    </p:cNvSpPr>
                    <p:nvPr/>
                  </p:nvSpPr>
                  <p:spPr bwMode="auto">
                    <a:xfrm>
                      <a:off x="6425" y="3176"/>
                      <a:ext cx="129" cy="15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7"/>
                        </a:cxn>
                        <a:cxn ang="0">
                          <a:pos x="0" y="156"/>
                        </a:cxn>
                        <a:cxn ang="0">
                          <a:pos x="30" y="153"/>
                        </a:cxn>
                        <a:cxn ang="0">
                          <a:pos x="66" y="45"/>
                        </a:cxn>
                        <a:cxn ang="0">
                          <a:pos x="129" y="0"/>
                        </a:cxn>
                        <a:cxn ang="0">
                          <a:pos x="0" y="27"/>
                        </a:cxn>
                      </a:cxnLst>
                      <a:rect l="0" t="0" r="r" b="b"/>
                      <a:pathLst>
                        <a:path w="129" h="156">
                          <a:moveTo>
                            <a:pt x="0" y="27"/>
                          </a:moveTo>
                          <a:lnTo>
                            <a:pt x="0" y="156"/>
                          </a:lnTo>
                          <a:lnTo>
                            <a:pt x="30" y="153"/>
                          </a:lnTo>
                          <a:lnTo>
                            <a:pt x="66" y="45"/>
                          </a:lnTo>
                          <a:lnTo>
                            <a:pt x="129" y="0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06" name="Arc 162"/>
                    <p:cNvSpPr>
                      <a:spLocks/>
                    </p:cNvSpPr>
                    <p:nvPr/>
                  </p:nvSpPr>
                  <p:spPr bwMode="auto">
                    <a:xfrm>
                      <a:off x="5306" y="3152"/>
                      <a:ext cx="71" cy="80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07" name="Arc 163"/>
                    <p:cNvSpPr>
                      <a:spLocks/>
                    </p:cNvSpPr>
                    <p:nvPr/>
                  </p:nvSpPr>
                  <p:spPr bwMode="auto">
                    <a:xfrm flipH="1">
                      <a:off x="6440" y="3152"/>
                      <a:ext cx="179" cy="251"/>
                    </a:xfrm>
                    <a:custGeom>
                      <a:avLst/>
                      <a:gdLst>
                        <a:gd name="G0" fmla="+- 182 0 0"/>
                        <a:gd name="G1" fmla="+- 21600 0 0"/>
                        <a:gd name="G2" fmla="+- 21600 0 0"/>
                        <a:gd name="T0" fmla="*/ 0 w 21772"/>
                        <a:gd name="T1" fmla="*/ 1 h 21600"/>
                        <a:gd name="T2" fmla="*/ 21772 w 21772"/>
                        <a:gd name="T3" fmla="*/ 20951 h 21600"/>
                        <a:gd name="T4" fmla="*/ 182 w 21772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772" h="21600" fill="none" extrusionOk="0">
                          <a:moveTo>
                            <a:pt x="-1" y="0"/>
                          </a:moveTo>
                          <a:cubicBezTo>
                            <a:pt x="60" y="0"/>
                            <a:pt x="121" y="-1"/>
                            <a:pt x="182" y="0"/>
                          </a:cubicBezTo>
                          <a:cubicBezTo>
                            <a:pt x="11858" y="0"/>
                            <a:pt x="21421" y="9279"/>
                            <a:pt x="21772" y="20950"/>
                          </a:cubicBezTo>
                        </a:path>
                        <a:path w="21772" h="21600" stroke="0" extrusionOk="0">
                          <a:moveTo>
                            <a:pt x="-1" y="0"/>
                          </a:moveTo>
                          <a:cubicBezTo>
                            <a:pt x="60" y="0"/>
                            <a:pt x="121" y="-1"/>
                            <a:pt x="182" y="0"/>
                          </a:cubicBezTo>
                          <a:cubicBezTo>
                            <a:pt x="11858" y="0"/>
                            <a:pt x="21421" y="9279"/>
                            <a:pt x="21772" y="20950"/>
                          </a:cubicBezTo>
                          <a:lnTo>
                            <a:pt x="182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08" name="Oval 1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04" y="3092"/>
                      <a:ext cx="1301" cy="1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09" name="Oval 1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" y="4644"/>
                      <a:ext cx="985" cy="94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10" name="Oval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9" y="4632"/>
                      <a:ext cx="973" cy="97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511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5378" y="3656"/>
                    <a:ext cx="1036" cy="1074"/>
                    <a:chOff x="1223" y="1511"/>
                    <a:chExt cx="1036" cy="1074"/>
                  </a:xfrm>
                </p:grpSpPr>
                <p:sp>
                  <p:nvSpPr>
                    <p:cNvPr id="57512" name="Freeform 168"/>
                    <p:cNvSpPr>
                      <a:spLocks/>
                    </p:cNvSpPr>
                    <p:nvPr/>
                  </p:nvSpPr>
                  <p:spPr bwMode="auto">
                    <a:xfrm>
                      <a:off x="1223" y="1567"/>
                      <a:ext cx="1036" cy="101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936"/>
                        </a:cxn>
                        <a:cxn ang="0">
                          <a:pos x="24" y="970"/>
                        </a:cxn>
                        <a:cxn ang="0">
                          <a:pos x="60" y="991"/>
                        </a:cxn>
                        <a:cxn ang="0">
                          <a:pos x="138" y="1000"/>
                        </a:cxn>
                        <a:cxn ang="0">
                          <a:pos x="480" y="1018"/>
                        </a:cxn>
                        <a:cxn ang="0">
                          <a:pos x="909" y="1000"/>
                        </a:cxn>
                        <a:cxn ang="0">
                          <a:pos x="999" y="982"/>
                        </a:cxn>
                        <a:cxn ang="0">
                          <a:pos x="1036" y="957"/>
                        </a:cxn>
                        <a:cxn ang="0">
                          <a:pos x="1036" y="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36" h="1018">
                          <a:moveTo>
                            <a:pt x="0" y="0"/>
                          </a:moveTo>
                          <a:lnTo>
                            <a:pt x="0" y="936"/>
                          </a:lnTo>
                          <a:lnTo>
                            <a:pt x="24" y="970"/>
                          </a:lnTo>
                          <a:lnTo>
                            <a:pt x="60" y="991"/>
                          </a:lnTo>
                          <a:lnTo>
                            <a:pt x="138" y="1000"/>
                          </a:lnTo>
                          <a:lnTo>
                            <a:pt x="480" y="1018"/>
                          </a:lnTo>
                          <a:lnTo>
                            <a:pt x="909" y="1000"/>
                          </a:lnTo>
                          <a:lnTo>
                            <a:pt x="999" y="982"/>
                          </a:lnTo>
                          <a:lnTo>
                            <a:pt x="1036" y="957"/>
                          </a:lnTo>
                          <a:lnTo>
                            <a:pt x="1036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DB3E2">
                        <a:alpha val="50000"/>
                      </a:srgbClr>
                    </a:solidFill>
                    <a:ln w="317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13" name="Oval 1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24" y="1511"/>
                      <a:ext cx="1033" cy="97"/>
                    </a:xfrm>
                    <a:prstGeom prst="ellipse">
                      <a:avLst/>
                    </a:prstGeom>
                    <a:solidFill>
                      <a:srgbClr val="8DB3E2">
                        <a:alpha val="50000"/>
                      </a:srgbClr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57514" name="Group 170"/>
                <p:cNvGrpSpPr>
                  <a:grpSpLocks/>
                </p:cNvGrpSpPr>
                <p:nvPr/>
              </p:nvGrpSpPr>
              <p:grpSpPr bwMode="auto">
                <a:xfrm>
                  <a:off x="7666" y="9810"/>
                  <a:ext cx="190" cy="1309"/>
                  <a:chOff x="8010" y="12054"/>
                  <a:chExt cx="417" cy="1049"/>
                </a:xfrm>
              </p:grpSpPr>
              <p:grpSp>
                <p:nvGrpSpPr>
                  <p:cNvPr id="57515" name="Group 171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054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516" name="Freeform 172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17" name="Freeform 173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18" name="Freeform 174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19" name="Freeform 175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0" name="Freeform 176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521" name="Group 177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226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522" name="Freeform 178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3" name="Freeform 179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4" name="Freeform 180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5" name="Freeform 181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6" name="Freeform 182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527" name="Group 183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398"/>
                    <a:ext cx="417" cy="146"/>
                    <a:chOff x="2445" y="11931"/>
                    <a:chExt cx="432" cy="204"/>
                  </a:xfrm>
                </p:grpSpPr>
                <p:sp>
                  <p:nvSpPr>
                    <p:cNvPr id="57528" name="Freeform 184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29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0" name="Freeform 186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1" name="Freeform 187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2" name="Freeform 188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533" name="Group 189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569"/>
                    <a:ext cx="417" cy="146"/>
                    <a:chOff x="2445" y="11931"/>
                    <a:chExt cx="432" cy="204"/>
                  </a:xfrm>
                </p:grpSpPr>
                <p:sp>
                  <p:nvSpPr>
                    <p:cNvPr id="5753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7" name="Freeform 193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38" name="Freeform 194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7539" name="Group 195"/>
                  <p:cNvGrpSpPr>
                    <a:grpSpLocks/>
                  </p:cNvGrpSpPr>
                  <p:nvPr/>
                </p:nvGrpSpPr>
                <p:grpSpPr bwMode="auto">
                  <a:xfrm flipH="1">
                    <a:off x="8010" y="12739"/>
                    <a:ext cx="417" cy="147"/>
                    <a:chOff x="2445" y="11931"/>
                    <a:chExt cx="432" cy="204"/>
                  </a:xfrm>
                </p:grpSpPr>
                <p:sp>
                  <p:nvSpPr>
                    <p:cNvPr id="57540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2445" y="11931"/>
                      <a:ext cx="432" cy="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222" y="24"/>
                        </a:cxn>
                        <a:cxn ang="0">
                          <a:pos x="432" y="0"/>
                        </a:cxn>
                      </a:cxnLst>
                      <a:rect l="0" t="0" r="r" b="b"/>
                      <a:pathLst>
                        <a:path w="432" h="28">
                          <a:moveTo>
                            <a:pt x="0" y="24"/>
                          </a:moveTo>
                          <a:cubicBezTo>
                            <a:pt x="37" y="24"/>
                            <a:pt x="150" y="28"/>
                            <a:pt x="222" y="24"/>
                          </a:cubicBezTo>
                          <a:cubicBezTo>
                            <a:pt x="294" y="20"/>
                            <a:pt x="388" y="5"/>
                            <a:pt x="432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41" name="Freeform 197"/>
                    <p:cNvSpPr>
                      <a:spLocks/>
                    </p:cNvSpPr>
                    <p:nvPr/>
                  </p:nvSpPr>
                  <p:spPr bwMode="auto">
                    <a:xfrm>
                      <a:off x="2631" y="11979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42" name="Freeform 198"/>
                    <p:cNvSpPr>
                      <a:spLocks/>
                    </p:cNvSpPr>
                    <p:nvPr/>
                  </p:nvSpPr>
                  <p:spPr bwMode="auto">
                    <a:xfrm>
                      <a:off x="2631" y="12023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43" name="Freeform 199"/>
                    <p:cNvSpPr>
                      <a:spLocks/>
                    </p:cNvSpPr>
                    <p:nvPr/>
                  </p:nvSpPr>
                  <p:spPr bwMode="auto">
                    <a:xfrm>
                      <a:off x="2631" y="12067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544" name="Freeform 200"/>
                    <p:cNvSpPr>
                      <a:spLocks/>
                    </p:cNvSpPr>
                    <p:nvPr/>
                  </p:nvSpPr>
                  <p:spPr bwMode="auto">
                    <a:xfrm>
                      <a:off x="2631" y="12111"/>
                      <a:ext cx="246" cy="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4"/>
                        </a:cxn>
                        <a:cxn ang="0">
                          <a:pos x="129" y="15"/>
                        </a:cxn>
                        <a:cxn ang="0">
                          <a:pos x="246" y="0"/>
                        </a:cxn>
                      </a:cxnLst>
                      <a:rect l="0" t="0" r="r" b="b"/>
                      <a:pathLst>
                        <a:path w="246" h="24">
                          <a:moveTo>
                            <a:pt x="0" y="24"/>
                          </a:moveTo>
                          <a:cubicBezTo>
                            <a:pt x="21" y="23"/>
                            <a:pt x="88" y="19"/>
                            <a:pt x="129" y="15"/>
                          </a:cubicBezTo>
                          <a:cubicBezTo>
                            <a:pt x="170" y="11"/>
                            <a:pt x="222" y="3"/>
                            <a:pt x="246" y="0"/>
                          </a:cubicBezTo>
                        </a:path>
                      </a:pathLst>
                    </a:custGeom>
                    <a:noFill/>
                    <a:ln w="3175">
                      <a:solidFill>
                        <a:srgbClr val="272727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57545" name="Freeform 201"/>
                  <p:cNvSpPr>
                    <a:spLocks/>
                  </p:cNvSpPr>
                  <p:nvPr/>
                </p:nvSpPr>
                <p:spPr bwMode="auto">
                  <a:xfrm flipH="1">
                    <a:off x="8010" y="12912"/>
                    <a:ext cx="417" cy="20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546" name="Freeform 202"/>
                  <p:cNvSpPr>
                    <a:spLocks/>
                  </p:cNvSpPr>
                  <p:nvPr/>
                </p:nvSpPr>
                <p:spPr bwMode="auto">
                  <a:xfrm flipH="1">
                    <a:off x="8010" y="12945"/>
                    <a:ext cx="238" cy="1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547" name="Freeform 203"/>
                  <p:cNvSpPr>
                    <a:spLocks/>
                  </p:cNvSpPr>
                  <p:nvPr/>
                </p:nvSpPr>
                <p:spPr bwMode="auto">
                  <a:xfrm flipH="1">
                    <a:off x="8010" y="12977"/>
                    <a:ext cx="238" cy="1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548" name="Freeform 204"/>
                  <p:cNvSpPr>
                    <a:spLocks/>
                  </p:cNvSpPr>
                  <p:nvPr/>
                </p:nvSpPr>
                <p:spPr bwMode="auto">
                  <a:xfrm flipH="1">
                    <a:off x="8010" y="13009"/>
                    <a:ext cx="238" cy="17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549" name="Freeform 205"/>
                  <p:cNvSpPr>
                    <a:spLocks/>
                  </p:cNvSpPr>
                  <p:nvPr/>
                </p:nvSpPr>
                <p:spPr bwMode="auto">
                  <a:xfrm flipH="1">
                    <a:off x="8010" y="13041"/>
                    <a:ext cx="238" cy="16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550" name="Freeform 206"/>
                  <p:cNvSpPr>
                    <a:spLocks/>
                  </p:cNvSpPr>
                  <p:nvPr/>
                </p:nvSpPr>
                <p:spPr bwMode="auto">
                  <a:xfrm flipH="1">
                    <a:off x="8010" y="13083"/>
                    <a:ext cx="417" cy="20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57551" name="AutoShape 207"/>
              <p:cNvSpPr>
                <a:spLocks noChangeArrowheads="1"/>
              </p:cNvSpPr>
              <p:nvPr/>
            </p:nvSpPr>
            <p:spPr bwMode="auto">
              <a:xfrm>
                <a:off x="9307" y="10445"/>
                <a:ext cx="453" cy="493"/>
              </a:xfrm>
              <a:prstGeom prst="cube">
                <a:avLst>
                  <a:gd name="adj" fmla="val 24972"/>
                </a:avLst>
              </a:prstGeom>
              <a:gradFill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552" name="Freeform 208"/>
              <p:cNvSpPr>
                <a:spLocks/>
              </p:cNvSpPr>
              <p:nvPr/>
            </p:nvSpPr>
            <p:spPr bwMode="auto">
              <a:xfrm>
                <a:off x="9447" y="8787"/>
                <a:ext cx="114" cy="2146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14" y="1694"/>
                  </a:cxn>
                  <a:cxn ang="0">
                    <a:pos x="4" y="1774"/>
                  </a:cxn>
                  <a:cxn ang="0">
                    <a:pos x="0" y="2146"/>
                  </a:cxn>
                </a:cxnLst>
                <a:rect l="0" t="0" r="r" b="b"/>
                <a:pathLst>
                  <a:path w="114" h="2146">
                    <a:moveTo>
                      <a:pt x="83" y="0"/>
                    </a:moveTo>
                    <a:lnTo>
                      <a:pt x="114" y="1694"/>
                    </a:lnTo>
                    <a:lnTo>
                      <a:pt x="4" y="1774"/>
                    </a:lnTo>
                    <a:lnTo>
                      <a:pt x="0" y="2146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553" name="Freeform 209"/>
              <p:cNvSpPr>
                <a:spLocks/>
              </p:cNvSpPr>
              <p:nvPr/>
            </p:nvSpPr>
            <p:spPr bwMode="auto">
              <a:xfrm>
                <a:off x="9518" y="10398"/>
                <a:ext cx="111" cy="85"/>
              </a:xfrm>
              <a:custGeom>
                <a:avLst/>
                <a:gdLst/>
                <a:ahLst/>
                <a:cxnLst>
                  <a:cxn ang="0">
                    <a:pos x="111" y="43"/>
                  </a:cxn>
                  <a:cxn ang="0">
                    <a:pos x="31" y="79"/>
                  </a:cxn>
                  <a:cxn ang="0">
                    <a:pos x="0" y="44"/>
                  </a:cxn>
                  <a:cxn ang="0">
                    <a:pos x="76" y="55"/>
                  </a:cxn>
                  <a:cxn ang="0">
                    <a:pos x="49" y="85"/>
                  </a:cxn>
                  <a:cxn ang="0">
                    <a:pos x="0" y="0"/>
                  </a:cxn>
                </a:cxnLst>
                <a:rect l="0" t="0" r="r" b="b"/>
                <a:pathLst>
                  <a:path w="111" h="85">
                    <a:moveTo>
                      <a:pt x="111" y="43"/>
                    </a:moveTo>
                    <a:lnTo>
                      <a:pt x="31" y="79"/>
                    </a:lnTo>
                    <a:lnTo>
                      <a:pt x="0" y="44"/>
                    </a:lnTo>
                    <a:lnTo>
                      <a:pt x="76" y="55"/>
                    </a:lnTo>
                    <a:lnTo>
                      <a:pt x="49" y="85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cxnSp>
            <p:nvCxnSpPr>
              <p:cNvPr id="57554" name="AutoShape 210"/>
              <p:cNvCxnSpPr>
                <a:cxnSpLocks noChangeShapeType="1"/>
              </p:cNvCxnSpPr>
              <p:nvPr/>
            </p:nvCxnSpPr>
            <p:spPr bwMode="auto">
              <a:xfrm flipV="1">
                <a:off x="9539" y="10394"/>
                <a:ext cx="58" cy="75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57555" name="Text Box 211"/>
            <p:cNvSpPr txBox="1">
              <a:spLocks noChangeArrowheads="1"/>
            </p:cNvSpPr>
            <p:nvPr/>
          </p:nvSpPr>
          <p:spPr bwMode="auto">
            <a:xfrm>
              <a:off x="2686" y="2217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=2.5N</a:t>
              </a:r>
              <a:endPara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56" name="Text Box 212"/>
            <p:cNvSpPr txBox="1">
              <a:spLocks noChangeArrowheads="1"/>
            </p:cNvSpPr>
            <p:nvPr/>
          </p:nvSpPr>
          <p:spPr bwMode="auto">
            <a:xfrm>
              <a:off x="2718" y="2492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ar-DZ" sz="20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kumimoji="0" lang="fr-F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=2N</a:t>
              </a:r>
              <a:endParaRPr kumimoji="0" lang="fr-FR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57" name="Text Box 213"/>
            <p:cNvSpPr txBox="1">
              <a:spLocks noChangeArrowheads="1"/>
            </p:cNvSpPr>
            <p:nvPr/>
          </p:nvSpPr>
          <p:spPr bwMode="auto">
            <a:xfrm>
              <a:off x="2719" y="2830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r>
                <a:rPr kumimoji="0" lang="fr-FR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=0.5N</a:t>
              </a:r>
              <a:endPara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58" name="Text Box 214"/>
            <p:cNvSpPr txBox="1">
              <a:spLocks noChangeArrowheads="1"/>
            </p:cNvSpPr>
            <p:nvPr/>
          </p:nvSpPr>
          <p:spPr bwMode="auto">
            <a:xfrm>
              <a:off x="2775" y="4746"/>
              <a:ext cx="636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ماء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cxnSp>
          <p:nvCxnSpPr>
            <p:cNvPr id="57559" name="AutoShape 215"/>
            <p:cNvCxnSpPr>
              <a:cxnSpLocks noChangeShapeType="1"/>
            </p:cNvCxnSpPr>
            <p:nvPr/>
          </p:nvCxnSpPr>
          <p:spPr bwMode="auto">
            <a:xfrm flipH="1">
              <a:off x="2683" y="5104"/>
              <a:ext cx="441" cy="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cxnSp>
          <p:nvCxnSpPr>
            <p:cNvPr id="57560" name="AutoShape 216"/>
            <p:cNvCxnSpPr>
              <a:cxnSpLocks noChangeShapeType="1"/>
            </p:cNvCxnSpPr>
            <p:nvPr/>
          </p:nvCxnSpPr>
          <p:spPr bwMode="auto">
            <a:xfrm>
              <a:off x="3685" y="4629"/>
              <a:ext cx="441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sp>
          <p:nvSpPr>
            <p:cNvPr id="57561" name="Text Box 217"/>
            <p:cNvSpPr txBox="1">
              <a:spLocks noChangeArrowheads="1"/>
            </p:cNvSpPr>
            <p:nvPr/>
          </p:nvSpPr>
          <p:spPr bwMode="auto">
            <a:xfrm>
              <a:off x="3178" y="4416"/>
              <a:ext cx="636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زيت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</p:grpSp>
      <p:sp>
        <p:nvSpPr>
          <p:cNvPr id="250" name="Rectangle 249"/>
          <p:cNvSpPr/>
          <p:nvPr/>
        </p:nvSpPr>
        <p:spPr>
          <a:xfrm>
            <a:off x="3506919" y="4740625"/>
            <a:ext cx="6803466" cy="1384995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rtl="1"/>
            <a:r>
              <a:rPr lang="ar-DZ" sz="2800" b="1" u="sng" dirty="0" err="1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االنتيـجة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 </a:t>
            </a:r>
          </a:p>
          <a:p>
            <a:pPr algn="ctr" rtl="1"/>
            <a:r>
              <a:rPr lang="en-US" sz="2800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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تتناسب شدة 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طرديا مع الكتلة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الحجمية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للسائل، </a:t>
            </a:r>
          </a:p>
          <a:p>
            <a:pPr algn="ctr" rtl="1"/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أي تزداد شدة 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بزيادة الكتلة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الحجمية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للسائل.</a:t>
            </a:r>
            <a:endParaRPr lang="fr-FR" sz="28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33" grpId="0"/>
      <p:bldP spid="2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fr-FR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.II </a:t>
            </a: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العوامل المؤثرة في شدة دافعة </a:t>
            </a:r>
            <a:r>
              <a:rPr lang="ar-DZ" sz="3200" b="1" dirty="0" err="1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أرخميدس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69452" y="770773"/>
            <a:ext cx="4358565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النشاط05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ar-DZ" sz="2800" b="1" u="sng" dirty="0" smtClean="0">
                <a:latin typeface="Traditional Arabic" pitchFamily="18" charset="-78"/>
                <a:cs typeface="Traditional Arabic" pitchFamily="18" charset="-78"/>
              </a:rPr>
              <a:t>اختلاف حجم الجسم المغمور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58145" y="1591554"/>
            <a:ext cx="743989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rtl="1">
              <a:buFont typeface="Wingdings" pitchFamily="2" charset="2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نغمر جسمين لهما نفس الكتلة (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fr-FR" sz="24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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fr-FR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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250g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ومختلفين في الحجم (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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معلقين إلى جهاز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الربيعة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في أنبوب مدرج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به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ماء مقطر، الوثيقة (</a:t>
            </a:r>
            <a:r>
              <a:rPr lang="ar-DZ" sz="24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83031" y="2939534"/>
            <a:ext cx="5891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الملاحظة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 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الجسم ذو الحجم الأكبر يخضع لدافعة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أكبر</a:t>
            </a:r>
            <a:endParaRPr lang="fr-FR" sz="24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3354520" y="4643643"/>
            <a:ext cx="8441735" cy="1384995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rtl="1"/>
            <a:r>
              <a:rPr lang="ar-DZ" sz="2800" b="1" u="sng" dirty="0" err="1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االنتيـجة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 </a:t>
            </a:r>
          </a:p>
          <a:p>
            <a:pPr algn="ctr" rtl="1"/>
            <a:r>
              <a:rPr lang="en-US" sz="2800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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تتناسب شدة 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طرديا مع حجم الجسم (جزء من الجسم) المغمور، </a:t>
            </a:r>
          </a:p>
          <a:p>
            <a:pPr algn="ctr" rtl="1"/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أي تزداد شدة 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بزيادة حجم الجسم المغمور.</a:t>
            </a:r>
            <a:endParaRPr lang="fr-FR" sz="28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91137" name="Group 1"/>
          <p:cNvGrpSpPr>
            <a:grpSpLocks/>
          </p:cNvGrpSpPr>
          <p:nvPr/>
        </p:nvGrpSpPr>
        <p:grpSpPr bwMode="auto">
          <a:xfrm>
            <a:off x="210215" y="889815"/>
            <a:ext cx="3740513" cy="4422999"/>
            <a:chOff x="1692" y="5922"/>
            <a:chExt cx="3448" cy="4512"/>
          </a:xfrm>
        </p:grpSpPr>
        <p:sp>
          <p:nvSpPr>
            <p:cNvPr id="91138" name="Text Box 2"/>
            <p:cNvSpPr txBox="1">
              <a:spLocks noChangeArrowheads="1"/>
            </p:cNvSpPr>
            <p:nvPr/>
          </p:nvSpPr>
          <p:spPr bwMode="auto">
            <a:xfrm>
              <a:off x="2544" y="9867"/>
              <a:ext cx="1317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الوثيقة 5</a:t>
              </a:r>
              <a:endPara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4256" y="5985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 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=2.5N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0" name="Text Box 4"/>
            <p:cNvSpPr txBox="1">
              <a:spLocks noChangeArrowheads="1"/>
            </p:cNvSpPr>
            <p:nvPr/>
          </p:nvSpPr>
          <p:spPr bwMode="auto">
            <a:xfrm>
              <a:off x="2464" y="5922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 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=2.5N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1" name="Text Box 5"/>
            <p:cNvSpPr txBox="1">
              <a:spLocks noChangeArrowheads="1"/>
            </p:cNvSpPr>
            <p:nvPr/>
          </p:nvSpPr>
          <p:spPr bwMode="auto">
            <a:xfrm>
              <a:off x="2844" y="9159"/>
              <a:ext cx="636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ماء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sp>
          <p:nvSpPr>
            <p:cNvPr id="91142" name="Text Box 6"/>
            <p:cNvSpPr txBox="1">
              <a:spLocks noChangeArrowheads="1"/>
            </p:cNvSpPr>
            <p:nvPr/>
          </p:nvSpPr>
          <p:spPr bwMode="auto">
            <a:xfrm>
              <a:off x="2547" y="8273"/>
              <a:ext cx="532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V</a:t>
              </a:r>
              <a:r>
                <a:rPr kumimoji="0" lang="fr-FR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2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3" name="Text Box 7"/>
            <p:cNvSpPr txBox="1">
              <a:spLocks noChangeArrowheads="1"/>
            </p:cNvSpPr>
            <p:nvPr/>
          </p:nvSpPr>
          <p:spPr bwMode="auto">
            <a:xfrm>
              <a:off x="3292" y="8679"/>
              <a:ext cx="532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V</a:t>
              </a:r>
              <a:r>
                <a:rPr kumimoji="0" lang="fr-FR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1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4" name="Text Box 8"/>
            <p:cNvSpPr txBox="1">
              <a:spLocks noChangeArrowheads="1"/>
            </p:cNvSpPr>
            <p:nvPr/>
          </p:nvSpPr>
          <p:spPr bwMode="auto">
            <a:xfrm>
              <a:off x="2612" y="6259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  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=2.2N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5" name="Text Box 9"/>
            <p:cNvSpPr txBox="1">
              <a:spLocks noChangeArrowheads="1"/>
            </p:cNvSpPr>
            <p:nvPr/>
          </p:nvSpPr>
          <p:spPr bwMode="auto">
            <a:xfrm>
              <a:off x="4284" y="6274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 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=1.9N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6" name="Text Box 10"/>
            <p:cNvSpPr txBox="1">
              <a:spLocks noChangeArrowheads="1"/>
            </p:cNvSpPr>
            <p:nvPr/>
          </p:nvSpPr>
          <p:spPr bwMode="auto">
            <a:xfrm>
              <a:off x="2533" y="6828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1600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=0.3N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7" name="Text Box 11"/>
            <p:cNvSpPr txBox="1">
              <a:spLocks noChangeArrowheads="1"/>
            </p:cNvSpPr>
            <p:nvPr/>
          </p:nvSpPr>
          <p:spPr bwMode="auto">
            <a:xfrm>
              <a:off x="4259" y="6785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1600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r>
                <a:rPr kumimoji="0" lang="fr-F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=0.6N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48" name="Rectangle 12"/>
            <p:cNvSpPr>
              <a:spLocks noChangeArrowheads="1"/>
            </p:cNvSpPr>
            <p:nvPr/>
          </p:nvSpPr>
          <p:spPr bwMode="auto">
            <a:xfrm>
              <a:off x="2056" y="7313"/>
              <a:ext cx="595" cy="232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149" name="Freeform 13"/>
            <p:cNvSpPr>
              <a:spLocks/>
            </p:cNvSpPr>
            <p:nvPr/>
          </p:nvSpPr>
          <p:spPr bwMode="auto">
            <a:xfrm>
              <a:off x="1769" y="9635"/>
              <a:ext cx="1141" cy="111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0" y="195"/>
                </a:cxn>
                <a:cxn ang="0">
                  <a:pos x="1611" y="195"/>
                </a:cxn>
                <a:cxn ang="0">
                  <a:pos x="1248" y="3"/>
                </a:cxn>
              </a:cxnLst>
              <a:rect l="0" t="0" r="r" b="b"/>
              <a:pathLst>
                <a:path w="1611" h="195">
                  <a:moveTo>
                    <a:pt x="408" y="0"/>
                  </a:moveTo>
                  <a:lnTo>
                    <a:pt x="0" y="195"/>
                  </a:lnTo>
                  <a:lnTo>
                    <a:pt x="1611" y="195"/>
                  </a:lnTo>
                  <a:lnTo>
                    <a:pt x="1248" y="3"/>
                  </a:lnTo>
                </a:path>
              </a:pathLst>
            </a:cu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150" name="Group 14"/>
            <p:cNvGrpSpPr>
              <a:grpSpLocks/>
            </p:cNvGrpSpPr>
            <p:nvPr/>
          </p:nvGrpSpPr>
          <p:grpSpPr bwMode="auto">
            <a:xfrm>
              <a:off x="2036" y="7147"/>
              <a:ext cx="631" cy="2419"/>
              <a:chOff x="2086" y="11408"/>
              <a:chExt cx="890" cy="4222"/>
            </a:xfrm>
          </p:grpSpPr>
          <p:grpSp>
            <p:nvGrpSpPr>
              <p:cNvPr id="91151" name="Group 15"/>
              <p:cNvGrpSpPr>
                <a:grpSpLocks/>
              </p:cNvGrpSpPr>
              <p:nvPr/>
            </p:nvGrpSpPr>
            <p:grpSpPr bwMode="auto">
              <a:xfrm>
                <a:off x="2086" y="11408"/>
                <a:ext cx="890" cy="4222"/>
                <a:chOff x="2086" y="11408"/>
                <a:chExt cx="890" cy="4222"/>
              </a:xfrm>
            </p:grpSpPr>
            <p:sp>
              <p:nvSpPr>
                <p:cNvPr id="91152" name="AutoShape 16"/>
                <p:cNvSpPr>
                  <a:spLocks noChangeArrowheads="1"/>
                </p:cNvSpPr>
                <p:nvPr/>
              </p:nvSpPr>
              <p:spPr bwMode="auto">
                <a:xfrm>
                  <a:off x="2157" y="11444"/>
                  <a:ext cx="764" cy="4186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53" name="Rectangle 17"/>
                <p:cNvSpPr>
                  <a:spLocks noChangeArrowheads="1"/>
                </p:cNvSpPr>
                <p:nvPr/>
              </p:nvSpPr>
              <p:spPr bwMode="auto">
                <a:xfrm>
                  <a:off x="2086" y="11408"/>
                  <a:ext cx="890" cy="40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154" name="Oval 18"/>
              <p:cNvSpPr>
                <a:spLocks noChangeArrowheads="1"/>
              </p:cNvSpPr>
              <p:nvPr/>
            </p:nvSpPr>
            <p:spPr bwMode="auto">
              <a:xfrm>
                <a:off x="2110" y="11773"/>
                <a:ext cx="847" cy="9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155" name="Oval 19"/>
            <p:cNvSpPr>
              <a:spLocks noChangeArrowheads="1"/>
            </p:cNvSpPr>
            <p:nvPr/>
          </p:nvSpPr>
          <p:spPr bwMode="auto">
            <a:xfrm>
              <a:off x="2078" y="7360"/>
              <a:ext cx="549" cy="46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156" name="Group 20"/>
            <p:cNvGrpSpPr>
              <a:grpSpLocks/>
            </p:cNvGrpSpPr>
            <p:nvPr/>
          </p:nvGrpSpPr>
          <p:grpSpPr bwMode="auto">
            <a:xfrm>
              <a:off x="2084" y="8346"/>
              <a:ext cx="543" cy="1208"/>
              <a:chOff x="2154" y="14040"/>
              <a:chExt cx="768" cy="1587"/>
            </a:xfrm>
          </p:grpSpPr>
          <p:sp>
            <p:nvSpPr>
              <p:cNvPr id="91157" name="Freeform 21" descr="Tirets horizontaux"/>
              <p:cNvSpPr>
                <a:spLocks/>
              </p:cNvSpPr>
              <p:nvPr/>
            </p:nvSpPr>
            <p:spPr bwMode="auto">
              <a:xfrm>
                <a:off x="2162" y="14040"/>
                <a:ext cx="760" cy="1587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7" y="1317"/>
                  </a:cxn>
                  <a:cxn ang="0">
                    <a:pos x="88" y="1458"/>
                  </a:cxn>
                  <a:cxn ang="0">
                    <a:pos x="172" y="1524"/>
                  </a:cxn>
                  <a:cxn ang="0">
                    <a:pos x="310" y="1581"/>
                  </a:cxn>
                  <a:cxn ang="0">
                    <a:pos x="421" y="1587"/>
                  </a:cxn>
                  <a:cxn ang="0">
                    <a:pos x="516" y="1551"/>
                  </a:cxn>
                  <a:cxn ang="0">
                    <a:pos x="625" y="1494"/>
                  </a:cxn>
                  <a:cxn ang="0">
                    <a:pos x="706" y="1401"/>
                  </a:cxn>
                  <a:cxn ang="0">
                    <a:pos x="760" y="1269"/>
                  </a:cxn>
                  <a:cxn ang="0">
                    <a:pos x="748" y="36"/>
                  </a:cxn>
                  <a:cxn ang="0">
                    <a:pos x="622" y="9"/>
                  </a:cxn>
                  <a:cxn ang="0">
                    <a:pos x="379" y="0"/>
                  </a:cxn>
                  <a:cxn ang="0">
                    <a:pos x="154" y="6"/>
                  </a:cxn>
                  <a:cxn ang="0">
                    <a:pos x="0" y="33"/>
                  </a:cxn>
                </a:cxnLst>
                <a:rect l="0" t="0" r="r" b="b"/>
                <a:pathLst>
                  <a:path w="760" h="1587">
                    <a:moveTo>
                      <a:pt x="0" y="33"/>
                    </a:moveTo>
                    <a:lnTo>
                      <a:pt x="7" y="1317"/>
                    </a:lnTo>
                    <a:lnTo>
                      <a:pt x="88" y="1458"/>
                    </a:lnTo>
                    <a:lnTo>
                      <a:pt x="172" y="1524"/>
                    </a:lnTo>
                    <a:lnTo>
                      <a:pt x="310" y="1581"/>
                    </a:lnTo>
                    <a:lnTo>
                      <a:pt x="421" y="1587"/>
                    </a:lnTo>
                    <a:lnTo>
                      <a:pt x="516" y="1551"/>
                    </a:lnTo>
                    <a:lnTo>
                      <a:pt x="625" y="1494"/>
                    </a:lnTo>
                    <a:lnTo>
                      <a:pt x="706" y="1401"/>
                    </a:lnTo>
                    <a:lnTo>
                      <a:pt x="760" y="1269"/>
                    </a:lnTo>
                    <a:lnTo>
                      <a:pt x="748" y="36"/>
                    </a:lnTo>
                    <a:lnTo>
                      <a:pt x="622" y="9"/>
                    </a:lnTo>
                    <a:lnTo>
                      <a:pt x="379" y="0"/>
                    </a:lnTo>
                    <a:lnTo>
                      <a:pt x="154" y="6"/>
                    </a:lnTo>
                    <a:lnTo>
                      <a:pt x="0" y="33"/>
                    </a:lnTo>
                    <a:close/>
                  </a:path>
                </a:pathLst>
              </a:custGeom>
              <a:pattFill prst="dashHorz">
                <a:fgClr>
                  <a:srgbClr val="0000FF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158" name="Oval 22" descr="Tirets horizontaux"/>
              <p:cNvSpPr>
                <a:spLocks noChangeArrowheads="1"/>
              </p:cNvSpPr>
              <p:nvPr/>
            </p:nvSpPr>
            <p:spPr bwMode="auto">
              <a:xfrm>
                <a:off x="2154" y="14049"/>
                <a:ext cx="768" cy="71"/>
              </a:xfrm>
              <a:prstGeom prst="ellipse">
                <a:avLst/>
              </a:prstGeom>
              <a:pattFill prst="dashHorz">
                <a:fgClr>
                  <a:srgbClr val="0000FF"/>
                </a:fgClr>
                <a:bgClr>
                  <a:srgbClr val="FFFFFF"/>
                </a:bgClr>
              </a:pattFill>
              <a:ln w="31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91159" name="Group 23"/>
            <p:cNvGrpSpPr>
              <a:grpSpLocks/>
            </p:cNvGrpSpPr>
            <p:nvPr/>
          </p:nvGrpSpPr>
          <p:grpSpPr bwMode="auto">
            <a:xfrm>
              <a:off x="2295" y="7473"/>
              <a:ext cx="308" cy="1991"/>
              <a:chOff x="9265" y="6955"/>
              <a:chExt cx="230" cy="1373"/>
            </a:xfrm>
          </p:grpSpPr>
          <p:grpSp>
            <p:nvGrpSpPr>
              <p:cNvPr id="91160" name="Group 24"/>
              <p:cNvGrpSpPr>
                <a:grpSpLocks/>
              </p:cNvGrpSpPr>
              <p:nvPr/>
            </p:nvGrpSpPr>
            <p:grpSpPr bwMode="auto">
              <a:xfrm>
                <a:off x="9265" y="6955"/>
                <a:ext cx="230" cy="145"/>
                <a:chOff x="2445" y="11931"/>
                <a:chExt cx="432" cy="204"/>
              </a:xfrm>
            </p:grpSpPr>
            <p:sp>
              <p:nvSpPr>
                <p:cNvPr id="91161" name="Freeform 25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2" name="Freeform 26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3" name="Freeform 27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4" name="Freeform 28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5" name="Freeform 29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66" name="Group 30"/>
              <p:cNvGrpSpPr>
                <a:grpSpLocks/>
              </p:cNvGrpSpPr>
              <p:nvPr/>
            </p:nvGrpSpPr>
            <p:grpSpPr bwMode="auto">
              <a:xfrm>
                <a:off x="9265" y="7125"/>
                <a:ext cx="230" cy="142"/>
                <a:chOff x="2445" y="11931"/>
                <a:chExt cx="432" cy="204"/>
              </a:xfrm>
            </p:grpSpPr>
            <p:sp>
              <p:nvSpPr>
                <p:cNvPr id="91167" name="Freeform 31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8" name="Freeform 32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69" name="Freeform 33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0" name="Freeform 34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1" name="Freeform 35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72" name="Group 36"/>
              <p:cNvGrpSpPr>
                <a:grpSpLocks/>
              </p:cNvGrpSpPr>
              <p:nvPr/>
            </p:nvGrpSpPr>
            <p:grpSpPr bwMode="auto">
              <a:xfrm>
                <a:off x="9265" y="7293"/>
                <a:ext cx="230" cy="145"/>
                <a:chOff x="2445" y="11931"/>
                <a:chExt cx="432" cy="204"/>
              </a:xfrm>
            </p:grpSpPr>
            <p:sp>
              <p:nvSpPr>
                <p:cNvPr id="91173" name="Freeform 37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4" name="Freeform 38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5" name="Freeform 39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6" name="Freeform 40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77" name="Freeform 41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78" name="Group 42"/>
              <p:cNvGrpSpPr>
                <a:grpSpLocks/>
              </p:cNvGrpSpPr>
              <p:nvPr/>
            </p:nvGrpSpPr>
            <p:grpSpPr bwMode="auto">
              <a:xfrm>
                <a:off x="9265" y="7462"/>
                <a:ext cx="230" cy="145"/>
                <a:chOff x="2445" y="11931"/>
                <a:chExt cx="432" cy="204"/>
              </a:xfrm>
            </p:grpSpPr>
            <p:sp>
              <p:nvSpPr>
                <p:cNvPr id="91179" name="Freeform 43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0" name="Freeform 44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1" name="Freeform 45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2" name="Freeform 46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3" name="Freeform 47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84" name="Group 48"/>
              <p:cNvGrpSpPr>
                <a:grpSpLocks/>
              </p:cNvGrpSpPr>
              <p:nvPr/>
            </p:nvGrpSpPr>
            <p:grpSpPr bwMode="auto">
              <a:xfrm>
                <a:off x="9265" y="7632"/>
                <a:ext cx="230" cy="144"/>
                <a:chOff x="2445" y="11931"/>
                <a:chExt cx="432" cy="204"/>
              </a:xfrm>
            </p:grpSpPr>
            <p:sp>
              <p:nvSpPr>
                <p:cNvPr id="91185" name="Freeform 49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6" name="Freeform 50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7" name="Freeform 51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8" name="Freeform 52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89" name="Freeform 53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90" name="Group 54"/>
              <p:cNvGrpSpPr>
                <a:grpSpLocks/>
              </p:cNvGrpSpPr>
              <p:nvPr/>
            </p:nvGrpSpPr>
            <p:grpSpPr bwMode="auto">
              <a:xfrm>
                <a:off x="9265" y="7801"/>
                <a:ext cx="230" cy="144"/>
                <a:chOff x="2445" y="11931"/>
                <a:chExt cx="432" cy="204"/>
              </a:xfrm>
            </p:grpSpPr>
            <p:sp>
              <p:nvSpPr>
                <p:cNvPr id="91191" name="Freeform 55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2" name="Freeform 56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3" name="Freeform 57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4" name="Freeform 58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5" name="Freeform 59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196" name="Group 60"/>
              <p:cNvGrpSpPr>
                <a:grpSpLocks/>
              </p:cNvGrpSpPr>
              <p:nvPr/>
            </p:nvGrpSpPr>
            <p:grpSpPr bwMode="auto">
              <a:xfrm>
                <a:off x="9265" y="7969"/>
                <a:ext cx="230" cy="145"/>
                <a:chOff x="2445" y="11931"/>
                <a:chExt cx="432" cy="204"/>
              </a:xfrm>
            </p:grpSpPr>
            <p:sp>
              <p:nvSpPr>
                <p:cNvPr id="91197" name="Freeform 61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8" name="Freeform 62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199" name="Freeform 63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00" name="Freeform 64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01" name="Freeform 65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202" name="Freeform 66"/>
              <p:cNvSpPr>
                <a:spLocks/>
              </p:cNvSpPr>
              <p:nvPr/>
            </p:nvSpPr>
            <p:spPr bwMode="auto">
              <a:xfrm>
                <a:off x="9265" y="8139"/>
                <a:ext cx="230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03" name="Freeform 67"/>
              <p:cNvSpPr>
                <a:spLocks/>
              </p:cNvSpPr>
              <p:nvPr/>
            </p:nvSpPr>
            <p:spPr bwMode="auto">
              <a:xfrm>
                <a:off x="9364" y="8172"/>
                <a:ext cx="131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04" name="Freeform 68"/>
              <p:cNvSpPr>
                <a:spLocks/>
              </p:cNvSpPr>
              <p:nvPr/>
            </p:nvSpPr>
            <p:spPr bwMode="auto">
              <a:xfrm>
                <a:off x="9364" y="8204"/>
                <a:ext cx="131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05" name="Freeform 69"/>
              <p:cNvSpPr>
                <a:spLocks/>
              </p:cNvSpPr>
              <p:nvPr/>
            </p:nvSpPr>
            <p:spPr bwMode="auto">
              <a:xfrm>
                <a:off x="9364" y="8235"/>
                <a:ext cx="131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06" name="Freeform 70"/>
              <p:cNvSpPr>
                <a:spLocks/>
              </p:cNvSpPr>
              <p:nvPr/>
            </p:nvSpPr>
            <p:spPr bwMode="auto">
              <a:xfrm>
                <a:off x="9364" y="8267"/>
                <a:ext cx="131" cy="16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07" name="Freeform 71"/>
              <p:cNvSpPr>
                <a:spLocks/>
              </p:cNvSpPr>
              <p:nvPr/>
            </p:nvSpPr>
            <p:spPr bwMode="auto">
              <a:xfrm>
                <a:off x="9265" y="8308"/>
                <a:ext cx="230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208" name="Line 72"/>
            <p:cNvSpPr>
              <a:spLocks noChangeShapeType="1"/>
            </p:cNvSpPr>
            <p:nvPr/>
          </p:nvSpPr>
          <p:spPr bwMode="auto">
            <a:xfrm flipH="1">
              <a:off x="2243" y="7408"/>
              <a:ext cx="18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09" name="AutoShape 73" descr="Briques horizontales"/>
            <p:cNvSpPr>
              <a:spLocks noChangeArrowheads="1"/>
            </p:cNvSpPr>
            <p:nvPr/>
          </p:nvSpPr>
          <p:spPr bwMode="auto">
            <a:xfrm>
              <a:off x="2124" y="8575"/>
              <a:ext cx="454" cy="391"/>
            </a:xfrm>
            <a:prstGeom prst="cube">
              <a:avLst>
                <a:gd name="adj" fmla="val 24972"/>
              </a:avLst>
            </a:prstGeom>
            <a:pattFill prst="horzBrick">
              <a:fgClr>
                <a:srgbClr val="D6B19C"/>
              </a:fgClr>
              <a:bgClr>
                <a:srgbClr val="663012"/>
              </a:bgClr>
            </a:patt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10" name="Freeform 74"/>
            <p:cNvSpPr>
              <a:spLocks/>
            </p:cNvSpPr>
            <p:nvPr/>
          </p:nvSpPr>
          <p:spPr bwMode="auto">
            <a:xfrm>
              <a:off x="2335" y="8529"/>
              <a:ext cx="111" cy="85"/>
            </a:xfrm>
            <a:custGeom>
              <a:avLst/>
              <a:gdLst/>
              <a:ahLst/>
              <a:cxnLst>
                <a:cxn ang="0">
                  <a:pos x="111" y="43"/>
                </a:cxn>
                <a:cxn ang="0">
                  <a:pos x="31" y="79"/>
                </a:cxn>
                <a:cxn ang="0">
                  <a:pos x="0" y="44"/>
                </a:cxn>
                <a:cxn ang="0">
                  <a:pos x="76" y="55"/>
                </a:cxn>
                <a:cxn ang="0">
                  <a:pos x="49" y="85"/>
                </a:cxn>
                <a:cxn ang="0">
                  <a:pos x="0" y="0"/>
                </a:cxn>
              </a:cxnLst>
              <a:rect l="0" t="0" r="r" b="b"/>
              <a:pathLst>
                <a:path w="111" h="85">
                  <a:moveTo>
                    <a:pt x="111" y="43"/>
                  </a:moveTo>
                  <a:lnTo>
                    <a:pt x="31" y="79"/>
                  </a:lnTo>
                  <a:lnTo>
                    <a:pt x="0" y="44"/>
                  </a:lnTo>
                  <a:lnTo>
                    <a:pt x="76" y="55"/>
                  </a:lnTo>
                  <a:lnTo>
                    <a:pt x="49" y="8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91211" name="AutoShape 75"/>
            <p:cNvCxnSpPr>
              <a:cxnSpLocks noChangeShapeType="1"/>
            </p:cNvCxnSpPr>
            <p:nvPr/>
          </p:nvCxnSpPr>
          <p:spPr bwMode="auto">
            <a:xfrm flipV="1">
              <a:off x="2356" y="8524"/>
              <a:ext cx="50" cy="7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91212" name="Rectangle 76" descr="Tirets horizontaux"/>
            <p:cNvSpPr>
              <a:spLocks noChangeArrowheads="1"/>
            </p:cNvSpPr>
            <p:nvPr/>
          </p:nvSpPr>
          <p:spPr bwMode="auto">
            <a:xfrm>
              <a:off x="2109" y="8693"/>
              <a:ext cx="350" cy="297"/>
            </a:xfrm>
            <a:prstGeom prst="rect">
              <a:avLst/>
            </a:prstGeom>
            <a:pattFill prst="dashHorz">
              <a:fgClr>
                <a:srgbClr val="0000FF">
                  <a:alpha val="22000"/>
                </a:srgbClr>
              </a:fgClr>
              <a:bgClr>
                <a:srgbClr val="FFFFFF">
                  <a:alpha val="22000"/>
                </a:srgbClr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13" name="Freeform 77" descr="Tirets horizontaux"/>
            <p:cNvSpPr>
              <a:spLocks/>
            </p:cNvSpPr>
            <p:nvPr/>
          </p:nvSpPr>
          <p:spPr bwMode="auto">
            <a:xfrm>
              <a:off x="2108" y="8569"/>
              <a:ext cx="465" cy="103"/>
            </a:xfrm>
            <a:custGeom>
              <a:avLst/>
              <a:gdLst/>
              <a:ahLst/>
              <a:cxnLst>
                <a:cxn ang="0">
                  <a:pos x="126" y="0"/>
                </a:cxn>
                <a:cxn ang="0">
                  <a:pos x="0" y="98"/>
                </a:cxn>
                <a:cxn ang="0">
                  <a:pos x="370" y="103"/>
                </a:cxn>
                <a:cxn ang="0">
                  <a:pos x="465" y="8"/>
                </a:cxn>
                <a:cxn ang="0">
                  <a:pos x="126" y="0"/>
                </a:cxn>
              </a:cxnLst>
              <a:rect l="0" t="0" r="r" b="b"/>
              <a:pathLst>
                <a:path w="465" h="103">
                  <a:moveTo>
                    <a:pt x="126" y="0"/>
                  </a:moveTo>
                  <a:lnTo>
                    <a:pt x="0" y="98"/>
                  </a:lnTo>
                  <a:lnTo>
                    <a:pt x="370" y="103"/>
                  </a:lnTo>
                  <a:lnTo>
                    <a:pt x="465" y="8"/>
                  </a:lnTo>
                  <a:lnTo>
                    <a:pt x="126" y="0"/>
                  </a:lnTo>
                  <a:close/>
                </a:path>
              </a:pathLst>
            </a:custGeom>
            <a:pattFill prst="dashHorz">
              <a:fgClr>
                <a:srgbClr val="0000FF">
                  <a:alpha val="23000"/>
                </a:srgbClr>
              </a:fgClr>
              <a:bgClr>
                <a:srgbClr val="FFFFFF">
                  <a:alpha val="23000"/>
                </a:srgbClr>
              </a:bgClr>
            </a:patt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14" name="Freeform 78" descr="Tirets horizontaux"/>
            <p:cNvSpPr>
              <a:spLocks/>
            </p:cNvSpPr>
            <p:nvPr/>
          </p:nvSpPr>
          <p:spPr bwMode="auto">
            <a:xfrm>
              <a:off x="2485" y="8582"/>
              <a:ext cx="100" cy="374"/>
            </a:xfrm>
            <a:custGeom>
              <a:avLst/>
              <a:gdLst/>
              <a:ahLst/>
              <a:cxnLst>
                <a:cxn ang="0">
                  <a:pos x="95" y="0"/>
                </a:cxn>
                <a:cxn ang="0">
                  <a:pos x="100" y="302"/>
                </a:cxn>
                <a:cxn ang="0">
                  <a:pos x="0" y="374"/>
                </a:cxn>
                <a:cxn ang="0">
                  <a:pos x="0" y="94"/>
                </a:cxn>
                <a:cxn ang="0">
                  <a:pos x="95" y="0"/>
                </a:cxn>
              </a:cxnLst>
              <a:rect l="0" t="0" r="r" b="b"/>
              <a:pathLst>
                <a:path w="100" h="374">
                  <a:moveTo>
                    <a:pt x="95" y="0"/>
                  </a:moveTo>
                  <a:lnTo>
                    <a:pt x="100" y="302"/>
                  </a:lnTo>
                  <a:lnTo>
                    <a:pt x="0" y="374"/>
                  </a:lnTo>
                  <a:lnTo>
                    <a:pt x="0" y="94"/>
                  </a:lnTo>
                  <a:lnTo>
                    <a:pt x="95" y="0"/>
                  </a:lnTo>
                  <a:close/>
                </a:path>
              </a:pathLst>
            </a:custGeom>
            <a:pattFill prst="dashHorz">
              <a:fgClr>
                <a:srgbClr val="0000FF">
                  <a:alpha val="22000"/>
                </a:srgbClr>
              </a:fgClr>
              <a:bgClr>
                <a:srgbClr val="FFFFFF">
                  <a:alpha val="22000"/>
                </a:srgbClr>
              </a:bgClr>
            </a:patt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15" name="Rectangle 79"/>
            <p:cNvSpPr>
              <a:spLocks noChangeArrowheads="1"/>
            </p:cNvSpPr>
            <p:nvPr/>
          </p:nvSpPr>
          <p:spPr bwMode="auto">
            <a:xfrm>
              <a:off x="3709" y="7324"/>
              <a:ext cx="595" cy="232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216" name="Freeform 80"/>
            <p:cNvSpPr>
              <a:spLocks/>
            </p:cNvSpPr>
            <p:nvPr/>
          </p:nvSpPr>
          <p:spPr bwMode="auto">
            <a:xfrm>
              <a:off x="3422" y="9646"/>
              <a:ext cx="1141" cy="111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0" y="195"/>
                </a:cxn>
                <a:cxn ang="0">
                  <a:pos x="1611" y="195"/>
                </a:cxn>
                <a:cxn ang="0">
                  <a:pos x="1248" y="3"/>
                </a:cxn>
              </a:cxnLst>
              <a:rect l="0" t="0" r="r" b="b"/>
              <a:pathLst>
                <a:path w="1611" h="195">
                  <a:moveTo>
                    <a:pt x="408" y="0"/>
                  </a:moveTo>
                  <a:lnTo>
                    <a:pt x="0" y="195"/>
                  </a:lnTo>
                  <a:lnTo>
                    <a:pt x="1611" y="195"/>
                  </a:lnTo>
                  <a:lnTo>
                    <a:pt x="1248" y="3"/>
                  </a:lnTo>
                </a:path>
              </a:pathLst>
            </a:cu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217" name="Group 81"/>
            <p:cNvGrpSpPr>
              <a:grpSpLocks/>
            </p:cNvGrpSpPr>
            <p:nvPr/>
          </p:nvGrpSpPr>
          <p:grpSpPr bwMode="auto">
            <a:xfrm>
              <a:off x="3689" y="7158"/>
              <a:ext cx="631" cy="2419"/>
              <a:chOff x="2086" y="11408"/>
              <a:chExt cx="890" cy="4222"/>
            </a:xfrm>
          </p:grpSpPr>
          <p:grpSp>
            <p:nvGrpSpPr>
              <p:cNvPr id="91218" name="Group 82"/>
              <p:cNvGrpSpPr>
                <a:grpSpLocks/>
              </p:cNvGrpSpPr>
              <p:nvPr/>
            </p:nvGrpSpPr>
            <p:grpSpPr bwMode="auto">
              <a:xfrm>
                <a:off x="2086" y="11408"/>
                <a:ext cx="890" cy="4222"/>
                <a:chOff x="2086" y="11408"/>
                <a:chExt cx="890" cy="4222"/>
              </a:xfrm>
            </p:grpSpPr>
            <p:sp>
              <p:nvSpPr>
                <p:cNvPr id="91219" name="AutoShape 83"/>
                <p:cNvSpPr>
                  <a:spLocks noChangeArrowheads="1"/>
                </p:cNvSpPr>
                <p:nvPr/>
              </p:nvSpPr>
              <p:spPr bwMode="auto">
                <a:xfrm>
                  <a:off x="2157" y="11444"/>
                  <a:ext cx="764" cy="4186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20" name="Rectangle 84"/>
                <p:cNvSpPr>
                  <a:spLocks noChangeArrowheads="1"/>
                </p:cNvSpPr>
                <p:nvPr/>
              </p:nvSpPr>
              <p:spPr bwMode="auto">
                <a:xfrm>
                  <a:off x="2086" y="11408"/>
                  <a:ext cx="890" cy="40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221" name="Oval 85"/>
              <p:cNvSpPr>
                <a:spLocks noChangeArrowheads="1"/>
              </p:cNvSpPr>
              <p:nvPr/>
            </p:nvSpPr>
            <p:spPr bwMode="auto">
              <a:xfrm>
                <a:off x="2110" y="11773"/>
                <a:ext cx="847" cy="9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222" name="Oval 86"/>
            <p:cNvSpPr>
              <a:spLocks noChangeArrowheads="1"/>
            </p:cNvSpPr>
            <p:nvPr/>
          </p:nvSpPr>
          <p:spPr bwMode="auto">
            <a:xfrm>
              <a:off x="3731" y="7371"/>
              <a:ext cx="549" cy="46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223" name="Group 87"/>
            <p:cNvGrpSpPr>
              <a:grpSpLocks/>
            </p:cNvGrpSpPr>
            <p:nvPr/>
          </p:nvGrpSpPr>
          <p:grpSpPr bwMode="auto">
            <a:xfrm>
              <a:off x="3737" y="8357"/>
              <a:ext cx="543" cy="1208"/>
              <a:chOff x="2154" y="14040"/>
              <a:chExt cx="768" cy="1587"/>
            </a:xfrm>
          </p:grpSpPr>
          <p:sp>
            <p:nvSpPr>
              <p:cNvPr id="91224" name="Freeform 88" descr="Tirets horizontaux"/>
              <p:cNvSpPr>
                <a:spLocks/>
              </p:cNvSpPr>
              <p:nvPr/>
            </p:nvSpPr>
            <p:spPr bwMode="auto">
              <a:xfrm>
                <a:off x="2162" y="14040"/>
                <a:ext cx="760" cy="1587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7" y="1317"/>
                  </a:cxn>
                  <a:cxn ang="0">
                    <a:pos x="88" y="1458"/>
                  </a:cxn>
                  <a:cxn ang="0">
                    <a:pos x="172" y="1524"/>
                  </a:cxn>
                  <a:cxn ang="0">
                    <a:pos x="310" y="1581"/>
                  </a:cxn>
                  <a:cxn ang="0">
                    <a:pos x="421" y="1587"/>
                  </a:cxn>
                  <a:cxn ang="0">
                    <a:pos x="516" y="1551"/>
                  </a:cxn>
                  <a:cxn ang="0">
                    <a:pos x="625" y="1494"/>
                  </a:cxn>
                  <a:cxn ang="0">
                    <a:pos x="706" y="1401"/>
                  </a:cxn>
                  <a:cxn ang="0">
                    <a:pos x="760" y="1269"/>
                  </a:cxn>
                  <a:cxn ang="0">
                    <a:pos x="748" y="36"/>
                  </a:cxn>
                  <a:cxn ang="0">
                    <a:pos x="622" y="9"/>
                  </a:cxn>
                  <a:cxn ang="0">
                    <a:pos x="379" y="0"/>
                  </a:cxn>
                  <a:cxn ang="0">
                    <a:pos x="154" y="6"/>
                  </a:cxn>
                  <a:cxn ang="0">
                    <a:pos x="0" y="33"/>
                  </a:cxn>
                </a:cxnLst>
                <a:rect l="0" t="0" r="r" b="b"/>
                <a:pathLst>
                  <a:path w="760" h="1587">
                    <a:moveTo>
                      <a:pt x="0" y="33"/>
                    </a:moveTo>
                    <a:lnTo>
                      <a:pt x="7" y="1317"/>
                    </a:lnTo>
                    <a:lnTo>
                      <a:pt x="88" y="1458"/>
                    </a:lnTo>
                    <a:lnTo>
                      <a:pt x="172" y="1524"/>
                    </a:lnTo>
                    <a:lnTo>
                      <a:pt x="310" y="1581"/>
                    </a:lnTo>
                    <a:lnTo>
                      <a:pt x="421" y="1587"/>
                    </a:lnTo>
                    <a:lnTo>
                      <a:pt x="516" y="1551"/>
                    </a:lnTo>
                    <a:lnTo>
                      <a:pt x="625" y="1494"/>
                    </a:lnTo>
                    <a:lnTo>
                      <a:pt x="706" y="1401"/>
                    </a:lnTo>
                    <a:lnTo>
                      <a:pt x="760" y="1269"/>
                    </a:lnTo>
                    <a:lnTo>
                      <a:pt x="748" y="36"/>
                    </a:lnTo>
                    <a:lnTo>
                      <a:pt x="622" y="9"/>
                    </a:lnTo>
                    <a:lnTo>
                      <a:pt x="379" y="0"/>
                    </a:lnTo>
                    <a:lnTo>
                      <a:pt x="154" y="6"/>
                    </a:lnTo>
                    <a:lnTo>
                      <a:pt x="0" y="33"/>
                    </a:lnTo>
                    <a:close/>
                  </a:path>
                </a:pathLst>
              </a:custGeom>
              <a:pattFill prst="dashHorz">
                <a:fgClr>
                  <a:srgbClr val="0000FF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25" name="Oval 89" descr="Tirets horizontaux"/>
              <p:cNvSpPr>
                <a:spLocks noChangeArrowheads="1"/>
              </p:cNvSpPr>
              <p:nvPr/>
            </p:nvSpPr>
            <p:spPr bwMode="auto">
              <a:xfrm>
                <a:off x="2154" y="14049"/>
                <a:ext cx="768" cy="71"/>
              </a:xfrm>
              <a:prstGeom prst="ellipse">
                <a:avLst/>
              </a:prstGeom>
              <a:pattFill prst="dashHorz">
                <a:fgClr>
                  <a:srgbClr val="0000FF"/>
                </a:fgClr>
                <a:bgClr>
                  <a:srgbClr val="FFFFFF"/>
                </a:bgClr>
              </a:pattFill>
              <a:ln w="31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91226" name="Group 90"/>
            <p:cNvGrpSpPr>
              <a:grpSpLocks/>
            </p:cNvGrpSpPr>
            <p:nvPr/>
          </p:nvGrpSpPr>
          <p:grpSpPr bwMode="auto">
            <a:xfrm>
              <a:off x="3948" y="7484"/>
              <a:ext cx="308" cy="1991"/>
              <a:chOff x="9265" y="6955"/>
              <a:chExt cx="230" cy="1373"/>
            </a:xfrm>
          </p:grpSpPr>
          <p:grpSp>
            <p:nvGrpSpPr>
              <p:cNvPr id="91227" name="Group 91"/>
              <p:cNvGrpSpPr>
                <a:grpSpLocks/>
              </p:cNvGrpSpPr>
              <p:nvPr/>
            </p:nvGrpSpPr>
            <p:grpSpPr bwMode="auto">
              <a:xfrm>
                <a:off x="9265" y="6955"/>
                <a:ext cx="230" cy="145"/>
                <a:chOff x="2445" y="11931"/>
                <a:chExt cx="432" cy="204"/>
              </a:xfrm>
            </p:grpSpPr>
            <p:sp>
              <p:nvSpPr>
                <p:cNvPr id="91228" name="Freeform 92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29" name="Freeform 93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0" name="Freeform 94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1" name="Freeform 95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2" name="Freeform 96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33" name="Group 97"/>
              <p:cNvGrpSpPr>
                <a:grpSpLocks/>
              </p:cNvGrpSpPr>
              <p:nvPr/>
            </p:nvGrpSpPr>
            <p:grpSpPr bwMode="auto">
              <a:xfrm>
                <a:off x="9265" y="7125"/>
                <a:ext cx="230" cy="142"/>
                <a:chOff x="2445" y="11931"/>
                <a:chExt cx="432" cy="204"/>
              </a:xfrm>
            </p:grpSpPr>
            <p:sp>
              <p:nvSpPr>
                <p:cNvPr id="91234" name="Freeform 98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5" name="Freeform 99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6" name="Freeform 100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7" name="Freeform 101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38" name="Freeform 102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39" name="Group 103"/>
              <p:cNvGrpSpPr>
                <a:grpSpLocks/>
              </p:cNvGrpSpPr>
              <p:nvPr/>
            </p:nvGrpSpPr>
            <p:grpSpPr bwMode="auto">
              <a:xfrm>
                <a:off x="9265" y="7293"/>
                <a:ext cx="230" cy="145"/>
                <a:chOff x="2445" y="11931"/>
                <a:chExt cx="432" cy="204"/>
              </a:xfrm>
            </p:grpSpPr>
            <p:sp>
              <p:nvSpPr>
                <p:cNvPr id="91240" name="Freeform 104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1" name="Freeform 105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2" name="Freeform 106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3" name="Freeform 107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4" name="Freeform 108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45" name="Group 109"/>
              <p:cNvGrpSpPr>
                <a:grpSpLocks/>
              </p:cNvGrpSpPr>
              <p:nvPr/>
            </p:nvGrpSpPr>
            <p:grpSpPr bwMode="auto">
              <a:xfrm>
                <a:off x="9265" y="7462"/>
                <a:ext cx="230" cy="145"/>
                <a:chOff x="2445" y="11931"/>
                <a:chExt cx="432" cy="204"/>
              </a:xfrm>
            </p:grpSpPr>
            <p:sp>
              <p:nvSpPr>
                <p:cNvPr id="91246" name="Freeform 110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7" name="Freeform 111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8" name="Freeform 112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49" name="Freeform 113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0" name="Freeform 114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51" name="Group 115"/>
              <p:cNvGrpSpPr>
                <a:grpSpLocks/>
              </p:cNvGrpSpPr>
              <p:nvPr/>
            </p:nvGrpSpPr>
            <p:grpSpPr bwMode="auto">
              <a:xfrm>
                <a:off x="9265" y="7632"/>
                <a:ext cx="230" cy="144"/>
                <a:chOff x="2445" y="11931"/>
                <a:chExt cx="432" cy="204"/>
              </a:xfrm>
            </p:grpSpPr>
            <p:sp>
              <p:nvSpPr>
                <p:cNvPr id="91252" name="Freeform 116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3" name="Freeform 117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4" name="Freeform 118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5" name="Freeform 119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6" name="Freeform 120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57" name="Group 121"/>
              <p:cNvGrpSpPr>
                <a:grpSpLocks/>
              </p:cNvGrpSpPr>
              <p:nvPr/>
            </p:nvGrpSpPr>
            <p:grpSpPr bwMode="auto">
              <a:xfrm>
                <a:off x="9265" y="7801"/>
                <a:ext cx="230" cy="144"/>
                <a:chOff x="2445" y="11931"/>
                <a:chExt cx="432" cy="204"/>
              </a:xfrm>
            </p:grpSpPr>
            <p:sp>
              <p:nvSpPr>
                <p:cNvPr id="91258" name="Freeform 122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59" name="Freeform 123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0" name="Freeform 124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1" name="Freeform 125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2" name="Freeform 126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1263" name="Group 127"/>
              <p:cNvGrpSpPr>
                <a:grpSpLocks/>
              </p:cNvGrpSpPr>
              <p:nvPr/>
            </p:nvGrpSpPr>
            <p:grpSpPr bwMode="auto">
              <a:xfrm>
                <a:off x="9265" y="7969"/>
                <a:ext cx="230" cy="145"/>
                <a:chOff x="2445" y="11931"/>
                <a:chExt cx="432" cy="204"/>
              </a:xfrm>
            </p:grpSpPr>
            <p:sp>
              <p:nvSpPr>
                <p:cNvPr id="91264" name="Freeform 128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5" name="Freeform 129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6" name="Freeform 130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7" name="Freeform 131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268" name="Freeform 132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269" name="Freeform 133"/>
              <p:cNvSpPr>
                <a:spLocks/>
              </p:cNvSpPr>
              <p:nvPr/>
            </p:nvSpPr>
            <p:spPr bwMode="auto">
              <a:xfrm>
                <a:off x="9265" y="8139"/>
                <a:ext cx="230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0" name="Freeform 134"/>
              <p:cNvSpPr>
                <a:spLocks/>
              </p:cNvSpPr>
              <p:nvPr/>
            </p:nvSpPr>
            <p:spPr bwMode="auto">
              <a:xfrm>
                <a:off x="9364" y="8172"/>
                <a:ext cx="131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1" name="Freeform 135"/>
              <p:cNvSpPr>
                <a:spLocks/>
              </p:cNvSpPr>
              <p:nvPr/>
            </p:nvSpPr>
            <p:spPr bwMode="auto">
              <a:xfrm>
                <a:off x="9364" y="8204"/>
                <a:ext cx="131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2" name="Freeform 136"/>
              <p:cNvSpPr>
                <a:spLocks/>
              </p:cNvSpPr>
              <p:nvPr/>
            </p:nvSpPr>
            <p:spPr bwMode="auto">
              <a:xfrm>
                <a:off x="9364" y="8235"/>
                <a:ext cx="131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3" name="Freeform 137"/>
              <p:cNvSpPr>
                <a:spLocks/>
              </p:cNvSpPr>
              <p:nvPr/>
            </p:nvSpPr>
            <p:spPr bwMode="auto">
              <a:xfrm>
                <a:off x="9364" y="8267"/>
                <a:ext cx="131" cy="16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4" name="Freeform 138"/>
              <p:cNvSpPr>
                <a:spLocks/>
              </p:cNvSpPr>
              <p:nvPr/>
            </p:nvSpPr>
            <p:spPr bwMode="auto">
              <a:xfrm>
                <a:off x="9265" y="8308"/>
                <a:ext cx="230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275" name="Line 139"/>
            <p:cNvSpPr>
              <a:spLocks noChangeShapeType="1"/>
            </p:cNvSpPr>
            <p:nvPr/>
          </p:nvSpPr>
          <p:spPr bwMode="auto">
            <a:xfrm flipH="1">
              <a:off x="3896" y="7419"/>
              <a:ext cx="18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276" name="Group 140"/>
            <p:cNvGrpSpPr>
              <a:grpSpLocks/>
            </p:cNvGrpSpPr>
            <p:nvPr/>
          </p:nvGrpSpPr>
          <p:grpSpPr bwMode="auto">
            <a:xfrm>
              <a:off x="3761" y="8708"/>
              <a:ext cx="476" cy="578"/>
              <a:chOff x="4497" y="11811"/>
              <a:chExt cx="477" cy="410"/>
            </a:xfrm>
          </p:grpSpPr>
          <p:sp>
            <p:nvSpPr>
              <p:cNvPr id="91277" name="AutoShape 141"/>
              <p:cNvSpPr>
                <a:spLocks noChangeArrowheads="1"/>
              </p:cNvSpPr>
              <p:nvPr/>
            </p:nvSpPr>
            <p:spPr bwMode="auto">
              <a:xfrm>
                <a:off x="4513" y="11817"/>
                <a:ext cx="454" cy="391"/>
              </a:xfrm>
              <a:prstGeom prst="cube">
                <a:avLst>
                  <a:gd name="adj" fmla="val 24972"/>
                </a:avLst>
              </a:prstGeom>
              <a:gradFill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8" name="Rectangle 142" descr="Tirets horizontaux"/>
              <p:cNvSpPr>
                <a:spLocks noChangeArrowheads="1"/>
              </p:cNvSpPr>
              <p:nvPr/>
            </p:nvSpPr>
            <p:spPr bwMode="auto">
              <a:xfrm>
                <a:off x="4509" y="11924"/>
                <a:ext cx="350" cy="297"/>
              </a:xfrm>
              <a:prstGeom prst="rect">
                <a:avLst/>
              </a:prstGeom>
              <a:pattFill prst="dashHorz">
                <a:fgClr>
                  <a:srgbClr val="0000FF">
                    <a:alpha val="22000"/>
                  </a:srgbClr>
                </a:fgClr>
                <a:bgClr>
                  <a:srgbClr val="FFFFFF">
                    <a:alpha val="22000"/>
                  </a:srgb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79" name="Freeform 143" descr="Tirets horizontaux"/>
              <p:cNvSpPr>
                <a:spLocks/>
              </p:cNvSpPr>
              <p:nvPr/>
            </p:nvSpPr>
            <p:spPr bwMode="auto">
              <a:xfrm>
                <a:off x="4497" y="11811"/>
                <a:ext cx="465" cy="103"/>
              </a:xfrm>
              <a:custGeom>
                <a:avLst/>
                <a:gdLst/>
                <a:ahLst/>
                <a:cxnLst>
                  <a:cxn ang="0">
                    <a:pos x="126" y="0"/>
                  </a:cxn>
                  <a:cxn ang="0">
                    <a:pos x="0" y="98"/>
                  </a:cxn>
                  <a:cxn ang="0">
                    <a:pos x="370" y="103"/>
                  </a:cxn>
                  <a:cxn ang="0">
                    <a:pos x="465" y="8"/>
                  </a:cxn>
                  <a:cxn ang="0">
                    <a:pos x="126" y="0"/>
                  </a:cxn>
                </a:cxnLst>
                <a:rect l="0" t="0" r="r" b="b"/>
                <a:pathLst>
                  <a:path w="465" h="103">
                    <a:moveTo>
                      <a:pt x="126" y="0"/>
                    </a:moveTo>
                    <a:lnTo>
                      <a:pt x="0" y="98"/>
                    </a:lnTo>
                    <a:lnTo>
                      <a:pt x="370" y="103"/>
                    </a:lnTo>
                    <a:lnTo>
                      <a:pt x="465" y="8"/>
                    </a:lnTo>
                    <a:lnTo>
                      <a:pt x="126" y="0"/>
                    </a:lnTo>
                    <a:close/>
                  </a:path>
                </a:pathLst>
              </a:custGeom>
              <a:pattFill prst="dashHorz">
                <a:fgClr>
                  <a:srgbClr val="0000FF">
                    <a:alpha val="23000"/>
                  </a:srgbClr>
                </a:fgClr>
                <a:bgClr>
                  <a:srgbClr val="FFFFFF">
                    <a:alpha val="23000"/>
                  </a:srgb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80" name="Freeform 144" descr="Tirets horizontaux"/>
              <p:cNvSpPr>
                <a:spLocks/>
              </p:cNvSpPr>
              <p:nvPr/>
            </p:nvSpPr>
            <p:spPr bwMode="auto">
              <a:xfrm>
                <a:off x="4874" y="11824"/>
                <a:ext cx="100" cy="374"/>
              </a:xfrm>
              <a:custGeom>
                <a:avLst/>
                <a:gdLst/>
                <a:ahLst/>
                <a:cxnLst>
                  <a:cxn ang="0">
                    <a:pos x="95" y="0"/>
                  </a:cxn>
                  <a:cxn ang="0">
                    <a:pos x="100" y="302"/>
                  </a:cxn>
                  <a:cxn ang="0">
                    <a:pos x="0" y="374"/>
                  </a:cxn>
                  <a:cxn ang="0">
                    <a:pos x="0" y="94"/>
                  </a:cxn>
                  <a:cxn ang="0">
                    <a:pos x="95" y="0"/>
                  </a:cxn>
                </a:cxnLst>
                <a:rect l="0" t="0" r="r" b="b"/>
                <a:pathLst>
                  <a:path w="100" h="374">
                    <a:moveTo>
                      <a:pt x="95" y="0"/>
                    </a:moveTo>
                    <a:lnTo>
                      <a:pt x="100" y="302"/>
                    </a:lnTo>
                    <a:lnTo>
                      <a:pt x="0" y="374"/>
                    </a:lnTo>
                    <a:lnTo>
                      <a:pt x="0" y="94"/>
                    </a:lnTo>
                    <a:lnTo>
                      <a:pt x="95" y="0"/>
                    </a:lnTo>
                    <a:close/>
                  </a:path>
                </a:pathLst>
              </a:custGeom>
              <a:pattFill prst="dashHorz">
                <a:fgClr>
                  <a:srgbClr val="0000FF">
                    <a:alpha val="22000"/>
                  </a:srgbClr>
                </a:fgClr>
                <a:bgClr>
                  <a:srgbClr val="FFFFFF">
                    <a:alpha val="22000"/>
                  </a:srgb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281" name="Freeform 145"/>
            <p:cNvSpPr>
              <a:spLocks/>
            </p:cNvSpPr>
            <p:nvPr/>
          </p:nvSpPr>
          <p:spPr bwMode="auto">
            <a:xfrm>
              <a:off x="3988" y="8669"/>
              <a:ext cx="111" cy="85"/>
            </a:xfrm>
            <a:custGeom>
              <a:avLst/>
              <a:gdLst/>
              <a:ahLst/>
              <a:cxnLst>
                <a:cxn ang="0">
                  <a:pos x="111" y="43"/>
                </a:cxn>
                <a:cxn ang="0">
                  <a:pos x="31" y="79"/>
                </a:cxn>
                <a:cxn ang="0">
                  <a:pos x="0" y="44"/>
                </a:cxn>
                <a:cxn ang="0">
                  <a:pos x="76" y="55"/>
                </a:cxn>
                <a:cxn ang="0">
                  <a:pos x="49" y="85"/>
                </a:cxn>
                <a:cxn ang="0">
                  <a:pos x="0" y="0"/>
                </a:cxn>
              </a:cxnLst>
              <a:rect l="0" t="0" r="r" b="b"/>
              <a:pathLst>
                <a:path w="111" h="85">
                  <a:moveTo>
                    <a:pt x="111" y="43"/>
                  </a:moveTo>
                  <a:lnTo>
                    <a:pt x="31" y="79"/>
                  </a:lnTo>
                  <a:lnTo>
                    <a:pt x="0" y="44"/>
                  </a:lnTo>
                  <a:lnTo>
                    <a:pt x="76" y="55"/>
                  </a:lnTo>
                  <a:lnTo>
                    <a:pt x="49" y="8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91282" name="AutoShape 146"/>
            <p:cNvCxnSpPr>
              <a:cxnSpLocks noChangeShapeType="1"/>
            </p:cNvCxnSpPr>
            <p:nvPr/>
          </p:nvCxnSpPr>
          <p:spPr bwMode="auto">
            <a:xfrm flipV="1">
              <a:off x="4009" y="8664"/>
              <a:ext cx="50" cy="7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91283" name="Group 147"/>
            <p:cNvGrpSpPr>
              <a:grpSpLocks/>
            </p:cNvGrpSpPr>
            <p:nvPr/>
          </p:nvGrpSpPr>
          <p:grpSpPr bwMode="auto">
            <a:xfrm>
              <a:off x="3344" y="6133"/>
              <a:ext cx="1009" cy="1009"/>
              <a:chOff x="5665" y="3560"/>
              <a:chExt cx="1466" cy="1465"/>
            </a:xfrm>
          </p:grpSpPr>
          <p:grpSp>
            <p:nvGrpSpPr>
              <p:cNvPr id="91284" name="Group 148"/>
              <p:cNvGrpSpPr>
                <a:grpSpLocks/>
              </p:cNvGrpSpPr>
              <p:nvPr/>
            </p:nvGrpSpPr>
            <p:grpSpPr bwMode="auto">
              <a:xfrm>
                <a:off x="5666" y="3560"/>
                <a:ext cx="1465" cy="1465"/>
                <a:chOff x="5671" y="3562"/>
                <a:chExt cx="1465" cy="1465"/>
              </a:xfrm>
            </p:grpSpPr>
            <p:grpSp>
              <p:nvGrpSpPr>
                <p:cNvPr id="91285" name="Group 149"/>
                <p:cNvGrpSpPr>
                  <a:grpSpLocks/>
                </p:cNvGrpSpPr>
                <p:nvPr/>
              </p:nvGrpSpPr>
              <p:grpSpPr bwMode="auto">
                <a:xfrm>
                  <a:off x="5671" y="3562"/>
                  <a:ext cx="1465" cy="1465"/>
                  <a:chOff x="5167" y="3427"/>
                  <a:chExt cx="1465" cy="1465"/>
                </a:xfrm>
              </p:grpSpPr>
              <p:grpSp>
                <p:nvGrpSpPr>
                  <p:cNvPr id="91286" name="Group 150"/>
                  <p:cNvGrpSpPr>
                    <a:grpSpLocks/>
                  </p:cNvGrpSpPr>
                  <p:nvPr/>
                </p:nvGrpSpPr>
                <p:grpSpPr bwMode="auto">
                  <a:xfrm>
                    <a:off x="5167" y="3427"/>
                    <a:ext cx="1465" cy="1465"/>
                    <a:chOff x="5167" y="3427"/>
                    <a:chExt cx="1465" cy="1465"/>
                  </a:xfrm>
                </p:grpSpPr>
                <p:grpSp>
                  <p:nvGrpSpPr>
                    <p:cNvPr id="91287" name="Group 15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167" y="3427"/>
                      <a:ext cx="1465" cy="1465"/>
                      <a:chOff x="7522" y="1563"/>
                      <a:chExt cx="1465" cy="1465"/>
                    </a:xfrm>
                  </p:grpSpPr>
                  <p:sp>
                    <p:nvSpPr>
                      <p:cNvPr id="91288" name="Oval 15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22" y="1563"/>
                        <a:ext cx="1465" cy="146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89" name="Line 1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93" y="176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0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 rot="772452">
                        <a:off x="7904" y="169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1" name="Line 155"/>
                      <p:cNvSpPr>
                        <a:spLocks noChangeShapeType="1"/>
                      </p:cNvSpPr>
                      <p:nvPr/>
                    </p:nvSpPr>
                    <p:spPr bwMode="auto">
                      <a:xfrm rot="1420652">
                        <a:off x="8015" y="164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2" name="Line 156"/>
                      <p:cNvSpPr>
                        <a:spLocks noChangeShapeType="1"/>
                      </p:cNvSpPr>
                      <p:nvPr/>
                    </p:nvSpPr>
                    <p:spPr bwMode="auto">
                      <a:xfrm rot="1798363">
                        <a:off x="8126" y="16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3" name="Line 157"/>
                      <p:cNvSpPr>
                        <a:spLocks noChangeShapeType="1"/>
                      </p:cNvSpPr>
                      <p:nvPr/>
                    </p:nvSpPr>
                    <p:spPr bwMode="auto">
                      <a:xfrm rot="2672958">
                        <a:off x="8249" y="1603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4" name="Line 158"/>
                      <p:cNvSpPr>
                        <a:spLocks noChangeShapeType="1"/>
                      </p:cNvSpPr>
                      <p:nvPr/>
                    </p:nvSpPr>
                    <p:spPr bwMode="auto">
                      <a:xfrm rot="6204533">
                        <a:off x="7682" y="2613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5" name="Line 159"/>
                      <p:cNvSpPr>
                        <a:spLocks noChangeShapeType="1"/>
                      </p:cNvSpPr>
                      <p:nvPr/>
                    </p:nvSpPr>
                    <p:spPr bwMode="auto">
                      <a:xfrm rot="3686280">
                        <a:off x="8367" y="1628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6" name="Line 160"/>
                      <p:cNvSpPr>
                        <a:spLocks noChangeShapeType="1"/>
                      </p:cNvSpPr>
                      <p:nvPr/>
                    </p:nvSpPr>
                    <p:spPr bwMode="auto">
                      <a:xfrm rot="4178721">
                        <a:off x="8503" y="167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7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 rot="4826921">
                        <a:off x="8609" y="174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8" name="Line 162"/>
                      <p:cNvSpPr>
                        <a:spLocks noChangeShapeType="1"/>
                      </p:cNvSpPr>
                      <p:nvPr/>
                    </p:nvSpPr>
                    <p:spPr bwMode="auto">
                      <a:xfrm rot="5204632">
                        <a:off x="8695" y="181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299" name="Line 163"/>
                      <p:cNvSpPr>
                        <a:spLocks noChangeShapeType="1"/>
                      </p:cNvSpPr>
                      <p:nvPr/>
                    </p:nvSpPr>
                    <p:spPr bwMode="auto">
                      <a:xfrm rot="6079227">
                        <a:off x="8773" y="19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00" name="Line 164"/>
                      <p:cNvSpPr>
                        <a:spLocks noChangeShapeType="1"/>
                      </p:cNvSpPr>
                      <p:nvPr/>
                    </p:nvSpPr>
                    <p:spPr bwMode="auto">
                      <a:xfrm rot="6721341">
                        <a:off x="8799" y="202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01" name="Line 165"/>
                      <p:cNvSpPr>
                        <a:spLocks noChangeShapeType="1"/>
                      </p:cNvSpPr>
                      <p:nvPr/>
                    </p:nvSpPr>
                    <p:spPr bwMode="auto">
                      <a:xfrm rot="7493794">
                        <a:off x="8854" y="215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02" name="Line 166"/>
                      <p:cNvSpPr>
                        <a:spLocks noChangeShapeType="1"/>
                      </p:cNvSpPr>
                      <p:nvPr/>
                    </p:nvSpPr>
                    <p:spPr bwMode="auto">
                      <a:xfrm rot="8141993">
                        <a:off x="8863" y="228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03" name="Line 167"/>
                      <p:cNvSpPr>
                        <a:spLocks noChangeShapeType="1"/>
                      </p:cNvSpPr>
                      <p:nvPr/>
                    </p:nvSpPr>
                    <p:spPr bwMode="auto">
                      <a:xfrm rot="8519704">
                        <a:off x="8849" y="2396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04" name="Line 168"/>
                      <p:cNvSpPr>
                        <a:spLocks noChangeShapeType="1"/>
                      </p:cNvSpPr>
                      <p:nvPr/>
                    </p:nvSpPr>
                    <p:spPr bwMode="auto">
                      <a:xfrm rot="9394299">
                        <a:off x="8814" y="2514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grpSp>
                    <p:nvGrpSpPr>
                      <p:cNvPr id="91305" name="Group 169"/>
                      <p:cNvGrpSpPr>
                        <a:grpSpLocks/>
                      </p:cNvGrpSpPr>
                      <p:nvPr/>
                    </p:nvGrpSpPr>
                    <p:grpSpPr bwMode="auto">
                      <a:xfrm rot="10143224">
                        <a:off x="8321" y="2656"/>
                        <a:ext cx="521" cy="259"/>
                        <a:chOff x="4406" y="1717"/>
                        <a:chExt cx="521" cy="259"/>
                      </a:xfrm>
                    </p:grpSpPr>
                    <p:sp>
                      <p:nvSpPr>
                        <p:cNvPr id="91306" name="Line 17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06" y="1878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07" name="Line 17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72452">
                          <a:off x="4517" y="1813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08" name="Line 17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20652">
                          <a:off x="4628" y="175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09" name="Line 17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798363">
                          <a:off x="4739" y="172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10" name="Line 17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2672958">
                          <a:off x="4862" y="1717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91311" name="Line 175"/>
                      <p:cNvSpPr>
                        <a:spLocks noChangeShapeType="1"/>
                      </p:cNvSpPr>
                      <p:nvPr/>
                    </p:nvSpPr>
                    <p:spPr bwMode="auto">
                      <a:xfrm rot="13440840">
                        <a:off x="8199" y="2867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12" name="Line 176"/>
                      <p:cNvSpPr>
                        <a:spLocks noChangeShapeType="1"/>
                      </p:cNvSpPr>
                      <p:nvPr/>
                    </p:nvSpPr>
                    <p:spPr bwMode="auto">
                      <a:xfrm rot="14039816">
                        <a:off x="8090" y="2890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13" name="Line 177"/>
                      <p:cNvSpPr>
                        <a:spLocks noChangeShapeType="1"/>
                      </p:cNvSpPr>
                      <p:nvPr/>
                    </p:nvSpPr>
                    <p:spPr bwMode="auto">
                      <a:xfrm rot="14688016">
                        <a:off x="7971" y="284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14" name="Line 178"/>
                      <p:cNvSpPr>
                        <a:spLocks noChangeShapeType="1"/>
                      </p:cNvSpPr>
                      <p:nvPr/>
                    </p:nvSpPr>
                    <p:spPr bwMode="auto">
                      <a:xfrm rot="15065727">
                        <a:off x="7868" y="279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15" name="Line 179"/>
                      <p:cNvSpPr>
                        <a:spLocks noChangeShapeType="1"/>
                      </p:cNvSpPr>
                      <p:nvPr/>
                    </p:nvSpPr>
                    <p:spPr bwMode="auto">
                      <a:xfrm rot="15940322">
                        <a:off x="7767" y="2727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16" name="Oval 1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66" y="1606"/>
                        <a:ext cx="1378" cy="1378"/>
                      </a:xfrm>
                      <a:prstGeom prst="ellipse">
                        <a:avLst/>
                      </a:prstGeom>
                      <a:noFill/>
                      <a:ln w="28575">
                        <a:solidFill>
                          <a:srgbClr val="FFFFFF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91317" name="WordArt 181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7898641">
                      <a:off x="5437" y="4336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18" name="WordArt 182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0834392">
                      <a:off x="5802" y="4510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19" name="WordArt 183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4016058">
                      <a:off x="6189" y="4333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20" name="WordArt 184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7697217">
                      <a:off x="6243" y="393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21" name="WordArt 185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20430436">
                      <a:off x="5931" y="3628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22" name="WordArt 186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8422993">
                      <a:off x="5553" y="372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91323" name="WordArt 187"/>
                  <p:cNvSpPr>
                    <a:spLocks noChangeArrowheads="1" noChangeShapeType="1" noTextEdit="1"/>
                  </p:cNvSpPr>
                  <p:nvPr/>
                </p:nvSpPr>
                <p:spPr bwMode="auto">
                  <a:xfrm rot="-15402491">
                    <a:off x="5143" y="3999"/>
                    <a:ext cx="454" cy="11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 rtl="0"/>
                    <a:r>
                      <a:rPr lang="fr-FR" sz="800" kern="10" spc="0" smtClean="0">
                        <a:ln w="9525">
                          <a:solidFill>
                            <a:srgbClr val="FF0000"/>
                          </a:solidFill>
                          <a:round/>
                          <a:headEnd/>
                          <a:tailEnd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rPr>
                      <a:t>x 0,1 N</a:t>
                    </a:r>
                    <a:endParaRPr lang="fr-FR" sz="800" kern="10" spc="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effectLst/>
                      <a:latin typeface="Times New Roman"/>
                      <a:cs typeface="Times New Roman"/>
                    </a:endParaRPr>
                  </a:p>
                </p:txBody>
              </p:sp>
            </p:grpSp>
            <p:sp>
              <p:nvSpPr>
                <p:cNvPr id="91324" name="AutoShape 188"/>
                <p:cNvSpPr>
                  <a:spLocks noChangeAspect="1" noChangeArrowheads="1"/>
                </p:cNvSpPr>
                <p:nvPr/>
              </p:nvSpPr>
              <p:spPr bwMode="auto">
                <a:xfrm rot="7896017">
                  <a:off x="5883" y="3824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325" name="AutoShape 189"/>
                <p:cNvSpPr>
                  <a:spLocks noChangeAspect="1" noChangeArrowheads="1"/>
                </p:cNvSpPr>
                <p:nvPr/>
              </p:nvSpPr>
              <p:spPr bwMode="auto">
                <a:xfrm rot="3815911">
                  <a:off x="5790" y="4559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326" name="Oval 190"/>
              <p:cNvSpPr>
                <a:spLocks noChangeArrowheads="1"/>
              </p:cNvSpPr>
              <p:nvPr/>
            </p:nvSpPr>
            <p:spPr bwMode="auto">
              <a:xfrm>
                <a:off x="5665" y="3560"/>
                <a:ext cx="1465" cy="1465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327" name="AutoShape 191"/>
            <p:cNvSpPr>
              <a:spLocks noChangeArrowheads="1"/>
            </p:cNvSpPr>
            <p:nvPr/>
          </p:nvSpPr>
          <p:spPr bwMode="auto">
            <a:xfrm rot="3000000" flipH="1">
              <a:off x="3941" y="6473"/>
              <a:ext cx="98" cy="13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328" name="Oval 192"/>
            <p:cNvSpPr>
              <a:spLocks noChangeArrowheads="1"/>
            </p:cNvSpPr>
            <p:nvPr/>
          </p:nvSpPr>
          <p:spPr bwMode="auto">
            <a:xfrm rot="131619">
              <a:off x="3728" y="6495"/>
              <a:ext cx="268" cy="2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1329" name="Group 193"/>
            <p:cNvGrpSpPr>
              <a:grpSpLocks/>
            </p:cNvGrpSpPr>
            <p:nvPr/>
          </p:nvGrpSpPr>
          <p:grpSpPr bwMode="auto">
            <a:xfrm>
              <a:off x="1692" y="6101"/>
              <a:ext cx="1009" cy="1009"/>
              <a:chOff x="5665" y="3560"/>
              <a:chExt cx="1466" cy="1465"/>
            </a:xfrm>
          </p:grpSpPr>
          <p:grpSp>
            <p:nvGrpSpPr>
              <p:cNvPr id="91330" name="Group 194"/>
              <p:cNvGrpSpPr>
                <a:grpSpLocks/>
              </p:cNvGrpSpPr>
              <p:nvPr/>
            </p:nvGrpSpPr>
            <p:grpSpPr bwMode="auto">
              <a:xfrm>
                <a:off x="5666" y="3560"/>
                <a:ext cx="1465" cy="1465"/>
                <a:chOff x="5671" y="3562"/>
                <a:chExt cx="1465" cy="1465"/>
              </a:xfrm>
            </p:grpSpPr>
            <p:grpSp>
              <p:nvGrpSpPr>
                <p:cNvPr id="91331" name="Group 195"/>
                <p:cNvGrpSpPr>
                  <a:grpSpLocks/>
                </p:cNvGrpSpPr>
                <p:nvPr/>
              </p:nvGrpSpPr>
              <p:grpSpPr bwMode="auto">
                <a:xfrm>
                  <a:off x="5671" y="3562"/>
                  <a:ext cx="1465" cy="1465"/>
                  <a:chOff x="5167" y="3427"/>
                  <a:chExt cx="1465" cy="1465"/>
                </a:xfrm>
              </p:grpSpPr>
              <p:grpSp>
                <p:nvGrpSpPr>
                  <p:cNvPr id="91332" name="Group 196"/>
                  <p:cNvGrpSpPr>
                    <a:grpSpLocks/>
                  </p:cNvGrpSpPr>
                  <p:nvPr/>
                </p:nvGrpSpPr>
                <p:grpSpPr bwMode="auto">
                  <a:xfrm>
                    <a:off x="5167" y="3427"/>
                    <a:ext cx="1465" cy="1465"/>
                    <a:chOff x="5167" y="3427"/>
                    <a:chExt cx="1465" cy="1465"/>
                  </a:xfrm>
                </p:grpSpPr>
                <p:grpSp>
                  <p:nvGrpSpPr>
                    <p:cNvPr id="91333" name="Group 1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167" y="3427"/>
                      <a:ext cx="1465" cy="1465"/>
                      <a:chOff x="7522" y="1563"/>
                      <a:chExt cx="1465" cy="1465"/>
                    </a:xfrm>
                  </p:grpSpPr>
                  <p:sp>
                    <p:nvSpPr>
                      <p:cNvPr id="91334" name="Oval 1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22" y="1563"/>
                        <a:ext cx="1465" cy="146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35" name="Line 19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93" y="176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36" name="Line 200"/>
                      <p:cNvSpPr>
                        <a:spLocks noChangeShapeType="1"/>
                      </p:cNvSpPr>
                      <p:nvPr/>
                    </p:nvSpPr>
                    <p:spPr bwMode="auto">
                      <a:xfrm rot="772452">
                        <a:off x="7904" y="169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37" name="Line 201"/>
                      <p:cNvSpPr>
                        <a:spLocks noChangeShapeType="1"/>
                      </p:cNvSpPr>
                      <p:nvPr/>
                    </p:nvSpPr>
                    <p:spPr bwMode="auto">
                      <a:xfrm rot="1420652">
                        <a:off x="8015" y="164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38" name="Line 202"/>
                      <p:cNvSpPr>
                        <a:spLocks noChangeShapeType="1"/>
                      </p:cNvSpPr>
                      <p:nvPr/>
                    </p:nvSpPr>
                    <p:spPr bwMode="auto">
                      <a:xfrm rot="1798363">
                        <a:off x="8126" y="16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39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 rot="2672958">
                        <a:off x="8249" y="1603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0" name="Line 204"/>
                      <p:cNvSpPr>
                        <a:spLocks noChangeShapeType="1"/>
                      </p:cNvSpPr>
                      <p:nvPr/>
                    </p:nvSpPr>
                    <p:spPr bwMode="auto">
                      <a:xfrm rot="6204533">
                        <a:off x="7682" y="2613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1" name="Line 205"/>
                      <p:cNvSpPr>
                        <a:spLocks noChangeShapeType="1"/>
                      </p:cNvSpPr>
                      <p:nvPr/>
                    </p:nvSpPr>
                    <p:spPr bwMode="auto">
                      <a:xfrm rot="3686280">
                        <a:off x="8367" y="1628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2" name="Line 206"/>
                      <p:cNvSpPr>
                        <a:spLocks noChangeShapeType="1"/>
                      </p:cNvSpPr>
                      <p:nvPr/>
                    </p:nvSpPr>
                    <p:spPr bwMode="auto">
                      <a:xfrm rot="4178721">
                        <a:off x="8503" y="167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3" name="Line 207"/>
                      <p:cNvSpPr>
                        <a:spLocks noChangeShapeType="1"/>
                      </p:cNvSpPr>
                      <p:nvPr/>
                    </p:nvSpPr>
                    <p:spPr bwMode="auto">
                      <a:xfrm rot="4826921">
                        <a:off x="8609" y="174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4" name="Line 208"/>
                      <p:cNvSpPr>
                        <a:spLocks noChangeShapeType="1"/>
                      </p:cNvSpPr>
                      <p:nvPr/>
                    </p:nvSpPr>
                    <p:spPr bwMode="auto">
                      <a:xfrm rot="5204632">
                        <a:off x="8695" y="181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5" name="Line 209"/>
                      <p:cNvSpPr>
                        <a:spLocks noChangeShapeType="1"/>
                      </p:cNvSpPr>
                      <p:nvPr/>
                    </p:nvSpPr>
                    <p:spPr bwMode="auto">
                      <a:xfrm rot="6079227">
                        <a:off x="8773" y="19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6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rot="6721341">
                        <a:off x="8799" y="202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7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rot="7493794">
                        <a:off x="8854" y="215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8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 rot="8141993">
                        <a:off x="8863" y="228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49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 rot="8519704">
                        <a:off x="8849" y="2396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50" name="Line 214"/>
                      <p:cNvSpPr>
                        <a:spLocks noChangeShapeType="1"/>
                      </p:cNvSpPr>
                      <p:nvPr/>
                    </p:nvSpPr>
                    <p:spPr bwMode="auto">
                      <a:xfrm rot="9394299">
                        <a:off x="8814" y="2514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grpSp>
                    <p:nvGrpSpPr>
                      <p:cNvPr id="91351" name="Group 215"/>
                      <p:cNvGrpSpPr>
                        <a:grpSpLocks/>
                      </p:cNvGrpSpPr>
                      <p:nvPr/>
                    </p:nvGrpSpPr>
                    <p:grpSpPr bwMode="auto">
                      <a:xfrm rot="10143224">
                        <a:off x="8321" y="2656"/>
                        <a:ext cx="521" cy="259"/>
                        <a:chOff x="4406" y="1717"/>
                        <a:chExt cx="521" cy="259"/>
                      </a:xfrm>
                    </p:grpSpPr>
                    <p:sp>
                      <p:nvSpPr>
                        <p:cNvPr id="91352" name="Line 2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06" y="1878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53" name="Line 2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72452">
                          <a:off x="4517" y="1813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54" name="Line 2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20652">
                          <a:off x="4628" y="175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55" name="Line 21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798363">
                          <a:off x="4739" y="172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1356" name="Line 2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2672958">
                          <a:off x="4862" y="1717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91357" name="Line 221"/>
                      <p:cNvSpPr>
                        <a:spLocks noChangeShapeType="1"/>
                      </p:cNvSpPr>
                      <p:nvPr/>
                    </p:nvSpPr>
                    <p:spPr bwMode="auto">
                      <a:xfrm rot="13440840">
                        <a:off x="8199" y="2867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58" name="Line 222"/>
                      <p:cNvSpPr>
                        <a:spLocks noChangeShapeType="1"/>
                      </p:cNvSpPr>
                      <p:nvPr/>
                    </p:nvSpPr>
                    <p:spPr bwMode="auto">
                      <a:xfrm rot="14039816">
                        <a:off x="8090" y="2890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59" name="Line 223"/>
                      <p:cNvSpPr>
                        <a:spLocks noChangeShapeType="1"/>
                      </p:cNvSpPr>
                      <p:nvPr/>
                    </p:nvSpPr>
                    <p:spPr bwMode="auto">
                      <a:xfrm rot="14688016">
                        <a:off x="7971" y="284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60" name="Line 224"/>
                      <p:cNvSpPr>
                        <a:spLocks noChangeShapeType="1"/>
                      </p:cNvSpPr>
                      <p:nvPr/>
                    </p:nvSpPr>
                    <p:spPr bwMode="auto">
                      <a:xfrm rot="15065727">
                        <a:off x="7868" y="279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61" name="Line 225"/>
                      <p:cNvSpPr>
                        <a:spLocks noChangeShapeType="1"/>
                      </p:cNvSpPr>
                      <p:nvPr/>
                    </p:nvSpPr>
                    <p:spPr bwMode="auto">
                      <a:xfrm rot="15940322">
                        <a:off x="7767" y="2727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1362" name="Oval 2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66" y="1606"/>
                        <a:ext cx="1378" cy="1378"/>
                      </a:xfrm>
                      <a:prstGeom prst="ellipse">
                        <a:avLst/>
                      </a:prstGeom>
                      <a:noFill/>
                      <a:ln w="28575">
                        <a:solidFill>
                          <a:srgbClr val="FFFFFF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91363" name="WordArt 227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7898641">
                      <a:off x="5437" y="4336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64" name="WordArt 228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0834392">
                      <a:off x="5802" y="4510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65" name="WordArt 229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4016058">
                      <a:off x="6189" y="4333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66" name="WordArt 230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7697217">
                      <a:off x="6243" y="393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67" name="WordArt 231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20430436">
                      <a:off x="5931" y="3628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1368" name="WordArt 232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8422993">
                      <a:off x="5553" y="372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91369" name="WordArt 233"/>
                  <p:cNvSpPr>
                    <a:spLocks noChangeArrowheads="1" noChangeShapeType="1" noTextEdit="1"/>
                  </p:cNvSpPr>
                  <p:nvPr/>
                </p:nvSpPr>
                <p:spPr bwMode="auto">
                  <a:xfrm rot="-15402491">
                    <a:off x="5143" y="3999"/>
                    <a:ext cx="454" cy="11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 rtl="0"/>
                    <a:r>
                      <a:rPr lang="fr-FR" sz="800" kern="10" spc="0" smtClean="0">
                        <a:ln w="9525">
                          <a:solidFill>
                            <a:srgbClr val="FF0000"/>
                          </a:solidFill>
                          <a:round/>
                          <a:headEnd/>
                          <a:tailEnd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rPr>
                      <a:t>x 0,1 N</a:t>
                    </a:r>
                    <a:endParaRPr lang="fr-FR" sz="800" kern="10" spc="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effectLst/>
                      <a:latin typeface="Times New Roman"/>
                      <a:cs typeface="Times New Roman"/>
                    </a:endParaRPr>
                  </a:p>
                </p:txBody>
              </p:sp>
            </p:grpSp>
            <p:sp>
              <p:nvSpPr>
                <p:cNvPr id="91370" name="AutoShape 234"/>
                <p:cNvSpPr>
                  <a:spLocks noChangeAspect="1" noChangeArrowheads="1"/>
                </p:cNvSpPr>
                <p:nvPr/>
              </p:nvSpPr>
              <p:spPr bwMode="auto">
                <a:xfrm rot="7896017">
                  <a:off x="5883" y="3824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1371" name="AutoShape 235"/>
                <p:cNvSpPr>
                  <a:spLocks noChangeAspect="1" noChangeArrowheads="1"/>
                </p:cNvSpPr>
                <p:nvPr/>
              </p:nvSpPr>
              <p:spPr bwMode="auto">
                <a:xfrm rot="3815911">
                  <a:off x="5790" y="4559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1372" name="Oval 236"/>
              <p:cNvSpPr>
                <a:spLocks noChangeArrowheads="1"/>
              </p:cNvSpPr>
              <p:nvPr/>
            </p:nvSpPr>
            <p:spPr bwMode="auto">
              <a:xfrm>
                <a:off x="5665" y="3560"/>
                <a:ext cx="1465" cy="1465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1373" name="AutoShape 237"/>
            <p:cNvSpPr>
              <a:spLocks noChangeArrowheads="1"/>
            </p:cNvSpPr>
            <p:nvPr/>
          </p:nvSpPr>
          <p:spPr bwMode="auto">
            <a:xfrm rot="4200000" flipH="1">
              <a:off x="2294" y="6485"/>
              <a:ext cx="98" cy="138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374" name="Oval 238"/>
            <p:cNvSpPr>
              <a:spLocks noChangeArrowheads="1"/>
            </p:cNvSpPr>
            <p:nvPr/>
          </p:nvSpPr>
          <p:spPr bwMode="auto">
            <a:xfrm rot="131619">
              <a:off x="2076" y="6463"/>
              <a:ext cx="268" cy="2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375" name="Freeform 239"/>
            <p:cNvSpPr>
              <a:spLocks/>
            </p:cNvSpPr>
            <p:nvPr/>
          </p:nvSpPr>
          <p:spPr bwMode="auto">
            <a:xfrm>
              <a:off x="3910" y="6620"/>
              <a:ext cx="116" cy="2652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116" y="2136"/>
                </a:cxn>
                <a:cxn ang="0">
                  <a:pos x="6" y="2216"/>
                </a:cxn>
                <a:cxn ang="0">
                  <a:pos x="0" y="2652"/>
                </a:cxn>
              </a:cxnLst>
              <a:rect l="0" t="0" r="r" b="b"/>
              <a:pathLst>
                <a:path w="116" h="2652">
                  <a:moveTo>
                    <a:pt x="88" y="0"/>
                  </a:moveTo>
                  <a:lnTo>
                    <a:pt x="116" y="2136"/>
                  </a:lnTo>
                  <a:lnTo>
                    <a:pt x="6" y="2216"/>
                  </a:lnTo>
                  <a:lnTo>
                    <a:pt x="0" y="26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376" name="Freeform 240"/>
            <p:cNvSpPr>
              <a:spLocks/>
            </p:cNvSpPr>
            <p:nvPr/>
          </p:nvSpPr>
          <p:spPr bwMode="auto">
            <a:xfrm>
              <a:off x="2262" y="6596"/>
              <a:ext cx="111" cy="2368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111" y="2021"/>
                </a:cxn>
                <a:cxn ang="0">
                  <a:pos x="1" y="2101"/>
                </a:cxn>
                <a:cxn ang="0">
                  <a:pos x="0" y="2368"/>
                </a:cxn>
              </a:cxnLst>
              <a:rect l="0" t="0" r="r" b="b"/>
              <a:pathLst>
                <a:path w="111" h="2368">
                  <a:moveTo>
                    <a:pt x="82" y="0"/>
                  </a:moveTo>
                  <a:lnTo>
                    <a:pt x="111" y="2021"/>
                  </a:lnTo>
                  <a:lnTo>
                    <a:pt x="1" y="2101"/>
                  </a:lnTo>
                  <a:lnTo>
                    <a:pt x="0" y="23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91377" name="AutoShape 241"/>
            <p:cNvCxnSpPr>
              <a:cxnSpLocks noChangeShapeType="1"/>
            </p:cNvCxnSpPr>
            <p:nvPr/>
          </p:nvCxnSpPr>
          <p:spPr bwMode="auto">
            <a:xfrm>
              <a:off x="3532" y="9431"/>
              <a:ext cx="44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cxnSp>
          <p:nvCxnSpPr>
            <p:cNvPr id="91378" name="AutoShape 242"/>
            <p:cNvCxnSpPr>
              <a:cxnSpLocks noChangeShapeType="1"/>
            </p:cNvCxnSpPr>
            <p:nvPr/>
          </p:nvCxnSpPr>
          <p:spPr bwMode="auto">
            <a:xfrm>
              <a:off x="3455" y="9055"/>
              <a:ext cx="44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cxnSp>
          <p:nvCxnSpPr>
            <p:cNvPr id="91379" name="AutoShape 243"/>
            <p:cNvCxnSpPr>
              <a:cxnSpLocks noChangeShapeType="1"/>
            </p:cNvCxnSpPr>
            <p:nvPr/>
          </p:nvCxnSpPr>
          <p:spPr bwMode="auto">
            <a:xfrm flipH="1">
              <a:off x="2469" y="8705"/>
              <a:ext cx="44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cxnSp>
          <p:nvCxnSpPr>
            <p:cNvPr id="91380" name="AutoShape 244"/>
            <p:cNvCxnSpPr>
              <a:cxnSpLocks noChangeShapeType="1"/>
            </p:cNvCxnSpPr>
            <p:nvPr/>
          </p:nvCxnSpPr>
          <p:spPr bwMode="auto">
            <a:xfrm flipH="1" flipV="1">
              <a:off x="2365" y="9406"/>
              <a:ext cx="503" cy="29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</p:cxnSp>
      </p:grp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3" grpId="0"/>
      <p:bldP spid="2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p:control spid="46084" name="ShockwaveFlash1" r:id="rId2" imgW="10662785" imgH="6211167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fr-FR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.III </a:t>
            </a: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شرط توازن جسم مغمور وجسم طافي 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620587" y="770773"/>
            <a:ext cx="140743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النشاط06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58691" y="1342172"/>
            <a:ext cx="652548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rtl="1">
              <a:buFont typeface="Wingdings" pitchFamily="2" charset="2"/>
              <a:buChar char="E"/>
            </a:pP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نضع بيضة طازجة في وعاء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به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ماء مقطر، ثم نذيب في الماء </a:t>
            </a:r>
          </a:p>
          <a:p>
            <a:pPr algn="r" rtl="1"/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   كمية من الملح تدريجياً.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17299" y="2108260"/>
            <a:ext cx="679865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الملاحظة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تغوص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البيضة في الماء المقطر، وتعلق في الوسط في الماء المالح </a:t>
            </a:r>
          </a:p>
          <a:p>
            <a:pPr algn="r" rtl="1"/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              بينما تطفو في الماء شديد الملوحة.</a:t>
            </a:r>
            <a:endParaRPr lang="fr-FR" sz="24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11006317" y="3618407"/>
            <a:ext cx="995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التفسير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endParaRPr lang="fr-FR" sz="24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568" name="Groupe 567"/>
          <p:cNvGrpSpPr/>
          <p:nvPr/>
        </p:nvGrpSpPr>
        <p:grpSpPr>
          <a:xfrm>
            <a:off x="367553" y="1408394"/>
            <a:ext cx="1488956" cy="2384613"/>
            <a:chOff x="648422" y="1824038"/>
            <a:chExt cx="817562" cy="1279382"/>
          </a:xfrm>
        </p:grpSpPr>
        <p:sp>
          <p:nvSpPr>
            <p:cNvPr id="59554" name="Text Box 162"/>
            <p:cNvSpPr txBox="1">
              <a:spLocks noChangeArrowheads="1"/>
            </p:cNvSpPr>
            <p:nvPr/>
          </p:nvSpPr>
          <p:spPr bwMode="auto">
            <a:xfrm>
              <a:off x="648422" y="2824020"/>
              <a:ext cx="754062" cy="279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ماء مقطر</a:t>
              </a:r>
              <a:endPara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grpSp>
          <p:nvGrpSpPr>
            <p:cNvPr id="59555" name="Group 163"/>
            <p:cNvGrpSpPr>
              <a:grpSpLocks/>
            </p:cNvGrpSpPr>
            <p:nvPr/>
          </p:nvGrpSpPr>
          <p:grpSpPr bwMode="auto">
            <a:xfrm>
              <a:off x="699222" y="1824038"/>
              <a:ext cx="766762" cy="963612"/>
              <a:chOff x="7590" y="9659"/>
              <a:chExt cx="1208" cy="1517"/>
            </a:xfrm>
          </p:grpSpPr>
          <p:grpSp>
            <p:nvGrpSpPr>
              <p:cNvPr id="59556" name="Group 164"/>
              <p:cNvGrpSpPr>
                <a:grpSpLocks/>
              </p:cNvGrpSpPr>
              <p:nvPr/>
            </p:nvGrpSpPr>
            <p:grpSpPr bwMode="auto">
              <a:xfrm>
                <a:off x="7590" y="9659"/>
                <a:ext cx="1208" cy="1517"/>
                <a:chOff x="5304" y="3092"/>
                <a:chExt cx="1315" cy="1646"/>
              </a:xfrm>
            </p:grpSpPr>
            <p:grpSp>
              <p:nvGrpSpPr>
                <p:cNvPr id="59557" name="Group 165"/>
                <p:cNvGrpSpPr>
                  <a:grpSpLocks/>
                </p:cNvGrpSpPr>
                <p:nvPr/>
              </p:nvGrpSpPr>
              <p:grpSpPr bwMode="auto">
                <a:xfrm>
                  <a:off x="5304" y="3092"/>
                  <a:ext cx="1315" cy="1646"/>
                  <a:chOff x="5304" y="3092"/>
                  <a:chExt cx="1315" cy="1646"/>
                </a:xfrm>
              </p:grpSpPr>
              <p:sp>
                <p:nvSpPr>
                  <p:cNvPr id="59558" name="AutoShape 166"/>
                  <p:cNvSpPr>
                    <a:spLocks noChangeArrowheads="1"/>
                  </p:cNvSpPr>
                  <p:nvPr/>
                </p:nvSpPr>
                <p:spPr bwMode="auto">
                  <a:xfrm>
                    <a:off x="5377" y="3140"/>
                    <a:ext cx="1065" cy="1560"/>
                  </a:xfrm>
                  <a:prstGeom prst="roundRect">
                    <a:avLst>
                      <a:gd name="adj" fmla="val 8264"/>
                    </a:avLst>
                  </a:prstGeom>
                  <a:gradFill rotWithShape="0">
                    <a:gsLst>
                      <a:gs pos="0">
                        <a:srgbClr val="FFFFFF">
                          <a:gamma/>
                          <a:shade val="7725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77255"/>
                          <a:invGamma/>
                        </a:srgbClr>
                      </a:gs>
                    </a:gsLst>
                    <a:lin ang="0" scaled="1"/>
                  </a:gra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59" name="Freeform 167"/>
                  <p:cNvSpPr>
                    <a:spLocks/>
                  </p:cNvSpPr>
                  <p:nvPr/>
                </p:nvSpPr>
                <p:spPr bwMode="auto">
                  <a:xfrm>
                    <a:off x="6425" y="3176"/>
                    <a:ext cx="129" cy="156"/>
                  </a:xfrm>
                  <a:custGeom>
                    <a:avLst/>
                    <a:gdLst/>
                    <a:ahLst/>
                    <a:cxnLst>
                      <a:cxn ang="0">
                        <a:pos x="0" y="27"/>
                      </a:cxn>
                      <a:cxn ang="0">
                        <a:pos x="0" y="156"/>
                      </a:cxn>
                      <a:cxn ang="0">
                        <a:pos x="30" y="153"/>
                      </a:cxn>
                      <a:cxn ang="0">
                        <a:pos x="66" y="45"/>
                      </a:cxn>
                      <a:cxn ang="0">
                        <a:pos x="129" y="0"/>
                      </a:cxn>
                      <a:cxn ang="0">
                        <a:pos x="0" y="27"/>
                      </a:cxn>
                    </a:cxnLst>
                    <a:rect l="0" t="0" r="r" b="b"/>
                    <a:pathLst>
                      <a:path w="129" h="156">
                        <a:moveTo>
                          <a:pt x="0" y="27"/>
                        </a:moveTo>
                        <a:lnTo>
                          <a:pt x="0" y="156"/>
                        </a:lnTo>
                        <a:lnTo>
                          <a:pt x="30" y="153"/>
                        </a:lnTo>
                        <a:lnTo>
                          <a:pt x="66" y="45"/>
                        </a:lnTo>
                        <a:lnTo>
                          <a:pt x="129" y="0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0" name="Arc 168"/>
                  <p:cNvSpPr>
                    <a:spLocks/>
                  </p:cNvSpPr>
                  <p:nvPr/>
                </p:nvSpPr>
                <p:spPr bwMode="auto">
                  <a:xfrm>
                    <a:off x="5306" y="3152"/>
                    <a:ext cx="71" cy="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1" name="Arc 169"/>
                  <p:cNvSpPr>
                    <a:spLocks/>
                  </p:cNvSpPr>
                  <p:nvPr/>
                </p:nvSpPr>
                <p:spPr bwMode="auto">
                  <a:xfrm flipH="1">
                    <a:off x="6440" y="3152"/>
                    <a:ext cx="179" cy="251"/>
                  </a:xfrm>
                  <a:custGeom>
                    <a:avLst/>
                    <a:gdLst>
                      <a:gd name="G0" fmla="+- 182 0 0"/>
                      <a:gd name="G1" fmla="+- 21600 0 0"/>
                      <a:gd name="G2" fmla="+- 21600 0 0"/>
                      <a:gd name="T0" fmla="*/ 0 w 21772"/>
                      <a:gd name="T1" fmla="*/ 1 h 21600"/>
                      <a:gd name="T2" fmla="*/ 21772 w 21772"/>
                      <a:gd name="T3" fmla="*/ 20951 h 21600"/>
                      <a:gd name="T4" fmla="*/ 182 w 21772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772" h="21600" fill="none" extrusionOk="0">
                        <a:moveTo>
                          <a:pt x="-1" y="0"/>
                        </a:moveTo>
                        <a:cubicBezTo>
                          <a:pt x="60" y="0"/>
                          <a:pt x="121" y="-1"/>
                          <a:pt x="182" y="0"/>
                        </a:cubicBezTo>
                        <a:cubicBezTo>
                          <a:pt x="11858" y="0"/>
                          <a:pt x="21421" y="9279"/>
                          <a:pt x="21772" y="20950"/>
                        </a:cubicBezTo>
                      </a:path>
                      <a:path w="21772" h="21600" stroke="0" extrusionOk="0">
                        <a:moveTo>
                          <a:pt x="-1" y="0"/>
                        </a:moveTo>
                        <a:cubicBezTo>
                          <a:pt x="60" y="0"/>
                          <a:pt x="121" y="-1"/>
                          <a:pt x="182" y="0"/>
                        </a:cubicBezTo>
                        <a:cubicBezTo>
                          <a:pt x="11858" y="0"/>
                          <a:pt x="21421" y="9279"/>
                          <a:pt x="21772" y="20950"/>
                        </a:cubicBezTo>
                        <a:lnTo>
                          <a:pt x="182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2" name="Oval 170"/>
                  <p:cNvSpPr>
                    <a:spLocks noChangeArrowheads="1"/>
                  </p:cNvSpPr>
                  <p:nvPr/>
                </p:nvSpPr>
                <p:spPr bwMode="auto">
                  <a:xfrm>
                    <a:off x="5304" y="3092"/>
                    <a:ext cx="1301" cy="12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3" name="Oval 171"/>
                  <p:cNvSpPr>
                    <a:spLocks noChangeArrowheads="1"/>
                  </p:cNvSpPr>
                  <p:nvPr/>
                </p:nvSpPr>
                <p:spPr bwMode="auto">
                  <a:xfrm>
                    <a:off x="5413" y="4644"/>
                    <a:ext cx="985" cy="9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4" name="Oval 172"/>
                  <p:cNvSpPr>
                    <a:spLocks noChangeArrowheads="1"/>
                  </p:cNvSpPr>
                  <p:nvPr/>
                </p:nvSpPr>
                <p:spPr bwMode="auto">
                  <a:xfrm>
                    <a:off x="5419" y="4632"/>
                    <a:ext cx="973" cy="97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9565" name="Group 173"/>
                <p:cNvGrpSpPr>
                  <a:grpSpLocks/>
                </p:cNvGrpSpPr>
                <p:nvPr/>
              </p:nvGrpSpPr>
              <p:grpSpPr bwMode="auto">
                <a:xfrm>
                  <a:off x="5378" y="3656"/>
                  <a:ext cx="1036" cy="1074"/>
                  <a:chOff x="1223" y="1511"/>
                  <a:chExt cx="1036" cy="1074"/>
                </a:xfrm>
              </p:grpSpPr>
              <p:sp>
                <p:nvSpPr>
                  <p:cNvPr id="59566" name="Freeform 174"/>
                  <p:cNvSpPr>
                    <a:spLocks/>
                  </p:cNvSpPr>
                  <p:nvPr/>
                </p:nvSpPr>
                <p:spPr bwMode="auto">
                  <a:xfrm>
                    <a:off x="1223" y="1567"/>
                    <a:ext cx="1036" cy="10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936"/>
                      </a:cxn>
                      <a:cxn ang="0">
                        <a:pos x="24" y="970"/>
                      </a:cxn>
                      <a:cxn ang="0">
                        <a:pos x="60" y="991"/>
                      </a:cxn>
                      <a:cxn ang="0">
                        <a:pos x="138" y="1000"/>
                      </a:cxn>
                      <a:cxn ang="0">
                        <a:pos x="480" y="1018"/>
                      </a:cxn>
                      <a:cxn ang="0">
                        <a:pos x="909" y="1000"/>
                      </a:cxn>
                      <a:cxn ang="0">
                        <a:pos x="999" y="982"/>
                      </a:cxn>
                      <a:cxn ang="0">
                        <a:pos x="1036" y="957"/>
                      </a:cxn>
                      <a:cxn ang="0">
                        <a:pos x="1036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036" h="1018">
                        <a:moveTo>
                          <a:pt x="0" y="0"/>
                        </a:moveTo>
                        <a:lnTo>
                          <a:pt x="0" y="936"/>
                        </a:lnTo>
                        <a:lnTo>
                          <a:pt x="24" y="970"/>
                        </a:lnTo>
                        <a:lnTo>
                          <a:pt x="60" y="991"/>
                        </a:lnTo>
                        <a:lnTo>
                          <a:pt x="138" y="1000"/>
                        </a:lnTo>
                        <a:lnTo>
                          <a:pt x="480" y="1018"/>
                        </a:lnTo>
                        <a:lnTo>
                          <a:pt x="909" y="1000"/>
                        </a:lnTo>
                        <a:lnTo>
                          <a:pt x="999" y="982"/>
                        </a:lnTo>
                        <a:lnTo>
                          <a:pt x="1036" y="957"/>
                        </a:lnTo>
                        <a:lnTo>
                          <a:pt x="103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DB3E2">
                      <a:alpha val="50000"/>
                    </a:srgbClr>
                  </a:solidFill>
                  <a:ln w="317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67" name="Oval 175"/>
                  <p:cNvSpPr>
                    <a:spLocks noChangeArrowheads="1"/>
                  </p:cNvSpPr>
                  <p:nvPr/>
                </p:nvSpPr>
                <p:spPr bwMode="auto">
                  <a:xfrm>
                    <a:off x="1224" y="1511"/>
                    <a:ext cx="1033" cy="97"/>
                  </a:xfrm>
                  <a:prstGeom prst="ellipse">
                    <a:avLst/>
                  </a:prstGeom>
                  <a:solidFill>
                    <a:srgbClr val="8DB3E2">
                      <a:alpha val="50000"/>
                    </a:srgbClr>
                  </a:solidFill>
                  <a:ln w="3175">
                    <a:solidFill>
                      <a:srgbClr val="17365D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59568" name="Group 176"/>
              <p:cNvGrpSpPr>
                <a:grpSpLocks/>
              </p:cNvGrpSpPr>
              <p:nvPr/>
            </p:nvGrpSpPr>
            <p:grpSpPr bwMode="auto">
              <a:xfrm>
                <a:off x="7666" y="9810"/>
                <a:ext cx="190" cy="1309"/>
                <a:chOff x="8010" y="12054"/>
                <a:chExt cx="417" cy="1049"/>
              </a:xfrm>
            </p:grpSpPr>
            <p:grpSp>
              <p:nvGrpSpPr>
                <p:cNvPr id="59569" name="Group 177"/>
                <p:cNvGrpSpPr>
                  <a:grpSpLocks/>
                </p:cNvGrpSpPr>
                <p:nvPr/>
              </p:nvGrpSpPr>
              <p:grpSpPr bwMode="auto">
                <a:xfrm flipH="1">
                  <a:off x="8010" y="12054"/>
                  <a:ext cx="417" cy="147"/>
                  <a:chOff x="2445" y="11931"/>
                  <a:chExt cx="432" cy="204"/>
                </a:xfrm>
              </p:grpSpPr>
              <p:sp>
                <p:nvSpPr>
                  <p:cNvPr id="59570" name="Freeform 178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1" name="Freeform 179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2" name="Freeform 180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3" name="Freeform 181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4" name="Freeform 182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9575" name="Group 183"/>
                <p:cNvGrpSpPr>
                  <a:grpSpLocks/>
                </p:cNvGrpSpPr>
                <p:nvPr/>
              </p:nvGrpSpPr>
              <p:grpSpPr bwMode="auto">
                <a:xfrm flipH="1">
                  <a:off x="8010" y="12226"/>
                  <a:ext cx="417" cy="147"/>
                  <a:chOff x="2445" y="11931"/>
                  <a:chExt cx="432" cy="204"/>
                </a:xfrm>
              </p:grpSpPr>
              <p:sp>
                <p:nvSpPr>
                  <p:cNvPr id="59576" name="Freeform 184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7" name="Freeform 185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8" name="Freeform 186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79" name="Freeform 187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0" name="Freeform 188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9581" name="Group 189"/>
                <p:cNvGrpSpPr>
                  <a:grpSpLocks/>
                </p:cNvGrpSpPr>
                <p:nvPr/>
              </p:nvGrpSpPr>
              <p:grpSpPr bwMode="auto">
                <a:xfrm flipH="1">
                  <a:off x="8010" y="12398"/>
                  <a:ext cx="417" cy="146"/>
                  <a:chOff x="2445" y="11931"/>
                  <a:chExt cx="432" cy="204"/>
                </a:xfrm>
              </p:grpSpPr>
              <p:sp>
                <p:nvSpPr>
                  <p:cNvPr id="59582" name="Freeform 190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3" name="Freeform 191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4" name="Freeform 192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5" name="Freeform 193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6" name="Freeform 194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9587" name="Group 195"/>
                <p:cNvGrpSpPr>
                  <a:grpSpLocks/>
                </p:cNvGrpSpPr>
                <p:nvPr/>
              </p:nvGrpSpPr>
              <p:grpSpPr bwMode="auto">
                <a:xfrm flipH="1">
                  <a:off x="8010" y="12569"/>
                  <a:ext cx="417" cy="146"/>
                  <a:chOff x="2445" y="11931"/>
                  <a:chExt cx="432" cy="204"/>
                </a:xfrm>
              </p:grpSpPr>
              <p:sp>
                <p:nvSpPr>
                  <p:cNvPr id="59588" name="Freeform 196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89" name="Freeform 197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0" name="Freeform 198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1" name="Freeform 199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2" name="Freeform 200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9593" name="Group 201"/>
                <p:cNvGrpSpPr>
                  <a:grpSpLocks/>
                </p:cNvGrpSpPr>
                <p:nvPr/>
              </p:nvGrpSpPr>
              <p:grpSpPr bwMode="auto">
                <a:xfrm flipH="1">
                  <a:off x="8010" y="12739"/>
                  <a:ext cx="417" cy="147"/>
                  <a:chOff x="2445" y="11931"/>
                  <a:chExt cx="432" cy="204"/>
                </a:xfrm>
              </p:grpSpPr>
              <p:sp>
                <p:nvSpPr>
                  <p:cNvPr id="59594" name="Freeform 202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5" name="Freeform 203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6" name="Freeform 204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7" name="Freeform 205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598" name="Freeform 206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59599" name="Freeform 207"/>
                <p:cNvSpPr>
                  <a:spLocks/>
                </p:cNvSpPr>
                <p:nvPr/>
              </p:nvSpPr>
              <p:spPr bwMode="auto">
                <a:xfrm flipH="1">
                  <a:off x="8010" y="12912"/>
                  <a:ext cx="417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600" name="Freeform 208"/>
                <p:cNvSpPr>
                  <a:spLocks/>
                </p:cNvSpPr>
                <p:nvPr/>
              </p:nvSpPr>
              <p:spPr bwMode="auto">
                <a:xfrm flipH="1">
                  <a:off x="8010" y="12945"/>
                  <a:ext cx="238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601" name="Freeform 209"/>
                <p:cNvSpPr>
                  <a:spLocks/>
                </p:cNvSpPr>
                <p:nvPr/>
              </p:nvSpPr>
              <p:spPr bwMode="auto">
                <a:xfrm flipH="1">
                  <a:off x="8010" y="12977"/>
                  <a:ext cx="238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602" name="Freeform 210"/>
                <p:cNvSpPr>
                  <a:spLocks/>
                </p:cNvSpPr>
                <p:nvPr/>
              </p:nvSpPr>
              <p:spPr bwMode="auto">
                <a:xfrm flipH="1">
                  <a:off x="8010" y="13009"/>
                  <a:ext cx="238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603" name="Freeform 211"/>
                <p:cNvSpPr>
                  <a:spLocks/>
                </p:cNvSpPr>
                <p:nvPr/>
              </p:nvSpPr>
              <p:spPr bwMode="auto">
                <a:xfrm flipH="1">
                  <a:off x="8010" y="13041"/>
                  <a:ext cx="238" cy="16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604" name="Freeform 212"/>
                <p:cNvSpPr>
                  <a:spLocks/>
                </p:cNvSpPr>
                <p:nvPr/>
              </p:nvSpPr>
              <p:spPr bwMode="auto">
                <a:xfrm flipH="1">
                  <a:off x="8010" y="13083"/>
                  <a:ext cx="417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59759" name="Group 367"/>
          <p:cNvGrpSpPr>
            <a:grpSpLocks/>
          </p:cNvGrpSpPr>
          <p:nvPr/>
        </p:nvGrpSpPr>
        <p:grpSpPr bwMode="auto">
          <a:xfrm>
            <a:off x="3915733" y="1490843"/>
            <a:ext cx="1408790" cy="1797329"/>
            <a:chOff x="7590" y="9659"/>
            <a:chExt cx="1208" cy="1517"/>
          </a:xfrm>
        </p:grpSpPr>
        <p:grpSp>
          <p:nvGrpSpPr>
            <p:cNvPr id="59760" name="Group 368"/>
            <p:cNvGrpSpPr>
              <a:grpSpLocks/>
            </p:cNvGrpSpPr>
            <p:nvPr/>
          </p:nvGrpSpPr>
          <p:grpSpPr bwMode="auto">
            <a:xfrm>
              <a:off x="7590" y="9659"/>
              <a:ext cx="1208" cy="1517"/>
              <a:chOff x="5304" y="3092"/>
              <a:chExt cx="1315" cy="1646"/>
            </a:xfrm>
          </p:grpSpPr>
          <p:grpSp>
            <p:nvGrpSpPr>
              <p:cNvPr id="59761" name="Group 369"/>
              <p:cNvGrpSpPr>
                <a:grpSpLocks/>
              </p:cNvGrpSpPr>
              <p:nvPr/>
            </p:nvGrpSpPr>
            <p:grpSpPr bwMode="auto">
              <a:xfrm>
                <a:off x="5304" y="3092"/>
                <a:ext cx="1315" cy="1646"/>
                <a:chOff x="5304" y="3092"/>
                <a:chExt cx="1315" cy="1646"/>
              </a:xfrm>
            </p:grpSpPr>
            <p:sp>
              <p:nvSpPr>
                <p:cNvPr id="59762" name="AutoShape 370"/>
                <p:cNvSpPr>
                  <a:spLocks noChangeArrowheads="1"/>
                </p:cNvSpPr>
                <p:nvPr/>
              </p:nvSpPr>
              <p:spPr bwMode="auto">
                <a:xfrm>
                  <a:off x="5377" y="3140"/>
                  <a:ext cx="1065" cy="1560"/>
                </a:xfrm>
                <a:prstGeom prst="roundRect">
                  <a:avLst>
                    <a:gd name="adj" fmla="val 8264"/>
                  </a:avLst>
                </a:prstGeom>
                <a:gradFill rotWithShape="0">
                  <a:gsLst>
                    <a:gs pos="0">
                      <a:srgbClr val="FFFFFF">
                        <a:gamma/>
                        <a:shade val="7725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77255"/>
                        <a:invGamma/>
                      </a:srgbClr>
                    </a:gs>
                  </a:gsLst>
                  <a:lin ang="0" scaled="1"/>
                </a:gra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3" name="Freeform 371"/>
                <p:cNvSpPr>
                  <a:spLocks/>
                </p:cNvSpPr>
                <p:nvPr/>
              </p:nvSpPr>
              <p:spPr bwMode="auto">
                <a:xfrm>
                  <a:off x="6425" y="3176"/>
                  <a:ext cx="129" cy="156"/>
                </a:xfrm>
                <a:custGeom>
                  <a:avLst/>
                  <a:gdLst/>
                  <a:ahLst/>
                  <a:cxnLst>
                    <a:cxn ang="0">
                      <a:pos x="0" y="27"/>
                    </a:cxn>
                    <a:cxn ang="0">
                      <a:pos x="0" y="156"/>
                    </a:cxn>
                    <a:cxn ang="0">
                      <a:pos x="30" y="153"/>
                    </a:cxn>
                    <a:cxn ang="0">
                      <a:pos x="66" y="45"/>
                    </a:cxn>
                    <a:cxn ang="0">
                      <a:pos x="129" y="0"/>
                    </a:cxn>
                    <a:cxn ang="0">
                      <a:pos x="0" y="27"/>
                    </a:cxn>
                  </a:cxnLst>
                  <a:rect l="0" t="0" r="r" b="b"/>
                  <a:pathLst>
                    <a:path w="129" h="156">
                      <a:moveTo>
                        <a:pt x="0" y="27"/>
                      </a:moveTo>
                      <a:lnTo>
                        <a:pt x="0" y="156"/>
                      </a:lnTo>
                      <a:lnTo>
                        <a:pt x="30" y="153"/>
                      </a:lnTo>
                      <a:lnTo>
                        <a:pt x="66" y="45"/>
                      </a:lnTo>
                      <a:lnTo>
                        <a:pt x="129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4" name="Arc 372"/>
                <p:cNvSpPr>
                  <a:spLocks/>
                </p:cNvSpPr>
                <p:nvPr/>
              </p:nvSpPr>
              <p:spPr bwMode="auto">
                <a:xfrm>
                  <a:off x="5306" y="3152"/>
                  <a:ext cx="71" cy="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5" name="Arc 373"/>
                <p:cNvSpPr>
                  <a:spLocks/>
                </p:cNvSpPr>
                <p:nvPr/>
              </p:nvSpPr>
              <p:spPr bwMode="auto">
                <a:xfrm flipH="1">
                  <a:off x="6440" y="3152"/>
                  <a:ext cx="179" cy="251"/>
                </a:xfrm>
                <a:custGeom>
                  <a:avLst/>
                  <a:gdLst>
                    <a:gd name="G0" fmla="+- 182 0 0"/>
                    <a:gd name="G1" fmla="+- 21600 0 0"/>
                    <a:gd name="G2" fmla="+- 21600 0 0"/>
                    <a:gd name="T0" fmla="*/ 0 w 21772"/>
                    <a:gd name="T1" fmla="*/ 1 h 21600"/>
                    <a:gd name="T2" fmla="*/ 21772 w 21772"/>
                    <a:gd name="T3" fmla="*/ 20951 h 21600"/>
                    <a:gd name="T4" fmla="*/ 182 w 2177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72" h="21600" fill="none" extrusionOk="0">
                      <a:moveTo>
                        <a:pt x="-1" y="0"/>
                      </a:moveTo>
                      <a:cubicBezTo>
                        <a:pt x="60" y="0"/>
                        <a:pt x="121" y="-1"/>
                        <a:pt x="182" y="0"/>
                      </a:cubicBezTo>
                      <a:cubicBezTo>
                        <a:pt x="11858" y="0"/>
                        <a:pt x="21421" y="9279"/>
                        <a:pt x="21772" y="20950"/>
                      </a:cubicBezTo>
                    </a:path>
                    <a:path w="21772" h="21600" stroke="0" extrusionOk="0">
                      <a:moveTo>
                        <a:pt x="-1" y="0"/>
                      </a:moveTo>
                      <a:cubicBezTo>
                        <a:pt x="60" y="0"/>
                        <a:pt x="121" y="-1"/>
                        <a:pt x="182" y="0"/>
                      </a:cubicBezTo>
                      <a:cubicBezTo>
                        <a:pt x="11858" y="0"/>
                        <a:pt x="21421" y="9279"/>
                        <a:pt x="21772" y="20950"/>
                      </a:cubicBezTo>
                      <a:lnTo>
                        <a:pt x="182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6" name="Oval 374"/>
                <p:cNvSpPr>
                  <a:spLocks noChangeArrowheads="1"/>
                </p:cNvSpPr>
                <p:nvPr/>
              </p:nvSpPr>
              <p:spPr bwMode="auto">
                <a:xfrm>
                  <a:off x="5304" y="3092"/>
                  <a:ext cx="1301" cy="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7" name="Oval 375"/>
                <p:cNvSpPr>
                  <a:spLocks noChangeArrowheads="1"/>
                </p:cNvSpPr>
                <p:nvPr/>
              </p:nvSpPr>
              <p:spPr bwMode="auto">
                <a:xfrm>
                  <a:off x="5413" y="4644"/>
                  <a:ext cx="985" cy="9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68" name="Oval 376"/>
                <p:cNvSpPr>
                  <a:spLocks noChangeArrowheads="1"/>
                </p:cNvSpPr>
                <p:nvPr/>
              </p:nvSpPr>
              <p:spPr bwMode="auto">
                <a:xfrm>
                  <a:off x="5419" y="4632"/>
                  <a:ext cx="973" cy="9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769" name="Group 377"/>
              <p:cNvGrpSpPr>
                <a:grpSpLocks/>
              </p:cNvGrpSpPr>
              <p:nvPr/>
            </p:nvGrpSpPr>
            <p:grpSpPr bwMode="auto">
              <a:xfrm>
                <a:off x="5378" y="3656"/>
                <a:ext cx="1036" cy="1074"/>
                <a:chOff x="1223" y="1511"/>
                <a:chExt cx="1036" cy="1074"/>
              </a:xfrm>
            </p:grpSpPr>
            <p:sp>
              <p:nvSpPr>
                <p:cNvPr id="59770" name="Freeform 378"/>
                <p:cNvSpPr>
                  <a:spLocks/>
                </p:cNvSpPr>
                <p:nvPr/>
              </p:nvSpPr>
              <p:spPr bwMode="auto">
                <a:xfrm>
                  <a:off x="1223" y="1567"/>
                  <a:ext cx="1036" cy="10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936"/>
                    </a:cxn>
                    <a:cxn ang="0">
                      <a:pos x="24" y="970"/>
                    </a:cxn>
                    <a:cxn ang="0">
                      <a:pos x="60" y="991"/>
                    </a:cxn>
                    <a:cxn ang="0">
                      <a:pos x="138" y="1000"/>
                    </a:cxn>
                    <a:cxn ang="0">
                      <a:pos x="480" y="1018"/>
                    </a:cxn>
                    <a:cxn ang="0">
                      <a:pos x="909" y="1000"/>
                    </a:cxn>
                    <a:cxn ang="0">
                      <a:pos x="999" y="982"/>
                    </a:cxn>
                    <a:cxn ang="0">
                      <a:pos x="1036" y="957"/>
                    </a:cxn>
                    <a:cxn ang="0">
                      <a:pos x="1036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36" h="1018">
                      <a:moveTo>
                        <a:pt x="0" y="0"/>
                      </a:moveTo>
                      <a:lnTo>
                        <a:pt x="0" y="936"/>
                      </a:lnTo>
                      <a:lnTo>
                        <a:pt x="24" y="970"/>
                      </a:lnTo>
                      <a:lnTo>
                        <a:pt x="60" y="991"/>
                      </a:lnTo>
                      <a:lnTo>
                        <a:pt x="138" y="1000"/>
                      </a:lnTo>
                      <a:lnTo>
                        <a:pt x="480" y="1018"/>
                      </a:lnTo>
                      <a:lnTo>
                        <a:pt x="909" y="1000"/>
                      </a:lnTo>
                      <a:lnTo>
                        <a:pt x="999" y="982"/>
                      </a:lnTo>
                      <a:lnTo>
                        <a:pt x="1036" y="957"/>
                      </a:lnTo>
                      <a:lnTo>
                        <a:pt x="103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DB3E2">
                    <a:alpha val="50000"/>
                  </a:srgbClr>
                </a:solidFill>
                <a:ln w="317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71" name="Oval 379"/>
                <p:cNvSpPr>
                  <a:spLocks noChangeArrowheads="1"/>
                </p:cNvSpPr>
                <p:nvPr/>
              </p:nvSpPr>
              <p:spPr bwMode="auto">
                <a:xfrm>
                  <a:off x="1224" y="1511"/>
                  <a:ext cx="1033" cy="97"/>
                </a:xfrm>
                <a:prstGeom prst="ellipse">
                  <a:avLst/>
                </a:prstGeom>
                <a:solidFill>
                  <a:srgbClr val="8DB3E2">
                    <a:alpha val="50000"/>
                  </a:srgbClr>
                </a:solidFill>
                <a:ln w="3175">
                  <a:solidFill>
                    <a:srgbClr val="17365D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59772" name="Group 380"/>
            <p:cNvGrpSpPr>
              <a:grpSpLocks/>
            </p:cNvGrpSpPr>
            <p:nvPr/>
          </p:nvGrpSpPr>
          <p:grpSpPr bwMode="auto">
            <a:xfrm>
              <a:off x="7666" y="9810"/>
              <a:ext cx="190" cy="1309"/>
              <a:chOff x="8010" y="12054"/>
              <a:chExt cx="417" cy="1049"/>
            </a:xfrm>
          </p:grpSpPr>
          <p:grpSp>
            <p:nvGrpSpPr>
              <p:cNvPr id="59773" name="Group 381"/>
              <p:cNvGrpSpPr>
                <a:grpSpLocks/>
              </p:cNvGrpSpPr>
              <p:nvPr/>
            </p:nvGrpSpPr>
            <p:grpSpPr bwMode="auto">
              <a:xfrm flipH="1">
                <a:off x="8010" y="12054"/>
                <a:ext cx="417" cy="147"/>
                <a:chOff x="2445" y="11931"/>
                <a:chExt cx="432" cy="204"/>
              </a:xfrm>
            </p:grpSpPr>
            <p:sp>
              <p:nvSpPr>
                <p:cNvPr id="59774" name="Freeform 382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75" name="Freeform 383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76" name="Freeform 384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77" name="Freeform 385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78" name="Freeform 386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779" name="Group 387"/>
              <p:cNvGrpSpPr>
                <a:grpSpLocks/>
              </p:cNvGrpSpPr>
              <p:nvPr/>
            </p:nvGrpSpPr>
            <p:grpSpPr bwMode="auto">
              <a:xfrm flipH="1">
                <a:off x="8010" y="12226"/>
                <a:ext cx="417" cy="147"/>
                <a:chOff x="2445" y="11931"/>
                <a:chExt cx="432" cy="204"/>
              </a:xfrm>
            </p:grpSpPr>
            <p:sp>
              <p:nvSpPr>
                <p:cNvPr id="59780" name="Freeform 388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1" name="Freeform 389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2" name="Freeform 390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3" name="Freeform 391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4" name="Freeform 392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785" name="Group 393"/>
              <p:cNvGrpSpPr>
                <a:grpSpLocks/>
              </p:cNvGrpSpPr>
              <p:nvPr/>
            </p:nvGrpSpPr>
            <p:grpSpPr bwMode="auto">
              <a:xfrm flipH="1">
                <a:off x="8010" y="12398"/>
                <a:ext cx="417" cy="146"/>
                <a:chOff x="2445" y="11931"/>
                <a:chExt cx="432" cy="204"/>
              </a:xfrm>
            </p:grpSpPr>
            <p:sp>
              <p:nvSpPr>
                <p:cNvPr id="59786" name="Freeform 394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7" name="Freeform 395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8" name="Freeform 396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89" name="Freeform 397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0" name="Freeform 398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791" name="Group 399"/>
              <p:cNvGrpSpPr>
                <a:grpSpLocks/>
              </p:cNvGrpSpPr>
              <p:nvPr/>
            </p:nvGrpSpPr>
            <p:grpSpPr bwMode="auto">
              <a:xfrm flipH="1">
                <a:off x="8010" y="12569"/>
                <a:ext cx="417" cy="146"/>
                <a:chOff x="2445" y="11931"/>
                <a:chExt cx="432" cy="204"/>
              </a:xfrm>
            </p:grpSpPr>
            <p:sp>
              <p:nvSpPr>
                <p:cNvPr id="59792" name="Freeform 400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3" name="Freeform 401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4" name="Freeform 402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5" name="Freeform 403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6" name="Freeform 404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797" name="Group 405"/>
              <p:cNvGrpSpPr>
                <a:grpSpLocks/>
              </p:cNvGrpSpPr>
              <p:nvPr/>
            </p:nvGrpSpPr>
            <p:grpSpPr bwMode="auto">
              <a:xfrm flipH="1">
                <a:off x="8010" y="12739"/>
                <a:ext cx="417" cy="147"/>
                <a:chOff x="2445" y="11931"/>
                <a:chExt cx="432" cy="204"/>
              </a:xfrm>
            </p:grpSpPr>
            <p:sp>
              <p:nvSpPr>
                <p:cNvPr id="59798" name="Freeform 406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799" name="Freeform 407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800" name="Freeform 408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801" name="Freeform 409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  <p:sp>
              <p:nvSpPr>
                <p:cNvPr id="59802" name="Freeform 410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b="1">
                    <a:latin typeface="Traditional Arabic" pitchFamily="18" charset="-78"/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59803" name="Freeform 411"/>
              <p:cNvSpPr>
                <a:spLocks/>
              </p:cNvSpPr>
              <p:nvPr/>
            </p:nvSpPr>
            <p:spPr bwMode="auto">
              <a:xfrm flipH="1">
                <a:off x="8010" y="12912"/>
                <a:ext cx="417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59804" name="Freeform 412"/>
              <p:cNvSpPr>
                <a:spLocks/>
              </p:cNvSpPr>
              <p:nvPr/>
            </p:nvSpPr>
            <p:spPr bwMode="auto">
              <a:xfrm flipH="1">
                <a:off x="8010" y="12945"/>
                <a:ext cx="238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59805" name="Freeform 413"/>
              <p:cNvSpPr>
                <a:spLocks/>
              </p:cNvSpPr>
              <p:nvPr/>
            </p:nvSpPr>
            <p:spPr bwMode="auto">
              <a:xfrm flipH="1">
                <a:off x="8010" y="12977"/>
                <a:ext cx="238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59806" name="Freeform 414"/>
              <p:cNvSpPr>
                <a:spLocks/>
              </p:cNvSpPr>
              <p:nvPr/>
            </p:nvSpPr>
            <p:spPr bwMode="auto">
              <a:xfrm flipH="1">
                <a:off x="8010" y="13009"/>
                <a:ext cx="238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59807" name="Freeform 415"/>
              <p:cNvSpPr>
                <a:spLocks/>
              </p:cNvSpPr>
              <p:nvPr/>
            </p:nvSpPr>
            <p:spPr bwMode="auto">
              <a:xfrm flipH="1">
                <a:off x="8010" y="13041"/>
                <a:ext cx="238" cy="16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  <p:sp>
            <p:nvSpPr>
              <p:cNvPr id="59808" name="Freeform 416"/>
              <p:cNvSpPr>
                <a:spLocks/>
              </p:cNvSpPr>
              <p:nvPr/>
            </p:nvSpPr>
            <p:spPr bwMode="auto">
              <a:xfrm flipH="1">
                <a:off x="8010" y="13083"/>
                <a:ext cx="417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b="1">
                  <a:latin typeface="Traditional Arabic" pitchFamily="18" charset="-78"/>
                  <a:cs typeface="Traditional Arabic" pitchFamily="18" charset="-78"/>
                </a:endParaRPr>
              </a:p>
            </p:txBody>
          </p:sp>
        </p:grpSp>
      </p:grpSp>
      <p:sp>
        <p:nvSpPr>
          <p:cNvPr id="59810" name="Text Box 418"/>
          <p:cNvSpPr txBox="1">
            <a:spLocks noChangeArrowheads="1"/>
          </p:cNvSpPr>
          <p:nvPr/>
        </p:nvSpPr>
        <p:spPr bwMode="auto">
          <a:xfrm>
            <a:off x="3740728" y="3327967"/>
            <a:ext cx="1607129" cy="38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S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ea typeface="Arial" pitchFamily="34" charset="0"/>
                <a:cs typeface="Traditional Arabic" pitchFamily="18" charset="-78"/>
              </a:rPr>
              <a:t>ماء شديد الملوحة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59811" name="Freeform 419"/>
          <p:cNvSpPr>
            <a:spLocks/>
          </p:cNvSpPr>
          <p:nvPr/>
        </p:nvSpPr>
        <p:spPr bwMode="auto">
          <a:xfrm>
            <a:off x="838633" y="1620729"/>
            <a:ext cx="546822" cy="398897"/>
          </a:xfrm>
          <a:custGeom>
            <a:avLst/>
            <a:gdLst/>
            <a:ahLst/>
            <a:cxnLst>
              <a:cxn ang="0">
                <a:pos x="4792" y="1864"/>
              </a:cxn>
              <a:cxn ang="0">
                <a:pos x="1851" y="12"/>
              </a:cxn>
              <a:cxn ang="0">
                <a:pos x="0" y="1876"/>
              </a:cxn>
              <a:cxn ang="0">
                <a:pos x="1887" y="3727"/>
              </a:cxn>
              <a:cxn ang="0">
                <a:pos x="4792" y="1864"/>
              </a:cxn>
            </a:cxnLst>
            <a:rect l="0" t="0" r="r" b="b"/>
            <a:pathLst>
              <a:path w="4876" h="3739">
                <a:moveTo>
                  <a:pt x="4792" y="1864"/>
                </a:moveTo>
                <a:cubicBezTo>
                  <a:pt x="4840" y="1101"/>
                  <a:pt x="3618" y="0"/>
                  <a:pt x="1851" y="12"/>
                </a:cubicBezTo>
                <a:cubicBezTo>
                  <a:pt x="641" y="24"/>
                  <a:pt x="0" y="1077"/>
                  <a:pt x="0" y="1876"/>
                </a:cubicBezTo>
                <a:cubicBezTo>
                  <a:pt x="36" y="2675"/>
                  <a:pt x="568" y="3703"/>
                  <a:pt x="1887" y="3727"/>
                </a:cubicBezTo>
                <a:cubicBezTo>
                  <a:pt x="3497" y="3739"/>
                  <a:pt x="4876" y="2626"/>
                  <a:pt x="4792" y="1864"/>
                </a:cubicBezTo>
                <a:close/>
              </a:path>
            </a:pathLst>
          </a:custGeom>
          <a:solidFill>
            <a:srgbClr val="FF9933"/>
          </a:solidFill>
          <a:ln w="12700">
            <a:solidFill>
              <a:srgbClr val="CC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812" name="AutoShape 420"/>
          <p:cNvSpPr>
            <a:spLocks noChangeArrowheads="1"/>
          </p:cNvSpPr>
          <p:nvPr/>
        </p:nvSpPr>
        <p:spPr bwMode="auto">
          <a:xfrm rot="5400000" flipV="1">
            <a:off x="845129" y="2241301"/>
            <a:ext cx="1288472" cy="29094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9813" name="Picture 421" descr="C:\Users\zerradi\Desktop\se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6218" y="751382"/>
            <a:ext cx="1094509" cy="1021673"/>
          </a:xfrm>
          <a:prstGeom prst="rect">
            <a:avLst/>
          </a:prstGeom>
          <a:noFill/>
        </p:spPr>
      </p:pic>
      <p:sp>
        <p:nvSpPr>
          <p:cNvPr id="59814" name="Text Box 422"/>
          <p:cNvSpPr txBox="1">
            <a:spLocks noChangeArrowheads="1"/>
          </p:cNvSpPr>
          <p:nvPr/>
        </p:nvSpPr>
        <p:spPr bwMode="auto">
          <a:xfrm>
            <a:off x="2393005" y="3321117"/>
            <a:ext cx="785576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S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ea typeface="Arial" pitchFamily="34" charset="0"/>
                <a:cs typeface="Traditional Arabic" pitchFamily="18" charset="-78"/>
              </a:rPr>
              <a:t>ماء مالح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59815" name="Group 423"/>
          <p:cNvGrpSpPr>
            <a:grpSpLocks/>
          </p:cNvGrpSpPr>
          <p:nvPr/>
        </p:nvGrpSpPr>
        <p:grpSpPr bwMode="auto">
          <a:xfrm>
            <a:off x="2256817" y="1479890"/>
            <a:ext cx="1391056" cy="1794789"/>
            <a:chOff x="7590" y="9659"/>
            <a:chExt cx="1208" cy="1517"/>
          </a:xfrm>
        </p:grpSpPr>
        <p:grpSp>
          <p:nvGrpSpPr>
            <p:cNvPr id="59816" name="Group 424"/>
            <p:cNvGrpSpPr>
              <a:grpSpLocks/>
            </p:cNvGrpSpPr>
            <p:nvPr/>
          </p:nvGrpSpPr>
          <p:grpSpPr bwMode="auto">
            <a:xfrm>
              <a:off x="7590" y="9659"/>
              <a:ext cx="1208" cy="1517"/>
              <a:chOff x="5304" y="3092"/>
              <a:chExt cx="1315" cy="1646"/>
            </a:xfrm>
          </p:grpSpPr>
          <p:grpSp>
            <p:nvGrpSpPr>
              <p:cNvPr id="59817" name="Group 425"/>
              <p:cNvGrpSpPr>
                <a:grpSpLocks/>
              </p:cNvGrpSpPr>
              <p:nvPr/>
            </p:nvGrpSpPr>
            <p:grpSpPr bwMode="auto">
              <a:xfrm>
                <a:off x="5304" y="3092"/>
                <a:ext cx="1315" cy="1646"/>
                <a:chOff x="5304" y="3092"/>
                <a:chExt cx="1315" cy="1646"/>
              </a:xfrm>
            </p:grpSpPr>
            <p:sp>
              <p:nvSpPr>
                <p:cNvPr id="59818" name="AutoShape 426"/>
                <p:cNvSpPr>
                  <a:spLocks noChangeArrowheads="1"/>
                </p:cNvSpPr>
                <p:nvPr/>
              </p:nvSpPr>
              <p:spPr bwMode="auto">
                <a:xfrm>
                  <a:off x="5377" y="3140"/>
                  <a:ext cx="1065" cy="1560"/>
                </a:xfrm>
                <a:prstGeom prst="roundRect">
                  <a:avLst>
                    <a:gd name="adj" fmla="val 8264"/>
                  </a:avLst>
                </a:prstGeom>
                <a:gradFill rotWithShape="0">
                  <a:gsLst>
                    <a:gs pos="0">
                      <a:srgbClr val="FFFFFF">
                        <a:gamma/>
                        <a:shade val="7725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77255"/>
                        <a:invGamma/>
                      </a:srgbClr>
                    </a:gs>
                  </a:gsLst>
                  <a:lin ang="0" scaled="1"/>
                </a:gra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19" name="Freeform 427"/>
                <p:cNvSpPr>
                  <a:spLocks/>
                </p:cNvSpPr>
                <p:nvPr/>
              </p:nvSpPr>
              <p:spPr bwMode="auto">
                <a:xfrm>
                  <a:off x="6425" y="3176"/>
                  <a:ext cx="129" cy="156"/>
                </a:xfrm>
                <a:custGeom>
                  <a:avLst/>
                  <a:gdLst/>
                  <a:ahLst/>
                  <a:cxnLst>
                    <a:cxn ang="0">
                      <a:pos x="0" y="27"/>
                    </a:cxn>
                    <a:cxn ang="0">
                      <a:pos x="0" y="156"/>
                    </a:cxn>
                    <a:cxn ang="0">
                      <a:pos x="30" y="153"/>
                    </a:cxn>
                    <a:cxn ang="0">
                      <a:pos x="66" y="45"/>
                    </a:cxn>
                    <a:cxn ang="0">
                      <a:pos x="129" y="0"/>
                    </a:cxn>
                    <a:cxn ang="0">
                      <a:pos x="0" y="27"/>
                    </a:cxn>
                  </a:cxnLst>
                  <a:rect l="0" t="0" r="r" b="b"/>
                  <a:pathLst>
                    <a:path w="129" h="156">
                      <a:moveTo>
                        <a:pt x="0" y="27"/>
                      </a:moveTo>
                      <a:lnTo>
                        <a:pt x="0" y="156"/>
                      </a:lnTo>
                      <a:lnTo>
                        <a:pt x="30" y="153"/>
                      </a:lnTo>
                      <a:lnTo>
                        <a:pt x="66" y="45"/>
                      </a:lnTo>
                      <a:lnTo>
                        <a:pt x="129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0" name="Arc 428"/>
                <p:cNvSpPr>
                  <a:spLocks/>
                </p:cNvSpPr>
                <p:nvPr/>
              </p:nvSpPr>
              <p:spPr bwMode="auto">
                <a:xfrm>
                  <a:off x="5306" y="3152"/>
                  <a:ext cx="71" cy="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1" name="Arc 429"/>
                <p:cNvSpPr>
                  <a:spLocks/>
                </p:cNvSpPr>
                <p:nvPr/>
              </p:nvSpPr>
              <p:spPr bwMode="auto">
                <a:xfrm flipH="1">
                  <a:off x="6440" y="3152"/>
                  <a:ext cx="179" cy="251"/>
                </a:xfrm>
                <a:custGeom>
                  <a:avLst/>
                  <a:gdLst>
                    <a:gd name="G0" fmla="+- 182 0 0"/>
                    <a:gd name="G1" fmla="+- 21600 0 0"/>
                    <a:gd name="G2" fmla="+- 21600 0 0"/>
                    <a:gd name="T0" fmla="*/ 0 w 21772"/>
                    <a:gd name="T1" fmla="*/ 1 h 21600"/>
                    <a:gd name="T2" fmla="*/ 21772 w 21772"/>
                    <a:gd name="T3" fmla="*/ 20951 h 21600"/>
                    <a:gd name="T4" fmla="*/ 182 w 2177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72" h="21600" fill="none" extrusionOk="0">
                      <a:moveTo>
                        <a:pt x="-1" y="0"/>
                      </a:moveTo>
                      <a:cubicBezTo>
                        <a:pt x="60" y="0"/>
                        <a:pt x="121" y="-1"/>
                        <a:pt x="182" y="0"/>
                      </a:cubicBezTo>
                      <a:cubicBezTo>
                        <a:pt x="11858" y="0"/>
                        <a:pt x="21421" y="9279"/>
                        <a:pt x="21772" y="20950"/>
                      </a:cubicBezTo>
                    </a:path>
                    <a:path w="21772" h="21600" stroke="0" extrusionOk="0">
                      <a:moveTo>
                        <a:pt x="-1" y="0"/>
                      </a:moveTo>
                      <a:cubicBezTo>
                        <a:pt x="60" y="0"/>
                        <a:pt x="121" y="-1"/>
                        <a:pt x="182" y="0"/>
                      </a:cubicBezTo>
                      <a:cubicBezTo>
                        <a:pt x="11858" y="0"/>
                        <a:pt x="21421" y="9279"/>
                        <a:pt x="21772" y="20950"/>
                      </a:cubicBezTo>
                      <a:lnTo>
                        <a:pt x="182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2" name="Oval 430"/>
                <p:cNvSpPr>
                  <a:spLocks noChangeArrowheads="1"/>
                </p:cNvSpPr>
                <p:nvPr/>
              </p:nvSpPr>
              <p:spPr bwMode="auto">
                <a:xfrm>
                  <a:off x="5304" y="3092"/>
                  <a:ext cx="1301" cy="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3" name="Oval 431"/>
                <p:cNvSpPr>
                  <a:spLocks noChangeArrowheads="1"/>
                </p:cNvSpPr>
                <p:nvPr/>
              </p:nvSpPr>
              <p:spPr bwMode="auto">
                <a:xfrm>
                  <a:off x="5413" y="4644"/>
                  <a:ext cx="985" cy="9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4" name="Oval 432"/>
                <p:cNvSpPr>
                  <a:spLocks noChangeArrowheads="1"/>
                </p:cNvSpPr>
                <p:nvPr/>
              </p:nvSpPr>
              <p:spPr bwMode="auto">
                <a:xfrm>
                  <a:off x="5419" y="4632"/>
                  <a:ext cx="973" cy="9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59825" name="Group 433"/>
              <p:cNvGrpSpPr>
                <a:grpSpLocks/>
              </p:cNvGrpSpPr>
              <p:nvPr/>
            </p:nvGrpSpPr>
            <p:grpSpPr bwMode="auto">
              <a:xfrm>
                <a:off x="5378" y="3656"/>
                <a:ext cx="1036" cy="1074"/>
                <a:chOff x="1223" y="1511"/>
                <a:chExt cx="1036" cy="1074"/>
              </a:xfrm>
            </p:grpSpPr>
            <p:sp>
              <p:nvSpPr>
                <p:cNvPr id="59826" name="Freeform 434"/>
                <p:cNvSpPr>
                  <a:spLocks/>
                </p:cNvSpPr>
                <p:nvPr/>
              </p:nvSpPr>
              <p:spPr bwMode="auto">
                <a:xfrm>
                  <a:off x="1223" y="1567"/>
                  <a:ext cx="1036" cy="10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936"/>
                    </a:cxn>
                    <a:cxn ang="0">
                      <a:pos x="24" y="970"/>
                    </a:cxn>
                    <a:cxn ang="0">
                      <a:pos x="60" y="991"/>
                    </a:cxn>
                    <a:cxn ang="0">
                      <a:pos x="138" y="1000"/>
                    </a:cxn>
                    <a:cxn ang="0">
                      <a:pos x="480" y="1018"/>
                    </a:cxn>
                    <a:cxn ang="0">
                      <a:pos x="909" y="1000"/>
                    </a:cxn>
                    <a:cxn ang="0">
                      <a:pos x="999" y="982"/>
                    </a:cxn>
                    <a:cxn ang="0">
                      <a:pos x="1036" y="957"/>
                    </a:cxn>
                    <a:cxn ang="0">
                      <a:pos x="1036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36" h="1018">
                      <a:moveTo>
                        <a:pt x="0" y="0"/>
                      </a:moveTo>
                      <a:lnTo>
                        <a:pt x="0" y="936"/>
                      </a:lnTo>
                      <a:lnTo>
                        <a:pt x="24" y="970"/>
                      </a:lnTo>
                      <a:lnTo>
                        <a:pt x="60" y="991"/>
                      </a:lnTo>
                      <a:lnTo>
                        <a:pt x="138" y="1000"/>
                      </a:lnTo>
                      <a:lnTo>
                        <a:pt x="480" y="1018"/>
                      </a:lnTo>
                      <a:lnTo>
                        <a:pt x="909" y="1000"/>
                      </a:lnTo>
                      <a:lnTo>
                        <a:pt x="999" y="982"/>
                      </a:lnTo>
                      <a:lnTo>
                        <a:pt x="1036" y="957"/>
                      </a:lnTo>
                      <a:lnTo>
                        <a:pt x="103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DB3E2">
                    <a:alpha val="50000"/>
                  </a:srgbClr>
                </a:solidFill>
                <a:ln w="317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27" name="Oval 435"/>
                <p:cNvSpPr>
                  <a:spLocks noChangeArrowheads="1"/>
                </p:cNvSpPr>
                <p:nvPr/>
              </p:nvSpPr>
              <p:spPr bwMode="auto">
                <a:xfrm>
                  <a:off x="1224" y="1511"/>
                  <a:ext cx="1033" cy="97"/>
                </a:xfrm>
                <a:prstGeom prst="ellipse">
                  <a:avLst/>
                </a:prstGeom>
                <a:solidFill>
                  <a:srgbClr val="8DB3E2">
                    <a:alpha val="50000"/>
                  </a:srgbClr>
                </a:solidFill>
                <a:ln w="3175">
                  <a:solidFill>
                    <a:srgbClr val="17365D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</p:grpSp>
        <p:grpSp>
          <p:nvGrpSpPr>
            <p:cNvPr id="59828" name="Group 436"/>
            <p:cNvGrpSpPr>
              <a:grpSpLocks/>
            </p:cNvGrpSpPr>
            <p:nvPr/>
          </p:nvGrpSpPr>
          <p:grpSpPr bwMode="auto">
            <a:xfrm>
              <a:off x="7666" y="9810"/>
              <a:ext cx="190" cy="1309"/>
              <a:chOff x="8010" y="12054"/>
              <a:chExt cx="417" cy="1049"/>
            </a:xfrm>
          </p:grpSpPr>
          <p:grpSp>
            <p:nvGrpSpPr>
              <p:cNvPr id="59829" name="Group 437"/>
              <p:cNvGrpSpPr>
                <a:grpSpLocks/>
              </p:cNvGrpSpPr>
              <p:nvPr/>
            </p:nvGrpSpPr>
            <p:grpSpPr bwMode="auto">
              <a:xfrm flipH="1">
                <a:off x="8010" y="12054"/>
                <a:ext cx="417" cy="147"/>
                <a:chOff x="2445" y="11931"/>
                <a:chExt cx="432" cy="204"/>
              </a:xfrm>
            </p:grpSpPr>
            <p:sp>
              <p:nvSpPr>
                <p:cNvPr id="59830" name="Freeform 438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1" name="Freeform 439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2" name="Freeform 440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3" name="Freeform 441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4" name="Freeform 442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59835" name="Group 443"/>
              <p:cNvGrpSpPr>
                <a:grpSpLocks/>
              </p:cNvGrpSpPr>
              <p:nvPr/>
            </p:nvGrpSpPr>
            <p:grpSpPr bwMode="auto">
              <a:xfrm flipH="1">
                <a:off x="8010" y="12226"/>
                <a:ext cx="417" cy="147"/>
                <a:chOff x="2445" y="11931"/>
                <a:chExt cx="432" cy="204"/>
              </a:xfrm>
            </p:grpSpPr>
            <p:sp>
              <p:nvSpPr>
                <p:cNvPr id="59836" name="Freeform 444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7" name="Freeform 445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8" name="Freeform 446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39" name="Freeform 447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0" name="Freeform 448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59841" name="Group 449"/>
              <p:cNvGrpSpPr>
                <a:grpSpLocks/>
              </p:cNvGrpSpPr>
              <p:nvPr/>
            </p:nvGrpSpPr>
            <p:grpSpPr bwMode="auto">
              <a:xfrm flipH="1">
                <a:off x="8010" y="12398"/>
                <a:ext cx="417" cy="146"/>
                <a:chOff x="2445" y="11931"/>
                <a:chExt cx="432" cy="204"/>
              </a:xfrm>
            </p:grpSpPr>
            <p:sp>
              <p:nvSpPr>
                <p:cNvPr id="59842" name="Freeform 450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3" name="Freeform 451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4" name="Freeform 452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5" name="Freeform 453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6" name="Freeform 454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59847" name="Group 455"/>
              <p:cNvGrpSpPr>
                <a:grpSpLocks/>
              </p:cNvGrpSpPr>
              <p:nvPr/>
            </p:nvGrpSpPr>
            <p:grpSpPr bwMode="auto">
              <a:xfrm flipH="1">
                <a:off x="8010" y="12569"/>
                <a:ext cx="417" cy="146"/>
                <a:chOff x="2445" y="11931"/>
                <a:chExt cx="432" cy="204"/>
              </a:xfrm>
            </p:grpSpPr>
            <p:sp>
              <p:nvSpPr>
                <p:cNvPr id="59848" name="Freeform 456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49" name="Freeform 457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0" name="Freeform 458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1" name="Freeform 459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2" name="Freeform 460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59853" name="Group 461"/>
              <p:cNvGrpSpPr>
                <a:grpSpLocks/>
              </p:cNvGrpSpPr>
              <p:nvPr/>
            </p:nvGrpSpPr>
            <p:grpSpPr bwMode="auto">
              <a:xfrm flipH="1">
                <a:off x="8010" y="12739"/>
                <a:ext cx="417" cy="147"/>
                <a:chOff x="2445" y="11931"/>
                <a:chExt cx="432" cy="204"/>
              </a:xfrm>
            </p:grpSpPr>
            <p:sp>
              <p:nvSpPr>
                <p:cNvPr id="59854" name="Freeform 462"/>
                <p:cNvSpPr>
                  <a:spLocks/>
                </p:cNvSpPr>
                <p:nvPr/>
              </p:nvSpPr>
              <p:spPr bwMode="auto">
                <a:xfrm>
                  <a:off x="2445" y="11931"/>
                  <a:ext cx="432" cy="2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5" name="Freeform 463"/>
                <p:cNvSpPr>
                  <a:spLocks/>
                </p:cNvSpPr>
                <p:nvPr/>
              </p:nvSpPr>
              <p:spPr bwMode="auto">
                <a:xfrm>
                  <a:off x="2631" y="11979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6" name="Freeform 464"/>
                <p:cNvSpPr>
                  <a:spLocks/>
                </p:cNvSpPr>
                <p:nvPr/>
              </p:nvSpPr>
              <p:spPr bwMode="auto">
                <a:xfrm>
                  <a:off x="2631" y="12023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7" name="Freeform 465"/>
                <p:cNvSpPr>
                  <a:spLocks/>
                </p:cNvSpPr>
                <p:nvPr/>
              </p:nvSpPr>
              <p:spPr bwMode="auto">
                <a:xfrm>
                  <a:off x="2631" y="12067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59858" name="Freeform 466"/>
                <p:cNvSpPr>
                  <a:spLocks/>
                </p:cNvSpPr>
                <p:nvPr/>
              </p:nvSpPr>
              <p:spPr bwMode="auto">
                <a:xfrm>
                  <a:off x="2631" y="12111"/>
                  <a:ext cx="246" cy="24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59859" name="Freeform 467"/>
              <p:cNvSpPr>
                <a:spLocks/>
              </p:cNvSpPr>
              <p:nvPr/>
            </p:nvSpPr>
            <p:spPr bwMode="auto">
              <a:xfrm flipH="1">
                <a:off x="8010" y="12912"/>
                <a:ext cx="417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60" name="Freeform 468"/>
              <p:cNvSpPr>
                <a:spLocks/>
              </p:cNvSpPr>
              <p:nvPr/>
            </p:nvSpPr>
            <p:spPr bwMode="auto">
              <a:xfrm flipH="1">
                <a:off x="8010" y="12945"/>
                <a:ext cx="238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61" name="Freeform 469"/>
              <p:cNvSpPr>
                <a:spLocks/>
              </p:cNvSpPr>
              <p:nvPr/>
            </p:nvSpPr>
            <p:spPr bwMode="auto">
              <a:xfrm flipH="1">
                <a:off x="8010" y="12977"/>
                <a:ext cx="238" cy="18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62" name="Freeform 470"/>
              <p:cNvSpPr>
                <a:spLocks/>
              </p:cNvSpPr>
              <p:nvPr/>
            </p:nvSpPr>
            <p:spPr bwMode="auto">
              <a:xfrm flipH="1">
                <a:off x="8010" y="13009"/>
                <a:ext cx="238" cy="17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63" name="Freeform 471"/>
              <p:cNvSpPr>
                <a:spLocks/>
              </p:cNvSpPr>
              <p:nvPr/>
            </p:nvSpPr>
            <p:spPr bwMode="auto">
              <a:xfrm flipH="1">
                <a:off x="8010" y="13041"/>
                <a:ext cx="238" cy="16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9" y="15"/>
                  </a:cxn>
                  <a:cxn ang="0">
                    <a:pos x="246" y="0"/>
                  </a:cxn>
                </a:cxnLst>
                <a:rect l="0" t="0" r="r" b="b"/>
                <a:pathLst>
                  <a:path w="246" h="24">
                    <a:moveTo>
                      <a:pt x="0" y="24"/>
                    </a:moveTo>
                    <a:cubicBezTo>
                      <a:pt x="21" y="23"/>
                      <a:pt x="88" y="19"/>
                      <a:pt x="129" y="15"/>
                    </a:cubicBezTo>
                    <a:cubicBezTo>
                      <a:pt x="170" y="11"/>
                      <a:pt x="222" y="3"/>
                      <a:pt x="246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64" name="Freeform 472"/>
              <p:cNvSpPr>
                <a:spLocks/>
              </p:cNvSpPr>
              <p:nvPr/>
            </p:nvSpPr>
            <p:spPr bwMode="auto">
              <a:xfrm flipH="1">
                <a:off x="8010" y="13083"/>
                <a:ext cx="417" cy="2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222" y="24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">
                    <a:moveTo>
                      <a:pt x="0" y="24"/>
                    </a:moveTo>
                    <a:cubicBezTo>
                      <a:pt x="37" y="24"/>
                      <a:pt x="150" y="28"/>
                      <a:pt x="222" y="24"/>
                    </a:cubicBezTo>
                    <a:cubicBezTo>
                      <a:pt x="294" y="20"/>
                      <a:pt x="388" y="5"/>
                      <a:pt x="432" y="0"/>
                    </a:cubicBezTo>
                  </a:path>
                </a:pathLst>
              </a:custGeom>
              <a:noFill/>
              <a:ln w="3175">
                <a:solidFill>
                  <a:srgbClr val="272727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sp>
        <p:nvSpPr>
          <p:cNvPr id="59865" name="Freeform 473"/>
          <p:cNvSpPr>
            <a:spLocks/>
          </p:cNvSpPr>
          <p:nvPr/>
        </p:nvSpPr>
        <p:spPr bwMode="auto">
          <a:xfrm>
            <a:off x="2639002" y="2851018"/>
            <a:ext cx="543169" cy="393767"/>
          </a:xfrm>
          <a:custGeom>
            <a:avLst/>
            <a:gdLst/>
            <a:ahLst/>
            <a:cxnLst>
              <a:cxn ang="0">
                <a:pos x="4792" y="1864"/>
              </a:cxn>
              <a:cxn ang="0">
                <a:pos x="1851" y="12"/>
              </a:cxn>
              <a:cxn ang="0">
                <a:pos x="0" y="1876"/>
              </a:cxn>
              <a:cxn ang="0">
                <a:pos x="1887" y="3727"/>
              </a:cxn>
              <a:cxn ang="0">
                <a:pos x="4792" y="1864"/>
              </a:cxn>
            </a:cxnLst>
            <a:rect l="0" t="0" r="r" b="b"/>
            <a:pathLst>
              <a:path w="4876" h="3739">
                <a:moveTo>
                  <a:pt x="4792" y="1864"/>
                </a:moveTo>
                <a:cubicBezTo>
                  <a:pt x="4840" y="1101"/>
                  <a:pt x="3618" y="0"/>
                  <a:pt x="1851" y="12"/>
                </a:cubicBezTo>
                <a:cubicBezTo>
                  <a:pt x="641" y="24"/>
                  <a:pt x="0" y="1077"/>
                  <a:pt x="0" y="1876"/>
                </a:cubicBezTo>
                <a:cubicBezTo>
                  <a:pt x="36" y="2675"/>
                  <a:pt x="568" y="3703"/>
                  <a:pt x="1887" y="3727"/>
                </a:cubicBezTo>
                <a:cubicBezTo>
                  <a:pt x="3497" y="3739"/>
                  <a:pt x="4876" y="2626"/>
                  <a:pt x="4792" y="1864"/>
                </a:cubicBezTo>
                <a:close/>
              </a:path>
            </a:pathLst>
          </a:custGeom>
          <a:solidFill>
            <a:srgbClr val="FF9933"/>
          </a:solidFill>
          <a:ln w="12700">
            <a:solidFill>
              <a:srgbClr val="CC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890" name="Picture 421" descr="C:\Users\zerradi\Desktop\se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5751" y="742916"/>
            <a:ext cx="1094509" cy="1021673"/>
          </a:xfrm>
          <a:prstGeom prst="rect">
            <a:avLst/>
          </a:prstGeom>
          <a:noFill/>
        </p:spPr>
      </p:pic>
      <p:pic>
        <p:nvPicPr>
          <p:cNvPr id="891" name="Picture 421" descr="C:\Users\zerradi\Desktop\se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07284" y="768316"/>
            <a:ext cx="1094509" cy="1021673"/>
          </a:xfrm>
          <a:prstGeom prst="rect">
            <a:avLst/>
          </a:prstGeom>
          <a:noFill/>
        </p:spPr>
      </p:pic>
      <p:sp>
        <p:nvSpPr>
          <p:cNvPr id="892" name="Freeform 473"/>
          <p:cNvSpPr>
            <a:spLocks/>
          </p:cNvSpPr>
          <p:nvPr/>
        </p:nvSpPr>
        <p:spPr bwMode="auto">
          <a:xfrm>
            <a:off x="4256135" y="2529284"/>
            <a:ext cx="543169" cy="393767"/>
          </a:xfrm>
          <a:custGeom>
            <a:avLst/>
            <a:gdLst/>
            <a:ahLst/>
            <a:cxnLst>
              <a:cxn ang="0">
                <a:pos x="4792" y="1864"/>
              </a:cxn>
              <a:cxn ang="0">
                <a:pos x="1851" y="12"/>
              </a:cxn>
              <a:cxn ang="0">
                <a:pos x="0" y="1876"/>
              </a:cxn>
              <a:cxn ang="0">
                <a:pos x="1887" y="3727"/>
              </a:cxn>
              <a:cxn ang="0">
                <a:pos x="4792" y="1864"/>
              </a:cxn>
            </a:cxnLst>
            <a:rect l="0" t="0" r="r" b="b"/>
            <a:pathLst>
              <a:path w="4876" h="3739">
                <a:moveTo>
                  <a:pt x="4792" y="1864"/>
                </a:moveTo>
                <a:cubicBezTo>
                  <a:pt x="4840" y="1101"/>
                  <a:pt x="3618" y="0"/>
                  <a:pt x="1851" y="12"/>
                </a:cubicBezTo>
                <a:cubicBezTo>
                  <a:pt x="641" y="24"/>
                  <a:pt x="0" y="1077"/>
                  <a:pt x="0" y="1876"/>
                </a:cubicBezTo>
                <a:cubicBezTo>
                  <a:pt x="36" y="2675"/>
                  <a:pt x="568" y="3703"/>
                  <a:pt x="1887" y="3727"/>
                </a:cubicBezTo>
                <a:cubicBezTo>
                  <a:pt x="3497" y="3739"/>
                  <a:pt x="4876" y="2626"/>
                  <a:pt x="4792" y="1864"/>
                </a:cubicBezTo>
                <a:close/>
              </a:path>
            </a:pathLst>
          </a:custGeom>
          <a:solidFill>
            <a:srgbClr val="FF9933"/>
          </a:solidFill>
          <a:ln w="12700">
            <a:solidFill>
              <a:srgbClr val="CC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866" name="AutoShape 474"/>
          <p:cNvSpPr>
            <a:spLocks noChangeArrowheads="1"/>
          </p:cNvSpPr>
          <p:nvPr/>
        </p:nvSpPr>
        <p:spPr bwMode="auto">
          <a:xfrm rot="16200000">
            <a:off x="3043769" y="2805101"/>
            <a:ext cx="491067" cy="143934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94" name="AutoShape 474"/>
          <p:cNvSpPr>
            <a:spLocks noChangeArrowheads="1"/>
          </p:cNvSpPr>
          <p:nvPr/>
        </p:nvSpPr>
        <p:spPr bwMode="auto">
          <a:xfrm rot="16200000">
            <a:off x="4728637" y="2314035"/>
            <a:ext cx="491067" cy="143934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pSp>
        <p:nvGrpSpPr>
          <p:cNvPr id="59867" name="Group 475"/>
          <p:cNvGrpSpPr>
            <a:grpSpLocks/>
          </p:cNvGrpSpPr>
          <p:nvPr/>
        </p:nvGrpSpPr>
        <p:grpSpPr bwMode="auto">
          <a:xfrm>
            <a:off x="4468483" y="3588589"/>
            <a:ext cx="5917721" cy="3269411"/>
            <a:chOff x="1949" y="1123"/>
            <a:chExt cx="7328" cy="3201"/>
          </a:xfrm>
        </p:grpSpPr>
        <p:grpSp>
          <p:nvGrpSpPr>
            <p:cNvPr id="59868" name="Group 476"/>
            <p:cNvGrpSpPr>
              <a:grpSpLocks/>
            </p:cNvGrpSpPr>
            <p:nvPr/>
          </p:nvGrpSpPr>
          <p:grpSpPr bwMode="auto">
            <a:xfrm>
              <a:off x="6209" y="1161"/>
              <a:ext cx="3068" cy="2981"/>
              <a:chOff x="1904" y="1333"/>
              <a:chExt cx="6109" cy="2981"/>
            </a:xfrm>
          </p:grpSpPr>
          <p:sp>
            <p:nvSpPr>
              <p:cNvPr id="59869" name="Rectangle 477"/>
              <p:cNvSpPr>
                <a:spLocks noChangeArrowheads="1"/>
              </p:cNvSpPr>
              <p:nvPr/>
            </p:nvSpPr>
            <p:spPr bwMode="auto">
              <a:xfrm>
                <a:off x="1904" y="1536"/>
                <a:ext cx="6103" cy="2538"/>
              </a:xfrm>
              <a:prstGeom prst="rect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0" name="Oval 478"/>
              <p:cNvSpPr>
                <a:spLocks noChangeArrowheads="1"/>
              </p:cNvSpPr>
              <p:nvPr/>
            </p:nvSpPr>
            <p:spPr bwMode="auto">
              <a:xfrm>
                <a:off x="1904" y="1847"/>
                <a:ext cx="6086" cy="393"/>
              </a:xfrm>
              <a:prstGeom prst="ellipse">
                <a:avLst/>
              </a:prstGeom>
              <a:solidFill>
                <a:srgbClr val="00FFFF">
                  <a:alpha val="50000"/>
                </a:srgbClr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1" name="Oval 479"/>
              <p:cNvSpPr>
                <a:spLocks noChangeArrowheads="1"/>
              </p:cNvSpPr>
              <p:nvPr/>
            </p:nvSpPr>
            <p:spPr bwMode="auto">
              <a:xfrm>
                <a:off x="1904" y="1333"/>
                <a:ext cx="6086" cy="395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2" name="Oval 480"/>
              <p:cNvSpPr>
                <a:spLocks noChangeArrowheads="1"/>
              </p:cNvSpPr>
              <p:nvPr/>
            </p:nvSpPr>
            <p:spPr bwMode="auto">
              <a:xfrm>
                <a:off x="1927" y="3863"/>
                <a:ext cx="6086" cy="451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3" name="Freeform 481"/>
              <p:cNvSpPr>
                <a:spLocks/>
              </p:cNvSpPr>
              <p:nvPr/>
            </p:nvSpPr>
            <p:spPr bwMode="auto">
              <a:xfrm>
                <a:off x="1923" y="1827"/>
                <a:ext cx="6061" cy="2479"/>
              </a:xfrm>
              <a:custGeom>
                <a:avLst/>
                <a:gdLst/>
                <a:ahLst/>
                <a:cxnLst>
                  <a:cxn ang="0">
                    <a:pos x="0" y="2235"/>
                  </a:cxn>
                  <a:cxn ang="0">
                    <a:pos x="83" y="2271"/>
                  </a:cxn>
                  <a:cxn ang="0">
                    <a:pos x="458" y="2391"/>
                  </a:cxn>
                  <a:cxn ang="0">
                    <a:pos x="1059" y="2426"/>
                  </a:cxn>
                  <a:cxn ang="0">
                    <a:pos x="2468" y="2479"/>
                  </a:cxn>
                  <a:cxn ang="0">
                    <a:pos x="3747" y="2472"/>
                  </a:cxn>
                  <a:cxn ang="0">
                    <a:pos x="4682" y="2433"/>
                  </a:cxn>
                  <a:cxn ang="0">
                    <a:pos x="5609" y="2388"/>
                  </a:cxn>
                  <a:cxn ang="0">
                    <a:pos x="5963" y="2319"/>
                  </a:cxn>
                  <a:cxn ang="0">
                    <a:pos x="6056" y="2231"/>
                  </a:cxn>
                  <a:cxn ang="0">
                    <a:pos x="6061" y="212"/>
                  </a:cxn>
                  <a:cxn ang="0">
                    <a:pos x="5963" y="198"/>
                  </a:cxn>
                  <a:cxn ang="0">
                    <a:pos x="5486" y="115"/>
                  </a:cxn>
                  <a:cxn ang="0">
                    <a:pos x="4840" y="100"/>
                  </a:cxn>
                  <a:cxn ang="0">
                    <a:pos x="3680" y="0"/>
                  </a:cxn>
                  <a:cxn ang="0">
                    <a:pos x="2248" y="40"/>
                  </a:cxn>
                  <a:cxn ang="0">
                    <a:pos x="1324" y="82"/>
                  </a:cxn>
                  <a:cxn ang="0">
                    <a:pos x="560" y="110"/>
                  </a:cxn>
                  <a:cxn ang="0">
                    <a:pos x="203" y="161"/>
                  </a:cxn>
                  <a:cxn ang="0">
                    <a:pos x="55" y="184"/>
                  </a:cxn>
                  <a:cxn ang="0">
                    <a:pos x="0" y="235"/>
                  </a:cxn>
                  <a:cxn ang="0">
                    <a:pos x="0" y="2235"/>
                  </a:cxn>
                </a:cxnLst>
                <a:rect l="0" t="0" r="r" b="b"/>
                <a:pathLst>
                  <a:path w="6061" h="2479">
                    <a:moveTo>
                      <a:pt x="0" y="2235"/>
                    </a:moveTo>
                    <a:lnTo>
                      <a:pt x="83" y="2271"/>
                    </a:lnTo>
                    <a:lnTo>
                      <a:pt x="458" y="2391"/>
                    </a:lnTo>
                    <a:lnTo>
                      <a:pt x="1059" y="2426"/>
                    </a:lnTo>
                    <a:lnTo>
                      <a:pt x="2468" y="2479"/>
                    </a:lnTo>
                    <a:lnTo>
                      <a:pt x="3747" y="2472"/>
                    </a:lnTo>
                    <a:lnTo>
                      <a:pt x="4682" y="2433"/>
                    </a:lnTo>
                    <a:lnTo>
                      <a:pt x="5609" y="2388"/>
                    </a:lnTo>
                    <a:lnTo>
                      <a:pt x="5963" y="2319"/>
                    </a:lnTo>
                    <a:lnTo>
                      <a:pt x="6056" y="2231"/>
                    </a:lnTo>
                    <a:lnTo>
                      <a:pt x="6061" y="212"/>
                    </a:lnTo>
                    <a:lnTo>
                      <a:pt x="5963" y="198"/>
                    </a:lnTo>
                    <a:lnTo>
                      <a:pt x="5486" y="115"/>
                    </a:lnTo>
                    <a:lnTo>
                      <a:pt x="4840" y="100"/>
                    </a:lnTo>
                    <a:lnTo>
                      <a:pt x="3680" y="0"/>
                    </a:lnTo>
                    <a:lnTo>
                      <a:pt x="2248" y="40"/>
                    </a:lnTo>
                    <a:lnTo>
                      <a:pt x="1324" y="82"/>
                    </a:lnTo>
                    <a:lnTo>
                      <a:pt x="560" y="110"/>
                    </a:lnTo>
                    <a:lnTo>
                      <a:pt x="203" y="161"/>
                    </a:lnTo>
                    <a:lnTo>
                      <a:pt x="55" y="184"/>
                    </a:lnTo>
                    <a:lnTo>
                      <a:pt x="0" y="235"/>
                    </a:lnTo>
                    <a:lnTo>
                      <a:pt x="0" y="2235"/>
                    </a:ln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59874" name="Group 482"/>
            <p:cNvGrpSpPr>
              <a:grpSpLocks/>
            </p:cNvGrpSpPr>
            <p:nvPr/>
          </p:nvGrpSpPr>
          <p:grpSpPr bwMode="auto">
            <a:xfrm>
              <a:off x="1949" y="1123"/>
              <a:ext cx="3068" cy="2981"/>
              <a:chOff x="1904" y="1333"/>
              <a:chExt cx="6109" cy="2981"/>
            </a:xfrm>
          </p:grpSpPr>
          <p:sp>
            <p:nvSpPr>
              <p:cNvPr id="59875" name="Rectangle 483"/>
              <p:cNvSpPr>
                <a:spLocks noChangeArrowheads="1"/>
              </p:cNvSpPr>
              <p:nvPr/>
            </p:nvSpPr>
            <p:spPr bwMode="auto">
              <a:xfrm>
                <a:off x="1904" y="1536"/>
                <a:ext cx="6103" cy="2538"/>
              </a:xfrm>
              <a:prstGeom prst="rect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6" name="Oval 484"/>
              <p:cNvSpPr>
                <a:spLocks noChangeArrowheads="1"/>
              </p:cNvSpPr>
              <p:nvPr/>
            </p:nvSpPr>
            <p:spPr bwMode="auto">
              <a:xfrm>
                <a:off x="1904" y="1847"/>
                <a:ext cx="6086" cy="393"/>
              </a:xfrm>
              <a:prstGeom prst="ellipse">
                <a:avLst/>
              </a:prstGeom>
              <a:solidFill>
                <a:srgbClr val="00FFFF">
                  <a:alpha val="50000"/>
                </a:srgbClr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7" name="Oval 485"/>
              <p:cNvSpPr>
                <a:spLocks noChangeArrowheads="1"/>
              </p:cNvSpPr>
              <p:nvPr/>
            </p:nvSpPr>
            <p:spPr bwMode="auto">
              <a:xfrm>
                <a:off x="1904" y="1333"/>
                <a:ext cx="6086" cy="395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8" name="Oval 486"/>
              <p:cNvSpPr>
                <a:spLocks noChangeArrowheads="1"/>
              </p:cNvSpPr>
              <p:nvPr/>
            </p:nvSpPr>
            <p:spPr bwMode="auto">
              <a:xfrm>
                <a:off x="1927" y="3863"/>
                <a:ext cx="6086" cy="451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gamma/>
                      <a:shade val="76078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79" name="Freeform 487"/>
              <p:cNvSpPr>
                <a:spLocks/>
              </p:cNvSpPr>
              <p:nvPr/>
            </p:nvSpPr>
            <p:spPr bwMode="auto">
              <a:xfrm>
                <a:off x="1923" y="1827"/>
                <a:ext cx="6061" cy="2479"/>
              </a:xfrm>
              <a:custGeom>
                <a:avLst/>
                <a:gdLst/>
                <a:ahLst/>
                <a:cxnLst>
                  <a:cxn ang="0">
                    <a:pos x="0" y="2235"/>
                  </a:cxn>
                  <a:cxn ang="0">
                    <a:pos x="83" y="2271"/>
                  </a:cxn>
                  <a:cxn ang="0">
                    <a:pos x="458" y="2391"/>
                  </a:cxn>
                  <a:cxn ang="0">
                    <a:pos x="1059" y="2426"/>
                  </a:cxn>
                  <a:cxn ang="0">
                    <a:pos x="2468" y="2479"/>
                  </a:cxn>
                  <a:cxn ang="0">
                    <a:pos x="3747" y="2472"/>
                  </a:cxn>
                  <a:cxn ang="0">
                    <a:pos x="4682" y="2433"/>
                  </a:cxn>
                  <a:cxn ang="0">
                    <a:pos x="5609" y="2388"/>
                  </a:cxn>
                  <a:cxn ang="0">
                    <a:pos x="5963" y="2319"/>
                  </a:cxn>
                  <a:cxn ang="0">
                    <a:pos x="6056" y="2231"/>
                  </a:cxn>
                  <a:cxn ang="0">
                    <a:pos x="6061" y="212"/>
                  </a:cxn>
                  <a:cxn ang="0">
                    <a:pos x="5963" y="198"/>
                  </a:cxn>
                  <a:cxn ang="0">
                    <a:pos x="5486" y="115"/>
                  </a:cxn>
                  <a:cxn ang="0">
                    <a:pos x="4840" y="100"/>
                  </a:cxn>
                  <a:cxn ang="0">
                    <a:pos x="3680" y="0"/>
                  </a:cxn>
                  <a:cxn ang="0">
                    <a:pos x="2248" y="40"/>
                  </a:cxn>
                  <a:cxn ang="0">
                    <a:pos x="1324" y="82"/>
                  </a:cxn>
                  <a:cxn ang="0">
                    <a:pos x="560" y="110"/>
                  </a:cxn>
                  <a:cxn ang="0">
                    <a:pos x="203" y="161"/>
                  </a:cxn>
                  <a:cxn ang="0">
                    <a:pos x="55" y="184"/>
                  </a:cxn>
                  <a:cxn ang="0">
                    <a:pos x="0" y="235"/>
                  </a:cxn>
                  <a:cxn ang="0">
                    <a:pos x="0" y="2235"/>
                  </a:cxn>
                </a:cxnLst>
                <a:rect l="0" t="0" r="r" b="b"/>
                <a:pathLst>
                  <a:path w="6061" h="2479">
                    <a:moveTo>
                      <a:pt x="0" y="2235"/>
                    </a:moveTo>
                    <a:lnTo>
                      <a:pt x="83" y="2271"/>
                    </a:lnTo>
                    <a:lnTo>
                      <a:pt x="458" y="2391"/>
                    </a:lnTo>
                    <a:lnTo>
                      <a:pt x="1059" y="2426"/>
                    </a:lnTo>
                    <a:lnTo>
                      <a:pt x="2468" y="2479"/>
                    </a:lnTo>
                    <a:lnTo>
                      <a:pt x="3747" y="2472"/>
                    </a:lnTo>
                    <a:lnTo>
                      <a:pt x="4682" y="2433"/>
                    </a:lnTo>
                    <a:lnTo>
                      <a:pt x="5609" y="2388"/>
                    </a:lnTo>
                    <a:lnTo>
                      <a:pt x="5963" y="2319"/>
                    </a:lnTo>
                    <a:lnTo>
                      <a:pt x="6056" y="2231"/>
                    </a:lnTo>
                    <a:lnTo>
                      <a:pt x="6061" y="212"/>
                    </a:lnTo>
                    <a:lnTo>
                      <a:pt x="5963" y="198"/>
                    </a:lnTo>
                    <a:lnTo>
                      <a:pt x="5486" y="115"/>
                    </a:lnTo>
                    <a:lnTo>
                      <a:pt x="4840" y="100"/>
                    </a:lnTo>
                    <a:lnTo>
                      <a:pt x="3680" y="0"/>
                    </a:lnTo>
                    <a:lnTo>
                      <a:pt x="2248" y="40"/>
                    </a:lnTo>
                    <a:lnTo>
                      <a:pt x="1324" y="82"/>
                    </a:lnTo>
                    <a:lnTo>
                      <a:pt x="560" y="110"/>
                    </a:lnTo>
                    <a:lnTo>
                      <a:pt x="203" y="161"/>
                    </a:lnTo>
                    <a:lnTo>
                      <a:pt x="55" y="184"/>
                    </a:lnTo>
                    <a:lnTo>
                      <a:pt x="0" y="235"/>
                    </a:lnTo>
                    <a:lnTo>
                      <a:pt x="0" y="2235"/>
                    </a:ln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59880" name="AutoShape 488" descr="Briques horizontales"/>
            <p:cNvSpPr>
              <a:spLocks noChangeArrowheads="1"/>
            </p:cNvSpPr>
            <p:nvPr/>
          </p:nvSpPr>
          <p:spPr bwMode="auto">
            <a:xfrm>
              <a:off x="2469" y="3384"/>
              <a:ext cx="605" cy="429"/>
            </a:xfrm>
            <a:prstGeom prst="cube">
              <a:avLst>
                <a:gd name="adj" fmla="val 25000"/>
              </a:avLst>
            </a:prstGeom>
            <a:pattFill prst="horzBrick">
              <a:fgClr>
                <a:srgbClr val="974706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881" name="AutoShape 489"/>
            <p:cNvSpPr>
              <a:spLocks noChangeArrowheads="1"/>
            </p:cNvSpPr>
            <p:nvPr/>
          </p:nvSpPr>
          <p:spPr bwMode="auto">
            <a:xfrm>
              <a:off x="3863" y="2305"/>
              <a:ext cx="605" cy="429"/>
            </a:xfrm>
            <a:prstGeom prst="cube">
              <a:avLst>
                <a:gd name="adj" fmla="val 25000"/>
              </a:avLst>
            </a:prstGeom>
            <a:solidFill>
              <a:srgbClr val="FABF8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882" name="AutoShape 490" descr="Tuiles"/>
            <p:cNvSpPr>
              <a:spLocks noChangeArrowheads="1"/>
            </p:cNvSpPr>
            <p:nvPr/>
          </p:nvSpPr>
          <p:spPr bwMode="auto">
            <a:xfrm>
              <a:off x="6764" y="2604"/>
              <a:ext cx="605" cy="429"/>
            </a:xfrm>
            <a:prstGeom prst="cube">
              <a:avLst>
                <a:gd name="adj" fmla="val 25000"/>
              </a:avLst>
            </a:prstGeom>
            <a:pattFill prst="shingle">
              <a:fgClr>
                <a:srgbClr val="E36C0A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883" name="AutoShape 491" descr="Tressé"/>
            <p:cNvSpPr>
              <a:spLocks noChangeArrowheads="1"/>
            </p:cNvSpPr>
            <p:nvPr/>
          </p:nvSpPr>
          <p:spPr bwMode="auto">
            <a:xfrm>
              <a:off x="8204" y="1799"/>
              <a:ext cx="605" cy="429"/>
            </a:xfrm>
            <a:prstGeom prst="cube">
              <a:avLst>
                <a:gd name="adj" fmla="val 25000"/>
              </a:avLst>
            </a:prstGeom>
            <a:pattFill prst="weave">
              <a:fgClr>
                <a:srgbClr val="974706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59884" name="AutoShape 492"/>
            <p:cNvCxnSpPr>
              <a:cxnSpLocks noChangeShapeType="1"/>
            </p:cNvCxnSpPr>
            <p:nvPr/>
          </p:nvCxnSpPr>
          <p:spPr bwMode="auto">
            <a:xfrm>
              <a:off x="2731" y="3667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85" name="AutoShape 493"/>
            <p:cNvCxnSpPr>
              <a:cxnSpLocks noChangeShapeType="1"/>
            </p:cNvCxnSpPr>
            <p:nvPr/>
          </p:nvCxnSpPr>
          <p:spPr bwMode="auto">
            <a:xfrm flipV="1">
              <a:off x="2730" y="3314"/>
              <a:ext cx="0" cy="34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86" name="AutoShape 494"/>
            <p:cNvCxnSpPr>
              <a:cxnSpLocks noChangeShapeType="1"/>
            </p:cNvCxnSpPr>
            <p:nvPr/>
          </p:nvCxnSpPr>
          <p:spPr bwMode="auto">
            <a:xfrm>
              <a:off x="4115" y="2577"/>
              <a:ext cx="0" cy="34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87" name="AutoShape 495"/>
            <p:cNvCxnSpPr>
              <a:cxnSpLocks noChangeShapeType="1"/>
            </p:cNvCxnSpPr>
            <p:nvPr/>
          </p:nvCxnSpPr>
          <p:spPr bwMode="auto">
            <a:xfrm>
              <a:off x="7010" y="2880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88" name="AutoShape 496"/>
            <p:cNvCxnSpPr>
              <a:cxnSpLocks noChangeShapeType="1"/>
            </p:cNvCxnSpPr>
            <p:nvPr/>
          </p:nvCxnSpPr>
          <p:spPr bwMode="auto">
            <a:xfrm flipV="1">
              <a:off x="4100" y="2013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89" name="AutoShape 497"/>
            <p:cNvCxnSpPr>
              <a:cxnSpLocks noChangeShapeType="1"/>
            </p:cNvCxnSpPr>
            <p:nvPr/>
          </p:nvCxnSpPr>
          <p:spPr bwMode="auto">
            <a:xfrm flipV="1">
              <a:off x="7000" y="2315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90" name="AutoShape 498"/>
            <p:cNvCxnSpPr>
              <a:cxnSpLocks noChangeShapeType="1"/>
            </p:cNvCxnSpPr>
            <p:nvPr/>
          </p:nvCxnSpPr>
          <p:spPr bwMode="auto">
            <a:xfrm flipV="1">
              <a:off x="8449" y="1567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 type="diamond" w="sm" len="sm"/>
              <a:tailEnd type="stealth" w="lg" len="lg"/>
            </a:ln>
          </p:spPr>
        </p:cxnSp>
        <p:cxnSp>
          <p:nvCxnSpPr>
            <p:cNvPr id="59891" name="AutoShape 499"/>
            <p:cNvCxnSpPr>
              <a:cxnSpLocks noChangeShapeType="1"/>
            </p:cNvCxnSpPr>
            <p:nvPr/>
          </p:nvCxnSpPr>
          <p:spPr bwMode="auto">
            <a:xfrm>
              <a:off x="8475" y="2046"/>
              <a:ext cx="0" cy="56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diamond" w="sm" len="sm"/>
              <a:tailEnd type="stealth" w="lg" len="lg"/>
            </a:ln>
          </p:spPr>
        </p:cxnSp>
        <p:grpSp>
          <p:nvGrpSpPr>
            <p:cNvPr id="59892" name="Group 500"/>
            <p:cNvGrpSpPr>
              <a:grpSpLocks/>
            </p:cNvGrpSpPr>
            <p:nvPr/>
          </p:nvGrpSpPr>
          <p:grpSpPr bwMode="auto">
            <a:xfrm>
              <a:off x="2207" y="3883"/>
              <a:ext cx="657" cy="441"/>
              <a:chOff x="3540" y="1544"/>
              <a:chExt cx="657" cy="441"/>
            </a:xfrm>
          </p:grpSpPr>
          <p:sp>
            <p:nvSpPr>
              <p:cNvPr id="59893" name="Text Box 501"/>
              <p:cNvSpPr txBox="1">
                <a:spLocks noChangeArrowheads="1"/>
              </p:cNvSpPr>
              <p:nvPr/>
            </p:nvSpPr>
            <p:spPr bwMode="auto">
              <a:xfrm>
                <a:off x="3540" y="1544"/>
                <a:ext cx="657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P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894" name="AutoShape 502"/>
              <p:cNvCxnSpPr>
                <a:cxnSpLocks noChangeShapeType="1"/>
              </p:cNvCxnSpPr>
              <p:nvPr/>
            </p:nvCxnSpPr>
            <p:spPr bwMode="auto">
              <a:xfrm flipV="1">
                <a:off x="3720" y="1545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895" name="Group 503"/>
            <p:cNvGrpSpPr>
              <a:grpSpLocks/>
            </p:cNvGrpSpPr>
            <p:nvPr/>
          </p:nvGrpSpPr>
          <p:grpSpPr bwMode="auto">
            <a:xfrm>
              <a:off x="2132" y="3104"/>
              <a:ext cx="738" cy="478"/>
              <a:chOff x="1845" y="1650"/>
              <a:chExt cx="738" cy="478"/>
            </a:xfrm>
          </p:grpSpPr>
          <p:sp>
            <p:nvSpPr>
              <p:cNvPr id="59896" name="Text Box 504"/>
              <p:cNvSpPr txBox="1">
                <a:spLocks noChangeArrowheads="1"/>
              </p:cNvSpPr>
              <p:nvPr/>
            </p:nvSpPr>
            <p:spPr bwMode="auto">
              <a:xfrm>
                <a:off x="1845" y="1687"/>
                <a:ext cx="738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F</a:t>
                </a:r>
                <a:r>
                  <a:rPr kumimoji="0" lang="fr-FR" b="1" i="1" u="none" strike="noStrike" cap="none" normalizeH="0" baseline="-2500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897" name="AutoShape 505"/>
              <p:cNvCxnSpPr>
                <a:cxnSpLocks noChangeShapeType="1"/>
              </p:cNvCxnSpPr>
              <p:nvPr/>
            </p:nvCxnSpPr>
            <p:spPr bwMode="auto">
              <a:xfrm flipV="1">
                <a:off x="2025" y="1650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898" name="Group 506"/>
            <p:cNvGrpSpPr>
              <a:grpSpLocks/>
            </p:cNvGrpSpPr>
            <p:nvPr/>
          </p:nvGrpSpPr>
          <p:grpSpPr bwMode="auto">
            <a:xfrm>
              <a:off x="3439" y="2086"/>
              <a:ext cx="580" cy="478"/>
              <a:chOff x="1845" y="1650"/>
              <a:chExt cx="738" cy="478"/>
            </a:xfrm>
          </p:grpSpPr>
          <p:sp>
            <p:nvSpPr>
              <p:cNvPr id="59899" name="Text Box 507"/>
              <p:cNvSpPr txBox="1">
                <a:spLocks noChangeArrowheads="1"/>
              </p:cNvSpPr>
              <p:nvPr/>
            </p:nvSpPr>
            <p:spPr bwMode="auto">
              <a:xfrm>
                <a:off x="1845" y="1687"/>
                <a:ext cx="738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F</a:t>
                </a:r>
                <a:r>
                  <a:rPr kumimoji="0" lang="fr-FR" b="1" i="1" u="none" strike="noStrike" cap="none" normalizeH="0" baseline="-2500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00" name="AutoShape 508"/>
              <p:cNvCxnSpPr>
                <a:cxnSpLocks noChangeShapeType="1"/>
              </p:cNvCxnSpPr>
              <p:nvPr/>
            </p:nvCxnSpPr>
            <p:spPr bwMode="auto">
              <a:xfrm flipV="1">
                <a:off x="2025" y="1650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901" name="Group 509"/>
            <p:cNvGrpSpPr>
              <a:grpSpLocks/>
            </p:cNvGrpSpPr>
            <p:nvPr/>
          </p:nvGrpSpPr>
          <p:grpSpPr bwMode="auto">
            <a:xfrm>
              <a:off x="3574" y="2790"/>
              <a:ext cx="518" cy="441"/>
              <a:chOff x="3540" y="1544"/>
              <a:chExt cx="657" cy="441"/>
            </a:xfrm>
          </p:grpSpPr>
          <p:sp>
            <p:nvSpPr>
              <p:cNvPr id="59902" name="Text Box 510"/>
              <p:cNvSpPr txBox="1">
                <a:spLocks noChangeArrowheads="1"/>
              </p:cNvSpPr>
              <p:nvPr/>
            </p:nvSpPr>
            <p:spPr bwMode="auto">
              <a:xfrm>
                <a:off x="3540" y="1544"/>
                <a:ext cx="657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P</a:t>
                </a:r>
                <a:endParaRPr kumimoji="0" lang="fr-FR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03" name="AutoShape 511"/>
              <p:cNvCxnSpPr>
                <a:cxnSpLocks noChangeShapeType="1"/>
              </p:cNvCxnSpPr>
              <p:nvPr/>
            </p:nvCxnSpPr>
            <p:spPr bwMode="auto">
              <a:xfrm flipV="1">
                <a:off x="3720" y="1545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904" name="Group 512"/>
            <p:cNvGrpSpPr>
              <a:grpSpLocks/>
            </p:cNvGrpSpPr>
            <p:nvPr/>
          </p:nvGrpSpPr>
          <p:grpSpPr bwMode="auto">
            <a:xfrm>
              <a:off x="6437" y="3097"/>
              <a:ext cx="541" cy="441"/>
              <a:chOff x="3540" y="1544"/>
              <a:chExt cx="657" cy="441"/>
            </a:xfrm>
          </p:grpSpPr>
          <p:sp>
            <p:nvSpPr>
              <p:cNvPr id="59905" name="Text Box 513"/>
              <p:cNvSpPr txBox="1">
                <a:spLocks noChangeArrowheads="1"/>
              </p:cNvSpPr>
              <p:nvPr/>
            </p:nvSpPr>
            <p:spPr bwMode="auto">
              <a:xfrm>
                <a:off x="3540" y="1544"/>
                <a:ext cx="657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P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06" name="AutoShape 514"/>
              <p:cNvCxnSpPr>
                <a:cxnSpLocks noChangeShapeType="1"/>
              </p:cNvCxnSpPr>
              <p:nvPr/>
            </p:nvCxnSpPr>
            <p:spPr bwMode="auto">
              <a:xfrm flipV="1">
                <a:off x="3720" y="1545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907" name="Group 515"/>
            <p:cNvGrpSpPr>
              <a:grpSpLocks/>
            </p:cNvGrpSpPr>
            <p:nvPr/>
          </p:nvGrpSpPr>
          <p:grpSpPr bwMode="auto">
            <a:xfrm>
              <a:off x="7957" y="2327"/>
              <a:ext cx="657" cy="441"/>
              <a:chOff x="3540" y="1544"/>
              <a:chExt cx="657" cy="441"/>
            </a:xfrm>
          </p:grpSpPr>
          <p:sp>
            <p:nvSpPr>
              <p:cNvPr id="59908" name="Text Box 516"/>
              <p:cNvSpPr txBox="1">
                <a:spLocks noChangeArrowheads="1"/>
              </p:cNvSpPr>
              <p:nvPr/>
            </p:nvSpPr>
            <p:spPr bwMode="auto">
              <a:xfrm>
                <a:off x="3540" y="1544"/>
                <a:ext cx="657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P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09" name="AutoShape 517"/>
              <p:cNvCxnSpPr>
                <a:cxnSpLocks noChangeShapeType="1"/>
              </p:cNvCxnSpPr>
              <p:nvPr/>
            </p:nvCxnSpPr>
            <p:spPr bwMode="auto">
              <a:xfrm flipV="1">
                <a:off x="3720" y="1545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910" name="Group 518"/>
            <p:cNvGrpSpPr>
              <a:grpSpLocks/>
            </p:cNvGrpSpPr>
            <p:nvPr/>
          </p:nvGrpSpPr>
          <p:grpSpPr bwMode="auto">
            <a:xfrm>
              <a:off x="6287" y="2438"/>
              <a:ext cx="650" cy="478"/>
              <a:chOff x="1845" y="1650"/>
              <a:chExt cx="738" cy="478"/>
            </a:xfrm>
          </p:grpSpPr>
          <p:sp>
            <p:nvSpPr>
              <p:cNvPr id="59911" name="Text Box 519"/>
              <p:cNvSpPr txBox="1">
                <a:spLocks noChangeArrowheads="1"/>
              </p:cNvSpPr>
              <p:nvPr/>
            </p:nvSpPr>
            <p:spPr bwMode="auto">
              <a:xfrm>
                <a:off x="1845" y="1687"/>
                <a:ext cx="738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F</a:t>
                </a:r>
                <a:r>
                  <a:rPr kumimoji="0" lang="fr-FR" b="1" i="1" u="none" strike="noStrike" cap="none" normalizeH="0" baseline="-2500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12" name="AutoShape 520"/>
              <p:cNvCxnSpPr>
                <a:cxnSpLocks noChangeShapeType="1"/>
              </p:cNvCxnSpPr>
              <p:nvPr/>
            </p:nvCxnSpPr>
            <p:spPr bwMode="auto">
              <a:xfrm flipV="1">
                <a:off x="2025" y="1650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</p:spPr>
          </p:cxnSp>
        </p:grpSp>
        <p:grpSp>
          <p:nvGrpSpPr>
            <p:cNvPr id="59913" name="Group 521"/>
            <p:cNvGrpSpPr>
              <a:grpSpLocks/>
            </p:cNvGrpSpPr>
            <p:nvPr/>
          </p:nvGrpSpPr>
          <p:grpSpPr bwMode="auto">
            <a:xfrm>
              <a:off x="7717" y="1533"/>
              <a:ext cx="738" cy="478"/>
              <a:chOff x="1845" y="1650"/>
              <a:chExt cx="738" cy="478"/>
            </a:xfrm>
          </p:grpSpPr>
          <p:sp>
            <p:nvSpPr>
              <p:cNvPr id="59914" name="Text Box 522"/>
              <p:cNvSpPr txBox="1">
                <a:spLocks noChangeArrowheads="1"/>
              </p:cNvSpPr>
              <p:nvPr/>
            </p:nvSpPr>
            <p:spPr bwMode="auto">
              <a:xfrm>
                <a:off x="1845" y="1687"/>
                <a:ext cx="738" cy="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F</a:t>
                </a:r>
                <a:r>
                  <a:rPr kumimoji="0" lang="fr-FR" b="1" i="1" u="none" strike="noStrike" cap="none" normalizeH="0" baseline="-2500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endParaRPr kumimoji="0" lang="fr-FR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9915" name="AutoShape 523"/>
              <p:cNvCxnSpPr>
                <a:cxnSpLocks noChangeShapeType="1"/>
              </p:cNvCxnSpPr>
              <p:nvPr/>
            </p:nvCxnSpPr>
            <p:spPr bwMode="auto">
              <a:xfrm flipV="1">
                <a:off x="2025" y="1650"/>
                <a:ext cx="317" cy="0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</p:spPr>
          </p:cxnSp>
        </p:grpSp>
        <p:sp>
          <p:nvSpPr>
            <p:cNvPr id="59916" name="AutoShape 524"/>
            <p:cNvSpPr>
              <a:spLocks noChangeArrowheads="1"/>
            </p:cNvSpPr>
            <p:nvPr/>
          </p:nvSpPr>
          <p:spPr bwMode="auto">
            <a:xfrm rot="16200000">
              <a:off x="2783" y="2159"/>
              <a:ext cx="1117" cy="253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917" name="AutoShape 525"/>
            <p:cNvSpPr>
              <a:spLocks noChangeArrowheads="1"/>
            </p:cNvSpPr>
            <p:nvPr/>
          </p:nvSpPr>
          <p:spPr bwMode="auto">
            <a:xfrm rot="5400000" flipV="1">
              <a:off x="1584" y="3102"/>
              <a:ext cx="1117" cy="253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918" name="Text Box 526"/>
            <p:cNvSpPr txBox="1">
              <a:spLocks noChangeArrowheads="1"/>
            </p:cNvSpPr>
            <p:nvPr/>
          </p:nvSpPr>
          <p:spPr bwMode="auto">
            <a:xfrm>
              <a:off x="8557" y="2536"/>
              <a:ext cx="661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P=F</a:t>
              </a:r>
              <a:r>
                <a:rPr kumimoji="0" lang="fr-FR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19" name="Text Box 527"/>
            <p:cNvSpPr txBox="1">
              <a:spLocks noChangeArrowheads="1"/>
            </p:cNvSpPr>
            <p:nvPr/>
          </p:nvSpPr>
          <p:spPr bwMode="auto">
            <a:xfrm>
              <a:off x="3077" y="3774"/>
              <a:ext cx="835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</a:t>
              </a: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20" name="Text Box 528"/>
            <p:cNvSpPr txBox="1">
              <a:spLocks noChangeArrowheads="1"/>
            </p:cNvSpPr>
            <p:nvPr/>
          </p:nvSpPr>
          <p:spPr bwMode="auto">
            <a:xfrm>
              <a:off x="4014" y="2993"/>
              <a:ext cx="716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</a:t>
              </a:r>
              <a:r>
                <a:rPr kumimoji="0" lang="fr-FR" sz="1600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1600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endPara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21" name="Text Box 529"/>
            <p:cNvSpPr txBox="1">
              <a:spLocks noChangeArrowheads="1"/>
            </p:cNvSpPr>
            <p:nvPr/>
          </p:nvSpPr>
          <p:spPr bwMode="auto">
            <a:xfrm>
              <a:off x="6736" y="3507"/>
              <a:ext cx="845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b="1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P=F</a:t>
              </a:r>
              <a:r>
                <a:rPr kumimoji="0" lang="fr-FR" b="1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endPara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98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98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7.40741E-7 L 4.16667E-6 0.16574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9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98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9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9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98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44444E-6 L -0.00416 -0.04328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598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9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9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9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5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81481E-6 L -0.0013 -0.07663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98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9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9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33" grpId="0"/>
      <p:bldP spid="253" grpId="0"/>
      <p:bldP spid="59810" grpId="0"/>
      <p:bldP spid="59811" grpId="0" animBg="1"/>
      <p:bldP spid="59811" grpId="1" animBg="1"/>
      <p:bldP spid="59812" grpId="0" animBg="1"/>
      <p:bldP spid="59814" grpId="0"/>
      <p:bldP spid="59865" grpId="2" animBg="1"/>
      <p:bldP spid="59865" grpId="3" animBg="1"/>
      <p:bldP spid="892" grpId="0" animBg="1"/>
      <p:bldP spid="892" grpId="1" animBg="1"/>
      <p:bldP spid="59866" grpId="0" animBg="1"/>
      <p:bldP spid="8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fr-FR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.III </a:t>
            </a: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شرط توازن جسم مغمور وجسم طافي 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1489953" y="1597031"/>
            <a:ext cx="9265743" cy="3108543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 rtl="1"/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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يخضع الجسم المغمور كليا أو جزئيا لقوة الثقل (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) ودافعة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(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 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) حيث:</a:t>
            </a:r>
          </a:p>
          <a:p>
            <a:pPr algn="r" rtl="1"/>
            <a:endParaRPr lang="ar-DZ" sz="2800" b="1" dirty="0" smtClean="0"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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إذا كان: ( 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800" b="1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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) فإنّ الجسم يندفع إلى الأعلى ( كثافة الجسم أصغر من كثافة السائل)</a:t>
            </a:r>
          </a:p>
          <a:p>
            <a:pPr algn="r" rtl="1"/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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إذا كان: ( </a:t>
            </a:r>
            <a:r>
              <a:rPr lang="fr-FR" sz="2800" b="1" i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800" b="1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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) فإنّ الجسم عالق في السائل( حالة التوازن)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إذا كان:  ( 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fr-FR" sz="2800" b="1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</a:t>
            </a:r>
            <a:r>
              <a:rPr lang="fr-FR" sz="28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) فإن الجسم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يغوص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في السائل ( كثافة الجسم أكبر من كثافة السائل)</a:t>
            </a:r>
          </a:p>
          <a:p>
            <a:pPr algn="r" rtl="1"/>
            <a:endParaRPr lang="ar-DZ" sz="2800" b="1" dirty="0" smtClean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  <a:p>
            <a:pPr algn="r" rtl="1"/>
            <a:r>
              <a:rPr lang="en-US" sz="2800" b="1" u="dotDash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</a:t>
            </a:r>
            <a:r>
              <a:rPr lang="ar-DZ" sz="2800" b="1" u="dotDash" dirty="0" smtClean="0">
                <a:latin typeface="Traditional Arabic" pitchFamily="18" charset="-78"/>
                <a:cs typeface="Traditional Arabic" pitchFamily="18" charset="-78"/>
              </a:rPr>
              <a:t>شرط حالة التوازن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:</a:t>
            </a:r>
            <a:endParaRPr lang="fr-FR" sz="28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5733481" y="768121"/>
            <a:ext cx="12186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32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النتيــــــجة</a:t>
            </a:r>
            <a:r>
              <a:rPr lang="ar-DZ" sz="32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endParaRPr lang="fr-FR" sz="2800" b="1" dirty="0">
              <a:solidFill>
                <a:srgbClr val="0000FF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6119706" y="4135903"/>
            <a:ext cx="2048970" cy="478869"/>
            <a:chOff x="6723555" y="3997881"/>
            <a:chExt cx="2048970" cy="478869"/>
          </a:xfrm>
        </p:grpSpPr>
        <p:sp>
          <p:nvSpPr>
            <p:cNvPr id="60419" name="Text Box 3"/>
            <p:cNvSpPr txBox="1">
              <a:spLocks noChangeArrowheads="1"/>
            </p:cNvSpPr>
            <p:nvPr/>
          </p:nvSpPr>
          <p:spPr bwMode="auto">
            <a:xfrm>
              <a:off x="6723555" y="3997881"/>
              <a:ext cx="2048970" cy="478869"/>
            </a:xfrm>
            <a:prstGeom prst="rect">
              <a:avLst/>
            </a:prstGeom>
            <a:solidFill>
              <a:srgbClr val="B8CCE4"/>
            </a:solidFill>
            <a:ln w="9525">
              <a:solidFill>
                <a:srgbClr val="00B0F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4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2400" b="1" i="1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r>
                <a:rPr kumimoji="0" lang="fr-FR" sz="24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+ </a:t>
              </a:r>
              <a:r>
                <a:rPr kumimoji="0" lang="fr-FR" sz="24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fr-FR" sz="24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= 0</a:t>
              </a:r>
              <a:endParaRPr kumimoji="0" lang="fr-FR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0421" name="AutoShape 5"/>
            <p:cNvCxnSpPr>
              <a:cxnSpLocks noChangeShapeType="1"/>
            </p:cNvCxnSpPr>
            <p:nvPr/>
          </p:nvCxnSpPr>
          <p:spPr bwMode="auto">
            <a:xfrm flipV="1">
              <a:off x="8153400" y="4034416"/>
              <a:ext cx="266632" cy="418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</p:cxnSp>
        <p:cxnSp>
          <p:nvCxnSpPr>
            <p:cNvPr id="14" name="AutoShape 5"/>
            <p:cNvCxnSpPr>
              <a:cxnSpLocks noChangeShapeType="1"/>
            </p:cNvCxnSpPr>
            <p:nvPr/>
          </p:nvCxnSpPr>
          <p:spPr bwMode="auto">
            <a:xfrm flipV="1">
              <a:off x="7734300" y="4024891"/>
              <a:ext cx="266632" cy="418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</p:cxnSp>
        <p:cxnSp>
          <p:nvCxnSpPr>
            <p:cNvPr id="15" name="AutoShape 5"/>
            <p:cNvCxnSpPr>
              <a:cxnSpLocks noChangeShapeType="1"/>
            </p:cNvCxnSpPr>
            <p:nvPr/>
          </p:nvCxnSpPr>
          <p:spPr bwMode="auto">
            <a:xfrm flipV="1">
              <a:off x="7181850" y="4034416"/>
              <a:ext cx="266632" cy="418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</p:cxnSp>
      </p:grpSp>
      <p:grpSp>
        <p:nvGrpSpPr>
          <p:cNvPr id="27" name="Groupe 26"/>
          <p:cNvGrpSpPr/>
          <p:nvPr/>
        </p:nvGrpSpPr>
        <p:grpSpPr>
          <a:xfrm>
            <a:off x="2914613" y="1668947"/>
            <a:ext cx="476249" cy="431244"/>
            <a:chOff x="3933825" y="4817032"/>
            <a:chExt cx="476249" cy="431244"/>
          </a:xfrm>
        </p:grpSpPr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3933825" y="4817032"/>
              <a:ext cx="476249" cy="431244"/>
            </a:xfrm>
            <a:prstGeom prst="rect">
              <a:avLst/>
            </a:prstGeom>
            <a:noFill/>
            <a:ln w="9525">
              <a:solidFill>
                <a:srgbClr val="00B0F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4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2400" b="1" i="1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</a:t>
              </a:r>
              <a:endParaRPr kumimoji="0" lang="fr-FR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2" name="AutoShape 5"/>
            <p:cNvCxnSpPr>
              <a:cxnSpLocks noChangeShapeType="1"/>
            </p:cNvCxnSpPr>
            <p:nvPr/>
          </p:nvCxnSpPr>
          <p:spPr bwMode="auto">
            <a:xfrm flipV="1">
              <a:off x="4076700" y="4844041"/>
              <a:ext cx="266632" cy="418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</p:cxnSp>
      </p:grpSp>
      <p:grpSp>
        <p:nvGrpSpPr>
          <p:cNvPr id="28" name="Groupe 27"/>
          <p:cNvGrpSpPr/>
          <p:nvPr/>
        </p:nvGrpSpPr>
        <p:grpSpPr>
          <a:xfrm>
            <a:off x="5232067" y="1708844"/>
            <a:ext cx="457200" cy="393144"/>
            <a:chOff x="6581775" y="4864657"/>
            <a:chExt cx="457200" cy="393144"/>
          </a:xfrm>
        </p:grpSpPr>
        <p:sp>
          <p:nvSpPr>
            <p:cNvPr id="23" name="Text Box 3"/>
            <p:cNvSpPr txBox="1">
              <a:spLocks noChangeArrowheads="1"/>
            </p:cNvSpPr>
            <p:nvPr/>
          </p:nvSpPr>
          <p:spPr bwMode="auto">
            <a:xfrm>
              <a:off x="6581775" y="4864657"/>
              <a:ext cx="457200" cy="393144"/>
            </a:xfrm>
            <a:prstGeom prst="rect">
              <a:avLst/>
            </a:prstGeom>
            <a:noFill/>
            <a:ln w="9525">
              <a:solidFill>
                <a:srgbClr val="00B0F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4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endParaRPr kumimoji="0" lang="fr-FR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AutoShape 5"/>
            <p:cNvCxnSpPr>
              <a:cxnSpLocks noChangeShapeType="1"/>
            </p:cNvCxnSpPr>
            <p:nvPr/>
          </p:nvCxnSpPr>
          <p:spPr bwMode="auto">
            <a:xfrm flipV="1">
              <a:off x="6734175" y="4891666"/>
              <a:ext cx="266632" cy="418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</p:cxnSp>
      </p:grp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animBg="1"/>
      <p:bldP spid="2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p:control spid="47108" name="ShockwaveFlash1" r:id="rId2" imgW="10869542" imgH="6106377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p:control spid="97284" name="ShockwaveFlash1" r:id="rId2" imgW="10748544" imgH="6496957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" y="327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6" name="Parchemin horizontal 15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fr-FR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.IV </a:t>
            </a:r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تعيين كثافة جسم صلب تجريبيا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620587" y="770773"/>
            <a:ext cx="140743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النشاط07</a:t>
            </a:r>
            <a:r>
              <a:rPr lang="ar-DZ" sz="2800" b="1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:</a:t>
            </a:r>
            <a:r>
              <a:rPr lang="en-US" sz="2800" b="1" dirty="0" smtClean="0">
                <a:latin typeface="Traditional Arabic" pitchFamily="18" charset="-78"/>
                <a:cs typeface="Traditional Arabic" pitchFamily="18" charset="-78"/>
              </a:rPr>
              <a:t>  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73947" y="131154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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نغمر كليا في الماء جسما صلبا (</a:t>
            </a:r>
            <a:r>
              <a:rPr lang="fr-FR" sz="2400" b="1" dirty="0" smtClean="0">
                <a:latin typeface="Traditional Arabic" pitchFamily="18" charset="-78"/>
                <a:cs typeface="Traditional Arabic" pitchFamily="18" charset="-78"/>
              </a:rPr>
              <a:t>s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 كتلته (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</a:rPr>
              <a:t>m=0.2kg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)، نقيس ثقله الظاهري عند التوازن ( </a:t>
            </a:r>
            <a:r>
              <a:rPr lang="en-US" sz="2400" b="1" i="1" dirty="0" smtClean="0">
                <a:latin typeface="Traditional Arabic" pitchFamily="18" charset="-78"/>
                <a:cs typeface="Traditional Arabic" pitchFamily="18" charset="-78"/>
              </a:rPr>
              <a:t>P</a:t>
            </a:r>
            <a:r>
              <a:rPr lang="en-US" sz="2400" b="1" i="1" dirty="0" smtClean="0">
                <a:latin typeface="Traditional Arabic" pitchFamily="18" charset="-78"/>
                <a:cs typeface="Traditional Arabic" pitchFamily="18" charset="-78"/>
                <a:sym typeface="Symbol"/>
              </a:rPr>
              <a:t></a:t>
            </a:r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</a:rPr>
              <a:t>=1.9N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).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78002" y="4600901"/>
            <a:ext cx="753411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ar-DZ" sz="2800" b="1" u="sng" dirty="0" smtClean="0">
                <a:solidFill>
                  <a:srgbClr val="0000FF"/>
                </a:solidFill>
                <a:latin typeface="Traditional Arabic" pitchFamily="18" charset="-78"/>
                <a:cs typeface="Traditional Arabic" pitchFamily="18" charset="-78"/>
              </a:rPr>
              <a:t>النتيــــجة</a:t>
            </a:r>
            <a:endParaRPr lang="fr-FR" sz="2800" u="sng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22762" y="5245186"/>
            <a:ext cx="8402129" cy="4616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r" rtl="1"/>
            <a:r>
              <a:rPr lang="en-US" sz="2400" b="1" dirty="0" smtClean="0">
                <a:latin typeface="Traditional Arabic" pitchFamily="18" charset="-78"/>
                <a:cs typeface="Traditional Arabic" pitchFamily="18" charset="-78"/>
                <a:sym typeface="Wingdings"/>
              </a:rPr>
              <a:t>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كثافة جسم صلب هي حاصل قسمة ثقله الحقيقي على شدة دافعة </a:t>
            </a:r>
            <a:r>
              <a:rPr lang="ar-DZ" sz="24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400" b="1" dirty="0" smtClean="0">
                <a:latin typeface="Traditional Arabic" pitchFamily="18" charset="-78"/>
                <a:cs typeface="Traditional Arabic" pitchFamily="18" charset="-78"/>
              </a:rPr>
              <a:t>:</a:t>
            </a:r>
            <a:endParaRPr lang="fr-FR" sz="24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2656936" y="5251270"/>
            <a:ext cx="1989407" cy="476669"/>
          </a:xfrm>
          <a:prstGeom prst="rect">
            <a:avLst/>
          </a:prstGeom>
          <a:solidFill>
            <a:srgbClr val="C2D69B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d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 = 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P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  /  </a:t>
            </a:r>
            <a:r>
              <a:rPr kumimoji="0" lang="fr-FR" sz="24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F</a:t>
            </a:r>
            <a:r>
              <a:rPr kumimoji="0" lang="fr-FR" sz="2400" b="1" i="1" u="none" strike="noStrike" cap="none" normalizeH="0" baseline="-2500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A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8307" name="AutoShape 3"/>
          <p:cNvSpPr>
            <a:spLocks noChangeArrowheads="1"/>
          </p:cNvSpPr>
          <p:nvPr/>
        </p:nvSpPr>
        <p:spPr bwMode="auto">
          <a:xfrm>
            <a:off x="2857915" y="1539434"/>
            <a:ext cx="764961" cy="649910"/>
          </a:xfrm>
          <a:prstGeom prst="cube">
            <a:avLst>
              <a:gd name="adj" fmla="val 24972"/>
            </a:avLst>
          </a:prstGeom>
          <a:gradFill rotWithShape="1"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1"/>
          </a:gra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4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  <a:cs typeface="Times New Roman" pitchFamily="18" charset="0"/>
              </a:rPr>
              <a:t>m</a:t>
            </a:r>
            <a:endParaRPr kumimoji="0" lang="fr-FR" sz="40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8308" name="Group 4"/>
          <p:cNvGrpSpPr>
            <a:grpSpLocks/>
          </p:cNvGrpSpPr>
          <p:nvPr/>
        </p:nvGrpSpPr>
        <p:grpSpPr bwMode="auto">
          <a:xfrm>
            <a:off x="162046" y="992786"/>
            <a:ext cx="2546286" cy="4030627"/>
            <a:chOff x="1671" y="10313"/>
            <a:chExt cx="1782" cy="3001"/>
          </a:xfrm>
        </p:grpSpPr>
        <p:sp>
          <p:nvSpPr>
            <p:cNvPr id="98309" name="Text Box 5"/>
            <p:cNvSpPr txBox="1">
              <a:spLocks noChangeArrowheads="1"/>
            </p:cNvSpPr>
            <p:nvPr/>
          </p:nvSpPr>
          <p:spPr bwMode="auto">
            <a:xfrm>
              <a:off x="1903" y="12893"/>
              <a:ext cx="3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  <a:sym typeface="Symbol" pitchFamily="18" charset="2"/>
                </a:rPr>
                <a:t></a:t>
              </a:r>
              <a:r>
                <a:rPr kumimoji="0" lang="fr-FR" sz="12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miri" pitchFamily="2" charset="-78"/>
                  <a:ea typeface="Arial" pitchFamily="34" charset="0"/>
                  <a:cs typeface="Amiri" pitchFamily="2" charset="-78"/>
                </a:rPr>
                <a:t>1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310" name="Text Box 6"/>
            <p:cNvSpPr txBox="1">
              <a:spLocks noChangeArrowheads="1"/>
            </p:cNvSpPr>
            <p:nvPr/>
          </p:nvSpPr>
          <p:spPr bwMode="auto">
            <a:xfrm>
              <a:off x="2453" y="10313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ar-DZ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</a:t>
              </a:r>
              <a:r>
                <a:rPr kumimoji="0" lang="fr-F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=2N</a:t>
              </a:r>
              <a:endParaRPr kumimoji="0" lang="fr-FR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11" name="Text Box 7"/>
            <p:cNvSpPr txBox="1">
              <a:spLocks noChangeArrowheads="1"/>
            </p:cNvSpPr>
            <p:nvPr/>
          </p:nvSpPr>
          <p:spPr bwMode="auto">
            <a:xfrm>
              <a:off x="2597" y="10609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P</a:t>
              </a:r>
              <a:r>
                <a:rPr kumimoji="0" lang="ar-DZ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 </a:t>
              </a:r>
              <a:r>
                <a:rPr kumimoji="0" lang="fr-F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kumimoji="0" lang="fr-F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=1.9N</a:t>
              </a:r>
              <a:endParaRPr kumimoji="0" lang="fr-FR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12" name="Text Box 8"/>
            <p:cNvSpPr txBox="1">
              <a:spLocks noChangeArrowheads="1"/>
            </p:cNvSpPr>
            <p:nvPr/>
          </p:nvSpPr>
          <p:spPr bwMode="auto">
            <a:xfrm>
              <a:off x="2670" y="12829"/>
              <a:ext cx="636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ماء</a:t>
              </a:r>
              <a:endPara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  <p:grpSp>
          <p:nvGrpSpPr>
            <p:cNvPr id="98313" name="Group 9"/>
            <p:cNvGrpSpPr>
              <a:grpSpLocks/>
            </p:cNvGrpSpPr>
            <p:nvPr/>
          </p:nvGrpSpPr>
          <p:grpSpPr bwMode="auto">
            <a:xfrm>
              <a:off x="1671" y="10377"/>
              <a:ext cx="1009" cy="1009"/>
              <a:chOff x="5665" y="3560"/>
              <a:chExt cx="1466" cy="1465"/>
            </a:xfrm>
          </p:grpSpPr>
          <p:grpSp>
            <p:nvGrpSpPr>
              <p:cNvPr id="98314" name="Group 10"/>
              <p:cNvGrpSpPr>
                <a:grpSpLocks/>
              </p:cNvGrpSpPr>
              <p:nvPr/>
            </p:nvGrpSpPr>
            <p:grpSpPr bwMode="auto">
              <a:xfrm>
                <a:off x="5666" y="3560"/>
                <a:ext cx="1465" cy="1465"/>
                <a:chOff x="5671" y="3562"/>
                <a:chExt cx="1465" cy="1465"/>
              </a:xfrm>
            </p:grpSpPr>
            <p:grpSp>
              <p:nvGrpSpPr>
                <p:cNvPr id="98315" name="Group 11"/>
                <p:cNvGrpSpPr>
                  <a:grpSpLocks/>
                </p:cNvGrpSpPr>
                <p:nvPr/>
              </p:nvGrpSpPr>
              <p:grpSpPr bwMode="auto">
                <a:xfrm>
                  <a:off x="5671" y="3562"/>
                  <a:ext cx="1465" cy="1465"/>
                  <a:chOff x="5167" y="3427"/>
                  <a:chExt cx="1465" cy="1465"/>
                </a:xfrm>
              </p:grpSpPr>
              <p:grpSp>
                <p:nvGrpSpPr>
                  <p:cNvPr id="98316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5167" y="3427"/>
                    <a:ext cx="1465" cy="1465"/>
                    <a:chOff x="5167" y="3427"/>
                    <a:chExt cx="1465" cy="1465"/>
                  </a:xfrm>
                </p:grpSpPr>
                <p:grpSp>
                  <p:nvGrpSpPr>
                    <p:cNvPr id="9831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167" y="3427"/>
                      <a:ext cx="1465" cy="1465"/>
                      <a:chOff x="7522" y="1563"/>
                      <a:chExt cx="1465" cy="1465"/>
                    </a:xfrm>
                  </p:grpSpPr>
                  <p:sp>
                    <p:nvSpPr>
                      <p:cNvPr id="98318" name="Oval 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22" y="1563"/>
                        <a:ext cx="1465" cy="146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19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93" y="176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0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rot="772452">
                        <a:off x="7904" y="169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1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rot="1420652">
                        <a:off x="8015" y="164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2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 rot="1798363">
                        <a:off x="8126" y="16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3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rot="2672958">
                        <a:off x="8249" y="1603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4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rot="6204533">
                        <a:off x="7682" y="2613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5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rot="3686280">
                        <a:off x="8367" y="1628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6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rot="4178721">
                        <a:off x="8503" y="167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7" name="Line 23"/>
                      <p:cNvSpPr>
                        <a:spLocks noChangeShapeType="1"/>
                      </p:cNvSpPr>
                      <p:nvPr/>
                    </p:nvSpPr>
                    <p:spPr bwMode="auto">
                      <a:xfrm rot="4826921">
                        <a:off x="8609" y="174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8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 rot="5204632">
                        <a:off x="8695" y="181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29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rot="6079227">
                        <a:off x="8773" y="1915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30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 rot="6721341">
                        <a:off x="8799" y="2024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31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 rot="7493794">
                        <a:off x="8854" y="215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32" name="Line 28"/>
                      <p:cNvSpPr>
                        <a:spLocks noChangeShapeType="1"/>
                      </p:cNvSpPr>
                      <p:nvPr/>
                    </p:nvSpPr>
                    <p:spPr bwMode="auto">
                      <a:xfrm rot="8141993">
                        <a:off x="8863" y="2282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33" name="Line 29"/>
                      <p:cNvSpPr>
                        <a:spLocks noChangeShapeType="1"/>
                      </p:cNvSpPr>
                      <p:nvPr/>
                    </p:nvSpPr>
                    <p:spPr bwMode="auto">
                      <a:xfrm rot="8519704">
                        <a:off x="8849" y="2396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34" name="Line 30"/>
                      <p:cNvSpPr>
                        <a:spLocks noChangeShapeType="1"/>
                      </p:cNvSpPr>
                      <p:nvPr/>
                    </p:nvSpPr>
                    <p:spPr bwMode="auto">
                      <a:xfrm rot="9394299">
                        <a:off x="8814" y="2514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grpSp>
                    <p:nvGrpSpPr>
                      <p:cNvPr id="98335" name="Group 31"/>
                      <p:cNvGrpSpPr>
                        <a:grpSpLocks/>
                      </p:cNvGrpSpPr>
                      <p:nvPr/>
                    </p:nvGrpSpPr>
                    <p:grpSpPr bwMode="auto">
                      <a:xfrm rot="10143224">
                        <a:off x="8321" y="2656"/>
                        <a:ext cx="521" cy="259"/>
                        <a:chOff x="4406" y="1717"/>
                        <a:chExt cx="521" cy="259"/>
                      </a:xfrm>
                    </p:grpSpPr>
                    <p:sp>
                      <p:nvSpPr>
                        <p:cNvPr id="98336" name="Line 3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06" y="1878"/>
                          <a:ext cx="97" cy="9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8337" name="Line 3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772452">
                          <a:off x="4517" y="1813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8338" name="Line 3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420652">
                          <a:off x="4628" y="175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8339" name="Line 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798363">
                          <a:off x="4739" y="1729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8340" name="Line 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2672958">
                          <a:off x="4862" y="1717"/>
                          <a:ext cx="65" cy="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98341" name="Line 37"/>
                      <p:cNvSpPr>
                        <a:spLocks noChangeShapeType="1"/>
                      </p:cNvSpPr>
                      <p:nvPr/>
                    </p:nvSpPr>
                    <p:spPr bwMode="auto">
                      <a:xfrm rot="13440840">
                        <a:off x="8199" y="2867"/>
                        <a:ext cx="97" cy="9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42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 rot="14039816">
                        <a:off x="8090" y="2890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43" name="Line 39"/>
                      <p:cNvSpPr>
                        <a:spLocks noChangeShapeType="1"/>
                      </p:cNvSpPr>
                      <p:nvPr/>
                    </p:nvSpPr>
                    <p:spPr bwMode="auto">
                      <a:xfrm rot="14688016">
                        <a:off x="7971" y="2849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44" name="Line 40"/>
                      <p:cNvSpPr>
                        <a:spLocks noChangeShapeType="1"/>
                      </p:cNvSpPr>
                      <p:nvPr/>
                    </p:nvSpPr>
                    <p:spPr bwMode="auto">
                      <a:xfrm rot="15065727">
                        <a:off x="7868" y="2798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45" name="Line 41"/>
                      <p:cNvSpPr>
                        <a:spLocks noChangeShapeType="1"/>
                      </p:cNvSpPr>
                      <p:nvPr/>
                    </p:nvSpPr>
                    <p:spPr bwMode="auto">
                      <a:xfrm rot="15940322">
                        <a:off x="7767" y="2727"/>
                        <a:ext cx="65" cy="6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8346" name="Oval 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66" y="1606"/>
                        <a:ext cx="1378" cy="1378"/>
                      </a:xfrm>
                      <a:prstGeom prst="ellipse">
                        <a:avLst/>
                      </a:prstGeom>
                      <a:noFill/>
                      <a:ln w="28575">
                        <a:solidFill>
                          <a:srgbClr val="FFFFFF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98347" name="WordArt 43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7898641">
                      <a:off x="5437" y="4336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8348" name="WordArt 44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0834392">
                      <a:off x="5802" y="4510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8349" name="WordArt 45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4016058">
                      <a:off x="6189" y="4333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8350" name="WordArt 46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17697217">
                      <a:off x="6243" y="393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8351" name="WordArt 47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-20430436">
                      <a:off x="5931" y="3628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  <p:sp>
                  <p:nvSpPr>
                    <p:cNvPr id="98352" name="WordArt 48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 rot="8422993">
                      <a:off x="5553" y="3721"/>
                      <a:ext cx="160" cy="17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 rtl="0"/>
                      <a:r>
                        <a:rPr lang="fr-FR" sz="800" kern="10" spc="0" smtClean="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0</a:t>
                      </a:r>
                      <a:endParaRPr lang="fr-FR" sz="800" kern="10" spc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98353" name="WordArt 49"/>
                  <p:cNvSpPr>
                    <a:spLocks noChangeArrowheads="1" noChangeShapeType="1" noTextEdit="1"/>
                  </p:cNvSpPr>
                  <p:nvPr/>
                </p:nvSpPr>
                <p:spPr bwMode="auto">
                  <a:xfrm rot="-15402491">
                    <a:off x="5143" y="3999"/>
                    <a:ext cx="454" cy="11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 rtl="0"/>
                    <a:r>
                      <a:rPr lang="fr-FR" sz="800" kern="10" spc="0" smtClean="0">
                        <a:ln w="9525">
                          <a:solidFill>
                            <a:srgbClr val="FF0000"/>
                          </a:solidFill>
                          <a:round/>
                          <a:headEnd/>
                          <a:tailEnd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rPr>
                      <a:t>x 0,1 N</a:t>
                    </a:r>
                    <a:endParaRPr lang="fr-FR" sz="800" kern="10" spc="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effectLst/>
                      <a:latin typeface="Times New Roman"/>
                      <a:cs typeface="Times New Roman"/>
                    </a:endParaRPr>
                  </a:p>
                </p:txBody>
              </p:sp>
            </p:grpSp>
            <p:sp>
              <p:nvSpPr>
                <p:cNvPr id="98354" name="AutoShape 50"/>
                <p:cNvSpPr>
                  <a:spLocks noChangeAspect="1" noChangeArrowheads="1"/>
                </p:cNvSpPr>
                <p:nvPr/>
              </p:nvSpPr>
              <p:spPr bwMode="auto">
                <a:xfrm rot="7896017">
                  <a:off x="5883" y="3824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355" name="AutoShape 51"/>
                <p:cNvSpPr>
                  <a:spLocks noChangeAspect="1" noChangeArrowheads="1"/>
                </p:cNvSpPr>
                <p:nvPr/>
              </p:nvSpPr>
              <p:spPr bwMode="auto">
                <a:xfrm rot="3815911">
                  <a:off x="5790" y="4559"/>
                  <a:ext cx="74" cy="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8356" name="Oval 52"/>
              <p:cNvSpPr>
                <a:spLocks noChangeArrowheads="1"/>
              </p:cNvSpPr>
              <p:nvPr/>
            </p:nvSpPr>
            <p:spPr bwMode="auto">
              <a:xfrm>
                <a:off x="5665" y="3560"/>
                <a:ext cx="1465" cy="1465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8357" name="AutoShape 53"/>
            <p:cNvSpPr>
              <a:spLocks noChangeArrowheads="1"/>
            </p:cNvSpPr>
            <p:nvPr/>
          </p:nvSpPr>
          <p:spPr bwMode="auto">
            <a:xfrm rot="3000000" flipH="1">
              <a:off x="2268" y="10717"/>
              <a:ext cx="98" cy="13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358" name="Oval 54"/>
            <p:cNvSpPr>
              <a:spLocks noChangeArrowheads="1"/>
            </p:cNvSpPr>
            <p:nvPr/>
          </p:nvSpPr>
          <p:spPr bwMode="auto">
            <a:xfrm rot="131619">
              <a:off x="2055" y="10739"/>
              <a:ext cx="268" cy="2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8359" name="Group 55"/>
            <p:cNvGrpSpPr>
              <a:grpSpLocks/>
            </p:cNvGrpSpPr>
            <p:nvPr/>
          </p:nvGrpSpPr>
          <p:grpSpPr bwMode="auto">
            <a:xfrm>
              <a:off x="1748" y="11797"/>
              <a:ext cx="1208" cy="1517"/>
              <a:chOff x="7590" y="9659"/>
              <a:chExt cx="1208" cy="1517"/>
            </a:xfrm>
          </p:grpSpPr>
          <p:grpSp>
            <p:nvGrpSpPr>
              <p:cNvPr id="98360" name="Group 56"/>
              <p:cNvGrpSpPr>
                <a:grpSpLocks/>
              </p:cNvGrpSpPr>
              <p:nvPr/>
            </p:nvGrpSpPr>
            <p:grpSpPr bwMode="auto">
              <a:xfrm>
                <a:off x="7590" y="9659"/>
                <a:ext cx="1208" cy="1517"/>
                <a:chOff x="5304" y="3092"/>
                <a:chExt cx="1315" cy="1646"/>
              </a:xfrm>
            </p:grpSpPr>
            <p:grpSp>
              <p:nvGrpSpPr>
                <p:cNvPr id="98361" name="Group 57"/>
                <p:cNvGrpSpPr>
                  <a:grpSpLocks/>
                </p:cNvGrpSpPr>
                <p:nvPr/>
              </p:nvGrpSpPr>
              <p:grpSpPr bwMode="auto">
                <a:xfrm>
                  <a:off x="5304" y="3092"/>
                  <a:ext cx="1315" cy="1646"/>
                  <a:chOff x="5304" y="3092"/>
                  <a:chExt cx="1315" cy="1646"/>
                </a:xfrm>
              </p:grpSpPr>
              <p:sp>
                <p:nvSpPr>
                  <p:cNvPr id="98362" name="AutoShape 58"/>
                  <p:cNvSpPr>
                    <a:spLocks noChangeArrowheads="1"/>
                  </p:cNvSpPr>
                  <p:nvPr/>
                </p:nvSpPr>
                <p:spPr bwMode="auto">
                  <a:xfrm>
                    <a:off x="5377" y="3140"/>
                    <a:ext cx="1065" cy="1560"/>
                  </a:xfrm>
                  <a:prstGeom prst="roundRect">
                    <a:avLst>
                      <a:gd name="adj" fmla="val 8264"/>
                    </a:avLst>
                  </a:prstGeom>
                  <a:gradFill rotWithShape="0">
                    <a:gsLst>
                      <a:gs pos="0">
                        <a:srgbClr val="FFFFFF">
                          <a:gamma/>
                          <a:shade val="7725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77255"/>
                          <a:invGamma/>
                        </a:srgbClr>
                      </a:gs>
                    </a:gsLst>
                    <a:lin ang="0" scaled="1"/>
                  </a:gra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3" name="Freeform 59"/>
                  <p:cNvSpPr>
                    <a:spLocks/>
                  </p:cNvSpPr>
                  <p:nvPr/>
                </p:nvSpPr>
                <p:spPr bwMode="auto">
                  <a:xfrm>
                    <a:off x="6425" y="3176"/>
                    <a:ext cx="129" cy="156"/>
                  </a:xfrm>
                  <a:custGeom>
                    <a:avLst/>
                    <a:gdLst/>
                    <a:ahLst/>
                    <a:cxnLst>
                      <a:cxn ang="0">
                        <a:pos x="0" y="27"/>
                      </a:cxn>
                      <a:cxn ang="0">
                        <a:pos x="0" y="156"/>
                      </a:cxn>
                      <a:cxn ang="0">
                        <a:pos x="30" y="153"/>
                      </a:cxn>
                      <a:cxn ang="0">
                        <a:pos x="66" y="45"/>
                      </a:cxn>
                      <a:cxn ang="0">
                        <a:pos x="129" y="0"/>
                      </a:cxn>
                      <a:cxn ang="0">
                        <a:pos x="0" y="27"/>
                      </a:cxn>
                    </a:cxnLst>
                    <a:rect l="0" t="0" r="r" b="b"/>
                    <a:pathLst>
                      <a:path w="129" h="156">
                        <a:moveTo>
                          <a:pt x="0" y="27"/>
                        </a:moveTo>
                        <a:lnTo>
                          <a:pt x="0" y="156"/>
                        </a:lnTo>
                        <a:lnTo>
                          <a:pt x="30" y="153"/>
                        </a:lnTo>
                        <a:lnTo>
                          <a:pt x="66" y="45"/>
                        </a:lnTo>
                        <a:lnTo>
                          <a:pt x="129" y="0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4" name="Arc 60"/>
                  <p:cNvSpPr>
                    <a:spLocks/>
                  </p:cNvSpPr>
                  <p:nvPr/>
                </p:nvSpPr>
                <p:spPr bwMode="auto">
                  <a:xfrm>
                    <a:off x="5306" y="3152"/>
                    <a:ext cx="71" cy="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5" name="Arc 61"/>
                  <p:cNvSpPr>
                    <a:spLocks/>
                  </p:cNvSpPr>
                  <p:nvPr/>
                </p:nvSpPr>
                <p:spPr bwMode="auto">
                  <a:xfrm flipH="1">
                    <a:off x="6440" y="3152"/>
                    <a:ext cx="179" cy="251"/>
                  </a:xfrm>
                  <a:custGeom>
                    <a:avLst/>
                    <a:gdLst>
                      <a:gd name="G0" fmla="+- 182 0 0"/>
                      <a:gd name="G1" fmla="+- 21600 0 0"/>
                      <a:gd name="G2" fmla="+- 21600 0 0"/>
                      <a:gd name="T0" fmla="*/ 0 w 21772"/>
                      <a:gd name="T1" fmla="*/ 1 h 21600"/>
                      <a:gd name="T2" fmla="*/ 21772 w 21772"/>
                      <a:gd name="T3" fmla="*/ 20951 h 21600"/>
                      <a:gd name="T4" fmla="*/ 182 w 21772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772" h="21600" fill="none" extrusionOk="0">
                        <a:moveTo>
                          <a:pt x="-1" y="0"/>
                        </a:moveTo>
                        <a:cubicBezTo>
                          <a:pt x="60" y="0"/>
                          <a:pt x="121" y="-1"/>
                          <a:pt x="182" y="0"/>
                        </a:cubicBezTo>
                        <a:cubicBezTo>
                          <a:pt x="11858" y="0"/>
                          <a:pt x="21421" y="9279"/>
                          <a:pt x="21772" y="20950"/>
                        </a:cubicBezTo>
                      </a:path>
                      <a:path w="21772" h="21600" stroke="0" extrusionOk="0">
                        <a:moveTo>
                          <a:pt x="-1" y="0"/>
                        </a:moveTo>
                        <a:cubicBezTo>
                          <a:pt x="60" y="0"/>
                          <a:pt x="121" y="-1"/>
                          <a:pt x="182" y="0"/>
                        </a:cubicBezTo>
                        <a:cubicBezTo>
                          <a:pt x="11858" y="0"/>
                          <a:pt x="21421" y="9279"/>
                          <a:pt x="21772" y="20950"/>
                        </a:cubicBezTo>
                        <a:lnTo>
                          <a:pt x="182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6" name="Oval 62"/>
                  <p:cNvSpPr>
                    <a:spLocks noChangeArrowheads="1"/>
                  </p:cNvSpPr>
                  <p:nvPr/>
                </p:nvSpPr>
                <p:spPr bwMode="auto">
                  <a:xfrm>
                    <a:off x="5304" y="3092"/>
                    <a:ext cx="1301" cy="12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7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5413" y="4644"/>
                    <a:ext cx="985" cy="9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68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5419" y="4632"/>
                    <a:ext cx="973" cy="97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>
                          <a:gamma/>
                          <a:shade val="46275"/>
                          <a:invGamma/>
                        </a:srgbClr>
                      </a:gs>
                      <a:gs pos="50000">
                        <a:srgbClr val="FFFFFF"/>
                      </a:gs>
                      <a:gs pos="100000">
                        <a:srgbClr val="FFFFFF">
                          <a:gamma/>
                          <a:shade val="46275"/>
                          <a:invGamma/>
                        </a:srgbClr>
                      </a:gs>
                    </a:gsLst>
                    <a:lin ang="0" scaled="1"/>
                  </a:gra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369" name="Group 65"/>
                <p:cNvGrpSpPr>
                  <a:grpSpLocks/>
                </p:cNvGrpSpPr>
                <p:nvPr/>
              </p:nvGrpSpPr>
              <p:grpSpPr bwMode="auto">
                <a:xfrm>
                  <a:off x="5378" y="3656"/>
                  <a:ext cx="1036" cy="1074"/>
                  <a:chOff x="1223" y="1511"/>
                  <a:chExt cx="1036" cy="1074"/>
                </a:xfrm>
              </p:grpSpPr>
              <p:sp>
                <p:nvSpPr>
                  <p:cNvPr id="98370" name="Freeform 66"/>
                  <p:cNvSpPr>
                    <a:spLocks/>
                  </p:cNvSpPr>
                  <p:nvPr/>
                </p:nvSpPr>
                <p:spPr bwMode="auto">
                  <a:xfrm>
                    <a:off x="1223" y="1567"/>
                    <a:ext cx="1036" cy="10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936"/>
                      </a:cxn>
                      <a:cxn ang="0">
                        <a:pos x="24" y="970"/>
                      </a:cxn>
                      <a:cxn ang="0">
                        <a:pos x="60" y="991"/>
                      </a:cxn>
                      <a:cxn ang="0">
                        <a:pos x="138" y="1000"/>
                      </a:cxn>
                      <a:cxn ang="0">
                        <a:pos x="480" y="1018"/>
                      </a:cxn>
                      <a:cxn ang="0">
                        <a:pos x="909" y="1000"/>
                      </a:cxn>
                      <a:cxn ang="0">
                        <a:pos x="999" y="982"/>
                      </a:cxn>
                      <a:cxn ang="0">
                        <a:pos x="1036" y="957"/>
                      </a:cxn>
                      <a:cxn ang="0">
                        <a:pos x="1036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036" h="1018">
                        <a:moveTo>
                          <a:pt x="0" y="0"/>
                        </a:moveTo>
                        <a:lnTo>
                          <a:pt x="0" y="936"/>
                        </a:lnTo>
                        <a:lnTo>
                          <a:pt x="24" y="970"/>
                        </a:lnTo>
                        <a:lnTo>
                          <a:pt x="60" y="991"/>
                        </a:lnTo>
                        <a:lnTo>
                          <a:pt x="138" y="1000"/>
                        </a:lnTo>
                        <a:lnTo>
                          <a:pt x="480" y="1018"/>
                        </a:lnTo>
                        <a:lnTo>
                          <a:pt x="909" y="1000"/>
                        </a:lnTo>
                        <a:lnTo>
                          <a:pt x="999" y="982"/>
                        </a:lnTo>
                        <a:lnTo>
                          <a:pt x="1036" y="957"/>
                        </a:lnTo>
                        <a:lnTo>
                          <a:pt x="103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DB3E2">
                      <a:alpha val="50000"/>
                    </a:srgbClr>
                  </a:solidFill>
                  <a:ln w="317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71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1224" y="1511"/>
                    <a:ext cx="1033" cy="97"/>
                  </a:xfrm>
                  <a:prstGeom prst="ellipse">
                    <a:avLst/>
                  </a:prstGeom>
                  <a:solidFill>
                    <a:srgbClr val="8DB3E2">
                      <a:alpha val="50000"/>
                    </a:srgbClr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98372" name="Group 68"/>
              <p:cNvGrpSpPr>
                <a:grpSpLocks/>
              </p:cNvGrpSpPr>
              <p:nvPr/>
            </p:nvGrpSpPr>
            <p:grpSpPr bwMode="auto">
              <a:xfrm>
                <a:off x="7666" y="9810"/>
                <a:ext cx="190" cy="1309"/>
                <a:chOff x="8010" y="12054"/>
                <a:chExt cx="417" cy="1049"/>
              </a:xfrm>
            </p:grpSpPr>
            <p:grpSp>
              <p:nvGrpSpPr>
                <p:cNvPr id="98373" name="Group 69"/>
                <p:cNvGrpSpPr>
                  <a:grpSpLocks/>
                </p:cNvGrpSpPr>
                <p:nvPr/>
              </p:nvGrpSpPr>
              <p:grpSpPr bwMode="auto">
                <a:xfrm flipH="1">
                  <a:off x="8010" y="12054"/>
                  <a:ext cx="417" cy="147"/>
                  <a:chOff x="2445" y="11931"/>
                  <a:chExt cx="432" cy="204"/>
                </a:xfrm>
              </p:grpSpPr>
              <p:sp>
                <p:nvSpPr>
                  <p:cNvPr id="98374" name="Freeform 70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75" name="Freeform 71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76" name="Freeform 72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77" name="Freeform 73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78" name="Freeform 74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379" name="Group 75"/>
                <p:cNvGrpSpPr>
                  <a:grpSpLocks/>
                </p:cNvGrpSpPr>
                <p:nvPr/>
              </p:nvGrpSpPr>
              <p:grpSpPr bwMode="auto">
                <a:xfrm flipH="1">
                  <a:off x="8010" y="12226"/>
                  <a:ext cx="417" cy="147"/>
                  <a:chOff x="2445" y="11931"/>
                  <a:chExt cx="432" cy="204"/>
                </a:xfrm>
              </p:grpSpPr>
              <p:sp>
                <p:nvSpPr>
                  <p:cNvPr id="98380" name="Freeform 76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1" name="Freeform 77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2" name="Freeform 78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3" name="Freeform 79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4" name="Freeform 80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385" name="Group 81"/>
                <p:cNvGrpSpPr>
                  <a:grpSpLocks/>
                </p:cNvGrpSpPr>
                <p:nvPr/>
              </p:nvGrpSpPr>
              <p:grpSpPr bwMode="auto">
                <a:xfrm flipH="1">
                  <a:off x="8010" y="12398"/>
                  <a:ext cx="417" cy="146"/>
                  <a:chOff x="2445" y="11931"/>
                  <a:chExt cx="432" cy="204"/>
                </a:xfrm>
              </p:grpSpPr>
              <p:sp>
                <p:nvSpPr>
                  <p:cNvPr id="98386" name="Freeform 82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7" name="Freeform 83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8" name="Freeform 84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89" name="Freeform 85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0" name="Freeform 86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391" name="Group 87"/>
                <p:cNvGrpSpPr>
                  <a:grpSpLocks/>
                </p:cNvGrpSpPr>
                <p:nvPr/>
              </p:nvGrpSpPr>
              <p:grpSpPr bwMode="auto">
                <a:xfrm flipH="1">
                  <a:off x="8010" y="12569"/>
                  <a:ext cx="417" cy="146"/>
                  <a:chOff x="2445" y="11931"/>
                  <a:chExt cx="432" cy="204"/>
                </a:xfrm>
              </p:grpSpPr>
              <p:sp>
                <p:nvSpPr>
                  <p:cNvPr id="98392" name="Freeform 88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3" name="Freeform 89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4" name="Freeform 90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5" name="Freeform 91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6" name="Freeform 92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397" name="Group 93"/>
                <p:cNvGrpSpPr>
                  <a:grpSpLocks/>
                </p:cNvGrpSpPr>
                <p:nvPr/>
              </p:nvGrpSpPr>
              <p:grpSpPr bwMode="auto">
                <a:xfrm flipH="1">
                  <a:off x="8010" y="12739"/>
                  <a:ext cx="417" cy="147"/>
                  <a:chOff x="2445" y="11931"/>
                  <a:chExt cx="432" cy="204"/>
                </a:xfrm>
              </p:grpSpPr>
              <p:sp>
                <p:nvSpPr>
                  <p:cNvPr id="98398" name="Freeform 94"/>
                  <p:cNvSpPr>
                    <a:spLocks/>
                  </p:cNvSpPr>
                  <p:nvPr/>
                </p:nvSpPr>
                <p:spPr bwMode="auto">
                  <a:xfrm>
                    <a:off x="2445" y="11931"/>
                    <a:ext cx="432" cy="28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222" y="24"/>
                      </a:cxn>
                      <a:cxn ang="0">
                        <a:pos x="432" y="0"/>
                      </a:cxn>
                    </a:cxnLst>
                    <a:rect l="0" t="0" r="r" b="b"/>
                    <a:pathLst>
                      <a:path w="432" h="28">
                        <a:moveTo>
                          <a:pt x="0" y="24"/>
                        </a:moveTo>
                        <a:cubicBezTo>
                          <a:pt x="37" y="24"/>
                          <a:pt x="150" y="28"/>
                          <a:pt x="222" y="24"/>
                        </a:cubicBezTo>
                        <a:cubicBezTo>
                          <a:pt x="294" y="20"/>
                          <a:pt x="388" y="5"/>
                          <a:pt x="432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399" name="Freeform 95"/>
                  <p:cNvSpPr>
                    <a:spLocks/>
                  </p:cNvSpPr>
                  <p:nvPr/>
                </p:nvSpPr>
                <p:spPr bwMode="auto">
                  <a:xfrm>
                    <a:off x="2631" y="11979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400" name="Freeform 96"/>
                  <p:cNvSpPr>
                    <a:spLocks/>
                  </p:cNvSpPr>
                  <p:nvPr/>
                </p:nvSpPr>
                <p:spPr bwMode="auto">
                  <a:xfrm>
                    <a:off x="2631" y="12023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401" name="Freeform 97"/>
                  <p:cNvSpPr>
                    <a:spLocks/>
                  </p:cNvSpPr>
                  <p:nvPr/>
                </p:nvSpPr>
                <p:spPr bwMode="auto">
                  <a:xfrm>
                    <a:off x="2631" y="12067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8402" name="Freeform 98"/>
                  <p:cNvSpPr>
                    <a:spLocks/>
                  </p:cNvSpPr>
                  <p:nvPr/>
                </p:nvSpPr>
                <p:spPr bwMode="auto">
                  <a:xfrm>
                    <a:off x="2631" y="12111"/>
                    <a:ext cx="246" cy="24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29" y="15"/>
                      </a:cxn>
                      <a:cxn ang="0">
                        <a:pos x="246" y="0"/>
                      </a:cxn>
                    </a:cxnLst>
                    <a:rect l="0" t="0" r="r" b="b"/>
                    <a:pathLst>
                      <a:path w="246" h="24">
                        <a:moveTo>
                          <a:pt x="0" y="24"/>
                        </a:moveTo>
                        <a:cubicBezTo>
                          <a:pt x="21" y="23"/>
                          <a:pt x="88" y="19"/>
                          <a:pt x="129" y="15"/>
                        </a:cubicBezTo>
                        <a:cubicBezTo>
                          <a:pt x="170" y="11"/>
                          <a:pt x="222" y="3"/>
                          <a:pt x="246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272727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98403" name="Freeform 99"/>
                <p:cNvSpPr>
                  <a:spLocks/>
                </p:cNvSpPr>
                <p:nvPr/>
              </p:nvSpPr>
              <p:spPr bwMode="auto">
                <a:xfrm flipH="1">
                  <a:off x="8010" y="12912"/>
                  <a:ext cx="417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404" name="Freeform 100"/>
                <p:cNvSpPr>
                  <a:spLocks/>
                </p:cNvSpPr>
                <p:nvPr/>
              </p:nvSpPr>
              <p:spPr bwMode="auto">
                <a:xfrm flipH="1">
                  <a:off x="8010" y="12945"/>
                  <a:ext cx="238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405" name="Freeform 101"/>
                <p:cNvSpPr>
                  <a:spLocks/>
                </p:cNvSpPr>
                <p:nvPr/>
              </p:nvSpPr>
              <p:spPr bwMode="auto">
                <a:xfrm flipH="1">
                  <a:off x="8010" y="12977"/>
                  <a:ext cx="238" cy="18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406" name="Freeform 102"/>
                <p:cNvSpPr>
                  <a:spLocks/>
                </p:cNvSpPr>
                <p:nvPr/>
              </p:nvSpPr>
              <p:spPr bwMode="auto">
                <a:xfrm flipH="1">
                  <a:off x="8010" y="13009"/>
                  <a:ext cx="238" cy="17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407" name="Freeform 103"/>
                <p:cNvSpPr>
                  <a:spLocks/>
                </p:cNvSpPr>
                <p:nvPr/>
              </p:nvSpPr>
              <p:spPr bwMode="auto">
                <a:xfrm flipH="1">
                  <a:off x="8010" y="13041"/>
                  <a:ext cx="238" cy="16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129" y="15"/>
                    </a:cxn>
                    <a:cxn ang="0">
                      <a:pos x="246" y="0"/>
                    </a:cxn>
                  </a:cxnLst>
                  <a:rect l="0" t="0" r="r" b="b"/>
                  <a:pathLst>
                    <a:path w="246" h="24">
                      <a:moveTo>
                        <a:pt x="0" y="24"/>
                      </a:moveTo>
                      <a:cubicBezTo>
                        <a:pt x="21" y="23"/>
                        <a:pt x="88" y="19"/>
                        <a:pt x="129" y="15"/>
                      </a:cubicBezTo>
                      <a:cubicBezTo>
                        <a:pt x="170" y="11"/>
                        <a:pt x="222" y="3"/>
                        <a:pt x="246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98408" name="Freeform 104"/>
                <p:cNvSpPr>
                  <a:spLocks/>
                </p:cNvSpPr>
                <p:nvPr/>
              </p:nvSpPr>
              <p:spPr bwMode="auto">
                <a:xfrm flipH="1">
                  <a:off x="8010" y="13083"/>
                  <a:ext cx="417" cy="20"/>
                </a:xfrm>
                <a:custGeom>
                  <a:avLst/>
                  <a:gdLst/>
                  <a:ahLst/>
                  <a:cxnLst>
                    <a:cxn ang="0">
                      <a:pos x="0" y="24"/>
                    </a:cxn>
                    <a:cxn ang="0">
                      <a:pos x="222" y="24"/>
                    </a:cxn>
                    <a:cxn ang="0">
                      <a:pos x="432" y="0"/>
                    </a:cxn>
                  </a:cxnLst>
                  <a:rect l="0" t="0" r="r" b="b"/>
                  <a:pathLst>
                    <a:path w="432" h="28">
                      <a:moveTo>
                        <a:pt x="0" y="24"/>
                      </a:moveTo>
                      <a:cubicBezTo>
                        <a:pt x="37" y="24"/>
                        <a:pt x="150" y="28"/>
                        <a:pt x="222" y="24"/>
                      </a:cubicBezTo>
                      <a:cubicBezTo>
                        <a:pt x="294" y="20"/>
                        <a:pt x="388" y="5"/>
                        <a:pt x="432" y="0"/>
                      </a:cubicBezTo>
                    </a:path>
                  </a:pathLst>
                </a:custGeom>
                <a:noFill/>
                <a:ln w="3175">
                  <a:solidFill>
                    <a:srgbClr val="272727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</p:grpSp>
        <p:sp>
          <p:nvSpPr>
            <p:cNvPr id="98409" name="AutoShape 105"/>
            <p:cNvSpPr>
              <a:spLocks noChangeArrowheads="1"/>
            </p:cNvSpPr>
            <p:nvPr/>
          </p:nvSpPr>
          <p:spPr bwMode="auto">
            <a:xfrm>
              <a:off x="2099" y="12530"/>
              <a:ext cx="453" cy="493"/>
            </a:xfrm>
            <a:prstGeom prst="cube">
              <a:avLst>
                <a:gd name="adj" fmla="val 24972"/>
              </a:avLst>
            </a:prstGeom>
            <a:gradFill rotWithShape="1"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1"/>
            </a:gra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410" name="Freeform 106"/>
            <p:cNvSpPr>
              <a:spLocks/>
            </p:cNvSpPr>
            <p:nvPr/>
          </p:nvSpPr>
          <p:spPr bwMode="auto">
            <a:xfrm>
              <a:off x="2239" y="10872"/>
              <a:ext cx="114" cy="2146"/>
            </a:xfrm>
            <a:custGeom>
              <a:avLst/>
              <a:gdLst/>
              <a:ahLst/>
              <a:cxnLst>
                <a:cxn ang="0">
                  <a:pos x="83" y="0"/>
                </a:cxn>
                <a:cxn ang="0">
                  <a:pos x="114" y="1694"/>
                </a:cxn>
                <a:cxn ang="0">
                  <a:pos x="4" y="1774"/>
                </a:cxn>
                <a:cxn ang="0">
                  <a:pos x="0" y="2146"/>
                </a:cxn>
              </a:cxnLst>
              <a:rect l="0" t="0" r="r" b="b"/>
              <a:pathLst>
                <a:path w="114" h="2146">
                  <a:moveTo>
                    <a:pt x="83" y="0"/>
                  </a:moveTo>
                  <a:lnTo>
                    <a:pt x="114" y="1694"/>
                  </a:lnTo>
                  <a:lnTo>
                    <a:pt x="4" y="1774"/>
                  </a:lnTo>
                  <a:lnTo>
                    <a:pt x="0" y="214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411" name="Freeform 107"/>
            <p:cNvSpPr>
              <a:spLocks/>
            </p:cNvSpPr>
            <p:nvPr/>
          </p:nvSpPr>
          <p:spPr bwMode="auto">
            <a:xfrm>
              <a:off x="2310" y="12483"/>
              <a:ext cx="111" cy="85"/>
            </a:xfrm>
            <a:custGeom>
              <a:avLst/>
              <a:gdLst/>
              <a:ahLst/>
              <a:cxnLst>
                <a:cxn ang="0">
                  <a:pos x="111" y="43"/>
                </a:cxn>
                <a:cxn ang="0">
                  <a:pos x="31" y="79"/>
                </a:cxn>
                <a:cxn ang="0">
                  <a:pos x="0" y="44"/>
                </a:cxn>
                <a:cxn ang="0">
                  <a:pos x="76" y="55"/>
                </a:cxn>
                <a:cxn ang="0">
                  <a:pos x="49" y="85"/>
                </a:cxn>
                <a:cxn ang="0">
                  <a:pos x="0" y="0"/>
                </a:cxn>
              </a:cxnLst>
              <a:rect l="0" t="0" r="r" b="b"/>
              <a:pathLst>
                <a:path w="111" h="85">
                  <a:moveTo>
                    <a:pt x="111" y="43"/>
                  </a:moveTo>
                  <a:lnTo>
                    <a:pt x="31" y="79"/>
                  </a:lnTo>
                  <a:lnTo>
                    <a:pt x="0" y="44"/>
                  </a:lnTo>
                  <a:lnTo>
                    <a:pt x="76" y="55"/>
                  </a:lnTo>
                  <a:lnTo>
                    <a:pt x="49" y="8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98412" name="AutoShape 108"/>
            <p:cNvCxnSpPr>
              <a:cxnSpLocks noChangeShapeType="1"/>
            </p:cNvCxnSpPr>
            <p:nvPr/>
          </p:nvCxnSpPr>
          <p:spPr bwMode="auto">
            <a:xfrm flipV="1">
              <a:off x="2331" y="12479"/>
              <a:ext cx="58" cy="7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98413" name="AutoShape 109"/>
            <p:cNvCxnSpPr>
              <a:cxnSpLocks noChangeShapeType="1"/>
            </p:cNvCxnSpPr>
            <p:nvPr/>
          </p:nvCxnSpPr>
          <p:spPr bwMode="auto">
            <a:xfrm flipH="1">
              <a:off x="2578" y="13187"/>
              <a:ext cx="44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</p:cxnSp>
        <p:sp>
          <p:nvSpPr>
            <p:cNvPr id="132" name="Text Box 7"/>
            <p:cNvSpPr txBox="1">
              <a:spLocks noChangeArrowheads="1"/>
            </p:cNvSpPr>
            <p:nvPr/>
          </p:nvSpPr>
          <p:spPr bwMode="auto">
            <a:xfrm>
              <a:off x="2581" y="11204"/>
              <a:ext cx="85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F</a:t>
              </a:r>
              <a:r>
                <a:rPr kumimoji="0" lang="fr-FR" sz="12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  </a:t>
              </a:r>
              <a:r>
                <a:rPr kumimoji="0" lang="fr-F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= 0.1N</a:t>
              </a:r>
              <a:endParaRPr kumimoji="0" lang="fr-FR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8415" name="Text Box 111"/>
          <p:cNvSpPr txBox="1">
            <a:spLocks noChangeArrowheads="1"/>
          </p:cNvSpPr>
          <p:nvPr/>
        </p:nvSpPr>
        <p:spPr bwMode="auto">
          <a:xfrm>
            <a:off x="2824222" y="1192193"/>
            <a:ext cx="1169043" cy="358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b="0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  <a:sym typeface="Symbol" pitchFamily="18" charset="2"/>
              </a:rPr>
              <a:t>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= </a:t>
            </a:r>
            <a:r>
              <a:rPr kumimoji="0" lang="fr-FR" sz="2000" b="0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m</a:t>
            </a:r>
            <a:r>
              <a:rPr kumimoji="0" lang="ar-DZ" sz="2000" b="0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/</a:t>
            </a:r>
            <a:r>
              <a:rPr kumimoji="0" lang="fr-FR" sz="2000" b="0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V</a:t>
            </a: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9" name="Groupe 138"/>
          <p:cNvGrpSpPr/>
          <p:nvPr/>
        </p:nvGrpSpPr>
        <p:grpSpPr>
          <a:xfrm>
            <a:off x="2967705" y="2197113"/>
            <a:ext cx="8896709" cy="1938992"/>
            <a:chOff x="2967705" y="2197113"/>
            <a:chExt cx="8896709" cy="1938992"/>
          </a:xfrm>
        </p:grpSpPr>
        <p:sp>
          <p:nvSpPr>
            <p:cNvPr id="20" name="Rectangle 19"/>
            <p:cNvSpPr/>
            <p:nvPr/>
          </p:nvSpPr>
          <p:spPr>
            <a:xfrm>
              <a:off x="2967705" y="2197113"/>
              <a:ext cx="889670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  <a:sym typeface="Wingdings"/>
                </a:rPr>
                <a:t>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أحسب ثقل الجسم الحقيقي ثم استنتج شدة دافعة </a:t>
              </a:r>
              <a:r>
                <a:rPr lang="ar-DZ" sz="2400" b="1" dirty="0" err="1" smtClean="0">
                  <a:latin typeface="Traditional Arabic" pitchFamily="18" charset="-78"/>
                  <a:cs typeface="Traditional Arabic" pitchFamily="18" charset="-78"/>
                </a:rPr>
                <a:t>أرخميدس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 المؤثرة</a:t>
              </a:r>
              <a:r>
                <a:rPr lang="fr-FR" sz="2400" b="1" dirty="0" smtClean="0">
                  <a:latin typeface="Traditional Arabic" pitchFamily="18" charset="-78"/>
                  <a:cs typeface="Traditional Arabic" pitchFamily="18" charset="-78"/>
                </a:rPr>
                <a:t> 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على هذا الجسم(</a:t>
              </a:r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</a:rPr>
                <a:t>s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).</a:t>
              </a:r>
            </a:p>
            <a:p>
              <a:pPr algn="r" rtl="1"/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  <a:sym typeface="Wingdings"/>
                </a:rPr>
                <a:t>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أحسب الكتلة </a:t>
              </a:r>
              <a:r>
                <a:rPr lang="ar-DZ" sz="2400" b="1" dirty="0" err="1" smtClean="0">
                  <a:latin typeface="Traditional Arabic" pitchFamily="18" charset="-78"/>
                  <a:cs typeface="Traditional Arabic" pitchFamily="18" charset="-78"/>
                </a:rPr>
                <a:t>الحجمية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 (</a:t>
              </a:r>
              <a:r>
                <a:rPr lang="ar-DZ" sz="2400" b="1" baseline="-25000" dirty="0" smtClean="0">
                  <a:latin typeface="Traditional Arabic" pitchFamily="18" charset="-78"/>
                  <a:cs typeface="Traditional Arabic" pitchFamily="18" charset="-78"/>
                </a:rPr>
                <a:t>الجسم</a:t>
              </a:r>
              <a:r>
                <a:rPr lang="en-US" sz="2400" b="1" i="1" dirty="0" smtClean="0">
                  <a:latin typeface="Traditional Arabic" pitchFamily="18" charset="-78"/>
                  <a:cs typeface="Traditional Arabic" pitchFamily="18" charset="-78"/>
                  <a:sym typeface="Symbol"/>
                </a:rPr>
                <a:t>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 لهذا الجسم (</a:t>
              </a:r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</a:rPr>
                <a:t>s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 ( يمكن استعمال طريقة الغمر لقياس الحجم)</a:t>
              </a:r>
            </a:p>
            <a:p>
              <a:pPr algn="r" rtl="1"/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  <a:sym typeface="Wingdings"/>
                </a:rPr>
                <a:t>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استنتج كثافة الجسم (</a:t>
              </a:r>
              <a:r>
                <a:rPr lang="en-US" sz="2400" b="1" i="1" dirty="0" smtClean="0">
                  <a:latin typeface="Traditional Arabic" pitchFamily="18" charset="-78"/>
                  <a:cs typeface="Traditional Arabic" pitchFamily="18" charset="-78"/>
                </a:rPr>
                <a:t>d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  بالنسبة للماء.</a:t>
              </a:r>
            </a:p>
            <a:p>
              <a:pPr algn="r" rtl="1"/>
              <a:r>
                <a:rPr lang="en-US" sz="2400" b="1" dirty="0" smtClean="0">
                  <a:latin typeface="Traditional Arabic" pitchFamily="18" charset="-78"/>
                  <a:cs typeface="Traditional Arabic" pitchFamily="18" charset="-78"/>
                  <a:sym typeface="Wingdings"/>
                </a:rPr>
                <a:t>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أحسب حاصل قسمة الثقل الحقيقي على دافعة </a:t>
              </a:r>
              <a:r>
                <a:rPr lang="ar-DZ" sz="2400" b="1" dirty="0" err="1" smtClean="0">
                  <a:latin typeface="Traditional Arabic" pitchFamily="18" charset="-78"/>
                  <a:cs typeface="Traditional Arabic" pitchFamily="18" charset="-78"/>
                </a:rPr>
                <a:t>أرخميدس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 (</a:t>
              </a:r>
              <a:r>
                <a:rPr lang="fr-FR" sz="2400" b="1" i="1" dirty="0" smtClean="0">
                  <a:latin typeface="Traditional Arabic" pitchFamily="18" charset="-78"/>
                  <a:cs typeface="Traditional Arabic" pitchFamily="18" charset="-78"/>
                </a:rPr>
                <a:t>P</a:t>
              </a:r>
              <a:r>
                <a:rPr lang="fr-FR" sz="2400" b="1" dirty="0" smtClean="0">
                  <a:latin typeface="Traditional Arabic" pitchFamily="18" charset="-78"/>
                  <a:cs typeface="Traditional Arabic" pitchFamily="18" charset="-78"/>
                </a:rPr>
                <a:t>/</a:t>
              </a:r>
              <a:r>
                <a:rPr lang="fr-FR" sz="2400" b="1" i="1" dirty="0" smtClean="0">
                  <a:latin typeface="Traditional Arabic" pitchFamily="18" charset="-78"/>
                  <a:cs typeface="Traditional Arabic" pitchFamily="18" charset="-78"/>
                </a:rPr>
                <a:t>F</a:t>
              </a:r>
              <a:r>
                <a:rPr lang="fr-FR" sz="2400" b="1" i="1" baseline="-25000" dirty="0" smtClean="0">
                  <a:latin typeface="Traditional Arabic" pitchFamily="18" charset="-78"/>
                  <a:cs typeface="Traditional Arabic" pitchFamily="18" charset="-78"/>
                </a:rPr>
                <a:t>A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 ثم قارن النتيجة مع كثافة الجسم (</a:t>
              </a:r>
              <a:r>
                <a:rPr lang="en-US" sz="2400" b="1" i="1" dirty="0" smtClean="0">
                  <a:latin typeface="Traditional Arabic" pitchFamily="18" charset="-78"/>
                  <a:cs typeface="Traditional Arabic" pitchFamily="18" charset="-78"/>
                </a:rPr>
                <a:t>d</a:t>
              </a:r>
              <a:r>
                <a:rPr lang="ar-DZ" sz="2400" b="1" dirty="0" smtClean="0">
                  <a:latin typeface="Traditional Arabic" pitchFamily="18" charset="-78"/>
                  <a:cs typeface="Traditional Arabic" pitchFamily="18" charset="-78"/>
                </a:rPr>
                <a:t>) ما ذا تستنتج؟</a:t>
              </a:r>
              <a:endParaRPr lang="fr-FR" sz="2400" b="1" dirty="0">
                <a:latin typeface="Traditional Arabic" pitchFamily="18" charset="-78"/>
                <a:cs typeface="Traditional Arabic" pitchFamily="18" charset="-78"/>
              </a:endParaRPr>
            </a:p>
          </p:txBody>
        </p:sp>
        <p:grpSp>
          <p:nvGrpSpPr>
            <p:cNvPr id="98416" name="Group 112"/>
            <p:cNvGrpSpPr>
              <a:grpSpLocks/>
            </p:cNvGrpSpPr>
            <p:nvPr/>
          </p:nvGrpSpPr>
          <p:grpSpPr bwMode="auto">
            <a:xfrm>
              <a:off x="5359309" y="2986508"/>
              <a:ext cx="1744219" cy="474322"/>
              <a:chOff x="5161" y="9935"/>
              <a:chExt cx="2582" cy="823"/>
            </a:xfrm>
          </p:grpSpPr>
          <p:sp>
            <p:nvSpPr>
              <p:cNvPr id="98417" name="Text Box 113"/>
              <p:cNvSpPr txBox="1">
                <a:spLocks noChangeArrowheads="1"/>
              </p:cNvSpPr>
              <p:nvPr/>
            </p:nvSpPr>
            <p:spPr bwMode="auto">
              <a:xfrm>
                <a:off x="5161" y="9935"/>
                <a:ext cx="2553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b="1" i="1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d</a:t>
                </a:r>
                <a:r>
                  <a:rPr kumimoji="0" lang="ar-DZ" b="1" i="1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 </a:t>
                </a:r>
                <a:r>
                  <a:rPr kumimoji="0" lang="fr-FR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 </a:t>
                </a:r>
                <a:r>
                  <a:rPr kumimoji="0" lang="ar-DZ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 </a:t>
                </a:r>
                <a:r>
                  <a:rPr kumimoji="0" lang="fr-FR" sz="2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= </a:t>
                </a:r>
                <a:r>
                  <a:rPr kumimoji="0" lang="fr-FR" sz="2000" b="1" i="1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  <a:sym typeface="Symbol" pitchFamily="18" charset="2"/>
                  </a:rPr>
                  <a:t></a:t>
                </a:r>
                <a:r>
                  <a:rPr kumimoji="0" lang="fr-FR" sz="2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  </a:t>
                </a:r>
                <a:r>
                  <a:rPr kumimoji="0" lang="ar-DZ" sz="2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   </a:t>
                </a:r>
                <a:r>
                  <a:rPr kumimoji="0" lang="fr-FR" sz="2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/ </a:t>
                </a:r>
                <a:r>
                  <a:rPr kumimoji="0" lang="fr-FR" sz="2000" b="1" i="1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  <a:sym typeface="Symbol" pitchFamily="18" charset="2"/>
                  </a:rPr>
                  <a:t></a:t>
                </a:r>
                <a:endParaRPr kumimoji="0" lang="fr-FR" sz="3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418" name="Text Box 114"/>
              <p:cNvSpPr txBox="1">
                <a:spLocks noChangeArrowheads="1"/>
              </p:cNvSpPr>
              <p:nvPr/>
            </p:nvSpPr>
            <p:spPr bwMode="auto">
              <a:xfrm>
                <a:off x="6426" y="10203"/>
                <a:ext cx="536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ar-SA" sz="14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الجسم</a:t>
                </a:r>
                <a:endParaRPr kumimoji="0" lang="fr-FR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419" name="Text Box 115"/>
              <p:cNvSpPr txBox="1">
                <a:spLocks noChangeArrowheads="1"/>
              </p:cNvSpPr>
              <p:nvPr/>
            </p:nvSpPr>
            <p:spPr bwMode="auto">
              <a:xfrm>
                <a:off x="7119" y="10315"/>
                <a:ext cx="624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ar-SA" sz="14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الماء</a:t>
                </a:r>
                <a:endParaRPr kumimoji="0" lang="fr-FR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8338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8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8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8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24" grpId="0"/>
      <p:bldP spid="26" grpId="0" animBg="1"/>
      <p:bldP spid="98306" grpId="0" animBg="1"/>
      <p:bldP spid="98307" grpId="0" animBg="1"/>
      <p:bldP spid="984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4882458"/>
              </p:ext>
            </p:extLst>
          </p:nvPr>
        </p:nvGraphicFramePr>
        <p:xfrm>
          <a:off x="335666" y="1273215"/>
          <a:ext cx="11655706" cy="981456"/>
        </p:xfrm>
        <a:graphic>
          <a:graphicData uri="http://schemas.openxmlformats.org/drawingml/2006/table">
            <a:tbl>
              <a:tblPr/>
              <a:tblGrid>
                <a:gridCol w="11655706"/>
              </a:tblGrid>
              <a:tr h="358052">
                <a:tc>
                  <a:txBody>
                    <a:bodyPr/>
                    <a:lstStyle/>
                    <a:p>
                      <a:pPr marL="1343025" indent="-1338263" algn="r" rtl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ar-SA" sz="2800" b="1" u="sng" dirty="0">
                          <a:solidFill>
                            <a:srgbClr val="FF0000"/>
                          </a:solidFill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تقويم تكويني</a:t>
                      </a:r>
                      <a:r>
                        <a:rPr lang="en-US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: 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جسم معدني حجمه (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V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=</a:t>
                      </a:r>
                      <a:r>
                        <a:rPr lang="fr-FR" sz="28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200cm</a:t>
                      </a:r>
                      <a:r>
                        <a:rPr lang="fr-FR" sz="2800" b="1" baseline="30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وشدة ثقله في الهواء (</a:t>
                      </a:r>
                      <a:r>
                        <a:rPr lang="fr-FR" sz="2800" b="1" i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</a:t>
                      </a:r>
                      <a:r>
                        <a:rPr lang="fr-FR" sz="28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=3N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)، يغمر في ماء </a:t>
                      </a:r>
                      <a:r>
                        <a:rPr lang="ar-SA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كتلته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          </a:t>
                      </a:r>
                      <a:r>
                        <a:rPr lang="ar-SA" sz="2800" b="1" dirty="0" err="1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الحجمية</a:t>
                      </a:r>
                      <a:r>
                        <a:rPr lang="ar-SA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(</a:t>
                      </a:r>
                      <a:r>
                        <a:rPr lang="fr-FR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 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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</a:t>
                      </a:r>
                      <a:r>
                        <a:rPr lang="fr-FR" sz="28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1000kg/m</a:t>
                      </a:r>
                      <a:r>
                        <a:rPr lang="fr-FR" sz="2800" b="1" baseline="30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وباعتبار قيمة الجاذبية الأرضية (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g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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10N/kg</a:t>
                      </a:r>
                      <a:r>
                        <a:rPr lang="ar-SA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).</a:t>
                      </a:r>
                      <a:endParaRPr lang="fr-FR" sz="1800" b="1" dirty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Parchemin horizontal 6"/>
          <p:cNvSpPr/>
          <p:nvPr/>
        </p:nvSpPr>
        <p:spPr>
          <a:xfrm>
            <a:off x="2111189" y="-96985"/>
            <a:ext cx="7597588" cy="914400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marL="571500" indent="-571500" algn="ctr" rtl="1"/>
            <a:r>
              <a:rPr lang="ar-DZ" sz="3200" b="1" dirty="0" smtClean="0">
                <a:solidFill>
                  <a:srgbClr val="FF0000"/>
                </a:solidFill>
                <a:latin typeface="Amiri" pitchFamily="2" charset="-78"/>
                <a:cs typeface="Amiri" pitchFamily="2" charset="-78"/>
              </a:rPr>
              <a:t>تقويم الموارد المعرفية</a:t>
            </a:r>
            <a:endParaRPr lang="fr-FR" sz="3200" b="1" dirty="0">
              <a:solidFill>
                <a:srgbClr val="FF0000"/>
              </a:solidFill>
              <a:latin typeface="Amiri" pitchFamily="2" charset="-78"/>
              <a:cs typeface="Amiri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29611" y="2364659"/>
            <a:ext cx="5341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أحسب شدة دافعة </a:t>
            </a:r>
            <a:r>
              <a:rPr lang="ar-DZ" sz="2800" b="1" dirty="0" err="1" smtClean="0">
                <a:latin typeface="Traditional Arabic" pitchFamily="18" charset="-78"/>
                <a:cs typeface="Traditional Arabic" pitchFamily="18" charset="-78"/>
              </a:rPr>
              <a:t>أرخميدس</a:t>
            </a:r>
            <a:r>
              <a:rPr lang="ar-DZ" sz="2800" b="1" dirty="0" smtClean="0">
                <a:latin typeface="Traditional Arabic" pitchFamily="18" charset="-78"/>
                <a:cs typeface="Traditional Arabic" pitchFamily="18" charset="-78"/>
              </a:rPr>
              <a:t> ثم شدة الثقل الظاهري.</a:t>
            </a:r>
            <a:endParaRPr lang="fr-FR" sz="2800" b="1" dirty="0">
              <a:latin typeface="Traditional Arabic" pitchFamily="18" charset="-78"/>
              <a:cs typeface="Traditional Arabic" pitchFamily="18" charset="-78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2570193"/>
              </p:ext>
            </p:extLst>
          </p:nvPr>
        </p:nvGraphicFramePr>
        <p:xfrm>
          <a:off x="1238490" y="3226138"/>
          <a:ext cx="10787605" cy="2453640"/>
        </p:xfrm>
        <a:graphic>
          <a:graphicData uri="http://schemas.openxmlformats.org/drawingml/2006/table">
            <a:tbl>
              <a:tblPr/>
              <a:tblGrid>
                <a:gridCol w="10787605"/>
              </a:tblGrid>
              <a:tr h="0">
                <a:tc>
                  <a:txBody>
                    <a:bodyPr/>
                    <a:lstStyle/>
                    <a:p>
                      <a:pPr marL="4763" indent="0" algn="r" rtl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ar-SA" sz="2800" b="1" u="sng" dirty="0">
                          <a:solidFill>
                            <a:srgbClr val="FF0000"/>
                          </a:solidFill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التقويم2</a:t>
                      </a:r>
                      <a:r>
                        <a:rPr lang="en-US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:</a:t>
                      </a:r>
                      <a:r>
                        <a:rPr lang="ar-DZ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جسم يطفو على سطح الماء كتلته (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=</a:t>
                      </a:r>
                      <a:r>
                        <a:rPr lang="fr-FR" sz="28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100g</a:t>
                      </a:r>
                      <a:r>
                        <a:rPr lang="ar-DZ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وكثافته 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بالنسبة</a:t>
                      </a:r>
                      <a:r>
                        <a:rPr lang="fr-FR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للماء 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(</a:t>
                      </a:r>
                      <a:r>
                        <a:rPr lang="fr-FR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d=0,7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كما </a:t>
                      </a:r>
                      <a:r>
                        <a:rPr lang="ar-DZ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في الشكل المقابل.</a:t>
                      </a:r>
                      <a:endParaRPr lang="fr-FR" sz="2800" b="1" dirty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  <a:p>
                      <a:pPr marL="4763" indent="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  <a:sym typeface="Wingdings"/>
                        </a:rPr>
                        <a:t></a:t>
                      </a:r>
                      <a:r>
                        <a:rPr lang="ar-DZ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أحسب شدة دافعة </a:t>
                      </a:r>
                      <a:r>
                        <a:rPr lang="ar-DZ" sz="2800" b="1" dirty="0" err="1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أرخميدس</a:t>
                      </a:r>
                      <a:r>
                        <a:rPr lang="ar-DZ" sz="2800" b="1" dirty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المؤثرة على الجسم.</a:t>
                      </a:r>
                      <a:endParaRPr lang="fr-FR" sz="2800" b="1" dirty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  <a:p>
                      <a:pPr marL="4763" indent="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إدا علمت أن الكتلة </a:t>
                      </a:r>
                      <a:r>
                        <a:rPr lang="ar-DZ" sz="2800" b="1" dirty="0" err="1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الحجمية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للماء</a:t>
                      </a:r>
                      <a:r>
                        <a:rPr lang="ar-SA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(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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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1000kg/m</a:t>
                      </a:r>
                      <a:r>
                        <a:rPr lang="fr-FR" sz="2800" b="1" baseline="30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 </a:t>
                      </a:r>
                      <a:r>
                        <a:rPr lang="ar-DZ" sz="2800" b="1" dirty="0" err="1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الجادبية</a:t>
                      </a:r>
                      <a:r>
                        <a:rPr lang="ar-DZ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 الأرضية </a:t>
                      </a:r>
                      <a:r>
                        <a:rPr lang="ar-SA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(</a:t>
                      </a:r>
                      <a:r>
                        <a:rPr lang="fr-FR" sz="2800" b="1" i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g 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Symbol"/>
                        </a:rPr>
                        <a:t></a:t>
                      </a:r>
                      <a:r>
                        <a:rPr lang="fr-FR" sz="2800" b="1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10N/kg</a:t>
                      </a:r>
                      <a:r>
                        <a:rPr lang="ar-SA" sz="2800" b="1" dirty="0" smtClean="0">
                          <a:latin typeface="Traditional Arabic" pitchFamily="18" charset="-78"/>
                          <a:ea typeface="Calibri"/>
                          <a:cs typeface="Traditional Arabic" pitchFamily="18" charset="-78"/>
                        </a:rPr>
                        <a:t>).</a:t>
                      </a:r>
                      <a:endParaRPr lang="ar-DZ" sz="2800" b="1" dirty="0" smtClean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  <a:p>
                      <a:pPr marL="4763" indent="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800" b="1" dirty="0" smtClean="0">
                          <a:latin typeface="Traditional Arabic" pitchFamily="18" charset="-78"/>
                          <a:cs typeface="Traditional Arabic" pitchFamily="18" charset="-78"/>
                          <a:sym typeface="Wingdings"/>
                        </a:rPr>
                        <a:t></a:t>
                      </a:r>
                      <a:r>
                        <a:rPr lang="ar-DZ" sz="2800" b="1" dirty="0" smtClean="0">
                          <a:latin typeface="Traditional Arabic" pitchFamily="18" charset="-78"/>
                          <a:cs typeface="Traditional Arabic" pitchFamily="18" charset="-78"/>
                        </a:rPr>
                        <a:t>أحسب حجم الجسم المغمور</a:t>
                      </a:r>
                      <a:endParaRPr lang="fr-FR" sz="2800" b="1" dirty="0">
                        <a:latin typeface="Traditional Arabic" pitchFamily="18" charset="-78"/>
                        <a:ea typeface="Calibri"/>
                        <a:cs typeface="Traditional Arabic" pitchFamily="18" charset="-78"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02403" name="Group 3"/>
          <p:cNvGrpSpPr>
            <a:grpSpLocks/>
          </p:cNvGrpSpPr>
          <p:nvPr/>
        </p:nvGrpSpPr>
        <p:grpSpPr bwMode="auto">
          <a:xfrm>
            <a:off x="415276" y="3904290"/>
            <a:ext cx="1967696" cy="2067327"/>
            <a:chOff x="1746" y="11923"/>
            <a:chExt cx="2014" cy="1846"/>
          </a:xfrm>
        </p:grpSpPr>
        <p:sp>
          <p:nvSpPr>
            <p:cNvPr id="102404" name="Line 4"/>
            <p:cNvSpPr>
              <a:spLocks noChangeShapeType="1"/>
            </p:cNvSpPr>
            <p:nvPr/>
          </p:nvSpPr>
          <p:spPr bwMode="auto">
            <a:xfrm>
              <a:off x="3760" y="11923"/>
              <a:ext cx="0" cy="18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05" name="Rectangle 5"/>
            <p:cNvSpPr>
              <a:spLocks noChangeArrowheads="1"/>
            </p:cNvSpPr>
            <p:nvPr/>
          </p:nvSpPr>
          <p:spPr bwMode="auto">
            <a:xfrm>
              <a:off x="2249" y="12820"/>
              <a:ext cx="510" cy="2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06" name="Freeform 6"/>
            <p:cNvSpPr>
              <a:spLocks/>
            </p:cNvSpPr>
            <p:nvPr/>
          </p:nvSpPr>
          <p:spPr bwMode="auto">
            <a:xfrm>
              <a:off x="1763" y="12240"/>
              <a:ext cx="1575" cy="1529"/>
            </a:xfrm>
            <a:custGeom>
              <a:avLst/>
              <a:gdLst/>
              <a:ahLst/>
              <a:cxnLst>
                <a:cxn ang="0">
                  <a:pos x="3086" y="20"/>
                </a:cxn>
                <a:cxn ang="0">
                  <a:pos x="3086" y="1397"/>
                </a:cxn>
                <a:cxn ang="0">
                  <a:pos x="9" y="1397"/>
                </a:cxn>
                <a:cxn ang="0">
                  <a:pos x="0" y="0"/>
                </a:cxn>
                <a:cxn ang="0">
                  <a:pos x="3086" y="20"/>
                </a:cxn>
              </a:cxnLst>
              <a:rect l="0" t="0" r="r" b="b"/>
              <a:pathLst>
                <a:path w="3086" h="1637">
                  <a:moveTo>
                    <a:pt x="3086" y="20"/>
                  </a:moveTo>
                  <a:cubicBezTo>
                    <a:pt x="3086" y="708"/>
                    <a:pt x="3086" y="1397"/>
                    <a:pt x="3086" y="1397"/>
                  </a:cubicBezTo>
                  <a:cubicBezTo>
                    <a:pt x="2868" y="1637"/>
                    <a:pt x="72" y="1600"/>
                    <a:pt x="9" y="1397"/>
                  </a:cubicBezTo>
                  <a:cubicBezTo>
                    <a:pt x="9" y="1397"/>
                    <a:pt x="0" y="688"/>
                    <a:pt x="0" y="0"/>
                  </a:cubicBezTo>
                  <a:cubicBezTo>
                    <a:pt x="225" y="296"/>
                    <a:pt x="2755" y="272"/>
                    <a:pt x="3086" y="2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07" name="Freeform 7"/>
            <p:cNvSpPr>
              <a:spLocks/>
            </p:cNvSpPr>
            <p:nvPr/>
          </p:nvSpPr>
          <p:spPr bwMode="auto">
            <a:xfrm>
              <a:off x="1768" y="12057"/>
              <a:ext cx="1566" cy="404"/>
            </a:xfrm>
            <a:custGeom>
              <a:avLst/>
              <a:gdLst/>
              <a:ahLst/>
              <a:cxnLst>
                <a:cxn ang="0">
                  <a:pos x="3070" y="215"/>
                </a:cxn>
                <a:cxn ang="0">
                  <a:pos x="0" y="194"/>
                </a:cxn>
                <a:cxn ang="0">
                  <a:pos x="1510" y="406"/>
                </a:cxn>
                <a:cxn ang="0">
                  <a:pos x="3070" y="215"/>
                </a:cxn>
              </a:cxnLst>
              <a:rect l="0" t="0" r="r" b="b"/>
              <a:pathLst>
                <a:path w="3070" h="432">
                  <a:moveTo>
                    <a:pt x="3070" y="215"/>
                  </a:moveTo>
                  <a:cubicBezTo>
                    <a:pt x="2958" y="0"/>
                    <a:pt x="169" y="0"/>
                    <a:pt x="0" y="194"/>
                  </a:cubicBezTo>
                  <a:cubicBezTo>
                    <a:pt x="157" y="432"/>
                    <a:pt x="1510" y="406"/>
                    <a:pt x="1510" y="406"/>
                  </a:cubicBezTo>
                  <a:cubicBezTo>
                    <a:pt x="1510" y="406"/>
                    <a:pt x="2747" y="426"/>
                    <a:pt x="3070" y="215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08" name="AutoShape 8" descr="Chêne"/>
            <p:cNvSpPr>
              <a:spLocks noChangeArrowheads="1"/>
            </p:cNvSpPr>
            <p:nvPr/>
          </p:nvSpPr>
          <p:spPr bwMode="auto">
            <a:xfrm>
              <a:off x="2254" y="12506"/>
              <a:ext cx="616" cy="577"/>
            </a:xfrm>
            <a:prstGeom prst="cube">
              <a:avLst>
                <a:gd name="adj" fmla="val 22338"/>
              </a:avLst>
            </a:prstGeom>
            <a:blipFill dpi="0" rotWithShape="1">
              <a:blip r:embed="rId3"/>
              <a:srcRect/>
              <a:tile tx="0" ty="0" sx="100000" sy="100000" flip="none" algn="tl"/>
            </a:blip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09" name="Freeform 9"/>
            <p:cNvSpPr>
              <a:spLocks/>
            </p:cNvSpPr>
            <p:nvPr/>
          </p:nvSpPr>
          <p:spPr bwMode="auto">
            <a:xfrm>
              <a:off x="1746" y="12808"/>
              <a:ext cx="1586" cy="944"/>
            </a:xfrm>
            <a:custGeom>
              <a:avLst/>
              <a:gdLst/>
              <a:ahLst/>
              <a:cxnLst>
                <a:cxn ang="0">
                  <a:pos x="2404" y="14"/>
                </a:cxn>
                <a:cxn ang="0">
                  <a:pos x="2399" y="948"/>
                </a:cxn>
                <a:cxn ang="0">
                  <a:pos x="43" y="925"/>
                </a:cxn>
                <a:cxn ang="0">
                  <a:pos x="46" y="0"/>
                </a:cxn>
                <a:cxn ang="0">
                  <a:pos x="2404" y="14"/>
                </a:cxn>
              </a:cxnLst>
              <a:rect l="0" t="0" r="r" b="b"/>
              <a:pathLst>
                <a:path w="2404" h="1269">
                  <a:moveTo>
                    <a:pt x="2404" y="14"/>
                  </a:moveTo>
                  <a:cubicBezTo>
                    <a:pt x="2400" y="488"/>
                    <a:pt x="2399" y="948"/>
                    <a:pt x="2399" y="948"/>
                  </a:cubicBezTo>
                  <a:cubicBezTo>
                    <a:pt x="2297" y="1269"/>
                    <a:pt x="0" y="1269"/>
                    <a:pt x="43" y="925"/>
                  </a:cubicBezTo>
                  <a:cubicBezTo>
                    <a:pt x="43" y="925"/>
                    <a:pt x="46" y="450"/>
                    <a:pt x="46" y="0"/>
                  </a:cubicBezTo>
                  <a:cubicBezTo>
                    <a:pt x="903" y="4"/>
                    <a:pt x="1430" y="14"/>
                    <a:pt x="2404" y="14"/>
                  </a:cubicBezTo>
                  <a:close/>
                </a:path>
              </a:pathLst>
            </a:custGeom>
            <a:solidFill>
              <a:srgbClr val="66FFCC">
                <a:alpha val="53999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102410" name="AutoShape 10"/>
            <p:cNvCxnSpPr>
              <a:cxnSpLocks noChangeShapeType="1"/>
            </p:cNvCxnSpPr>
            <p:nvPr/>
          </p:nvCxnSpPr>
          <p:spPr bwMode="auto">
            <a:xfrm flipH="1" flipV="1">
              <a:off x="1757" y="12818"/>
              <a:ext cx="1579" cy="0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prstDash val="dash"/>
              <a:round/>
              <a:headEnd/>
              <a:tailEnd/>
            </a:ln>
          </p:spPr>
        </p:cxnSp>
        <p:sp>
          <p:nvSpPr>
            <p:cNvPr id="102411" name="Text Box 11"/>
            <p:cNvSpPr txBox="1">
              <a:spLocks noChangeArrowheads="1"/>
            </p:cNvSpPr>
            <p:nvPr/>
          </p:nvSpPr>
          <p:spPr bwMode="auto">
            <a:xfrm>
              <a:off x="1821" y="13075"/>
              <a:ext cx="530" cy="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ar-SA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aditional Arabic" pitchFamily="18" charset="-78"/>
                  <a:ea typeface="Arial" pitchFamily="34" charset="0"/>
                  <a:cs typeface="Traditional Arabic" pitchFamily="18" charset="-78"/>
                </a:rPr>
                <a:t>ماء</a:t>
              </a:r>
              <a:endPara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cs typeface="Traditional Arabic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0535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834640" y="2194560"/>
            <a:ext cx="7040880" cy="212365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 rtl="1"/>
            <a:r>
              <a:rPr lang="ar-DZ" sz="6600" b="1" dirty="0" smtClean="0">
                <a:solidFill>
                  <a:srgbClr val="000099"/>
                </a:solidFill>
                <a:latin typeface="Traditional Arabic" pitchFamily="18" charset="-78"/>
                <a:cs typeface="Traditional Arabic" pitchFamily="18" charset="-78"/>
              </a:rPr>
              <a:t>شكرا على حسن المتابعة والإصغاء</a:t>
            </a:r>
            <a:endParaRPr lang="fr-FR" sz="6600" b="1" dirty="0">
              <a:solidFill>
                <a:srgbClr val="000099"/>
              </a:solidFill>
              <a:latin typeface="Traditional Arabic" pitchFamily="18" charset="-78"/>
              <a:cs typeface="Traditional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04241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1|0.1|0.2|0.4|0.1|0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Grand événem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Grand événement">
      <a:maj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and événem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1822</TotalTime>
  <Words>1311</Words>
  <Application>Microsoft Office PowerPoint</Application>
  <PresentationFormat>Personnalisé</PresentationFormat>
  <Paragraphs>261</Paragraphs>
  <Slides>18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0" baseType="lpstr">
      <vt:lpstr>Grand événement</vt:lpstr>
      <vt:lpstr>Brin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zerradi</cp:lastModifiedBy>
  <cp:revision>124</cp:revision>
  <dcterms:created xsi:type="dcterms:W3CDTF">2018-12-03T10:16:18Z</dcterms:created>
  <dcterms:modified xsi:type="dcterms:W3CDTF">2019-02-13T17:35:32Z</dcterms:modified>
</cp:coreProperties>
</file>