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14" r:id="rId2"/>
    <p:sldId id="319" r:id="rId3"/>
    <p:sldId id="286" r:id="rId4"/>
    <p:sldId id="301" r:id="rId5"/>
    <p:sldId id="288" r:id="rId6"/>
    <p:sldId id="299" r:id="rId7"/>
    <p:sldId id="303" r:id="rId8"/>
    <p:sldId id="310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928" autoAdjust="0"/>
  </p:normalViewPr>
  <p:slideViewPr>
    <p:cSldViewPr>
      <p:cViewPr varScale="1">
        <p:scale>
          <a:sx n="80" d="100"/>
          <a:sy n="80" d="100"/>
        </p:scale>
        <p:origin x="15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5E58EF-7FA2-45A9-BD8E-0706C77B7556}" type="datetimeFigureOut">
              <a:rPr lang="fr-FR" smtClean="0"/>
              <a:pPr/>
              <a:t>11/04/2022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288310-5085-47DD-BC94-6354C6205A23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76EA526-3BD0-48C1-89CB-052B6F2BFBBB}" type="slidenum">
              <a:rPr lang="en-US" altLang="fr-FR" sz="12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 altLang="fr-FR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867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48293-19C0-4DA3-AB5C-3BC39007D0D6}" type="datetimeFigureOut">
              <a:rPr lang="fr-FR" smtClean="0"/>
              <a:pPr/>
              <a:t>11/04/2022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71534-6B4D-4AE2-AA20-CE071821BF8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48293-19C0-4DA3-AB5C-3BC39007D0D6}" type="datetimeFigureOut">
              <a:rPr lang="fr-FR" smtClean="0"/>
              <a:pPr/>
              <a:t>11/04/2022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71534-6B4D-4AE2-AA20-CE071821BF8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48293-19C0-4DA3-AB5C-3BC39007D0D6}" type="datetimeFigureOut">
              <a:rPr lang="fr-FR" smtClean="0"/>
              <a:pPr/>
              <a:t>11/04/2022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71534-6B4D-4AE2-AA20-CE071821BF8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48293-19C0-4DA3-AB5C-3BC39007D0D6}" type="datetimeFigureOut">
              <a:rPr lang="fr-FR" smtClean="0"/>
              <a:pPr/>
              <a:t>11/04/2022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71534-6B4D-4AE2-AA20-CE071821BF8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48293-19C0-4DA3-AB5C-3BC39007D0D6}" type="datetimeFigureOut">
              <a:rPr lang="fr-FR" smtClean="0"/>
              <a:pPr/>
              <a:t>11/04/2022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71534-6B4D-4AE2-AA20-CE071821BF8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48293-19C0-4DA3-AB5C-3BC39007D0D6}" type="datetimeFigureOut">
              <a:rPr lang="fr-FR" smtClean="0"/>
              <a:pPr/>
              <a:t>11/04/2022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71534-6B4D-4AE2-AA20-CE071821BF8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48293-19C0-4DA3-AB5C-3BC39007D0D6}" type="datetimeFigureOut">
              <a:rPr lang="fr-FR" smtClean="0"/>
              <a:pPr/>
              <a:t>11/04/2022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71534-6B4D-4AE2-AA20-CE071821BF8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48293-19C0-4DA3-AB5C-3BC39007D0D6}" type="datetimeFigureOut">
              <a:rPr lang="fr-FR" smtClean="0"/>
              <a:pPr/>
              <a:t>11/04/2022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71534-6B4D-4AE2-AA20-CE071821BF8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48293-19C0-4DA3-AB5C-3BC39007D0D6}" type="datetimeFigureOut">
              <a:rPr lang="fr-FR" smtClean="0"/>
              <a:pPr/>
              <a:t>11/04/2022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71534-6B4D-4AE2-AA20-CE071821BF8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48293-19C0-4DA3-AB5C-3BC39007D0D6}" type="datetimeFigureOut">
              <a:rPr lang="fr-FR" smtClean="0"/>
              <a:pPr/>
              <a:t>11/04/2022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71534-6B4D-4AE2-AA20-CE071821BF8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48293-19C0-4DA3-AB5C-3BC39007D0D6}" type="datetimeFigureOut">
              <a:rPr lang="fr-FR" smtClean="0"/>
              <a:pPr/>
              <a:t>11/04/2022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71534-6B4D-4AE2-AA20-CE071821BF8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948293-19C0-4DA3-AB5C-3BC39007D0D6}" type="datetimeFigureOut">
              <a:rPr lang="fr-FR" smtClean="0"/>
              <a:pPr/>
              <a:t>11/04/2022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71534-6B4D-4AE2-AA20-CE071821BF8B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684688"/>
          </a:xfrm>
        </p:spPr>
        <p:txBody>
          <a:bodyPr>
            <a:noAutofit/>
          </a:bodyPr>
          <a:lstStyle/>
          <a:p>
            <a:pPr algn="ctr"/>
            <a:r>
              <a:rPr lang="ar-DZ" sz="4400" dirty="0">
                <a:solidFill>
                  <a:srgbClr val="FFC000"/>
                </a:solidFill>
                <a:latin typeface="Andalus" pitchFamily="18" charset="-78"/>
                <a:cs typeface="Andalus" pitchFamily="18" charset="-78"/>
              </a:rPr>
              <a:t>تذكير بمراحل الملف التعلمي </a:t>
            </a:r>
            <a:r>
              <a:rPr lang="ar-DZ" sz="4400" dirty="0" err="1">
                <a:solidFill>
                  <a:srgbClr val="FFC000"/>
                </a:solidFill>
                <a:latin typeface="Andalus" pitchFamily="18" charset="-78"/>
                <a:cs typeface="Andalus" pitchFamily="18" charset="-78"/>
              </a:rPr>
              <a:t>واسقاطه</a:t>
            </a:r>
            <a:r>
              <a:rPr lang="ar-DZ" sz="4400" dirty="0">
                <a:solidFill>
                  <a:srgbClr val="FFC000"/>
                </a:solidFill>
                <a:latin typeface="Andalus" pitchFamily="18" charset="-78"/>
                <a:cs typeface="Andalus" pitchFamily="18" charset="-78"/>
              </a:rPr>
              <a:t> على ملف الظواهر  الضوئية والفلكية</a:t>
            </a:r>
            <a:r>
              <a:rPr lang="ar-DZ" sz="4400" dirty="0">
                <a:solidFill>
                  <a:srgbClr val="FFC000"/>
                </a:solidFill>
                <a:latin typeface="Aldhabi" pitchFamily="2" charset="-78"/>
                <a:cs typeface="Aldhabi" pitchFamily="2" charset="-78"/>
              </a:rPr>
              <a:t> </a:t>
            </a:r>
            <a:endParaRPr lang="fr-FR" sz="4400" dirty="0">
              <a:solidFill>
                <a:srgbClr val="FFC000"/>
              </a:solidFill>
              <a:latin typeface="Aldhabi" pitchFamily="2" charset="-78"/>
              <a:cs typeface="Aldhabi" pitchFamily="2" charset="-78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85000" lnSpcReduction="20000"/>
          </a:bodyPr>
          <a:lstStyle/>
          <a:p>
            <a:pPr algn="ctr">
              <a:buNone/>
            </a:pPr>
            <a:endParaRPr lang="ar-DZ" sz="3600" dirty="0">
              <a:solidFill>
                <a:srgbClr val="FFFF00"/>
              </a:solidFill>
              <a:latin typeface="Andalus" pitchFamily="18" charset="-78"/>
              <a:cs typeface="Andalus" pitchFamily="18" charset="-78"/>
            </a:endParaRPr>
          </a:p>
          <a:p>
            <a:pPr algn="ctr">
              <a:buNone/>
            </a:pPr>
            <a:endParaRPr lang="ar-DZ" sz="36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dalus" pitchFamily="18" charset="-78"/>
              <a:cs typeface="Andalus" pitchFamily="18" charset="-78"/>
            </a:endParaRPr>
          </a:p>
          <a:p>
            <a:pPr algn="ctr">
              <a:buNone/>
            </a:pPr>
            <a:endParaRPr lang="ar-DZ" sz="36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dalus" pitchFamily="18" charset="-78"/>
              <a:cs typeface="Andalus" pitchFamily="18" charset="-78"/>
            </a:endParaRPr>
          </a:p>
          <a:p>
            <a:pPr algn="ctr">
              <a:buNone/>
            </a:pPr>
            <a:r>
              <a:rPr lang="ar-DZ" sz="3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بناء وضعيات </a:t>
            </a:r>
            <a:r>
              <a:rPr lang="ar-DZ" sz="36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تعلمية</a:t>
            </a:r>
            <a:endParaRPr lang="ar-DZ" sz="36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dalus" pitchFamily="18" charset="-78"/>
              <a:cs typeface="Andalus" pitchFamily="18" charset="-78"/>
            </a:endParaRPr>
          </a:p>
          <a:p>
            <a:pPr algn="ctr">
              <a:buNone/>
            </a:pPr>
            <a:r>
              <a:rPr lang="ar-DZ" sz="43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دافعة </a:t>
            </a:r>
            <a:r>
              <a:rPr lang="ar-DZ" sz="43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أرخميدس</a:t>
            </a:r>
            <a:endParaRPr lang="ar-DZ" sz="43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dalus" pitchFamily="18" charset="-78"/>
              <a:cs typeface="Andalus" pitchFamily="18" charset="-78"/>
            </a:endParaRPr>
          </a:p>
          <a:p>
            <a:pPr algn="ctr">
              <a:buNone/>
            </a:pPr>
            <a:endParaRPr lang="ar-DZ" sz="36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dalus" pitchFamily="18" charset="-78"/>
              <a:cs typeface="Andalus" pitchFamily="18" charset="-78"/>
            </a:endParaRPr>
          </a:p>
          <a:p>
            <a:pPr algn="ctr">
              <a:buNone/>
            </a:pPr>
            <a:endParaRPr lang="ar-DZ" sz="36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dalus" pitchFamily="18" charset="-78"/>
              <a:cs typeface="Andalus" pitchFamily="18" charset="-78"/>
            </a:endParaRPr>
          </a:p>
          <a:p>
            <a:pPr algn="ctr">
              <a:buNone/>
            </a:pPr>
            <a:endParaRPr lang="ar-DZ" sz="36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dhabi" pitchFamily="2" charset="-78"/>
              <a:cs typeface="Aldhabi" pitchFamily="2" charset="-78"/>
            </a:endParaRPr>
          </a:p>
          <a:p>
            <a:pPr algn="ctr">
              <a:buNone/>
            </a:pPr>
            <a:endParaRPr lang="fr-FR" sz="36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dhabi" pitchFamily="2" charset="-78"/>
              <a:cs typeface="Aldhabi" pitchFamily="2" charset="-78"/>
            </a:endParaRPr>
          </a:p>
          <a:p>
            <a:pPr algn="ctr">
              <a:buNone/>
            </a:pPr>
            <a:r>
              <a:rPr lang="ar-DZ" sz="4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itchFamily="2" charset="-78"/>
                <a:cs typeface="Aldhabi" pitchFamily="2" charset="-78"/>
              </a:rPr>
              <a:t>اعداد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itchFamily="2" charset="-78"/>
                <a:cs typeface="Aldhabi" pitchFamily="2" charset="-78"/>
              </a:rPr>
              <a:t> وتقديم:</a:t>
            </a:r>
          </a:p>
          <a:p>
            <a:pPr algn="ctr">
              <a:buNone/>
            </a:pPr>
            <a:r>
              <a:rPr lang="ar-DZ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itchFamily="2" charset="-78"/>
                <a:cs typeface="Aldhabi" pitchFamily="2" charset="-78"/>
              </a:rPr>
              <a:t>مفتش التربية والتعليم المتوسط</a:t>
            </a:r>
          </a:p>
          <a:p>
            <a:pPr algn="ctr">
              <a:buNone/>
            </a:pPr>
            <a:r>
              <a:rPr lang="ar-DZ" sz="40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itchFamily="2" charset="-78"/>
                <a:cs typeface="Aldhabi" pitchFamily="2" charset="-78"/>
              </a:rPr>
              <a:t>وـ</a:t>
            </a:r>
            <a:r>
              <a:rPr lang="ar-DZ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itchFamily="2" charset="-78"/>
                <a:cs typeface="Aldhabi" pitchFamily="2" charset="-78"/>
              </a:rPr>
              <a:t> </a:t>
            </a:r>
            <a:r>
              <a:rPr lang="ar-DZ" sz="40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itchFamily="2" charset="-78"/>
                <a:cs typeface="Aldhabi" pitchFamily="2" charset="-78"/>
              </a:rPr>
              <a:t>بوشامة</a:t>
            </a:r>
            <a:endParaRPr lang="ar-DZ" sz="4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dhabi" pitchFamily="2" charset="-78"/>
              <a:cs typeface="Aldhabi" pitchFamily="2" charset="-78"/>
            </a:endParaRPr>
          </a:p>
          <a:p>
            <a:pPr algn="ctr">
              <a:buNone/>
            </a:pPr>
            <a:r>
              <a:rPr lang="ar-DZ" sz="4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itchFamily="2" charset="-78"/>
                <a:cs typeface="Aldhabi" pitchFamily="2" charset="-78"/>
              </a:rPr>
              <a:t>جانفي2019</a:t>
            </a:r>
          </a:p>
          <a:p>
            <a:pPr algn="ctr">
              <a:buNone/>
            </a:pPr>
            <a:endParaRPr lang="fr-FR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dhabi" pitchFamily="2" charset="-78"/>
              <a:cs typeface="Aldhabi" pitchFamily="2" charset="-78"/>
            </a:endParaRPr>
          </a:p>
        </p:txBody>
      </p:sp>
      <p:sp>
        <p:nvSpPr>
          <p:cNvPr id="4" name="Ruban vers le haut 3"/>
          <p:cNvSpPr/>
          <p:nvPr/>
        </p:nvSpPr>
        <p:spPr>
          <a:xfrm>
            <a:off x="642910" y="0"/>
            <a:ext cx="7632848" cy="1214422"/>
          </a:xfrm>
          <a:prstGeom prst="ribbon2">
            <a:avLst>
              <a:gd name="adj1" fmla="val 15608"/>
              <a:gd name="adj2" fmla="val 5000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err="1">
                <a:solidFill>
                  <a:srgbClr val="002060"/>
                </a:solidFill>
              </a:rPr>
              <a:t>مفتشية</a:t>
            </a:r>
            <a:r>
              <a:rPr lang="ar-DZ" sz="2000" b="1" dirty="0">
                <a:solidFill>
                  <a:srgbClr val="002060"/>
                </a:solidFill>
              </a:rPr>
              <a:t> التربية والتعليم المتوسط</a:t>
            </a:r>
          </a:p>
          <a:p>
            <a:pPr algn="ctr"/>
            <a:r>
              <a:rPr lang="ar-DZ" sz="2000" b="1" dirty="0">
                <a:solidFill>
                  <a:srgbClr val="002060"/>
                </a:solidFill>
              </a:rPr>
              <a:t>لمادة العلوم الفيزيائية والتكنولوجيا </a:t>
            </a:r>
            <a:r>
              <a:rPr lang="ar-DZ" sz="2000" b="1" dirty="0" err="1">
                <a:solidFill>
                  <a:srgbClr val="002060"/>
                </a:solidFill>
              </a:rPr>
              <a:t>عنابة</a:t>
            </a:r>
            <a:endParaRPr lang="ar-DZ" sz="2000" b="1" dirty="0">
              <a:solidFill>
                <a:srgbClr val="002060"/>
              </a:solidFill>
            </a:endParaRPr>
          </a:p>
          <a:p>
            <a:pPr algn="ctr"/>
            <a:endParaRPr lang="fr-FR" dirty="0"/>
          </a:p>
        </p:txBody>
      </p:sp>
      <p:pic>
        <p:nvPicPr>
          <p:cNvPr id="6" name="Image 5" descr="65016_536792959678778_1190041371_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857364"/>
            <a:ext cx="3635896" cy="31683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Image 6" descr="astro_in_h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80112" y="1857364"/>
            <a:ext cx="3563888" cy="273630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re 1"/>
          <p:cNvSpPr>
            <a:spLocks noGrp="1"/>
          </p:cNvSpPr>
          <p:nvPr>
            <p:ph type="title"/>
          </p:nvPr>
        </p:nvSpPr>
        <p:spPr/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ar-DZ" altLang="fr-FR" sz="4800" b="1" dirty="0">
                <a:solidFill>
                  <a:srgbClr val="FF0000"/>
                </a:solidFill>
              </a:rPr>
              <a:t>المهمة</a:t>
            </a:r>
            <a:endParaRPr lang="fr-FR" altLang="fr-FR" b="1" dirty="0">
              <a:solidFill>
                <a:srgbClr val="FF0000"/>
              </a:solidFill>
            </a:endParaRPr>
          </a:p>
        </p:txBody>
      </p:sp>
      <p:sp>
        <p:nvSpPr>
          <p:cNvPr id="23555" name="Espace réservé du contenu 2"/>
          <p:cNvSpPr>
            <a:spLocks noGrp="1"/>
          </p:cNvSpPr>
          <p:nvPr>
            <p:ph idx="1"/>
          </p:nvPr>
        </p:nvSpPr>
        <p:spPr>
          <a:xfrm>
            <a:off x="628650" y="2024063"/>
            <a:ext cx="7886700" cy="395446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r">
              <a:buFont typeface="Arial" panose="020B0604020202020204" pitchFamily="34" charset="0"/>
              <a:buNone/>
            </a:pPr>
            <a:r>
              <a:rPr lang="ar-DZ" altLang="fr-FR" dirty="0"/>
              <a:t> </a:t>
            </a:r>
          </a:p>
          <a:p>
            <a:pPr marL="0" indent="0" algn="r">
              <a:buFont typeface="Arial" panose="020B0604020202020204" pitchFamily="34" charset="0"/>
              <a:buNone/>
            </a:pPr>
            <a:r>
              <a:rPr lang="ar-DZ" altLang="fr-FR" sz="3600" b="1" dirty="0"/>
              <a:t> </a:t>
            </a:r>
            <a:r>
              <a:rPr lang="ar-DZ" altLang="fr-FR" b="1" dirty="0"/>
              <a:t>بناء وضعيات </a:t>
            </a:r>
            <a:r>
              <a:rPr lang="ar-DZ" altLang="fr-FR" b="1" dirty="0" err="1"/>
              <a:t>تعلمية</a:t>
            </a:r>
            <a:r>
              <a:rPr lang="ar-DZ" altLang="fr-FR" b="1" dirty="0"/>
              <a:t> حول </a:t>
            </a:r>
            <a:r>
              <a:rPr lang="ar-DZ" altLang="fr-FR" sz="3600" b="1" dirty="0">
                <a:solidFill>
                  <a:schemeClr val="accent1"/>
                </a:solidFill>
              </a:rPr>
              <a:t>دافعة </a:t>
            </a:r>
            <a:r>
              <a:rPr lang="ar-DZ" altLang="fr-FR" sz="3600" b="1" dirty="0" err="1">
                <a:solidFill>
                  <a:schemeClr val="accent1"/>
                </a:solidFill>
              </a:rPr>
              <a:t>أرخميدس</a:t>
            </a:r>
            <a:endParaRPr lang="ar-DZ" altLang="fr-FR" sz="3600" b="1" dirty="0">
              <a:solidFill>
                <a:schemeClr val="accent1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fr-FR" sz="4400" b="1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altLang="fr-FR" sz="3600" b="1" dirty="0">
                <a:solidFill>
                  <a:srgbClr val="00B050"/>
                </a:solidFill>
              </a:rPr>
              <a:t>TPS</a:t>
            </a:r>
            <a:r>
              <a:rPr lang="ar-DZ" altLang="fr-FR" sz="3600" b="1" dirty="0">
                <a:solidFill>
                  <a:srgbClr val="00B050"/>
                </a:solidFill>
              </a:rPr>
              <a:t>                      </a:t>
            </a:r>
            <a:r>
              <a:rPr lang="ar-DZ" altLang="fr-FR" sz="3600" b="1" dirty="0" err="1">
                <a:solidFill>
                  <a:srgbClr val="FF0000"/>
                </a:solidFill>
              </a:rPr>
              <a:t>الاستراتيجية</a:t>
            </a:r>
            <a:r>
              <a:rPr lang="ar-DZ" altLang="fr-FR" sz="3600" b="1" dirty="0">
                <a:solidFill>
                  <a:srgbClr val="FF0000"/>
                </a:solidFill>
              </a:rPr>
              <a:t>:</a:t>
            </a:r>
            <a:r>
              <a:rPr lang="ar-DZ" altLang="fr-FR" sz="3600" b="1" dirty="0">
                <a:solidFill>
                  <a:srgbClr val="00B050"/>
                </a:solidFill>
              </a:rPr>
              <a:t> </a:t>
            </a:r>
            <a:endParaRPr lang="en-US" altLang="fr-FR" sz="3600" b="1" dirty="0">
              <a:solidFill>
                <a:srgbClr val="00B05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ar-DZ" altLang="fr-FR" sz="3600" b="1">
                <a:solidFill>
                  <a:schemeClr val="tx1"/>
                </a:solidFill>
              </a:rPr>
              <a:t>10د</a:t>
            </a:r>
            <a:endParaRPr lang="fr-FR" altLang="fr-FR" sz="3600" b="1" dirty="0">
              <a:solidFill>
                <a:schemeClr val="tx1"/>
              </a:solidFill>
            </a:endParaRPr>
          </a:p>
        </p:txBody>
      </p:sp>
      <p:pic>
        <p:nvPicPr>
          <p:cNvPr id="23556" name="Picture 3" descr="thinki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7" y="3286125"/>
            <a:ext cx="3071833" cy="2714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7405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35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animBg="1"/>
      <p:bldP spid="23555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ar-DZ" sz="2800" b="1" dirty="0">
                <a:solidFill>
                  <a:srgbClr val="FF0000"/>
                </a:solidFill>
              </a:rPr>
              <a:t>المهمة :بناء وضعية </a:t>
            </a:r>
            <a:r>
              <a:rPr lang="ar-DZ" sz="2800" b="1" dirty="0" err="1">
                <a:solidFill>
                  <a:srgbClr val="FF0000"/>
                </a:solidFill>
              </a:rPr>
              <a:t>تعلمية</a:t>
            </a:r>
            <a:r>
              <a:rPr lang="ar-DZ" sz="2800" b="1" dirty="0">
                <a:solidFill>
                  <a:srgbClr val="FF0000"/>
                </a:solidFill>
              </a:rPr>
              <a:t> ـ دافعة </a:t>
            </a:r>
            <a:r>
              <a:rPr lang="ar-DZ" sz="2800" b="1" dirty="0" err="1">
                <a:solidFill>
                  <a:srgbClr val="FF0000"/>
                </a:solidFill>
              </a:rPr>
              <a:t>أرخميدس</a:t>
            </a:r>
            <a:r>
              <a:rPr lang="ar-DZ" sz="3200" b="1" dirty="0">
                <a:solidFill>
                  <a:srgbClr val="FF0000"/>
                </a:solidFill>
              </a:rPr>
              <a:t> </a:t>
            </a:r>
            <a:endParaRPr lang="fr-FR" sz="3200" b="1" dirty="0">
              <a:solidFill>
                <a:srgbClr val="FF000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38642" cy="4900634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r" rtl="1">
              <a:buNone/>
            </a:pPr>
            <a:r>
              <a:rPr lang="ar-DZ" sz="3200" b="1" dirty="0">
                <a:solidFill>
                  <a:srgbClr val="FF0000"/>
                </a:solidFill>
              </a:rPr>
              <a:t>التعليمة</a:t>
            </a:r>
            <a:r>
              <a:rPr lang="ar-DZ" sz="4000" b="1" dirty="0">
                <a:solidFill>
                  <a:srgbClr val="FF0000"/>
                </a:solidFill>
              </a:rPr>
              <a:t>                 </a:t>
            </a:r>
          </a:p>
          <a:p>
            <a:pPr algn="r" rtl="1">
              <a:buNone/>
            </a:pPr>
            <a:r>
              <a:rPr lang="ar-DZ" sz="3200" b="1" dirty="0">
                <a:solidFill>
                  <a:srgbClr val="002060"/>
                </a:solidFill>
              </a:rPr>
              <a:t>  اقترح وضعية </a:t>
            </a:r>
            <a:r>
              <a:rPr lang="ar-DZ" sz="3200" b="1" dirty="0" err="1">
                <a:solidFill>
                  <a:srgbClr val="002060"/>
                </a:solidFill>
              </a:rPr>
              <a:t>تعلمية</a:t>
            </a:r>
            <a:r>
              <a:rPr lang="ar-DZ" sz="3200" b="1" dirty="0">
                <a:solidFill>
                  <a:srgbClr val="002060"/>
                </a:solidFill>
              </a:rPr>
              <a:t> حول عوم الأطفال في البحر باستعمال العوامات</a:t>
            </a:r>
            <a:r>
              <a:rPr lang="fr-FR" sz="3200" b="1" i="1" dirty="0">
                <a:solidFill>
                  <a:srgbClr val="FF0000"/>
                </a:solidFill>
              </a:rPr>
              <a:t> </a:t>
            </a:r>
            <a:r>
              <a:rPr lang="fr-FR" sz="3200" b="1" i="1" dirty="0">
                <a:solidFill>
                  <a:srgbClr val="002060"/>
                </a:solidFill>
              </a:rPr>
              <a:t>(bouées)</a:t>
            </a:r>
            <a:endParaRPr lang="ar-DZ" sz="3200" b="1" dirty="0">
              <a:solidFill>
                <a:srgbClr val="002060"/>
              </a:solidFill>
            </a:endParaRPr>
          </a:p>
          <a:p>
            <a:pPr algn="r" rtl="1">
              <a:buNone/>
            </a:pPr>
            <a:r>
              <a:rPr lang="ar-DZ" sz="3200" b="1" dirty="0">
                <a:solidFill>
                  <a:srgbClr val="FF0000"/>
                </a:solidFill>
              </a:rPr>
              <a:t>السند</a:t>
            </a:r>
          </a:p>
          <a:p>
            <a:pPr algn="r" rtl="1">
              <a:buNone/>
            </a:pPr>
            <a:r>
              <a:rPr lang="ar-DZ" sz="3200" b="1" dirty="0">
                <a:solidFill>
                  <a:srgbClr val="002060"/>
                </a:solidFill>
              </a:rPr>
              <a:t>صورة لطفل </a:t>
            </a:r>
            <a:r>
              <a:rPr lang="ar-DZ" sz="3200" b="1" dirty="0" err="1">
                <a:solidFill>
                  <a:srgbClr val="002060"/>
                </a:solidFill>
              </a:rPr>
              <a:t>يطفوفوق</a:t>
            </a:r>
            <a:r>
              <a:rPr lang="ar-DZ" sz="3200" b="1" dirty="0">
                <a:solidFill>
                  <a:srgbClr val="002060"/>
                </a:solidFill>
              </a:rPr>
              <a:t> ماء البحر باستعمال عوامة</a:t>
            </a:r>
            <a:endParaRPr lang="fr-FR" sz="3200" b="1" dirty="0">
              <a:solidFill>
                <a:srgbClr val="002060"/>
              </a:solidFill>
            </a:endParaRPr>
          </a:p>
        </p:txBody>
      </p:sp>
      <p:pic>
        <p:nvPicPr>
          <p:cNvPr id="39939" name="Picture 3" descr="C:\Users\PC\Desktop\وضعية مقترحة ـ دافعة أرخميدس\3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571612"/>
            <a:ext cx="4038600" cy="500066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rtl="1"/>
            <a:r>
              <a:rPr lang="ar-DZ" sz="3600" b="1" dirty="0">
                <a:solidFill>
                  <a:srgbClr val="FF0000"/>
                </a:solidFill>
              </a:rPr>
              <a:t>نص الوضعية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972072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 fontScale="92500" lnSpcReduction="10000"/>
          </a:bodyPr>
          <a:lstStyle/>
          <a:p>
            <a:pPr algn="r" rtl="1">
              <a:buNone/>
            </a:pPr>
            <a:r>
              <a:rPr lang="ar-DZ" b="1" dirty="0"/>
              <a:t>  أثناء تواجد أنيس مع أسرته على </a:t>
            </a:r>
            <a:r>
              <a:rPr lang="ar-DZ" b="1" dirty="0" err="1"/>
              <a:t>شاطىء</a:t>
            </a:r>
            <a:r>
              <a:rPr lang="ar-DZ" b="1" dirty="0"/>
              <a:t> جنان </a:t>
            </a:r>
            <a:r>
              <a:rPr lang="ar-DZ" b="1" dirty="0" err="1"/>
              <a:t>الباي</a:t>
            </a:r>
            <a:r>
              <a:rPr lang="ar-DZ" b="1" dirty="0"/>
              <a:t> خلال عطلته الصيفية، لاحظ استعمال كثير من الأولاد الصغار الذين </a:t>
            </a:r>
            <a:r>
              <a:rPr lang="ar-DZ" b="1" dirty="0" err="1"/>
              <a:t>لايحسنون</a:t>
            </a:r>
            <a:r>
              <a:rPr lang="ar-DZ" b="1" dirty="0"/>
              <a:t> السباحة عوامات </a:t>
            </a:r>
            <a:r>
              <a:rPr lang="fr-FR" b="1" dirty="0"/>
              <a:t>(</a:t>
            </a:r>
            <a:r>
              <a:rPr lang="fr-FR" b="1" i="1" dirty="0"/>
              <a:t>bouées</a:t>
            </a:r>
            <a:r>
              <a:rPr lang="fr-FR" b="1" dirty="0"/>
              <a:t>)</a:t>
            </a:r>
            <a:r>
              <a:rPr lang="ar-DZ" b="1" dirty="0"/>
              <a:t>بأشكال متنوعة للطفو فوق سطح الماء وتجنب الغرق .</a:t>
            </a:r>
          </a:p>
          <a:p>
            <a:pPr algn="r" rtl="1">
              <a:buNone/>
            </a:pPr>
            <a:r>
              <a:rPr lang="ar-DZ" b="1" dirty="0"/>
              <a:t>    احتار في تفسير ذلك، وطلب من أبيه توضيحا للظاهرة.</a:t>
            </a:r>
            <a:r>
              <a:rPr lang="fr-FR" b="1" dirty="0"/>
              <a:t> </a:t>
            </a:r>
          </a:p>
          <a:p>
            <a:pPr algn="r" rtl="1">
              <a:buNone/>
            </a:pPr>
            <a:r>
              <a:rPr lang="fr-FR" b="1" dirty="0"/>
              <a:t>    </a:t>
            </a:r>
            <a:r>
              <a:rPr lang="ar-DZ" b="1" dirty="0">
                <a:solidFill>
                  <a:srgbClr val="FF0000"/>
                </a:solidFill>
              </a:rPr>
              <a:t>التعليمة</a:t>
            </a:r>
          </a:p>
          <a:p>
            <a:pPr algn="r" rtl="1">
              <a:buNone/>
            </a:pPr>
            <a:r>
              <a:rPr lang="ar-DZ" b="1" dirty="0"/>
              <a:t>    برأيك ، </a:t>
            </a:r>
            <a:r>
              <a:rPr lang="ar-DZ" b="1" dirty="0" err="1"/>
              <a:t>ماهو</a:t>
            </a:r>
            <a:r>
              <a:rPr lang="ar-DZ" b="1" dirty="0"/>
              <a:t> </a:t>
            </a:r>
            <a:r>
              <a:rPr lang="ar-DZ" b="1" dirty="0" err="1"/>
              <a:t>التفسيرالعلمي</a:t>
            </a:r>
            <a:r>
              <a:rPr lang="ar-DZ" b="1" dirty="0"/>
              <a:t> الذي قدمه الأب لأنيس؟</a:t>
            </a:r>
            <a:endParaRPr lang="fr-FR" b="1" dirty="0"/>
          </a:p>
        </p:txBody>
      </p:sp>
      <p:pic>
        <p:nvPicPr>
          <p:cNvPr id="46082" name="Picture 2" descr="C:\Users\PC\Desktop\وضعية مقترحة ـ دافعة أرخميدس\3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643050"/>
            <a:ext cx="4038600" cy="492922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ar-DZ" sz="4000" b="1" dirty="0">
                <a:solidFill>
                  <a:srgbClr val="FF0000"/>
                </a:solidFill>
              </a:rPr>
              <a:t>المهمة:بناء وضعية </a:t>
            </a:r>
            <a:r>
              <a:rPr lang="ar-DZ" sz="4000" b="1" dirty="0" err="1">
                <a:solidFill>
                  <a:srgbClr val="FF0000"/>
                </a:solidFill>
              </a:rPr>
              <a:t>تعلمية</a:t>
            </a:r>
            <a:r>
              <a:rPr lang="ar-DZ" sz="4000" b="1" dirty="0">
                <a:solidFill>
                  <a:srgbClr val="FF0000"/>
                </a:solidFill>
              </a:rPr>
              <a:t> ـ دافعة </a:t>
            </a:r>
            <a:r>
              <a:rPr lang="ar-DZ" sz="4000" b="1" dirty="0" err="1">
                <a:solidFill>
                  <a:srgbClr val="FF0000"/>
                </a:solidFill>
              </a:rPr>
              <a:t>أرخميدس</a:t>
            </a:r>
            <a:endParaRPr lang="fr-FR" sz="4000" b="1" dirty="0">
              <a:solidFill>
                <a:srgbClr val="FF000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857752" y="1600200"/>
            <a:ext cx="3829048" cy="4900634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r" rtl="1">
              <a:buNone/>
            </a:pPr>
            <a:r>
              <a:rPr lang="ar-DZ" sz="3200" b="1" dirty="0">
                <a:solidFill>
                  <a:srgbClr val="FF0000"/>
                </a:solidFill>
              </a:rPr>
              <a:t> التعليمة</a:t>
            </a:r>
            <a:r>
              <a:rPr lang="ar-DZ" sz="3200" dirty="0">
                <a:solidFill>
                  <a:srgbClr val="FF0000"/>
                </a:solidFill>
              </a:rPr>
              <a:t> </a:t>
            </a:r>
          </a:p>
          <a:p>
            <a:pPr algn="r" rtl="1">
              <a:buNone/>
            </a:pPr>
            <a:r>
              <a:rPr lang="fr-FR" b="1" dirty="0">
                <a:solidFill>
                  <a:schemeClr val="tx1"/>
                </a:solidFill>
              </a:rPr>
              <a:t>  </a:t>
            </a:r>
            <a:r>
              <a:rPr lang="ar-DZ" b="1" dirty="0">
                <a:solidFill>
                  <a:schemeClr val="tx1"/>
                </a:solidFill>
              </a:rPr>
              <a:t>اقترح وضعية </a:t>
            </a:r>
            <a:r>
              <a:rPr lang="ar-DZ" b="1" dirty="0" err="1">
                <a:solidFill>
                  <a:schemeClr val="tx1"/>
                </a:solidFill>
              </a:rPr>
              <a:t>تعلمية</a:t>
            </a:r>
            <a:r>
              <a:rPr lang="ar-DZ" b="1" dirty="0">
                <a:solidFill>
                  <a:schemeClr val="tx1"/>
                </a:solidFill>
              </a:rPr>
              <a:t> جزئية حول عوم طفل صغير باستعمال عوامة</a:t>
            </a:r>
          </a:p>
          <a:p>
            <a:pPr algn="r" rtl="1">
              <a:buNone/>
            </a:pPr>
            <a:r>
              <a:rPr lang="ar-DZ" sz="3200" b="1" dirty="0">
                <a:solidFill>
                  <a:srgbClr val="FF0000"/>
                </a:solidFill>
              </a:rPr>
              <a:t>السند </a:t>
            </a:r>
          </a:p>
          <a:p>
            <a:pPr algn="r" rtl="1">
              <a:buNone/>
            </a:pPr>
            <a:r>
              <a:rPr lang="ar-DZ" sz="3200" b="1" dirty="0">
                <a:solidFill>
                  <a:srgbClr val="FF0000"/>
                </a:solidFill>
              </a:rPr>
              <a:t>  </a:t>
            </a:r>
            <a:r>
              <a:rPr lang="ar-DZ" sz="3200" b="1" dirty="0">
                <a:solidFill>
                  <a:schemeClr val="tx1"/>
                </a:solidFill>
              </a:rPr>
              <a:t>صورة لطفل </a:t>
            </a:r>
            <a:r>
              <a:rPr lang="ar-DZ" sz="3200" b="1" dirty="0" err="1">
                <a:solidFill>
                  <a:schemeClr val="tx1"/>
                </a:solidFill>
              </a:rPr>
              <a:t>صغيريطفو</a:t>
            </a:r>
            <a:r>
              <a:rPr lang="ar-DZ" sz="3200" b="1" dirty="0">
                <a:solidFill>
                  <a:schemeClr val="tx1"/>
                </a:solidFill>
              </a:rPr>
              <a:t> فوق الماء باستعمال عوامة</a:t>
            </a:r>
            <a:endParaRPr lang="fr-FR" sz="3200" b="1" dirty="0">
              <a:solidFill>
                <a:schemeClr val="tx1"/>
              </a:solidFill>
            </a:endParaRPr>
          </a:p>
        </p:txBody>
      </p:sp>
      <p:pic>
        <p:nvPicPr>
          <p:cNvPr id="7" name="Picture 2" descr="RÃ©sultat de recherche d'images pour &quot;les bouÃ©es&quot;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57200" y="1643050"/>
            <a:ext cx="4038600" cy="4857784"/>
          </a:xfrm>
          <a:prstGeom prst="rect">
            <a:avLst/>
          </a:prstGeom>
          <a:noFill/>
        </p:spPr>
      </p:pic>
    </p:spTree>
  </p:cSld>
  <p:clrMapOvr>
    <a:masterClrMapping/>
  </p:clrMapOvr>
  <p:transition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rtl="1"/>
            <a:r>
              <a:rPr lang="ar-DZ" sz="3600" b="1" dirty="0">
                <a:solidFill>
                  <a:srgbClr val="FF0000"/>
                </a:solidFill>
              </a:rPr>
              <a:t>نص الوضعية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972072"/>
          </a:xfr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r" rtl="1">
              <a:buNone/>
            </a:pPr>
            <a:r>
              <a:rPr lang="ar-DZ" b="1" dirty="0"/>
              <a:t>  كانت ريم تراقب </a:t>
            </a:r>
            <a:r>
              <a:rPr lang="ar-DZ" b="1" dirty="0" err="1"/>
              <a:t>باعجاب</a:t>
            </a:r>
            <a:r>
              <a:rPr lang="ar-DZ" b="1" dirty="0"/>
              <a:t> </a:t>
            </a:r>
            <a:r>
              <a:rPr lang="ar-DZ" b="1" dirty="0" err="1"/>
              <a:t>اخيها</a:t>
            </a:r>
            <a:r>
              <a:rPr lang="ar-DZ" b="1" dirty="0"/>
              <a:t> </a:t>
            </a:r>
            <a:r>
              <a:rPr lang="ar-DZ" b="1" dirty="0" err="1"/>
              <a:t>الصغيرباسم</a:t>
            </a:r>
            <a:r>
              <a:rPr lang="ar-DZ" b="1" dirty="0"/>
              <a:t> وهو يعوم فرحا باستعمال عوامة </a:t>
            </a:r>
            <a:r>
              <a:rPr lang="fr-FR" b="1" dirty="0"/>
              <a:t>(</a:t>
            </a:r>
            <a:r>
              <a:rPr lang="fr-FR" b="1" i="1" dirty="0"/>
              <a:t>bouée</a:t>
            </a:r>
            <a:r>
              <a:rPr lang="fr-FR" b="1" dirty="0"/>
              <a:t>)</a:t>
            </a:r>
            <a:endParaRPr lang="ar-DZ" b="1" dirty="0"/>
          </a:p>
          <a:p>
            <a:pPr algn="r" rtl="1">
              <a:buNone/>
            </a:pPr>
            <a:r>
              <a:rPr lang="ar-DZ" b="1" dirty="0"/>
              <a:t>    فاحتارت في </a:t>
            </a:r>
            <a:r>
              <a:rPr lang="ar-DZ" b="1" dirty="0" err="1"/>
              <a:t>الامر</a:t>
            </a:r>
            <a:r>
              <a:rPr lang="ar-DZ" b="1" dirty="0"/>
              <a:t> وتساءلت:</a:t>
            </a:r>
          </a:p>
          <a:p>
            <a:pPr algn="r" rtl="1">
              <a:buNone/>
            </a:pPr>
            <a:r>
              <a:rPr lang="ar-DZ" b="1" dirty="0"/>
              <a:t>” كيف يطفو باسم  ولا يغرق؟“ وطلبت من أختها الجامعية توضيحا للظاهرة.</a:t>
            </a:r>
          </a:p>
          <a:p>
            <a:pPr algn="r" rtl="1">
              <a:buNone/>
            </a:pPr>
            <a:r>
              <a:rPr lang="ar-DZ" b="1" dirty="0"/>
              <a:t>    برأيك ، </a:t>
            </a:r>
            <a:r>
              <a:rPr lang="ar-DZ" b="1" dirty="0" err="1"/>
              <a:t>ماهو</a:t>
            </a:r>
            <a:r>
              <a:rPr lang="ar-DZ" b="1" dirty="0"/>
              <a:t> </a:t>
            </a:r>
            <a:r>
              <a:rPr lang="ar-DZ" b="1" dirty="0" err="1"/>
              <a:t>التفسيرالعلمي</a:t>
            </a:r>
            <a:r>
              <a:rPr lang="ar-DZ" b="1" dirty="0"/>
              <a:t> الذي قدمته الأخت لريم؟</a:t>
            </a:r>
            <a:endParaRPr lang="fr-FR" b="1" dirty="0"/>
          </a:p>
        </p:txBody>
      </p:sp>
      <p:pic>
        <p:nvPicPr>
          <p:cNvPr id="8" name="Picture 2" descr="RÃ©sultat de recherche d'images pour &quot;les bouÃ©es&quot;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43050"/>
            <a:ext cx="4038600" cy="478634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ar-DZ" b="1" dirty="0">
                <a:solidFill>
                  <a:srgbClr val="FF0000"/>
                </a:solidFill>
              </a:rPr>
              <a:t>  </a:t>
            </a:r>
            <a:r>
              <a:rPr lang="ar-DZ" sz="3600" b="1" dirty="0">
                <a:solidFill>
                  <a:srgbClr val="FF0000"/>
                </a:solidFill>
              </a:rPr>
              <a:t>المهمة :بناء وضعية </a:t>
            </a:r>
            <a:r>
              <a:rPr lang="ar-DZ" sz="3600" b="1" dirty="0" err="1">
                <a:solidFill>
                  <a:srgbClr val="FF0000"/>
                </a:solidFill>
              </a:rPr>
              <a:t>تعلمية</a:t>
            </a:r>
            <a:r>
              <a:rPr lang="ar-DZ" sz="3600" b="1" dirty="0">
                <a:solidFill>
                  <a:srgbClr val="FF0000"/>
                </a:solidFill>
              </a:rPr>
              <a:t> </a:t>
            </a:r>
            <a:br>
              <a:rPr lang="ar-DZ" sz="3600" b="1" dirty="0">
                <a:solidFill>
                  <a:srgbClr val="FF0000"/>
                </a:solidFill>
              </a:rPr>
            </a:br>
            <a:r>
              <a:rPr lang="ar-DZ" sz="3600" b="1" dirty="0">
                <a:solidFill>
                  <a:srgbClr val="00B050"/>
                </a:solidFill>
              </a:rPr>
              <a:t>تطبيقات دافعة </a:t>
            </a:r>
            <a:r>
              <a:rPr lang="ar-DZ" sz="3600" b="1" dirty="0" err="1">
                <a:solidFill>
                  <a:srgbClr val="00B050"/>
                </a:solidFill>
              </a:rPr>
              <a:t>أرخميدس</a:t>
            </a:r>
            <a:r>
              <a:rPr lang="ar-DZ" sz="3600" b="1" dirty="0">
                <a:solidFill>
                  <a:srgbClr val="00B050"/>
                </a:solidFill>
              </a:rPr>
              <a:t>: البواخر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r" rtl="1">
              <a:buNone/>
            </a:pPr>
            <a:r>
              <a:rPr lang="ar-DZ" sz="3200" b="1" dirty="0">
                <a:solidFill>
                  <a:srgbClr val="FF0000"/>
                </a:solidFill>
              </a:rPr>
              <a:t>التعليمة </a:t>
            </a:r>
            <a:r>
              <a:rPr lang="ar-DZ" sz="3200" b="1" dirty="0"/>
              <a:t> </a:t>
            </a:r>
          </a:p>
          <a:p>
            <a:pPr algn="r" rtl="1">
              <a:buNone/>
            </a:pPr>
            <a:r>
              <a:rPr lang="ar-DZ" sz="3200" b="1" dirty="0"/>
              <a:t>   اقترح وضعية </a:t>
            </a:r>
            <a:r>
              <a:rPr lang="ar-DZ" sz="3200" b="1" dirty="0" err="1"/>
              <a:t>تعلمية</a:t>
            </a:r>
            <a:r>
              <a:rPr lang="ar-DZ" sz="3200" b="1" dirty="0"/>
              <a:t> حول طفو البواخر فوق مياه البحار رغم ضخامتها </a:t>
            </a:r>
          </a:p>
          <a:p>
            <a:pPr algn="r" rtl="1">
              <a:buNone/>
            </a:pPr>
            <a:r>
              <a:rPr lang="ar-DZ" sz="3200" b="1" dirty="0">
                <a:solidFill>
                  <a:srgbClr val="FF0000"/>
                </a:solidFill>
              </a:rPr>
              <a:t>السند</a:t>
            </a:r>
          </a:p>
          <a:p>
            <a:pPr algn="r" rtl="1">
              <a:buNone/>
            </a:pPr>
            <a:r>
              <a:rPr lang="ar-DZ" sz="3200" b="1" dirty="0"/>
              <a:t> صورة لباخرة في البحر    </a:t>
            </a:r>
            <a:endParaRPr lang="fr-FR" sz="3200" b="1" dirty="0"/>
          </a:p>
        </p:txBody>
      </p:sp>
      <p:pic>
        <p:nvPicPr>
          <p:cNvPr id="4098" name="Picture 2" descr="RÃ©sultat de recherche d'images pour &quot;â«Ø§ÙØ¨ÙØ§Ø®Ø±â¬â&quot;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500174"/>
            <a:ext cx="4214842" cy="478634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ar-DZ" b="1" dirty="0">
                <a:solidFill>
                  <a:srgbClr val="FF0000"/>
                </a:solidFill>
              </a:rPr>
              <a:t>نص الوضعية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500174"/>
            <a:ext cx="4138642" cy="4625989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pPr algn="r" rtl="1">
              <a:buNone/>
            </a:pPr>
            <a:r>
              <a:rPr lang="ar-DZ" b="1" dirty="0"/>
              <a:t>  زار وسيم رفقة أبيه ميناء </a:t>
            </a:r>
            <a:r>
              <a:rPr lang="ar-DZ" b="1" dirty="0" err="1"/>
              <a:t>عنابة</a:t>
            </a:r>
            <a:r>
              <a:rPr lang="ar-DZ" b="1" dirty="0"/>
              <a:t>، حيث لفت انتباهه باخرة ضخمة تطفو فوق الماء، في حين أنه رمى </a:t>
            </a:r>
            <a:r>
              <a:rPr lang="ar-DZ" b="1"/>
              <a:t>حجرا صغيرا في </a:t>
            </a:r>
            <a:r>
              <a:rPr lang="ar-DZ" b="1" dirty="0"/>
              <a:t>البحر فغاص . وسأل أبيه :  ” كيف لهذه الباخرة الضخمة أن تطفو فوق سطح الماء، بينما </a:t>
            </a:r>
            <a:r>
              <a:rPr lang="ar-DZ" b="1" dirty="0" err="1"/>
              <a:t>يغوص</a:t>
            </a:r>
            <a:r>
              <a:rPr lang="ar-DZ" b="1" dirty="0"/>
              <a:t> حجر صغير فيه؟“</a:t>
            </a:r>
          </a:p>
          <a:p>
            <a:pPr algn="r" rtl="1">
              <a:buNone/>
            </a:pPr>
            <a:r>
              <a:rPr lang="ar-DZ" b="1" dirty="0">
                <a:solidFill>
                  <a:srgbClr val="FF0000"/>
                </a:solidFill>
              </a:rPr>
              <a:t>   التعليمة</a:t>
            </a:r>
          </a:p>
          <a:p>
            <a:pPr algn="r">
              <a:buNone/>
            </a:pPr>
            <a:r>
              <a:rPr lang="ar-DZ" b="1" dirty="0" err="1"/>
              <a:t>ماهو</a:t>
            </a:r>
            <a:r>
              <a:rPr lang="ar-DZ" b="1" dirty="0"/>
              <a:t> التفسير العلمي الذي قدمه الأب لوسيم ؟ </a:t>
            </a:r>
            <a:endParaRPr lang="fr-FR" b="1" dirty="0"/>
          </a:p>
        </p:txBody>
      </p:sp>
      <p:pic>
        <p:nvPicPr>
          <p:cNvPr id="2050" name="Picture 2" descr="RÃ©sultat de recherche d'images pour &quot;â«Ø§ÙØ¨ÙØ§Ø®Ø±â¬â&quot;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571612"/>
            <a:ext cx="4214842" cy="4572032"/>
          </a:xfrm>
          <a:prstGeom prst="rect">
            <a:avLst/>
          </a:prstGeom>
          <a:noFill/>
        </p:spPr>
      </p:pic>
      <p:pic>
        <p:nvPicPr>
          <p:cNvPr id="2052" name="Picture 4" descr="RÃ©sultat de recherche d'images pour &quot;â«Ø§ÙØ¨ÙØ§Ø®Ø±â¬â&quot;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1500174"/>
            <a:ext cx="4357718" cy="4643470"/>
          </a:xfrm>
          <a:prstGeom prst="rect">
            <a:avLst/>
          </a:prstGeom>
          <a:noFill/>
        </p:spPr>
      </p:pic>
      <p:pic>
        <p:nvPicPr>
          <p:cNvPr id="7" name="Picture 2" descr="RÃ©sultat de recherche d'images pour &quot;â«Ø§ÙØ¨ÙØ§Ø®Ø±â¬â&quot;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500174"/>
            <a:ext cx="4357718" cy="4643470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build="p" animBg="1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</TotalTime>
  <Words>308</Words>
  <Application>Microsoft Office PowerPoint</Application>
  <PresentationFormat>On-screen Show (4:3)</PresentationFormat>
  <Paragraphs>52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Aldhabi</vt:lpstr>
      <vt:lpstr>Andalus</vt:lpstr>
      <vt:lpstr>Arial</vt:lpstr>
      <vt:lpstr>Calibri</vt:lpstr>
      <vt:lpstr>Times New Roman</vt:lpstr>
      <vt:lpstr>Thème Office</vt:lpstr>
      <vt:lpstr>تذكير بمراحل الملف التعلمي واسقاطه على ملف الظواهر  الضوئية والفلكية </vt:lpstr>
      <vt:lpstr>المهمة</vt:lpstr>
      <vt:lpstr>المهمة :بناء وضعية تعلمية ـ دافعة أرخميدس </vt:lpstr>
      <vt:lpstr>نص الوضعية</vt:lpstr>
      <vt:lpstr>المهمة:بناء وضعية تعلمية ـ دافعة أرخميدس</vt:lpstr>
      <vt:lpstr>نص الوضعية</vt:lpstr>
      <vt:lpstr>  المهمة :بناء وضعية تعلمية  تطبيقات دافعة أرخميدس: البواخر</vt:lpstr>
      <vt:lpstr>نص الوضعية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PC</dc:creator>
  <cp:lastModifiedBy>Fannan</cp:lastModifiedBy>
  <cp:revision>126</cp:revision>
  <dcterms:created xsi:type="dcterms:W3CDTF">2018-08-13T07:03:34Z</dcterms:created>
  <dcterms:modified xsi:type="dcterms:W3CDTF">2022-04-11T22:36:30Z</dcterms:modified>
</cp:coreProperties>
</file>