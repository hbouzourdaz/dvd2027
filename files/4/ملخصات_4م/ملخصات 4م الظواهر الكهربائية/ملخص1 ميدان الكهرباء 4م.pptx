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notesMasterIdLst>
    <p:notesMasterId r:id="rId28"/>
  </p:notesMasterIdLst>
  <p:sldIdLst>
    <p:sldId id="467" r:id="rId2"/>
    <p:sldId id="468" r:id="rId3"/>
    <p:sldId id="417" r:id="rId4"/>
    <p:sldId id="304" r:id="rId5"/>
    <p:sldId id="312" r:id="rId6"/>
    <p:sldId id="464" r:id="rId7"/>
    <p:sldId id="313" r:id="rId8"/>
    <p:sldId id="316" r:id="rId9"/>
    <p:sldId id="465" r:id="rId10"/>
    <p:sldId id="321" r:id="rId11"/>
    <p:sldId id="322" r:id="rId12"/>
    <p:sldId id="325" r:id="rId13"/>
    <p:sldId id="329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4" r:id="rId23"/>
    <p:sldId id="345" r:id="rId24"/>
    <p:sldId id="347" r:id="rId25"/>
    <p:sldId id="466" r:id="rId26"/>
    <p:sldId id="348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00"/>
    <a:srgbClr val="FF6699"/>
    <a:srgbClr val="00FFFF"/>
    <a:srgbClr val="1ADC1F"/>
    <a:srgbClr val="FF9900"/>
    <a:srgbClr val="66FF33"/>
    <a:srgbClr val="E03D10"/>
    <a:srgbClr val="CCCC00"/>
    <a:srgbClr val="FFFF00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8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54448-397C-4E48-9361-2A6078E18690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FAD20-3204-4858-8680-538F4D9C0802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2D35DAB-F668-425F-A7CF-39122BB49F12}" type="datetimeFigureOut">
              <a:rPr lang="fr-FR" smtClean="0"/>
              <a:pPr/>
              <a:t>11/08/2020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4215332-8E84-4E01-A1D5-2037368CC283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8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images (2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3212976"/>
            <a:ext cx="2736304" cy="2046103"/>
          </a:xfrm>
          <a:prstGeom prst="rect">
            <a:avLst/>
          </a:prstGeom>
        </p:spPr>
      </p:pic>
      <p:pic>
        <p:nvPicPr>
          <p:cNvPr id="5" name="Image 4" descr="téléchargemen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517" t="3468" r="41346" b="51450"/>
          <a:stretch>
            <a:fillRect/>
          </a:stretch>
        </p:blipFill>
        <p:spPr>
          <a:xfrm>
            <a:off x="3419872" y="3212976"/>
            <a:ext cx="2520280" cy="2304256"/>
          </a:xfrm>
          <a:prstGeom prst="rect">
            <a:avLst/>
          </a:prstGeom>
        </p:spPr>
      </p:pic>
      <p:pic>
        <p:nvPicPr>
          <p:cNvPr id="6" name="Image 5" descr="hqdefault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84168" y="3140968"/>
            <a:ext cx="2160240" cy="2304256"/>
          </a:xfrm>
          <a:prstGeom prst="rect">
            <a:avLst/>
          </a:prstGeom>
        </p:spPr>
      </p:pic>
      <p:sp>
        <p:nvSpPr>
          <p:cNvPr id="7" name="Rectangle à coins arrondis 6"/>
          <p:cNvSpPr/>
          <p:nvPr/>
        </p:nvSpPr>
        <p:spPr>
          <a:xfrm>
            <a:off x="0" y="404664"/>
            <a:ext cx="9144000" cy="2880320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>
                <a:solidFill>
                  <a:schemeClr val="bg1"/>
                </a:solidFill>
              </a:rPr>
              <a:t>مديرية التربية لولاية البليدة </a:t>
            </a:r>
          </a:p>
          <a:p>
            <a:pPr algn="ctr"/>
            <a:r>
              <a:rPr lang="ar-DZ" sz="4000" b="1" dirty="0">
                <a:solidFill>
                  <a:schemeClr val="bg1"/>
                </a:solidFill>
              </a:rPr>
              <a:t>مجموعة التحدي من اجل تحسين التعليم في الجزائر</a:t>
            </a:r>
          </a:p>
          <a:p>
            <a:pPr algn="r"/>
            <a:r>
              <a:rPr lang="ar-DZ" sz="4000" b="1" dirty="0">
                <a:solidFill>
                  <a:schemeClr val="bg1"/>
                </a:solidFill>
              </a:rPr>
              <a:t>ميدان الظواهر </a:t>
            </a:r>
            <a:r>
              <a:rPr lang="ar-DZ" sz="4000" b="1" dirty="0" err="1">
                <a:solidFill>
                  <a:schemeClr val="bg1"/>
                </a:solidFill>
              </a:rPr>
              <a:t>الكهربائية </a:t>
            </a:r>
            <a:r>
              <a:rPr lang="ar-DZ" sz="4000" b="1" dirty="0">
                <a:solidFill>
                  <a:schemeClr val="bg1"/>
                </a:solidFill>
              </a:rPr>
              <a:t>-السنة الرابعة متوسط  </a:t>
            </a:r>
          </a:p>
          <a:p>
            <a:pPr algn="ctr"/>
            <a:r>
              <a:rPr lang="ar-DZ" sz="4000" b="1" dirty="0">
                <a:solidFill>
                  <a:schemeClr val="bg1"/>
                </a:solidFill>
              </a:rPr>
              <a:t>علوم فيزيائية  </a:t>
            </a:r>
            <a:endParaRPr lang="fr-F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2195736" y="0"/>
            <a:ext cx="4464496" cy="792088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التكهرب والشحنة الكهربائية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avec flèche vers la gauche 5"/>
          <p:cNvSpPr/>
          <p:nvPr/>
        </p:nvSpPr>
        <p:spPr>
          <a:xfrm>
            <a:off x="6948264" y="0"/>
            <a:ext cx="1800200" cy="864096"/>
          </a:xfrm>
          <a:prstGeom prst="leftArrowCallou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الحصة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2987824" y="836712"/>
            <a:ext cx="3708920" cy="7920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طرق  </a:t>
            </a:r>
            <a:r>
              <a:rPr lang="ar-DZ" sz="2400" b="1" dirty="0" err="1">
                <a:solidFill>
                  <a:schemeClr val="bg1"/>
                </a:solidFill>
              </a:rPr>
              <a:t>التكهرب </a:t>
            </a:r>
            <a:r>
              <a:rPr lang="ar-DZ" sz="2400" b="1" dirty="0">
                <a:solidFill>
                  <a:schemeClr val="bg1"/>
                </a:solidFill>
              </a:rPr>
              <a:t>-لتكهرب </a:t>
            </a:r>
            <a:r>
              <a:rPr lang="ar-DZ" sz="2400" b="1" dirty="0" err="1">
                <a:solidFill>
                  <a:schemeClr val="bg1"/>
                </a:solidFill>
              </a:rPr>
              <a:t>بالدلك</a:t>
            </a:r>
            <a:r>
              <a:rPr lang="ar-DZ" sz="2400" b="1" dirty="0">
                <a:solidFill>
                  <a:schemeClr val="bg1"/>
                </a:solidFill>
              </a:rPr>
              <a:t>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avec flèche vers la gauche 7"/>
          <p:cNvSpPr/>
          <p:nvPr/>
        </p:nvSpPr>
        <p:spPr>
          <a:xfrm>
            <a:off x="7020272" y="836712"/>
            <a:ext cx="1800200" cy="864096"/>
          </a:xfrm>
          <a:prstGeom prst="leftArrowCallou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0" y="1916832"/>
            <a:ext cx="8820472" cy="3960440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ندلك قضيبا من البلاستيك بالقماش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او الصوف ثم نقربه  من </a:t>
            </a:r>
            <a:r>
              <a:rPr lang="ar-DZ" sz="2400" b="1" dirty="0" err="1">
                <a:solidFill>
                  <a:schemeClr val="bg1"/>
                </a:solidFill>
              </a:rPr>
              <a:t>قصصات</a:t>
            </a:r>
            <a:r>
              <a:rPr lang="ar-DZ" sz="2400" b="1" dirty="0">
                <a:solidFill>
                  <a:schemeClr val="bg1"/>
                </a:solidFill>
              </a:rPr>
              <a:t> ورقية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فنلاحظ انجذاب الاوراق نحو القضيب </a:t>
            </a:r>
            <a:r>
              <a:rPr lang="ar-DZ" sz="2400" b="1" dirty="0" err="1">
                <a:solidFill>
                  <a:schemeClr val="bg1"/>
                </a:solidFill>
              </a:rPr>
              <a:t>لانه</a:t>
            </a:r>
            <a:r>
              <a:rPr lang="ar-DZ" sz="2400" b="1" dirty="0">
                <a:solidFill>
                  <a:schemeClr val="bg1"/>
                </a:solidFill>
              </a:rPr>
              <a:t> تكهرب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بواسطة </a:t>
            </a:r>
            <a:r>
              <a:rPr lang="ar-DZ" sz="2400" b="1" dirty="0" err="1">
                <a:solidFill>
                  <a:schemeClr val="bg1"/>
                </a:solidFill>
              </a:rPr>
              <a:t>الدلك</a:t>
            </a:r>
            <a:r>
              <a:rPr lang="ar-DZ" sz="2400" b="1" dirty="0">
                <a:solidFill>
                  <a:schemeClr val="bg1"/>
                </a:solidFill>
              </a:rPr>
              <a:t>  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النتيجة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يمكن ان يتكهرب جسما ما </a:t>
            </a:r>
            <a:r>
              <a:rPr lang="ar-DZ" sz="2400" b="1" dirty="0" err="1">
                <a:solidFill>
                  <a:schemeClr val="bg1"/>
                </a:solidFill>
              </a:rPr>
              <a:t>بالدلك</a:t>
            </a:r>
            <a:r>
              <a:rPr lang="ar-DZ" sz="2400" b="1" dirty="0">
                <a:solidFill>
                  <a:schemeClr val="bg1"/>
                </a:solidFill>
              </a:rPr>
              <a:t>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12" name="Image 11" descr="images (1)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9512" y="2060848"/>
            <a:ext cx="2880320" cy="1584176"/>
          </a:xfrm>
          <a:prstGeom prst="rect">
            <a:avLst/>
          </a:prstGeom>
        </p:spPr>
      </p:pic>
      <p:pic>
        <p:nvPicPr>
          <p:cNvPr id="13" name="Image 12" descr="images (2)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504" y="3789040"/>
            <a:ext cx="3059831" cy="16860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6804248" y="0"/>
            <a:ext cx="1800200" cy="864096"/>
          </a:xfrm>
          <a:prstGeom prst="leftArrowCallou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2339752" y="0"/>
            <a:ext cx="4429000" cy="792088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طرق </a:t>
            </a:r>
            <a:r>
              <a:rPr lang="ar-DZ" sz="2400" b="1" dirty="0" err="1">
                <a:solidFill>
                  <a:schemeClr val="bg1"/>
                </a:solidFill>
              </a:rPr>
              <a:t>التكهرب </a:t>
            </a:r>
            <a:r>
              <a:rPr lang="ar-DZ" sz="2400" b="1" dirty="0">
                <a:solidFill>
                  <a:schemeClr val="bg1"/>
                </a:solidFill>
              </a:rPr>
              <a:t>-التكهرب باللمس 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-108520" y="980728"/>
            <a:ext cx="8820472" cy="504056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ندلك </a:t>
            </a:r>
            <a:r>
              <a:rPr lang="ar-DZ" sz="2400" b="1" dirty="0" err="1">
                <a:solidFill>
                  <a:schemeClr val="bg1"/>
                </a:solidFill>
              </a:rPr>
              <a:t>مسطرة  </a:t>
            </a:r>
            <a:r>
              <a:rPr lang="ar-DZ" sz="2400" b="1" dirty="0">
                <a:solidFill>
                  <a:schemeClr val="bg1"/>
                </a:solidFill>
              </a:rPr>
              <a:t>(تصبح مشحونة) ثم نقربها من </a:t>
            </a:r>
            <a:r>
              <a:rPr lang="ar-DZ" sz="2400" b="1" dirty="0" err="1">
                <a:solidFill>
                  <a:schemeClr val="bg1"/>
                </a:solidFill>
              </a:rPr>
              <a:t>كرية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غير مشحونة و مغلفة </a:t>
            </a:r>
            <a:r>
              <a:rPr lang="ar-DZ" sz="2400" b="1" dirty="0" err="1">
                <a:solidFill>
                  <a:schemeClr val="bg1"/>
                </a:solidFill>
              </a:rPr>
              <a:t>بالالومنيوم</a:t>
            </a:r>
            <a:r>
              <a:rPr lang="ar-DZ" sz="2400" b="1" dirty="0">
                <a:solidFill>
                  <a:schemeClr val="bg1"/>
                </a:solidFill>
              </a:rPr>
              <a:t>  حتى اللمس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نلاحظ ابتعاد </a:t>
            </a:r>
            <a:r>
              <a:rPr lang="ar-DZ" sz="2400" b="1" dirty="0" err="1">
                <a:solidFill>
                  <a:schemeClr val="bg1"/>
                </a:solidFill>
              </a:rPr>
              <a:t>الكرية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لانها</a:t>
            </a:r>
            <a:r>
              <a:rPr lang="ar-DZ" sz="2400" b="1" dirty="0">
                <a:solidFill>
                  <a:schemeClr val="bg1"/>
                </a:solidFill>
              </a:rPr>
              <a:t>  تكهربت باللمس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النتيجة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يمكن ان يتكهرب جسم ما باللمس    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908720"/>
            <a:ext cx="1835696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à coins arrondis 6"/>
          <p:cNvSpPr/>
          <p:nvPr/>
        </p:nvSpPr>
        <p:spPr>
          <a:xfrm rot="19198907">
            <a:off x="541843" y="1807953"/>
            <a:ext cx="1584176" cy="360040"/>
          </a:xfrm>
          <a:prstGeom prst="roundRec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31640" y="3068960"/>
            <a:ext cx="1368152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à coins arrondis 9"/>
          <p:cNvSpPr/>
          <p:nvPr/>
        </p:nvSpPr>
        <p:spPr>
          <a:xfrm>
            <a:off x="179512" y="4581128"/>
            <a:ext cx="1584176" cy="360040"/>
          </a:xfrm>
          <a:prstGeom prst="roundRec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/>
          <p:cNvSpPr/>
          <p:nvPr/>
        </p:nvSpPr>
        <p:spPr>
          <a:xfrm>
            <a:off x="323528" y="2420888"/>
            <a:ext cx="432048" cy="432048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2195736" y="4509120"/>
            <a:ext cx="432048" cy="432048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1"/>
          <p:cNvSpPr>
            <a:spLocks noChangeArrowheads="1"/>
          </p:cNvSpPr>
          <p:nvPr/>
        </p:nvSpPr>
        <p:spPr bwMode="auto">
          <a:xfrm>
            <a:off x="1857356" y="3143248"/>
            <a:ext cx="55007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D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0833" name="Rectangle 1"/>
          <p:cNvSpPr>
            <a:spLocks noChangeArrowheads="1"/>
          </p:cNvSpPr>
          <p:nvPr/>
        </p:nvSpPr>
        <p:spPr bwMode="auto">
          <a:xfrm>
            <a:off x="0" y="-2410584"/>
            <a:ext cx="1449436" cy="527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</a:t>
            </a:r>
            <a:r>
              <a:rPr kumimoji="0" lang="fr-FR" sz="3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endParaRPr kumimoji="0" 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ectangle avec flèche vers la gauche 4"/>
          <p:cNvSpPr/>
          <p:nvPr/>
        </p:nvSpPr>
        <p:spPr>
          <a:xfrm>
            <a:off x="6804248" y="0"/>
            <a:ext cx="1800200" cy="864096"/>
          </a:xfrm>
          <a:prstGeom prst="leftArrowCallou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3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3275856" y="188640"/>
            <a:ext cx="3348880" cy="7920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طرق </a:t>
            </a:r>
            <a:r>
              <a:rPr lang="ar-DZ" sz="2400" b="1" dirty="0" err="1">
                <a:solidFill>
                  <a:schemeClr val="bg1"/>
                </a:solidFill>
              </a:rPr>
              <a:t>التكهرب </a:t>
            </a:r>
            <a:r>
              <a:rPr lang="ar-DZ" sz="2400" b="1" dirty="0">
                <a:solidFill>
                  <a:schemeClr val="bg1"/>
                </a:solidFill>
              </a:rPr>
              <a:t>-التكهرب </a:t>
            </a:r>
            <a:r>
              <a:rPr lang="ar-DZ" sz="2400" b="1" dirty="0" err="1">
                <a:solidFill>
                  <a:schemeClr val="bg1"/>
                </a:solidFill>
              </a:rPr>
              <a:t>بالتاثير</a:t>
            </a:r>
            <a:r>
              <a:rPr lang="ar-DZ" sz="2400" b="1" dirty="0">
                <a:solidFill>
                  <a:schemeClr val="bg1"/>
                </a:solidFill>
              </a:rPr>
              <a:t>   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0" y="1700808"/>
            <a:ext cx="9144000" cy="4680520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ندلك انبوبا  من البلاستيك ثم نقربه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من كاشف كهربائي بدون لمس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فنلاحظ انفراج </a:t>
            </a:r>
            <a:r>
              <a:rPr lang="ar-DZ" sz="2400" b="1" dirty="0" err="1">
                <a:solidFill>
                  <a:schemeClr val="bg1"/>
                </a:solidFill>
              </a:rPr>
              <a:t>الصفيختين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لانها</a:t>
            </a:r>
            <a:r>
              <a:rPr lang="ar-DZ" sz="2400" b="1" dirty="0">
                <a:solidFill>
                  <a:schemeClr val="bg1"/>
                </a:solidFill>
              </a:rPr>
              <a:t> تكهربت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بدون لمس اي تكهرب </a:t>
            </a:r>
            <a:r>
              <a:rPr lang="ar-DZ" sz="2400" b="1" dirty="0" err="1">
                <a:solidFill>
                  <a:schemeClr val="bg1"/>
                </a:solidFill>
              </a:rPr>
              <a:t>بالتاثير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النتيجة  يمكن ان نكرب جسم ما </a:t>
            </a:r>
            <a:r>
              <a:rPr lang="ar-DZ" sz="2400" b="1" dirty="0" err="1">
                <a:solidFill>
                  <a:schemeClr val="bg1"/>
                </a:solidFill>
              </a:rPr>
              <a:t>بالتثيرتاثير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1187624" y="2924944"/>
            <a:ext cx="144016" cy="720080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1403648" y="2924944"/>
            <a:ext cx="144016" cy="72008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à coins arrondis 11"/>
          <p:cNvSpPr/>
          <p:nvPr/>
        </p:nvSpPr>
        <p:spPr>
          <a:xfrm>
            <a:off x="1187624" y="2276872"/>
            <a:ext cx="360040" cy="72008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à coins arrondis 12"/>
          <p:cNvSpPr/>
          <p:nvPr/>
        </p:nvSpPr>
        <p:spPr>
          <a:xfrm>
            <a:off x="971600" y="1988840"/>
            <a:ext cx="720080" cy="36004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à coins arrondis 13"/>
          <p:cNvSpPr/>
          <p:nvPr/>
        </p:nvSpPr>
        <p:spPr>
          <a:xfrm>
            <a:off x="539552" y="2348880"/>
            <a:ext cx="1656184" cy="1368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à coins arrondis 14"/>
          <p:cNvSpPr/>
          <p:nvPr/>
        </p:nvSpPr>
        <p:spPr>
          <a:xfrm>
            <a:off x="1043608" y="4365104"/>
            <a:ext cx="720080" cy="36004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1187624" y="4725144"/>
            <a:ext cx="360040" cy="72008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à coins arrondis 16"/>
          <p:cNvSpPr/>
          <p:nvPr/>
        </p:nvSpPr>
        <p:spPr>
          <a:xfrm rot="19637797">
            <a:off x="1538082" y="5316747"/>
            <a:ext cx="210406" cy="559371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à coins arrondis 17"/>
          <p:cNvSpPr/>
          <p:nvPr/>
        </p:nvSpPr>
        <p:spPr>
          <a:xfrm rot="2251819">
            <a:off x="1029241" y="5308220"/>
            <a:ext cx="189507" cy="490033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à coins arrondis 18"/>
          <p:cNvSpPr/>
          <p:nvPr/>
        </p:nvSpPr>
        <p:spPr>
          <a:xfrm>
            <a:off x="467544" y="4725144"/>
            <a:ext cx="1656184" cy="1368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à coins arrondis 19"/>
          <p:cNvSpPr/>
          <p:nvPr/>
        </p:nvSpPr>
        <p:spPr>
          <a:xfrm rot="20003881">
            <a:off x="1839202" y="3959742"/>
            <a:ext cx="1152128" cy="288032"/>
          </a:xfrm>
          <a:prstGeom prst="roundRec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6948264" y="0"/>
            <a:ext cx="1800200" cy="692696"/>
          </a:xfrm>
          <a:prstGeom prst="leftArrowCallou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الحصة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2195736" y="0"/>
            <a:ext cx="4464496" cy="620688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التكهرب والشحنة الكهربائية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avec flèche vers la gauche 4"/>
          <p:cNvSpPr/>
          <p:nvPr/>
        </p:nvSpPr>
        <p:spPr>
          <a:xfrm>
            <a:off x="7020272" y="692696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1115616" y="548680"/>
            <a:ext cx="5581128" cy="792088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الافعال المتبادلة بين شحنتين كهربائيتين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3347864" y="3429000"/>
            <a:ext cx="432048" cy="2880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5076056" y="3068960"/>
            <a:ext cx="432048" cy="2880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/>
          <p:cNvSpPr/>
          <p:nvPr/>
        </p:nvSpPr>
        <p:spPr>
          <a:xfrm>
            <a:off x="5076056" y="4293096"/>
            <a:ext cx="432048" cy="2880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à coins arrondis 11"/>
          <p:cNvSpPr/>
          <p:nvPr/>
        </p:nvSpPr>
        <p:spPr>
          <a:xfrm>
            <a:off x="0" y="1340768"/>
            <a:ext cx="8964488" cy="5400600"/>
          </a:xfrm>
          <a:prstGeom prst="roundRect">
            <a:avLst/>
          </a:prstGeom>
          <a:solidFill>
            <a:srgbClr val="FFFF00"/>
          </a:solidFill>
          <a:ln w="857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ندلك انبوبين من الزجاج  او </a:t>
            </a:r>
            <a:r>
              <a:rPr lang="ar-DZ" sz="2000" b="1" dirty="0" err="1">
                <a:solidFill>
                  <a:schemeClr val="bg1"/>
                </a:solidFill>
              </a:rPr>
              <a:t>الايبونيت</a:t>
            </a:r>
            <a:r>
              <a:rPr lang="ar-DZ" sz="2000" b="1" dirty="0">
                <a:solidFill>
                  <a:schemeClr val="bg1"/>
                </a:solidFill>
              </a:rPr>
              <a:t>  فيصبحا مشحونان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بنفس الشحنة </a:t>
            </a:r>
            <a:r>
              <a:rPr lang="ar-DZ" sz="2000" b="1" dirty="0" err="1">
                <a:solidFill>
                  <a:schemeClr val="bg1"/>
                </a:solidFill>
              </a:rPr>
              <a:t>لانهما</a:t>
            </a:r>
            <a:r>
              <a:rPr lang="ar-DZ" sz="2000" b="1" dirty="0">
                <a:solidFill>
                  <a:schemeClr val="bg1"/>
                </a:solidFill>
              </a:rPr>
              <a:t> من نفس المادة ثم نقربهما مع بعض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كما في الشكل 1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وندلك انبوبان الاول من الزجاج والثاني من </a:t>
            </a:r>
            <a:r>
              <a:rPr lang="ar-DZ" sz="2000" b="1" dirty="0" err="1">
                <a:solidFill>
                  <a:schemeClr val="bg1"/>
                </a:solidFill>
              </a:rPr>
              <a:t>الايبونيت</a:t>
            </a:r>
            <a:endParaRPr lang="ar-DZ" sz="2000" b="1" dirty="0">
              <a:solidFill>
                <a:schemeClr val="bg1"/>
              </a:solidFill>
            </a:endParaRP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فيصبحا لهما شحنة مختلفة </a:t>
            </a:r>
            <a:r>
              <a:rPr lang="ar-DZ" sz="2000" b="1" dirty="0" err="1">
                <a:solidFill>
                  <a:schemeClr val="bg1"/>
                </a:solidFill>
              </a:rPr>
              <a:t>لانها</a:t>
            </a:r>
            <a:r>
              <a:rPr lang="ar-DZ" sz="2000" b="1" dirty="0">
                <a:solidFill>
                  <a:schemeClr val="bg1"/>
                </a:solidFill>
              </a:rPr>
              <a:t> من مادة مختلفة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ثم نقرب الاول من الثاني  كما في الشكل 2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نلاحظ انهما في الحالة الاولى </a:t>
            </a:r>
            <a:r>
              <a:rPr lang="ar-DZ" sz="2000" b="1" dirty="0" err="1">
                <a:solidFill>
                  <a:schemeClr val="bg1"/>
                </a:solidFill>
              </a:rPr>
              <a:t>يتبعدان</a:t>
            </a:r>
            <a:r>
              <a:rPr lang="ar-DZ" sz="2000" b="1" dirty="0">
                <a:solidFill>
                  <a:schemeClr val="bg1"/>
                </a:solidFill>
              </a:rPr>
              <a:t> بسبب التكهرب 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وفي الحالة الثانية ينجذبان بسبب التكهرب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النتيجة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يحدث فعل متبادل بين كل جسمين مشحونين فيتنافران اذا كان من نفس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الشحنة و </a:t>
            </a:r>
            <a:r>
              <a:rPr lang="ar-DZ" sz="2000" b="1" dirty="0" err="1">
                <a:solidFill>
                  <a:schemeClr val="bg1"/>
                </a:solidFill>
              </a:rPr>
              <a:t>يتجذبان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  <a:r>
              <a:rPr lang="ar-DZ" sz="2000" b="1" dirty="0" err="1">
                <a:solidFill>
                  <a:schemeClr val="bg1"/>
                </a:solidFill>
              </a:rPr>
              <a:t>اذاكان</a:t>
            </a:r>
            <a:r>
              <a:rPr lang="ar-DZ" sz="2000" b="1" dirty="0">
                <a:solidFill>
                  <a:schemeClr val="bg1"/>
                </a:solidFill>
              </a:rPr>
              <a:t> من شحنة مختلفة </a:t>
            </a: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     </a:t>
            </a:r>
          </a:p>
          <a:p>
            <a:pPr algn="ctr"/>
            <a:endParaRPr lang="fr-FR" sz="2000" dirty="0"/>
          </a:p>
        </p:txBody>
      </p:sp>
      <p:pic>
        <p:nvPicPr>
          <p:cNvPr id="13" name="Image 12" descr="maxresdefault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340768"/>
            <a:ext cx="1763688" cy="1800200"/>
          </a:xfrm>
          <a:prstGeom prst="rect">
            <a:avLst/>
          </a:prstGeom>
        </p:spPr>
      </p:pic>
      <p:pic>
        <p:nvPicPr>
          <p:cNvPr id="14" name="Image 13" descr="maxresdefault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91680" y="1340768"/>
            <a:ext cx="1836712" cy="180020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pic>
        <p:nvPicPr>
          <p:cNvPr id="15" name="Image 14" descr="maxresdefault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149080"/>
            <a:ext cx="2016224" cy="1728192"/>
          </a:xfrm>
          <a:prstGeom prst="rect">
            <a:avLst/>
          </a:prstGeom>
        </p:spPr>
      </p:pic>
      <p:sp>
        <p:nvSpPr>
          <p:cNvPr id="16" name="Ellipse 15"/>
          <p:cNvSpPr/>
          <p:nvPr/>
        </p:nvSpPr>
        <p:spPr>
          <a:xfrm>
            <a:off x="2771800" y="1628800"/>
            <a:ext cx="360040" cy="2880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/>
          <p:cNvSpPr/>
          <p:nvPr/>
        </p:nvSpPr>
        <p:spPr>
          <a:xfrm>
            <a:off x="2699792" y="2780928"/>
            <a:ext cx="360040" cy="2880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1331640" y="4725144"/>
            <a:ext cx="360040" cy="2880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à coins arrondis 18"/>
          <p:cNvSpPr/>
          <p:nvPr/>
        </p:nvSpPr>
        <p:spPr>
          <a:xfrm>
            <a:off x="467544" y="3140968"/>
            <a:ext cx="151216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شكل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20" name="Rectangle à coins arrondis 19"/>
          <p:cNvSpPr/>
          <p:nvPr/>
        </p:nvSpPr>
        <p:spPr>
          <a:xfrm>
            <a:off x="683568" y="6021288"/>
            <a:ext cx="151216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شكل 2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avec flèche vers la gauche 4"/>
          <p:cNvSpPr/>
          <p:nvPr/>
        </p:nvSpPr>
        <p:spPr>
          <a:xfrm>
            <a:off x="7020272" y="476672"/>
            <a:ext cx="1800200" cy="864096"/>
          </a:xfrm>
          <a:prstGeom prst="leftArrowCallou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1115616" y="548680"/>
            <a:ext cx="5581128" cy="792088"/>
          </a:xfrm>
          <a:prstGeom prst="roundRec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انواع الشحنات الكهربائية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3347864" y="3429000"/>
            <a:ext cx="432048" cy="2880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5076056" y="3068960"/>
            <a:ext cx="432048" cy="2880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/>
          <p:cNvSpPr/>
          <p:nvPr/>
        </p:nvSpPr>
        <p:spPr>
          <a:xfrm>
            <a:off x="5076056" y="4293096"/>
            <a:ext cx="432048" cy="2880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à coins arrondis 11"/>
          <p:cNvSpPr/>
          <p:nvPr/>
        </p:nvSpPr>
        <p:spPr>
          <a:xfrm>
            <a:off x="0" y="1340768"/>
            <a:ext cx="8964488" cy="5400600"/>
          </a:xfrm>
          <a:prstGeom prst="roundRect">
            <a:avLst/>
          </a:prstGeom>
          <a:solidFill>
            <a:srgbClr val="99CC00"/>
          </a:solidFill>
          <a:ln w="857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من خلال ظاهرتي التجاذب والتنافر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(الافعال المتبادلة بين </a:t>
            </a:r>
            <a:r>
              <a:rPr lang="ar-DZ" sz="2400" b="1" dirty="0" err="1">
                <a:solidFill>
                  <a:schemeClr val="bg1"/>
                </a:solidFill>
              </a:rPr>
              <a:t>شخنتين</a:t>
            </a:r>
            <a:r>
              <a:rPr lang="ar-DZ" sz="2400" b="1" dirty="0">
                <a:solidFill>
                  <a:schemeClr val="bg1"/>
                </a:solidFill>
              </a:rPr>
              <a:t> كهربائيتين</a:t>
            </a:r>
            <a:r>
              <a:rPr lang="ar-DZ" sz="2400" b="1" dirty="0" err="1">
                <a:solidFill>
                  <a:schemeClr val="bg1"/>
                </a:solidFill>
              </a:rPr>
              <a:t>)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نلاحظ وجود شحنتين كهربائيتين مختلفتين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واصطلح انها شحنة كهربائية موجبة وشحنة كهربائي سالبة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نتيجة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هناك نوعين من الشحنات شحنة كهربائية موجبة  رمزها  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    وشحنة كهربائية سالبة رمزها</a:t>
            </a: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     </a:t>
            </a:r>
          </a:p>
          <a:p>
            <a:pPr algn="ctr"/>
            <a:endParaRPr lang="fr-FR" sz="2000" dirty="0"/>
          </a:p>
        </p:txBody>
      </p:sp>
      <p:pic>
        <p:nvPicPr>
          <p:cNvPr id="33" name="Image 32" descr="Charges_rep_attra-300x19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31840" y="4869160"/>
            <a:ext cx="2857500" cy="1819275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36" name="Ellipse 35"/>
          <p:cNvSpPr/>
          <p:nvPr/>
        </p:nvSpPr>
        <p:spPr>
          <a:xfrm>
            <a:off x="5148064" y="6237312"/>
            <a:ext cx="432048" cy="432048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400" dirty="0" err="1">
                <a:solidFill>
                  <a:schemeClr val="bg1"/>
                </a:solidFill>
              </a:rPr>
              <a:t>-</a:t>
            </a:r>
            <a:endParaRPr lang="fr-FR" sz="4400" dirty="0">
              <a:solidFill>
                <a:schemeClr val="bg1"/>
              </a:solidFill>
            </a:endParaRPr>
          </a:p>
        </p:txBody>
      </p:sp>
      <p:sp>
        <p:nvSpPr>
          <p:cNvPr id="38" name="Ellipse 37"/>
          <p:cNvSpPr/>
          <p:nvPr/>
        </p:nvSpPr>
        <p:spPr>
          <a:xfrm>
            <a:off x="3563888" y="5517232"/>
            <a:ext cx="432048" cy="432048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400" dirty="0" err="1">
                <a:solidFill>
                  <a:schemeClr val="bg1"/>
                </a:solidFill>
              </a:rPr>
              <a:t>-</a:t>
            </a:r>
            <a:endParaRPr lang="fr-FR" sz="4400" dirty="0">
              <a:solidFill>
                <a:schemeClr val="bg1"/>
              </a:solidFill>
            </a:endParaRPr>
          </a:p>
        </p:txBody>
      </p:sp>
      <p:sp>
        <p:nvSpPr>
          <p:cNvPr id="39" name="Ellipse 38"/>
          <p:cNvSpPr/>
          <p:nvPr/>
        </p:nvSpPr>
        <p:spPr>
          <a:xfrm>
            <a:off x="5148064" y="5589240"/>
            <a:ext cx="432048" cy="432048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400" dirty="0" err="1">
                <a:solidFill>
                  <a:schemeClr val="bg1"/>
                </a:solidFill>
              </a:rPr>
              <a:t>-</a:t>
            </a:r>
            <a:endParaRPr lang="fr-FR" sz="4400" dirty="0">
              <a:solidFill>
                <a:schemeClr val="bg1"/>
              </a:solidFill>
            </a:endParaRPr>
          </a:p>
        </p:txBody>
      </p:sp>
      <p:sp>
        <p:nvSpPr>
          <p:cNvPr id="40" name="Ellipse 39"/>
          <p:cNvSpPr/>
          <p:nvPr/>
        </p:nvSpPr>
        <p:spPr>
          <a:xfrm>
            <a:off x="4499992" y="4437112"/>
            <a:ext cx="432048" cy="432048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400" dirty="0" err="1">
                <a:solidFill>
                  <a:schemeClr val="bg1"/>
                </a:solidFill>
              </a:rPr>
              <a:t>-</a:t>
            </a:r>
            <a:endParaRPr lang="fr-FR" sz="4400" dirty="0">
              <a:solidFill>
                <a:schemeClr val="bg1"/>
              </a:solidFill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2555776" y="4077072"/>
            <a:ext cx="432048" cy="432048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400" b="1" dirty="0" err="1">
                <a:solidFill>
                  <a:schemeClr val="bg1"/>
                </a:solidFill>
              </a:rPr>
              <a:t>+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42" name="Ellipse 41"/>
          <p:cNvSpPr/>
          <p:nvPr/>
        </p:nvSpPr>
        <p:spPr>
          <a:xfrm>
            <a:off x="3563888" y="6165304"/>
            <a:ext cx="432048" cy="432048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400" b="1" dirty="0" err="1">
                <a:solidFill>
                  <a:schemeClr val="bg1"/>
                </a:solidFill>
              </a:rPr>
              <a:t>+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43" name="Ellipse 42"/>
          <p:cNvSpPr/>
          <p:nvPr/>
        </p:nvSpPr>
        <p:spPr>
          <a:xfrm>
            <a:off x="5148064" y="4941168"/>
            <a:ext cx="432048" cy="432048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400" b="1" dirty="0" err="1">
                <a:solidFill>
                  <a:schemeClr val="bg1"/>
                </a:solidFill>
              </a:rPr>
              <a:t>+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44" name="Ellipse 43"/>
          <p:cNvSpPr/>
          <p:nvPr/>
        </p:nvSpPr>
        <p:spPr>
          <a:xfrm>
            <a:off x="3563888" y="4941168"/>
            <a:ext cx="432048" cy="432048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400" b="1" dirty="0" err="1">
                <a:solidFill>
                  <a:schemeClr val="bg1"/>
                </a:solidFill>
              </a:rPr>
              <a:t>+</a:t>
            </a:r>
            <a:endParaRPr lang="fr-FR" sz="4400" b="1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84784"/>
            <a:ext cx="4283968" cy="1791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Ellipse 18"/>
          <p:cNvSpPr/>
          <p:nvPr/>
        </p:nvSpPr>
        <p:spPr>
          <a:xfrm>
            <a:off x="827584" y="2132856"/>
            <a:ext cx="144016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/>
          <p:cNvSpPr/>
          <p:nvPr/>
        </p:nvSpPr>
        <p:spPr>
          <a:xfrm>
            <a:off x="323528" y="2132856"/>
            <a:ext cx="144016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/>
          <p:cNvSpPr/>
          <p:nvPr/>
        </p:nvSpPr>
        <p:spPr>
          <a:xfrm>
            <a:off x="1619672" y="2132856"/>
            <a:ext cx="144016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/>
          <p:cNvSpPr/>
          <p:nvPr/>
        </p:nvSpPr>
        <p:spPr>
          <a:xfrm>
            <a:off x="2195736" y="2132856"/>
            <a:ext cx="144016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/>
          <p:cNvSpPr/>
          <p:nvPr/>
        </p:nvSpPr>
        <p:spPr>
          <a:xfrm>
            <a:off x="3419872" y="2132856"/>
            <a:ext cx="144016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/>
          <p:cNvSpPr/>
          <p:nvPr/>
        </p:nvSpPr>
        <p:spPr>
          <a:xfrm>
            <a:off x="3635896" y="2132856"/>
            <a:ext cx="144016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6948264" y="0"/>
            <a:ext cx="1800200" cy="864096"/>
          </a:xfrm>
          <a:prstGeom prst="leftArrowCallou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الحصة 3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2411760" y="188640"/>
            <a:ext cx="4464496" cy="620688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نموذج  مبسط للذرة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avec flèche vers la gauche 4"/>
          <p:cNvSpPr/>
          <p:nvPr/>
        </p:nvSpPr>
        <p:spPr>
          <a:xfrm>
            <a:off x="7020272" y="692696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339752" y="908720"/>
            <a:ext cx="4464496" cy="620688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تطور نموذج الذرة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0" y="1484784"/>
            <a:ext cx="9144000" cy="51125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000" b="1" dirty="0">
                <a:solidFill>
                  <a:schemeClr val="bg1"/>
                </a:solidFill>
              </a:rPr>
              <a:t>1-نموج </a:t>
            </a:r>
            <a:r>
              <a:rPr lang="ar-DZ" sz="2000" b="1" dirty="0" err="1">
                <a:solidFill>
                  <a:schemeClr val="bg1"/>
                </a:solidFill>
              </a:rPr>
              <a:t>دالتون</a:t>
            </a:r>
            <a:r>
              <a:rPr lang="ar-DZ" sz="2000" b="1" dirty="0">
                <a:solidFill>
                  <a:schemeClr val="bg1"/>
                </a:solidFill>
              </a:rPr>
              <a:t> ظهر سنة 1803 م حيث يتكون المحيط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المادي على </a:t>
            </a:r>
            <a:r>
              <a:rPr lang="ar-DZ" sz="2000" b="1" dirty="0" err="1">
                <a:solidFill>
                  <a:schemeClr val="bg1"/>
                </a:solidFill>
              </a:rPr>
              <a:t>مكونواحد</a:t>
            </a:r>
            <a:r>
              <a:rPr lang="ar-DZ" sz="2000" b="1" dirty="0">
                <a:solidFill>
                  <a:schemeClr val="bg1"/>
                </a:solidFill>
              </a:rPr>
              <a:t> لا يقبل الانقسام وهو الذرة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2-نموذج </a:t>
            </a:r>
            <a:r>
              <a:rPr lang="ar-DZ" sz="2000" b="1" dirty="0" err="1">
                <a:solidFill>
                  <a:schemeClr val="bg1"/>
                </a:solidFill>
              </a:rPr>
              <a:t>طومسون </a:t>
            </a:r>
            <a:r>
              <a:rPr lang="ar-DZ" sz="2000" b="1" dirty="0">
                <a:solidFill>
                  <a:schemeClr val="bg1"/>
                </a:solidFill>
              </a:rPr>
              <a:t>(النموذج الكروي</a:t>
            </a:r>
            <a:r>
              <a:rPr lang="ar-DZ" sz="2000" b="1" dirty="0" err="1">
                <a:solidFill>
                  <a:schemeClr val="bg1"/>
                </a:solidFill>
              </a:rPr>
              <a:t>)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ظهر سنة 1903 بعدما اكتشف الالكترونات سنة </a:t>
            </a:r>
            <a:r>
              <a:rPr lang="ar-DZ" sz="2000" b="1" dirty="0" err="1">
                <a:solidFill>
                  <a:schemeClr val="bg1"/>
                </a:solidFill>
              </a:rPr>
              <a:t>1897م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اكد على ان الذرة ذات شكل كروي موجبة الشحنة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ومحشوة بالالكترونات ذات شحنة سالبة 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3-</a:t>
            </a:r>
            <a:r>
              <a:rPr lang="ar-DZ" sz="2000" b="1" dirty="0" err="1">
                <a:solidFill>
                  <a:schemeClr val="bg1"/>
                </a:solidFill>
              </a:rPr>
              <a:t>موذج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  <a:r>
              <a:rPr lang="ar-DZ" sz="2000" b="1" dirty="0" err="1">
                <a:solidFill>
                  <a:schemeClr val="bg1"/>
                </a:solidFill>
              </a:rPr>
              <a:t>روذفورد</a:t>
            </a:r>
            <a:r>
              <a:rPr lang="ar-DZ" sz="2000" b="1" dirty="0">
                <a:solidFill>
                  <a:schemeClr val="bg1"/>
                </a:solidFill>
              </a:rPr>
              <a:t> (النموذج الكوكبي)ظهر سنة 1912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حيث بين ان للذرة نواة مركزية شحنتها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موجبة وتحتوي على </a:t>
            </a:r>
            <a:r>
              <a:rPr lang="ar-DZ" sz="2000" b="1" dirty="0" err="1">
                <a:solidFill>
                  <a:schemeClr val="bg1"/>
                </a:solidFill>
              </a:rPr>
              <a:t>برتونات</a:t>
            </a:r>
            <a:r>
              <a:rPr lang="ar-DZ" sz="2000" b="1" dirty="0">
                <a:solidFill>
                  <a:schemeClr val="bg1"/>
                </a:solidFill>
              </a:rPr>
              <a:t>  وحولها مدارات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</a:t>
            </a:r>
            <a:r>
              <a:rPr lang="ar-DZ" sz="2000" b="1" dirty="0" err="1">
                <a:solidFill>
                  <a:schemeClr val="bg1"/>
                </a:solidFill>
              </a:rPr>
              <a:t>بها</a:t>
            </a:r>
            <a:r>
              <a:rPr lang="ar-DZ" sz="2000" b="1" dirty="0">
                <a:solidFill>
                  <a:schemeClr val="bg1"/>
                </a:solidFill>
              </a:rPr>
              <a:t> الكترونات ذات شحنة  سالبة </a:t>
            </a:r>
            <a:r>
              <a:rPr lang="ar-DZ" sz="2000" b="1" dirty="0" err="1">
                <a:solidFill>
                  <a:schemeClr val="bg1"/>
                </a:solidFill>
              </a:rPr>
              <a:t>تدورر</a:t>
            </a:r>
            <a:r>
              <a:rPr lang="ar-DZ" sz="2000" b="1" dirty="0">
                <a:solidFill>
                  <a:schemeClr val="bg1"/>
                </a:solidFill>
              </a:rPr>
              <a:t> حول النواة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4-نموذج بور  ظهر سنة  </a:t>
            </a:r>
            <a:r>
              <a:rPr lang="ar-DZ" sz="2000" b="1" dirty="0" err="1">
                <a:solidFill>
                  <a:schemeClr val="bg1"/>
                </a:solidFill>
              </a:rPr>
              <a:t>1913م</a:t>
            </a:r>
            <a:r>
              <a:rPr lang="ar-DZ" sz="2000" b="1" dirty="0">
                <a:solidFill>
                  <a:schemeClr val="bg1"/>
                </a:solidFill>
              </a:rPr>
              <a:t> حيث بسط نموج </a:t>
            </a:r>
            <a:r>
              <a:rPr lang="ar-DZ" sz="2000" b="1" dirty="0" err="1">
                <a:solidFill>
                  <a:schemeClr val="bg1"/>
                </a:solidFill>
              </a:rPr>
              <a:t>روذفورد</a:t>
            </a:r>
            <a:r>
              <a:rPr lang="ar-DZ" sz="2000" b="1" dirty="0">
                <a:solidFill>
                  <a:schemeClr val="bg1"/>
                </a:solidFill>
              </a:rPr>
              <a:t> الى شكل مسطح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للذرة ويتكون من نواة ومدارات دائرية حولها تدور فيها الالكترونات      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5696" y="1484784"/>
            <a:ext cx="1656184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Image 14" descr="téléchargement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3068960"/>
            <a:ext cx="1575618" cy="1575618"/>
          </a:xfrm>
          <a:prstGeom prst="rect">
            <a:avLst/>
          </a:prstGeom>
        </p:spPr>
      </p:pic>
      <p:sp>
        <p:nvSpPr>
          <p:cNvPr id="16" name="Rectangle à coins arrondis 15"/>
          <p:cNvSpPr/>
          <p:nvPr/>
        </p:nvSpPr>
        <p:spPr>
          <a:xfrm>
            <a:off x="107504" y="4653136"/>
            <a:ext cx="1584176" cy="3600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>
                <a:solidFill>
                  <a:schemeClr val="bg1"/>
                </a:solidFill>
              </a:rPr>
              <a:t>نموذج بور 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84784"/>
            <a:ext cx="1772505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07704" y="3140968"/>
            <a:ext cx="1584176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tangle à coins arrondis 19"/>
          <p:cNvSpPr/>
          <p:nvPr/>
        </p:nvSpPr>
        <p:spPr>
          <a:xfrm>
            <a:off x="1835696" y="4653136"/>
            <a:ext cx="1800200" cy="3600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>
                <a:solidFill>
                  <a:schemeClr val="bg1"/>
                </a:solidFill>
              </a:rPr>
              <a:t>نموذج </a:t>
            </a:r>
            <a:r>
              <a:rPr lang="ar-DZ" sz="2000" b="1" dirty="0" err="1">
                <a:solidFill>
                  <a:schemeClr val="bg1"/>
                </a:solidFill>
              </a:rPr>
              <a:t>روذرفورد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22" name="Rectangle à coins arrondis 21"/>
          <p:cNvSpPr/>
          <p:nvPr/>
        </p:nvSpPr>
        <p:spPr>
          <a:xfrm>
            <a:off x="0" y="2780928"/>
            <a:ext cx="1584176" cy="3600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>
                <a:solidFill>
                  <a:schemeClr val="bg1"/>
                </a:solidFill>
              </a:rPr>
              <a:t>نموذج طومسون 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6876256" y="0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2411760" y="0"/>
            <a:ext cx="4464496" cy="620688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بنية الذرة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0" y="836712"/>
            <a:ext cx="9144000" cy="576064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من خلال النموذج الكوكبي </a:t>
            </a:r>
            <a:r>
              <a:rPr lang="ar-DZ" sz="2400" b="1" dirty="0" err="1">
                <a:solidFill>
                  <a:schemeClr val="bg1"/>
                </a:solidFill>
              </a:rPr>
              <a:t>للذرة </a:t>
            </a:r>
            <a:r>
              <a:rPr lang="ar-DZ" sz="2400" b="1" dirty="0">
                <a:solidFill>
                  <a:schemeClr val="bg1"/>
                </a:solidFill>
              </a:rPr>
              <a:t>(نموذج </a:t>
            </a:r>
            <a:r>
              <a:rPr lang="ar-DZ" sz="2400" b="1" dirty="0" err="1">
                <a:solidFill>
                  <a:schemeClr val="bg1"/>
                </a:solidFill>
              </a:rPr>
              <a:t>روذرفورد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)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او نمج بور انها تتكون من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1-نواة مركزية 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2-مدارات تحيط بالنواة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3-الكترونات تدور حول النواة ذات شحنة سالبة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4-</a:t>
            </a:r>
            <a:r>
              <a:rPr lang="ar-DZ" sz="2400" b="1" dirty="0" err="1">
                <a:solidFill>
                  <a:schemeClr val="bg1"/>
                </a:solidFill>
              </a:rPr>
              <a:t>برتونات</a:t>
            </a:r>
            <a:r>
              <a:rPr lang="ar-DZ" sz="2400" b="1" dirty="0">
                <a:solidFill>
                  <a:schemeClr val="bg1"/>
                </a:solidFill>
              </a:rPr>
              <a:t> توجد داخل النواة ذات شحنة موجبة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نلاحظ ان اصغر عنصر فيها هو الالكترونات  </a:t>
            </a:r>
            <a:r>
              <a:rPr lang="ar-DZ" sz="2400" b="1" dirty="0" err="1">
                <a:solidFill>
                  <a:schemeClr val="bg1"/>
                </a:solidFill>
              </a:rPr>
              <a:t>والبرتونات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النتيجة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ان كل ذرة تتكون من نواة مركزية </a:t>
            </a:r>
            <a:r>
              <a:rPr lang="ar-DZ" sz="2400" b="1" dirty="0" err="1">
                <a:solidFill>
                  <a:schemeClr val="bg1"/>
                </a:solidFill>
              </a:rPr>
              <a:t>بها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برتونات</a:t>
            </a:r>
            <a:r>
              <a:rPr lang="ar-DZ" sz="2400" b="1" dirty="0">
                <a:solidFill>
                  <a:schemeClr val="bg1"/>
                </a:solidFill>
              </a:rPr>
              <a:t> موجبة الشحنة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ومدارات تحيط </a:t>
            </a:r>
            <a:r>
              <a:rPr lang="ar-DZ" sz="2400" b="1" dirty="0" err="1">
                <a:solidFill>
                  <a:schemeClr val="bg1"/>
                </a:solidFill>
              </a:rPr>
              <a:t>بالنواه</a:t>
            </a:r>
            <a:r>
              <a:rPr lang="ar-DZ" sz="2400" b="1" dirty="0">
                <a:solidFill>
                  <a:schemeClr val="bg1"/>
                </a:solidFill>
              </a:rPr>
              <a:t>  فيها الكترونات سالبة الشحنة تدور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حول النواة </a:t>
            </a:r>
          </a:p>
          <a:p>
            <a:pPr algn="r"/>
            <a:r>
              <a:rPr lang="fr-FR" sz="2400" b="1" dirty="0">
                <a:solidFill>
                  <a:schemeClr val="bg1"/>
                </a:solidFill>
              </a:rPr>
              <a:t>e-</a:t>
            </a:r>
            <a:r>
              <a:rPr lang="ar-DZ" sz="2400" b="1" dirty="0">
                <a:solidFill>
                  <a:schemeClr val="bg1"/>
                </a:solidFill>
              </a:rPr>
              <a:t>اما اصغر شحنة وهي الشحنة العنصرية للذرة هي الالكترون ورمزها </a:t>
            </a:r>
          </a:p>
          <a:p>
            <a:pPr algn="r"/>
            <a:r>
              <a:rPr lang="fr-FR" sz="2400" b="1" dirty="0">
                <a:solidFill>
                  <a:schemeClr val="bg1"/>
                </a:solidFill>
              </a:rPr>
              <a:t>C</a:t>
            </a:r>
            <a:r>
              <a:rPr lang="ar-DZ" sz="2400" b="1" dirty="0">
                <a:solidFill>
                  <a:schemeClr val="bg1"/>
                </a:solidFill>
              </a:rPr>
              <a:t> ووحدتها </a:t>
            </a:r>
            <a:r>
              <a:rPr lang="ar-DZ" sz="2400" b="1" dirty="0" err="1">
                <a:solidFill>
                  <a:schemeClr val="bg1"/>
                </a:solidFill>
              </a:rPr>
              <a:t>الكولون</a:t>
            </a:r>
            <a:r>
              <a:rPr lang="ar-DZ" sz="2400" b="1" dirty="0">
                <a:solidFill>
                  <a:schemeClr val="bg1"/>
                </a:solidFill>
              </a:rPr>
              <a:t> رمزها </a:t>
            </a:r>
            <a:r>
              <a:rPr lang="fr-FR" sz="2400" b="1" dirty="0">
                <a:solidFill>
                  <a:schemeClr val="bg1"/>
                </a:solidFill>
              </a:rPr>
              <a:t> </a:t>
            </a:r>
            <a:r>
              <a:rPr lang="ar-DZ" sz="2400" b="1" dirty="0">
                <a:solidFill>
                  <a:schemeClr val="bg1"/>
                </a:solidFill>
              </a:rPr>
              <a:t>حيث ذات قيمة ثابتة</a:t>
            </a:r>
          </a:p>
          <a:p>
            <a:pPr algn="r"/>
            <a:r>
              <a:rPr lang="fr-FR" sz="2800" b="1" dirty="0">
                <a:solidFill>
                  <a:schemeClr val="bg1"/>
                </a:solidFill>
              </a:rPr>
              <a:t>e</a:t>
            </a:r>
            <a:r>
              <a:rPr lang="fr-FR" sz="2400" b="1" dirty="0">
                <a:solidFill>
                  <a:schemeClr val="bg1"/>
                </a:solidFill>
              </a:rPr>
              <a:t>=1.6x</a:t>
            </a:r>
            <a:r>
              <a:rPr lang="fr-FR" sz="2400" b="1" dirty="0">
                <a:solidFill>
                  <a:schemeClr val="dk1"/>
                </a:solidFill>
              </a:rPr>
              <a:t>10</a:t>
            </a:r>
            <a:r>
              <a:rPr lang="fr-FR" sz="2400" b="1" baseline="30000" dirty="0">
                <a:solidFill>
                  <a:schemeClr val="dk1"/>
                </a:solidFill>
              </a:rPr>
              <a:t>-6</a:t>
            </a:r>
            <a:r>
              <a:rPr lang="fr-FR" sz="2400" b="1" dirty="0">
                <a:solidFill>
                  <a:schemeClr val="bg1"/>
                </a:solidFill>
              </a:rPr>
              <a:t> C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</p:txBody>
      </p:sp>
      <p:pic>
        <p:nvPicPr>
          <p:cNvPr id="9" name="Image 8" descr="images (1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836712"/>
            <a:ext cx="2267744" cy="2160240"/>
          </a:xfrm>
          <a:prstGeom prst="rect">
            <a:avLst/>
          </a:prstGeom>
        </p:spPr>
      </p:pic>
      <p:pic>
        <p:nvPicPr>
          <p:cNvPr id="30" name="Image 29" descr="téléchargement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2996952"/>
            <a:ext cx="2339752" cy="15756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6876256" y="0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3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403648" y="0"/>
            <a:ext cx="5472608" cy="620688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امثلة على بنية الذرة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107504" y="764704"/>
            <a:ext cx="8712968" cy="6093296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*ذرة الهيدروجين تتكون من </a:t>
            </a:r>
            <a:r>
              <a:rPr lang="ar-DZ" sz="2400" b="1" dirty="0" err="1">
                <a:solidFill>
                  <a:schemeClr val="bg1"/>
                </a:solidFill>
              </a:rPr>
              <a:t>الترون</a:t>
            </a:r>
            <a:r>
              <a:rPr lang="ar-DZ" sz="2400" b="1" dirty="0">
                <a:solidFill>
                  <a:schemeClr val="bg1"/>
                </a:solidFill>
              </a:rPr>
              <a:t> واحد </a:t>
            </a:r>
            <a:r>
              <a:rPr lang="ar-DZ" sz="2400" b="1" dirty="0" err="1">
                <a:solidFill>
                  <a:schemeClr val="bg1"/>
                </a:solidFill>
              </a:rPr>
              <a:t>وبرتون</a:t>
            </a:r>
            <a:r>
              <a:rPr lang="ar-DZ" sz="2400" b="1" dirty="0">
                <a:solidFill>
                  <a:schemeClr val="bg1"/>
                </a:solidFill>
              </a:rPr>
              <a:t> واحد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*ذرة الكربون تتكون من 6 الكترون  </a:t>
            </a:r>
            <a:r>
              <a:rPr lang="ar-DZ" sz="2400" b="1" dirty="0" err="1">
                <a:solidFill>
                  <a:schemeClr val="bg1"/>
                </a:solidFill>
              </a:rPr>
              <a:t>و6</a:t>
            </a:r>
            <a:r>
              <a:rPr lang="ar-DZ" sz="2400" b="1" dirty="0">
                <a:solidFill>
                  <a:schemeClr val="bg1"/>
                </a:solidFill>
              </a:rPr>
              <a:t> بروتون 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*ذرة الاكسجين تتكون من 8 الكترون </a:t>
            </a:r>
            <a:r>
              <a:rPr lang="ar-DZ" sz="2400" b="1" dirty="0" err="1">
                <a:solidFill>
                  <a:schemeClr val="bg1"/>
                </a:solidFill>
              </a:rPr>
              <a:t>و8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برتون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النتيجة   جميع </a:t>
            </a:r>
            <a:r>
              <a:rPr lang="ar-DZ" sz="2400" b="1" dirty="0" err="1">
                <a:solidFill>
                  <a:schemeClr val="bg1"/>
                </a:solidFill>
              </a:rPr>
              <a:t>الذرات</a:t>
            </a:r>
            <a:r>
              <a:rPr lang="ar-DZ" sz="2400" b="1" dirty="0">
                <a:solidFill>
                  <a:schemeClr val="bg1"/>
                </a:solidFill>
              </a:rPr>
              <a:t> تكون متعادلة كهربائيا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اي عدد </a:t>
            </a:r>
            <a:r>
              <a:rPr lang="ar-DZ" sz="2400" b="1" dirty="0" err="1">
                <a:solidFill>
                  <a:schemeClr val="bg1"/>
                </a:solidFill>
              </a:rPr>
              <a:t>الالكترونات </a:t>
            </a:r>
            <a:r>
              <a:rPr lang="ar-DZ" sz="2400" b="1" dirty="0">
                <a:solidFill>
                  <a:schemeClr val="bg1"/>
                </a:solidFill>
              </a:rPr>
              <a:t>(سالبة)=عدد </a:t>
            </a:r>
            <a:r>
              <a:rPr lang="ar-DZ" sz="2400" b="1" dirty="0" err="1">
                <a:solidFill>
                  <a:schemeClr val="bg1"/>
                </a:solidFill>
              </a:rPr>
              <a:t>البروتونات </a:t>
            </a:r>
            <a:r>
              <a:rPr lang="ar-DZ" sz="2400" b="1" dirty="0">
                <a:solidFill>
                  <a:schemeClr val="bg1"/>
                </a:solidFill>
              </a:rPr>
              <a:t>(موجبة</a:t>
            </a:r>
            <a:r>
              <a:rPr lang="ar-DZ" sz="2400" b="1" dirty="0" err="1">
                <a:solidFill>
                  <a:schemeClr val="bg1"/>
                </a:solidFill>
              </a:rPr>
              <a:t>)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ومنه تكون كل الاجسام متعادلة كهربائيا    </a:t>
            </a:r>
          </a:p>
          <a:p>
            <a:pPr algn="r"/>
            <a:endParaRPr lang="fr-FR" dirty="0"/>
          </a:p>
        </p:txBody>
      </p:sp>
      <p:sp>
        <p:nvSpPr>
          <p:cNvPr id="11" name="Ellipse 10"/>
          <p:cNvSpPr/>
          <p:nvPr/>
        </p:nvSpPr>
        <p:spPr>
          <a:xfrm>
            <a:off x="683568" y="980728"/>
            <a:ext cx="1440160" cy="14401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1043608" y="1340768"/>
            <a:ext cx="720080" cy="648072"/>
          </a:xfrm>
          <a:prstGeom prst="ellipse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1259632" y="1556792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+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755576" y="1124744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899592" y="3429000"/>
            <a:ext cx="648072" cy="57606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b="1" dirty="0">
                <a:solidFill>
                  <a:schemeClr val="bg1"/>
                </a:solidFill>
              </a:rPr>
              <a:t>6</a:t>
            </a:r>
            <a:r>
              <a:rPr lang="fr-FR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20" name="Ellipse 19"/>
          <p:cNvSpPr/>
          <p:nvPr/>
        </p:nvSpPr>
        <p:spPr>
          <a:xfrm>
            <a:off x="755576" y="3212976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/>
          <p:cNvSpPr/>
          <p:nvPr/>
        </p:nvSpPr>
        <p:spPr>
          <a:xfrm>
            <a:off x="323528" y="2852936"/>
            <a:ext cx="1872208" cy="1800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/>
          <p:cNvSpPr/>
          <p:nvPr/>
        </p:nvSpPr>
        <p:spPr>
          <a:xfrm>
            <a:off x="683568" y="3284984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23" name="Ellipse 22"/>
          <p:cNvSpPr/>
          <p:nvPr/>
        </p:nvSpPr>
        <p:spPr>
          <a:xfrm>
            <a:off x="1619672" y="3789040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24" name="Ellipse 23"/>
          <p:cNvSpPr/>
          <p:nvPr/>
        </p:nvSpPr>
        <p:spPr>
          <a:xfrm>
            <a:off x="899592" y="4437112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25" name="Ellipse 24"/>
          <p:cNvSpPr/>
          <p:nvPr/>
        </p:nvSpPr>
        <p:spPr>
          <a:xfrm>
            <a:off x="323528" y="5301208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899592" y="2708920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2051720" y="3501008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28" name="Ellipse 27"/>
          <p:cNvSpPr/>
          <p:nvPr/>
        </p:nvSpPr>
        <p:spPr>
          <a:xfrm>
            <a:off x="179512" y="3645024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29" name="Ellipse 28"/>
          <p:cNvSpPr/>
          <p:nvPr/>
        </p:nvSpPr>
        <p:spPr>
          <a:xfrm>
            <a:off x="2123728" y="5445224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31" name="Rectangle à coins arrondis 30"/>
          <p:cNvSpPr/>
          <p:nvPr/>
        </p:nvSpPr>
        <p:spPr>
          <a:xfrm>
            <a:off x="2339752" y="1412776"/>
            <a:ext cx="576064" cy="64807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33" name="Rectangle à coins arrondis 32"/>
          <p:cNvSpPr/>
          <p:nvPr/>
        </p:nvSpPr>
        <p:spPr>
          <a:xfrm>
            <a:off x="2627784" y="3356992"/>
            <a:ext cx="576064" cy="64807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30" name="Ellipse 29"/>
          <p:cNvSpPr/>
          <p:nvPr/>
        </p:nvSpPr>
        <p:spPr>
          <a:xfrm>
            <a:off x="971600" y="5373216"/>
            <a:ext cx="648072" cy="57606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8+</a:t>
            </a:r>
          </a:p>
        </p:txBody>
      </p:sp>
      <p:sp>
        <p:nvSpPr>
          <p:cNvPr id="32" name="Ellipse 31"/>
          <p:cNvSpPr/>
          <p:nvPr/>
        </p:nvSpPr>
        <p:spPr>
          <a:xfrm>
            <a:off x="827584" y="51571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/>
          <p:cNvSpPr/>
          <p:nvPr/>
        </p:nvSpPr>
        <p:spPr>
          <a:xfrm>
            <a:off x="467544" y="4797152"/>
            <a:ext cx="1800200" cy="17281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/>
          <p:cNvSpPr/>
          <p:nvPr/>
        </p:nvSpPr>
        <p:spPr>
          <a:xfrm>
            <a:off x="683568" y="5301208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1619672" y="5661248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37" name="Ellipse 36"/>
          <p:cNvSpPr/>
          <p:nvPr/>
        </p:nvSpPr>
        <p:spPr>
          <a:xfrm>
            <a:off x="2123728" y="5661248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38" name="Ellipse 37"/>
          <p:cNvSpPr/>
          <p:nvPr/>
        </p:nvSpPr>
        <p:spPr>
          <a:xfrm>
            <a:off x="323528" y="5589240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39" name="Ellipse 38"/>
          <p:cNvSpPr/>
          <p:nvPr/>
        </p:nvSpPr>
        <p:spPr>
          <a:xfrm>
            <a:off x="1403648" y="4653136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0" name="Ellipse 39"/>
          <p:cNvSpPr/>
          <p:nvPr/>
        </p:nvSpPr>
        <p:spPr>
          <a:xfrm>
            <a:off x="1043608" y="6309320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-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1" name="Rectangle à coins arrondis 40"/>
          <p:cNvSpPr/>
          <p:nvPr/>
        </p:nvSpPr>
        <p:spPr>
          <a:xfrm>
            <a:off x="2627784" y="5517232"/>
            <a:ext cx="576064" cy="64807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1"/>
          <p:cNvSpPr>
            <a:spLocks noChangeArrowheads="1"/>
          </p:cNvSpPr>
          <p:nvPr/>
        </p:nvSpPr>
        <p:spPr bwMode="auto">
          <a:xfrm>
            <a:off x="251520" y="1569278"/>
            <a:ext cx="810039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-</a:t>
            </a:r>
            <a:br>
              <a:rPr kumimoji="0" 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br>
              <a:rPr kumimoji="0" 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avec flèche vers la gauche 3"/>
          <p:cNvSpPr/>
          <p:nvPr/>
        </p:nvSpPr>
        <p:spPr>
          <a:xfrm>
            <a:off x="6948264" y="0"/>
            <a:ext cx="1800200" cy="864096"/>
          </a:xfrm>
          <a:prstGeom prst="leftArrowCallou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الحصة 4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267744" y="0"/>
            <a:ext cx="4464496" cy="6206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نموذج  مبسط للذرة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339752" y="620688"/>
            <a:ext cx="4464496" cy="620688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تفسير ظواهر </a:t>
            </a:r>
            <a:r>
              <a:rPr lang="ar-DZ" sz="2400" b="1" dirty="0" err="1">
                <a:solidFill>
                  <a:schemeClr val="bg1"/>
                </a:solidFill>
              </a:rPr>
              <a:t>التكهرب </a:t>
            </a:r>
            <a:r>
              <a:rPr lang="ar-DZ" sz="2400" b="1" dirty="0">
                <a:solidFill>
                  <a:schemeClr val="bg1"/>
                </a:solidFill>
              </a:rPr>
              <a:t>–التكهرب </a:t>
            </a:r>
            <a:r>
              <a:rPr lang="ar-DZ" sz="2400" b="1" dirty="0" err="1">
                <a:solidFill>
                  <a:schemeClr val="bg1"/>
                </a:solidFill>
              </a:rPr>
              <a:t>بالدلك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avec flèche vers la gauche 7"/>
          <p:cNvSpPr/>
          <p:nvPr/>
        </p:nvSpPr>
        <p:spPr>
          <a:xfrm>
            <a:off x="6876256" y="764704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0" y="1340768"/>
            <a:ext cx="9144000" cy="5517232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قبل عملية </a:t>
            </a:r>
            <a:r>
              <a:rPr lang="ar-DZ" sz="2400" b="1" dirty="0" err="1">
                <a:solidFill>
                  <a:schemeClr val="bg1"/>
                </a:solidFill>
              </a:rPr>
              <a:t>الدلك</a:t>
            </a:r>
            <a:r>
              <a:rPr lang="ar-DZ" sz="2400" b="1" dirty="0">
                <a:solidFill>
                  <a:schemeClr val="bg1"/>
                </a:solidFill>
              </a:rPr>
              <a:t> يكون كل من القماش والمسطرة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متعادلان  كهربائيا و اثناء عملية دلك مسطرة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بالقماش فان الاحتكاك الناتج بين القماش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والمسطرة يؤدي الى ان القماش تنتقل 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عدة شحنات </a:t>
            </a:r>
            <a:r>
              <a:rPr lang="ar-DZ" sz="2400" b="1" dirty="0" err="1">
                <a:solidFill>
                  <a:schemeClr val="bg1"/>
                </a:solidFill>
              </a:rPr>
              <a:t>سالبة </a:t>
            </a:r>
            <a:r>
              <a:rPr lang="ar-DZ" sz="2400" b="1" dirty="0">
                <a:solidFill>
                  <a:schemeClr val="bg1"/>
                </a:solidFill>
              </a:rPr>
              <a:t>(الكترونات) ومنه تصبح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مشحون بالموجب الى  المسطرة فتكتسب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هذه الالكترونات وتصبح مشحونة بالسالب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*تحقيق </a:t>
            </a:r>
            <a:r>
              <a:rPr lang="ar-DZ" sz="2400" b="1" dirty="0" err="1">
                <a:solidFill>
                  <a:schemeClr val="bg1"/>
                </a:solidFill>
              </a:rPr>
              <a:t>مبدا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انحفاظ</a:t>
            </a:r>
            <a:r>
              <a:rPr lang="ar-DZ" sz="2400" b="1" dirty="0">
                <a:solidFill>
                  <a:schemeClr val="bg1"/>
                </a:solidFill>
              </a:rPr>
              <a:t> الشحنة</a:t>
            </a: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dirty="0"/>
              <a:t> </a:t>
            </a:r>
            <a:endParaRPr lang="fr-FR" dirty="0"/>
          </a:p>
        </p:txBody>
      </p:sp>
      <p:pic>
        <p:nvPicPr>
          <p:cNvPr id="10" name="Image 9" descr="Sans titre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9512" y="1556792"/>
            <a:ext cx="3600400" cy="2232248"/>
          </a:xfrm>
          <a:prstGeom prst="rect">
            <a:avLst/>
          </a:prstGeom>
        </p:spPr>
      </p:pic>
      <p:sp>
        <p:nvSpPr>
          <p:cNvPr id="18" name="Ellipse 17"/>
          <p:cNvSpPr/>
          <p:nvPr/>
        </p:nvSpPr>
        <p:spPr>
          <a:xfrm>
            <a:off x="899592" y="2348880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827584" y="2924944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1115616" y="2708920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2555776" y="2204864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2" name="Ellipse 21"/>
          <p:cNvSpPr/>
          <p:nvPr/>
        </p:nvSpPr>
        <p:spPr>
          <a:xfrm>
            <a:off x="2555776" y="2636912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3" name="Ellipse 22"/>
          <p:cNvSpPr/>
          <p:nvPr/>
        </p:nvSpPr>
        <p:spPr>
          <a:xfrm>
            <a:off x="2051720" y="2708920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4" name="Ellipse 23"/>
          <p:cNvSpPr/>
          <p:nvPr/>
        </p:nvSpPr>
        <p:spPr>
          <a:xfrm>
            <a:off x="2051720" y="314096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1187624" y="2420888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8" name="Ellipse 27"/>
          <p:cNvSpPr/>
          <p:nvPr/>
        </p:nvSpPr>
        <p:spPr>
          <a:xfrm>
            <a:off x="827584" y="2636912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9" name="Ellipse 28"/>
          <p:cNvSpPr/>
          <p:nvPr/>
        </p:nvSpPr>
        <p:spPr>
          <a:xfrm>
            <a:off x="1115616" y="2996952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0" name="Ellipse 29"/>
          <p:cNvSpPr/>
          <p:nvPr/>
        </p:nvSpPr>
        <p:spPr>
          <a:xfrm>
            <a:off x="2843808" y="2348880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1" name="Ellipse 30"/>
          <p:cNvSpPr/>
          <p:nvPr/>
        </p:nvSpPr>
        <p:spPr>
          <a:xfrm>
            <a:off x="2267744" y="2492896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2" name="Ellipse 31"/>
          <p:cNvSpPr/>
          <p:nvPr/>
        </p:nvSpPr>
        <p:spPr>
          <a:xfrm>
            <a:off x="2267744" y="2852936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3" name="Ellipse 32"/>
          <p:cNvSpPr/>
          <p:nvPr/>
        </p:nvSpPr>
        <p:spPr>
          <a:xfrm>
            <a:off x="1835696" y="2996952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56" name="Tableau 55"/>
          <p:cNvGraphicFramePr>
            <a:graphicFrameLocks noGrp="1"/>
          </p:cNvGraphicFramePr>
          <p:nvPr/>
        </p:nvGraphicFramePr>
        <p:xfrm>
          <a:off x="3851920" y="4614272"/>
          <a:ext cx="4824536" cy="2243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7808">
                <a:tc>
                  <a:txBody>
                    <a:bodyPr/>
                    <a:lstStyle/>
                    <a:p>
                      <a:pPr algn="r"/>
                      <a:r>
                        <a:rPr lang="ar-DZ" sz="2400" dirty="0">
                          <a:solidFill>
                            <a:schemeClr val="bg1"/>
                          </a:solidFill>
                        </a:rPr>
                        <a:t>المجموع 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2400" dirty="0">
                          <a:solidFill>
                            <a:schemeClr val="bg1"/>
                          </a:solidFill>
                        </a:rPr>
                        <a:t>المسطرة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sz="2400" dirty="0">
                          <a:solidFill>
                            <a:schemeClr val="bg1"/>
                          </a:solidFill>
                        </a:rPr>
                        <a:t>القماش 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sz="2400" dirty="0">
                          <a:solidFill>
                            <a:schemeClr val="bg1"/>
                          </a:solidFill>
                        </a:rPr>
                        <a:t>الجسم  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9+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9-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4+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4-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5+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5-</a:t>
                      </a:r>
                    </a:p>
                  </a:txBody>
                  <a:tcP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400" b="1" dirty="0">
                          <a:solidFill>
                            <a:schemeClr val="bg1"/>
                          </a:solidFill>
                        </a:rPr>
                        <a:t>قبل</a:t>
                      </a:r>
                      <a:r>
                        <a:rPr lang="ar-DZ" sz="24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ar-DZ" sz="2400" b="1" baseline="0" dirty="0" err="1">
                          <a:solidFill>
                            <a:schemeClr val="bg1"/>
                          </a:solidFill>
                        </a:rPr>
                        <a:t>الدلك</a:t>
                      </a:r>
                      <a:r>
                        <a:rPr lang="ar-DZ" sz="24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9+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9-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4*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8-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/>
                        <a:t>5+</a:t>
                      </a:r>
                    </a:p>
                    <a:p>
                      <a:pPr algn="r"/>
                      <a:r>
                        <a:rPr lang="fr-FR" sz="2400" b="1" dirty="0"/>
                        <a:t>1-</a:t>
                      </a:r>
                    </a:p>
                  </a:txBody>
                  <a:tcP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sz="2400" b="1" dirty="0"/>
                        <a:t>بعد </a:t>
                      </a:r>
                      <a:r>
                        <a:rPr lang="ar-DZ" sz="2400" b="1" dirty="0" err="1"/>
                        <a:t>الدلك</a:t>
                      </a:r>
                      <a:r>
                        <a:rPr lang="ar-DZ" sz="2400" b="1" dirty="0"/>
                        <a:t> </a:t>
                      </a:r>
                      <a:endParaRPr lang="fr-FR" sz="2400" b="1" dirty="0"/>
                    </a:p>
                  </a:txBody>
                  <a:tcP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7" name="Image 56" descr="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9512" y="3861048"/>
            <a:ext cx="3600400" cy="2304256"/>
          </a:xfrm>
          <a:prstGeom prst="rect">
            <a:avLst/>
          </a:prstGeom>
        </p:spPr>
      </p:pic>
      <p:sp>
        <p:nvSpPr>
          <p:cNvPr id="58" name="Ellipse 57"/>
          <p:cNvSpPr/>
          <p:nvPr/>
        </p:nvSpPr>
        <p:spPr>
          <a:xfrm>
            <a:off x="2555776" y="4365104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9" name="Ellipse 58"/>
          <p:cNvSpPr/>
          <p:nvPr/>
        </p:nvSpPr>
        <p:spPr>
          <a:xfrm>
            <a:off x="2267744" y="4797152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60" name="Ellipse 59"/>
          <p:cNvSpPr/>
          <p:nvPr/>
        </p:nvSpPr>
        <p:spPr>
          <a:xfrm>
            <a:off x="2987824" y="4365104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61" name="Ellipse 60"/>
          <p:cNvSpPr/>
          <p:nvPr/>
        </p:nvSpPr>
        <p:spPr>
          <a:xfrm>
            <a:off x="2627784" y="4797152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62" name="Ellipse 61"/>
          <p:cNvSpPr/>
          <p:nvPr/>
        </p:nvSpPr>
        <p:spPr>
          <a:xfrm>
            <a:off x="3203848" y="4077072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63" name="Ellipse 62"/>
          <p:cNvSpPr/>
          <p:nvPr/>
        </p:nvSpPr>
        <p:spPr>
          <a:xfrm>
            <a:off x="1403648" y="5157192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64" name="Ellipse 63"/>
          <p:cNvSpPr/>
          <p:nvPr/>
        </p:nvSpPr>
        <p:spPr>
          <a:xfrm>
            <a:off x="1691680" y="494116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66" name="Ellipse 65"/>
          <p:cNvSpPr/>
          <p:nvPr/>
        </p:nvSpPr>
        <p:spPr>
          <a:xfrm>
            <a:off x="1547664" y="5445224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67" name="Ellipse 66"/>
          <p:cNvSpPr/>
          <p:nvPr/>
        </p:nvSpPr>
        <p:spPr>
          <a:xfrm>
            <a:off x="1475656" y="566124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68" name="Ellipse 67"/>
          <p:cNvSpPr/>
          <p:nvPr/>
        </p:nvSpPr>
        <p:spPr>
          <a:xfrm>
            <a:off x="1835696" y="5229200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70" name="Ellipse 69"/>
          <p:cNvSpPr/>
          <p:nvPr/>
        </p:nvSpPr>
        <p:spPr>
          <a:xfrm>
            <a:off x="1835696" y="5661248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71" name="Ellipse 70"/>
          <p:cNvSpPr/>
          <p:nvPr/>
        </p:nvSpPr>
        <p:spPr>
          <a:xfrm>
            <a:off x="1259632" y="5445224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cxnSp>
        <p:nvCxnSpPr>
          <p:cNvPr id="72" name="Connecteur en arc 71"/>
          <p:cNvCxnSpPr/>
          <p:nvPr/>
        </p:nvCxnSpPr>
        <p:spPr>
          <a:xfrm>
            <a:off x="1763688" y="4797152"/>
            <a:ext cx="605891" cy="360041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en arc 75"/>
          <p:cNvCxnSpPr/>
          <p:nvPr/>
        </p:nvCxnSpPr>
        <p:spPr>
          <a:xfrm>
            <a:off x="1619672" y="5157192"/>
            <a:ext cx="605891" cy="360041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en arc 76"/>
          <p:cNvCxnSpPr/>
          <p:nvPr/>
        </p:nvCxnSpPr>
        <p:spPr>
          <a:xfrm>
            <a:off x="1547664" y="5373216"/>
            <a:ext cx="605891" cy="360041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llipse 80"/>
          <p:cNvSpPr/>
          <p:nvPr/>
        </p:nvSpPr>
        <p:spPr>
          <a:xfrm>
            <a:off x="1043608" y="3284984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2" name="Ellipse 81"/>
          <p:cNvSpPr/>
          <p:nvPr/>
        </p:nvSpPr>
        <p:spPr>
          <a:xfrm>
            <a:off x="755576" y="3212976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3" name="Ellipse 82"/>
          <p:cNvSpPr/>
          <p:nvPr/>
        </p:nvSpPr>
        <p:spPr>
          <a:xfrm>
            <a:off x="2771800" y="4149080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4" name="Ellipse 83"/>
          <p:cNvSpPr/>
          <p:nvPr/>
        </p:nvSpPr>
        <p:spPr>
          <a:xfrm>
            <a:off x="2771800" y="458112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5" name="Ellipse 84"/>
          <p:cNvSpPr/>
          <p:nvPr/>
        </p:nvSpPr>
        <p:spPr>
          <a:xfrm>
            <a:off x="2411760" y="4509120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8" name="Ellipse 87"/>
          <p:cNvSpPr/>
          <p:nvPr/>
        </p:nvSpPr>
        <p:spPr>
          <a:xfrm>
            <a:off x="2267744" y="5229200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9" name="Ellipse 88"/>
          <p:cNvSpPr/>
          <p:nvPr/>
        </p:nvSpPr>
        <p:spPr>
          <a:xfrm>
            <a:off x="2051720" y="5445224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90" name="Ellipse 89"/>
          <p:cNvSpPr/>
          <p:nvPr/>
        </p:nvSpPr>
        <p:spPr>
          <a:xfrm>
            <a:off x="467544" y="314096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539552" y="2852936"/>
            <a:ext cx="288032" cy="288032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92" name="Ellipse 91"/>
          <p:cNvSpPr/>
          <p:nvPr/>
        </p:nvSpPr>
        <p:spPr>
          <a:xfrm>
            <a:off x="2483768" y="5013176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necteur droit avec flèche 9"/>
          <p:cNvCxnSpPr/>
          <p:nvPr/>
        </p:nvCxnSpPr>
        <p:spPr>
          <a:xfrm flipH="1">
            <a:off x="7956376" y="2276872"/>
            <a:ext cx="8384" cy="855712"/>
          </a:xfrm>
          <a:prstGeom prst="straightConnector1">
            <a:avLst/>
          </a:prstGeom>
          <a:ln w="539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avec flèche vers la gauche 3"/>
          <p:cNvSpPr/>
          <p:nvPr/>
        </p:nvSpPr>
        <p:spPr>
          <a:xfrm>
            <a:off x="6804248" y="0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339752" y="0"/>
            <a:ext cx="4464496" cy="620688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تفسير ظواهر </a:t>
            </a:r>
            <a:r>
              <a:rPr lang="ar-DZ" sz="2400" b="1" dirty="0" err="1">
                <a:solidFill>
                  <a:schemeClr val="bg1"/>
                </a:solidFill>
              </a:rPr>
              <a:t>التكهرب </a:t>
            </a:r>
            <a:r>
              <a:rPr lang="ar-DZ" sz="2400" b="1" dirty="0">
                <a:solidFill>
                  <a:schemeClr val="bg1"/>
                </a:solidFill>
              </a:rPr>
              <a:t>–التكهرب باللمس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0" y="692696"/>
            <a:ext cx="8964488" cy="616530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ندلك انبوب بلاستيكي فيصبح مشحون بالسالب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قبل عملية اللمس  يكون كل من الانبوب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مشحون </a:t>
            </a:r>
            <a:r>
              <a:rPr lang="ar-DZ" sz="2400" b="1" dirty="0" err="1">
                <a:solidFill>
                  <a:schemeClr val="bg1"/>
                </a:solidFill>
              </a:rPr>
              <a:t>بالساب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والكرية</a:t>
            </a:r>
            <a:r>
              <a:rPr lang="ar-DZ" sz="2400" b="1" dirty="0">
                <a:solidFill>
                  <a:schemeClr val="bg1"/>
                </a:solidFill>
              </a:rPr>
              <a:t>  المغلفة </a:t>
            </a:r>
            <a:r>
              <a:rPr lang="ar-DZ" sz="2400" b="1" dirty="0" err="1">
                <a:solidFill>
                  <a:schemeClr val="bg1"/>
                </a:solidFill>
              </a:rPr>
              <a:t>بالالومنيوم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متعادلة كهربائيا و اثناء عملية لمس الانبوب </a:t>
            </a:r>
            <a:r>
              <a:rPr lang="ar-DZ" sz="2400" b="1" dirty="0" err="1">
                <a:solidFill>
                  <a:schemeClr val="bg1"/>
                </a:solidFill>
              </a:rPr>
              <a:t>للكرية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فيؤدي الى ان الانبوب  تنتقل منه شحنات </a:t>
            </a:r>
            <a:r>
              <a:rPr lang="ar-DZ" sz="2400" b="1" dirty="0" err="1">
                <a:solidFill>
                  <a:schemeClr val="bg1"/>
                </a:solidFill>
              </a:rPr>
              <a:t>سالبة </a:t>
            </a:r>
            <a:r>
              <a:rPr lang="ar-DZ" sz="2400" b="1" dirty="0">
                <a:solidFill>
                  <a:schemeClr val="bg1"/>
                </a:solidFill>
              </a:rPr>
              <a:t>(الكترونات</a:t>
            </a:r>
            <a:r>
              <a:rPr lang="ar-DZ" sz="2400" b="1" dirty="0" err="1">
                <a:solidFill>
                  <a:schemeClr val="bg1"/>
                </a:solidFill>
              </a:rPr>
              <a:t>)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الى  </a:t>
            </a:r>
            <a:r>
              <a:rPr lang="ar-DZ" sz="2400" b="1" dirty="0" err="1">
                <a:solidFill>
                  <a:schemeClr val="bg1"/>
                </a:solidFill>
              </a:rPr>
              <a:t>الكرية</a:t>
            </a:r>
            <a:r>
              <a:rPr lang="ar-DZ" sz="2400" b="1" dirty="0">
                <a:solidFill>
                  <a:schemeClr val="bg1"/>
                </a:solidFill>
              </a:rPr>
              <a:t>  فتكتسب هذه الالكترونات وتصبح مشحونة بالسالب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*تحقيق مبدأ </a:t>
            </a:r>
            <a:r>
              <a:rPr lang="ar-DZ" sz="2400" b="1" dirty="0" err="1">
                <a:solidFill>
                  <a:schemeClr val="bg1"/>
                </a:solidFill>
              </a:rPr>
              <a:t>انحفاظ</a:t>
            </a:r>
            <a:r>
              <a:rPr lang="ar-DZ" sz="2400" b="1" dirty="0">
                <a:solidFill>
                  <a:schemeClr val="bg1"/>
                </a:solidFill>
              </a:rPr>
              <a:t> الشحنة</a:t>
            </a: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 </a:t>
            </a: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700808"/>
            <a:ext cx="1809201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llipse 7"/>
          <p:cNvSpPr/>
          <p:nvPr/>
        </p:nvSpPr>
        <p:spPr>
          <a:xfrm>
            <a:off x="179512" y="1700808"/>
            <a:ext cx="1224136" cy="1224136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149080"/>
            <a:ext cx="1809201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Ellipse 14"/>
          <p:cNvSpPr/>
          <p:nvPr/>
        </p:nvSpPr>
        <p:spPr>
          <a:xfrm>
            <a:off x="0" y="4149080"/>
            <a:ext cx="1259632" cy="1296144"/>
          </a:xfrm>
          <a:prstGeom prst="ellipse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1907704" y="1988840"/>
            <a:ext cx="1872208" cy="432048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à coins arrondis 16"/>
          <p:cNvSpPr/>
          <p:nvPr/>
        </p:nvSpPr>
        <p:spPr>
          <a:xfrm>
            <a:off x="1115616" y="4581128"/>
            <a:ext cx="1296144" cy="360040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2051720" y="206084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2627784" y="206084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611560" y="170080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2" name="Ellipse 21"/>
          <p:cNvSpPr/>
          <p:nvPr/>
        </p:nvSpPr>
        <p:spPr>
          <a:xfrm>
            <a:off x="683568" y="2564904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3" name="Ellipse 22"/>
          <p:cNvSpPr/>
          <p:nvPr/>
        </p:nvSpPr>
        <p:spPr>
          <a:xfrm>
            <a:off x="179512" y="2132856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4" name="Ellipse 23"/>
          <p:cNvSpPr/>
          <p:nvPr/>
        </p:nvSpPr>
        <p:spPr>
          <a:xfrm>
            <a:off x="1115616" y="2132856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5" name="Ellipse 24"/>
          <p:cNvSpPr/>
          <p:nvPr/>
        </p:nvSpPr>
        <p:spPr>
          <a:xfrm>
            <a:off x="323528" y="1844824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899592" y="1772816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323528" y="2492896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8" name="Ellipse 27"/>
          <p:cNvSpPr/>
          <p:nvPr/>
        </p:nvSpPr>
        <p:spPr>
          <a:xfrm>
            <a:off x="971600" y="2420888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cxnSp>
        <p:nvCxnSpPr>
          <p:cNvPr id="29" name="Connecteur en arc 28"/>
          <p:cNvCxnSpPr/>
          <p:nvPr/>
        </p:nvCxnSpPr>
        <p:spPr>
          <a:xfrm rot="10800000">
            <a:off x="1043608" y="4437112"/>
            <a:ext cx="504056" cy="144016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lipse 36"/>
          <p:cNvSpPr/>
          <p:nvPr/>
        </p:nvSpPr>
        <p:spPr>
          <a:xfrm>
            <a:off x="899592" y="4869160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8" name="Ellipse 37"/>
          <p:cNvSpPr/>
          <p:nvPr/>
        </p:nvSpPr>
        <p:spPr>
          <a:xfrm>
            <a:off x="0" y="4725144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9" name="Ellipse 38"/>
          <p:cNvSpPr/>
          <p:nvPr/>
        </p:nvSpPr>
        <p:spPr>
          <a:xfrm>
            <a:off x="539552" y="5157192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0" name="Ellipse 39"/>
          <p:cNvSpPr/>
          <p:nvPr/>
        </p:nvSpPr>
        <p:spPr>
          <a:xfrm>
            <a:off x="683568" y="422108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827584" y="4437112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2" name="Ellipse 41"/>
          <p:cNvSpPr/>
          <p:nvPr/>
        </p:nvSpPr>
        <p:spPr>
          <a:xfrm>
            <a:off x="179512" y="422108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3" name="Ellipse 42"/>
          <p:cNvSpPr/>
          <p:nvPr/>
        </p:nvSpPr>
        <p:spPr>
          <a:xfrm>
            <a:off x="395536" y="4149080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4" name="Ellipse 43"/>
          <p:cNvSpPr/>
          <p:nvPr/>
        </p:nvSpPr>
        <p:spPr>
          <a:xfrm>
            <a:off x="107504" y="4941168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5" name="Ellipse 44"/>
          <p:cNvSpPr/>
          <p:nvPr/>
        </p:nvSpPr>
        <p:spPr>
          <a:xfrm>
            <a:off x="755576" y="5157192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6" name="Ellipse 45"/>
          <p:cNvSpPr/>
          <p:nvPr/>
        </p:nvSpPr>
        <p:spPr>
          <a:xfrm>
            <a:off x="0" y="4437112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7" name="Ellipse 46"/>
          <p:cNvSpPr/>
          <p:nvPr/>
        </p:nvSpPr>
        <p:spPr>
          <a:xfrm>
            <a:off x="3491880" y="2060848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8" name="Ellipse 47"/>
          <p:cNvSpPr/>
          <p:nvPr/>
        </p:nvSpPr>
        <p:spPr>
          <a:xfrm>
            <a:off x="2339752" y="206084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9" name="Ellipse 48"/>
          <p:cNvSpPr/>
          <p:nvPr/>
        </p:nvSpPr>
        <p:spPr>
          <a:xfrm>
            <a:off x="1115616" y="458112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1" name="Ellipse 50"/>
          <p:cNvSpPr/>
          <p:nvPr/>
        </p:nvSpPr>
        <p:spPr>
          <a:xfrm>
            <a:off x="2051720" y="4581128"/>
            <a:ext cx="288032" cy="2880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cxnSp>
        <p:nvCxnSpPr>
          <p:cNvPr id="50" name="Connecteur en arc 49"/>
          <p:cNvCxnSpPr/>
          <p:nvPr/>
        </p:nvCxnSpPr>
        <p:spPr>
          <a:xfrm rot="10800000">
            <a:off x="1043608" y="4869160"/>
            <a:ext cx="504056" cy="144016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eau 52"/>
          <p:cNvGraphicFramePr>
            <a:graphicFrameLocks noGrp="1"/>
          </p:cNvGraphicFramePr>
          <p:nvPr/>
        </p:nvGraphicFramePr>
        <p:xfrm>
          <a:off x="3059832" y="4221088"/>
          <a:ext cx="5688633" cy="2191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ar-DZ" sz="2400" dirty="0">
                          <a:solidFill>
                            <a:schemeClr val="bg1"/>
                          </a:solidFill>
                        </a:rPr>
                        <a:t>المجموع 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2400" dirty="0" err="1">
                          <a:solidFill>
                            <a:schemeClr val="bg1"/>
                          </a:solidFill>
                        </a:rPr>
                        <a:t>الكرية</a:t>
                      </a:r>
                      <a:r>
                        <a:rPr lang="ar-DZ" sz="2400" dirty="0">
                          <a:solidFill>
                            <a:schemeClr val="bg1"/>
                          </a:solidFill>
                        </a:rPr>
                        <a:t>  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sz="2400" dirty="0">
                          <a:solidFill>
                            <a:schemeClr val="bg1"/>
                          </a:solidFill>
                        </a:rPr>
                        <a:t>الانبوب 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sz="2400" dirty="0">
                          <a:solidFill>
                            <a:schemeClr val="bg1"/>
                          </a:solidFill>
                        </a:rPr>
                        <a:t>الجسم  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952"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5+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9-</a:t>
                      </a:r>
                    </a:p>
                  </a:txBody>
                  <a:tcP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4+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4-</a:t>
                      </a:r>
                    </a:p>
                  </a:txBody>
                  <a:tcP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1+</a:t>
                      </a:r>
                    </a:p>
                    <a:p>
                      <a:pPr algn="r"/>
                      <a:r>
                        <a:rPr lang="ar-DZ" sz="2400" b="1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400" b="1" dirty="0">
                          <a:solidFill>
                            <a:schemeClr val="bg1"/>
                          </a:solidFill>
                        </a:rPr>
                        <a:t>قبل</a:t>
                      </a:r>
                      <a:r>
                        <a:rPr lang="ar-DZ" sz="2400" b="1" baseline="0" dirty="0">
                          <a:solidFill>
                            <a:schemeClr val="bg1"/>
                          </a:solidFill>
                        </a:rPr>
                        <a:t> اللمس  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5+</a:t>
                      </a:r>
                    </a:p>
                    <a:p>
                      <a:pPr algn="r"/>
                      <a:r>
                        <a:rPr lang="ar-DZ" sz="2400" b="1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4+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7-</a:t>
                      </a:r>
                    </a:p>
                  </a:txBody>
                  <a:tcP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/>
                        <a:t>1+</a:t>
                      </a:r>
                    </a:p>
                    <a:p>
                      <a:pPr algn="r"/>
                      <a:r>
                        <a:rPr lang="ar-DZ" sz="2400" b="1" dirty="0"/>
                        <a:t>2</a:t>
                      </a:r>
                      <a:r>
                        <a:rPr lang="fr-FR" sz="2400" b="1" dirty="0"/>
                        <a:t>-</a:t>
                      </a:r>
                    </a:p>
                  </a:txBody>
                  <a:tcP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sz="2400" b="1" dirty="0"/>
                        <a:t>بعد اللمس  </a:t>
                      </a:r>
                      <a:endParaRPr lang="fr-FR" sz="2400" b="1" dirty="0"/>
                    </a:p>
                  </a:txBody>
                  <a:tcP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" name="Ellipse 51"/>
          <p:cNvSpPr/>
          <p:nvPr/>
        </p:nvSpPr>
        <p:spPr>
          <a:xfrm>
            <a:off x="2915816" y="206084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4" name="Ellipse 53"/>
          <p:cNvSpPr/>
          <p:nvPr/>
        </p:nvSpPr>
        <p:spPr>
          <a:xfrm>
            <a:off x="3203848" y="206084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1691680" y="4581128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6" name="Ellipse 55"/>
          <p:cNvSpPr/>
          <p:nvPr/>
        </p:nvSpPr>
        <p:spPr>
          <a:xfrm>
            <a:off x="323528" y="5157192"/>
            <a:ext cx="288032" cy="288032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2123728" y="0"/>
            <a:ext cx="4464496" cy="620688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تفسير ظواهر </a:t>
            </a:r>
            <a:r>
              <a:rPr lang="ar-DZ" sz="2400" b="1" dirty="0" err="1">
                <a:solidFill>
                  <a:schemeClr val="bg1"/>
                </a:solidFill>
              </a:rPr>
              <a:t>التكهرب </a:t>
            </a:r>
            <a:r>
              <a:rPr lang="ar-DZ" sz="2400" b="1" dirty="0">
                <a:solidFill>
                  <a:schemeClr val="bg1"/>
                </a:solidFill>
              </a:rPr>
              <a:t>–التكهرب </a:t>
            </a:r>
            <a:r>
              <a:rPr lang="ar-DZ" sz="2400" b="1" dirty="0" err="1">
                <a:solidFill>
                  <a:schemeClr val="bg1"/>
                </a:solidFill>
              </a:rPr>
              <a:t>بالتاثير</a:t>
            </a:r>
            <a:r>
              <a:rPr lang="ar-DZ" sz="2400" b="1" dirty="0">
                <a:solidFill>
                  <a:schemeClr val="bg1"/>
                </a:solidFill>
              </a:rPr>
              <a:t> 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0" y="692696"/>
            <a:ext cx="8820472" cy="616530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ندلك انبوب بلاستيكي فيصبح مشحون بالسالب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قبل عملية </a:t>
            </a:r>
            <a:r>
              <a:rPr lang="ar-DZ" sz="2400" b="1" dirty="0" err="1">
                <a:solidFill>
                  <a:schemeClr val="bg1"/>
                </a:solidFill>
              </a:rPr>
              <a:t>التاثير</a:t>
            </a:r>
            <a:r>
              <a:rPr lang="ar-DZ" sz="2400" b="1" dirty="0">
                <a:solidFill>
                  <a:schemeClr val="bg1"/>
                </a:solidFill>
              </a:rPr>
              <a:t>   يكون كل من الانبوب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مشحون بالسالب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و الكاشف الكهربائي متعادل كهربائيا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اثناء عملية </a:t>
            </a:r>
            <a:r>
              <a:rPr lang="ar-DZ" sz="2400" b="1" dirty="0" err="1">
                <a:solidFill>
                  <a:schemeClr val="bg1"/>
                </a:solidFill>
              </a:rPr>
              <a:t>تاثير</a:t>
            </a:r>
            <a:r>
              <a:rPr lang="ar-DZ" sz="2400" b="1" dirty="0">
                <a:solidFill>
                  <a:schemeClr val="bg1"/>
                </a:solidFill>
              </a:rPr>
              <a:t>  الانبوب للكاشف الكهربائي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فيؤدي الى انتقال الشحنات السالبة في الكاشف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(الكترونات) الى الاسفل مما يجعل الصفحتين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مشحونتين بالسالب </a:t>
            </a:r>
            <a:r>
              <a:rPr lang="ar-DZ" sz="2400" b="1" dirty="0" err="1">
                <a:solidFill>
                  <a:schemeClr val="bg1"/>
                </a:solidFill>
              </a:rPr>
              <a:t>فتنفرجان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*تحقيق مبدأ </a:t>
            </a:r>
            <a:r>
              <a:rPr lang="ar-DZ" sz="2400" b="1" dirty="0" err="1">
                <a:solidFill>
                  <a:schemeClr val="bg1"/>
                </a:solidFill>
              </a:rPr>
              <a:t>انحفاظ</a:t>
            </a:r>
            <a:r>
              <a:rPr lang="ar-DZ" sz="2400" b="1" dirty="0">
                <a:solidFill>
                  <a:schemeClr val="bg1"/>
                </a:solidFill>
              </a:rPr>
              <a:t> الشحنة</a:t>
            </a: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39552" y="2348880"/>
            <a:ext cx="1656184" cy="1368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à coins arrondis 6"/>
          <p:cNvSpPr/>
          <p:nvPr/>
        </p:nvSpPr>
        <p:spPr>
          <a:xfrm>
            <a:off x="827584" y="1988840"/>
            <a:ext cx="1224136" cy="360040"/>
          </a:xfrm>
          <a:prstGeom prst="roundRect">
            <a:avLst>
              <a:gd name="adj" fmla="val 0"/>
            </a:avLst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1187624" y="2348880"/>
            <a:ext cx="432048" cy="576064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 rot="16200000">
            <a:off x="1187627" y="3140967"/>
            <a:ext cx="720080" cy="28803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 rot="16200000">
            <a:off x="855578" y="3112976"/>
            <a:ext cx="720080" cy="344016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à coins arrondis 11"/>
          <p:cNvSpPr/>
          <p:nvPr/>
        </p:nvSpPr>
        <p:spPr>
          <a:xfrm>
            <a:off x="827584" y="4437112"/>
            <a:ext cx="1152128" cy="360040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à coins arrondis 12"/>
          <p:cNvSpPr/>
          <p:nvPr/>
        </p:nvSpPr>
        <p:spPr>
          <a:xfrm>
            <a:off x="1187624" y="4797152"/>
            <a:ext cx="432048" cy="576064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à coins arrondis 14"/>
          <p:cNvSpPr/>
          <p:nvPr/>
        </p:nvSpPr>
        <p:spPr>
          <a:xfrm>
            <a:off x="539552" y="4797152"/>
            <a:ext cx="1656184" cy="1368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 rot="13790588">
            <a:off x="1404871" y="5381669"/>
            <a:ext cx="721126" cy="28775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à coins arrondis 16"/>
          <p:cNvSpPr/>
          <p:nvPr/>
        </p:nvSpPr>
        <p:spPr>
          <a:xfrm rot="17752355">
            <a:off x="755028" y="5398067"/>
            <a:ext cx="721196" cy="296573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1115616" y="2060848"/>
            <a:ext cx="288032" cy="28803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1763688" y="2060848"/>
            <a:ext cx="288032" cy="28803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1259632" y="2348880"/>
            <a:ext cx="288032" cy="28803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1403648" y="2924944"/>
            <a:ext cx="288032" cy="28803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2" name="Ellipse 21"/>
          <p:cNvSpPr/>
          <p:nvPr/>
        </p:nvSpPr>
        <p:spPr>
          <a:xfrm>
            <a:off x="1043608" y="2924944"/>
            <a:ext cx="288032" cy="28803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3" name="Ellipse 22"/>
          <p:cNvSpPr/>
          <p:nvPr/>
        </p:nvSpPr>
        <p:spPr>
          <a:xfrm>
            <a:off x="1475656" y="2060848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4" name="Ellipse 23"/>
          <p:cNvSpPr/>
          <p:nvPr/>
        </p:nvSpPr>
        <p:spPr>
          <a:xfrm>
            <a:off x="1259632" y="2636912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5" name="Ellipse 24"/>
          <p:cNvSpPr/>
          <p:nvPr/>
        </p:nvSpPr>
        <p:spPr>
          <a:xfrm>
            <a:off x="1403648" y="3284984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1043608" y="3356992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827584" y="2060848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28" name="Rectangle à coins arrondis 27"/>
          <p:cNvSpPr/>
          <p:nvPr/>
        </p:nvSpPr>
        <p:spPr>
          <a:xfrm rot="20244553">
            <a:off x="2007447" y="3833057"/>
            <a:ext cx="1440160" cy="432048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à coins arrondis 28"/>
          <p:cNvSpPr/>
          <p:nvPr/>
        </p:nvSpPr>
        <p:spPr>
          <a:xfrm>
            <a:off x="2915816" y="1916832"/>
            <a:ext cx="1440160" cy="432048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/>
          <p:cNvSpPr/>
          <p:nvPr/>
        </p:nvSpPr>
        <p:spPr>
          <a:xfrm>
            <a:off x="2915816" y="1988840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1" name="Ellipse 30"/>
          <p:cNvSpPr/>
          <p:nvPr/>
        </p:nvSpPr>
        <p:spPr>
          <a:xfrm>
            <a:off x="3275856" y="1988840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2" name="Ellipse 31"/>
          <p:cNvSpPr/>
          <p:nvPr/>
        </p:nvSpPr>
        <p:spPr>
          <a:xfrm>
            <a:off x="3563888" y="1988840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3" name="Ellipse 32"/>
          <p:cNvSpPr/>
          <p:nvPr/>
        </p:nvSpPr>
        <p:spPr>
          <a:xfrm>
            <a:off x="2051720" y="4077072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4" name="Ellipse 33"/>
          <p:cNvSpPr/>
          <p:nvPr/>
        </p:nvSpPr>
        <p:spPr>
          <a:xfrm>
            <a:off x="2339752" y="3933056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5" name="Ellipse 34"/>
          <p:cNvSpPr/>
          <p:nvPr/>
        </p:nvSpPr>
        <p:spPr>
          <a:xfrm>
            <a:off x="2627784" y="3861048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3923928" y="1988840"/>
            <a:ext cx="288032" cy="28803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7" name="Ellipse 36"/>
          <p:cNvSpPr/>
          <p:nvPr/>
        </p:nvSpPr>
        <p:spPr>
          <a:xfrm>
            <a:off x="2915816" y="3717032"/>
            <a:ext cx="288032" cy="28803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9" name="Ellipse 38"/>
          <p:cNvSpPr/>
          <p:nvPr/>
        </p:nvSpPr>
        <p:spPr>
          <a:xfrm>
            <a:off x="1763688" y="5589240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0" name="Ellipse 39"/>
          <p:cNvSpPr/>
          <p:nvPr/>
        </p:nvSpPr>
        <p:spPr>
          <a:xfrm>
            <a:off x="899592" y="5589240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1619672" y="5373216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2" name="Ellipse 41"/>
          <p:cNvSpPr/>
          <p:nvPr/>
        </p:nvSpPr>
        <p:spPr>
          <a:xfrm>
            <a:off x="1043608" y="5373216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3" name="Ellipse 42"/>
          <p:cNvSpPr/>
          <p:nvPr/>
        </p:nvSpPr>
        <p:spPr>
          <a:xfrm>
            <a:off x="1475656" y="5157192"/>
            <a:ext cx="288032" cy="28803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4" name="Ellipse 43"/>
          <p:cNvSpPr/>
          <p:nvPr/>
        </p:nvSpPr>
        <p:spPr>
          <a:xfrm>
            <a:off x="1115616" y="5085184"/>
            <a:ext cx="288032" cy="28803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5" name="Ellipse 44"/>
          <p:cNvSpPr/>
          <p:nvPr/>
        </p:nvSpPr>
        <p:spPr>
          <a:xfrm>
            <a:off x="1331640" y="4869160"/>
            <a:ext cx="288032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7" name="Ellipse 46"/>
          <p:cNvSpPr/>
          <p:nvPr/>
        </p:nvSpPr>
        <p:spPr>
          <a:xfrm>
            <a:off x="1547664" y="4437112"/>
            <a:ext cx="288032" cy="28803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8" name="Ellipse 47"/>
          <p:cNvSpPr/>
          <p:nvPr/>
        </p:nvSpPr>
        <p:spPr>
          <a:xfrm>
            <a:off x="1043608" y="4437112"/>
            <a:ext cx="288032" cy="28803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9" name="Ellipse 48"/>
          <p:cNvSpPr/>
          <p:nvPr/>
        </p:nvSpPr>
        <p:spPr>
          <a:xfrm>
            <a:off x="1331640" y="4653136"/>
            <a:ext cx="288032" cy="288032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cxnSp>
        <p:nvCxnSpPr>
          <p:cNvPr id="50" name="Connecteur en arc 49"/>
          <p:cNvCxnSpPr/>
          <p:nvPr/>
        </p:nvCxnSpPr>
        <p:spPr>
          <a:xfrm rot="5400000">
            <a:off x="611560" y="5301208"/>
            <a:ext cx="504056" cy="216024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en arc 53"/>
          <p:cNvCxnSpPr/>
          <p:nvPr/>
        </p:nvCxnSpPr>
        <p:spPr>
          <a:xfrm rot="16200000" flipH="1">
            <a:off x="1763688" y="5157192"/>
            <a:ext cx="432048" cy="288032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au 50"/>
          <p:cNvGraphicFramePr>
            <a:graphicFrameLocks noGrp="1"/>
          </p:cNvGraphicFramePr>
          <p:nvPr/>
        </p:nvGraphicFramePr>
        <p:xfrm>
          <a:off x="3347864" y="4581128"/>
          <a:ext cx="511256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ar-DZ" sz="2400" dirty="0">
                          <a:solidFill>
                            <a:schemeClr val="bg1"/>
                          </a:solidFill>
                        </a:rPr>
                        <a:t>المجموع 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2400" dirty="0">
                          <a:solidFill>
                            <a:schemeClr val="bg1"/>
                          </a:solidFill>
                        </a:rPr>
                        <a:t>الكاشف 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sz="2400" dirty="0">
                          <a:solidFill>
                            <a:schemeClr val="bg1"/>
                          </a:solidFill>
                        </a:rPr>
                        <a:t>الانبوب 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sz="2400" dirty="0">
                          <a:solidFill>
                            <a:schemeClr val="bg1"/>
                          </a:solidFill>
                        </a:rPr>
                        <a:t>الجسم  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6+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8-</a:t>
                      </a:r>
                    </a:p>
                  </a:txBody>
                  <a:tcP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5+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5-</a:t>
                      </a:r>
                    </a:p>
                  </a:txBody>
                  <a:tcP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1+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3-</a:t>
                      </a:r>
                    </a:p>
                  </a:txBody>
                  <a:tcP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400" b="1" dirty="0">
                          <a:solidFill>
                            <a:schemeClr val="bg1"/>
                          </a:solidFill>
                        </a:rPr>
                        <a:t>قبل</a:t>
                      </a:r>
                      <a:r>
                        <a:rPr lang="ar-DZ" sz="24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ar-DZ" sz="2400" b="1" baseline="0" dirty="0" err="1">
                          <a:solidFill>
                            <a:schemeClr val="bg1"/>
                          </a:solidFill>
                        </a:rPr>
                        <a:t>التاثير</a:t>
                      </a:r>
                      <a:r>
                        <a:rPr lang="ar-DZ" sz="2400" b="1" baseline="0" dirty="0">
                          <a:solidFill>
                            <a:schemeClr val="bg1"/>
                          </a:solidFill>
                        </a:rPr>
                        <a:t>   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6+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8-</a:t>
                      </a:r>
                    </a:p>
                  </a:txBody>
                  <a:tcP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5+</a:t>
                      </a:r>
                    </a:p>
                    <a:p>
                      <a:pPr algn="r"/>
                      <a:r>
                        <a:rPr lang="fr-FR" sz="2400" b="1" dirty="0">
                          <a:solidFill>
                            <a:schemeClr val="bg1"/>
                          </a:solidFill>
                        </a:rPr>
                        <a:t>5-</a:t>
                      </a:r>
                    </a:p>
                  </a:txBody>
                  <a:tcP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1" dirty="0"/>
                        <a:t>1+</a:t>
                      </a:r>
                    </a:p>
                    <a:p>
                      <a:pPr algn="r"/>
                      <a:r>
                        <a:rPr lang="fr-FR" sz="2400" b="1" dirty="0"/>
                        <a:t>3-</a:t>
                      </a:r>
                    </a:p>
                  </a:txBody>
                  <a:tcP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sz="2400" b="1" dirty="0"/>
                        <a:t>بعد </a:t>
                      </a:r>
                      <a:r>
                        <a:rPr lang="ar-DZ" sz="2400" b="1" dirty="0" err="1"/>
                        <a:t>التاثير</a:t>
                      </a:r>
                      <a:r>
                        <a:rPr lang="ar-DZ" sz="2400" b="1" dirty="0"/>
                        <a:t>   </a:t>
                      </a:r>
                      <a:endParaRPr lang="fr-FR" sz="2400" b="1" dirty="0"/>
                    </a:p>
                  </a:txBody>
                  <a:tcP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" name="Rectangle avec flèche vers la gauche 51"/>
          <p:cNvSpPr/>
          <p:nvPr/>
        </p:nvSpPr>
        <p:spPr>
          <a:xfrm>
            <a:off x="6804248" y="0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3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1"/>
          <p:cNvSpPr>
            <a:spLocks noChangeArrowheads="1"/>
          </p:cNvSpPr>
          <p:nvPr/>
        </p:nvSpPr>
        <p:spPr bwMode="auto">
          <a:xfrm>
            <a:off x="1907704" y="2117823"/>
            <a:ext cx="5904656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 </a:t>
            </a:r>
            <a:r>
              <a:rPr kumimoji="0" lang="fr-FR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3970" name="AutoShape 2" descr="http://files.muslmah.net/Mar15/1425404830691.png"/>
          <p:cNvSpPr>
            <a:spLocks noChangeAspect="1" noChangeArrowheads="1"/>
          </p:cNvSpPr>
          <p:nvPr/>
        </p:nvSpPr>
        <p:spPr bwMode="auto">
          <a:xfrm>
            <a:off x="155575" y="87788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" name="Rectangle avec flèche vers la gauche 4"/>
          <p:cNvSpPr/>
          <p:nvPr/>
        </p:nvSpPr>
        <p:spPr>
          <a:xfrm>
            <a:off x="6732240" y="0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4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267744" y="0"/>
            <a:ext cx="4464496" cy="620688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العوازل </a:t>
            </a:r>
            <a:r>
              <a:rPr lang="ar-DZ" sz="2400" b="1" dirty="0" err="1">
                <a:solidFill>
                  <a:schemeClr val="bg1"/>
                </a:solidFill>
              </a:rPr>
              <a:t>والنواقل</a:t>
            </a:r>
            <a:r>
              <a:rPr lang="ar-DZ" sz="2400" b="1" dirty="0">
                <a:solidFill>
                  <a:schemeClr val="bg1"/>
                </a:solidFill>
              </a:rPr>
              <a:t> الكهربائية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323528" y="620688"/>
            <a:ext cx="8820472" cy="6237312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نقرب  انبوب بلاستيكي مشحون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من مسطرة بلاستيكية فوق عازل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تلامس </a:t>
            </a:r>
            <a:r>
              <a:rPr lang="ar-DZ" sz="2400" b="1" dirty="0" err="1">
                <a:solidFill>
                  <a:schemeClr val="bg1"/>
                </a:solidFill>
              </a:rPr>
              <a:t>كرية</a:t>
            </a:r>
            <a:r>
              <a:rPr lang="ar-DZ" sz="2400" b="1" dirty="0">
                <a:solidFill>
                  <a:schemeClr val="bg1"/>
                </a:solidFill>
              </a:rPr>
              <a:t> مغلفة  </a:t>
            </a:r>
            <a:r>
              <a:rPr lang="ar-DZ" sz="2400" b="1" dirty="0" err="1">
                <a:solidFill>
                  <a:schemeClr val="bg1"/>
                </a:solidFill>
              </a:rPr>
              <a:t>بالالومنيوم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كما في الشكل  1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ثم نقرب نفس </a:t>
            </a:r>
            <a:r>
              <a:rPr lang="ar-DZ" sz="2400" b="1" dirty="0" err="1">
                <a:solidFill>
                  <a:schemeClr val="bg1"/>
                </a:solidFill>
              </a:rPr>
              <a:t>الانوب</a:t>
            </a:r>
            <a:r>
              <a:rPr lang="ar-DZ" sz="2400" b="1" dirty="0">
                <a:solidFill>
                  <a:schemeClr val="bg1"/>
                </a:solidFill>
              </a:rPr>
              <a:t> المشحون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من مسطرة حديدية  فوق عازل تلامس </a:t>
            </a:r>
          </a:p>
          <a:p>
            <a:pPr algn="r"/>
            <a:r>
              <a:rPr lang="ar-DZ" sz="2400" b="1" dirty="0" err="1">
                <a:solidFill>
                  <a:schemeClr val="bg1"/>
                </a:solidFill>
              </a:rPr>
              <a:t>كرية</a:t>
            </a:r>
            <a:r>
              <a:rPr lang="ar-DZ" sz="2400" b="1" dirty="0">
                <a:solidFill>
                  <a:schemeClr val="bg1"/>
                </a:solidFill>
              </a:rPr>
              <a:t> مغلفة </a:t>
            </a:r>
            <a:r>
              <a:rPr lang="ar-DZ" sz="2400" b="1" dirty="0" err="1">
                <a:solidFill>
                  <a:schemeClr val="bg1"/>
                </a:solidFill>
              </a:rPr>
              <a:t>بالالومنيومم</a:t>
            </a:r>
            <a:r>
              <a:rPr lang="ar-DZ" sz="2400" b="1" dirty="0">
                <a:solidFill>
                  <a:schemeClr val="bg1"/>
                </a:solidFill>
              </a:rPr>
              <a:t> كما في الشكل 2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 في الحالة الاولى لا يحدث ابتعاد </a:t>
            </a:r>
            <a:r>
              <a:rPr lang="ar-DZ" sz="2400" b="1" dirty="0" err="1">
                <a:solidFill>
                  <a:schemeClr val="bg1"/>
                </a:solidFill>
              </a:rPr>
              <a:t>الكرية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لان المسطرة </a:t>
            </a:r>
            <a:r>
              <a:rPr lang="ar-DZ" sz="2400" b="1" dirty="0" err="1">
                <a:solidFill>
                  <a:schemeClr val="bg1"/>
                </a:solidFill>
              </a:rPr>
              <a:t>لاتنقل</a:t>
            </a:r>
            <a:r>
              <a:rPr lang="ar-DZ" sz="2400" b="1" dirty="0">
                <a:solidFill>
                  <a:schemeClr val="bg1"/>
                </a:solidFill>
              </a:rPr>
              <a:t> الشحنة الكهربائية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اما في الحالة الثانية يحدث انجذاب </a:t>
            </a:r>
            <a:r>
              <a:rPr lang="ar-DZ" sz="2400" b="1" dirty="0" err="1">
                <a:solidFill>
                  <a:schemeClr val="bg1"/>
                </a:solidFill>
              </a:rPr>
              <a:t>الكرية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ثم ابتعادها عند اللمس لان المسطرة تنقل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الشحنة الكهربائية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النتيجة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هناك اجسام عازلة </a:t>
            </a:r>
            <a:r>
              <a:rPr lang="ar-DZ" sz="2400" b="1" dirty="0" err="1">
                <a:solidFill>
                  <a:schemeClr val="bg1"/>
                </a:solidFill>
              </a:rPr>
              <a:t>لاتنقل</a:t>
            </a:r>
            <a:r>
              <a:rPr lang="ar-DZ" sz="2400" b="1" dirty="0">
                <a:solidFill>
                  <a:schemeClr val="bg1"/>
                </a:solidFill>
              </a:rPr>
              <a:t> الشحنة الكهربائية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وهناك اجسام ناقلة تنقل الشحنة الكهربائية   </a:t>
            </a: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fr-FR" dirty="0"/>
          </a:p>
        </p:txBody>
      </p:sp>
      <p:pic>
        <p:nvPicPr>
          <p:cNvPr id="8" name="Image 7" descr="1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48680"/>
            <a:ext cx="3702880" cy="1728192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>
            <a:off x="2699792" y="692696"/>
            <a:ext cx="0" cy="64807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lipse 12"/>
          <p:cNvSpPr/>
          <p:nvPr/>
        </p:nvSpPr>
        <p:spPr>
          <a:xfrm>
            <a:off x="2483768" y="1340768"/>
            <a:ext cx="504056" cy="504056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à coins arrondis 13"/>
          <p:cNvSpPr/>
          <p:nvPr/>
        </p:nvSpPr>
        <p:spPr>
          <a:xfrm>
            <a:off x="1547664" y="1196752"/>
            <a:ext cx="792088" cy="432048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à coins arrondis 14"/>
          <p:cNvSpPr/>
          <p:nvPr/>
        </p:nvSpPr>
        <p:spPr>
          <a:xfrm rot="16200000">
            <a:off x="1619672" y="1844824"/>
            <a:ext cx="648072" cy="21602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7" name="Image 26" descr="1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7544" y="2636912"/>
            <a:ext cx="3235336" cy="1800200"/>
          </a:xfrm>
          <a:prstGeom prst="rect">
            <a:avLst/>
          </a:prstGeom>
        </p:spPr>
      </p:pic>
      <p:cxnSp>
        <p:nvCxnSpPr>
          <p:cNvPr id="28" name="Connecteur droit 27"/>
          <p:cNvCxnSpPr/>
          <p:nvPr/>
        </p:nvCxnSpPr>
        <p:spPr>
          <a:xfrm flipH="1">
            <a:off x="2627784" y="2780928"/>
            <a:ext cx="144016" cy="792088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lipse 28"/>
          <p:cNvSpPr/>
          <p:nvPr/>
        </p:nvSpPr>
        <p:spPr>
          <a:xfrm>
            <a:off x="2411760" y="3501008"/>
            <a:ext cx="576064" cy="504056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à coins arrondis 29"/>
          <p:cNvSpPr/>
          <p:nvPr/>
        </p:nvSpPr>
        <p:spPr>
          <a:xfrm>
            <a:off x="1691680" y="3501008"/>
            <a:ext cx="720080" cy="360040"/>
          </a:xfrm>
          <a:prstGeom prst="round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à coins arrondis 30"/>
          <p:cNvSpPr/>
          <p:nvPr/>
        </p:nvSpPr>
        <p:spPr>
          <a:xfrm rot="16200000">
            <a:off x="1691680" y="4005064"/>
            <a:ext cx="648072" cy="21602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à coins arrondis 33"/>
          <p:cNvSpPr/>
          <p:nvPr/>
        </p:nvSpPr>
        <p:spPr>
          <a:xfrm>
            <a:off x="323528" y="1340768"/>
            <a:ext cx="1224136" cy="28803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/>
          <p:cNvSpPr/>
          <p:nvPr/>
        </p:nvSpPr>
        <p:spPr>
          <a:xfrm>
            <a:off x="611560" y="1340768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1043608" y="1340768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7" name="Ellipse 36"/>
          <p:cNvSpPr/>
          <p:nvPr/>
        </p:nvSpPr>
        <p:spPr>
          <a:xfrm>
            <a:off x="827584" y="1340768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8" name="Ellipse 37"/>
          <p:cNvSpPr/>
          <p:nvPr/>
        </p:nvSpPr>
        <p:spPr>
          <a:xfrm>
            <a:off x="1619672" y="1196752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9" name="Ellipse 38"/>
          <p:cNvSpPr/>
          <p:nvPr/>
        </p:nvSpPr>
        <p:spPr>
          <a:xfrm>
            <a:off x="1835696" y="1196752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0" name="Ellipse 39"/>
          <p:cNvSpPr/>
          <p:nvPr/>
        </p:nvSpPr>
        <p:spPr>
          <a:xfrm>
            <a:off x="2051720" y="1196752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1619672" y="1412776"/>
            <a:ext cx="216024" cy="21602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2" name="Ellipse 41"/>
          <p:cNvSpPr/>
          <p:nvPr/>
        </p:nvSpPr>
        <p:spPr>
          <a:xfrm>
            <a:off x="1835696" y="1412776"/>
            <a:ext cx="216024" cy="21602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3" name="Ellipse 42"/>
          <p:cNvSpPr/>
          <p:nvPr/>
        </p:nvSpPr>
        <p:spPr>
          <a:xfrm>
            <a:off x="2051720" y="1412776"/>
            <a:ext cx="216024" cy="21602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4" name="Ellipse 43"/>
          <p:cNvSpPr/>
          <p:nvPr/>
        </p:nvSpPr>
        <p:spPr>
          <a:xfrm>
            <a:off x="2555776" y="1340768"/>
            <a:ext cx="216024" cy="21602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5" name="Ellipse 44"/>
          <p:cNvSpPr/>
          <p:nvPr/>
        </p:nvSpPr>
        <p:spPr>
          <a:xfrm>
            <a:off x="2771800" y="1412776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4" name="Ellipse 53"/>
          <p:cNvSpPr/>
          <p:nvPr/>
        </p:nvSpPr>
        <p:spPr>
          <a:xfrm>
            <a:off x="395536" y="1340768"/>
            <a:ext cx="216024" cy="21602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cxnSp>
        <p:nvCxnSpPr>
          <p:cNvPr id="57" name="Connecteur en arc 56"/>
          <p:cNvCxnSpPr/>
          <p:nvPr/>
        </p:nvCxnSpPr>
        <p:spPr>
          <a:xfrm>
            <a:off x="1187624" y="3356992"/>
            <a:ext cx="432048" cy="12700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en arc 59"/>
          <p:cNvCxnSpPr/>
          <p:nvPr/>
        </p:nvCxnSpPr>
        <p:spPr>
          <a:xfrm>
            <a:off x="1763688" y="3356992"/>
            <a:ext cx="432048" cy="12700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à coins arrondis 67"/>
          <p:cNvSpPr/>
          <p:nvPr/>
        </p:nvSpPr>
        <p:spPr>
          <a:xfrm>
            <a:off x="1403648" y="6309320"/>
            <a:ext cx="151216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شكل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9" name="Rectangle à coins arrondis 68"/>
          <p:cNvSpPr/>
          <p:nvPr/>
        </p:nvSpPr>
        <p:spPr>
          <a:xfrm>
            <a:off x="1115616" y="2204864"/>
            <a:ext cx="151216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شكل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7" name="Rectangle à coins arrondis 76"/>
          <p:cNvSpPr/>
          <p:nvPr/>
        </p:nvSpPr>
        <p:spPr>
          <a:xfrm>
            <a:off x="611560" y="3501008"/>
            <a:ext cx="1080120" cy="28803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9" name="Image 78" descr="1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9552" y="4437112"/>
            <a:ext cx="3235336" cy="1800200"/>
          </a:xfrm>
          <a:prstGeom prst="rect">
            <a:avLst/>
          </a:prstGeom>
        </p:spPr>
      </p:pic>
      <p:sp>
        <p:nvSpPr>
          <p:cNvPr id="80" name="Ellipse 79"/>
          <p:cNvSpPr/>
          <p:nvPr/>
        </p:nvSpPr>
        <p:spPr>
          <a:xfrm>
            <a:off x="683568" y="3501008"/>
            <a:ext cx="216024" cy="21602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1" name="Ellipse 80"/>
          <p:cNvSpPr/>
          <p:nvPr/>
        </p:nvSpPr>
        <p:spPr>
          <a:xfrm>
            <a:off x="971600" y="3501008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2" name="Ellipse 81"/>
          <p:cNvSpPr/>
          <p:nvPr/>
        </p:nvSpPr>
        <p:spPr>
          <a:xfrm>
            <a:off x="1259632" y="3501008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3" name="Ellipse 82"/>
          <p:cNvSpPr/>
          <p:nvPr/>
        </p:nvSpPr>
        <p:spPr>
          <a:xfrm>
            <a:off x="1835696" y="3501008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4" name="Ellipse 83"/>
          <p:cNvSpPr/>
          <p:nvPr/>
        </p:nvSpPr>
        <p:spPr>
          <a:xfrm>
            <a:off x="2123728" y="3501008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5" name="Ellipse 84"/>
          <p:cNvSpPr/>
          <p:nvPr/>
        </p:nvSpPr>
        <p:spPr>
          <a:xfrm>
            <a:off x="2627784" y="3501008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6" name="Ellipse 85"/>
          <p:cNvSpPr/>
          <p:nvPr/>
        </p:nvSpPr>
        <p:spPr>
          <a:xfrm>
            <a:off x="2483768" y="1556792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7" name="Ellipse 86"/>
          <p:cNvSpPr/>
          <p:nvPr/>
        </p:nvSpPr>
        <p:spPr>
          <a:xfrm>
            <a:off x="2699792" y="1556792"/>
            <a:ext cx="216024" cy="21602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8" name="Ellipse 87"/>
          <p:cNvSpPr/>
          <p:nvPr/>
        </p:nvSpPr>
        <p:spPr>
          <a:xfrm>
            <a:off x="2411760" y="3573016"/>
            <a:ext cx="216024" cy="21602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9" name="Ellipse 88"/>
          <p:cNvSpPr/>
          <p:nvPr/>
        </p:nvSpPr>
        <p:spPr>
          <a:xfrm>
            <a:off x="2555776" y="3717032"/>
            <a:ext cx="216024" cy="21602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90" name="Ellipse 89"/>
          <p:cNvSpPr/>
          <p:nvPr/>
        </p:nvSpPr>
        <p:spPr>
          <a:xfrm>
            <a:off x="2771800" y="3645024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91" name="Rectangle à coins arrondis 90"/>
          <p:cNvSpPr/>
          <p:nvPr/>
        </p:nvSpPr>
        <p:spPr>
          <a:xfrm>
            <a:off x="611560" y="5301208"/>
            <a:ext cx="1080120" cy="28803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à coins arrondis 91"/>
          <p:cNvSpPr/>
          <p:nvPr/>
        </p:nvSpPr>
        <p:spPr>
          <a:xfrm>
            <a:off x="1691680" y="5301208"/>
            <a:ext cx="720080" cy="360040"/>
          </a:xfrm>
          <a:prstGeom prst="round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à coins arrondis 92"/>
          <p:cNvSpPr/>
          <p:nvPr/>
        </p:nvSpPr>
        <p:spPr>
          <a:xfrm rot="16200000">
            <a:off x="1691680" y="5877272"/>
            <a:ext cx="648072" cy="21602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4" name="Connecteur droit 93"/>
          <p:cNvCxnSpPr/>
          <p:nvPr/>
        </p:nvCxnSpPr>
        <p:spPr>
          <a:xfrm>
            <a:off x="2843808" y="4509120"/>
            <a:ext cx="144016" cy="936104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Ellipse 95"/>
          <p:cNvSpPr/>
          <p:nvPr/>
        </p:nvSpPr>
        <p:spPr>
          <a:xfrm>
            <a:off x="2699792" y="5301208"/>
            <a:ext cx="576064" cy="504056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Ellipse 96"/>
          <p:cNvSpPr/>
          <p:nvPr/>
        </p:nvSpPr>
        <p:spPr>
          <a:xfrm>
            <a:off x="2771800" y="5373216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98" name="Ellipse 97"/>
          <p:cNvSpPr/>
          <p:nvPr/>
        </p:nvSpPr>
        <p:spPr>
          <a:xfrm>
            <a:off x="2915816" y="5589240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00" name="Ellipse 99"/>
          <p:cNvSpPr/>
          <p:nvPr/>
        </p:nvSpPr>
        <p:spPr>
          <a:xfrm>
            <a:off x="2051720" y="5301208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01" name="Ellipse 100"/>
          <p:cNvSpPr/>
          <p:nvPr/>
        </p:nvSpPr>
        <p:spPr>
          <a:xfrm>
            <a:off x="1835696" y="5301208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02" name="Ellipse 101"/>
          <p:cNvSpPr/>
          <p:nvPr/>
        </p:nvSpPr>
        <p:spPr>
          <a:xfrm>
            <a:off x="1331640" y="5373216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03" name="Ellipse 102"/>
          <p:cNvSpPr/>
          <p:nvPr/>
        </p:nvSpPr>
        <p:spPr>
          <a:xfrm>
            <a:off x="1043608" y="5373216"/>
            <a:ext cx="216024" cy="21602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cxnSp>
        <p:nvCxnSpPr>
          <p:cNvPr id="106" name="Connecteur en arc 105"/>
          <p:cNvCxnSpPr/>
          <p:nvPr/>
        </p:nvCxnSpPr>
        <p:spPr>
          <a:xfrm>
            <a:off x="2267744" y="3356992"/>
            <a:ext cx="317859" cy="72009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Ellipse 107"/>
          <p:cNvSpPr/>
          <p:nvPr/>
        </p:nvSpPr>
        <p:spPr>
          <a:xfrm>
            <a:off x="683568" y="5301208"/>
            <a:ext cx="216024" cy="21602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err="1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6948264" y="0"/>
            <a:ext cx="1800200" cy="864096"/>
          </a:xfrm>
          <a:prstGeom prst="leftArrowCallou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الحصة 5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2267744" y="0"/>
            <a:ext cx="4464496" cy="6206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التيار الكهربائي المتناوب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avec flèche vers la gauche 4"/>
          <p:cNvSpPr/>
          <p:nvPr/>
        </p:nvSpPr>
        <p:spPr>
          <a:xfrm>
            <a:off x="6876256" y="692696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51520" y="692696"/>
            <a:ext cx="6804248" cy="620688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التوترالكهربائي</a:t>
            </a:r>
            <a:r>
              <a:rPr lang="ar-DZ" sz="2400" b="1" dirty="0">
                <a:solidFill>
                  <a:schemeClr val="bg1"/>
                </a:solidFill>
              </a:rPr>
              <a:t> المتغير </a:t>
            </a:r>
            <a:r>
              <a:rPr lang="ar-DZ" sz="2400" b="1" dirty="0" err="1">
                <a:solidFill>
                  <a:schemeClr val="bg1"/>
                </a:solidFill>
              </a:rPr>
              <a:t>وانتاج</a:t>
            </a:r>
            <a:r>
              <a:rPr lang="ar-DZ" sz="2400" b="1" dirty="0">
                <a:solidFill>
                  <a:schemeClr val="bg1"/>
                </a:solidFill>
              </a:rPr>
              <a:t> تيار كهربائي </a:t>
            </a:r>
            <a:r>
              <a:rPr lang="ar-DZ" sz="2400" b="1" dirty="0" err="1">
                <a:solidFill>
                  <a:schemeClr val="bg1"/>
                </a:solidFill>
              </a:rPr>
              <a:t>متناوب </a:t>
            </a:r>
            <a:r>
              <a:rPr lang="ar-DZ" sz="2400" b="1" dirty="0">
                <a:solidFill>
                  <a:schemeClr val="bg1"/>
                </a:solidFill>
              </a:rPr>
              <a:t>(متغير</a:t>
            </a:r>
            <a:r>
              <a:rPr lang="ar-DZ" sz="2400" b="1" dirty="0" err="1">
                <a:solidFill>
                  <a:schemeClr val="bg1"/>
                </a:solidFill>
              </a:rPr>
              <a:t>)</a:t>
            </a:r>
            <a:r>
              <a:rPr lang="ar-DZ" sz="2400" b="1" dirty="0">
                <a:solidFill>
                  <a:schemeClr val="bg1"/>
                </a:solidFill>
              </a:rPr>
              <a:t> 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251520" y="1556792"/>
            <a:ext cx="8640960" cy="5301208"/>
          </a:xfrm>
          <a:prstGeom prst="roundRect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1-قوم بتحريك مغناطيس ذهابا </a:t>
            </a:r>
            <a:r>
              <a:rPr lang="ar-DZ" sz="2400" b="1" dirty="0" err="1">
                <a:solidFill>
                  <a:schemeClr val="bg1"/>
                </a:solidFill>
              </a:rPr>
              <a:t>وايابا</a:t>
            </a:r>
            <a:r>
              <a:rPr lang="ar-DZ" sz="2400" b="1" dirty="0">
                <a:solidFill>
                  <a:schemeClr val="bg1"/>
                </a:solidFill>
              </a:rPr>
              <a:t>  داخل </a:t>
            </a:r>
            <a:r>
              <a:rPr lang="ar-DZ" sz="2400" b="1" dirty="0" err="1">
                <a:solidFill>
                  <a:schemeClr val="bg1"/>
                </a:solidFill>
              </a:rPr>
              <a:t>وشبعة</a:t>
            </a:r>
            <a:r>
              <a:rPr lang="ar-DZ" sz="2400" b="1" dirty="0">
                <a:solidFill>
                  <a:schemeClr val="bg1"/>
                </a:solidFill>
              </a:rPr>
              <a:t> متصلة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بجهاز </a:t>
            </a:r>
            <a:r>
              <a:rPr lang="ar-DZ" sz="2400" b="1" dirty="0" err="1">
                <a:solidFill>
                  <a:schemeClr val="bg1"/>
                </a:solidFill>
              </a:rPr>
              <a:t>غلفانومتر</a:t>
            </a:r>
            <a:r>
              <a:rPr lang="ar-DZ" sz="2400" b="1" dirty="0">
                <a:solidFill>
                  <a:schemeClr val="bg1"/>
                </a:solidFill>
              </a:rPr>
              <a:t>  كما في الشكل 1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2-نقوم بتدوير وشيعة بين طرفي مغناطيس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كما في الشكل  2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فنلاحظ انحراف مؤشر الجهاز نحو اليمين واليسار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الذي يحدد التوتر المتناوب المتغير ودليل على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وجود تيار كهربائي </a:t>
            </a:r>
            <a:r>
              <a:rPr lang="ar-DZ" sz="2400" b="1" dirty="0" err="1">
                <a:solidFill>
                  <a:schemeClr val="bg1"/>
                </a:solidFill>
              </a:rPr>
              <a:t>متناوب </a:t>
            </a:r>
            <a:r>
              <a:rPr lang="ar-DZ" sz="2400" b="1" dirty="0">
                <a:solidFill>
                  <a:schemeClr val="bg1"/>
                </a:solidFill>
              </a:rPr>
              <a:t>(متغير</a:t>
            </a:r>
            <a:r>
              <a:rPr lang="ar-DZ" sz="2400" b="1" dirty="0" err="1">
                <a:solidFill>
                  <a:schemeClr val="bg1"/>
                </a:solidFill>
              </a:rPr>
              <a:t>)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النتيجة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يمكن الحصول على توتر </a:t>
            </a:r>
            <a:r>
              <a:rPr lang="ar-DZ" sz="2400" b="1" dirty="0" err="1">
                <a:solidFill>
                  <a:schemeClr val="bg1"/>
                </a:solidFill>
              </a:rPr>
              <a:t>متناوب (متغير )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و انتاج تيار كهربائي متناوب بتحريك مغناطيس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داخل وشيعة او العكس تحريك وشيعة بين طرفي </a:t>
            </a:r>
          </a:p>
          <a:p>
            <a:pPr algn="r"/>
            <a:r>
              <a:rPr lang="ar-DZ" sz="2400" b="1" dirty="0" err="1">
                <a:solidFill>
                  <a:schemeClr val="bg1"/>
                </a:solidFill>
              </a:rPr>
              <a:t>معناطيس</a:t>
            </a:r>
            <a:r>
              <a:rPr lang="ar-DZ" sz="2400" b="1" dirty="0">
                <a:solidFill>
                  <a:schemeClr val="bg1"/>
                </a:solidFill>
              </a:rPr>
              <a:t> وهذا هو مبدأ انتاج تيار كهربائي متناوب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(ظاهرة التحريض </a:t>
            </a:r>
            <a:r>
              <a:rPr lang="ar-DZ" sz="2400" b="1" dirty="0" err="1">
                <a:solidFill>
                  <a:schemeClr val="bg1"/>
                </a:solidFill>
              </a:rPr>
              <a:t>الكهرمغناطيسي)</a:t>
            </a:r>
            <a:r>
              <a:rPr lang="ar-DZ" sz="2400" b="1" dirty="0">
                <a:solidFill>
                  <a:schemeClr val="bg1"/>
                </a:solidFill>
              </a:rPr>
              <a:t>  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8" name="Image 7" descr="image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1628800"/>
            <a:ext cx="2808312" cy="2088232"/>
          </a:xfrm>
          <a:prstGeom prst="rect">
            <a:avLst/>
          </a:prstGeom>
        </p:spPr>
      </p:pic>
      <p:pic>
        <p:nvPicPr>
          <p:cNvPr id="9" name="Image 8" descr="maxresdefault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5536" y="3933056"/>
            <a:ext cx="2801146" cy="24997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6876256" y="0"/>
            <a:ext cx="1800200" cy="864096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331640" y="188640"/>
            <a:ext cx="5400600" cy="6206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معاينة التيار الكهربائيان المستمر و المتناوب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0" y="836712"/>
            <a:ext cx="9144000" cy="5760640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1-معاينة التيار الكهربائي المستمر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نصل بطارية بجهاز راسم الاهتزاز المهبطي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كما في الشكل 1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2-معاينة التيار الكهربائي المتناوب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نقوم </a:t>
            </a:r>
            <a:r>
              <a:rPr lang="ar-DZ" sz="2400" b="1" dirty="0" err="1">
                <a:solidFill>
                  <a:schemeClr val="bg1"/>
                </a:solidFill>
              </a:rPr>
              <a:t>يتحريك</a:t>
            </a:r>
            <a:r>
              <a:rPr lang="ar-DZ" sz="2400" b="1" dirty="0">
                <a:solidFill>
                  <a:schemeClr val="bg1"/>
                </a:solidFill>
              </a:rPr>
              <a:t> مغناطيس امام وشيعة متصلة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بجهاز راسم الاهتزاز المهبطي كما في الشكل 2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فنلاحظ  في الحالة الاول تشكل خط </a:t>
            </a:r>
            <a:r>
              <a:rPr lang="ar-DZ" sz="2400" b="1" dirty="0" err="1">
                <a:solidFill>
                  <a:schemeClr val="bg1"/>
                </a:solidFill>
              </a:rPr>
              <a:t>مستقيم </a:t>
            </a:r>
            <a:r>
              <a:rPr lang="ar-DZ" sz="2400" b="1" dirty="0">
                <a:solidFill>
                  <a:schemeClr val="bg1"/>
                </a:solidFill>
              </a:rPr>
              <a:t>(غير متغير</a:t>
            </a:r>
            <a:r>
              <a:rPr lang="ar-DZ" sz="2400" b="1" dirty="0" err="1">
                <a:solidFill>
                  <a:schemeClr val="bg1"/>
                </a:solidFill>
              </a:rPr>
              <a:t>)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يدل على انه تيار كهربائي مستمر 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وفي الحالة الثانية تشكل خط منحني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يدل على انه تيار كهربائي متناوب</a:t>
            </a:r>
          </a:p>
          <a:p>
            <a:pPr algn="r"/>
            <a:r>
              <a:rPr lang="ar-DZ" sz="2400" b="1" dirty="0" err="1">
                <a:solidFill>
                  <a:schemeClr val="bg1"/>
                </a:solidFill>
              </a:rPr>
              <a:t>المنتيجة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ان التيار الكهربائي المستمر هو تيار ذو شدة ثابتة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وجهة واحدة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اما التيار الكهربائي المتناوب ذو شدة متغيرة و جهة متغيرة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8" name="Image 7" descr="téléchargement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517" t="3468" r="41346" b="51450"/>
          <a:stretch>
            <a:fillRect/>
          </a:stretch>
        </p:blipFill>
        <p:spPr>
          <a:xfrm>
            <a:off x="179512" y="3501008"/>
            <a:ext cx="2232248" cy="1656184"/>
          </a:xfrm>
          <a:prstGeom prst="rect">
            <a:avLst/>
          </a:prstGeom>
        </p:spPr>
      </p:pic>
      <p:pic>
        <p:nvPicPr>
          <p:cNvPr id="9" name="Image 8" descr="maxresdefault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1520" y="980728"/>
            <a:ext cx="1944216" cy="1152128"/>
          </a:xfrm>
          <a:prstGeom prst="rect">
            <a:avLst/>
          </a:prstGeom>
        </p:spPr>
      </p:pic>
      <p:pic>
        <p:nvPicPr>
          <p:cNvPr id="10" name="Image 9" descr="29-12-10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576" y="2132856"/>
            <a:ext cx="864096" cy="1022813"/>
          </a:xfrm>
          <a:prstGeom prst="rect">
            <a:avLst/>
          </a:prstGeom>
        </p:spPr>
      </p:pic>
      <p:pic>
        <p:nvPicPr>
          <p:cNvPr id="11" name="Image 10" descr="images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793" r="5128" b="48276"/>
          <a:stretch>
            <a:fillRect/>
          </a:stretch>
        </p:blipFill>
        <p:spPr>
          <a:xfrm rot="10800000">
            <a:off x="0" y="5157192"/>
            <a:ext cx="2664296" cy="792088"/>
          </a:xfrm>
          <a:prstGeom prst="rect">
            <a:avLst/>
          </a:prstGeom>
        </p:spPr>
      </p:pic>
      <p:sp>
        <p:nvSpPr>
          <p:cNvPr id="12" name="Rectangle à coins arrondis 11"/>
          <p:cNvSpPr/>
          <p:nvPr/>
        </p:nvSpPr>
        <p:spPr>
          <a:xfrm>
            <a:off x="0" y="5229200"/>
            <a:ext cx="1187624" cy="2880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à coins arrondis 12"/>
          <p:cNvSpPr/>
          <p:nvPr/>
        </p:nvSpPr>
        <p:spPr>
          <a:xfrm>
            <a:off x="611560" y="3140968"/>
            <a:ext cx="15121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شكل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539552" y="6021288"/>
            <a:ext cx="15121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شكل 2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avec flèche vers la gauche 3"/>
          <p:cNvSpPr/>
          <p:nvPr/>
        </p:nvSpPr>
        <p:spPr>
          <a:xfrm>
            <a:off x="7020272" y="836712"/>
            <a:ext cx="1800200" cy="864096"/>
          </a:xfrm>
          <a:prstGeom prst="leftArrowCallou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avec flèche vers la gauche 4"/>
          <p:cNvSpPr/>
          <p:nvPr/>
        </p:nvSpPr>
        <p:spPr>
          <a:xfrm>
            <a:off x="6948264" y="0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الحصة 5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411760" y="0"/>
            <a:ext cx="4464496" cy="720080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التيار الكهربائي المتناوب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2339752" y="764704"/>
            <a:ext cx="4464496" cy="792088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خصائص التيار  الكهربائي المتناوب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0" y="1628800"/>
            <a:ext cx="8820472" cy="52292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1-عند معاينة التيار الكهربائي المتناوب براسم الاهتزاز المهبطي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نحصل على خط منحني يمثل التوتر المتناوب 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يتميز بالخصائص الاتية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*التوتر المتناوب  وهو التوتر الذي يعينه راسم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الاهتزاز المهبطي ويكون متغير من قيمة عظمى</a:t>
            </a:r>
          </a:p>
          <a:p>
            <a:pPr algn="r"/>
            <a:r>
              <a:rPr lang="fr-FR" sz="2000" b="1" dirty="0">
                <a:solidFill>
                  <a:schemeClr val="bg1"/>
                </a:solidFill>
              </a:rPr>
              <a:t>V</a:t>
            </a:r>
            <a:r>
              <a:rPr lang="ar-DZ" sz="2000" b="1" dirty="0">
                <a:solidFill>
                  <a:schemeClr val="bg1"/>
                </a:solidFill>
              </a:rPr>
              <a:t> ووحدته </a:t>
            </a:r>
            <a:r>
              <a:rPr lang="ar-DZ" sz="2000" b="1" dirty="0" err="1">
                <a:solidFill>
                  <a:schemeClr val="bg1"/>
                </a:solidFill>
              </a:rPr>
              <a:t>الفولط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  <a:r>
              <a:rPr lang="fr-FR" sz="2000" b="1" dirty="0">
                <a:solidFill>
                  <a:schemeClr val="bg1"/>
                </a:solidFill>
              </a:rPr>
              <a:t>U</a:t>
            </a:r>
            <a:r>
              <a:rPr lang="ar-DZ" sz="2000" b="1" dirty="0">
                <a:solidFill>
                  <a:schemeClr val="bg1"/>
                </a:solidFill>
              </a:rPr>
              <a:t> الى قيمة دنيا بين السالب والموجب رمزه 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*التوتر </a:t>
            </a:r>
            <a:r>
              <a:rPr lang="ar-DZ" sz="2000" b="1" dirty="0" err="1">
                <a:solidFill>
                  <a:schemeClr val="bg1"/>
                </a:solidFill>
              </a:rPr>
              <a:t>الاعظمي</a:t>
            </a:r>
            <a:r>
              <a:rPr lang="ar-DZ" sz="2000" b="1" dirty="0">
                <a:solidFill>
                  <a:schemeClr val="bg1"/>
                </a:solidFill>
              </a:rPr>
              <a:t> وهو اقصى قيمة للتوتر</a:t>
            </a:r>
          </a:p>
          <a:p>
            <a:pPr algn="r"/>
            <a:r>
              <a:rPr lang="fr-FR" sz="2000" b="1" dirty="0">
                <a:solidFill>
                  <a:schemeClr val="bg1"/>
                </a:solidFill>
              </a:rPr>
              <a:t>V</a:t>
            </a:r>
            <a:r>
              <a:rPr lang="ar-DZ" sz="2000" b="1" dirty="0">
                <a:solidFill>
                  <a:schemeClr val="bg1"/>
                </a:solidFill>
              </a:rPr>
              <a:t> ووحدته </a:t>
            </a:r>
            <a:r>
              <a:rPr lang="ar-DZ" sz="2000" b="1" dirty="0" err="1">
                <a:solidFill>
                  <a:schemeClr val="bg1"/>
                </a:solidFill>
              </a:rPr>
              <a:t>الفولط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  <a:r>
              <a:rPr lang="fr-FR" sz="2000" b="1" dirty="0" err="1">
                <a:solidFill>
                  <a:schemeClr val="bg1"/>
                </a:solidFill>
              </a:rPr>
              <a:t>Umax</a:t>
            </a:r>
            <a:r>
              <a:rPr lang="ar-DZ" sz="2000" b="1" dirty="0">
                <a:solidFill>
                  <a:schemeClr val="bg1"/>
                </a:solidFill>
              </a:rPr>
              <a:t> المتغير رمزه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*الدور وهو الزمن اللازم لدورة واحدة</a:t>
            </a:r>
          </a:p>
          <a:p>
            <a:pPr algn="r"/>
            <a:r>
              <a:rPr lang="fr-FR" sz="2000" b="1" dirty="0">
                <a:solidFill>
                  <a:schemeClr val="bg1"/>
                </a:solidFill>
              </a:rPr>
              <a:t>S</a:t>
            </a:r>
            <a:r>
              <a:rPr lang="ar-DZ" sz="2000" b="1" dirty="0">
                <a:solidFill>
                  <a:schemeClr val="bg1"/>
                </a:solidFill>
              </a:rPr>
              <a:t> ووحدته الثانية  </a:t>
            </a:r>
            <a:r>
              <a:rPr lang="fr-FR" sz="2000" b="1" dirty="0">
                <a:solidFill>
                  <a:schemeClr val="bg1"/>
                </a:solidFill>
              </a:rPr>
              <a:t>T </a:t>
            </a:r>
            <a:r>
              <a:rPr lang="ar-DZ" sz="2000" b="1" dirty="0">
                <a:solidFill>
                  <a:schemeClr val="bg1"/>
                </a:solidFill>
              </a:rPr>
              <a:t> او نوبة واحدة رمزه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*التواتر وهو عدد الدورات خلال ثانية واحدة</a:t>
            </a:r>
          </a:p>
          <a:p>
            <a:pPr algn="r"/>
            <a:r>
              <a:rPr lang="fr-FR" sz="2000" b="1" dirty="0">
                <a:solidFill>
                  <a:schemeClr val="bg1"/>
                </a:solidFill>
              </a:rPr>
              <a:t>Hertz   </a:t>
            </a:r>
            <a:r>
              <a:rPr lang="ar-DZ" sz="2000" b="1" dirty="0">
                <a:solidFill>
                  <a:schemeClr val="bg1"/>
                </a:solidFill>
              </a:rPr>
              <a:t> ووحدته </a:t>
            </a:r>
            <a:r>
              <a:rPr lang="ar-DZ" sz="2000" b="1" dirty="0" err="1">
                <a:solidFill>
                  <a:schemeClr val="bg1"/>
                </a:solidFill>
              </a:rPr>
              <a:t>الهرتز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  <a:r>
              <a:rPr lang="fr-FR" sz="2000" b="1" dirty="0">
                <a:solidFill>
                  <a:schemeClr val="bg1"/>
                </a:solidFill>
              </a:rPr>
              <a:t>  f  </a:t>
            </a:r>
            <a:r>
              <a:rPr lang="ar-DZ" sz="2000" b="1" dirty="0">
                <a:solidFill>
                  <a:schemeClr val="bg1"/>
                </a:solidFill>
              </a:rPr>
              <a:t>رمزه </a:t>
            </a:r>
            <a:r>
              <a:rPr lang="fr-FR" sz="2000" b="1" dirty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2-عند قياس التوتر بجهاز </a:t>
            </a:r>
            <a:r>
              <a:rPr lang="ar-DZ" sz="2000" b="1" dirty="0" err="1">
                <a:solidFill>
                  <a:schemeClr val="bg1"/>
                </a:solidFill>
              </a:rPr>
              <a:t>الفولط</a:t>
            </a:r>
            <a:r>
              <a:rPr lang="ar-DZ" sz="2000" b="1" dirty="0">
                <a:solidFill>
                  <a:schemeClr val="bg1"/>
                </a:solidFill>
              </a:rPr>
              <a:t> متر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نحصل على قيمة تسمى التوتر المنتج</a:t>
            </a:r>
          </a:p>
          <a:p>
            <a:pPr algn="r"/>
            <a:r>
              <a:rPr lang="fr-FR" sz="2000" b="1" dirty="0">
                <a:solidFill>
                  <a:schemeClr val="bg1"/>
                </a:solidFill>
              </a:rPr>
              <a:t>V  </a:t>
            </a:r>
            <a:r>
              <a:rPr lang="ar-DZ" sz="2000" b="1" dirty="0">
                <a:solidFill>
                  <a:schemeClr val="bg1"/>
                </a:solidFill>
              </a:rPr>
              <a:t> ووحدته </a:t>
            </a:r>
            <a:r>
              <a:rPr lang="ar-DZ" sz="2000" b="1" dirty="0" err="1">
                <a:solidFill>
                  <a:schemeClr val="bg1"/>
                </a:solidFill>
              </a:rPr>
              <a:t>الفولط</a:t>
            </a:r>
            <a:r>
              <a:rPr lang="ar-DZ" sz="2000" b="1" dirty="0">
                <a:solidFill>
                  <a:schemeClr val="bg1"/>
                </a:solidFill>
              </a:rPr>
              <a:t>  </a:t>
            </a:r>
            <a:r>
              <a:rPr lang="fr-FR" sz="2000" b="1" dirty="0">
                <a:solidFill>
                  <a:schemeClr val="bg1"/>
                </a:solidFill>
              </a:rPr>
              <a:t>  </a:t>
            </a:r>
            <a:r>
              <a:rPr lang="fr-FR" sz="2000" b="1" dirty="0" err="1">
                <a:solidFill>
                  <a:schemeClr val="bg1"/>
                </a:solidFill>
              </a:rPr>
              <a:t>Ueff</a:t>
            </a:r>
            <a:r>
              <a:rPr lang="fr-FR" sz="2000" b="1" dirty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</a:rPr>
              <a:t>رمزه </a:t>
            </a:r>
            <a:r>
              <a:rPr lang="fr-FR" sz="2000" b="1" dirty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221088"/>
            <a:ext cx="2627784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Rectangle à coins arrondis 37"/>
          <p:cNvSpPr/>
          <p:nvPr/>
        </p:nvSpPr>
        <p:spPr>
          <a:xfrm>
            <a:off x="827584" y="4077072"/>
            <a:ext cx="792088" cy="36004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39" name="Rectangle à coins arrondis 38"/>
          <p:cNvSpPr/>
          <p:nvPr/>
        </p:nvSpPr>
        <p:spPr>
          <a:xfrm rot="16200000">
            <a:off x="-252028" y="4761148"/>
            <a:ext cx="864096" cy="36004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bg1"/>
                </a:solidFill>
              </a:rPr>
              <a:t>Umax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40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5776" y="4221088"/>
            <a:ext cx="2376264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avec flèche vers la gauche 3"/>
          <p:cNvSpPr/>
          <p:nvPr/>
        </p:nvSpPr>
        <p:spPr>
          <a:xfrm>
            <a:off x="7343800" y="0"/>
            <a:ext cx="1800200" cy="864096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491880" y="0"/>
            <a:ext cx="4464496" cy="72008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تعيين خصائص التيار  الكهربائي المتناوب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0" y="764704"/>
            <a:ext cx="9144000" cy="6093296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fr-FR" sz="2000" b="1" dirty="0">
              <a:solidFill>
                <a:schemeClr val="bg1"/>
              </a:solidFill>
            </a:endParaRPr>
          </a:p>
          <a:p>
            <a:pPr algn="r"/>
            <a:endParaRPr lang="fr-FR" sz="2000" b="1" dirty="0">
              <a:solidFill>
                <a:schemeClr val="bg1"/>
              </a:solidFill>
            </a:endParaRPr>
          </a:p>
          <a:p>
            <a:pPr algn="r"/>
            <a:r>
              <a:rPr lang="ar-DZ" sz="2000" b="1" dirty="0" err="1">
                <a:solidFill>
                  <a:schemeClr val="bg1"/>
                </a:solidFill>
              </a:rPr>
              <a:t>-</a:t>
            </a:r>
            <a:endParaRPr lang="ar-DZ" sz="2000" b="1" dirty="0">
              <a:solidFill>
                <a:schemeClr val="bg1"/>
              </a:solidFill>
            </a:endParaRP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معاينة التيار الكهربائي المتناوب براسم الاهتزاز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المهبطي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ثم تجيل المعلومات الخاصة بالجهاز </a:t>
            </a:r>
          </a:p>
          <a:p>
            <a:pPr algn="r"/>
            <a:r>
              <a:rPr lang="fr-FR" sz="2400" b="1" dirty="0">
                <a:solidFill>
                  <a:schemeClr val="bg1"/>
                </a:solidFill>
              </a:rPr>
              <a:t>Sh=30ms/</a:t>
            </a:r>
            <a:r>
              <a:rPr lang="fr-FR" sz="2400" b="1" dirty="0" err="1">
                <a:solidFill>
                  <a:schemeClr val="bg1"/>
                </a:solidFill>
              </a:rPr>
              <a:t>div</a:t>
            </a:r>
            <a:r>
              <a:rPr lang="fr-FR" sz="2400" b="1" dirty="0">
                <a:solidFill>
                  <a:schemeClr val="bg1"/>
                </a:solidFill>
              </a:rPr>
              <a:t>  </a:t>
            </a:r>
            <a:r>
              <a:rPr lang="ar-DZ" sz="2400" b="1" dirty="0">
                <a:solidFill>
                  <a:schemeClr val="bg1"/>
                </a:solidFill>
              </a:rPr>
              <a:t> الحساسية الافقية </a:t>
            </a:r>
          </a:p>
          <a:p>
            <a:pPr algn="r"/>
            <a:r>
              <a:rPr lang="fr-FR" sz="2400" b="1" dirty="0">
                <a:solidFill>
                  <a:schemeClr val="bg1"/>
                </a:solidFill>
              </a:rPr>
              <a:t>Sv= </a:t>
            </a:r>
            <a:r>
              <a:rPr lang="ar-DZ" sz="2400" b="1" dirty="0">
                <a:solidFill>
                  <a:schemeClr val="bg1"/>
                </a:solidFill>
              </a:rPr>
              <a:t>5</a:t>
            </a:r>
            <a:r>
              <a:rPr lang="fr-FR" sz="2400" b="1" dirty="0">
                <a:solidFill>
                  <a:schemeClr val="bg1"/>
                </a:solidFill>
              </a:rPr>
              <a:t>.</a:t>
            </a:r>
            <a:r>
              <a:rPr lang="ar-DZ" sz="2400" b="1" dirty="0">
                <a:solidFill>
                  <a:schemeClr val="bg1"/>
                </a:solidFill>
              </a:rPr>
              <a:t>6</a:t>
            </a:r>
            <a:r>
              <a:rPr lang="fr-FR" sz="2400" b="1" dirty="0">
                <a:solidFill>
                  <a:schemeClr val="bg1"/>
                </a:solidFill>
              </a:rPr>
              <a:t>V/</a:t>
            </a:r>
            <a:r>
              <a:rPr lang="fr-FR" sz="2400" b="1" dirty="0" err="1">
                <a:solidFill>
                  <a:schemeClr val="bg1"/>
                </a:solidFill>
              </a:rPr>
              <a:t>div</a:t>
            </a:r>
            <a:r>
              <a:rPr lang="fr-FR" sz="2400" b="1" dirty="0">
                <a:solidFill>
                  <a:schemeClr val="bg1"/>
                </a:solidFill>
              </a:rPr>
              <a:t>   </a:t>
            </a:r>
            <a:r>
              <a:rPr lang="ar-DZ" sz="2400" b="1" dirty="0">
                <a:solidFill>
                  <a:schemeClr val="bg1"/>
                </a:solidFill>
              </a:rPr>
              <a:t> والحساسية العمودية</a:t>
            </a:r>
            <a:r>
              <a:rPr lang="fr-FR" sz="2400" b="1" dirty="0">
                <a:solidFill>
                  <a:schemeClr val="bg1"/>
                </a:solidFill>
              </a:rPr>
              <a:t> 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*تعيين  قيمة التوتر </a:t>
            </a:r>
            <a:r>
              <a:rPr lang="ar-DZ" sz="2400" b="1" dirty="0" err="1">
                <a:solidFill>
                  <a:schemeClr val="bg1"/>
                </a:solidFill>
              </a:rPr>
              <a:t>الاعظمي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الحساسية العمودية </a:t>
            </a:r>
            <a:r>
              <a:rPr lang="fr-FR" sz="2400" b="1" dirty="0">
                <a:solidFill>
                  <a:schemeClr val="bg1"/>
                </a:solidFill>
              </a:rPr>
              <a:t>X</a:t>
            </a:r>
            <a:r>
              <a:rPr lang="ar-DZ" sz="2400" b="1" dirty="0">
                <a:solidFill>
                  <a:schemeClr val="bg1"/>
                </a:solidFill>
              </a:rPr>
              <a:t>عدد التدريجات العمودية لأقصى توتر </a:t>
            </a:r>
            <a:r>
              <a:rPr lang="fr-FR" sz="2400" b="1" dirty="0">
                <a:solidFill>
                  <a:schemeClr val="bg1"/>
                </a:solidFill>
              </a:rPr>
              <a:t>=</a:t>
            </a:r>
            <a:r>
              <a:rPr lang="ar-DZ" sz="2400" b="1" dirty="0">
                <a:solidFill>
                  <a:schemeClr val="bg1"/>
                </a:solidFill>
              </a:rPr>
              <a:t> التوتر </a:t>
            </a:r>
            <a:r>
              <a:rPr lang="ar-DZ" sz="2400" b="1" dirty="0" err="1">
                <a:solidFill>
                  <a:schemeClr val="bg1"/>
                </a:solidFill>
              </a:rPr>
              <a:t>الاعظمي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fr-FR" sz="2400" b="1" dirty="0" err="1">
                <a:solidFill>
                  <a:schemeClr val="bg1"/>
                </a:solidFill>
              </a:rPr>
              <a:t>Umax</a:t>
            </a:r>
            <a:r>
              <a:rPr lang="fr-FR" sz="2400" b="1" dirty="0">
                <a:solidFill>
                  <a:schemeClr val="bg1"/>
                </a:solidFill>
              </a:rPr>
              <a:t>=</a:t>
            </a:r>
            <a:r>
              <a:rPr lang="fr-FR" sz="2400" b="1" dirty="0" err="1">
                <a:solidFill>
                  <a:schemeClr val="bg1"/>
                </a:solidFill>
              </a:rPr>
              <a:t>NvxSv</a:t>
            </a:r>
            <a:r>
              <a:rPr lang="fr-FR" sz="2400" b="1" dirty="0">
                <a:solidFill>
                  <a:schemeClr val="bg1"/>
                </a:solidFill>
              </a:rPr>
              <a:t>=3x</a:t>
            </a:r>
            <a:r>
              <a:rPr lang="ar-DZ" sz="2400" b="1" dirty="0">
                <a:solidFill>
                  <a:schemeClr val="bg1"/>
                </a:solidFill>
              </a:rPr>
              <a:t>5</a:t>
            </a:r>
            <a:r>
              <a:rPr lang="fr-FR" sz="2400" b="1" dirty="0">
                <a:solidFill>
                  <a:schemeClr val="bg1"/>
                </a:solidFill>
              </a:rPr>
              <a:t>.</a:t>
            </a:r>
            <a:r>
              <a:rPr lang="ar-DZ" sz="2400" b="1" dirty="0">
                <a:solidFill>
                  <a:schemeClr val="bg1"/>
                </a:solidFill>
              </a:rPr>
              <a:t>6</a:t>
            </a:r>
            <a:r>
              <a:rPr lang="fr-FR" sz="2400" b="1" dirty="0">
                <a:solidFill>
                  <a:schemeClr val="bg1"/>
                </a:solidFill>
              </a:rPr>
              <a:t>=</a:t>
            </a:r>
            <a:r>
              <a:rPr lang="ar-DZ" sz="2400" b="1" dirty="0">
                <a:solidFill>
                  <a:schemeClr val="bg1"/>
                </a:solidFill>
              </a:rPr>
              <a:t>16</a:t>
            </a:r>
            <a:r>
              <a:rPr lang="fr-FR" sz="2400" b="1" dirty="0">
                <a:solidFill>
                  <a:schemeClr val="bg1"/>
                </a:solidFill>
              </a:rPr>
              <a:t>.</a:t>
            </a:r>
            <a:r>
              <a:rPr lang="ar-DZ" sz="2400" b="1" dirty="0">
                <a:solidFill>
                  <a:schemeClr val="bg1"/>
                </a:solidFill>
              </a:rPr>
              <a:t>8</a:t>
            </a:r>
            <a:r>
              <a:rPr lang="fr-FR" sz="2400" b="1" dirty="0">
                <a:solidFill>
                  <a:schemeClr val="bg1"/>
                </a:solidFill>
              </a:rPr>
              <a:t>V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*تعيين الدور  </a:t>
            </a:r>
          </a:p>
          <a:p>
            <a:pPr algn="r"/>
            <a:r>
              <a:rPr lang="ar-DZ" sz="2400" b="1" dirty="0" err="1">
                <a:solidFill>
                  <a:schemeClr val="bg1"/>
                </a:solidFill>
              </a:rPr>
              <a:t>االحساسية</a:t>
            </a:r>
            <a:r>
              <a:rPr lang="ar-DZ" sz="2400" b="1" dirty="0">
                <a:solidFill>
                  <a:schemeClr val="bg1"/>
                </a:solidFill>
              </a:rPr>
              <a:t> الافقية   </a:t>
            </a:r>
            <a:r>
              <a:rPr lang="fr-FR" sz="2400" b="1" dirty="0">
                <a:solidFill>
                  <a:schemeClr val="bg1"/>
                </a:solidFill>
              </a:rPr>
              <a:t>X</a:t>
            </a:r>
            <a:r>
              <a:rPr lang="ar-DZ" sz="2400" b="1" dirty="0">
                <a:solidFill>
                  <a:schemeClr val="bg1"/>
                </a:solidFill>
              </a:rPr>
              <a:t> عدد التدريجات الافقية لدورة  </a:t>
            </a:r>
            <a:r>
              <a:rPr lang="fr-FR" sz="2400" b="1" dirty="0">
                <a:solidFill>
                  <a:schemeClr val="bg1"/>
                </a:solidFill>
              </a:rPr>
              <a:t>=</a:t>
            </a:r>
            <a:r>
              <a:rPr lang="ar-DZ" sz="2400" b="1" dirty="0">
                <a:solidFill>
                  <a:schemeClr val="bg1"/>
                </a:solidFill>
              </a:rPr>
              <a:t> الدور </a:t>
            </a:r>
          </a:p>
          <a:p>
            <a:pPr algn="r"/>
            <a:r>
              <a:rPr lang="fr-FR" sz="2400" b="1" dirty="0">
                <a:solidFill>
                  <a:schemeClr val="bg1"/>
                </a:solidFill>
              </a:rPr>
              <a:t>T=</a:t>
            </a:r>
            <a:r>
              <a:rPr lang="fr-FR" sz="2400" b="1" dirty="0" err="1">
                <a:solidFill>
                  <a:schemeClr val="bg1"/>
                </a:solidFill>
              </a:rPr>
              <a:t>NhxSh</a:t>
            </a:r>
            <a:r>
              <a:rPr lang="fr-FR" sz="2400" b="1" dirty="0">
                <a:solidFill>
                  <a:schemeClr val="bg1"/>
                </a:solidFill>
              </a:rPr>
              <a:t>=4x30=120ms=0.12s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*تعيين التواتر  </a:t>
            </a:r>
          </a:p>
          <a:p>
            <a:pPr algn="r"/>
            <a:r>
              <a:rPr lang="ar-DZ" sz="2400" b="1" dirty="0" err="1">
                <a:solidFill>
                  <a:schemeClr val="bg1"/>
                </a:solidFill>
              </a:rPr>
              <a:t>التواتر </a:t>
            </a:r>
            <a:r>
              <a:rPr lang="ar-DZ" sz="2400" b="1" dirty="0">
                <a:solidFill>
                  <a:schemeClr val="bg1"/>
                </a:solidFill>
              </a:rPr>
              <a:t>= مقلوب الدور </a:t>
            </a:r>
          </a:p>
          <a:p>
            <a:pPr algn="ctr"/>
            <a:r>
              <a:rPr lang="fr-FR" sz="2400" b="1" dirty="0">
                <a:solidFill>
                  <a:schemeClr val="bg1"/>
                </a:solidFill>
              </a:rPr>
              <a:t>f=1/T=1/0.12=8.33 Hertz</a:t>
            </a: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-148580" y="148580"/>
            <a:ext cx="3789040" cy="3491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à coins arrondis 10"/>
          <p:cNvSpPr/>
          <p:nvPr/>
        </p:nvSpPr>
        <p:spPr>
          <a:xfrm>
            <a:off x="2411760" y="260648"/>
            <a:ext cx="1152128" cy="360040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8.33Hertz</a:t>
            </a:r>
          </a:p>
        </p:txBody>
      </p:sp>
      <p:sp>
        <p:nvSpPr>
          <p:cNvPr id="12" name="Rectangle à coins arrondis 11"/>
          <p:cNvSpPr/>
          <p:nvPr/>
        </p:nvSpPr>
        <p:spPr>
          <a:xfrm>
            <a:off x="2699792" y="1124744"/>
            <a:ext cx="792088" cy="360040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12V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827584" y="1484784"/>
            <a:ext cx="1296144" cy="360040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30ms/</a:t>
            </a:r>
            <a:r>
              <a:rPr lang="fr-FR" b="1" dirty="0" err="1">
                <a:solidFill>
                  <a:schemeClr val="bg1"/>
                </a:solidFill>
              </a:rPr>
              <a:t>div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0" y="2276872"/>
            <a:ext cx="1296144" cy="360040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5.6v/</a:t>
            </a:r>
            <a:r>
              <a:rPr lang="fr-FR" b="1" dirty="0" err="1">
                <a:solidFill>
                  <a:schemeClr val="bg1"/>
                </a:solidFill>
              </a:rPr>
              <a:t>div</a:t>
            </a:r>
            <a:endParaRPr lang="fr-F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avec flèche vers la gauche 5"/>
          <p:cNvSpPr/>
          <p:nvPr/>
        </p:nvSpPr>
        <p:spPr>
          <a:xfrm>
            <a:off x="7343800" y="0"/>
            <a:ext cx="1800200" cy="864096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3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611560" y="0"/>
            <a:ext cx="6552728" cy="72008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تعيين التوتر المنتج و الشدة المنتجة </a:t>
            </a:r>
            <a:r>
              <a:rPr lang="ar-DZ" sz="2400" b="1" dirty="0" err="1">
                <a:solidFill>
                  <a:schemeClr val="bg1"/>
                </a:solidFill>
              </a:rPr>
              <a:t>للتيارالكهربائي</a:t>
            </a:r>
            <a:r>
              <a:rPr lang="ar-DZ" sz="2400" b="1" dirty="0">
                <a:solidFill>
                  <a:schemeClr val="bg1"/>
                </a:solidFill>
              </a:rPr>
              <a:t>  المتناوب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0" y="764704"/>
            <a:ext cx="9144000" cy="597666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r"/>
            <a:endParaRPr lang="fr-FR" sz="2000" b="1" dirty="0">
              <a:solidFill>
                <a:schemeClr val="bg1"/>
              </a:solidFill>
            </a:endParaRPr>
          </a:p>
          <a:p>
            <a:pPr algn="r"/>
            <a:endParaRPr lang="fr-FR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1-معاينة التوتر المنتج بجهاز </a:t>
            </a:r>
            <a:r>
              <a:rPr lang="ar-DZ" sz="2400" b="1" dirty="0" err="1">
                <a:solidFill>
                  <a:schemeClr val="bg1"/>
                </a:solidFill>
              </a:rPr>
              <a:t>الفولط</a:t>
            </a:r>
            <a:r>
              <a:rPr lang="ar-DZ" sz="2400" b="1" dirty="0">
                <a:solidFill>
                  <a:schemeClr val="bg1"/>
                </a:solidFill>
              </a:rPr>
              <a:t> متر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نربط جهاز </a:t>
            </a:r>
            <a:r>
              <a:rPr lang="ar-DZ" sz="2400" b="1" dirty="0" err="1">
                <a:solidFill>
                  <a:schemeClr val="bg1"/>
                </a:solidFill>
              </a:rPr>
              <a:t>الفولط</a:t>
            </a:r>
            <a:r>
              <a:rPr lang="ar-DZ" sz="2400" b="1" dirty="0">
                <a:solidFill>
                  <a:schemeClr val="bg1"/>
                </a:solidFill>
              </a:rPr>
              <a:t> متر بين طرفي منبع للتوتر المتناوب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من خلال قراءة النتيجة نجد مباشرة </a:t>
            </a:r>
          </a:p>
          <a:p>
            <a:pPr algn="r"/>
            <a:r>
              <a:rPr lang="fr-FR" sz="2400" b="1" dirty="0" err="1">
                <a:solidFill>
                  <a:schemeClr val="bg1"/>
                </a:solidFill>
              </a:rPr>
              <a:t>Ueff</a:t>
            </a:r>
            <a:r>
              <a:rPr lang="fr-FR" sz="2400" b="1" dirty="0">
                <a:solidFill>
                  <a:schemeClr val="bg1"/>
                </a:solidFill>
              </a:rPr>
              <a:t>=</a:t>
            </a:r>
            <a:r>
              <a:rPr lang="ar-DZ" sz="2400" b="1" dirty="0">
                <a:solidFill>
                  <a:schemeClr val="bg1"/>
                </a:solidFill>
              </a:rPr>
              <a:t>12</a:t>
            </a:r>
            <a:r>
              <a:rPr lang="fr-FR" sz="2400" b="1" dirty="0">
                <a:solidFill>
                  <a:schemeClr val="bg1"/>
                </a:solidFill>
              </a:rPr>
              <a:t>v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3-العلاقة بين التوتر </a:t>
            </a:r>
            <a:r>
              <a:rPr lang="ar-DZ" sz="2400" b="1" dirty="0" err="1">
                <a:solidFill>
                  <a:schemeClr val="bg1"/>
                </a:solidFill>
              </a:rPr>
              <a:t>الاعظمي</a:t>
            </a:r>
            <a:r>
              <a:rPr lang="ar-DZ" sz="2400" b="1" dirty="0">
                <a:solidFill>
                  <a:schemeClr val="bg1"/>
                </a:solidFill>
              </a:rPr>
              <a:t>  والتوتر المنتج </a:t>
            </a:r>
          </a:p>
          <a:p>
            <a:pPr algn="r"/>
            <a:r>
              <a:rPr lang="fr-FR" sz="2400" b="1" dirty="0" err="1">
                <a:solidFill>
                  <a:schemeClr val="bg1"/>
                </a:solidFill>
              </a:rPr>
              <a:t>Umax</a:t>
            </a:r>
            <a:r>
              <a:rPr lang="fr-FR" sz="2400" b="1" dirty="0">
                <a:solidFill>
                  <a:schemeClr val="bg1"/>
                </a:solidFill>
              </a:rPr>
              <a:t>/</a:t>
            </a:r>
            <a:r>
              <a:rPr lang="fr-FR" sz="2400" b="1" dirty="0" err="1">
                <a:solidFill>
                  <a:schemeClr val="bg1"/>
                </a:solidFill>
              </a:rPr>
              <a:t>Ueff</a:t>
            </a:r>
            <a:r>
              <a:rPr lang="fr-FR" sz="2400" b="1" dirty="0">
                <a:solidFill>
                  <a:schemeClr val="bg1"/>
                </a:solidFill>
              </a:rPr>
              <a:t>=</a:t>
            </a:r>
            <a:r>
              <a:rPr lang="ar-DZ" sz="2400" b="1" dirty="0">
                <a:solidFill>
                  <a:schemeClr val="bg1"/>
                </a:solidFill>
              </a:rPr>
              <a:t>16</a:t>
            </a:r>
            <a:r>
              <a:rPr lang="fr-FR" sz="2400" b="1" dirty="0">
                <a:solidFill>
                  <a:schemeClr val="bg1"/>
                </a:solidFill>
              </a:rPr>
              <a:t>.</a:t>
            </a:r>
            <a:r>
              <a:rPr lang="ar-DZ" sz="2400" b="1" dirty="0">
                <a:solidFill>
                  <a:schemeClr val="bg1"/>
                </a:solidFill>
              </a:rPr>
              <a:t>8</a:t>
            </a:r>
            <a:r>
              <a:rPr lang="fr-FR" sz="2400" b="1" dirty="0">
                <a:solidFill>
                  <a:schemeClr val="bg1"/>
                </a:solidFill>
              </a:rPr>
              <a:t>/</a:t>
            </a:r>
            <a:r>
              <a:rPr lang="ar-DZ" sz="2400" b="1" dirty="0">
                <a:solidFill>
                  <a:schemeClr val="bg1"/>
                </a:solidFill>
              </a:rPr>
              <a:t>12</a:t>
            </a:r>
            <a:r>
              <a:rPr lang="fr-FR" sz="2400" b="1" dirty="0">
                <a:solidFill>
                  <a:schemeClr val="bg1"/>
                </a:solidFill>
              </a:rPr>
              <a:t>=1.4= √2</a:t>
            </a:r>
          </a:p>
          <a:p>
            <a:pPr algn="r"/>
            <a:r>
              <a:rPr lang="fr-FR" sz="2400" b="1" dirty="0" err="1">
                <a:solidFill>
                  <a:schemeClr val="bg1"/>
                </a:solidFill>
              </a:rPr>
              <a:t>Ueff</a:t>
            </a:r>
            <a:r>
              <a:rPr lang="fr-FR" sz="2400" b="1" dirty="0">
                <a:solidFill>
                  <a:schemeClr val="bg1"/>
                </a:solidFill>
              </a:rPr>
              <a:t> = </a:t>
            </a:r>
            <a:r>
              <a:rPr lang="fr-FR" sz="2400" b="1" dirty="0" err="1">
                <a:solidFill>
                  <a:schemeClr val="bg1"/>
                </a:solidFill>
              </a:rPr>
              <a:t>Umax</a:t>
            </a:r>
            <a:r>
              <a:rPr lang="fr-FR" sz="2400" b="1" dirty="0">
                <a:solidFill>
                  <a:schemeClr val="bg1"/>
                </a:solidFill>
              </a:rPr>
              <a:t> / √2</a:t>
            </a:r>
            <a:r>
              <a:rPr lang="ar-DZ" sz="2400" b="1" dirty="0">
                <a:solidFill>
                  <a:schemeClr val="bg1"/>
                </a:solidFill>
              </a:rPr>
              <a:t>     او </a:t>
            </a:r>
            <a:r>
              <a:rPr lang="fr-FR" sz="2400" b="1" dirty="0" err="1">
                <a:solidFill>
                  <a:schemeClr val="bg1"/>
                </a:solidFill>
              </a:rPr>
              <a:t>Umax</a:t>
            </a:r>
            <a:r>
              <a:rPr lang="fr-FR" sz="2400" b="1" dirty="0">
                <a:solidFill>
                  <a:schemeClr val="bg1"/>
                </a:solidFill>
              </a:rPr>
              <a:t> = </a:t>
            </a:r>
            <a:r>
              <a:rPr lang="fr-FR" sz="2400" b="1" dirty="0" err="1">
                <a:solidFill>
                  <a:schemeClr val="bg1"/>
                </a:solidFill>
              </a:rPr>
              <a:t>Ueff</a:t>
            </a:r>
            <a:r>
              <a:rPr lang="fr-FR" sz="2400" b="1" dirty="0">
                <a:solidFill>
                  <a:schemeClr val="bg1"/>
                </a:solidFill>
              </a:rPr>
              <a:t>  x  √2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2-معاينة الشدة المنتجة للتيار الكهربائي المتناوب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نربط جهاز </a:t>
            </a:r>
            <a:r>
              <a:rPr lang="ar-DZ" sz="2400" b="1" dirty="0" err="1">
                <a:solidFill>
                  <a:schemeClr val="bg1"/>
                </a:solidFill>
              </a:rPr>
              <a:t>الامبيرمتر</a:t>
            </a:r>
            <a:r>
              <a:rPr lang="ar-DZ" sz="2400" b="1" dirty="0">
                <a:solidFill>
                  <a:schemeClr val="bg1"/>
                </a:solidFill>
              </a:rPr>
              <a:t> على التسلسل مع المصباح ونفيس شدة التيار الكهربائي التي ينتجها منبع للتيار الكهربائي  المتناوب تسمى شدة التيار الكهربائي المنتجة</a:t>
            </a:r>
          </a:p>
          <a:p>
            <a:pPr algn="r"/>
            <a:r>
              <a:rPr lang="fr-FR" sz="2400" b="1" dirty="0">
                <a:solidFill>
                  <a:schemeClr val="bg1"/>
                </a:solidFill>
              </a:rPr>
              <a:t>A</a:t>
            </a:r>
            <a:r>
              <a:rPr lang="ar-DZ" sz="2400" b="1" dirty="0">
                <a:solidFill>
                  <a:schemeClr val="bg1"/>
                </a:solidFill>
              </a:rPr>
              <a:t> ووحدتها الامبير </a:t>
            </a:r>
            <a:r>
              <a:rPr lang="fr-FR" sz="2400" b="1" dirty="0" err="1">
                <a:solidFill>
                  <a:schemeClr val="bg1"/>
                </a:solidFill>
              </a:rPr>
              <a:t>Ieff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رمزهه</a:t>
            </a:r>
            <a:r>
              <a:rPr lang="ar-DZ" sz="2400" b="1" dirty="0">
                <a:solidFill>
                  <a:schemeClr val="bg1"/>
                </a:solidFill>
              </a:rPr>
              <a:t>  </a:t>
            </a:r>
            <a:r>
              <a:rPr lang="fr-FR" sz="2400" b="1" dirty="0">
                <a:solidFill>
                  <a:schemeClr val="bg1"/>
                </a:solidFill>
              </a:rPr>
              <a:t>  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وبالمقارنة مع التوتر المنتج نجد نفس الخصائص لشدة التيار الكهربائي المنتجة </a:t>
            </a:r>
          </a:p>
          <a:p>
            <a:pPr algn="r"/>
            <a:r>
              <a:rPr lang="fr-FR" sz="2400" b="1" dirty="0" err="1">
                <a:solidFill>
                  <a:schemeClr val="bg1"/>
                </a:solidFill>
              </a:rPr>
              <a:t>Ieff</a:t>
            </a:r>
            <a:r>
              <a:rPr lang="fr-FR" sz="2400" b="1" dirty="0">
                <a:solidFill>
                  <a:schemeClr val="bg1"/>
                </a:solidFill>
              </a:rPr>
              <a:t> = Imax / √2</a:t>
            </a:r>
            <a:r>
              <a:rPr lang="ar-DZ" sz="2400" b="1" dirty="0">
                <a:solidFill>
                  <a:schemeClr val="bg1"/>
                </a:solidFill>
              </a:rPr>
              <a:t>     او </a:t>
            </a:r>
            <a:r>
              <a:rPr lang="fr-FR" sz="2400" b="1" dirty="0">
                <a:solidFill>
                  <a:schemeClr val="bg1"/>
                </a:solidFill>
              </a:rPr>
              <a:t>Imax = </a:t>
            </a:r>
            <a:r>
              <a:rPr lang="fr-FR" sz="2400" b="1" dirty="0" err="1">
                <a:solidFill>
                  <a:schemeClr val="bg1"/>
                </a:solidFill>
              </a:rPr>
              <a:t>Ieff</a:t>
            </a:r>
            <a:r>
              <a:rPr lang="fr-FR" sz="2400" b="1" dirty="0">
                <a:solidFill>
                  <a:schemeClr val="bg1"/>
                </a:solidFill>
              </a:rPr>
              <a:t>  x  √2</a:t>
            </a:r>
            <a:endParaRPr lang="ar-DZ" sz="2400" b="1" dirty="0">
              <a:solidFill>
                <a:schemeClr val="bg1"/>
              </a:solidFill>
            </a:endParaRP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520" y="980728"/>
            <a:ext cx="2736304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6948264" y="0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الحصة 6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979712" y="0"/>
            <a:ext cx="4896544" cy="692696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التيارالكهربائي</a:t>
            </a:r>
            <a:r>
              <a:rPr lang="ar-DZ" sz="2400" b="1" dirty="0">
                <a:solidFill>
                  <a:schemeClr val="bg1"/>
                </a:solidFill>
              </a:rPr>
              <a:t>  المتناوب 3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avec flèche vers la gauche 4"/>
          <p:cNvSpPr/>
          <p:nvPr/>
        </p:nvSpPr>
        <p:spPr>
          <a:xfrm>
            <a:off x="7020272" y="836712"/>
            <a:ext cx="1800200" cy="720080"/>
          </a:xfrm>
          <a:prstGeom prst="leftArrowCallou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195736" y="692696"/>
            <a:ext cx="4464496" cy="720080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بعض انواع المنابع للتوترات المتناوبة </a:t>
            </a:r>
            <a:endParaRPr lang="fr-FR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-180528" y="1556792"/>
          <a:ext cx="9145016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5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4968">
                <a:tc>
                  <a:txBody>
                    <a:bodyPr/>
                    <a:lstStyle/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لديك  بعض المولدات للتوتر المتناوب 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في الحياة اليومية</a:t>
                      </a:r>
                    </a:p>
                    <a:p>
                      <a:pPr algn="r"/>
                      <a:r>
                        <a:rPr lang="ar-DZ" sz="2000" b="1" dirty="0" err="1">
                          <a:solidFill>
                            <a:schemeClr val="bg1"/>
                          </a:solidFill>
                        </a:rPr>
                        <a:t>دينامو</a:t>
                      </a:r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 الدراجة الهوائية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1-مكوناته 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-عجلة مسننة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-ساق او محور  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-مغناطيس متعدد الاقطاب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-قطعة حديدية 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-وشيعة 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ar-DZ" sz="2000" b="1" dirty="0" err="1">
                          <a:solidFill>
                            <a:schemeClr val="bg1"/>
                          </a:solidFill>
                        </a:rPr>
                        <a:t>نوقل</a:t>
                      </a:r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 التوصيل 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 2-طريقة </a:t>
                      </a:r>
                      <a:r>
                        <a:rPr lang="ar-DZ" sz="2000" b="1" dirty="0" err="1">
                          <a:solidFill>
                            <a:schemeClr val="bg1"/>
                          </a:solidFill>
                        </a:rPr>
                        <a:t>همله</a:t>
                      </a:r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عند دوران العجلة افن العجلة المسننة تدور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بملامستها العجلة ومنه يدور الساق 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فيدير المغناطيس امام </a:t>
                      </a:r>
                      <a:r>
                        <a:rPr lang="ar-DZ" sz="2000" b="1" dirty="0" err="1">
                          <a:solidFill>
                            <a:schemeClr val="bg1"/>
                          </a:solidFill>
                        </a:rPr>
                        <a:t>الوشيعة</a:t>
                      </a:r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ومنه يتولد تيار كهربائي </a:t>
                      </a:r>
                      <a:r>
                        <a:rPr lang="ar-DZ" sz="2000" b="1" dirty="0" err="1">
                          <a:solidFill>
                            <a:schemeClr val="bg1"/>
                          </a:solidFill>
                        </a:rPr>
                        <a:t>ماتناوب</a:t>
                      </a:r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  </a:t>
                      </a:r>
                    </a:p>
                    <a:p>
                      <a:r>
                        <a:rPr lang="ar-DZ" dirty="0"/>
                        <a:t> </a:t>
                      </a:r>
                      <a:endParaRPr lang="fr-FR" dirty="0"/>
                    </a:p>
                  </a:txBody>
                  <a:tcPr>
                    <a:solidFill>
                      <a:srgbClr val="99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Image 12" descr="téléchargement (1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3789040"/>
            <a:ext cx="3384376" cy="2762622"/>
          </a:xfrm>
          <a:prstGeom prst="rect">
            <a:avLst/>
          </a:prstGeom>
        </p:spPr>
      </p:pic>
      <p:pic>
        <p:nvPicPr>
          <p:cNvPr id="14" name="Image 13" descr="téléchargemen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484784"/>
            <a:ext cx="3528392" cy="22322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6948264" y="0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الحصة 7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979712" y="0"/>
            <a:ext cx="4896544" cy="692696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الامن الكهربائي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avec flèche vers la gauche 4"/>
          <p:cNvSpPr/>
          <p:nvPr/>
        </p:nvSpPr>
        <p:spPr>
          <a:xfrm>
            <a:off x="7020272" y="836712"/>
            <a:ext cx="1800200" cy="720080"/>
          </a:xfrm>
          <a:prstGeom prst="leftArrowCallou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195736" y="692696"/>
            <a:ext cx="4464496" cy="720080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err="1">
                <a:solidFill>
                  <a:schemeClr val="bg1"/>
                </a:solidFill>
              </a:rPr>
              <a:t>الماخذ</a:t>
            </a:r>
            <a:r>
              <a:rPr lang="ar-DZ" sz="2400" b="1" dirty="0">
                <a:solidFill>
                  <a:schemeClr val="bg1"/>
                </a:solidFill>
              </a:rPr>
              <a:t> الكهربائي ثلاثي الاطراف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0" y="1340768"/>
            <a:ext cx="9144000" cy="525658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نقوم بمعاينة </a:t>
            </a:r>
            <a:r>
              <a:rPr lang="ar-DZ" sz="2400" b="1" dirty="0" err="1">
                <a:solidFill>
                  <a:schemeClr val="bg1"/>
                </a:solidFill>
              </a:rPr>
              <a:t>ماخذ</a:t>
            </a:r>
            <a:r>
              <a:rPr lang="ar-DZ" sz="2400" b="1" dirty="0">
                <a:solidFill>
                  <a:schemeClr val="bg1"/>
                </a:solidFill>
              </a:rPr>
              <a:t> كهربائي ثلاثي الاطراف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الملاحظة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ان يتصل بثلاثة </a:t>
            </a:r>
            <a:r>
              <a:rPr lang="ar-DZ" sz="2400" b="1" dirty="0" err="1">
                <a:solidFill>
                  <a:schemeClr val="bg1"/>
                </a:solidFill>
              </a:rPr>
              <a:t>نواقل</a:t>
            </a:r>
            <a:r>
              <a:rPr lang="ar-DZ" sz="2400" b="1" dirty="0">
                <a:solidFill>
                  <a:schemeClr val="bg1"/>
                </a:solidFill>
              </a:rPr>
              <a:t> كهربائية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الاول </a:t>
            </a:r>
            <a:r>
              <a:rPr lang="ar-DZ" sz="2400" b="1" dirty="0" err="1">
                <a:solidFill>
                  <a:schemeClr val="bg1"/>
                </a:solidFill>
              </a:rPr>
              <a:t>احمر </a:t>
            </a:r>
            <a:r>
              <a:rPr lang="ar-DZ" sz="2400" b="1" dirty="0">
                <a:solidFill>
                  <a:schemeClr val="bg1"/>
                </a:solidFill>
              </a:rPr>
              <a:t>(سلك الطور)والثاني </a:t>
            </a:r>
            <a:r>
              <a:rPr lang="ar-DZ" sz="2400" b="1" dirty="0" err="1">
                <a:solidFill>
                  <a:schemeClr val="bg1"/>
                </a:solidFill>
              </a:rPr>
              <a:t>ازرق </a:t>
            </a:r>
            <a:r>
              <a:rPr lang="ar-DZ" sz="2400" b="1" dirty="0">
                <a:solidFill>
                  <a:schemeClr val="bg1"/>
                </a:solidFill>
              </a:rPr>
              <a:t>(سلك الحيادي</a:t>
            </a:r>
            <a:r>
              <a:rPr lang="ar-DZ" sz="2400" b="1" dirty="0" err="1">
                <a:solidFill>
                  <a:schemeClr val="bg1"/>
                </a:solidFill>
              </a:rPr>
              <a:t>)</a:t>
            </a:r>
            <a:r>
              <a:rPr lang="ar-DZ" sz="2400" b="1" dirty="0">
                <a:solidFill>
                  <a:schemeClr val="bg1"/>
                </a:solidFill>
              </a:rPr>
              <a:t>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والثالث اصفر </a:t>
            </a:r>
            <a:r>
              <a:rPr lang="ar-DZ" sz="2400" b="1" dirty="0" err="1">
                <a:solidFill>
                  <a:schemeClr val="bg1"/>
                </a:solidFill>
              </a:rPr>
              <a:t>واخضر </a:t>
            </a:r>
            <a:r>
              <a:rPr lang="ar-DZ" sz="2400" b="1" dirty="0">
                <a:solidFill>
                  <a:schemeClr val="bg1"/>
                </a:solidFill>
              </a:rPr>
              <a:t>(سلك التوصيل الارضي</a:t>
            </a:r>
            <a:r>
              <a:rPr lang="ar-DZ" sz="2400" b="1" dirty="0" err="1">
                <a:solidFill>
                  <a:schemeClr val="bg1"/>
                </a:solidFill>
              </a:rPr>
              <a:t>)</a:t>
            </a:r>
            <a:r>
              <a:rPr lang="ar-DZ" sz="2400" b="1" dirty="0">
                <a:solidFill>
                  <a:schemeClr val="bg1"/>
                </a:solidFill>
              </a:rPr>
              <a:t>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النتيجة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يتكون </a:t>
            </a:r>
            <a:r>
              <a:rPr lang="ar-DZ" sz="2400" b="1" dirty="0" err="1">
                <a:solidFill>
                  <a:schemeClr val="bg1"/>
                </a:solidFill>
              </a:rPr>
              <a:t>الماخذ</a:t>
            </a:r>
            <a:r>
              <a:rPr lang="ar-DZ" sz="2400" b="1" dirty="0">
                <a:solidFill>
                  <a:schemeClr val="bg1"/>
                </a:solidFill>
              </a:rPr>
              <a:t> الكهربائي من ثلاثة اطراف تتصل </a:t>
            </a:r>
            <a:r>
              <a:rPr lang="ar-DZ" sz="2400" b="1" dirty="0" err="1">
                <a:solidFill>
                  <a:schemeClr val="bg1"/>
                </a:solidFill>
              </a:rPr>
              <a:t>بها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ثلاثة </a:t>
            </a:r>
            <a:r>
              <a:rPr lang="ar-DZ" sz="2400" b="1" dirty="0" err="1">
                <a:solidFill>
                  <a:schemeClr val="bg1"/>
                </a:solidFill>
              </a:rPr>
              <a:t>نواقل</a:t>
            </a:r>
            <a:r>
              <a:rPr lang="ar-DZ" sz="2400" b="1" dirty="0">
                <a:solidFill>
                  <a:schemeClr val="bg1"/>
                </a:solidFill>
              </a:rPr>
              <a:t> كهربائية بثلاثة الوان مختلفة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الطور لونه احمر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الحيادي لونه ازرق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التوصيل الارضي لونه اصفر واخضر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ctr"/>
            <a:endParaRPr lang="fr-FR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2852936"/>
            <a:ext cx="3419872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 8" descr="téléchargement (3)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3528" y="1268760"/>
            <a:ext cx="1800200" cy="15662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avec flèche vers la gauche 3"/>
          <p:cNvSpPr/>
          <p:nvPr/>
        </p:nvSpPr>
        <p:spPr>
          <a:xfrm>
            <a:off x="6948264" y="0"/>
            <a:ext cx="1800200" cy="720080"/>
          </a:xfrm>
          <a:prstGeom prst="leftArrowCallou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1043608" y="0"/>
            <a:ext cx="5616624" cy="720080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طرق معاينة اطراف </a:t>
            </a:r>
            <a:r>
              <a:rPr lang="ar-DZ" sz="2400" b="1" dirty="0" err="1">
                <a:solidFill>
                  <a:schemeClr val="bg1"/>
                </a:solidFill>
              </a:rPr>
              <a:t>الماخذ</a:t>
            </a:r>
            <a:r>
              <a:rPr lang="ar-DZ" sz="2400" b="1" dirty="0">
                <a:solidFill>
                  <a:schemeClr val="bg1"/>
                </a:solidFill>
              </a:rPr>
              <a:t> الكهربائي ثلاثي الاطراف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0" y="764704"/>
            <a:ext cx="9144000" cy="6093296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000" b="1" dirty="0">
                <a:solidFill>
                  <a:schemeClr val="bg1"/>
                </a:solidFill>
              </a:rPr>
              <a:t>الطريقة  الاولى</a:t>
            </a:r>
          </a:p>
          <a:p>
            <a:pPr algn="r"/>
            <a:r>
              <a:rPr lang="ar-DZ" sz="2000" b="1" dirty="0" err="1">
                <a:solidFill>
                  <a:schemeClr val="bg1"/>
                </a:solidFill>
              </a:rPr>
              <a:t>ناخذ</a:t>
            </a:r>
            <a:r>
              <a:rPr lang="ar-DZ" sz="2000" b="1" dirty="0">
                <a:solidFill>
                  <a:schemeClr val="bg1"/>
                </a:solidFill>
              </a:rPr>
              <a:t> كاشف مدور البراغي و ندخله في كل طرف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فنلاحظ توهج مصباحه في احد الاطراف وهو سلك الطور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وعدم توهجه في الطرفين الاخرين  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الطريقة الثانية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نقوم بتوصيل جهاز </a:t>
            </a:r>
            <a:r>
              <a:rPr lang="ar-DZ" sz="2000" b="1" dirty="0" err="1">
                <a:solidFill>
                  <a:schemeClr val="bg1"/>
                </a:solidFill>
              </a:rPr>
              <a:t>الفولط</a:t>
            </a:r>
            <a:r>
              <a:rPr lang="ar-DZ" sz="2000" b="1" dirty="0">
                <a:solidFill>
                  <a:schemeClr val="bg1"/>
                </a:solidFill>
              </a:rPr>
              <a:t> متر بين كل طرفين من الاطراف الثلاثة </a:t>
            </a:r>
          </a:p>
          <a:p>
            <a:pPr algn="r"/>
            <a:r>
              <a:rPr lang="ar-DZ" sz="2000" b="1" dirty="0" err="1">
                <a:solidFill>
                  <a:schemeClr val="bg1"/>
                </a:solidFill>
              </a:rPr>
              <a:t>للماخذ</a:t>
            </a:r>
            <a:r>
              <a:rPr lang="ar-DZ" sz="2000" b="1" dirty="0">
                <a:solidFill>
                  <a:schemeClr val="bg1"/>
                </a:solidFill>
              </a:rPr>
              <a:t> الكهربائي </a:t>
            </a:r>
          </a:p>
          <a:p>
            <a:pPr algn="r"/>
            <a:r>
              <a:rPr lang="fr-FR" sz="2000" b="1" dirty="0">
                <a:solidFill>
                  <a:schemeClr val="bg1"/>
                </a:solidFill>
              </a:rPr>
              <a:t>220V</a:t>
            </a:r>
            <a:r>
              <a:rPr lang="ar-DZ" sz="2000" b="1" dirty="0" err="1">
                <a:solidFill>
                  <a:schemeClr val="bg1"/>
                </a:solidFill>
              </a:rPr>
              <a:t>=</a:t>
            </a:r>
            <a:r>
              <a:rPr lang="fr-FR" sz="2000" b="1" dirty="0">
                <a:solidFill>
                  <a:schemeClr val="bg1"/>
                </a:solidFill>
              </a:rPr>
              <a:t> B</a:t>
            </a:r>
            <a:r>
              <a:rPr lang="ar-DZ" sz="2000" b="1" dirty="0">
                <a:solidFill>
                  <a:schemeClr val="bg1"/>
                </a:solidFill>
              </a:rPr>
              <a:t>  و</a:t>
            </a:r>
            <a:r>
              <a:rPr lang="fr-FR" sz="2000" b="1" dirty="0">
                <a:solidFill>
                  <a:schemeClr val="bg1"/>
                </a:solidFill>
              </a:rPr>
              <a:t>A</a:t>
            </a:r>
            <a:r>
              <a:rPr lang="ar-DZ" sz="2000" b="1" dirty="0">
                <a:solidFill>
                  <a:schemeClr val="bg1"/>
                </a:solidFill>
              </a:rPr>
              <a:t>التوتر بين </a:t>
            </a:r>
          </a:p>
          <a:p>
            <a:pPr algn="r"/>
            <a:r>
              <a:rPr lang="fr-FR" sz="2000" b="1" dirty="0">
                <a:solidFill>
                  <a:schemeClr val="bg1"/>
                </a:solidFill>
              </a:rPr>
              <a:t>220V</a:t>
            </a:r>
            <a:r>
              <a:rPr lang="ar-DZ" sz="2000" b="1" dirty="0">
                <a:solidFill>
                  <a:schemeClr val="bg1"/>
                </a:solidFill>
              </a:rPr>
              <a:t>  </a:t>
            </a:r>
            <a:r>
              <a:rPr lang="ar-DZ" sz="2000" b="1" dirty="0" err="1">
                <a:solidFill>
                  <a:schemeClr val="bg1"/>
                </a:solidFill>
              </a:rPr>
              <a:t>=</a:t>
            </a:r>
            <a:r>
              <a:rPr lang="fr-FR" sz="2000" b="1" dirty="0">
                <a:solidFill>
                  <a:schemeClr val="bg1"/>
                </a:solidFill>
              </a:rPr>
              <a:t>A </a:t>
            </a:r>
            <a:r>
              <a:rPr lang="ar-DZ" sz="2000" b="1" dirty="0">
                <a:solidFill>
                  <a:schemeClr val="bg1"/>
                </a:solidFill>
              </a:rPr>
              <a:t> و </a:t>
            </a:r>
            <a:r>
              <a:rPr lang="fr-FR" sz="2000" b="1" dirty="0">
                <a:solidFill>
                  <a:schemeClr val="bg1"/>
                </a:solidFill>
              </a:rPr>
              <a:t>C</a:t>
            </a:r>
            <a:r>
              <a:rPr lang="ar-DZ" sz="2000" b="1" dirty="0">
                <a:solidFill>
                  <a:schemeClr val="bg1"/>
                </a:solidFill>
              </a:rPr>
              <a:t> –التوتر بين </a:t>
            </a:r>
          </a:p>
          <a:p>
            <a:pPr algn="r"/>
            <a:r>
              <a:rPr lang="fr-FR" sz="2000" b="1" dirty="0">
                <a:solidFill>
                  <a:schemeClr val="bg1"/>
                </a:solidFill>
              </a:rPr>
              <a:t>220V</a:t>
            </a:r>
            <a:r>
              <a:rPr lang="ar-DZ" sz="2000" b="1" dirty="0" err="1">
                <a:solidFill>
                  <a:schemeClr val="bg1"/>
                </a:solidFill>
              </a:rPr>
              <a:t>=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  <a:r>
              <a:rPr lang="fr-FR" sz="2000" b="1" dirty="0">
                <a:solidFill>
                  <a:schemeClr val="bg1"/>
                </a:solidFill>
              </a:rPr>
              <a:t>B </a:t>
            </a:r>
            <a:r>
              <a:rPr lang="ar-DZ" sz="2000" b="1" dirty="0">
                <a:solidFill>
                  <a:schemeClr val="bg1"/>
                </a:solidFill>
              </a:rPr>
              <a:t>  و </a:t>
            </a:r>
            <a:r>
              <a:rPr lang="fr-FR" sz="2000" b="1" dirty="0">
                <a:solidFill>
                  <a:schemeClr val="bg1"/>
                </a:solidFill>
              </a:rPr>
              <a:t>C</a:t>
            </a:r>
            <a:r>
              <a:rPr lang="ar-DZ" sz="2000" b="1" dirty="0">
                <a:solidFill>
                  <a:schemeClr val="bg1"/>
                </a:solidFill>
              </a:rPr>
              <a:t> التوتر بين 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 هو الطور </a:t>
            </a:r>
            <a:r>
              <a:rPr lang="ar-DZ" sz="2000" b="1" dirty="0" err="1">
                <a:solidFill>
                  <a:schemeClr val="bg1"/>
                </a:solidFill>
              </a:rPr>
              <a:t>لانه</a:t>
            </a:r>
            <a:r>
              <a:rPr lang="ar-DZ" sz="2000" b="1" dirty="0">
                <a:solidFill>
                  <a:schemeClr val="bg1"/>
                </a:solidFill>
              </a:rPr>
              <a:t> يتكرر مرتين </a:t>
            </a:r>
            <a:r>
              <a:rPr lang="fr-FR" sz="2000" b="1" dirty="0">
                <a:solidFill>
                  <a:schemeClr val="bg1"/>
                </a:solidFill>
              </a:rPr>
              <a:t>A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الطريقة الثالثة 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معاينة الوان الاسلاك </a:t>
            </a:r>
            <a:r>
              <a:rPr lang="ar-DZ" sz="2000" b="1" dirty="0" err="1">
                <a:solidFill>
                  <a:schemeClr val="bg1"/>
                </a:solidFill>
              </a:rPr>
              <a:t>الثلااثة</a:t>
            </a:r>
            <a:r>
              <a:rPr lang="ar-DZ" sz="2000" b="1" dirty="0">
                <a:solidFill>
                  <a:schemeClr val="bg1"/>
                </a:solidFill>
              </a:rPr>
              <a:t> المتصلة </a:t>
            </a:r>
            <a:r>
              <a:rPr lang="ar-DZ" sz="2000" b="1" dirty="0" err="1">
                <a:solidFill>
                  <a:schemeClr val="bg1"/>
                </a:solidFill>
              </a:rPr>
              <a:t>بالماخذ</a:t>
            </a:r>
            <a:r>
              <a:rPr lang="ar-DZ" sz="2000" b="1" dirty="0">
                <a:solidFill>
                  <a:schemeClr val="bg1"/>
                </a:solidFill>
              </a:rPr>
              <a:t> الكهربائي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فنجد سلك الطور بلون احمر وسلك الحيادي بلون ازرق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وسلك التوصيل الارضي  بلون اصفر واخضر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النتيجة يمكن  معاينة اطراف </a:t>
            </a:r>
            <a:r>
              <a:rPr lang="ar-DZ" sz="2000" b="1" dirty="0" err="1">
                <a:solidFill>
                  <a:schemeClr val="bg1"/>
                </a:solidFill>
              </a:rPr>
              <a:t>الماخذ</a:t>
            </a:r>
            <a:r>
              <a:rPr lang="ar-DZ" sz="2000" b="1" dirty="0">
                <a:solidFill>
                  <a:schemeClr val="bg1"/>
                </a:solidFill>
              </a:rPr>
              <a:t> الكهربائي بثلاثة طرق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وهي طريقة كاشف مدور البراغي او طريقة  جهاز </a:t>
            </a:r>
            <a:r>
              <a:rPr lang="ar-DZ" sz="2000" b="1" dirty="0" err="1">
                <a:solidFill>
                  <a:schemeClr val="bg1"/>
                </a:solidFill>
              </a:rPr>
              <a:t>الفولط</a:t>
            </a:r>
            <a:r>
              <a:rPr lang="ar-DZ" sz="2000" b="1" dirty="0">
                <a:solidFill>
                  <a:schemeClr val="bg1"/>
                </a:solidFill>
              </a:rPr>
              <a:t> متر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</a:t>
            </a:r>
            <a:r>
              <a:rPr lang="ar-DZ" sz="2000" b="1" dirty="0" err="1">
                <a:solidFill>
                  <a:schemeClr val="bg1"/>
                </a:solidFill>
              </a:rPr>
              <a:t>اوطريقة</a:t>
            </a:r>
            <a:r>
              <a:rPr lang="ar-DZ" sz="2000" b="1" dirty="0">
                <a:solidFill>
                  <a:schemeClr val="bg1"/>
                </a:solidFill>
              </a:rPr>
              <a:t> الالوان    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7" name="Image 6" descr="téléchargemen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836713"/>
            <a:ext cx="2880320" cy="1872208"/>
          </a:xfrm>
          <a:prstGeom prst="rect">
            <a:avLst/>
          </a:prstGeom>
        </p:spPr>
      </p:pic>
      <p:pic>
        <p:nvPicPr>
          <p:cNvPr id="8" name="Image 7" descr="image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2708920"/>
            <a:ext cx="2808312" cy="2101974"/>
          </a:xfrm>
          <a:prstGeom prst="rect">
            <a:avLst/>
          </a:prstGeom>
        </p:spPr>
      </p:pic>
      <p:sp>
        <p:nvSpPr>
          <p:cNvPr id="9" name="Rectangle à coins arrondis 8"/>
          <p:cNvSpPr/>
          <p:nvPr/>
        </p:nvSpPr>
        <p:spPr>
          <a:xfrm>
            <a:off x="2483768" y="2996952"/>
            <a:ext cx="648072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323528" y="2924944"/>
            <a:ext cx="72008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1259632" y="4077072"/>
            <a:ext cx="93610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C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797152"/>
            <a:ext cx="3419872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6948264" y="0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الحصة 8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979712" y="0"/>
            <a:ext cx="4896544" cy="692696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الامن الكهربائي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avec flèche vers la gauche 4"/>
          <p:cNvSpPr/>
          <p:nvPr/>
        </p:nvSpPr>
        <p:spPr>
          <a:xfrm>
            <a:off x="6948264" y="908720"/>
            <a:ext cx="1800200" cy="720080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1331640" y="764704"/>
            <a:ext cx="5616624" cy="72008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طرق حماية </a:t>
            </a:r>
            <a:r>
              <a:rPr lang="ar-DZ" sz="2400" b="1" dirty="0" err="1">
                <a:solidFill>
                  <a:schemeClr val="bg1"/>
                </a:solidFill>
              </a:rPr>
              <a:t>الدارات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الكهربائية </a:t>
            </a:r>
            <a:r>
              <a:rPr lang="ar-DZ" sz="2400" b="1" dirty="0">
                <a:solidFill>
                  <a:schemeClr val="bg1"/>
                </a:solidFill>
              </a:rPr>
              <a:t>–طريقة تركيب القاطعة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179512" y="1556792"/>
            <a:ext cx="8856984" cy="5301208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نقوم بتركيب القاطعة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في الحالة الاولى في سلك الحيادي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وفي الحالة الثاني في سلك الطور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ثم نترك القاطعة مفتوحة في الحالتين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نلاحظ انه في الحالة الاولى يمكن لمس سلك الطور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في مربطي المصباح </a:t>
            </a:r>
            <a:r>
              <a:rPr lang="ar-DZ" sz="2400" b="1" dirty="0" err="1">
                <a:solidFill>
                  <a:schemeClr val="bg1"/>
                </a:solidFill>
              </a:rPr>
              <a:t>والاصابة</a:t>
            </a:r>
            <a:r>
              <a:rPr lang="ar-DZ" sz="2400" b="1" dirty="0">
                <a:solidFill>
                  <a:schemeClr val="bg1"/>
                </a:solidFill>
              </a:rPr>
              <a:t> بصدمة كهربائية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اما في الحالة الثانية تكون دارة سلك الطور مفتوحة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ومنه لا نصاب بصدمة كهربائية عند لمس سلك الطور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النتيجة لحماية الاشخاص من الصدمات الكهربائي عند لمس سلك الطور في مربطي المصباح يجب تركيب القاطعة في سلك الطور وليس الحيادي  </a:t>
            </a:r>
          </a:p>
          <a:p>
            <a:pPr algn="r"/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8" name="Image 7" descr="1-4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1844824"/>
            <a:ext cx="3384376" cy="2736304"/>
          </a:xfrm>
          <a:prstGeom prst="rect">
            <a:avLst/>
          </a:prstGeom>
        </p:spPr>
      </p:pic>
      <p:cxnSp>
        <p:nvCxnSpPr>
          <p:cNvPr id="10" name="Connecteur droit avec flèche 9"/>
          <p:cNvCxnSpPr/>
          <p:nvPr/>
        </p:nvCxnSpPr>
        <p:spPr>
          <a:xfrm>
            <a:off x="2411760" y="1988840"/>
            <a:ext cx="288032" cy="0"/>
          </a:xfrm>
          <a:prstGeom prst="straightConnector1">
            <a:avLst/>
          </a:prstGeom>
          <a:ln w="349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>
            <a:off x="2915816" y="1988840"/>
            <a:ext cx="288032" cy="0"/>
          </a:xfrm>
          <a:prstGeom prst="straightConnector1">
            <a:avLst/>
          </a:prstGeom>
          <a:ln w="349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flipH="1">
            <a:off x="3275856" y="2204864"/>
            <a:ext cx="8384" cy="288032"/>
          </a:xfrm>
          <a:prstGeom prst="straightConnector1">
            <a:avLst/>
          </a:prstGeom>
          <a:ln w="349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3275856" y="2564904"/>
            <a:ext cx="0" cy="288032"/>
          </a:xfrm>
          <a:prstGeom prst="straightConnector1">
            <a:avLst/>
          </a:prstGeom>
          <a:ln w="349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6948264" y="0"/>
            <a:ext cx="1800200" cy="720080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827584" y="0"/>
            <a:ext cx="6120680" cy="72008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طرق حماية </a:t>
            </a:r>
            <a:r>
              <a:rPr lang="ar-DZ" sz="2400" b="1" dirty="0" err="1">
                <a:solidFill>
                  <a:schemeClr val="bg1"/>
                </a:solidFill>
              </a:rPr>
              <a:t>الدارات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الكهربائية </a:t>
            </a:r>
            <a:r>
              <a:rPr lang="ar-DZ" sz="2400" b="1" dirty="0">
                <a:solidFill>
                  <a:schemeClr val="bg1"/>
                </a:solidFill>
              </a:rPr>
              <a:t>–طريقة التوصيل  الارضي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0" y="764704"/>
            <a:ext cx="8964488" cy="609329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نعاين تركيب </a:t>
            </a:r>
            <a:r>
              <a:rPr lang="ar-DZ" sz="2000" b="1" dirty="0" err="1">
                <a:solidFill>
                  <a:schemeClr val="bg1"/>
                </a:solidFill>
              </a:rPr>
              <a:t>دارتين</a:t>
            </a:r>
            <a:r>
              <a:rPr lang="ar-DZ" sz="2000" b="1" dirty="0">
                <a:solidFill>
                  <a:schemeClr val="bg1"/>
                </a:solidFill>
              </a:rPr>
              <a:t>  لغسالة كهربائية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في الحالة الاولى بدون توصيل ارضي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والحالة الثانية بوجود توصيل ارضي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نلاحظ انه في الحالة الاولى تصاب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الام بصدمة </a:t>
            </a:r>
            <a:r>
              <a:rPr lang="ar-DZ" sz="2000" b="1" dirty="0" err="1">
                <a:solidFill>
                  <a:schemeClr val="bg1"/>
                </a:solidFill>
              </a:rPr>
              <a:t>كهربائيه</a:t>
            </a:r>
            <a:r>
              <a:rPr lang="ar-DZ" sz="2000" b="1" dirty="0">
                <a:solidFill>
                  <a:schemeClr val="bg1"/>
                </a:solidFill>
              </a:rPr>
              <a:t> عند لمس هيكل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الغسالة الذي يلمسه سلك الطور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من خلال وصول  اليها التيار الكهربائي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مباشرة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اما في الحالة الثانية لا تصاب الام بصدمة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كهربائية عند لمسها هيكل الغسالة رغم ان سلك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الطور يلمس هيكلها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وهذا لان التيار الكهربائي بسلك الطريق مع سلك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التوصيل الارضي ويذهب نحو الارض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النتيجة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لحماية الاشخاص من الصدمات الكهربائية عند لمس الهيكل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المعدني </a:t>
            </a:r>
            <a:r>
              <a:rPr lang="ar-DZ" sz="2000" b="1" dirty="0" err="1">
                <a:solidFill>
                  <a:schemeClr val="bg1"/>
                </a:solidFill>
              </a:rPr>
              <a:t>للاجهزة</a:t>
            </a:r>
            <a:r>
              <a:rPr lang="ar-DZ" sz="2000" b="1" dirty="0">
                <a:solidFill>
                  <a:schemeClr val="bg1"/>
                </a:solidFill>
              </a:rPr>
              <a:t> الكهربائية الذي يلامس سلك الطور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هذا الهيكل يجب استعمال  طريقة </a:t>
            </a:r>
            <a:r>
              <a:rPr lang="ar-DZ" sz="2000" b="1" dirty="0" err="1">
                <a:solidFill>
                  <a:schemeClr val="bg1"/>
                </a:solidFill>
              </a:rPr>
              <a:t>الماخذ</a:t>
            </a:r>
            <a:r>
              <a:rPr lang="ar-DZ" sz="2000" b="1" dirty="0">
                <a:solidFill>
                  <a:schemeClr val="bg1"/>
                </a:solidFill>
              </a:rPr>
              <a:t> الارضي </a:t>
            </a: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(توصيل ارضي بين </a:t>
            </a:r>
            <a:r>
              <a:rPr lang="ar-DZ" sz="2000" b="1" dirty="0" err="1">
                <a:solidFill>
                  <a:schemeClr val="bg1"/>
                </a:solidFill>
              </a:rPr>
              <a:t>الماخذ</a:t>
            </a:r>
            <a:r>
              <a:rPr lang="ar-DZ" sz="2000" b="1" dirty="0">
                <a:solidFill>
                  <a:schemeClr val="bg1"/>
                </a:solidFill>
              </a:rPr>
              <a:t> و هيكل الجهاز وتوصيل اخر بين </a:t>
            </a:r>
            <a:r>
              <a:rPr lang="ar-DZ" sz="2000" b="1" dirty="0" err="1">
                <a:solidFill>
                  <a:schemeClr val="bg1"/>
                </a:solidFill>
              </a:rPr>
              <a:t>الماخذ</a:t>
            </a:r>
            <a:r>
              <a:rPr lang="ar-DZ" sz="2000" b="1" dirty="0">
                <a:solidFill>
                  <a:schemeClr val="bg1"/>
                </a:solidFill>
              </a:rPr>
              <a:t> و الارض</a:t>
            </a:r>
            <a:r>
              <a:rPr lang="ar-DZ" sz="2000" b="1" dirty="0" err="1">
                <a:solidFill>
                  <a:schemeClr val="bg1"/>
                </a:solidFill>
              </a:rPr>
              <a:t>)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8" name="Image 7" descr="hqdefault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692696"/>
            <a:ext cx="4320480" cy="2736304"/>
          </a:xfrm>
          <a:prstGeom prst="rect">
            <a:avLst/>
          </a:prstGeom>
        </p:spPr>
      </p:pic>
      <p:sp>
        <p:nvSpPr>
          <p:cNvPr id="9" name="Rectangle à coins arrondis 8"/>
          <p:cNvSpPr/>
          <p:nvPr/>
        </p:nvSpPr>
        <p:spPr>
          <a:xfrm>
            <a:off x="1979712" y="3573016"/>
            <a:ext cx="1440160" cy="187220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>
                <a:solidFill>
                  <a:schemeClr val="bg1"/>
                </a:solidFill>
              </a:rPr>
              <a:t>ا</a:t>
            </a:r>
            <a:r>
              <a:rPr lang="ar-DZ" sz="2400" b="1" dirty="0">
                <a:solidFill>
                  <a:schemeClr val="bg1"/>
                </a:solidFill>
              </a:rPr>
              <a:t>لجهاز</a:t>
            </a:r>
          </a:p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الكهربائي </a:t>
            </a:r>
            <a:r>
              <a:rPr lang="ar-DZ" dirty="0">
                <a:solidFill>
                  <a:schemeClr val="bg1"/>
                </a:solidFill>
              </a:rPr>
              <a:t>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899592" y="4653136"/>
            <a:ext cx="648072" cy="720080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/>
          <p:cNvSpPr/>
          <p:nvPr/>
        </p:nvSpPr>
        <p:spPr>
          <a:xfrm>
            <a:off x="971600" y="4797152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1331640" y="4797152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1187624" y="5157192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15"/>
          <p:cNvCxnSpPr/>
          <p:nvPr/>
        </p:nvCxnSpPr>
        <p:spPr>
          <a:xfrm>
            <a:off x="1043608" y="4365104"/>
            <a:ext cx="1008112" cy="0"/>
          </a:xfrm>
          <a:prstGeom prst="line">
            <a:avLst/>
          </a:prstGeom>
          <a:ln w="508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>
            <a:endCxn id="11" idx="4"/>
          </p:cNvCxnSpPr>
          <p:nvPr/>
        </p:nvCxnSpPr>
        <p:spPr>
          <a:xfrm>
            <a:off x="1043608" y="4365104"/>
            <a:ext cx="0" cy="576064"/>
          </a:xfrm>
          <a:prstGeom prst="line">
            <a:avLst/>
          </a:prstGeom>
          <a:ln w="508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>
            <a:off x="1403648" y="4653136"/>
            <a:ext cx="64807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H="1" flipV="1">
            <a:off x="1403648" y="4653136"/>
            <a:ext cx="8384" cy="2244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H="1">
            <a:off x="1259632" y="5229200"/>
            <a:ext cx="8384" cy="1008112"/>
          </a:xfrm>
          <a:prstGeom prst="line">
            <a:avLst/>
          </a:prstGeom>
          <a:ln w="50800">
            <a:solidFill>
              <a:srgbClr val="99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971600" y="5805264"/>
            <a:ext cx="648072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flipV="1">
            <a:off x="1115616" y="5949280"/>
            <a:ext cx="423664" cy="8384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flipV="1">
            <a:off x="1115616" y="6093296"/>
            <a:ext cx="351656" cy="8384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 flipH="1">
            <a:off x="1259632" y="5229200"/>
            <a:ext cx="504056" cy="8384"/>
          </a:xfrm>
          <a:prstGeom prst="line">
            <a:avLst/>
          </a:prstGeom>
          <a:ln w="50800">
            <a:solidFill>
              <a:srgbClr val="99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 flipH="1">
            <a:off x="1763688" y="4869160"/>
            <a:ext cx="8384" cy="360040"/>
          </a:xfrm>
          <a:prstGeom prst="line">
            <a:avLst/>
          </a:prstGeom>
          <a:ln w="50800">
            <a:solidFill>
              <a:srgbClr val="99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 flipH="1">
            <a:off x="1763688" y="4869160"/>
            <a:ext cx="216024" cy="0"/>
          </a:xfrm>
          <a:prstGeom prst="line">
            <a:avLst/>
          </a:prstGeom>
          <a:ln w="50800">
            <a:solidFill>
              <a:srgbClr val="99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avec flèche vers la gauche 3"/>
          <p:cNvSpPr/>
          <p:nvPr/>
        </p:nvSpPr>
        <p:spPr>
          <a:xfrm>
            <a:off x="6804248" y="980728"/>
            <a:ext cx="1800200" cy="720080"/>
          </a:xfrm>
          <a:prstGeom prst="leftArrowCallou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1043608" y="908720"/>
            <a:ext cx="5616624" cy="720080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طرق حماية </a:t>
            </a:r>
            <a:r>
              <a:rPr lang="ar-DZ" sz="2400" b="1" dirty="0" err="1">
                <a:solidFill>
                  <a:schemeClr val="bg1"/>
                </a:solidFill>
              </a:rPr>
              <a:t>الدارات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الكهربائية </a:t>
            </a:r>
            <a:r>
              <a:rPr lang="ar-DZ" sz="2400" b="1" dirty="0">
                <a:solidFill>
                  <a:schemeClr val="bg1"/>
                </a:solidFill>
              </a:rPr>
              <a:t>–طريقة المنصهرات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179512" y="1700808"/>
            <a:ext cx="8856984" cy="515719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>
                <a:solidFill>
                  <a:schemeClr val="bg1"/>
                </a:solidFill>
              </a:rPr>
              <a:t>نعاين </a:t>
            </a:r>
            <a:r>
              <a:rPr lang="ar-DZ" sz="2400" b="1" dirty="0" err="1">
                <a:solidFill>
                  <a:schemeClr val="bg1"/>
                </a:solidFill>
              </a:rPr>
              <a:t>دارتين</a:t>
            </a:r>
            <a:r>
              <a:rPr lang="ar-DZ" sz="2400" b="1" dirty="0">
                <a:solidFill>
                  <a:schemeClr val="bg1"/>
                </a:solidFill>
              </a:rPr>
              <a:t> كهربائيتين في الحالة الاولى نستعمل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منصهرة قيمتها اقل من الشدة التي </a:t>
            </a:r>
            <a:r>
              <a:rPr lang="ar-DZ" sz="2400" b="1" dirty="0" err="1">
                <a:solidFill>
                  <a:schemeClr val="bg1"/>
                </a:solidFill>
              </a:rPr>
              <a:t>يشتغل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بها</a:t>
            </a:r>
            <a:r>
              <a:rPr lang="ar-DZ" sz="2400" b="1" dirty="0">
                <a:solidFill>
                  <a:schemeClr val="bg1"/>
                </a:solidFill>
              </a:rPr>
              <a:t> المصباح 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منصهرة قيمتها تساوي اما في الحالة الثاني نستعمل منصهرة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قيمتها تساوي او اكبر قليلا من الشدة التي </a:t>
            </a:r>
            <a:r>
              <a:rPr lang="ar-DZ" sz="2400" b="1" dirty="0" err="1">
                <a:solidFill>
                  <a:schemeClr val="bg1"/>
                </a:solidFill>
              </a:rPr>
              <a:t>بشتغل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بها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المصباح  </a:t>
            </a:r>
          </a:p>
          <a:p>
            <a:pPr algn="r"/>
            <a:r>
              <a:rPr lang="ar-DZ" sz="2400" b="1" dirty="0" err="1">
                <a:solidFill>
                  <a:schemeClr val="bg1"/>
                </a:solidFill>
              </a:rPr>
              <a:t>نلاحة</a:t>
            </a:r>
            <a:r>
              <a:rPr lang="ar-DZ" sz="2400" b="1" dirty="0">
                <a:solidFill>
                  <a:schemeClr val="bg1"/>
                </a:solidFill>
              </a:rPr>
              <a:t> انه في الحالة الاولى يحدث احتراق المنصهرة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 وعدم توهج المصباح اما في الحالة الثانية عدم احتراق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المنصهرة وتوهج المصباح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النتيجة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لحماية الاجهزة من </a:t>
            </a:r>
            <a:r>
              <a:rPr lang="ar-DZ" sz="2400" b="1" dirty="0" err="1">
                <a:solidFill>
                  <a:schemeClr val="bg1"/>
                </a:solidFill>
              </a:rPr>
              <a:t>الشدات</a:t>
            </a:r>
            <a:r>
              <a:rPr lang="ar-DZ" sz="2400" b="1" dirty="0">
                <a:solidFill>
                  <a:schemeClr val="bg1"/>
                </a:solidFill>
              </a:rPr>
              <a:t> الزائدة او من الاستقصار </a:t>
            </a:r>
          </a:p>
          <a:p>
            <a:pPr algn="r"/>
            <a:r>
              <a:rPr lang="ar-DZ" sz="2400" b="1" dirty="0">
                <a:solidFill>
                  <a:schemeClr val="bg1"/>
                </a:solidFill>
              </a:rPr>
              <a:t>نستعمل المنصهرات   </a:t>
            </a:r>
          </a:p>
          <a:p>
            <a:pPr algn="r"/>
            <a:endParaRPr lang="ar-DZ" sz="2400" b="1" dirty="0">
              <a:solidFill>
                <a:schemeClr val="bg1"/>
              </a:solidFill>
            </a:endParaRPr>
          </a:p>
          <a:p>
            <a:pPr algn="ctr"/>
            <a:endParaRPr lang="fr-FR" dirty="0"/>
          </a:p>
        </p:txBody>
      </p:sp>
      <p:pic>
        <p:nvPicPr>
          <p:cNvPr id="7" name="Image 6" descr="hqdefault (1)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1520" y="4005064"/>
            <a:ext cx="2376264" cy="2376264"/>
          </a:xfrm>
          <a:prstGeom prst="rect">
            <a:avLst/>
          </a:prstGeom>
        </p:spPr>
      </p:pic>
      <p:pic>
        <p:nvPicPr>
          <p:cNvPr id="8" name="Image 7" descr="hqdefault (1)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3528" y="1556792"/>
            <a:ext cx="2304256" cy="2232248"/>
          </a:xfrm>
          <a:prstGeom prst="rect">
            <a:avLst/>
          </a:prstGeom>
        </p:spPr>
      </p:pic>
      <p:sp>
        <p:nvSpPr>
          <p:cNvPr id="9" name="Rectangle à coins arrondis 8"/>
          <p:cNvSpPr/>
          <p:nvPr/>
        </p:nvSpPr>
        <p:spPr>
          <a:xfrm>
            <a:off x="3491880" y="1772816"/>
            <a:ext cx="144016" cy="3600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971600" y="2276872"/>
            <a:ext cx="648072" cy="28803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1A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1691680" y="3356992"/>
            <a:ext cx="648072" cy="28803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5A</a:t>
            </a:r>
          </a:p>
        </p:txBody>
      </p:sp>
      <p:sp>
        <p:nvSpPr>
          <p:cNvPr id="12" name="Rectangle à coins arrondis 11"/>
          <p:cNvSpPr/>
          <p:nvPr/>
        </p:nvSpPr>
        <p:spPr>
          <a:xfrm>
            <a:off x="755576" y="4941168"/>
            <a:ext cx="648072" cy="28803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5A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1619672" y="5877272"/>
            <a:ext cx="648072" cy="28803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5A</a:t>
            </a:r>
          </a:p>
        </p:txBody>
      </p:sp>
      <p:sp>
        <p:nvSpPr>
          <p:cNvPr id="14" name="Rectangle avec flèche vers la gauche 13"/>
          <p:cNvSpPr/>
          <p:nvPr/>
        </p:nvSpPr>
        <p:spPr>
          <a:xfrm>
            <a:off x="6948264" y="0"/>
            <a:ext cx="1800200" cy="864096"/>
          </a:xfrm>
          <a:prstGeom prst="leftArrowCallou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الحصة 9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1979712" y="0"/>
            <a:ext cx="4896544" cy="692696"/>
          </a:xfrm>
          <a:prstGeom prst="roundRect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الامن الكهربائي 3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7020272" y="0"/>
            <a:ext cx="1800200" cy="720080"/>
          </a:xfrm>
          <a:prstGeom prst="leftArrowCallou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115616" y="0"/>
            <a:ext cx="5616624" cy="720080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طرق حماية </a:t>
            </a:r>
            <a:r>
              <a:rPr lang="ar-DZ" sz="2400" b="1" dirty="0" err="1">
                <a:solidFill>
                  <a:schemeClr val="bg1"/>
                </a:solidFill>
              </a:rPr>
              <a:t>الدارات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err="1">
                <a:solidFill>
                  <a:schemeClr val="bg1"/>
                </a:solidFill>
              </a:rPr>
              <a:t>الكهربائية </a:t>
            </a:r>
            <a:r>
              <a:rPr lang="ar-DZ" sz="2400" b="1" dirty="0">
                <a:solidFill>
                  <a:schemeClr val="bg1"/>
                </a:solidFill>
              </a:rPr>
              <a:t>–طريقة القاطع الالي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107504" y="692696"/>
            <a:ext cx="9036496" cy="6165304"/>
          </a:xfrm>
          <a:prstGeom prst="roundRec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b="1" dirty="0">
              <a:solidFill>
                <a:schemeClr val="bg1"/>
              </a:solidFill>
            </a:endParaRPr>
          </a:p>
          <a:p>
            <a:pPr algn="r"/>
            <a:endParaRPr lang="ar-DZ" b="1" dirty="0">
              <a:solidFill>
                <a:schemeClr val="bg1"/>
              </a:solidFill>
            </a:endParaRPr>
          </a:p>
          <a:p>
            <a:pPr algn="r"/>
            <a:endParaRPr lang="ar-DZ" b="1" dirty="0">
              <a:solidFill>
                <a:schemeClr val="bg1"/>
              </a:solidFill>
            </a:endParaRP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نعاين تركيب </a:t>
            </a:r>
            <a:r>
              <a:rPr lang="ar-DZ" b="1" dirty="0" err="1">
                <a:solidFill>
                  <a:schemeClr val="bg1"/>
                </a:solidFill>
              </a:rPr>
              <a:t>دارتين</a:t>
            </a:r>
            <a:endParaRPr lang="ar-DZ" b="1" dirty="0">
              <a:solidFill>
                <a:schemeClr val="bg1"/>
              </a:solidFill>
            </a:endParaRP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في الحالة الاولى  القاطع الالي مضبوط 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في القيمة الاولى 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والحالة الثانية القاطع الالي مضبوط 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في القيمة اكبر 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نلاحظ انه في الحالة الاولى  الفتح الالي للقاطع 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ومنه انقطاع التيار الكهربائي وعدم اشتغال 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الاجهزة الكهربائية معا لان القاطع مضبوط 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في قيمة  لشدة التيار اقل من شدة التيار التي </a:t>
            </a:r>
          </a:p>
          <a:p>
            <a:pPr algn="r"/>
            <a:r>
              <a:rPr lang="ar-DZ" b="1" dirty="0" err="1">
                <a:solidFill>
                  <a:schemeClr val="bg1"/>
                </a:solidFill>
              </a:rPr>
              <a:t>تشتغل</a:t>
            </a:r>
            <a:r>
              <a:rPr lang="ar-DZ" b="1" dirty="0">
                <a:solidFill>
                  <a:schemeClr val="bg1"/>
                </a:solidFill>
              </a:rPr>
              <a:t> </a:t>
            </a:r>
            <a:r>
              <a:rPr lang="ar-DZ" b="1" dirty="0" err="1">
                <a:solidFill>
                  <a:schemeClr val="bg1"/>
                </a:solidFill>
              </a:rPr>
              <a:t>بها</a:t>
            </a:r>
            <a:r>
              <a:rPr lang="ar-DZ" b="1" dirty="0">
                <a:solidFill>
                  <a:schemeClr val="bg1"/>
                </a:solidFill>
              </a:rPr>
              <a:t> الاجهزة معا    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اما في الحالة الثانية عدم فتح القاطع ومرور التيار الكهربائي واشتغال الاجهزة الكهربائية معا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لان القاطع مضبوط  في قيمة  لشدة التيار اكبر  من شدة التيار التي </a:t>
            </a:r>
          </a:p>
          <a:p>
            <a:pPr algn="r"/>
            <a:r>
              <a:rPr lang="ar-DZ" b="1" dirty="0" err="1">
                <a:solidFill>
                  <a:schemeClr val="bg1"/>
                </a:solidFill>
              </a:rPr>
              <a:t>تشتغل</a:t>
            </a:r>
            <a:r>
              <a:rPr lang="ar-DZ" b="1" dirty="0">
                <a:solidFill>
                  <a:schemeClr val="bg1"/>
                </a:solidFill>
              </a:rPr>
              <a:t> </a:t>
            </a:r>
            <a:r>
              <a:rPr lang="ar-DZ" b="1" dirty="0" err="1">
                <a:solidFill>
                  <a:schemeClr val="bg1"/>
                </a:solidFill>
              </a:rPr>
              <a:t>بها</a:t>
            </a:r>
            <a:r>
              <a:rPr lang="ar-DZ" b="1" dirty="0">
                <a:solidFill>
                  <a:schemeClr val="bg1"/>
                </a:solidFill>
              </a:rPr>
              <a:t> الاجهزة معا    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النتيجة 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لاشتغال الاجهزة الكهربائية  معا هو ضبط القاطع في  قيمة شدة التيار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 التي يجب ان تكون اكبر قيلا او تساوي قيمة شدة التيار التي </a:t>
            </a:r>
            <a:r>
              <a:rPr lang="ar-DZ" b="1" dirty="0" err="1">
                <a:solidFill>
                  <a:schemeClr val="bg1"/>
                </a:solidFill>
              </a:rPr>
              <a:t>تشتغل</a:t>
            </a:r>
            <a:r>
              <a:rPr lang="ar-DZ" b="1" dirty="0">
                <a:solidFill>
                  <a:schemeClr val="bg1"/>
                </a:solidFill>
              </a:rPr>
              <a:t> </a:t>
            </a:r>
            <a:r>
              <a:rPr lang="ar-DZ" b="1" dirty="0" err="1">
                <a:solidFill>
                  <a:schemeClr val="bg1"/>
                </a:solidFill>
              </a:rPr>
              <a:t>بها</a:t>
            </a:r>
            <a:r>
              <a:rPr lang="ar-DZ" b="1" dirty="0">
                <a:solidFill>
                  <a:schemeClr val="bg1"/>
                </a:solidFill>
              </a:rPr>
              <a:t> الاجهزة معا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وكذلك يحمي القاطع الالي الاجهزة الكهربائية و الاشخاص   من الارتفاع المفاجئ </a:t>
            </a:r>
          </a:p>
          <a:p>
            <a:pPr algn="r"/>
            <a:r>
              <a:rPr lang="ar-DZ" b="1" dirty="0">
                <a:solidFill>
                  <a:schemeClr val="bg1"/>
                </a:solidFill>
              </a:rPr>
              <a:t>لشدة التيار الكهربائي ومن الاستقصار في </a:t>
            </a:r>
            <a:r>
              <a:rPr lang="ar-DZ" b="1" dirty="0" err="1">
                <a:solidFill>
                  <a:schemeClr val="bg1"/>
                </a:solidFill>
              </a:rPr>
              <a:t>الدارات</a:t>
            </a:r>
            <a:r>
              <a:rPr lang="ar-DZ" b="1" dirty="0">
                <a:solidFill>
                  <a:schemeClr val="bg1"/>
                </a:solidFill>
              </a:rPr>
              <a:t> وتسرب التيار الكهربائي     </a:t>
            </a:r>
          </a:p>
          <a:p>
            <a:pPr algn="r"/>
            <a:endParaRPr lang="ar-DZ" b="1" dirty="0">
              <a:solidFill>
                <a:schemeClr val="bg1"/>
              </a:solidFill>
            </a:endParaRPr>
          </a:p>
          <a:p>
            <a:pPr algn="r"/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6" name="Image 5" descr="دور قاطع التيار.gif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01" b="22549"/>
          <a:stretch>
            <a:fillRect/>
          </a:stretch>
        </p:blipFill>
        <p:spPr>
          <a:xfrm>
            <a:off x="0" y="692696"/>
            <a:ext cx="4792015" cy="2808312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512" y="4005064"/>
            <a:ext cx="1619672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avec flèche vers la gauche 2"/>
          <p:cNvSpPr/>
          <p:nvPr/>
        </p:nvSpPr>
        <p:spPr>
          <a:xfrm>
            <a:off x="6948264" y="0"/>
            <a:ext cx="1800200" cy="720080"/>
          </a:xfrm>
          <a:prstGeom prst="leftArrow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النشاط 3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115616" y="0"/>
            <a:ext cx="5616624" cy="72008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اخطار التيار الكهربائي وقواعد الامن الكهربائي  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0" y="764704"/>
            <a:ext cx="9144000" cy="5616624"/>
          </a:xfrm>
          <a:prstGeom prst="roundRect">
            <a:avLst/>
          </a:prstGeom>
          <a:solidFill>
            <a:srgbClr val="99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000" b="1" dirty="0">
              <a:solidFill>
                <a:schemeClr val="bg1"/>
              </a:solidFill>
            </a:endParaRPr>
          </a:p>
          <a:p>
            <a:pPr algn="r"/>
            <a:r>
              <a:rPr lang="ar-DZ" sz="2000" b="1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fr-FR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0" y="764704"/>
          <a:ext cx="9144000" cy="588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ar-DZ" sz="2000" dirty="0">
                          <a:solidFill>
                            <a:schemeClr val="bg1"/>
                          </a:solidFill>
                        </a:rPr>
                        <a:t>قواعد الامن الكهربائي </a:t>
                      </a:r>
                    </a:p>
                    <a:p>
                      <a:pPr algn="r"/>
                      <a:r>
                        <a:rPr lang="ar-DZ" dirty="0">
                          <a:solidFill>
                            <a:schemeClr val="bg1"/>
                          </a:solidFill>
                        </a:rPr>
                        <a:t>1-على الاشخاص </a:t>
                      </a:r>
                    </a:p>
                    <a:p>
                      <a:pPr algn="r"/>
                      <a:r>
                        <a:rPr lang="ar-DZ" dirty="0">
                          <a:solidFill>
                            <a:schemeClr val="bg1"/>
                          </a:solidFill>
                        </a:rPr>
                        <a:t>-تجنب لمس ناقل كهربائي بدون عازل </a:t>
                      </a:r>
                    </a:p>
                    <a:p>
                      <a:pPr algn="r"/>
                      <a:r>
                        <a:rPr lang="ar-DZ" dirty="0">
                          <a:solidFill>
                            <a:schemeClr val="bg1"/>
                          </a:solidFill>
                        </a:rPr>
                        <a:t>-استعمال التوصيل الارضي </a:t>
                      </a:r>
                      <a:r>
                        <a:rPr lang="ar-DZ" dirty="0" err="1">
                          <a:solidFill>
                            <a:schemeClr val="bg1"/>
                          </a:solidFill>
                        </a:rPr>
                        <a:t>للاجهزة</a:t>
                      </a:r>
                      <a:r>
                        <a:rPr lang="ar-DZ" dirty="0">
                          <a:solidFill>
                            <a:schemeClr val="bg1"/>
                          </a:solidFill>
                        </a:rPr>
                        <a:t> الكهربائي مثل الغسالة والثلاجة</a:t>
                      </a:r>
                    </a:p>
                    <a:p>
                      <a:pPr algn="r"/>
                      <a:r>
                        <a:rPr lang="ar-DZ" dirty="0">
                          <a:solidFill>
                            <a:schemeClr val="bg1"/>
                          </a:solidFill>
                        </a:rPr>
                        <a:t>-تركيب</a:t>
                      </a:r>
                      <a:r>
                        <a:rPr lang="ar-DZ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ar-DZ" baseline="0" dirty="0" err="1">
                          <a:solidFill>
                            <a:schemeClr val="bg1"/>
                          </a:solidFill>
                        </a:rPr>
                        <a:t>الققاطعة</a:t>
                      </a:r>
                      <a:r>
                        <a:rPr lang="ar-DZ" baseline="0" dirty="0">
                          <a:solidFill>
                            <a:schemeClr val="bg1"/>
                          </a:solidFill>
                        </a:rPr>
                        <a:t> المصباح  في سلك الطور  </a:t>
                      </a:r>
                    </a:p>
                    <a:p>
                      <a:pPr algn="r"/>
                      <a:endParaRPr lang="ar-DZ" baseline="0" dirty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r>
                        <a:rPr lang="ar-DZ" baseline="0" dirty="0">
                          <a:solidFill>
                            <a:schemeClr val="bg1"/>
                          </a:solidFill>
                        </a:rPr>
                        <a:t>2-على الاجهزة</a:t>
                      </a:r>
                    </a:p>
                    <a:p>
                      <a:pPr algn="r"/>
                      <a:r>
                        <a:rPr lang="ar-DZ" baseline="0" dirty="0">
                          <a:solidFill>
                            <a:schemeClr val="bg1"/>
                          </a:solidFill>
                        </a:rPr>
                        <a:t>-استعمال قاطع الي ذو  قيم متغيرة </a:t>
                      </a:r>
                    </a:p>
                    <a:p>
                      <a:pPr algn="r"/>
                      <a:r>
                        <a:rPr lang="ar-DZ" baseline="0" dirty="0">
                          <a:solidFill>
                            <a:schemeClr val="bg1"/>
                          </a:solidFill>
                        </a:rPr>
                        <a:t>-استعمال المنصهرات في الاجهزة  </a:t>
                      </a:r>
                    </a:p>
                    <a:p>
                      <a:pPr algn="r"/>
                      <a:r>
                        <a:rPr lang="ar-DZ" baseline="0" dirty="0">
                          <a:solidFill>
                            <a:schemeClr val="bg1"/>
                          </a:solidFill>
                        </a:rPr>
                        <a:t>-استعمال عوازل </a:t>
                      </a:r>
                      <a:r>
                        <a:rPr lang="ar-DZ" baseline="0" dirty="0" err="1">
                          <a:solidFill>
                            <a:schemeClr val="bg1"/>
                          </a:solidFill>
                        </a:rPr>
                        <a:t>للنواقل</a:t>
                      </a:r>
                      <a:r>
                        <a:rPr lang="ar-DZ" baseline="0" dirty="0">
                          <a:solidFill>
                            <a:schemeClr val="bg1"/>
                          </a:solidFill>
                        </a:rPr>
                        <a:t> الكهربائي </a:t>
                      </a:r>
                      <a:r>
                        <a:rPr lang="ar-DZ" baseline="0" dirty="0" err="1">
                          <a:solidFill>
                            <a:schemeClr val="bg1"/>
                          </a:solidFill>
                        </a:rPr>
                        <a:t>وبالالوان</a:t>
                      </a:r>
                      <a:r>
                        <a:rPr lang="ar-DZ" baseline="0" dirty="0">
                          <a:solidFill>
                            <a:schemeClr val="bg1"/>
                          </a:solidFill>
                        </a:rPr>
                        <a:t> المعتمدة </a:t>
                      </a:r>
                    </a:p>
                    <a:p>
                      <a:pPr algn="r"/>
                      <a:endParaRPr lang="ar-DZ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1--اخطار عل  الاشخاص</a:t>
                      </a:r>
                    </a:p>
                    <a:p>
                      <a:pPr algn="r"/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-ملامسة سلك الطور مباشرة بدون عازل وملامسة </a:t>
                      </a:r>
                    </a:p>
                    <a:p>
                      <a:pPr algn="r"/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سلكي الطور والحيادي معا  </a:t>
                      </a:r>
                    </a:p>
                    <a:p>
                      <a:pPr algn="r"/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-ملامسة هياكل بعض اجهزة كهربائية بدون توصيل ارضي </a:t>
                      </a:r>
                    </a:p>
                    <a:p>
                      <a:pPr algn="r"/>
                      <a:r>
                        <a:rPr lang="ar-DZ" sz="1800" b="1" dirty="0" err="1">
                          <a:solidFill>
                            <a:schemeClr val="bg1"/>
                          </a:solidFill>
                        </a:rPr>
                        <a:t>بها</a:t>
                      </a:r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 سلك الطور يلمس الهيكل </a:t>
                      </a:r>
                    </a:p>
                    <a:p>
                      <a:pPr algn="r"/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ملامسة  سلك الطور مربط المصباح بوجود القاطعة </a:t>
                      </a:r>
                    </a:p>
                    <a:p>
                      <a:pPr algn="r"/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في سلك الحيادي </a:t>
                      </a:r>
                    </a:p>
                    <a:p>
                      <a:pPr algn="r"/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2-اخطار  على الاجهزة </a:t>
                      </a:r>
                    </a:p>
                    <a:p>
                      <a:pPr algn="r"/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-الارتفاع المفاجئ لشدة التيار الكهربائي بدون وجود </a:t>
                      </a:r>
                    </a:p>
                    <a:p>
                      <a:pPr algn="r"/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منصهرات او قاطع الي </a:t>
                      </a:r>
                    </a:p>
                    <a:p>
                      <a:pPr algn="r"/>
                      <a:r>
                        <a:rPr lang="ar-DZ" sz="2000" b="1" dirty="0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حدوث استقصار للدارة مع عدم وجود قاطع الي</a:t>
                      </a:r>
                    </a:p>
                    <a:p>
                      <a:pPr algn="r"/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-استعمال عدة اجهزة في ان واحد تكون شدتها اكبر  </a:t>
                      </a:r>
                    </a:p>
                    <a:p>
                      <a:pPr algn="r"/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من الشدة التي يمنحها العداد </a:t>
                      </a:r>
                    </a:p>
                    <a:p>
                      <a:pPr algn="r"/>
                      <a:r>
                        <a:rPr lang="ar-DZ" sz="1800" b="1" dirty="0">
                          <a:solidFill>
                            <a:schemeClr val="bg1"/>
                          </a:solidFill>
                        </a:rPr>
                        <a:t>الكهربائي بدون وجود قاطع الي  </a:t>
                      </a:r>
                    </a:p>
                    <a:p>
                      <a:endParaRPr lang="ar-DZ" dirty="0"/>
                    </a:p>
                    <a:p>
                      <a:endParaRPr lang="ar-DZ" dirty="0"/>
                    </a:p>
                    <a:p>
                      <a:endParaRPr lang="ar-DZ" dirty="0"/>
                    </a:p>
                    <a:p>
                      <a:endParaRPr lang="ar-DZ" dirty="0"/>
                    </a:p>
                    <a:p>
                      <a:endParaRPr lang="ar-DZ" dirty="0"/>
                    </a:p>
                    <a:p>
                      <a:endParaRPr lang="ar-DZ" dirty="0"/>
                    </a:p>
                    <a:p>
                      <a:endParaRPr lang="fr-FR" dirty="0"/>
                    </a:p>
                  </a:txBody>
                  <a:tcPr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 7" descr="téléchargement (1)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96336" y="4797152"/>
            <a:ext cx="1547664" cy="1412776"/>
          </a:xfrm>
          <a:prstGeom prst="rect">
            <a:avLst/>
          </a:prstGeom>
        </p:spPr>
      </p:pic>
      <p:pic>
        <p:nvPicPr>
          <p:cNvPr id="9" name="Image 8" descr="téléchargement (3)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6176" y="4869160"/>
            <a:ext cx="1442482" cy="1458267"/>
          </a:xfrm>
          <a:prstGeom prst="rect">
            <a:avLst/>
          </a:prstGeom>
        </p:spPr>
      </p:pic>
      <p:pic>
        <p:nvPicPr>
          <p:cNvPr id="10" name="Image 9" descr="téléchargement (2)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4008" y="4869160"/>
            <a:ext cx="1408559" cy="1476375"/>
          </a:xfrm>
          <a:prstGeom prst="rect">
            <a:avLst/>
          </a:prstGeom>
        </p:spPr>
      </p:pic>
      <p:pic>
        <p:nvPicPr>
          <p:cNvPr id="11" name="Image 10" descr="téléchargement.jp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229200"/>
            <a:ext cx="1730224" cy="1225674"/>
          </a:xfrm>
          <a:prstGeom prst="rect">
            <a:avLst/>
          </a:prstGeom>
        </p:spPr>
      </p:pic>
      <p:pic>
        <p:nvPicPr>
          <p:cNvPr id="12" name="Image 11" descr="hqdefault (1).jp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47864" y="5229200"/>
            <a:ext cx="1224136" cy="1368152"/>
          </a:xfrm>
          <a:prstGeom prst="rect">
            <a:avLst/>
          </a:prstGeom>
        </p:spPr>
      </p:pic>
      <p:pic>
        <p:nvPicPr>
          <p:cNvPr id="13" name="Image 12" descr="téléchargement (4).jp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91680" y="5301208"/>
            <a:ext cx="1584176" cy="115212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3834</TotalTime>
  <Words>2471</Words>
  <Application>Microsoft Office PowerPoint</Application>
  <PresentationFormat>عرض على الشاشة (4:3)</PresentationFormat>
  <Paragraphs>676</Paragraphs>
  <Slides>26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26</vt:i4>
      </vt:variant>
    </vt:vector>
  </HeadingPairs>
  <TitlesOfParts>
    <vt:vector size="34" baseType="lpstr">
      <vt:lpstr>Arial</vt:lpstr>
      <vt:lpstr>Book Antiqua</vt:lpstr>
      <vt:lpstr>Calibri</vt:lpstr>
      <vt:lpstr>Lucida Sans</vt:lpstr>
      <vt:lpstr>Wingdings</vt:lpstr>
      <vt:lpstr>Wingdings 2</vt:lpstr>
      <vt:lpstr>Wingdings 3</vt:lpstr>
      <vt:lpstr>Apex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HMI</dc:creator>
  <cp:lastModifiedBy>SAIID</cp:lastModifiedBy>
  <cp:revision>1327</cp:revision>
  <dcterms:created xsi:type="dcterms:W3CDTF">2016-02-23T11:37:09Z</dcterms:created>
  <dcterms:modified xsi:type="dcterms:W3CDTF">2020-08-11T19:43:49Z</dcterms:modified>
</cp:coreProperties>
</file>