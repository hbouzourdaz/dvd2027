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</p:sldMasterIdLst>
  <p:notesMasterIdLst>
    <p:notesMasterId r:id="rId26"/>
  </p:notesMasterIdLst>
  <p:sldIdLst>
    <p:sldId id="457" r:id="rId2"/>
    <p:sldId id="458" r:id="rId3"/>
    <p:sldId id="304" r:id="rId4"/>
    <p:sldId id="437" r:id="rId5"/>
    <p:sldId id="433" r:id="rId6"/>
    <p:sldId id="434" r:id="rId7"/>
    <p:sldId id="311" r:id="rId8"/>
    <p:sldId id="314" r:id="rId9"/>
    <p:sldId id="453" r:id="rId10"/>
    <p:sldId id="319" r:id="rId11"/>
    <p:sldId id="454" r:id="rId12"/>
    <p:sldId id="435" r:id="rId13"/>
    <p:sldId id="455" r:id="rId14"/>
    <p:sldId id="334" r:id="rId15"/>
    <p:sldId id="442" r:id="rId16"/>
    <p:sldId id="443" r:id="rId17"/>
    <p:sldId id="336" r:id="rId18"/>
    <p:sldId id="444" r:id="rId19"/>
    <p:sldId id="445" r:id="rId20"/>
    <p:sldId id="339" r:id="rId21"/>
    <p:sldId id="446" r:id="rId22"/>
    <p:sldId id="447" r:id="rId23"/>
    <p:sldId id="456" r:id="rId24"/>
    <p:sldId id="341" r:id="rId2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66FF33"/>
    <a:srgbClr val="FF6699"/>
    <a:srgbClr val="FF9900"/>
    <a:srgbClr val="1ADC1F"/>
    <a:srgbClr val="CCCC00"/>
    <a:srgbClr val="CCFF33"/>
    <a:srgbClr val="E03D10"/>
    <a:srgbClr val="FFFF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06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54448-397C-4E48-9361-2A6078E18690}" type="datetimeFigureOut">
              <a:rPr lang="fr-FR" smtClean="0"/>
              <a:pPr/>
              <a:t>13/08/2020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FAD20-3204-4858-8680-538F4D9C080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0752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13/08/2020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13/08/2020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13/08/2020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04215332-8E84-4E01-A1D5-2037368CC2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13/08/2020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13/08/2020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13/08/2020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13/08/2020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13/08/2020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13/08/2020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13/08/2020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DAB-F668-425F-A7CF-39122BB49F12}" type="datetimeFigureOut">
              <a:rPr lang="fr-FR" smtClean="0"/>
              <a:pPr/>
              <a:t>13/08/2020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332-8E84-4E01-A1D5-2037368CC2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2D35DAB-F668-425F-A7CF-39122BB49F12}" type="datetimeFigureOut">
              <a:rPr lang="fr-FR" smtClean="0"/>
              <a:pPr/>
              <a:t>13/08/2020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4215332-8E84-4E01-A1D5-2037368CC2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gif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g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s (4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-243408"/>
            <a:ext cx="9143999" cy="6857999"/>
          </a:xfrm>
          <a:prstGeom prst="rect">
            <a:avLst/>
          </a:prstGeom>
        </p:spPr>
      </p:pic>
      <p:sp>
        <p:nvSpPr>
          <p:cNvPr id="7" name="Rectangle à coins arrondis 6"/>
          <p:cNvSpPr/>
          <p:nvPr/>
        </p:nvSpPr>
        <p:spPr>
          <a:xfrm>
            <a:off x="0" y="-315416"/>
            <a:ext cx="9144000" cy="717341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مديرية التربية لولاية البليدة </a:t>
            </a:r>
          </a:p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مجموعة التحدي من اجل تحسين التعليم في الجزائر</a:t>
            </a:r>
          </a:p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من اجل مرافقة تلاميذ السنة الرابعة متوسط </a:t>
            </a:r>
          </a:p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ملخص جميع دروس ميدان المادة وتحولاتها     </a:t>
            </a:r>
          </a:p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   -السنة الرابعة متوسط- علوم فيزيائية</a:t>
            </a:r>
          </a:p>
          <a:p>
            <a:pPr algn="r"/>
            <a:endParaRPr lang="ar-DZ" sz="3600" b="1" dirty="0" smtClean="0">
              <a:solidFill>
                <a:schemeClr val="bg1"/>
              </a:solidFill>
            </a:endParaRPr>
          </a:p>
          <a:p>
            <a:pPr algn="ctr"/>
            <a:endParaRPr lang="ar-DZ" sz="4000" b="1" dirty="0" smtClean="0">
              <a:solidFill>
                <a:schemeClr val="bg1"/>
              </a:solidFill>
            </a:endParaRPr>
          </a:p>
          <a:p>
            <a:pPr algn="ctr"/>
            <a:endParaRPr lang="ar-DZ" sz="4000" b="1" dirty="0" smtClean="0">
              <a:solidFill>
                <a:schemeClr val="bg1"/>
              </a:solidFill>
            </a:endParaRPr>
          </a:p>
          <a:p>
            <a:pPr algn="ctr"/>
            <a:endParaRPr lang="ar-DZ" sz="4000" b="1" dirty="0" smtClean="0">
              <a:solidFill>
                <a:schemeClr val="bg1"/>
              </a:solidFill>
            </a:endParaRPr>
          </a:p>
          <a:p>
            <a:pPr algn="ctr"/>
            <a:endParaRPr lang="ar-DZ" sz="40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4000" b="1" dirty="0" smtClean="0">
                <a:solidFill>
                  <a:schemeClr val="bg1"/>
                </a:solidFill>
              </a:rPr>
              <a:t>  </a:t>
            </a:r>
            <a:endParaRPr lang="fr-FR" sz="4000" b="1" dirty="0">
              <a:solidFill>
                <a:schemeClr val="bg1"/>
              </a:solidFill>
            </a:endParaRPr>
          </a:p>
        </p:txBody>
      </p:sp>
      <p:pic>
        <p:nvPicPr>
          <p:cNvPr id="11" name="Image 10" descr="maxresdefault.jpg"/>
          <p:cNvPicPr>
            <a:picLocks noChangeAspect="1"/>
          </p:cNvPicPr>
          <p:nvPr/>
        </p:nvPicPr>
        <p:blipFill>
          <a:blip r:embed="rId3" cstate="print"/>
          <a:srcRect t="19444" r="486"/>
          <a:stretch>
            <a:fillRect/>
          </a:stretch>
        </p:blipFill>
        <p:spPr>
          <a:xfrm>
            <a:off x="467544" y="3193908"/>
            <a:ext cx="2448272" cy="2259633"/>
          </a:xfrm>
          <a:prstGeom prst="rect">
            <a:avLst/>
          </a:prstGeom>
        </p:spPr>
      </p:pic>
      <p:pic>
        <p:nvPicPr>
          <p:cNvPr id="12" name="Image 11" descr="http://dc596.4shared.com/img/RaWQlIHvba/149ada702e0/_____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2160" y="3068960"/>
            <a:ext cx="2880320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Image 12" descr="aniion.g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148541" y="3330842"/>
            <a:ext cx="2628292" cy="1985764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y6uyhuzmj0stbea2qmf7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4" name="Rectangle à coins arrondis 3"/>
          <p:cNvSpPr/>
          <p:nvPr/>
        </p:nvSpPr>
        <p:spPr>
          <a:xfrm>
            <a:off x="0" y="1916832"/>
            <a:ext cx="9144000" cy="472514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نحقق التركيبين التاليين 1 </a:t>
            </a:r>
            <a:r>
              <a:rPr lang="ar-DZ" sz="2400" b="1" dirty="0" err="1" smtClean="0">
                <a:solidFill>
                  <a:schemeClr val="bg1"/>
                </a:solidFill>
              </a:rPr>
              <a:t>و2</a:t>
            </a:r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حيث نضع في الوعاء الاول مسحوق السكر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+ماء مقطر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اي محلول مائي سكري و في الوعاء الثاني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ماء مقطر +مسحوق الملح اي محلول مائي ملحي 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الملاحظة 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عدم توهج المصباح في التركيب الاول دلالة على عدم مرور التيار الكهربائي               في المحلول السكري و نسميه محلولا جزيئيا   و توهج المصباح في التركيب الثاني دلالة على مرور التيار الكهربائي في المحلول الملحي و نسميه محلولا </a:t>
            </a:r>
            <a:r>
              <a:rPr lang="ar-DZ" sz="2400" b="1" dirty="0" err="1" smtClean="0">
                <a:solidFill>
                  <a:schemeClr val="bg1"/>
                </a:solidFill>
              </a:rPr>
              <a:t>شارديا</a:t>
            </a:r>
            <a:r>
              <a:rPr lang="ar-DZ" sz="2400" b="1" dirty="0" smtClean="0">
                <a:solidFill>
                  <a:schemeClr val="bg1"/>
                </a:solidFill>
              </a:rPr>
              <a:t>  </a:t>
            </a: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النتيجة </a:t>
            </a: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المحلول المائي الجزيئي  غير ناقل للتيار الكهربائي </a:t>
            </a: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بينما المحلول المائي الشاردي ناقل للتيار الكهربائي </a:t>
            </a:r>
            <a:r>
              <a:rPr lang="ar-DZ" sz="2400" b="1" dirty="0" err="1" smtClean="0">
                <a:solidFill>
                  <a:srgbClr val="FF0000"/>
                </a:solidFill>
              </a:rPr>
              <a:t>لانه</a:t>
            </a:r>
            <a:r>
              <a:rPr lang="ar-DZ" sz="2400" b="1" dirty="0" smtClean="0">
                <a:solidFill>
                  <a:srgbClr val="FF0000"/>
                </a:solidFill>
              </a:rPr>
              <a:t> يحتوي على حاملات الشحن </a:t>
            </a:r>
            <a:endParaRPr lang="fr-FR" sz="2400" b="1" dirty="0" smtClean="0">
              <a:solidFill>
                <a:srgbClr val="FF0000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   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    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0" y="0"/>
            <a:ext cx="8028384" cy="69269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ميدان المادة وتحولاتها  </a:t>
            </a:r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7" name="Rectangle avec flèche vers la gauche 6"/>
          <p:cNvSpPr/>
          <p:nvPr/>
        </p:nvSpPr>
        <p:spPr>
          <a:xfrm>
            <a:off x="7343800" y="620688"/>
            <a:ext cx="1800200" cy="648072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الدرس 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0" y="620688"/>
            <a:ext cx="7956376" cy="69269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الشاردة والمحلول الشاردي 1 </a:t>
            </a:r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9" name="Rectangle avec flèche vers la gauche 8"/>
          <p:cNvSpPr/>
          <p:nvPr/>
        </p:nvSpPr>
        <p:spPr>
          <a:xfrm>
            <a:off x="7343800" y="0"/>
            <a:ext cx="1800200" cy="648072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0" name="Rectangle à coins arrondis 9"/>
          <p:cNvSpPr/>
          <p:nvPr/>
        </p:nvSpPr>
        <p:spPr>
          <a:xfrm>
            <a:off x="0" y="1268760"/>
            <a:ext cx="7740352" cy="69269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المحاليل الجزئية والمحاليل </a:t>
            </a:r>
            <a:r>
              <a:rPr lang="ar-DZ" sz="3600" b="1" dirty="0" err="1" smtClean="0">
                <a:solidFill>
                  <a:schemeClr val="bg1"/>
                </a:solidFill>
              </a:rPr>
              <a:t>الشاردية</a:t>
            </a:r>
            <a:r>
              <a:rPr lang="ar-DZ" sz="3600" b="1" dirty="0" smtClean="0">
                <a:solidFill>
                  <a:schemeClr val="bg1"/>
                </a:solidFill>
              </a:rPr>
              <a:t> </a:t>
            </a:r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11" name="Rectangle avec flèche vers la gauche 10"/>
          <p:cNvSpPr/>
          <p:nvPr/>
        </p:nvSpPr>
        <p:spPr>
          <a:xfrm>
            <a:off x="7055768" y="1268760"/>
            <a:ext cx="2088232" cy="648072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12" name="Image 11" descr="Sans_titref.png"/>
          <p:cNvPicPr>
            <a:picLocks noChangeAspect="1"/>
          </p:cNvPicPr>
          <p:nvPr/>
        </p:nvPicPr>
        <p:blipFill>
          <a:blip r:embed="rId3" cstate="print"/>
          <a:srcRect t="9335" r="51459" b="11727"/>
          <a:stretch>
            <a:fillRect/>
          </a:stretch>
        </p:blipFill>
        <p:spPr>
          <a:xfrm>
            <a:off x="179512" y="2204864"/>
            <a:ext cx="1763688" cy="1749663"/>
          </a:xfrm>
          <a:prstGeom prst="rect">
            <a:avLst/>
          </a:prstGeom>
        </p:spPr>
      </p:pic>
      <p:pic>
        <p:nvPicPr>
          <p:cNvPr id="13" name="Image 12" descr="Sans_titrea.png"/>
          <p:cNvPicPr>
            <a:picLocks noChangeAspect="1"/>
          </p:cNvPicPr>
          <p:nvPr/>
        </p:nvPicPr>
        <p:blipFill>
          <a:blip r:embed="rId4" cstate="print"/>
          <a:srcRect t="10605" r="51471" b="10605"/>
          <a:stretch>
            <a:fillRect/>
          </a:stretch>
        </p:blipFill>
        <p:spPr>
          <a:xfrm>
            <a:off x="1979712" y="2204864"/>
            <a:ext cx="1872208" cy="1800200"/>
          </a:xfrm>
          <a:prstGeom prst="rect">
            <a:avLst/>
          </a:prstGeom>
        </p:spPr>
      </p:pic>
      <p:sp>
        <p:nvSpPr>
          <p:cNvPr id="14" name="Rectangle à coins arrondis 13"/>
          <p:cNvSpPr/>
          <p:nvPr/>
        </p:nvSpPr>
        <p:spPr>
          <a:xfrm>
            <a:off x="0" y="3573016"/>
            <a:ext cx="1979712" cy="36004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DZ" b="1" dirty="0" smtClean="0">
              <a:solidFill>
                <a:schemeClr val="bg1"/>
              </a:solidFill>
            </a:endParaRPr>
          </a:p>
          <a:p>
            <a:pPr algn="ctr"/>
            <a:r>
              <a:rPr lang="ar-DZ" b="1" dirty="0" smtClean="0">
                <a:solidFill>
                  <a:schemeClr val="bg1"/>
                </a:solidFill>
              </a:rPr>
              <a:t>محلول ماء </a:t>
            </a:r>
            <a:r>
              <a:rPr lang="ar-DZ" b="1" dirty="0" err="1" smtClean="0">
                <a:solidFill>
                  <a:schemeClr val="bg1"/>
                </a:solidFill>
              </a:rPr>
              <a:t>مقطر </a:t>
            </a:r>
            <a:r>
              <a:rPr lang="ar-DZ" b="1" dirty="0" smtClean="0">
                <a:solidFill>
                  <a:schemeClr val="bg1"/>
                </a:solidFill>
              </a:rPr>
              <a:t>+ملح  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1979712" y="3573016"/>
            <a:ext cx="2016224" cy="36004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DZ" b="1" dirty="0" smtClean="0">
              <a:solidFill>
                <a:schemeClr val="bg1"/>
              </a:solidFill>
            </a:endParaRPr>
          </a:p>
          <a:p>
            <a:pPr algn="ctr"/>
            <a:r>
              <a:rPr lang="ar-DZ" b="1" dirty="0" smtClean="0">
                <a:solidFill>
                  <a:schemeClr val="bg1"/>
                </a:solidFill>
              </a:rPr>
              <a:t>محلول ماء </a:t>
            </a:r>
            <a:r>
              <a:rPr lang="ar-DZ" b="1" dirty="0" err="1" smtClean="0">
                <a:solidFill>
                  <a:schemeClr val="bg1"/>
                </a:solidFill>
              </a:rPr>
              <a:t>مقطر </a:t>
            </a:r>
            <a:r>
              <a:rPr lang="ar-DZ" b="1" dirty="0" smtClean="0">
                <a:solidFill>
                  <a:schemeClr val="bg1"/>
                </a:solidFill>
              </a:rPr>
              <a:t>+سكر  </a:t>
            </a:r>
            <a:endParaRPr lang="fr-F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com_1393263268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7999"/>
          </a:xfrm>
          <a:prstGeom prst="rect">
            <a:avLst/>
          </a:prstGeom>
          <a:solidFill>
            <a:srgbClr val="00FFFF"/>
          </a:solidFill>
        </p:spPr>
      </p:pic>
      <p:sp>
        <p:nvSpPr>
          <p:cNvPr id="93185" name="Rectangle 1"/>
          <p:cNvSpPr>
            <a:spLocks noChangeArrowheads="1"/>
          </p:cNvSpPr>
          <p:nvPr/>
        </p:nvSpPr>
        <p:spPr bwMode="auto">
          <a:xfrm>
            <a:off x="1857356" y="3143248"/>
            <a:ext cx="55007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DZ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0833" name="Rectangle 1"/>
          <p:cNvSpPr>
            <a:spLocks noChangeArrowheads="1"/>
          </p:cNvSpPr>
          <p:nvPr/>
        </p:nvSpPr>
        <p:spPr bwMode="auto">
          <a:xfrm>
            <a:off x="0" y="-2410584"/>
            <a:ext cx="1449436" cy="527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</a:t>
            </a:r>
            <a:r>
              <a:rPr kumimoji="0" lang="fr-FR" sz="3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0" y="0"/>
            <a:ext cx="7812360" cy="90872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الاجسام الصلبة الجزيئية و الاجسام الصلبة </a:t>
            </a:r>
            <a:r>
              <a:rPr lang="ar-DZ" sz="2800" b="1" dirty="0" err="1" smtClean="0">
                <a:solidFill>
                  <a:schemeClr val="bg1"/>
                </a:solidFill>
              </a:rPr>
              <a:t>الشاردية</a:t>
            </a:r>
            <a:r>
              <a:rPr lang="ar-DZ" sz="2800" b="1" dirty="0" smtClean="0">
                <a:solidFill>
                  <a:schemeClr val="bg1"/>
                </a:solidFill>
              </a:rPr>
              <a:t> </a:t>
            </a:r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0" y="836712"/>
            <a:ext cx="9144000" cy="60212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نحقق التركيبين التاليين 1 </a:t>
            </a:r>
            <a:r>
              <a:rPr lang="ar-DZ" sz="2400" b="1" dirty="0" err="1" smtClean="0">
                <a:solidFill>
                  <a:schemeClr val="bg1"/>
                </a:solidFill>
              </a:rPr>
              <a:t>و2</a:t>
            </a:r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حيث نضع في الوعاء </a:t>
            </a:r>
            <a:r>
              <a:rPr lang="ar-DZ" sz="2400" b="1" dirty="0" err="1" smtClean="0">
                <a:solidFill>
                  <a:schemeClr val="bg1"/>
                </a:solidFill>
              </a:rPr>
              <a:t>الاول</a:t>
            </a:r>
            <a:r>
              <a:rPr lang="ar-DZ" sz="2400" b="1" dirty="0" smtClean="0">
                <a:solidFill>
                  <a:schemeClr val="bg1"/>
                </a:solidFill>
              </a:rPr>
              <a:t> </a:t>
            </a:r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مسحوق </a:t>
            </a:r>
            <a:r>
              <a:rPr lang="ar-DZ" sz="2400" b="1" dirty="0" err="1" smtClean="0">
                <a:solidFill>
                  <a:schemeClr val="bg1"/>
                </a:solidFill>
              </a:rPr>
              <a:t>السكرو</a:t>
            </a:r>
            <a:r>
              <a:rPr lang="ar-DZ" sz="2400" b="1" dirty="0" smtClean="0">
                <a:solidFill>
                  <a:schemeClr val="bg1"/>
                </a:solidFill>
              </a:rPr>
              <a:t> في الوعاء الثاني </a:t>
            </a:r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مسحوق الملح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الملاحظة 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عدم توهج المصباح في التركيب الاول دلالة على عدم مرور التيار الكهربائي في مسحوق السكر و نسميه جسم صلب  جزيئي   </a:t>
            </a:r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و عدم توهج المصباح في التركيب الثاني دلالة على عدم مرور التيار الكهربائي في </a:t>
            </a:r>
            <a:r>
              <a:rPr lang="ar-DZ" sz="2400" b="1" dirty="0" err="1" smtClean="0">
                <a:solidFill>
                  <a:schemeClr val="bg1"/>
                </a:solidFill>
              </a:rPr>
              <a:t>مسحوفق</a:t>
            </a:r>
            <a:r>
              <a:rPr lang="ar-DZ" sz="2400" b="1" dirty="0" smtClean="0">
                <a:solidFill>
                  <a:schemeClr val="bg1"/>
                </a:solidFill>
              </a:rPr>
              <a:t> الملح و نسميه جسم صلب شاردي  </a:t>
            </a: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النتيجة </a:t>
            </a: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الاجسام الصلبة الجزئية و الاجسام الصلبة </a:t>
            </a:r>
            <a:r>
              <a:rPr lang="ar-DZ" sz="2400" b="1" dirty="0" err="1" smtClean="0">
                <a:solidFill>
                  <a:srgbClr val="FF0000"/>
                </a:solidFill>
              </a:rPr>
              <a:t>الشاردية</a:t>
            </a:r>
            <a:r>
              <a:rPr lang="ar-DZ" sz="2400" b="1" dirty="0" smtClean="0">
                <a:solidFill>
                  <a:srgbClr val="FF0000"/>
                </a:solidFill>
              </a:rPr>
              <a:t> غير ناقلة للتيار الكهربائي 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    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dirty="0">
              <a:solidFill>
                <a:schemeClr val="bg1"/>
              </a:solidFill>
            </a:endParaRPr>
          </a:p>
        </p:txBody>
      </p:sp>
      <p:pic>
        <p:nvPicPr>
          <p:cNvPr id="7" name="Image 6" descr="Résultat de recherche d'images pour &quot;‫الشاردة و المحلول الشاردي‬‎&quot;"/>
          <p:cNvPicPr/>
          <p:nvPr/>
        </p:nvPicPr>
        <p:blipFill>
          <a:blip r:embed="rId3" cstate="print"/>
          <a:srcRect t="22222" r="1875" b="32222"/>
          <a:stretch>
            <a:fillRect/>
          </a:stretch>
        </p:blipFill>
        <p:spPr bwMode="auto">
          <a:xfrm>
            <a:off x="428596" y="1285860"/>
            <a:ext cx="4486275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avec flèche vers la gauche 7"/>
          <p:cNvSpPr/>
          <p:nvPr/>
        </p:nvSpPr>
        <p:spPr>
          <a:xfrm>
            <a:off x="7055768" y="0"/>
            <a:ext cx="2088232" cy="836712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2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035dreamscity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0" y="0"/>
            <a:ext cx="7812360" cy="78579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تفسير </a:t>
            </a:r>
            <a:r>
              <a:rPr lang="ar-DZ" sz="2400" b="1" dirty="0" err="1" smtClean="0">
                <a:solidFill>
                  <a:schemeClr val="bg1"/>
                </a:solidFill>
              </a:rPr>
              <a:t>الناقلية</a:t>
            </a:r>
            <a:r>
              <a:rPr lang="ar-DZ" sz="2400" b="1" dirty="0" smtClean="0">
                <a:solidFill>
                  <a:schemeClr val="bg1"/>
                </a:solidFill>
              </a:rPr>
              <a:t> الكهربائية في المحاليل </a:t>
            </a:r>
            <a:r>
              <a:rPr lang="ar-DZ" sz="2400" b="1" dirty="0" err="1" smtClean="0">
                <a:solidFill>
                  <a:schemeClr val="bg1"/>
                </a:solidFill>
              </a:rPr>
              <a:t>الشاردية</a:t>
            </a:r>
            <a:r>
              <a:rPr lang="ar-DZ" sz="2400" b="1" dirty="0" smtClean="0">
                <a:solidFill>
                  <a:schemeClr val="bg1"/>
                </a:solidFill>
              </a:rPr>
              <a:t>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0" y="714356"/>
            <a:ext cx="9144000" cy="614364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تحقيق تجربة هجرة </a:t>
            </a:r>
            <a:r>
              <a:rPr lang="ar-DZ" sz="2400" b="1" dirty="0" err="1" smtClean="0">
                <a:solidFill>
                  <a:schemeClr val="bg1"/>
                </a:solidFill>
              </a:rPr>
              <a:t>الشوارد</a:t>
            </a:r>
            <a:r>
              <a:rPr lang="ar-DZ" sz="2400" b="1" dirty="0" smtClean="0">
                <a:solidFill>
                  <a:schemeClr val="bg1"/>
                </a:solidFill>
              </a:rPr>
              <a:t> في </a:t>
            </a:r>
            <a:r>
              <a:rPr lang="ar-DZ" sz="2400" b="1" dirty="0" err="1" smtClean="0">
                <a:solidFill>
                  <a:schemeClr val="bg1"/>
                </a:solidFill>
              </a:rPr>
              <a:t>المحليل</a:t>
            </a:r>
            <a:r>
              <a:rPr lang="ar-DZ" sz="2400" b="1" dirty="0" smtClean="0">
                <a:solidFill>
                  <a:schemeClr val="bg1"/>
                </a:solidFill>
              </a:rPr>
              <a:t> </a:t>
            </a:r>
            <a:r>
              <a:rPr lang="ar-DZ" sz="2400" b="1" dirty="0" err="1" smtClean="0">
                <a:solidFill>
                  <a:schemeClr val="bg1"/>
                </a:solidFill>
              </a:rPr>
              <a:t>الشاردية</a:t>
            </a:r>
            <a:r>
              <a:rPr lang="ar-DZ" sz="24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نضع فوق ورق مبلل بمحلول </a:t>
            </a:r>
            <a:r>
              <a:rPr lang="ar-DZ" sz="2400" b="1" dirty="0" err="1" smtClean="0">
                <a:solidFill>
                  <a:schemeClr val="bg1"/>
                </a:solidFill>
              </a:rPr>
              <a:t>كلور</a:t>
            </a:r>
            <a:r>
              <a:rPr lang="ar-DZ" sz="2400" b="1" dirty="0" smtClean="0">
                <a:solidFill>
                  <a:schemeClr val="bg1"/>
                </a:solidFill>
              </a:rPr>
              <a:t> </a:t>
            </a:r>
            <a:r>
              <a:rPr lang="ar-DZ" sz="2400" b="1" dirty="0" err="1" smtClean="0">
                <a:solidFill>
                  <a:schemeClr val="bg1"/>
                </a:solidFill>
              </a:rPr>
              <a:t>البوتاسيوم</a:t>
            </a:r>
            <a:r>
              <a:rPr lang="ar-DZ" sz="2400" b="1" dirty="0" smtClean="0">
                <a:solidFill>
                  <a:schemeClr val="bg1"/>
                </a:solidFill>
              </a:rPr>
              <a:t> 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كمية قليلة من كبريتات النحاس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و كمية قليلة من فوق </a:t>
            </a:r>
            <a:r>
              <a:rPr lang="ar-DZ" sz="2400" b="1" dirty="0" err="1" smtClean="0">
                <a:solidFill>
                  <a:schemeClr val="bg1"/>
                </a:solidFill>
              </a:rPr>
              <a:t>برمنغنات</a:t>
            </a:r>
            <a:r>
              <a:rPr lang="ar-DZ" sz="2400" b="1" dirty="0" smtClean="0">
                <a:solidFill>
                  <a:schemeClr val="bg1"/>
                </a:solidFill>
              </a:rPr>
              <a:t> </a:t>
            </a:r>
            <a:r>
              <a:rPr lang="ar-DZ" sz="2400" b="1" dirty="0" err="1" smtClean="0">
                <a:solidFill>
                  <a:schemeClr val="bg1"/>
                </a:solidFill>
              </a:rPr>
              <a:t>البوتاسيوم</a:t>
            </a:r>
            <a:r>
              <a:rPr lang="ar-DZ" sz="2400" b="1" dirty="0" smtClean="0">
                <a:solidFill>
                  <a:schemeClr val="bg1"/>
                </a:solidFill>
              </a:rPr>
              <a:t> البنفسجية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الملاحة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حركة بقع  كبريتات النحاس </a:t>
            </a:r>
            <a:r>
              <a:rPr lang="ar-DZ" sz="2400" b="1" dirty="0" err="1" smtClean="0">
                <a:solidFill>
                  <a:schemeClr val="bg1"/>
                </a:solidFill>
              </a:rPr>
              <a:t>و</a:t>
            </a:r>
            <a:r>
              <a:rPr lang="ar-DZ" sz="2400" b="1" dirty="0" smtClean="0">
                <a:solidFill>
                  <a:schemeClr val="bg1"/>
                </a:solidFill>
              </a:rPr>
              <a:t> فوق </a:t>
            </a:r>
            <a:r>
              <a:rPr lang="ar-DZ" sz="2400" b="1" dirty="0" err="1" smtClean="0">
                <a:solidFill>
                  <a:schemeClr val="bg1"/>
                </a:solidFill>
              </a:rPr>
              <a:t>برمنغنات</a:t>
            </a:r>
            <a:r>
              <a:rPr lang="ar-DZ" sz="2400" b="1" dirty="0" smtClean="0">
                <a:solidFill>
                  <a:schemeClr val="bg1"/>
                </a:solidFill>
              </a:rPr>
              <a:t> </a:t>
            </a:r>
            <a:r>
              <a:rPr lang="ar-DZ" sz="2400" b="1" dirty="0" err="1" smtClean="0">
                <a:solidFill>
                  <a:schemeClr val="bg1"/>
                </a:solidFill>
              </a:rPr>
              <a:t>البوتاسيوم</a:t>
            </a:r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بشكل متعاكس دليل على حركة  حاملات الشحن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بشكل متعاكس  </a:t>
            </a: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النتيجة </a:t>
            </a:r>
          </a:p>
          <a:p>
            <a:pPr algn="r"/>
            <a:r>
              <a:rPr lang="ar-DZ" sz="2400" b="1" dirty="0" err="1" smtClean="0">
                <a:solidFill>
                  <a:srgbClr val="FF0000"/>
                </a:solidFill>
              </a:rPr>
              <a:t>ان</a:t>
            </a:r>
            <a:r>
              <a:rPr lang="ar-DZ" sz="2400" b="1" dirty="0" smtClean="0">
                <a:solidFill>
                  <a:srgbClr val="FF0000"/>
                </a:solidFill>
              </a:rPr>
              <a:t> سبب الذي يجعل المحاليل </a:t>
            </a:r>
            <a:r>
              <a:rPr lang="ar-DZ" sz="2400" b="1" dirty="0" err="1" smtClean="0">
                <a:solidFill>
                  <a:srgbClr val="FF0000"/>
                </a:solidFill>
              </a:rPr>
              <a:t>الشاردية</a:t>
            </a:r>
            <a:r>
              <a:rPr lang="ar-DZ" sz="2400" b="1" dirty="0" smtClean="0">
                <a:solidFill>
                  <a:srgbClr val="FF0000"/>
                </a:solidFill>
              </a:rPr>
              <a:t> </a:t>
            </a: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ناقلة للتيار الكهربائي هو انها تحتوي  </a:t>
            </a: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على حاملات الشحن </a:t>
            </a: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(</a:t>
            </a:r>
            <a:r>
              <a:rPr lang="ar-DZ" sz="2400" b="1" dirty="0" err="1" smtClean="0">
                <a:solidFill>
                  <a:srgbClr val="FF0000"/>
                </a:solidFill>
              </a:rPr>
              <a:t>الشوارد</a:t>
            </a:r>
            <a:r>
              <a:rPr lang="ar-DZ" sz="2400" b="1" dirty="0" smtClean="0">
                <a:solidFill>
                  <a:srgbClr val="FF0000"/>
                </a:solidFill>
              </a:rPr>
              <a:t> الموجبة </a:t>
            </a:r>
            <a:r>
              <a:rPr lang="ar-DZ" sz="2400" b="1" dirty="0" err="1" smtClean="0">
                <a:solidFill>
                  <a:srgbClr val="FF0000"/>
                </a:solidFill>
              </a:rPr>
              <a:t>و</a:t>
            </a:r>
            <a:r>
              <a:rPr lang="ar-DZ" sz="2400" b="1" dirty="0" smtClean="0">
                <a:solidFill>
                  <a:srgbClr val="FF0000"/>
                </a:solidFill>
              </a:rPr>
              <a:t> </a:t>
            </a:r>
            <a:r>
              <a:rPr lang="ar-DZ" sz="2400" b="1" dirty="0" err="1" smtClean="0">
                <a:solidFill>
                  <a:srgbClr val="FF0000"/>
                </a:solidFill>
              </a:rPr>
              <a:t>الشوارد</a:t>
            </a:r>
            <a:r>
              <a:rPr lang="ar-DZ" sz="2400" b="1" dirty="0" smtClean="0">
                <a:solidFill>
                  <a:srgbClr val="FF0000"/>
                </a:solidFill>
              </a:rPr>
              <a:t> السالبة )</a:t>
            </a: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التي تتحرك بشكل متعاكس</a:t>
            </a: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 ومنه تنقل التيار الكهربائي 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 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      </a:t>
            </a: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ctr"/>
            <a:endParaRPr lang="ar-DZ" dirty="0" smtClean="0"/>
          </a:p>
          <a:p>
            <a:pPr algn="ctr"/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357158" y="4857760"/>
            <a:ext cx="3929090" cy="178595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1714480" y="5000636"/>
            <a:ext cx="714380" cy="57150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9" name="Ellipse 8"/>
          <p:cNvSpPr/>
          <p:nvPr/>
        </p:nvSpPr>
        <p:spPr>
          <a:xfrm>
            <a:off x="1714480" y="6072206"/>
            <a:ext cx="714380" cy="57150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cxnSp>
        <p:nvCxnSpPr>
          <p:cNvPr id="11" name="Connecteur droit avec flèche 10"/>
          <p:cNvCxnSpPr/>
          <p:nvPr/>
        </p:nvCxnSpPr>
        <p:spPr>
          <a:xfrm>
            <a:off x="2214546" y="5214950"/>
            <a:ext cx="571504" cy="1588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 rot="10800000">
            <a:off x="1142976" y="6429396"/>
            <a:ext cx="714380" cy="1588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214282" y="4786322"/>
            <a:ext cx="500066" cy="15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 rot="5400000">
            <a:off x="-70676" y="4500570"/>
            <a:ext cx="570710" cy="79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>
            <a:off x="214282" y="4286256"/>
            <a:ext cx="1143008" cy="15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>
            <a:off x="3857620" y="4786322"/>
            <a:ext cx="357190" cy="15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 rot="5400000">
            <a:off x="3929058" y="4500570"/>
            <a:ext cx="571504" cy="15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1714480" y="4286256"/>
            <a:ext cx="2500330" cy="15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 rot="5400000">
            <a:off x="1035819" y="4250537"/>
            <a:ext cx="644530" cy="15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rot="5400000">
            <a:off x="1500166" y="4286256"/>
            <a:ext cx="430216" cy="15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lipse 30"/>
          <p:cNvSpPr/>
          <p:nvPr/>
        </p:nvSpPr>
        <p:spPr>
          <a:xfrm>
            <a:off x="1357290" y="5572140"/>
            <a:ext cx="714380" cy="57150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2" name="Ellipse 31"/>
          <p:cNvSpPr/>
          <p:nvPr/>
        </p:nvSpPr>
        <p:spPr>
          <a:xfrm>
            <a:off x="2357422" y="5500702"/>
            <a:ext cx="714380" cy="571504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+</a:t>
            </a:r>
            <a:endParaRPr lang="fr-FR" sz="2800" b="1" dirty="0">
              <a:solidFill>
                <a:schemeClr val="bg1"/>
              </a:solidFill>
            </a:endParaRPr>
          </a:p>
        </p:txBody>
      </p:sp>
      <p:cxnSp>
        <p:nvCxnSpPr>
          <p:cNvPr id="33" name="Connecteur droit avec flèche 32"/>
          <p:cNvCxnSpPr/>
          <p:nvPr/>
        </p:nvCxnSpPr>
        <p:spPr>
          <a:xfrm>
            <a:off x="2928926" y="5786454"/>
            <a:ext cx="571504" cy="1588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/>
          <p:nvPr/>
        </p:nvCxnSpPr>
        <p:spPr>
          <a:xfrm rot="10800000">
            <a:off x="857224" y="5857892"/>
            <a:ext cx="714380" cy="1588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/>
        </p:nvCxnSpPr>
        <p:spPr>
          <a:xfrm rot="5400000" flipH="1" flipV="1">
            <a:off x="3072596" y="5499908"/>
            <a:ext cx="1571636" cy="15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 rot="5400000" flipH="1" flipV="1">
            <a:off x="-106395" y="5535627"/>
            <a:ext cx="1643074" cy="15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avec flèche vers la gauche 24"/>
          <p:cNvSpPr/>
          <p:nvPr/>
        </p:nvSpPr>
        <p:spPr>
          <a:xfrm>
            <a:off x="7055768" y="0"/>
            <a:ext cx="2088232" cy="648072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3</a:t>
            </a:r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27" name="Image 26" descr="maxresdefault.jpg"/>
          <p:cNvPicPr>
            <a:picLocks noChangeAspect="1"/>
          </p:cNvPicPr>
          <p:nvPr/>
        </p:nvPicPr>
        <p:blipFill>
          <a:blip r:embed="rId3" cstate="print"/>
          <a:srcRect t="19444" r="486"/>
          <a:stretch>
            <a:fillRect/>
          </a:stretch>
        </p:blipFill>
        <p:spPr>
          <a:xfrm>
            <a:off x="0" y="908720"/>
            <a:ext cx="3275856" cy="16561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net_17_16_0818_832742fb4617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4" name="Rectangle à coins arrondis 3"/>
          <p:cNvSpPr/>
          <p:nvPr/>
        </p:nvSpPr>
        <p:spPr>
          <a:xfrm>
            <a:off x="0" y="1484784"/>
            <a:ext cx="9144000" cy="537321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تحديد عدد الالكترونات و عدد البروتونات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في ذرتي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الصوديوم و </a:t>
            </a:r>
            <a:r>
              <a:rPr lang="ar-DZ" sz="2400" b="1" dirty="0" err="1" smtClean="0">
                <a:solidFill>
                  <a:schemeClr val="bg1"/>
                </a:solidFill>
              </a:rPr>
              <a:t>الكلور</a:t>
            </a:r>
            <a:r>
              <a:rPr lang="ar-DZ" sz="2400" b="1" dirty="0" smtClean="0">
                <a:solidFill>
                  <a:schemeClr val="bg1"/>
                </a:solidFill>
              </a:rPr>
              <a:t> وما يمكن ان نفقد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و تكتسب  كل واحدة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الملاحظة  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ان ذرة </a:t>
            </a:r>
            <a:r>
              <a:rPr lang="ar-DZ" sz="2400" b="1" dirty="0" err="1" smtClean="0">
                <a:solidFill>
                  <a:schemeClr val="bg1"/>
                </a:solidFill>
              </a:rPr>
              <a:t>الكلور</a:t>
            </a:r>
            <a:r>
              <a:rPr lang="ar-DZ" sz="2400" b="1" dirty="0" smtClean="0">
                <a:solidFill>
                  <a:schemeClr val="bg1"/>
                </a:solidFill>
              </a:rPr>
              <a:t> فيها  17  الكترون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وفي مدارها الاخير 7 الكترون معناها يمكن ان تكتسب 1 الكترون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و تصبح شاردة </a:t>
            </a:r>
            <a:r>
              <a:rPr lang="ar-DZ" sz="2400" b="1" dirty="0" err="1" smtClean="0">
                <a:solidFill>
                  <a:schemeClr val="bg1"/>
                </a:solidFill>
              </a:rPr>
              <a:t>الكلور</a:t>
            </a:r>
            <a:r>
              <a:rPr lang="ar-DZ" sz="2400" b="1" dirty="0" smtClean="0">
                <a:solidFill>
                  <a:schemeClr val="bg1"/>
                </a:solidFill>
              </a:rPr>
              <a:t> وهي شاردة سالبة  حسب المعادلة التالية </a:t>
            </a:r>
          </a:p>
          <a:p>
            <a:pPr algn="ctr"/>
            <a:r>
              <a:rPr lang="fr-FR" sz="2400" b="1" dirty="0" smtClean="0">
                <a:solidFill>
                  <a:schemeClr val="bg1"/>
                </a:solidFill>
              </a:rPr>
              <a:t>Cl  </a:t>
            </a:r>
            <a:r>
              <a:rPr lang="ar-DZ" sz="2400" b="1" dirty="0" smtClean="0">
                <a:solidFill>
                  <a:schemeClr val="bg1"/>
                </a:solidFill>
              </a:rPr>
              <a:t>    </a:t>
            </a:r>
            <a:r>
              <a:rPr lang="ar-DZ" sz="2400" b="1" dirty="0" err="1" smtClean="0">
                <a:solidFill>
                  <a:schemeClr val="bg1"/>
                </a:solidFill>
              </a:rPr>
              <a:t>+</a:t>
            </a:r>
            <a:r>
              <a:rPr lang="ar-DZ" sz="2400" b="1" dirty="0" smtClean="0">
                <a:solidFill>
                  <a:schemeClr val="bg1"/>
                </a:solidFill>
              </a:rPr>
              <a:t> </a:t>
            </a:r>
            <a:r>
              <a:rPr lang="fr-FR" sz="2400" b="1" dirty="0" smtClean="0">
                <a:solidFill>
                  <a:schemeClr val="bg1"/>
                </a:solidFill>
              </a:rPr>
              <a:t>e- </a:t>
            </a:r>
            <a:r>
              <a:rPr lang="ar-DZ" sz="2400" b="1" dirty="0" smtClean="0">
                <a:solidFill>
                  <a:schemeClr val="bg1"/>
                </a:solidFill>
              </a:rPr>
              <a:t>                 </a:t>
            </a:r>
            <a:r>
              <a:rPr lang="fr-FR" sz="2400" b="1" dirty="0" smtClean="0">
                <a:solidFill>
                  <a:schemeClr val="bg1"/>
                </a:solidFill>
              </a:rPr>
              <a:t>Cl</a:t>
            </a:r>
            <a:r>
              <a:rPr lang="fr-FR" sz="2400" b="1" baseline="30000" dirty="0" smtClean="0">
                <a:solidFill>
                  <a:schemeClr val="bg1"/>
                </a:solidFill>
              </a:rPr>
              <a:t>-</a:t>
            </a:r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و ذرة الصوديوم فيها 11 الكترون و  في مدارها الاخير 1 الكترون معناها يمكن ان تفقد 1 الكترون  و تصبح شاردة الصوديوم  وهي شاردة موجبة حسب المعادلة التالية </a:t>
            </a:r>
          </a:p>
          <a:p>
            <a:pPr algn="ctr"/>
            <a:r>
              <a:rPr lang="fr-FR" sz="2400" b="1" dirty="0" smtClean="0">
                <a:solidFill>
                  <a:schemeClr val="bg1"/>
                </a:solidFill>
              </a:rPr>
              <a:t>Na  </a:t>
            </a:r>
            <a:r>
              <a:rPr lang="ar-DZ" sz="2400" b="1" dirty="0" smtClean="0">
                <a:solidFill>
                  <a:schemeClr val="bg1"/>
                </a:solidFill>
              </a:rPr>
              <a:t>                      </a:t>
            </a:r>
            <a:r>
              <a:rPr lang="fr-FR" sz="2400" b="1" dirty="0" smtClean="0">
                <a:solidFill>
                  <a:schemeClr val="bg1"/>
                </a:solidFill>
              </a:rPr>
              <a:t> Na</a:t>
            </a:r>
            <a:r>
              <a:rPr lang="fr-FR" sz="2400" b="1" baseline="30000" dirty="0" smtClean="0">
                <a:solidFill>
                  <a:schemeClr val="bg1"/>
                </a:solidFill>
              </a:rPr>
              <a:t>+</a:t>
            </a:r>
            <a:r>
              <a:rPr lang="fr-FR" sz="2400" b="1" dirty="0" smtClean="0">
                <a:solidFill>
                  <a:schemeClr val="bg1"/>
                </a:solidFill>
              </a:rPr>
              <a:t>  + e-</a:t>
            </a:r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0" y="764704"/>
            <a:ext cx="7740352" cy="69269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-الشاردة الموجبة و الشاردة السالبة </a:t>
            </a:r>
            <a:endParaRPr lang="fr-FR" sz="3600" b="1" dirty="0">
              <a:solidFill>
                <a:schemeClr val="bg1"/>
              </a:solidFill>
            </a:endParaRPr>
          </a:p>
        </p:txBody>
      </p:sp>
      <p:pic>
        <p:nvPicPr>
          <p:cNvPr id="10" name="Image 9" descr="http://elbassair.net/wp-content/uploads/2012/12/4am1-16-4.gif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556792"/>
            <a:ext cx="4499992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avec flèche vers la gauche 5"/>
          <p:cNvSpPr/>
          <p:nvPr/>
        </p:nvSpPr>
        <p:spPr>
          <a:xfrm>
            <a:off x="7343800" y="0"/>
            <a:ext cx="1800200" cy="648072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الدرس 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0" y="0"/>
            <a:ext cx="7956376" cy="76470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الشاردة والمحلول الشاردي 2 </a:t>
            </a:r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9" name="Rectangle avec flèche vers la gauche 8"/>
          <p:cNvSpPr/>
          <p:nvPr/>
        </p:nvSpPr>
        <p:spPr>
          <a:xfrm>
            <a:off x="7055768" y="836712"/>
            <a:ext cx="2088232" cy="648072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cxnSp>
        <p:nvCxnSpPr>
          <p:cNvPr id="12" name="Connecteur droit avec flèche 11"/>
          <p:cNvCxnSpPr/>
          <p:nvPr/>
        </p:nvCxnSpPr>
        <p:spPr>
          <a:xfrm>
            <a:off x="4499992" y="5445224"/>
            <a:ext cx="1080120" cy="0"/>
          </a:xfrm>
          <a:prstGeom prst="straightConnector1">
            <a:avLst/>
          </a:prstGeom>
          <a:ln w="508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>
            <a:off x="3851920" y="6525344"/>
            <a:ext cx="1080120" cy="0"/>
          </a:xfrm>
          <a:prstGeom prst="straightConnector1">
            <a:avLst/>
          </a:prstGeom>
          <a:ln w="508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1043608" y="2708920"/>
            <a:ext cx="1944216" cy="0"/>
          </a:xfrm>
          <a:prstGeom prst="straightConnector1">
            <a:avLst/>
          </a:prstGeom>
          <a:ln w="508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1403648" y="4149080"/>
            <a:ext cx="1944216" cy="0"/>
          </a:xfrm>
          <a:prstGeom prst="straightConnector1">
            <a:avLst/>
          </a:prstGeom>
          <a:ln w="508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net_17_16_0818_832742fb4617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4" name="Rectangle à coins arrondis 3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الاستنتاج </a:t>
            </a: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-الشاردة وهي كل ذرة متعادلة كهربائيا اما تفقد 1او2او3 الكترون  او تكتسب 1او2 او3 الكترون      </a:t>
            </a:r>
            <a:endParaRPr lang="fr-FR" sz="2400" b="1" dirty="0" smtClean="0">
              <a:solidFill>
                <a:srgbClr val="FF0000"/>
              </a:solidFill>
            </a:endParaRP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-الشاردة السالبة و هي كل ذرة تكتسب الكترون او اكثر </a:t>
            </a: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اما الشاردة الموجبة وهي كل ذرة تفقد  </a:t>
            </a:r>
            <a:r>
              <a:rPr lang="ar-DZ" sz="2400" b="1" dirty="0" err="1" smtClean="0">
                <a:solidFill>
                  <a:srgbClr val="FF0000"/>
                </a:solidFill>
              </a:rPr>
              <a:t>كترون</a:t>
            </a:r>
            <a:r>
              <a:rPr lang="ar-DZ" sz="2400" b="1" dirty="0" smtClean="0">
                <a:solidFill>
                  <a:srgbClr val="FF0000"/>
                </a:solidFill>
              </a:rPr>
              <a:t>  او اكثر </a:t>
            </a: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err="1" smtClean="0">
                <a:solidFill>
                  <a:schemeClr val="bg1"/>
                </a:solidFill>
              </a:rPr>
              <a:t>امثلة</a:t>
            </a:r>
            <a:r>
              <a:rPr lang="ar-DZ" sz="2000" b="1" dirty="0" smtClean="0">
                <a:solidFill>
                  <a:schemeClr val="bg1"/>
                </a:solidFill>
              </a:rPr>
              <a:t>  </a:t>
            </a: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  </a:t>
            </a:r>
            <a:br>
              <a:rPr lang="ar-DZ" sz="2000" b="1" dirty="0" smtClean="0">
                <a:solidFill>
                  <a:schemeClr val="bg1"/>
                </a:solidFill>
              </a:rPr>
            </a:b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dirty="0">
              <a:solidFill>
                <a:schemeClr val="bg1"/>
              </a:solidFill>
            </a:endParaRPr>
          </a:p>
        </p:txBody>
      </p:sp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395536" y="2286000"/>
          <a:ext cx="7776864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432"/>
                <a:gridCol w="388843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DZ" sz="2000" dirty="0" err="1" smtClean="0">
                          <a:solidFill>
                            <a:schemeClr val="bg1"/>
                          </a:solidFill>
                        </a:rPr>
                        <a:t>شوارد</a:t>
                      </a:r>
                      <a:r>
                        <a:rPr lang="ar-DZ" sz="2000" dirty="0" smtClean="0">
                          <a:solidFill>
                            <a:schemeClr val="bg1"/>
                          </a:solidFill>
                        </a:rPr>
                        <a:t> سالبة  </a:t>
                      </a: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000" dirty="0" err="1" smtClean="0">
                          <a:solidFill>
                            <a:schemeClr val="bg1"/>
                          </a:solidFill>
                        </a:rPr>
                        <a:t>شوارد</a:t>
                      </a:r>
                      <a:r>
                        <a:rPr lang="ar-DZ" sz="2000" dirty="0" smtClean="0">
                          <a:solidFill>
                            <a:schemeClr val="bg1"/>
                          </a:solidFill>
                        </a:rPr>
                        <a:t> موجبة </a:t>
                      </a: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4178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شاردة </a:t>
                      </a:r>
                      <a:r>
                        <a:rPr kumimoji="0" lang="ar-DZ" sz="20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الكلور</a:t>
                      </a:r>
                      <a:r>
                        <a:rPr kumimoji="0"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</a:t>
                      </a:r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شاردة الهيدروجين      </a:t>
                      </a:r>
                      <a:endParaRPr kumimoji="0" lang="fr-FR" sz="20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846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OH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شاردة </a:t>
                      </a:r>
                      <a:r>
                        <a:rPr kumimoji="0" lang="ar-DZ" sz="20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الهيدروكسيد</a:t>
                      </a:r>
                      <a:r>
                        <a:rPr kumimoji="0"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endParaRPr kumimoji="0" lang="fr-FR" sz="20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ar-DZ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شاردة الصوديوم      </a:t>
                      </a:r>
                      <a:endParaRPr kumimoji="0" lang="fr-FR" sz="20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</a:t>
                      </a:r>
                      <a:r>
                        <a:rPr kumimoji="0" lang="fr-FR" sz="2000" b="1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شاردة الكربونات          </a:t>
                      </a:r>
                      <a:endParaRPr kumimoji="0" lang="fr-FR" sz="20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2+</a:t>
                      </a:r>
                      <a:r>
                        <a:rPr kumimoji="0"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شاردة </a:t>
                      </a:r>
                      <a:r>
                        <a:rPr kumimoji="0" lang="ar-DZ" sz="20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االحديد</a:t>
                      </a:r>
                      <a:r>
                        <a:rPr kumimoji="0"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الثنائي    </a:t>
                      </a:r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</a:t>
                      </a:r>
                      <a:r>
                        <a:rPr kumimoji="0" lang="fr-FR" sz="2000" b="1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2-</a:t>
                      </a:r>
                      <a:r>
                        <a:rPr kumimoji="0"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شاردة الكبريتات         </a:t>
                      </a:r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3+</a:t>
                      </a:r>
                      <a:r>
                        <a:rPr kumimoji="0"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شاردة </a:t>
                      </a:r>
                      <a:r>
                        <a:rPr kumimoji="0" lang="ar-DZ" sz="20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الالومنيوم</a:t>
                      </a:r>
                      <a:r>
                        <a:rPr kumimoji="0"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endParaRPr kumimoji="0" lang="fr-FR" sz="20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fr-FR" sz="2000" b="1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شاردة </a:t>
                      </a:r>
                      <a:r>
                        <a:rPr kumimoji="0" lang="ar-DZ" sz="20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النترات</a:t>
                      </a:r>
                      <a:r>
                        <a:rPr kumimoji="0"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endParaRPr kumimoji="0" lang="fr-FR" sz="20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2+</a:t>
                      </a:r>
                      <a:r>
                        <a:rPr kumimoji="0"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شاردة الكالسيوم      </a:t>
                      </a:r>
                      <a:endParaRPr kumimoji="0" lang="fr-FR" sz="20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5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0" y="0"/>
            <a:ext cx="7740352" cy="69269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الشاردة البسيطة و الشاردة المركبة </a:t>
            </a:r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0" y="692696"/>
            <a:ext cx="9144000" cy="616530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صنف </a:t>
            </a:r>
            <a:r>
              <a:rPr lang="ar-DZ" sz="2400" b="1" dirty="0" err="1" smtClean="0">
                <a:solidFill>
                  <a:schemeClr val="bg1"/>
                </a:solidFill>
              </a:rPr>
              <a:t>الشوارد</a:t>
            </a:r>
            <a:r>
              <a:rPr lang="ar-DZ" sz="2400" b="1" dirty="0" smtClean="0">
                <a:solidFill>
                  <a:schemeClr val="bg1"/>
                </a:solidFill>
              </a:rPr>
              <a:t> التالية الى </a:t>
            </a:r>
            <a:r>
              <a:rPr lang="ar-DZ" sz="2400" b="1" dirty="0" err="1" smtClean="0">
                <a:solidFill>
                  <a:schemeClr val="bg1"/>
                </a:solidFill>
              </a:rPr>
              <a:t>شوارد</a:t>
            </a:r>
            <a:r>
              <a:rPr lang="ar-DZ" sz="2400" b="1" dirty="0" smtClean="0">
                <a:solidFill>
                  <a:schemeClr val="bg1"/>
                </a:solidFill>
              </a:rPr>
              <a:t> تتكون من  نوع واحد من </a:t>
            </a:r>
            <a:r>
              <a:rPr lang="ar-DZ" sz="2400" b="1" dirty="0" err="1" smtClean="0">
                <a:solidFill>
                  <a:schemeClr val="bg1"/>
                </a:solidFill>
              </a:rPr>
              <a:t>الذرات</a:t>
            </a:r>
            <a:r>
              <a:rPr lang="ar-DZ" sz="2400" b="1" dirty="0" smtClean="0">
                <a:solidFill>
                  <a:schemeClr val="bg1"/>
                </a:solidFill>
              </a:rPr>
              <a:t> (بسيطة</a:t>
            </a:r>
            <a:r>
              <a:rPr lang="ar-DZ" sz="2400" b="1" dirty="0" err="1" smtClean="0">
                <a:solidFill>
                  <a:schemeClr val="bg1"/>
                </a:solidFill>
              </a:rPr>
              <a:t>)</a:t>
            </a:r>
            <a:r>
              <a:rPr lang="ar-DZ" sz="24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و </a:t>
            </a:r>
            <a:r>
              <a:rPr lang="ar-DZ" sz="2400" b="1" dirty="0" err="1" smtClean="0">
                <a:solidFill>
                  <a:schemeClr val="bg1"/>
                </a:solidFill>
              </a:rPr>
              <a:t>شوارد</a:t>
            </a:r>
            <a:r>
              <a:rPr lang="ar-DZ" sz="2400" b="1" dirty="0" smtClean="0">
                <a:solidFill>
                  <a:schemeClr val="bg1"/>
                </a:solidFill>
              </a:rPr>
              <a:t> تتكون من عدة </a:t>
            </a:r>
            <a:r>
              <a:rPr lang="ar-DZ" sz="2400" b="1" dirty="0" err="1" smtClean="0">
                <a:solidFill>
                  <a:schemeClr val="bg1"/>
                </a:solidFill>
              </a:rPr>
              <a:t>ذرات</a:t>
            </a:r>
            <a:r>
              <a:rPr lang="ar-DZ" sz="2400" b="1" dirty="0" smtClean="0">
                <a:solidFill>
                  <a:schemeClr val="bg1"/>
                </a:solidFill>
              </a:rPr>
              <a:t> (مركبة)  في الجدول</a:t>
            </a:r>
          </a:p>
          <a:p>
            <a:pPr algn="ctr"/>
            <a:r>
              <a:rPr lang="fr-FR" sz="2400" b="1" dirty="0" smtClean="0">
                <a:solidFill>
                  <a:schemeClr val="bg1"/>
                </a:solidFill>
              </a:rPr>
              <a:t>H</a:t>
            </a:r>
            <a:r>
              <a:rPr lang="fr-FR" sz="2400" b="1" baseline="30000" dirty="0" smtClean="0">
                <a:solidFill>
                  <a:schemeClr val="bg1"/>
                </a:solidFill>
              </a:rPr>
              <a:t>+</a:t>
            </a:r>
            <a:r>
              <a:rPr lang="fr-FR" sz="2400" b="1" dirty="0" smtClean="0">
                <a:solidFill>
                  <a:schemeClr val="bg1"/>
                </a:solidFill>
              </a:rPr>
              <a:t>        OH</a:t>
            </a:r>
            <a:r>
              <a:rPr lang="fr-FR" sz="2400" b="1" baseline="30000" dirty="0" smtClean="0">
                <a:solidFill>
                  <a:schemeClr val="bg1"/>
                </a:solidFill>
              </a:rPr>
              <a:t>-</a:t>
            </a:r>
            <a:r>
              <a:rPr lang="fr-FR" sz="2400" b="1" dirty="0" smtClean="0">
                <a:solidFill>
                  <a:schemeClr val="bg1"/>
                </a:solidFill>
              </a:rPr>
              <a:t>       NO</a:t>
            </a:r>
            <a:r>
              <a:rPr lang="fr-FR" sz="2400" b="1" baseline="-25000" dirty="0" smtClean="0">
                <a:solidFill>
                  <a:schemeClr val="bg1"/>
                </a:solidFill>
              </a:rPr>
              <a:t>3</a:t>
            </a:r>
            <a:r>
              <a:rPr lang="fr-FR" sz="2400" b="1" baseline="30000" dirty="0" smtClean="0">
                <a:solidFill>
                  <a:schemeClr val="bg1"/>
                </a:solidFill>
              </a:rPr>
              <a:t>-</a:t>
            </a:r>
            <a:r>
              <a:rPr lang="fr-FR" sz="2400" b="1" dirty="0" smtClean="0">
                <a:solidFill>
                  <a:schemeClr val="bg1"/>
                </a:solidFill>
              </a:rPr>
              <a:t>        Cl</a:t>
            </a:r>
            <a:r>
              <a:rPr lang="fr-FR" sz="2400" b="1" baseline="30000" dirty="0" smtClean="0">
                <a:solidFill>
                  <a:schemeClr val="bg1"/>
                </a:solidFill>
              </a:rPr>
              <a:t>-</a:t>
            </a:r>
            <a:r>
              <a:rPr lang="fr-FR" sz="2400" b="1" dirty="0" smtClean="0">
                <a:solidFill>
                  <a:schemeClr val="bg1"/>
                </a:solidFill>
              </a:rPr>
              <a:t>        Na</a:t>
            </a:r>
            <a:r>
              <a:rPr lang="fr-FR" sz="2400" b="1" baseline="30000" dirty="0" smtClean="0">
                <a:solidFill>
                  <a:schemeClr val="bg1"/>
                </a:solidFill>
              </a:rPr>
              <a:t>+</a:t>
            </a:r>
            <a:r>
              <a:rPr lang="fr-FR" sz="2400" b="1" dirty="0" smtClean="0">
                <a:solidFill>
                  <a:schemeClr val="bg1"/>
                </a:solidFill>
              </a:rPr>
              <a:t>    SO</a:t>
            </a:r>
            <a:r>
              <a:rPr lang="fr-FR" sz="2400" b="1" baseline="-25000" dirty="0" smtClean="0">
                <a:solidFill>
                  <a:schemeClr val="bg1"/>
                </a:solidFill>
              </a:rPr>
              <a:t>4</a:t>
            </a:r>
            <a:r>
              <a:rPr lang="fr-FR" sz="2400" b="1" baseline="30000" dirty="0" smtClean="0">
                <a:solidFill>
                  <a:schemeClr val="bg1"/>
                </a:solidFill>
              </a:rPr>
              <a:t>2-</a:t>
            </a:r>
            <a:r>
              <a:rPr lang="fr-FR" sz="24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الملاحظة  </a:t>
            </a:r>
            <a:r>
              <a:rPr lang="ar-DZ" sz="2400" b="1" dirty="0" err="1" smtClean="0">
                <a:solidFill>
                  <a:schemeClr val="bg1"/>
                </a:solidFill>
              </a:rPr>
              <a:t>ان</a:t>
            </a:r>
            <a:r>
              <a:rPr lang="ar-DZ" sz="2400" b="1" dirty="0" smtClean="0">
                <a:solidFill>
                  <a:schemeClr val="bg1"/>
                </a:solidFill>
              </a:rPr>
              <a:t> </a:t>
            </a:r>
            <a:r>
              <a:rPr lang="ar-DZ" sz="2400" b="1" dirty="0" err="1" smtClean="0">
                <a:solidFill>
                  <a:schemeClr val="bg1"/>
                </a:solidFill>
              </a:rPr>
              <a:t>الشوارد</a:t>
            </a:r>
            <a:r>
              <a:rPr lang="ar-DZ" sz="2400" b="1" dirty="0" smtClean="0">
                <a:solidFill>
                  <a:schemeClr val="bg1"/>
                </a:solidFill>
              </a:rPr>
              <a:t> البسيطة تتكون من ذرة واحدة </a:t>
            </a:r>
            <a:r>
              <a:rPr lang="ar-DZ" sz="2400" b="1" dirty="0" err="1" smtClean="0">
                <a:solidFill>
                  <a:schemeClr val="bg1"/>
                </a:solidFill>
              </a:rPr>
              <a:t>اما</a:t>
            </a:r>
            <a:r>
              <a:rPr lang="ar-DZ" sz="2400" b="1" dirty="0" smtClean="0">
                <a:solidFill>
                  <a:schemeClr val="bg1"/>
                </a:solidFill>
              </a:rPr>
              <a:t> </a:t>
            </a:r>
            <a:r>
              <a:rPr lang="ar-DZ" sz="2400" b="1" dirty="0" err="1" smtClean="0">
                <a:solidFill>
                  <a:schemeClr val="bg1"/>
                </a:solidFill>
              </a:rPr>
              <a:t>الشوارد</a:t>
            </a:r>
            <a:r>
              <a:rPr lang="ar-DZ" sz="2400" b="1" dirty="0" smtClean="0">
                <a:solidFill>
                  <a:schemeClr val="bg1"/>
                </a:solidFill>
              </a:rPr>
              <a:t> المركبة تتكون من عدة </a:t>
            </a:r>
            <a:r>
              <a:rPr lang="ar-DZ" sz="2400" b="1" dirty="0" err="1" smtClean="0">
                <a:solidFill>
                  <a:schemeClr val="bg1"/>
                </a:solidFill>
              </a:rPr>
              <a:t>ذرات</a:t>
            </a:r>
            <a:r>
              <a:rPr lang="ar-DZ" sz="2400" b="1" dirty="0" smtClean="0">
                <a:solidFill>
                  <a:schemeClr val="bg1"/>
                </a:solidFill>
              </a:rPr>
              <a:t>  </a:t>
            </a: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النتيجة </a:t>
            </a:r>
          </a:p>
          <a:p>
            <a:pPr algn="r"/>
            <a:r>
              <a:rPr lang="ar-DZ" sz="2400" b="1" dirty="0" smtClean="0">
                <a:solidFill>
                  <a:srgbClr val="FF0000"/>
                </a:solidFill>
              </a:rPr>
              <a:t>الشاردة البسيطة </a:t>
            </a:r>
            <a:r>
              <a:rPr lang="ar-DZ" sz="2400" b="1" dirty="0" err="1" smtClean="0">
                <a:solidFill>
                  <a:srgbClr val="FF0000"/>
                </a:solidFill>
              </a:rPr>
              <a:t>و</a:t>
            </a:r>
            <a:r>
              <a:rPr lang="ar-DZ" sz="2400" b="1" dirty="0" smtClean="0">
                <a:solidFill>
                  <a:srgbClr val="FF0000"/>
                </a:solidFill>
              </a:rPr>
              <a:t> هي كل شاردة مكونة من ذرة واحدة </a:t>
            </a:r>
            <a:r>
              <a:rPr lang="ar-DZ" sz="2400" b="1" dirty="0" err="1" smtClean="0">
                <a:solidFill>
                  <a:srgbClr val="FF0000"/>
                </a:solidFill>
              </a:rPr>
              <a:t>اما</a:t>
            </a:r>
            <a:r>
              <a:rPr lang="ar-DZ" sz="2400" b="1" dirty="0" smtClean="0">
                <a:solidFill>
                  <a:srgbClr val="FF0000"/>
                </a:solidFill>
              </a:rPr>
              <a:t> الشاردة المركبة فتتكون من عدة </a:t>
            </a:r>
            <a:r>
              <a:rPr lang="ar-DZ" sz="2400" b="1" dirty="0" err="1" smtClean="0">
                <a:solidFill>
                  <a:srgbClr val="FF0000"/>
                </a:solidFill>
              </a:rPr>
              <a:t>ذرات</a:t>
            </a:r>
            <a:r>
              <a:rPr lang="ar-DZ" sz="2400" b="1" dirty="0" smtClean="0">
                <a:solidFill>
                  <a:srgbClr val="FF0000"/>
                </a:solidFill>
              </a:rPr>
              <a:t>   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    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714480" y="2143116"/>
          <a:ext cx="6096000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DZ" sz="2000" dirty="0" err="1" smtClean="0">
                          <a:solidFill>
                            <a:schemeClr val="bg1"/>
                          </a:solidFill>
                        </a:rPr>
                        <a:t>شوارد</a:t>
                      </a:r>
                      <a:r>
                        <a:rPr lang="ar-DZ" sz="2000" dirty="0" smtClean="0">
                          <a:solidFill>
                            <a:schemeClr val="bg1"/>
                          </a:solidFill>
                        </a:rPr>
                        <a:t> مركبة  </a:t>
                      </a: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000" dirty="0" err="1" smtClean="0">
                          <a:solidFill>
                            <a:schemeClr val="bg1"/>
                          </a:solidFill>
                        </a:rPr>
                        <a:t>شوارد</a:t>
                      </a:r>
                      <a:r>
                        <a:rPr lang="ar-DZ" sz="2000" dirty="0" smtClean="0">
                          <a:solidFill>
                            <a:schemeClr val="bg1"/>
                          </a:solidFill>
                        </a:rPr>
                        <a:t> بسيطة </a:t>
                      </a:r>
                    </a:p>
                    <a:p>
                      <a:pPr algn="ctr"/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>
                          <a:solidFill>
                            <a:schemeClr val="bg1"/>
                          </a:solidFill>
                        </a:rPr>
                        <a:t>OH</a:t>
                      </a:r>
                      <a:r>
                        <a:rPr lang="fr-FR" sz="1800" b="1" baseline="30000" dirty="0" smtClean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>
                          <a:solidFill>
                            <a:schemeClr val="bg1"/>
                          </a:solidFill>
                        </a:rPr>
                        <a:t>H</a:t>
                      </a:r>
                      <a:r>
                        <a:rPr lang="fr-FR" sz="1800" b="1" baseline="30000" dirty="0" smtClean="0">
                          <a:solidFill>
                            <a:schemeClr val="bg1"/>
                          </a:solidFill>
                        </a:rPr>
                        <a:t>+</a:t>
                      </a:r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>
                          <a:solidFill>
                            <a:schemeClr val="bg1"/>
                          </a:solidFill>
                        </a:rPr>
                        <a:t>NO</a:t>
                      </a:r>
                      <a:r>
                        <a:rPr lang="fr-FR" sz="1800" b="1" baseline="-250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fr-FR" sz="1800" b="1" baseline="30000" dirty="0" smtClean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>
                          <a:solidFill>
                            <a:schemeClr val="bg1"/>
                          </a:solidFill>
                        </a:rPr>
                        <a:t>Cl</a:t>
                      </a:r>
                      <a:r>
                        <a:rPr lang="fr-FR" sz="1800" b="1" baseline="30000" dirty="0" smtClean="0">
                          <a:solidFill>
                            <a:schemeClr val="bg1"/>
                          </a:solidFill>
                        </a:rPr>
                        <a:t>+</a:t>
                      </a:r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>
                          <a:solidFill>
                            <a:schemeClr val="bg1"/>
                          </a:solidFill>
                        </a:rPr>
                        <a:t>SO</a:t>
                      </a:r>
                      <a:r>
                        <a:rPr lang="fr-FR" sz="1800" b="1" baseline="-250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fr-FR" sz="1800" b="1" baseline="30000" dirty="0" smtClean="0">
                          <a:solidFill>
                            <a:schemeClr val="bg1"/>
                          </a:solidFill>
                        </a:rPr>
                        <a:t>2-</a:t>
                      </a:r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>
                          <a:solidFill>
                            <a:schemeClr val="bg1"/>
                          </a:solidFill>
                        </a:rPr>
                        <a:t>Na</a:t>
                      </a:r>
                      <a:r>
                        <a:rPr lang="fr-FR" sz="1800" b="1" baseline="30000" dirty="0" smtClean="0">
                          <a:solidFill>
                            <a:schemeClr val="bg1"/>
                          </a:solidFill>
                        </a:rPr>
                        <a:t>+</a:t>
                      </a:r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avec flèche vers la gauche 5"/>
          <p:cNvSpPr/>
          <p:nvPr/>
        </p:nvSpPr>
        <p:spPr>
          <a:xfrm>
            <a:off x="7055768" y="0"/>
            <a:ext cx="2088232" cy="648072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2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61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324528" cy="6858000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0" y="0"/>
            <a:ext cx="7884368" cy="78579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-التعادل الكهربائي لمحلول شاردي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0" y="928670"/>
            <a:ext cx="9286908" cy="592933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4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الملاحظة</a:t>
            </a:r>
          </a:p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ان المحاليل </a:t>
            </a:r>
            <a:r>
              <a:rPr lang="ar-DZ" sz="2400" b="1" dirty="0" err="1" smtClean="0">
                <a:solidFill>
                  <a:schemeClr val="bg1"/>
                </a:solidFill>
              </a:rPr>
              <a:t>الشاردية</a:t>
            </a:r>
            <a:r>
              <a:rPr lang="ar-DZ" sz="2400" b="1" dirty="0" smtClean="0">
                <a:solidFill>
                  <a:schemeClr val="bg1"/>
                </a:solidFill>
              </a:rPr>
              <a:t> فيها عدد  الشحنات السالبة تساوي</a:t>
            </a:r>
          </a:p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 الى عدد  الشحنات و الموجبة    و نقول انها متعادلة كهربائيا</a:t>
            </a:r>
          </a:p>
          <a:p>
            <a:pPr algn="ctr"/>
            <a:r>
              <a:rPr lang="ar-DZ" sz="2400" b="1" dirty="0" smtClean="0">
                <a:solidFill>
                  <a:srgbClr val="FF0000"/>
                </a:solidFill>
              </a:rPr>
              <a:t>النتيجة </a:t>
            </a:r>
          </a:p>
          <a:p>
            <a:pPr algn="ctr"/>
            <a:r>
              <a:rPr lang="ar-DZ" sz="2400" b="1" dirty="0" smtClean="0">
                <a:solidFill>
                  <a:srgbClr val="FF0000"/>
                </a:solidFill>
              </a:rPr>
              <a:t>كل محلول شاردي يكون متعادل  كهربائيا اي عدد  الشحنات الموجبة </a:t>
            </a:r>
          </a:p>
          <a:p>
            <a:pPr algn="ctr"/>
            <a:r>
              <a:rPr lang="ar-DZ" sz="2400" b="1" dirty="0" smtClean="0">
                <a:solidFill>
                  <a:srgbClr val="FF0000"/>
                </a:solidFill>
              </a:rPr>
              <a:t>يساوي الى عدد الشحنات السالبة</a:t>
            </a:r>
          </a:p>
        </p:txBody>
      </p:sp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1475656" y="1700808"/>
          <a:ext cx="6552728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7655"/>
                <a:gridCol w="2805073"/>
              </a:tblGrid>
              <a:tr h="5040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600" b="1" dirty="0" smtClean="0">
                          <a:solidFill>
                            <a:schemeClr val="bg1"/>
                          </a:solidFill>
                        </a:rPr>
                        <a:t>عدد الشحنات  </a:t>
                      </a:r>
                      <a:endParaRPr lang="fr-FR" sz="1600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fr-FR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1600" b="1" dirty="0" smtClean="0">
                          <a:solidFill>
                            <a:schemeClr val="bg1"/>
                          </a:solidFill>
                        </a:rPr>
                        <a:t>المحلول </a:t>
                      </a:r>
                      <a:r>
                        <a:rPr lang="ar-DZ" sz="1600" b="1" dirty="0" err="1" smtClean="0">
                          <a:solidFill>
                            <a:schemeClr val="bg1"/>
                          </a:solidFill>
                        </a:rPr>
                        <a:t>الشاردي</a:t>
                      </a:r>
                      <a:r>
                        <a:rPr lang="ar-DZ" sz="1600" b="1" dirty="0" smtClean="0">
                          <a:solidFill>
                            <a:schemeClr val="bg1"/>
                          </a:solidFill>
                        </a:rPr>
                        <a:t>  </a:t>
                      </a:r>
                      <a:endParaRPr lang="fr-FR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728071">
                <a:tc>
                  <a:txBody>
                    <a:bodyPr/>
                    <a:lstStyle/>
                    <a:p>
                      <a:pPr algn="r"/>
                      <a:r>
                        <a:rPr lang="ar-DZ" sz="1600" b="1" dirty="0" smtClean="0"/>
                        <a:t>01 شحنة موجبة </a:t>
                      </a:r>
                    </a:p>
                    <a:p>
                      <a:pPr algn="r"/>
                      <a:r>
                        <a:rPr lang="ar-DZ" sz="1600" b="1" dirty="0" smtClean="0"/>
                        <a:t>01 شحنة سالبة </a:t>
                      </a:r>
                      <a:endParaRPr lang="fr-FR" sz="1600" b="1" dirty="0" smtClean="0"/>
                    </a:p>
                    <a:p>
                      <a:pPr algn="r"/>
                      <a:endParaRPr lang="fr-FR" sz="16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1600" b="1" dirty="0" smtClean="0"/>
                        <a:t>حمض</a:t>
                      </a:r>
                      <a:r>
                        <a:rPr lang="ar-DZ" sz="1600" b="1" baseline="0" dirty="0" smtClean="0"/>
                        <a:t> </a:t>
                      </a:r>
                      <a:r>
                        <a:rPr lang="ar-DZ" sz="1600" b="1" baseline="0" dirty="0" err="1" smtClean="0"/>
                        <a:t>كلور</a:t>
                      </a:r>
                      <a:r>
                        <a:rPr lang="ar-DZ" sz="1600" b="1" baseline="0" dirty="0" smtClean="0"/>
                        <a:t> الماء </a:t>
                      </a:r>
                      <a:endParaRPr lang="fr-FR" sz="16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ar-DZ" sz="1600" b="1" dirty="0" smtClean="0"/>
                        <a:t>02 شحنة موجبة </a:t>
                      </a:r>
                    </a:p>
                    <a:p>
                      <a:pPr algn="r"/>
                      <a:r>
                        <a:rPr lang="ar-DZ" sz="1600" b="1" dirty="0" smtClean="0"/>
                        <a:t>02 شحنة</a:t>
                      </a:r>
                      <a:r>
                        <a:rPr lang="ar-DZ" sz="1600" b="1" baseline="0" dirty="0" smtClean="0"/>
                        <a:t> </a:t>
                      </a:r>
                      <a:r>
                        <a:rPr lang="ar-DZ" sz="1600" b="1" dirty="0" smtClean="0"/>
                        <a:t>سالبة </a:t>
                      </a:r>
                      <a:endParaRPr lang="fr-FR" sz="1600" b="1" dirty="0" smtClean="0"/>
                    </a:p>
                    <a:p>
                      <a:pPr algn="r"/>
                      <a:endParaRPr lang="fr-FR" sz="16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1600" b="1" dirty="0" err="1" smtClean="0"/>
                        <a:t>كلور</a:t>
                      </a:r>
                      <a:r>
                        <a:rPr lang="ar-DZ" sz="1600" b="1" dirty="0" smtClean="0"/>
                        <a:t> الحديد الثنائي </a:t>
                      </a:r>
                      <a:endParaRPr lang="fr-FR" sz="16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ar-DZ" sz="1600" b="1" dirty="0" smtClean="0"/>
                        <a:t>03 شحنة</a:t>
                      </a:r>
                      <a:r>
                        <a:rPr lang="ar-DZ" sz="1600" b="1" baseline="0" dirty="0" smtClean="0"/>
                        <a:t> </a:t>
                      </a:r>
                      <a:r>
                        <a:rPr lang="ar-DZ" sz="1600" b="1" dirty="0" smtClean="0"/>
                        <a:t>موجبة </a:t>
                      </a:r>
                    </a:p>
                    <a:p>
                      <a:pPr algn="r"/>
                      <a:r>
                        <a:rPr lang="ar-DZ" sz="1600" b="1" dirty="0" smtClean="0"/>
                        <a:t>03 شحنة سالبة  </a:t>
                      </a:r>
                      <a:endParaRPr lang="fr-FR" sz="1600" b="1" dirty="0" smtClean="0"/>
                    </a:p>
                    <a:p>
                      <a:pPr algn="r"/>
                      <a:endParaRPr lang="fr-FR" sz="16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1600" b="1" dirty="0" err="1" smtClean="0"/>
                        <a:t>كلور</a:t>
                      </a:r>
                      <a:r>
                        <a:rPr lang="ar-DZ" sz="1600" b="1" dirty="0" smtClean="0"/>
                        <a:t> </a:t>
                      </a:r>
                      <a:r>
                        <a:rPr lang="ar-DZ" sz="1600" b="1" dirty="0" err="1" smtClean="0"/>
                        <a:t>الالومنيوم</a:t>
                      </a:r>
                      <a:r>
                        <a:rPr lang="ar-DZ" sz="1600" b="1" dirty="0" smtClean="0"/>
                        <a:t> </a:t>
                      </a:r>
                      <a:endParaRPr lang="fr-FR" sz="16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avec flèche vers la gauche 5"/>
          <p:cNvSpPr/>
          <p:nvPr/>
        </p:nvSpPr>
        <p:spPr>
          <a:xfrm>
            <a:off x="7164288" y="0"/>
            <a:ext cx="2088232" cy="764704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3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755576" y="764704"/>
            <a:ext cx="7560840" cy="92981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نقوم بتحديد عدد الشحنات الموجبة وعدد الشحنات السالبة في كل محلول شاردي ونقارن بينهما  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61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324528" cy="6858000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0" y="0"/>
            <a:ext cx="7884368" cy="78579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-الصيغة الاحصائية و الصيغة </a:t>
            </a:r>
            <a:r>
              <a:rPr lang="ar-DZ" sz="2400" b="1" dirty="0" err="1" smtClean="0">
                <a:solidFill>
                  <a:schemeClr val="bg1"/>
                </a:solidFill>
              </a:rPr>
              <a:t>الشاردية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0" y="928670"/>
            <a:ext cx="9286908" cy="592933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4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الملاحظة</a:t>
            </a:r>
          </a:p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يمكن ان تكتب بصيغة </a:t>
            </a:r>
            <a:r>
              <a:rPr lang="ar-DZ" sz="2400" b="1" dirty="0" err="1" smtClean="0">
                <a:solidFill>
                  <a:schemeClr val="bg1"/>
                </a:solidFill>
              </a:rPr>
              <a:t>بالشوارد</a:t>
            </a:r>
            <a:r>
              <a:rPr lang="ar-DZ" sz="2400" b="1" dirty="0" smtClean="0">
                <a:solidFill>
                  <a:schemeClr val="bg1"/>
                </a:solidFill>
              </a:rPr>
              <a:t> وتسمى صيغة </a:t>
            </a:r>
            <a:r>
              <a:rPr lang="ar-DZ" sz="2400" b="1" dirty="0" err="1" smtClean="0">
                <a:solidFill>
                  <a:schemeClr val="bg1"/>
                </a:solidFill>
              </a:rPr>
              <a:t>شاردية</a:t>
            </a:r>
            <a:r>
              <a:rPr lang="ar-DZ" sz="2400" b="1" dirty="0" smtClean="0">
                <a:solidFill>
                  <a:schemeClr val="bg1"/>
                </a:solidFill>
              </a:rPr>
              <a:t>  و بصيغة بدون </a:t>
            </a:r>
            <a:r>
              <a:rPr lang="ar-DZ" sz="2400" b="1" dirty="0" err="1" smtClean="0">
                <a:solidFill>
                  <a:schemeClr val="bg1"/>
                </a:solidFill>
              </a:rPr>
              <a:t>شوارد</a:t>
            </a:r>
            <a:r>
              <a:rPr lang="ar-DZ" sz="2400" b="1" dirty="0" smtClean="0">
                <a:solidFill>
                  <a:schemeClr val="bg1"/>
                </a:solidFill>
              </a:rPr>
              <a:t> وتسمى صيغة احصائية    </a:t>
            </a:r>
          </a:p>
          <a:p>
            <a:pPr algn="ctr"/>
            <a:r>
              <a:rPr lang="ar-DZ" sz="2400" b="1" dirty="0" smtClean="0">
                <a:solidFill>
                  <a:srgbClr val="FF0000"/>
                </a:solidFill>
              </a:rPr>
              <a:t>النتيجة </a:t>
            </a:r>
          </a:p>
          <a:p>
            <a:pPr algn="ctr"/>
            <a:r>
              <a:rPr lang="ar-DZ" sz="2400" b="1" dirty="0" smtClean="0">
                <a:solidFill>
                  <a:srgbClr val="FF0000"/>
                </a:solidFill>
              </a:rPr>
              <a:t>كل محلول شاردي فقط يكتب بصيغة </a:t>
            </a:r>
            <a:r>
              <a:rPr lang="ar-DZ" sz="2400" b="1" dirty="0" err="1" smtClean="0">
                <a:solidFill>
                  <a:srgbClr val="FF0000"/>
                </a:solidFill>
              </a:rPr>
              <a:t>شاردية</a:t>
            </a:r>
            <a:r>
              <a:rPr lang="ar-DZ" sz="2400" b="1" dirty="0" smtClean="0">
                <a:solidFill>
                  <a:srgbClr val="FF0000"/>
                </a:solidFill>
              </a:rPr>
              <a:t> حسب عدد ونوع </a:t>
            </a:r>
            <a:r>
              <a:rPr lang="ar-DZ" sz="2400" b="1" dirty="0" err="1" smtClean="0">
                <a:solidFill>
                  <a:srgbClr val="FF0000"/>
                </a:solidFill>
              </a:rPr>
              <a:t>الشوارد</a:t>
            </a:r>
            <a:r>
              <a:rPr lang="ar-DZ" sz="2400" b="1" dirty="0" smtClean="0">
                <a:solidFill>
                  <a:srgbClr val="FF0000"/>
                </a:solidFill>
              </a:rPr>
              <a:t> او صيغة احصائية حسب عدد ونوع </a:t>
            </a:r>
            <a:r>
              <a:rPr lang="ar-DZ" sz="2400" b="1" dirty="0" err="1" smtClean="0">
                <a:solidFill>
                  <a:srgbClr val="FF0000"/>
                </a:solidFill>
              </a:rPr>
              <a:t>الذرات</a:t>
            </a:r>
            <a:r>
              <a:rPr lang="ar-DZ" sz="2400" b="1" dirty="0" smtClean="0">
                <a:solidFill>
                  <a:srgbClr val="FF0000"/>
                </a:solidFill>
              </a:rPr>
              <a:t>  او معا   </a:t>
            </a:r>
          </a:p>
          <a:p>
            <a:pPr algn="ctr"/>
            <a:endParaRPr lang="fr-FR" sz="2400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1619672" y="1916832"/>
          <a:ext cx="6408711" cy="2831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352"/>
                <a:gridCol w="1675036"/>
                <a:gridCol w="2073323"/>
              </a:tblGrid>
              <a:tr h="504055">
                <a:tc>
                  <a:txBody>
                    <a:bodyPr/>
                    <a:lstStyle/>
                    <a:p>
                      <a:pPr algn="ct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الصيغة </a:t>
                      </a:r>
                      <a:r>
                        <a:rPr lang="ar-DZ" sz="2000" b="1" dirty="0" err="1" smtClean="0">
                          <a:solidFill>
                            <a:schemeClr val="bg1"/>
                          </a:solidFill>
                        </a:rPr>
                        <a:t>الشاردية</a:t>
                      </a:r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  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000" b="1" dirty="0" err="1" smtClean="0">
                          <a:solidFill>
                            <a:schemeClr val="bg1"/>
                          </a:solidFill>
                        </a:rPr>
                        <a:t>الصيعة</a:t>
                      </a:r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ar-DZ" sz="2000" b="1" dirty="0" err="1" smtClean="0">
                          <a:solidFill>
                            <a:schemeClr val="bg1"/>
                          </a:solidFill>
                        </a:rPr>
                        <a:t>الاحصائية</a:t>
                      </a:r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  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المحلول </a:t>
                      </a:r>
                      <a:r>
                        <a:rPr lang="ar-DZ" sz="2000" b="1" dirty="0" err="1" smtClean="0">
                          <a:solidFill>
                            <a:schemeClr val="bg1"/>
                          </a:solidFill>
                        </a:rPr>
                        <a:t>الشاردي</a:t>
                      </a:r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  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72807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 H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+  Cl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</a:p>
                    <a:p>
                      <a:pPr algn="ctr"/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 err="1" smtClean="0"/>
                        <a:t>HCl</a:t>
                      </a:r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2000" b="1" dirty="0" smtClean="0"/>
                        <a:t>حمض</a:t>
                      </a:r>
                      <a:r>
                        <a:rPr lang="ar-DZ" sz="2000" b="1" baseline="0" dirty="0" smtClean="0"/>
                        <a:t> </a:t>
                      </a:r>
                      <a:r>
                        <a:rPr lang="ar-DZ" sz="2000" b="1" baseline="0" dirty="0" err="1" smtClean="0"/>
                        <a:t>كلور</a:t>
                      </a:r>
                      <a:r>
                        <a:rPr lang="ar-DZ" sz="2000" b="1" baseline="0" dirty="0" smtClean="0"/>
                        <a:t> الماء </a:t>
                      </a:r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 Fe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2+</a:t>
                      </a: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+ 2 Cl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</a:p>
                    <a:p>
                      <a:pPr algn="ctr"/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FeCl</a:t>
                      </a:r>
                      <a:r>
                        <a:rPr kumimoji="0" lang="fr-FR" sz="2000" b="1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fr-FR" sz="20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2000" b="1" dirty="0" err="1" smtClean="0"/>
                        <a:t>كلور</a:t>
                      </a:r>
                      <a:r>
                        <a:rPr lang="ar-DZ" sz="2000" b="1" dirty="0" smtClean="0"/>
                        <a:t> الحديد الثنائي </a:t>
                      </a:r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 Al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3+</a:t>
                      </a: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+ 3 Cl</a:t>
                      </a:r>
                      <a:r>
                        <a:rPr kumimoji="0" lang="fr-FR" sz="2000" b="1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</a:p>
                    <a:p>
                      <a:pPr algn="ctr"/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AlCl</a:t>
                      </a:r>
                      <a:r>
                        <a:rPr kumimoji="0" lang="fr-FR" sz="2000" b="1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fr-FR" sz="20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2000" b="1" dirty="0" err="1" smtClean="0"/>
                        <a:t>كلور</a:t>
                      </a:r>
                      <a:r>
                        <a:rPr lang="ar-DZ" sz="2000" b="1" dirty="0" smtClean="0"/>
                        <a:t> </a:t>
                      </a:r>
                      <a:r>
                        <a:rPr lang="ar-DZ" sz="2000" b="1" dirty="0" err="1" smtClean="0"/>
                        <a:t>الالومنيوم</a:t>
                      </a:r>
                      <a:r>
                        <a:rPr lang="ar-DZ" sz="2000" b="1" dirty="0" smtClean="0"/>
                        <a:t> </a:t>
                      </a:r>
                      <a:endParaRPr lang="fr-FR" sz="20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avec flèche vers la gauche 5"/>
          <p:cNvSpPr/>
          <p:nvPr/>
        </p:nvSpPr>
        <p:spPr>
          <a:xfrm>
            <a:off x="7164288" y="116632"/>
            <a:ext cx="2088232" cy="648072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4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755576" y="908720"/>
            <a:ext cx="7560840" cy="78579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نقوم بكتابة صيغة كل محلول </a:t>
            </a:r>
            <a:r>
              <a:rPr lang="ar-DZ" sz="2400" b="1" dirty="0" err="1" smtClean="0">
                <a:solidFill>
                  <a:schemeClr val="bg1"/>
                </a:solidFill>
              </a:rPr>
              <a:t>بالشوارد</a:t>
            </a:r>
            <a:r>
              <a:rPr lang="ar-DZ" sz="2400" b="1" dirty="0" smtClean="0">
                <a:solidFill>
                  <a:schemeClr val="bg1"/>
                </a:solidFill>
              </a:rPr>
              <a:t> و بدون </a:t>
            </a:r>
            <a:r>
              <a:rPr lang="ar-DZ" sz="2400" b="1" dirty="0" err="1" smtClean="0">
                <a:solidFill>
                  <a:schemeClr val="bg1"/>
                </a:solidFill>
              </a:rPr>
              <a:t>شوارد</a:t>
            </a:r>
            <a:r>
              <a:rPr lang="ar-DZ" sz="2400" b="1" dirty="0" smtClean="0">
                <a:solidFill>
                  <a:schemeClr val="bg1"/>
                </a:solidFill>
              </a:rPr>
              <a:t>  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2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0" y="764704"/>
            <a:ext cx="7812360" cy="78579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-التحليل الكهربائي البسيط لمحلول </a:t>
            </a:r>
            <a:r>
              <a:rPr lang="ar-DZ" sz="2400" b="1" dirty="0" err="1" smtClean="0">
                <a:solidFill>
                  <a:schemeClr val="bg1"/>
                </a:solidFill>
              </a:rPr>
              <a:t>كلور</a:t>
            </a:r>
            <a:r>
              <a:rPr lang="ar-DZ" sz="2400" b="1" dirty="0" smtClean="0">
                <a:solidFill>
                  <a:schemeClr val="bg1"/>
                </a:solidFill>
              </a:rPr>
              <a:t> الزنك 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0" y="1484784"/>
            <a:ext cx="9144000" cy="537321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نضع كمية من محلول </a:t>
            </a:r>
            <a:r>
              <a:rPr lang="ar-DZ" sz="2400" b="1" dirty="0" err="1" smtClean="0">
                <a:solidFill>
                  <a:schemeClr val="bg1"/>
                </a:solidFill>
              </a:rPr>
              <a:t>كلور</a:t>
            </a:r>
            <a:r>
              <a:rPr lang="ar-DZ" sz="2400" b="1" dirty="0" smtClean="0">
                <a:solidFill>
                  <a:schemeClr val="bg1"/>
                </a:solidFill>
              </a:rPr>
              <a:t> الزنك   داخل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وعاء التحليل الكهربائي </a:t>
            </a:r>
            <a:r>
              <a:rPr lang="ar-DZ" sz="2400" b="1" dirty="0" err="1" smtClean="0">
                <a:solidFill>
                  <a:schemeClr val="bg1"/>
                </a:solidFill>
              </a:rPr>
              <a:t>مسارياه</a:t>
            </a:r>
            <a:r>
              <a:rPr lang="ar-DZ" sz="2400" b="1" dirty="0" smtClean="0">
                <a:solidFill>
                  <a:schemeClr val="bg1"/>
                </a:solidFill>
              </a:rPr>
              <a:t> من الفحم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ثم نجعل التيار  الكهربائي يمر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الملاحظة</a:t>
            </a:r>
            <a:br>
              <a:rPr lang="ar-DZ" sz="2400" b="1" dirty="0" smtClean="0">
                <a:solidFill>
                  <a:schemeClr val="bg1"/>
                </a:solidFill>
              </a:rPr>
            </a:br>
            <a:r>
              <a:rPr lang="ar-DZ" sz="2400" b="1" dirty="0" smtClean="0">
                <a:solidFill>
                  <a:schemeClr val="bg1"/>
                </a:solidFill>
              </a:rPr>
              <a:t>في المسرى المتصل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بالقطب الموجب (المصعد) يحدث صعود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غاز اخضر مصفر اللون هو غاز </a:t>
            </a:r>
            <a:r>
              <a:rPr lang="ar-DZ" sz="2400" b="1" dirty="0" err="1" smtClean="0">
                <a:solidFill>
                  <a:schemeClr val="bg1"/>
                </a:solidFill>
              </a:rPr>
              <a:t>الكلور</a:t>
            </a:r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نكشف عنه </a:t>
            </a:r>
            <a:r>
              <a:rPr lang="ar-DZ" sz="2400" b="1" dirty="0" err="1" smtClean="0">
                <a:solidFill>
                  <a:schemeClr val="bg1"/>
                </a:solidFill>
              </a:rPr>
              <a:t>باضافة</a:t>
            </a:r>
            <a:r>
              <a:rPr lang="ar-DZ" sz="2400" b="1" dirty="0" smtClean="0">
                <a:solidFill>
                  <a:schemeClr val="bg1"/>
                </a:solidFill>
              </a:rPr>
              <a:t>  ازرق النيلة فيختفي اللون الازرق    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في المسرى المتصل بالقطب السالب (المهبط)</a:t>
            </a: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تترسب شعيرات من  معدن الزنك </a:t>
            </a:r>
            <a:br>
              <a:rPr lang="ar-DZ" sz="2400" b="1" dirty="0" smtClean="0">
                <a:solidFill>
                  <a:schemeClr val="bg1"/>
                </a:solidFill>
              </a:rPr>
            </a:br>
            <a:r>
              <a:rPr lang="ar-DZ" sz="2400" b="1" dirty="0" smtClean="0">
                <a:solidFill>
                  <a:srgbClr val="FF0000"/>
                </a:solidFill>
              </a:rPr>
              <a:t>الاستنتاج</a:t>
            </a:r>
            <a:br>
              <a:rPr lang="ar-DZ" sz="2400" b="1" dirty="0" smtClean="0">
                <a:solidFill>
                  <a:srgbClr val="FF0000"/>
                </a:solidFill>
              </a:rPr>
            </a:br>
            <a:r>
              <a:rPr lang="ar-DZ" sz="2400" b="1" dirty="0" smtClean="0">
                <a:solidFill>
                  <a:srgbClr val="FF0000"/>
                </a:solidFill>
              </a:rPr>
              <a:t>ان التحليل الكهربائي البسيط لمحلول </a:t>
            </a:r>
            <a:r>
              <a:rPr lang="ar-DZ" sz="2400" b="1" dirty="0" err="1" smtClean="0">
                <a:solidFill>
                  <a:srgbClr val="FF0000"/>
                </a:solidFill>
              </a:rPr>
              <a:t>كلور</a:t>
            </a:r>
            <a:r>
              <a:rPr lang="ar-DZ" sz="2400" b="1" dirty="0" smtClean="0">
                <a:solidFill>
                  <a:srgbClr val="FF0000"/>
                </a:solidFill>
              </a:rPr>
              <a:t> الزنك   </a:t>
            </a:r>
            <a:endParaRPr lang="fr-FR" sz="2400" b="1" dirty="0" smtClean="0">
              <a:solidFill>
                <a:srgbClr val="FF0000"/>
              </a:solidFill>
            </a:endParaRPr>
          </a:p>
          <a:p>
            <a:pPr algn="r"/>
            <a:r>
              <a:rPr lang="ar-DZ" sz="2400" b="1" dirty="0" err="1" smtClean="0">
                <a:solidFill>
                  <a:srgbClr val="FF0000"/>
                </a:solidFill>
              </a:rPr>
              <a:t>بنتج</a:t>
            </a:r>
            <a:r>
              <a:rPr lang="ar-DZ" sz="2400" b="1" dirty="0" smtClean="0">
                <a:solidFill>
                  <a:srgbClr val="FF0000"/>
                </a:solidFill>
              </a:rPr>
              <a:t> عنه صعود غاز </a:t>
            </a:r>
            <a:r>
              <a:rPr lang="ar-DZ" sz="2400" b="1" dirty="0" err="1" smtClean="0">
                <a:solidFill>
                  <a:srgbClr val="FF0000"/>
                </a:solidFill>
              </a:rPr>
              <a:t>الكلور</a:t>
            </a:r>
            <a:r>
              <a:rPr lang="ar-DZ" sz="2400" b="1" dirty="0" smtClean="0">
                <a:solidFill>
                  <a:srgbClr val="FF0000"/>
                </a:solidFill>
              </a:rPr>
              <a:t> في المصعد و ترسب معدن الزنك  في المهبط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  </a:t>
            </a:r>
          </a:p>
          <a:p>
            <a:pPr algn="ctr"/>
            <a:endParaRPr lang="ar-DZ" sz="24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 </a:t>
            </a:r>
            <a:r>
              <a:rPr lang="ar-DZ" dirty="0" smtClean="0"/>
              <a:t> </a:t>
            </a:r>
            <a:endParaRPr lang="fr-FR" dirty="0"/>
          </a:p>
        </p:txBody>
      </p:sp>
      <p:sp>
        <p:nvSpPr>
          <p:cNvPr id="6" name="Rectangle avec flèche vers la gauche 5"/>
          <p:cNvSpPr/>
          <p:nvPr/>
        </p:nvSpPr>
        <p:spPr>
          <a:xfrm>
            <a:off x="7343800" y="0"/>
            <a:ext cx="1800200" cy="648072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الدرس  3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0" y="0"/>
            <a:ext cx="7956376" cy="69269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التحليل الكهربائي البسيط 1 </a:t>
            </a:r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8" name="Rectangle avec flèche vers la gauche 7"/>
          <p:cNvSpPr/>
          <p:nvPr/>
        </p:nvSpPr>
        <p:spPr>
          <a:xfrm>
            <a:off x="7055768" y="764704"/>
            <a:ext cx="2088232" cy="792088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27" name="Image 26" descr="image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520" y="2060848"/>
            <a:ext cx="3600400" cy="23042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90977234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4" name="Rectangle à coins arrondis 3"/>
          <p:cNvSpPr/>
          <p:nvPr/>
        </p:nvSpPr>
        <p:spPr>
          <a:xfrm>
            <a:off x="0" y="1124744"/>
            <a:ext cx="9144000" cy="542926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   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عرض محاكاة حول هجرة </a:t>
            </a:r>
            <a:r>
              <a:rPr lang="ar-DZ" sz="2000" b="1" dirty="0" err="1" smtClean="0">
                <a:solidFill>
                  <a:schemeClr val="bg1"/>
                </a:solidFill>
              </a:rPr>
              <a:t>الشوارد</a:t>
            </a:r>
            <a:r>
              <a:rPr lang="ar-DZ" sz="2000" b="1" dirty="0" smtClean="0">
                <a:solidFill>
                  <a:schemeClr val="bg1"/>
                </a:solidFill>
              </a:rPr>
              <a:t> لمحلول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الزنك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  في </a:t>
            </a:r>
            <a:r>
              <a:rPr lang="ar-DZ" sz="2000" b="1" dirty="0" err="1" smtClean="0">
                <a:solidFill>
                  <a:schemeClr val="bg1"/>
                </a:solidFill>
              </a:rPr>
              <a:t>المعصد</a:t>
            </a:r>
            <a:r>
              <a:rPr lang="ar-DZ" sz="2000" b="1" dirty="0" smtClean="0">
                <a:solidFill>
                  <a:schemeClr val="bg1"/>
                </a:solidFill>
              </a:rPr>
              <a:t> </a:t>
            </a:r>
            <a:br>
              <a:rPr lang="ar-DZ" sz="2000" b="1" dirty="0" smtClean="0">
                <a:solidFill>
                  <a:schemeClr val="bg1"/>
                </a:solidFill>
              </a:rPr>
            </a:br>
            <a:r>
              <a:rPr lang="ar-DZ" sz="2000" b="1" dirty="0" smtClean="0">
                <a:solidFill>
                  <a:schemeClr val="bg1"/>
                </a:solidFill>
              </a:rPr>
              <a:t>تتجه </a:t>
            </a:r>
            <a:r>
              <a:rPr lang="ar-DZ" sz="2000" b="1" dirty="0" err="1" smtClean="0">
                <a:solidFill>
                  <a:schemeClr val="bg1"/>
                </a:solidFill>
              </a:rPr>
              <a:t>شوارد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الكلور</a:t>
            </a:r>
            <a:r>
              <a:rPr lang="ar-DZ" sz="2000" b="1" dirty="0" smtClean="0">
                <a:solidFill>
                  <a:schemeClr val="bg1"/>
                </a:solidFill>
              </a:rPr>
              <a:t> نحو  المصعد  حيث  تفقد كل شاردة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 الكترون واحد و تصبح </a:t>
            </a:r>
            <a:r>
              <a:rPr lang="ar-DZ" sz="2000" b="1" dirty="0" err="1" smtClean="0">
                <a:solidFill>
                  <a:schemeClr val="bg1"/>
                </a:solidFill>
              </a:rPr>
              <a:t>جزيئ</a:t>
            </a:r>
            <a:r>
              <a:rPr lang="ar-DZ" sz="2000" b="1" dirty="0" smtClean="0">
                <a:solidFill>
                  <a:schemeClr val="bg1"/>
                </a:solidFill>
              </a:rPr>
              <a:t> واحد من غاز </a:t>
            </a:r>
            <a:r>
              <a:rPr lang="ar-DZ" sz="2000" b="1" dirty="0" err="1" smtClean="0">
                <a:solidFill>
                  <a:schemeClr val="bg1"/>
                </a:solidFill>
              </a:rPr>
              <a:t>الكلور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 ومنه يصعد  غاز </a:t>
            </a:r>
            <a:r>
              <a:rPr lang="ar-DZ" sz="2000" b="1" dirty="0" err="1" smtClean="0">
                <a:solidFill>
                  <a:schemeClr val="bg1"/>
                </a:solidFill>
              </a:rPr>
              <a:t>الكلور</a:t>
            </a:r>
            <a:r>
              <a:rPr lang="ar-DZ" sz="2000" b="1" dirty="0" smtClean="0">
                <a:solidFill>
                  <a:schemeClr val="bg1"/>
                </a:solidFill>
              </a:rPr>
              <a:t> وتتجه الالكترونات الحرة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 نحو القطب الموجب 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في المهبط </a:t>
            </a:r>
            <a:br>
              <a:rPr lang="ar-DZ" sz="2000" b="1" dirty="0" smtClean="0">
                <a:solidFill>
                  <a:schemeClr val="bg1"/>
                </a:solidFill>
              </a:rPr>
            </a:br>
            <a:r>
              <a:rPr lang="ar-DZ" sz="2000" b="1" dirty="0" smtClean="0">
                <a:solidFill>
                  <a:schemeClr val="bg1"/>
                </a:solidFill>
              </a:rPr>
              <a:t>تتجه  </a:t>
            </a:r>
            <a:r>
              <a:rPr lang="ar-DZ" sz="2000" b="1" dirty="0" err="1" smtClean="0">
                <a:solidFill>
                  <a:schemeClr val="bg1"/>
                </a:solidFill>
              </a:rPr>
              <a:t>شوارد</a:t>
            </a:r>
            <a:r>
              <a:rPr lang="ar-DZ" sz="2000" b="1" dirty="0" smtClean="0">
                <a:solidFill>
                  <a:schemeClr val="bg1"/>
                </a:solidFill>
              </a:rPr>
              <a:t> الزنك   نحو  المهبط حيث تكتسب كل شاردة زنك 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 الكترونان حران من الالكترونات القادمة 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من فقدانها من </a:t>
            </a:r>
            <a:r>
              <a:rPr lang="ar-DZ" sz="2000" b="1" dirty="0" err="1" smtClean="0">
                <a:solidFill>
                  <a:schemeClr val="bg1"/>
                </a:solidFill>
              </a:rPr>
              <a:t>شوارد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الكلور</a:t>
            </a:r>
            <a:r>
              <a:rPr lang="ar-DZ" sz="2000" b="1" dirty="0" smtClean="0">
                <a:solidFill>
                  <a:schemeClr val="bg1"/>
                </a:solidFill>
              </a:rPr>
              <a:t>   لتصبح  ذرة واحدة من الزنك  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ومنه يترسب معدن الزنك  </a:t>
            </a:r>
            <a:br>
              <a:rPr lang="ar-DZ" sz="2000" b="1" dirty="0" smtClean="0">
                <a:solidFill>
                  <a:schemeClr val="bg1"/>
                </a:solidFill>
              </a:rPr>
            </a:br>
            <a:r>
              <a:rPr lang="ar-DZ" sz="2000" b="1" dirty="0" smtClean="0">
                <a:solidFill>
                  <a:schemeClr val="bg1"/>
                </a:solidFill>
              </a:rPr>
              <a:t>   </a:t>
            </a:r>
            <a:r>
              <a:rPr lang="fr-FR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   </a:t>
            </a:r>
            <a:r>
              <a:rPr lang="ar-DZ" sz="2000" b="1" dirty="0" smtClean="0">
                <a:solidFill>
                  <a:srgbClr val="FF0000"/>
                </a:solidFill>
              </a:rPr>
              <a:t>النتيجة </a:t>
            </a:r>
          </a:p>
          <a:p>
            <a:pPr algn="r"/>
            <a:r>
              <a:rPr lang="ar-DZ" sz="2000" b="1" dirty="0" err="1" smtClean="0">
                <a:solidFill>
                  <a:srgbClr val="FF0000"/>
                </a:solidFill>
              </a:rPr>
              <a:t>ان</a:t>
            </a:r>
            <a:r>
              <a:rPr lang="ar-DZ" sz="2000" b="1" dirty="0" smtClean="0">
                <a:solidFill>
                  <a:srgbClr val="FF0000"/>
                </a:solidFill>
              </a:rPr>
              <a:t> مرور التيار الكهربائي في دارة التحليل</a:t>
            </a:r>
          </a:p>
          <a:p>
            <a:pPr algn="r"/>
            <a:r>
              <a:rPr lang="ar-DZ" sz="2000" b="1" dirty="0" smtClean="0">
                <a:solidFill>
                  <a:srgbClr val="FF0000"/>
                </a:solidFill>
              </a:rPr>
              <a:t>الكهربائي البسيط يرجع </a:t>
            </a:r>
            <a:r>
              <a:rPr lang="ar-DZ" sz="2000" b="1" dirty="0" err="1" smtClean="0">
                <a:solidFill>
                  <a:srgbClr val="FF0000"/>
                </a:solidFill>
              </a:rPr>
              <a:t>الى</a:t>
            </a:r>
            <a:r>
              <a:rPr lang="ar-DZ" sz="2000" b="1" dirty="0" smtClean="0">
                <a:solidFill>
                  <a:srgbClr val="FF0000"/>
                </a:solidFill>
              </a:rPr>
              <a:t> حركة </a:t>
            </a:r>
            <a:r>
              <a:rPr lang="ar-DZ" sz="2000" b="1" dirty="0" err="1" smtClean="0">
                <a:solidFill>
                  <a:srgbClr val="FF0000"/>
                </a:solidFill>
              </a:rPr>
              <a:t>الشوارد</a:t>
            </a:r>
            <a:r>
              <a:rPr lang="ar-DZ" sz="2000" b="1" dirty="0" smtClean="0">
                <a:solidFill>
                  <a:srgbClr val="FF0000"/>
                </a:solidFill>
              </a:rPr>
              <a:t> الموجبة </a:t>
            </a:r>
            <a:r>
              <a:rPr lang="ar-DZ" sz="2000" b="1" dirty="0" err="1" smtClean="0">
                <a:solidFill>
                  <a:srgbClr val="FF0000"/>
                </a:solidFill>
              </a:rPr>
              <a:t>و</a:t>
            </a:r>
            <a:r>
              <a:rPr lang="ar-DZ" sz="2000" b="1" dirty="0" smtClean="0">
                <a:solidFill>
                  <a:srgbClr val="FF0000"/>
                </a:solidFill>
              </a:rPr>
              <a:t> السالبة باتجاهين متعاكسين  </a:t>
            </a:r>
          </a:p>
          <a:p>
            <a:pPr algn="r"/>
            <a:r>
              <a:rPr lang="ar-DZ" sz="2000" b="1" dirty="0" smtClean="0">
                <a:solidFill>
                  <a:srgbClr val="FF0000"/>
                </a:solidFill>
              </a:rPr>
              <a:t>داخل المحلول </a:t>
            </a:r>
            <a:r>
              <a:rPr lang="ar-DZ" sz="2000" b="1" dirty="0" err="1" smtClean="0">
                <a:solidFill>
                  <a:srgbClr val="FF0000"/>
                </a:solidFill>
              </a:rPr>
              <a:t>الشاردي</a:t>
            </a:r>
            <a:r>
              <a:rPr lang="ar-DZ" sz="2000" b="1" dirty="0" smtClean="0">
                <a:solidFill>
                  <a:srgbClr val="FF0000"/>
                </a:solidFill>
              </a:rPr>
              <a:t> و حركة الالكترونات في </a:t>
            </a:r>
            <a:r>
              <a:rPr lang="ar-DZ" sz="2000" b="1" dirty="0" err="1" smtClean="0">
                <a:solidFill>
                  <a:srgbClr val="FF0000"/>
                </a:solidFill>
              </a:rPr>
              <a:t>النواقل</a:t>
            </a:r>
            <a:r>
              <a:rPr lang="ar-DZ" sz="2000" b="1" dirty="0" smtClean="0">
                <a:solidFill>
                  <a:srgbClr val="FF0000"/>
                </a:solidFill>
              </a:rPr>
              <a:t> من القطب السالب </a:t>
            </a:r>
            <a:r>
              <a:rPr lang="ar-DZ" sz="2000" b="1" dirty="0" err="1" smtClean="0">
                <a:solidFill>
                  <a:srgbClr val="FF0000"/>
                </a:solidFill>
              </a:rPr>
              <a:t>الى</a:t>
            </a:r>
            <a:r>
              <a:rPr lang="ar-DZ" sz="2000" b="1" dirty="0" smtClean="0">
                <a:solidFill>
                  <a:srgbClr val="FF0000"/>
                </a:solidFill>
              </a:rPr>
              <a:t> القطب </a:t>
            </a:r>
            <a:r>
              <a:rPr lang="ar-DZ" sz="2400" b="1" dirty="0" smtClean="0">
                <a:solidFill>
                  <a:srgbClr val="FF0000"/>
                </a:solidFill>
              </a:rPr>
              <a:t>الموجب </a:t>
            </a: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400" b="1" dirty="0" smtClean="0">
                <a:solidFill>
                  <a:schemeClr val="bg1"/>
                </a:solidFill>
              </a:rPr>
              <a:t>  </a:t>
            </a:r>
          </a:p>
          <a:p>
            <a:pPr algn="r"/>
            <a:endParaRPr lang="ar-DZ" sz="2400" dirty="0" smtClean="0">
              <a:solidFill>
                <a:schemeClr val="bg1"/>
              </a:solidFill>
            </a:endParaRPr>
          </a:p>
          <a:p>
            <a:pPr algn="r"/>
            <a:endParaRPr lang="ar-DZ" sz="2400" dirty="0" smtClean="0">
              <a:solidFill>
                <a:schemeClr val="bg1"/>
              </a:solidFill>
            </a:endParaRPr>
          </a:p>
          <a:p>
            <a:pPr algn="r"/>
            <a:endParaRPr lang="ar-DZ" sz="2400" dirty="0" smtClean="0">
              <a:solidFill>
                <a:schemeClr val="bg1"/>
              </a:solidFill>
            </a:endParaRPr>
          </a:p>
          <a:p>
            <a:pPr algn="r"/>
            <a:endParaRPr lang="ar-DZ" sz="2400" dirty="0" smtClean="0">
              <a:solidFill>
                <a:schemeClr val="bg1"/>
              </a:solidFill>
            </a:endParaRPr>
          </a:p>
          <a:p>
            <a:pPr algn="r"/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0" y="0"/>
            <a:ext cx="7812360" cy="111845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-تفسير انتقال التيار الكهربائي في دارة التحليل الكهربائي البسيط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8" name="Rectangle avec flèche vers la gauche 7"/>
          <p:cNvSpPr/>
          <p:nvPr/>
        </p:nvSpPr>
        <p:spPr>
          <a:xfrm>
            <a:off x="7055768" y="0"/>
            <a:ext cx="2088232" cy="1124744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9" name="Image 8" descr="aniion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528" y="2564904"/>
            <a:ext cx="3384376" cy="1985764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0" name="Ellipse 9"/>
          <p:cNvSpPr/>
          <p:nvPr/>
        </p:nvSpPr>
        <p:spPr>
          <a:xfrm>
            <a:off x="1547664" y="4149080"/>
            <a:ext cx="576064" cy="3600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 smtClean="0">
                <a:solidFill>
                  <a:schemeClr val="dk1"/>
                </a:solidFill>
              </a:rPr>
              <a:t>Zn</a:t>
            </a:r>
            <a:r>
              <a:rPr lang="fr-FR" sz="1000" b="1" baseline="30000" dirty="0" smtClean="0">
                <a:solidFill>
                  <a:schemeClr val="dk1"/>
                </a:solidFill>
              </a:rPr>
              <a:t>+</a:t>
            </a:r>
            <a:endParaRPr lang="fr-FR" sz="1000" b="1" dirty="0">
              <a:solidFill>
                <a:schemeClr val="bg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547664" y="3717032"/>
            <a:ext cx="576064" cy="3600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 smtClean="0">
                <a:solidFill>
                  <a:schemeClr val="dk1"/>
                </a:solidFill>
              </a:rPr>
              <a:t>Cl</a:t>
            </a:r>
            <a:r>
              <a:rPr lang="fr-FR" sz="1000" b="1" baseline="30000" dirty="0" smtClean="0">
                <a:solidFill>
                  <a:schemeClr val="dk1"/>
                </a:solidFill>
              </a:rPr>
              <a:t>-</a:t>
            </a:r>
            <a:endParaRPr lang="fr-FR" sz="1000" b="1" dirty="0">
              <a:solidFill>
                <a:schemeClr val="bg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043608" y="4005064"/>
            <a:ext cx="576064" cy="3600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 smtClean="0">
                <a:solidFill>
                  <a:schemeClr val="dk1"/>
                </a:solidFill>
              </a:rPr>
              <a:t>Cl</a:t>
            </a:r>
            <a:r>
              <a:rPr lang="fr-FR" sz="1000" b="1" baseline="30000" dirty="0" smtClean="0">
                <a:solidFill>
                  <a:schemeClr val="dk1"/>
                </a:solidFill>
              </a:rPr>
              <a:t>-</a:t>
            </a:r>
            <a:endParaRPr lang="fr-FR" sz="1000" b="1" dirty="0">
              <a:solidFill>
                <a:schemeClr val="bg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2051720" y="4077072"/>
            <a:ext cx="576064" cy="3600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 smtClean="0">
                <a:solidFill>
                  <a:schemeClr val="dk1"/>
                </a:solidFill>
              </a:rPr>
              <a:t>Zn</a:t>
            </a:r>
            <a:r>
              <a:rPr lang="fr-FR" sz="1000" b="1" baseline="30000" dirty="0" smtClean="0">
                <a:solidFill>
                  <a:schemeClr val="dk1"/>
                </a:solidFill>
              </a:rPr>
              <a:t>+</a:t>
            </a:r>
            <a:endParaRPr lang="fr-FR" sz="1000" b="1" dirty="0">
              <a:solidFill>
                <a:schemeClr val="bg1"/>
              </a:solidFill>
            </a:endParaRPr>
          </a:p>
        </p:txBody>
      </p:sp>
      <p:cxnSp>
        <p:nvCxnSpPr>
          <p:cNvPr id="15" name="Connecteur droit avec flèche 14"/>
          <p:cNvCxnSpPr/>
          <p:nvPr/>
        </p:nvCxnSpPr>
        <p:spPr>
          <a:xfrm>
            <a:off x="2483768" y="4221088"/>
            <a:ext cx="288032" cy="0"/>
          </a:xfrm>
          <a:prstGeom prst="straightConnector1">
            <a:avLst/>
          </a:prstGeom>
          <a:ln w="412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2051720" y="4365104"/>
            <a:ext cx="288032" cy="0"/>
          </a:xfrm>
          <a:prstGeom prst="straightConnector1">
            <a:avLst/>
          </a:prstGeom>
          <a:ln w="412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 flipH="1">
            <a:off x="827584" y="4221088"/>
            <a:ext cx="296416" cy="0"/>
          </a:xfrm>
          <a:prstGeom prst="straightConnector1">
            <a:avLst/>
          </a:prstGeom>
          <a:ln w="412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H="1">
            <a:off x="1403648" y="3861048"/>
            <a:ext cx="296416" cy="0"/>
          </a:xfrm>
          <a:prstGeom prst="straightConnector1">
            <a:avLst/>
          </a:prstGeom>
          <a:ln w="412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lipse 24"/>
          <p:cNvSpPr/>
          <p:nvPr/>
        </p:nvSpPr>
        <p:spPr>
          <a:xfrm>
            <a:off x="971600" y="2636912"/>
            <a:ext cx="216024" cy="216024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1"/>
                </a:solidFill>
              </a:rPr>
              <a:t>e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6" name="Ellipse 25"/>
          <p:cNvSpPr/>
          <p:nvPr/>
        </p:nvSpPr>
        <p:spPr>
          <a:xfrm>
            <a:off x="251520" y="2780928"/>
            <a:ext cx="216024" cy="216024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1"/>
                </a:solidFill>
              </a:rPr>
              <a:t>e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2339752" y="2636912"/>
            <a:ext cx="216024" cy="216024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1"/>
                </a:solidFill>
              </a:rPr>
              <a:t>e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8" name="Ellipse 27"/>
          <p:cNvSpPr/>
          <p:nvPr/>
        </p:nvSpPr>
        <p:spPr>
          <a:xfrm>
            <a:off x="3059832" y="2636912"/>
            <a:ext cx="216024" cy="216024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1"/>
                </a:solidFill>
              </a:rPr>
              <a:t>e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9" name="Ellipse 28"/>
          <p:cNvSpPr/>
          <p:nvPr/>
        </p:nvSpPr>
        <p:spPr>
          <a:xfrm>
            <a:off x="3563888" y="2780928"/>
            <a:ext cx="216024" cy="216024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1"/>
                </a:solidFill>
              </a:rPr>
              <a:t>e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30" name="Ellipse 29"/>
          <p:cNvSpPr/>
          <p:nvPr/>
        </p:nvSpPr>
        <p:spPr>
          <a:xfrm>
            <a:off x="2699792" y="3356992"/>
            <a:ext cx="216024" cy="216024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1"/>
                </a:solidFill>
              </a:rPr>
              <a:t>e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31" name="Ellipse 30"/>
          <p:cNvSpPr/>
          <p:nvPr/>
        </p:nvSpPr>
        <p:spPr>
          <a:xfrm>
            <a:off x="827584" y="3356992"/>
            <a:ext cx="216024" cy="216024"/>
          </a:xfrm>
          <a:prstGeom prst="ellips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bg1"/>
                </a:solidFill>
              </a:rPr>
              <a:t>e</a:t>
            </a:r>
            <a:endParaRPr lang="fr-FR" b="1" dirty="0">
              <a:solidFill>
                <a:schemeClr val="bg1"/>
              </a:solidFill>
            </a:endParaRPr>
          </a:p>
        </p:txBody>
      </p:sp>
      <p:cxnSp>
        <p:nvCxnSpPr>
          <p:cNvPr id="32" name="Connecteur droit avec flèche 31"/>
          <p:cNvCxnSpPr/>
          <p:nvPr/>
        </p:nvCxnSpPr>
        <p:spPr>
          <a:xfrm flipH="1" flipV="1">
            <a:off x="611560" y="3573016"/>
            <a:ext cx="8384" cy="432048"/>
          </a:xfrm>
          <a:prstGeom prst="straightConnector1">
            <a:avLst/>
          </a:prstGeom>
          <a:ln w="412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/>
          <p:nvPr/>
        </p:nvCxnSpPr>
        <p:spPr>
          <a:xfrm flipH="1" flipV="1">
            <a:off x="179512" y="2708920"/>
            <a:ext cx="8384" cy="432048"/>
          </a:xfrm>
          <a:prstGeom prst="straightConnector1">
            <a:avLst/>
          </a:prstGeom>
          <a:ln w="412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/>
          <p:cNvCxnSpPr/>
          <p:nvPr/>
        </p:nvCxnSpPr>
        <p:spPr>
          <a:xfrm>
            <a:off x="683568" y="2420888"/>
            <a:ext cx="495672" cy="0"/>
          </a:xfrm>
          <a:prstGeom prst="straightConnector1">
            <a:avLst/>
          </a:prstGeom>
          <a:ln w="412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/>
          <p:nvPr/>
        </p:nvCxnSpPr>
        <p:spPr>
          <a:xfrm>
            <a:off x="2267744" y="2420888"/>
            <a:ext cx="495672" cy="0"/>
          </a:xfrm>
          <a:prstGeom prst="straightConnector1">
            <a:avLst/>
          </a:prstGeom>
          <a:ln w="412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/>
          <p:cNvCxnSpPr/>
          <p:nvPr/>
        </p:nvCxnSpPr>
        <p:spPr>
          <a:xfrm>
            <a:off x="3923928" y="2780928"/>
            <a:ext cx="0" cy="504056"/>
          </a:xfrm>
          <a:prstGeom prst="straightConnector1">
            <a:avLst/>
          </a:prstGeom>
          <a:ln w="412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/>
          <p:cNvCxnSpPr/>
          <p:nvPr/>
        </p:nvCxnSpPr>
        <p:spPr>
          <a:xfrm>
            <a:off x="3131840" y="3356992"/>
            <a:ext cx="0" cy="504056"/>
          </a:xfrm>
          <a:prstGeom prst="straightConnector1">
            <a:avLst/>
          </a:prstGeom>
          <a:ln w="412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2015_1418654371_62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4" name="Rectangle à coins arrondis 3"/>
          <p:cNvSpPr/>
          <p:nvPr/>
        </p:nvSpPr>
        <p:spPr>
          <a:xfrm>
            <a:off x="0" y="1628800"/>
            <a:ext cx="9144000" cy="52292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عند التحليل الكهربائي لمحلول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الزنك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تتجه </a:t>
            </a:r>
            <a:r>
              <a:rPr lang="ar-DZ" sz="2000" b="1" dirty="0" err="1" smtClean="0">
                <a:solidFill>
                  <a:schemeClr val="bg1"/>
                </a:solidFill>
              </a:rPr>
              <a:t>شوارد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الكلور</a:t>
            </a:r>
            <a:r>
              <a:rPr lang="ar-DZ" sz="2000" b="1" dirty="0" smtClean="0">
                <a:solidFill>
                  <a:schemeClr val="bg1"/>
                </a:solidFill>
              </a:rPr>
              <a:t> نحو  المصعد  حيث  تفقد كل شاردة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 الكترون واحد و تصبح </a:t>
            </a:r>
            <a:r>
              <a:rPr lang="ar-DZ" sz="2000" b="1" dirty="0" err="1" smtClean="0">
                <a:solidFill>
                  <a:schemeClr val="bg1"/>
                </a:solidFill>
              </a:rPr>
              <a:t>جزيئ</a:t>
            </a:r>
            <a:r>
              <a:rPr lang="ar-DZ" sz="2000" b="1" dirty="0" smtClean="0">
                <a:solidFill>
                  <a:schemeClr val="bg1"/>
                </a:solidFill>
              </a:rPr>
              <a:t> واحد من غاز </a:t>
            </a:r>
            <a:r>
              <a:rPr lang="ar-DZ" sz="2000" b="1" dirty="0" err="1" smtClean="0">
                <a:solidFill>
                  <a:schemeClr val="bg1"/>
                </a:solidFill>
              </a:rPr>
              <a:t>الكلور</a:t>
            </a:r>
            <a:r>
              <a:rPr lang="ar-DZ" sz="2000" b="1" dirty="0" smtClean="0">
                <a:solidFill>
                  <a:schemeClr val="bg1"/>
                </a:solidFill>
              </a:rPr>
              <a:t> وفق المعادلة 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المعادلة  في المهبط </a:t>
            </a:r>
            <a:br>
              <a:rPr lang="ar-DZ" sz="2000" b="1" dirty="0" smtClean="0">
                <a:solidFill>
                  <a:schemeClr val="bg1"/>
                </a:solidFill>
              </a:rPr>
            </a:br>
            <a:r>
              <a:rPr lang="ar-DZ" sz="2000" b="1" dirty="0" smtClean="0">
                <a:solidFill>
                  <a:schemeClr val="bg1"/>
                </a:solidFill>
              </a:rPr>
              <a:t>   </a:t>
            </a:r>
            <a:r>
              <a:rPr lang="fr-FR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     </a:t>
            </a:r>
            <a:r>
              <a:rPr lang="fr-FR" sz="2000" b="1" dirty="0" smtClean="0">
                <a:solidFill>
                  <a:schemeClr val="bg1"/>
                </a:solidFill>
              </a:rPr>
              <a:t> Zn</a:t>
            </a:r>
            <a:r>
              <a:rPr lang="fr-FR" sz="2000" b="1" baseline="30000" dirty="0" smtClean="0">
                <a:solidFill>
                  <a:schemeClr val="bg1"/>
                </a:solidFill>
              </a:rPr>
              <a:t>2+</a:t>
            </a:r>
            <a:r>
              <a:rPr lang="fr-FR" sz="2000" b="1" dirty="0" smtClean="0">
                <a:solidFill>
                  <a:schemeClr val="bg1"/>
                </a:solidFill>
              </a:rPr>
              <a:t>  +  2e</a:t>
            </a:r>
            <a:r>
              <a:rPr lang="ar-DZ" sz="2000" b="1" baseline="30000" dirty="0" smtClean="0">
                <a:solidFill>
                  <a:schemeClr val="bg1"/>
                </a:solidFill>
              </a:rPr>
              <a:t>                                   </a:t>
            </a:r>
            <a:r>
              <a:rPr lang="fr-FR" sz="2000" b="1" dirty="0" smtClean="0">
                <a:solidFill>
                  <a:schemeClr val="bg1"/>
                </a:solidFill>
              </a:rPr>
              <a:t> Zn 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  تتجه  </a:t>
            </a:r>
            <a:r>
              <a:rPr lang="ar-DZ" sz="2000" b="1" dirty="0" err="1" smtClean="0">
                <a:solidFill>
                  <a:schemeClr val="bg1"/>
                </a:solidFill>
              </a:rPr>
              <a:t>شوارد</a:t>
            </a:r>
            <a:r>
              <a:rPr lang="ar-DZ" sz="2000" b="1" dirty="0" smtClean="0">
                <a:solidFill>
                  <a:schemeClr val="bg1"/>
                </a:solidFill>
              </a:rPr>
              <a:t> الزنك   نحو  المهبط حيث تكتسب كل شاردة زنك 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 الكترونان   لتصبح  ذرة واحدة من الزنك  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ومنه يترسب معدن الزنك  وفق المعادلة    </a:t>
            </a:r>
            <a:r>
              <a:rPr lang="fr-FR" sz="2000" b="1" dirty="0" smtClean="0">
                <a:solidFill>
                  <a:schemeClr val="bg1"/>
                </a:solidFill>
              </a:rPr>
              <a:t/>
            </a:r>
            <a:br>
              <a:rPr lang="fr-FR" sz="2000" b="1" dirty="0" smtClean="0">
                <a:solidFill>
                  <a:schemeClr val="bg1"/>
                </a:solidFill>
              </a:rPr>
            </a:br>
            <a:r>
              <a:rPr lang="ar-DZ" sz="2000" b="1" dirty="0" smtClean="0">
                <a:solidFill>
                  <a:schemeClr val="bg1"/>
                </a:solidFill>
              </a:rPr>
              <a:t>المعادلة  في </a:t>
            </a:r>
            <a:r>
              <a:rPr lang="ar-DZ" sz="2000" b="1" dirty="0" err="1" smtClean="0">
                <a:solidFill>
                  <a:schemeClr val="bg1"/>
                </a:solidFill>
              </a:rPr>
              <a:t>المعصد</a:t>
            </a:r>
            <a:r>
              <a:rPr lang="ar-DZ" sz="2000" b="1" dirty="0" smtClean="0">
                <a:solidFill>
                  <a:schemeClr val="bg1"/>
                </a:solidFill>
              </a:rPr>
              <a:t> </a:t>
            </a:r>
            <a:br>
              <a:rPr lang="ar-DZ" sz="2000" b="1" dirty="0" smtClean="0">
                <a:solidFill>
                  <a:schemeClr val="bg1"/>
                </a:solidFill>
              </a:rPr>
            </a:br>
            <a:r>
              <a:rPr lang="ar-DZ" sz="2000" b="1" dirty="0" smtClean="0">
                <a:solidFill>
                  <a:schemeClr val="bg1"/>
                </a:solidFill>
              </a:rPr>
              <a:t>2</a:t>
            </a:r>
            <a:r>
              <a:rPr lang="fr-FR" sz="2000" b="1" dirty="0" smtClean="0">
                <a:solidFill>
                  <a:schemeClr val="bg1"/>
                </a:solidFill>
              </a:rPr>
              <a:t>Cl</a:t>
            </a:r>
            <a:r>
              <a:rPr lang="fr-FR" sz="2000" b="1" baseline="30000" dirty="0" smtClean="0">
                <a:solidFill>
                  <a:schemeClr val="bg1"/>
                </a:solidFill>
              </a:rPr>
              <a:t>–</a:t>
            </a:r>
            <a:r>
              <a:rPr lang="fr-FR" sz="2000" b="1" dirty="0" smtClean="0">
                <a:solidFill>
                  <a:schemeClr val="bg1"/>
                </a:solidFill>
              </a:rPr>
              <a:t>   </a:t>
            </a:r>
            <a:r>
              <a:rPr lang="ar-DZ" sz="2000" b="1" dirty="0" smtClean="0">
                <a:solidFill>
                  <a:schemeClr val="bg1"/>
                </a:solidFill>
              </a:rPr>
              <a:t>                     </a:t>
            </a:r>
            <a:r>
              <a:rPr lang="fr-FR" sz="2000" b="1" dirty="0" smtClean="0">
                <a:solidFill>
                  <a:schemeClr val="bg1"/>
                </a:solidFill>
              </a:rPr>
              <a:t> Cl</a:t>
            </a:r>
            <a:r>
              <a:rPr lang="fr-FR" sz="2000" b="1" baseline="-25000" dirty="0" smtClean="0">
                <a:solidFill>
                  <a:schemeClr val="bg1"/>
                </a:solidFill>
              </a:rPr>
              <a:t>2</a:t>
            </a:r>
            <a:r>
              <a:rPr lang="fr-FR" sz="2000" b="1" dirty="0" smtClean="0">
                <a:solidFill>
                  <a:schemeClr val="bg1"/>
                </a:solidFill>
              </a:rPr>
              <a:t>  + 2e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-معادلة التفاعل </a:t>
            </a:r>
            <a:r>
              <a:rPr lang="ar-DZ" sz="2000" b="1" dirty="0" err="1" smtClean="0">
                <a:solidFill>
                  <a:schemeClr val="bg1"/>
                </a:solidFill>
              </a:rPr>
              <a:t>المنمذج</a:t>
            </a:r>
            <a:r>
              <a:rPr lang="ar-DZ" sz="2000" b="1" dirty="0" smtClean="0">
                <a:solidFill>
                  <a:schemeClr val="bg1"/>
                </a:solidFill>
              </a:rPr>
              <a:t> للتحليل </a:t>
            </a:r>
            <a:r>
              <a:rPr lang="ar-DZ" sz="2000" b="1" dirty="0" err="1" smtClean="0">
                <a:solidFill>
                  <a:schemeClr val="bg1"/>
                </a:solidFill>
              </a:rPr>
              <a:t>الكهريائي</a:t>
            </a:r>
            <a:r>
              <a:rPr lang="ar-DZ" sz="2000" b="1" dirty="0" smtClean="0">
                <a:solidFill>
                  <a:schemeClr val="bg1"/>
                </a:solidFill>
              </a:rPr>
              <a:t> البسيط لمحلول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الزنك </a:t>
            </a:r>
          </a:p>
          <a:p>
            <a:pPr algn="ctr"/>
            <a:r>
              <a:rPr lang="fr-FR" sz="2000" b="1" dirty="0" smtClean="0">
                <a:solidFill>
                  <a:schemeClr val="bg1"/>
                </a:solidFill>
              </a:rPr>
              <a:t>Zn</a:t>
            </a:r>
            <a:r>
              <a:rPr lang="fr-FR" sz="2000" b="1" baseline="30000" dirty="0" smtClean="0">
                <a:solidFill>
                  <a:schemeClr val="bg1"/>
                </a:solidFill>
              </a:rPr>
              <a:t>2+ </a:t>
            </a:r>
            <a:r>
              <a:rPr lang="fr-FR" sz="2000" b="1" dirty="0" smtClean="0">
                <a:solidFill>
                  <a:schemeClr val="bg1"/>
                </a:solidFill>
              </a:rPr>
              <a:t> (</a:t>
            </a:r>
            <a:r>
              <a:rPr lang="fr-FR" sz="2000" b="1" dirty="0" err="1" smtClean="0">
                <a:solidFill>
                  <a:schemeClr val="bg1"/>
                </a:solidFill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</a:rPr>
              <a:t>) +  </a:t>
            </a:r>
            <a:r>
              <a:rPr lang="ar-DZ" sz="2000" b="1" dirty="0" smtClean="0">
                <a:solidFill>
                  <a:schemeClr val="bg1"/>
                </a:solidFill>
              </a:rPr>
              <a:t>2</a:t>
            </a:r>
            <a:r>
              <a:rPr lang="fr-FR" sz="2000" b="1" dirty="0" smtClean="0">
                <a:solidFill>
                  <a:schemeClr val="bg1"/>
                </a:solidFill>
              </a:rPr>
              <a:t>Cl</a:t>
            </a:r>
            <a:r>
              <a:rPr lang="fr-FR" sz="2000" b="1" baseline="30000" dirty="0" smtClean="0">
                <a:solidFill>
                  <a:schemeClr val="bg1"/>
                </a:solidFill>
              </a:rPr>
              <a:t>– </a:t>
            </a:r>
            <a:r>
              <a:rPr lang="fr-FR" sz="2000" b="1" dirty="0" smtClean="0">
                <a:solidFill>
                  <a:schemeClr val="bg1"/>
                </a:solidFill>
              </a:rPr>
              <a:t> (</a:t>
            </a:r>
            <a:r>
              <a:rPr lang="fr-FR" sz="2000" b="1" dirty="0" err="1" smtClean="0">
                <a:solidFill>
                  <a:schemeClr val="bg1"/>
                </a:solidFill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</a:rPr>
              <a:t>)                     Zn (s)    + Cl</a:t>
            </a:r>
            <a:r>
              <a:rPr lang="fr-FR" sz="2000" b="1" baseline="-25000" dirty="0" smtClean="0">
                <a:solidFill>
                  <a:schemeClr val="bg1"/>
                </a:solidFill>
              </a:rPr>
              <a:t>2 </a:t>
            </a:r>
            <a:r>
              <a:rPr lang="fr-FR" sz="2000" b="1" dirty="0" smtClean="0">
                <a:solidFill>
                  <a:schemeClr val="bg1"/>
                </a:solidFill>
              </a:rPr>
              <a:t> (g)</a:t>
            </a:r>
            <a:endParaRPr lang="fr-FR" sz="2000" b="1" baseline="-25000" dirty="0" smtClean="0">
              <a:solidFill>
                <a:schemeClr val="bg1"/>
              </a:solidFill>
            </a:endParaRPr>
          </a:p>
          <a:p>
            <a:pPr algn="ctr"/>
            <a:r>
              <a:rPr lang="fr-FR" sz="2000" b="1" dirty="0" smtClean="0">
                <a:solidFill>
                  <a:schemeClr val="bg1"/>
                </a:solidFill>
              </a:rPr>
              <a:t>                          </a:t>
            </a:r>
            <a:r>
              <a:rPr lang="ar-DZ" sz="2000" b="1" dirty="0" smtClean="0">
                <a:solidFill>
                  <a:srgbClr val="FF0000"/>
                </a:solidFill>
              </a:rPr>
              <a:t> </a:t>
            </a:r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endParaRPr lang="fr-FR" sz="20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000" b="1" dirty="0" smtClean="0">
                <a:solidFill>
                  <a:schemeClr val="bg1"/>
                </a:solidFill>
              </a:rPr>
              <a:t> </a:t>
            </a: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fr-FR" sz="2000" b="1" baseline="-25000" dirty="0" smtClean="0">
              <a:solidFill>
                <a:schemeClr val="bg1"/>
              </a:solidFill>
            </a:endParaRPr>
          </a:p>
          <a:p>
            <a:r>
              <a:rPr lang="fr-FR" sz="2000" b="1" dirty="0" smtClean="0">
                <a:solidFill>
                  <a:schemeClr val="bg1"/>
                </a:solidFill>
              </a:rPr>
              <a:t>                          </a:t>
            </a:r>
          </a:p>
          <a:p>
            <a:pPr algn="r"/>
            <a:endParaRPr lang="fr-FR" sz="2000" b="1" dirty="0" smtClean="0">
              <a:solidFill>
                <a:schemeClr val="bg1"/>
              </a:solidFill>
            </a:endParaRPr>
          </a:p>
          <a:p>
            <a:pPr algn="r"/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400" b="1" dirty="0" smtClean="0">
                <a:solidFill>
                  <a:schemeClr val="bg1"/>
                </a:solidFill>
              </a:rPr>
              <a:t> 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8" name="Rectangle avec flèche vers la gauche 7"/>
          <p:cNvSpPr/>
          <p:nvPr/>
        </p:nvSpPr>
        <p:spPr>
          <a:xfrm>
            <a:off x="7343800" y="0"/>
            <a:ext cx="1800200" cy="764704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الدرس  4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0" y="0"/>
            <a:ext cx="7956376" cy="83671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التحليل الكهربائي البسيط 2 </a:t>
            </a:r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10" name="Rectangle avec flèche vers la gauche 9"/>
          <p:cNvSpPr/>
          <p:nvPr/>
        </p:nvSpPr>
        <p:spPr>
          <a:xfrm>
            <a:off x="7055768" y="836712"/>
            <a:ext cx="2088232" cy="864096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0" y="836712"/>
            <a:ext cx="7812360" cy="78579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معادلة التفاعل في كل مسرى والمعادلة الاجمالية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cxnSp>
        <p:nvCxnSpPr>
          <p:cNvPr id="13" name="Connecteur droit avec flèche 12"/>
          <p:cNvCxnSpPr/>
          <p:nvPr/>
        </p:nvCxnSpPr>
        <p:spPr>
          <a:xfrm>
            <a:off x="6516216" y="5301208"/>
            <a:ext cx="1080120" cy="0"/>
          </a:xfrm>
          <a:prstGeom prst="straightConnector1">
            <a:avLst/>
          </a:prstGeom>
          <a:ln w="508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7164288" y="3789040"/>
            <a:ext cx="1080120" cy="0"/>
          </a:xfrm>
          <a:prstGeom prst="straightConnector1">
            <a:avLst/>
          </a:prstGeom>
          <a:ln w="508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4427984" y="5949280"/>
            <a:ext cx="1080120" cy="0"/>
          </a:xfrm>
          <a:prstGeom prst="straightConnector1">
            <a:avLst/>
          </a:prstGeom>
          <a:ln w="508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15" descr="-4-638.jpg"/>
          <p:cNvPicPr>
            <a:picLocks noChangeAspect="1"/>
          </p:cNvPicPr>
          <p:nvPr/>
        </p:nvPicPr>
        <p:blipFill>
          <a:blip r:embed="rId3" cstate="print"/>
          <a:srcRect t="14732" r="2665"/>
          <a:stretch>
            <a:fillRect/>
          </a:stretch>
        </p:blipFill>
        <p:spPr>
          <a:xfrm>
            <a:off x="0" y="2132856"/>
            <a:ext cx="3419872" cy="2371868"/>
          </a:xfrm>
          <a:prstGeom prst="rect">
            <a:avLst/>
          </a:prstGeom>
        </p:spPr>
      </p:pic>
      <p:sp>
        <p:nvSpPr>
          <p:cNvPr id="17" name="Rectangle à coins arrondis 16"/>
          <p:cNvSpPr/>
          <p:nvPr/>
        </p:nvSpPr>
        <p:spPr>
          <a:xfrm>
            <a:off x="2267744" y="2996952"/>
            <a:ext cx="864096" cy="28803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 smtClean="0">
                <a:solidFill>
                  <a:schemeClr val="bg1"/>
                </a:solidFill>
              </a:rPr>
              <a:t>مصعد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8" name="Rectangle à coins arrondis 17"/>
          <p:cNvSpPr/>
          <p:nvPr/>
        </p:nvSpPr>
        <p:spPr>
          <a:xfrm>
            <a:off x="251520" y="3140968"/>
            <a:ext cx="864096" cy="28803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 smtClean="0">
                <a:solidFill>
                  <a:schemeClr val="bg1"/>
                </a:solidFill>
              </a:rPr>
              <a:t>مهبط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1115616" y="3717032"/>
            <a:ext cx="576064" cy="3600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 smtClean="0">
                <a:solidFill>
                  <a:schemeClr val="dk1"/>
                </a:solidFill>
              </a:rPr>
              <a:t>Zn</a:t>
            </a:r>
            <a:r>
              <a:rPr lang="fr-FR" sz="1000" b="1" baseline="30000" dirty="0" smtClean="0">
                <a:solidFill>
                  <a:schemeClr val="dk1"/>
                </a:solidFill>
              </a:rPr>
              <a:t>+</a:t>
            </a:r>
            <a:endParaRPr lang="fr-FR" sz="1000" b="1" dirty="0">
              <a:solidFill>
                <a:schemeClr val="bg1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1187624" y="3356992"/>
            <a:ext cx="576064" cy="3600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 smtClean="0">
                <a:solidFill>
                  <a:schemeClr val="dk1"/>
                </a:solidFill>
              </a:rPr>
              <a:t>Zn</a:t>
            </a:r>
            <a:r>
              <a:rPr lang="fr-FR" sz="1000" b="1" baseline="30000" dirty="0" smtClean="0">
                <a:solidFill>
                  <a:schemeClr val="dk1"/>
                </a:solidFill>
              </a:rPr>
              <a:t>+</a:t>
            </a:r>
            <a:endParaRPr lang="fr-FR" sz="1000" b="1" dirty="0">
              <a:solidFill>
                <a:schemeClr val="bg1"/>
              </a:solidFill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1619672" y="2996952"/>
            <a:ext cx="576064" cy="360040"/>
          </a:xfrm>
          <a:prstGeom prst="ellipse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 smtClean="0">
                <a:solidFill>
                  <a:schemeClr val="dk1"/>
                </a:solidFill>
              </a:rPr>
              <a:t>Cl</a:t>
            </a:r>
            <a:r>
              <a:rPr lang="fr-FR" sz="1000" b="1" baseline="30000" dirty="0" smtClean="0">
                <a:solidFill>
                  <a:schemeClr val="dk1"/>
                </a:solidFill>
              </a:rPr>
              <a:t>-</a:t>
            </a:r>
            <a:endParaRPr lang="fr-FR" sz="1000" b="1" dirty="0">
              <a:solidFill>
                <a:schemeClr val="bg1"/>
              </a:solidFill>
            </a:endParaRPr>
          </a:p>
        </p:txBody>
      </p:sp>
      <p:sp>
        <p:nvSpPr>
          <p:cNvPr id="22" name="Ellipse 21"/>
          <p:cNvSpPr/>
          <p:nvPr/>
        </p:nvSpPr>
        <p:spPr>
          <a:xfrm>
            <a:off x="1619672" y="3501008"/>
            <a:ext cx="576064" cy="360040"/>
          </a:xfrm>
          <a:prstGeom prst="ellipse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 smtClean="0">
                <a:solidFill>
                  <a:schemeClr val="dk1"/>
                </a:solidFill>
              </a:rPr>
              <a:t>Cl</a:t>
            </a:r>
            <a:r>
              <a:rPr lang="fr-FR" sz="1000" b="1" baseline="30000" dirty="0" smtClean="0">
                <a:solidFill>
                  <a:schemeClr val="dk1"/>
                </a:solidFill>
              </a:rPr>
              <a:t>-</a:t>
            </a:r>
            <a:endParaRPr lang="fr-FR" sz="1000" b="1" dirty="0">
              <a:solidFill>
                <a:schemeClr val="bg1"/>
              </a:solidFill>
            </a:endParaRPr>
          </a:p>
        </p:txBody>
      </p:sp>
      <p:sp>
        <p:nvSpPr>
          <p:cNvPr id="23" name="Rectangle à coins arrondis 22"/>
          <p:cNvSpPr/>
          <p:nvPr/>
        </p:nvSpPr>
        <p:spPr>
          <a:xfrm>
            <a:off x="1979712" y="4149080"/>
            <a:ext cx="1656184" cy="28803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b="1" dirty="0" smtClean="0">
                <a:solidFill>
                  <a:schemeClr val="bg1"/>
                </a:solidFill>
              </a:rPr>
              <a:t>محلول </a:t>
            </a:r>
            <a:r>
              <a:rPr lang="ar-DZ" b="1" dirty="0" err="1" smtClean="0">
                <a:solidFill>
                  <a:schemeClr val="bg1"/>
                </a:solidFill>
              </a:rPr>
              <a:t>كلور</a:t>
            </a:r>
            <a:r>
              <a:rPr lang="ar-DZ" b="1" dirty="0" smtClean="0">
                <a:solidFill>
                  <a:schemeClr val="bg1"/>
                </a:solidFill>
              </a:rPr>
              <a:t> الزنك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24" name="Rectangle à coins arrondis 23"/>
          <p:cNvSpPr/>
          <p:nvPr/>
        </p:nvSpPr>
        <p:spPr>
          <a:xfrm>
            <a:off x="2267744" y="3356992"/>
            <a:ext cx="1944216" cy="43204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1400" b="1" dirty="0" smtClean="0">
                <a:solidFill>
                  <a:schemeClr val="bg1"/>
                </a:solidFill>
              </a:rPr>
              <a:t>2</a:t>
            </a:r>
            <a:r>
              <a:rPr lang="fr-FR" sz="1400" b="1" dirty="0" smtClean="0">
                <a:solidFill>
                  <a:schemeClr val="bg1"/>
                </a:solidFill>
              </a:rPr>
              <a:t>Cl</a:t>
            </a:r>
            <a:r>
              <a:rPr lang="fr-FR" sz="1400" b="1" baseline="30000" dirty="0" smtClean="0">
                <a:solidFill>
                  <a:schemeClr val="bg1"/>
                </a:solidFill>
              </a:rPr>
              <a:t>–</a:t>
            </a:r>
            <a:r>
              <a:rPr lang="fr-FR" sz="1400" b="1" dirty="0" smtClean="0">
                <a:solidFill>
                  <a:schemeClr val="bg1"/>
                </a:solidFill>
              </a:rPr>
              <a:t>   </a:t>
            </a:r>
            <a:r>
              <a:rPr lang="ar-DZ" sz="1400" b="1" dirty="0" smtClean="0">
                <a:solidFill>
                  <a:schemeClr val="bg1"/>
                </a:solidFill>
              </a:rPr>
              <a:t>        </a:t>
            </a:r>
            <a:r>
              <a:rPr lang="fr-FR" sz="1400" b="1" dirty="0" smtClean="0">
                <a:solidFill>
                  <a:schemeClr val="bg1"/>
                </a:solidFill>
              </a:rPr>
              <a:t> Cl</a:t>
            </a:r>
            <a:r>
              <a:rPr lang="fr-FR" sz="1400" b="1" baseline="-25000" dirty="0" smtClean="0">
                <a:solidFill>
                  <a:schemeClr val="bg1"/>
                </a:solidFill>
              </a:rPr>
              <a:t>2</a:t>
            </a:r>
            <a:r>
              <a:rPr lang="fr-FR" sz="1400" b="1" dirty="0" smtClean="0">
                <a:solidFill>
                  <a:schemeClr val="bg1"/>
                </a:solidFill>
              </a:rPr>
              <a:t>  + 2e</a:t>
            </a:r>
            <a:endParaRPr lang="fr-FR" sz="1400" b="1" dirty="0">
              <a:solidFill>
                <a:schemeClr val="bg1"/>
              </a:solidFill>
            </a:endParaRPr>
          </a:p>
        </p:txBody>
      </p:sp>
      <p:cxnSp>
        <p:nvCxnSpPr>
          <p:cNvPr id="25" name="Connecteur droit avec flèche 24"/>
          <p:cNvCxnSpPr/>
          <p:nvPr/>
        </p:nvCxnSpPr>
        <p:spPr>
          <a:xfrm flipV="1">
            <a:off x="2915816" y="3573016"/>
            <a:ext cx="288032" cy="8384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à coins arrondis 27"/>
          <p:cNvSpPr/>
          <p:nvPr/>
        </p:nvSpPr>
        <p:spPr>
          <a:xfrm>
            <a:off x="179512" y="4149080"/>
            <a:ext cx="1763688" cy="43204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dirty="0" smtClean="0">
              <a:solidFill>
                <a:schemeClr val="bg1"/>
              </a:solidFill>
            </a:endParaRPr>
          </a:p>
          <a:p>
            <a:pPr algn="ctr"/>
            <a:r>
              <a:rPr lang="fr-FR" sz="1400" b="1" dirty="0" smtClean="0">
                <a:solidFill>
                  <a:schemeClr val="bg1"/>
                </a:solidFill>
              </a:rPr>
              <a:t>Zn</a:t>
            </a:r>
            <a:r>
              <a:rPr lang="fr-FR" sz="1400" b="1" baseline="30000" dirty="0" smtClean="0">
                <a:solidFill>
                  <a:schemeClr val="bg1"/>
                </a:solidFill>
              </a:rPr>
              <a:t>2+</a:t>
            </a:r>
            <a:r>
              <a:rPr lang="fr-FR" sz="1400" b="1" dirty="0" smtClean="0">
                <a:solidFill>
                  <a:schemeClr val="bg1"/>
                </a:solidFill>
              </a:rPr>
              <a:t>  +2e     </a:t>
            </a:r>
            <a:r>
              <a:rPr lang="ar-DZ" sz="1400" b="1" dirty="0" smtClean="0">
                <a:solidFill>
                  <a:schemeClr val="bg1"/>
                </a:solidFill>
              </a:rPr>
              <a:t>   </a:t>
            </a:r>
            <a:r>
              <a:rPr lang="fr-FR" sz="1400" b="1" dirty="0" smtClean="0">
                <a:solidFill>
                  <a:schemeClr val="bg1"/>
                </a:solidFill>
              </a:rPr>
              <a:t>  Zn</a:t>
            </a:r>
            <a:r>
              <a:rPr lang="ar-DZ" sz="1400" b="1" dirty="0" smtClean="0">
                <a:solidFill>
                  <a:schemeClr val="bg1"/>
                </a:solidFill>
              </a:rPr>
              <a:t>  </a:t>
            </a:r>
            <a:endParaRPr lang="fr-FR" sz="14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1400" b="1" dirty="0" smtClean="0">
                <a:solidFill>
                  <a:schemeClr val="bg1"/>
                </a:solidFill>
              </a:rPr>
              <a:t>   </a:t>
            </a:r>
            <a:r>
              <a:rPr lang="fr-FR" sz="1400" b="1" dirty="0" smtClean="0">
                <a:solidFill>
                  <a:schemeClr val="bg1"/>
                </a:solidFill>
              </a:rPr>
              <a:t>  </a:t>
            </a:r>
            <a:endParaRPr lang="fr-FR" sz="1400" b="1" dirty="0">
              <a:solidFill>
                <a:schemeClr val="bg1"/>
              </a:solidFill>
            </a:endParaRPr>
          </a:p>
        </p:txBody>
      </p:sp>
      <p:cxnSp>
        <p:nvCxnSpPr>
          <p:cNvPr id="29" name="Connecteur droit avec flèche 28"/>
          <p:cNvCxnSpPr/>
          <p:nvPr/>
        </p:nvCxnSpPr>
        <p:spPr>
          <a:xfrm flipV="1">
            <a:off x="1187624" y="4365104"/>
            <a:ext cx="288032" cy="8384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2015_1418654371_62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4" name="Rectangle à coins arrondis 3"/>
          <p:cNvSpPr/>
          <p:nvPr/>
        </p:nvSpPr>
        <p:spPr>
          <a:xfrm>
            <a:off x="0" y="980728"/>
            <a:ext cx="9144000" cy="561662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ar-DZ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من خلال معادلة التفاعل  </a:t>
            </a:r>
            <a:r>
              <a:rPr lang="ar-DZ" sz="2000" b="1" dirty="0" err="1" smtClean="0">
                <a:solidFill>
                  <a:schemeClr val="bg1"/>
                </a:solidFill>
              </a:rPr>
              <a:t>المنمذج</a:t>
            </a:r>
            <a:r>
              <a:rPr lang="ar-DZ" sz="2000" b="1" dirty="0" smtClean="0">
                <a:solidFill>
                  <a:schemeClr val="bg1"/>
                </a:solidFill>
              </a:rPr>
              <a:t> للتحليل الكهربائي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المعادلة  في المهبط </a:t>
            </a:r>
            <a:br>
              <a:rPr lang="ar-DZ" sz="2000" b="1" dirty="0" smtClean="0">
                <a:solidFill>
                  <a:schemeClr val="bg1"/>
                </a:solidFill>
              </a:rPr>
            </a:br>
            <a:r>
              <a:rPr lang="ar-DZ" sz="2000" b="1" dirty="0" smtClean="0">
                <a:solidFill>
                  <a:schemeClr val="bg1"/>
                </a:solidFill>
              </a:rPr>
              <a:t>   </a:t>
            </a:r>
            <a:r>
              <a:rPr lang="fr-FR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     </a:t>
            </a:r>
            <a:r>
              <a:rPr lang="fr-FR" sz="2000" b="1" dirty="0" smtClean="0">
                <a:solidFill>
                  <a:schemeClr val="bg1"/>
                </a:solidFill>
              </a:rPr>
              <a:t> Zn</a:t>
            </a:r>
            <a:r>
              <a:rPr lang="fr-FR" sz="2000" b="1" baseline="30000" dirty="0" smtClean="0">
                <a:solidFill>
                  <a:schemeClr val="bg1"/>
                </a:solidFill>
              </a:rPr>
              <a:t>2+</a:t>
            </a:r>
            <a:r>
              <a:rPr lang="fr-FR" sz="2000" b="1" dirty="0" smtClean="0">
                <a:solidFill>
                  <a:schemeClr val="bg1"/>
                </a:solidFill>
              </a:rPr>
              <a:t>  +  2</a:t>
            </a:r>
            <a:r>
              <a:rPr lang="ar-DZ" sz="2000" b="1" baseline="30000" dirty="0" smtClean="0">
                <a:solidFill>
                  <a:schemeClr val="bg1"/>
                </a:solidFill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</a:rPr>
              <a:t>e</a:t>
            </a:r>
            <a:r>
              <a:rPr lang="fr-FR" sz="2000" b="1" baseline="30000" dirty="0" smtClean="0">
                <a:solidFill>
                  <a:schemeClr val="bg1"/>
                </a:solidFill>
              </a:rPr>
              <a:t>-</a:t>
            </a:r>
            <a:r>
              <a:rPr lang="ar-DZ" sz="2000" b="1" baseline="30000" dirty="0" smtClean="0">
                <a:solidFill>
                  <a:schemeClr val="bg1"/>
                </a:solidFill>
              </a:rPr>
              <a:t>                                     </a:t>
            </a:r>
            <a:r>
              <a:rPr lang="fr-FR" sz="2000" b="1" dirty="0" smtClean="0">
                <a:solidFill>
                  <a:schemeClr val="bg1"/>
                </a:solidFill>
              </a:rPr>
              <a:t> Zn 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المعادلة  في </a:t>
            </a:r>
            <a:r>
              <a:rPr lang="ar-DZ" sz="2000" b="1" dirty="0" err="1" smtClean="0">
                <a:solidFill>
                  <a:schemeClr val="bg1"/>
                </a:solidFill>
              </a:rPr>
              <a:t>المعصد</a:t>
            </a:r>
            <a:r>
              <a:rPr lang="ar-DZ" sz="2000" b="1" dirty="0" smtClean="0">
                <a:solidFill>
                  <a:schemeClr val="bg1"/>
                </a:solidFill>
              </a:rPr>
              <a:t> </a:t>
            </a:r>
            <a:br>
              <a:rPr lang="ar-DZ" sz="2000" b="1" dirty="0" smtClean="0">
                <a:solidFill>
                  <a:schemeClr val="bg1"/>
                </a:solidFill>
              </a:rPr>
            </a:br>
            <a:r>
              <a:rPr lang="ar-DZ" sz="2000" b="1" dirty="0" smtClean="0">
                <a:solidFill>
                  <a:schemeClr val="bg1"/>
                </a:solidFill>
              </a:rPr>
              <a:t>2</a:t>
            </a:r>
            <a:r>
              <a:rPr lang="fr-FR" sz="2000" b="1" dirty="0" smtClean="0">
                <a:solidFill>
                  <a:schemeClr val="bg1"/>
                </a:solidFill>
              </a:rPr>
              <a:t>Cl</a:t>
            </a:r>
            <a:r>
              <a:rPr lang="fr-FR" sz="2000" b="1" baseline="30000" dirty="0" smtClean="0">
                <a:solidFill>
                  <a:schemeClr val="bg1"/>
                </a:solidFill>
              </a:rPr>
              <a:t>–</a:t>
            </a:r>
            <a:r>
              <a:rPr lang="fr-FR" sz="2000" b="1" dirty="0" smtClean="0">
                <a:solidFill>
                  <a:schemeClr val="bg1"/>
                </a:solidFill>
              </a:rPr>
              <a:t>   </a:t>
            </a:r>
            <a:r>
              <a:rPr lang="ar-DZ" sz="2000" b="1" dirty="0" smtClean="0">
                <a:solidFill>
                  <a:schemeClr val="bg1"/>
                </a:solidFill>
              </a:rPr>
              <a:t>                     </a:t>
            </a:r>
            <a:r>
              <a:rPr lang="fr-FR" sz="2000" b="1" dirty="0" smtClean="0">
                <a:solidFill>
                  <a:schemeClr val="bg1"/>
                </a:solidFill>
              </a:rPr>
              <a:t> Cl</a:t>
            </a:r>
            <a:r>
              <a:rPr lang="fr-FR" sz="2000" b="1" baseline="-25000" dirty="0" smtClean="0">
                <a:solidFill>
                  <a:schemeClr val="bg1"/>
                </a:solidFill>
              </a:rPr>
              <a:t>2</a:t>
            </a:r>
            <a:r>
              <a:rPr lang="fr-FR" sz="2000" b="1" dirty="0" smtClean="0">
                <a:solidFill>
                  <a:schemeClr val="bg1"/>
                </a:solidFill>
              </a:rPr>
              <a:t>  + 2 e</a:t>
            </a:r>
            <a:r>
              <a:rPr lang="fr-FR" sz="2000" b="1" baseline="30000" dirty="0" smtClean="0">
                <a:solidFill>
                  <a:schemeClr val="bg1"/>
                </a:solidFill>
              </a:rPr>
              <a:t>-</a:t>
            </a:r>
            <a:endParaRPr lang="ar-DZ" sz="2000" b="1" baseline="30000" dirty="0" smtClean="0">
              <a:solidFill>
                <a:schemeClr val="bg1"/>
              </a:solidFill>
            </a:endParaRPr>
          </a:p>
          <a:p>
            <a:pPr algn="ctr"/>
            <a:r>
              <a:rPr lang="fr-FR" sz="2000" b="1" dirty="0" smtClean="0">
                <a:solidFill>
                  <a:schemeClr val="bg1"/>
                </a:solidFill>
              </a:rPr>
              <a:t>Zn</a:t>
            </a:r>
            <a:r>
              <a:rPr lang="fr-FR" sz="2000" b="1" baseline="30000" dirty="0" smtClean="0">
                <a:solidFill>
                  <a:schemeClr val="bg1"/>
                </a:solidFill>
              </a:rPr>
              <a:t>2+ </a:t>
            </a:r>
            <a:r>
              <a:rPr lang="fr-FR" sz="2000" b="1" dirty="0" smtClean="0">
                <a:solidFill>
                  <a:schemeClr val="bg1"/>
                </a:solidFill>
              </a:rPr>
              <a:t> (</a:t>
            </a:r>
            <a:r>
              <a:rPr lang="fr-FR" sz="2000" b="1" dirty="0" err="1" smtClean="0">
                <a:solidFill>
                  <a:schemeClr val="bg1"/>
                </a:solidFill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</a:rPr>
              <a:t>) +  </a:t>
            </a:r>
            <a:r>
              <a:rPr lang="ar-DZ" sz="2000" b="1" dirty="0" smtClean="0">
                <a:solidFill>
                  <a:schemeClr val="bg1"/>
                </a:solidFill>
              </a:rPr>
              <a:t>2</a:t>
            </a:r>
            <a:r>
              <a:rPr lang="fr-FR" sz="2000" b="1" dirty="0" smtClean="0">
                <a:solidFill>
                  <a:schemeClr val="bg1"/>
                </a:solidFill>
              </a:rPr>
              <a:t>Cl</a:t>
            </a:r>
            <a:r>
              <a:rPr lang="fr-FR" sz="2000" b="1" baseline="30000" dirty="0" smtClean="0">
                <a:solidFill>
                  <a:schemeClr val="bg1"/>
                </a:solidFill>
              </a:rPr>
              <a:t>– </a:t>
            </a:r>
            <a:r>
              <a:rPr lang="fr-FR" sz="2000" b="1" dirty="0" smtClean="0">
                <a:solidFill>
                  <a:schemeClr val="bg1"/>
                </a:solidFill>
              </a:rPr>
              <a:t> (</a:t>
            </a:r>
            <a:r>
              <a:rPr lang="fr-FR" sz="2000" b="1" dirty="0" err="1" smtClean="0">
                <a:solidFill>
                  <a:schemeClr val="bg1"/>
                </a:solidFill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</a:rPr>
              <a:t>)                     Zn (s)    + Cl</a:t>
            </a:r>
            <a:r>
              <a:rPr lang="fr-FR" sz="2000" b="1" baseline="-25000" dirty="0" smtClean="0">
                <a:solidFill>
                  <a:schemeClr val="bg1"/>
                </a:solidFill>
              </a:rPr>
              <a:t>2 </a:t>
            </a:r>
            <a:r>
              <a:rPr lang="fr-FR" sz="2000" b="1" dirty="0" smtClean="0">
                <a:solidFill>
                  <a:schemeClr val="bg1"/>
                </a:solidFill>
              </a:rPr>
              <a:t> (g)</a:t>
            </a:r>
            <a:r>
              <a:rPr lang="ar-DZ" sz="2000" b="1" dirty="0" smtClean="0">
                <a:solidFill>
                  <a:schemeClr val="bg1"/>
                </a:solidFill>
              </a:rPr>
              <a:t>المعادلة الاجمالية    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نحدد عدد الشحنات وعدد </a:t>
            </a:r>
            <a:r>
              <a:rPr lang="ar-DZ" sz="2000" b="1" dirty="0" err="1" smtClean="0">
                <a:solidFill>
                  <a:schemeClr val="bg1"/>
                </a:solidFill>
              </a:rPr>
              <a:t>الذرات</a:t>
            </a:r>
            <a:r>
              <a:rPr lang="ar-DZ" sz="2000" b="1" dirty="0" smtClean="0">
                <a:solidFill>
                  <a:schemeClr val="bg1"/>
                </a:solidFill>
              </a:rPr>
              <a:t> قبل وبعد التحليل الكهربائي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fr-FR" sz="2000" b="1" baseline="-25000" dirty="0" smtClean="0">
              <a:solidFill>
                <a:schemeClr val="bg1"/>
              </a:solidFill>
            </a:endParaRPr>
          </a:p>
          <a:p>
            <a:pPr algn="ctr"/>
            <a:r>
              <a:rPr lang="fr-FR" sz="2000" b="1" dirty="0" smtClean="0">
                <a:solidFill>
                  <a:schemeClr val="bg1"/>
                </a:solidFill>
              </a:rPr>
              <a:t>                          </a:t>
            </a:r>
            <a:r>
              <a:rPr lang="ar-DZ" sz="2000" b="1" dirty="0" smtClean="0">
                <a:solidFill>
                  <a:srgbClr val="FF0000"/>
                </a:solidFill>
              </a:rPr>
              <a:t> ان كتابة المعادلات النصفية و </a:t>
            </a:r>
            <a:r>
              <a:rPr lang="ar-DZ" sz="2000" b="1" dirty="0" err="1" smtClean="0">
                <a:solidFill>
                  <a:srgbClr val="FF0000"/>
                </a:solidFill>
              </a:rPr>
              <a:t>نمذجة</a:t>
            </a:r>
            <a:r>
              <a:rPr lang="ar-DZ" sz="2000" b="1" dirty="0" smtClean="0">
                <a:solidFill>
                  <a:srgbClr val="FF0000"/>
                </a:solidFill>
              </a:rPr>
              <a:t> معادلة التفاعل </a:t>
            </a:r>
            <a:r>
              <a:rPr lang="ar-DZ" sz="2000" b="1" dirty="0" err="1" smtClean="0">
                <a:solidFill>
                  <a:srgbClr val="FF0000"/>
                </a:solidFill>
              </a:rPr>
              <a:t>للتحيل</a:t>
            </a:r>
            <a:r>
              <a:rPr lang="ar-DZ" sz="2000" b="1" dirty="0" smtClean="0">
                <a:solidFill>
                  <a:srgbClr val="FF0000"/>
                </a:solidFill>
              </a:rPr>
              <a:t> الكهربائي للمحاليل </a:t>
            </a:r>
            <a:r>
              <a:rPr lang="ar-DZ" sz="2000" b="1" dirty="0" err="1" smtClean="0">
                <a:solidFill>
                  <a:srgbClr val="FF0000"/>
                </a:solidFill>
              </a:rPr>
              <a:t>الشاردية</a:t>
            </a:r>
            <a:r>
              <a:rPr lang="ar-DZ" sz="2000" b="1" dirty="0" smtClean="0">
                <a:solidFill>
                  <a:srgbClr val="FF0000"/>
                </a:solidFill>
              </a:rPr>
              <a:t>  يجب ان يحقق مبدأ </a:t>
            </a:r>
            <a:r>
              <a:rPr lang="ar-DZ" sz="2000" b="1" dirty="0" err="1" smtClean="0">
                <a:solidFill>
                  <a:srgbClr val="FF0000"/>
                </a:solidFill>
              </a:rPr>
              <a:t>انحفاظ</a:t>
            </a:r>
            <a:r>
              <a:rPr lang="ar-DZ" sz="2000" b="1" dirty="0" smtClean="0">
                <a:solidFill>
                  <a:srgbClr val="FF0000"/>
                </a:solidFill>
              </a:rPr>
              <a:t> الشحنة اي تساوي عدد الشحنات السالبة مع الموجبة </a:t>
            </a:r>
            <a:endParaRPr lang="fr-FR" sz="2000" b="1" dirty="0" smtClean="0">
              <a:solidFill>
                <a:srgbClr val="FF0000"/>
              </a:solidFill>
            </a:endParaRPr>
          </a:p>
          <a:p>
            <a:pPr algn="ctr"/>
            <a:r>
              <a:rPr lang="ar-DZ" sz="2000" b="1" dirty="0" smtClean="0">
                <a:solidFill>
                  <a:srgbClr val="FF0000"/>
                </a:solidFill>
              </a:rPr>
              <a:t>ومبدأ </a:t>
            </a:r>
            <a:r>
              <a:rPr lang="ar-DZ" sz="2000" b="1" dirty="0" err="1" smtClean="0">
                <a:solidFill>
                  <a:srgbClr val="FF0000"/>
                </a:solidFill>
              </a:rPr>
              <a:t>انحفاظ</a:t>
            </a:r>
            <a:r>
              <a:rPr lang="ar-DZ" sz="2000" b="1" dirty="0" smtClean="0">
                <a:solidFill>
                  <a:srgbClr val="FF0000"/>
                </a:solidFill>
              </a:rPr>
              <a:t> </a:t>
            </a:r>
            <a:r>
              <a:rPr lang="ar-DZ" sz="2000" b="1" dirty="0" err="1" smtClean="0">
                <a:solidFill>
                  <a:srgbClr val="FF0000"/>
                </a:solidFill>
              </a:rPr>
              <a:t>الذرات</a:t>
            </a:r>
            <a:r>
              <a:rPr lang="ar-DZ" sz="2000" b="1" dirty="0" smtClean="0">
                <a:solidFill>
                  <a:srgbClr val="FF0000"/>
                </a:solidFill>
              </a:rPr>
              <a:t> اي تساوي عدد </a:t>
            </a:r>
            <a:r>
              <a:rPr lang="ar-DZ" sz="2000" b="1" dirty="0" err="1" smtClean="0">
                <a:solidFill>
                  <a:srgbClr val="FF0000"/>
                </a:solidFill>
              </a:rPr>
              <a:t>الشوارد</a:t>
            </a:r>
            <a:r>
              <a:rPr lang="ar-DZ" sz="2000" b="1" dirty="0" smtClean="0">
                <a:solidFill>
                  <a:srgbClr val="FF0000"/>
                </a:solidFill>
              </a:rPr>
              <a:t> مع عدد </a:t>
            </a:r>
            <a:r>
              <a:rPr lang="ar-DZ" sz="2000" b="1" dirty="0" err="1" smtClean="0">
                <a:solidFill>
                  <a:srgbClr val="FF0000"/>
                </a:solidFill>
              </a:rPr>
              <a:t>الذرات</a:t>
            </a:r>
            <a:r>
              <a:rPr lang="ar-DZ" sz="2000" b="1" dirty="0" smtClean="0">
                <a:solidFill>
                  <a:srgbClr val="FF0000"/>
                </a:solidFill>
              </a:rPr>
              <a:t> من نفس النوع</a:t>
            </a:r>
          </a:p>
          <a:p>
            <a:pPr algn="ctr"/>
            <a:endParaRPr lang="ar-DZ" sz="2000" b="1" dirty="0" smtClean="0">
              <a:solidFill>
                <a:srgbClr val="FF0000"/>
              </a:solidFill>
            </a:endParaRPr>
          </a:p>
          <a:p>
            <a:pPr algn="ctr"/>
            <a:r>
              <a:rPr lang="ar-DZ" sz="2000" b="1" dirty="0" smtClean="0">
                <a:solidFill>
                  <a:srgbClr val="FF0000"/>
                </a:solidFill>
              </a:rPr>
              <a:t> </a:t>
            </a: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endParaRPr lang="fr-FR" sz="20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000" b="1" dirty="0" smtClean="0">
                <a:solidFill>
                  <a:schemeClr val="bg1"/>
                </a:solidFill>
              </a:rPr>
              <a:t> </a:t>
            </a: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ar-DZ" sz="2000" b="1" baseline="-25000" dirty="0" smtClean="0">
              <a:solidFill>
                <a:schemeClr val="bg1"/>
              </a:solidFill>
            </a:endParaRPr>
          </a:p>
          <a:p>
            <a:pPr algn="ctr"/>
            <a:endParaRPr lang="fr-FR" sz="2000" b="1" baseline="-25000" dirty="0" smtClean="0">
              <a:solidFill>
                <a:schemeClr val="bg1"/>
              </a:solidFill>
            </a:endParaRPr>
          </a:p>
          <a:p>
            <a:r>
              <a:rPr lang="fr-FR" sz="2000" b="1" dirty="0" smtClean="0">
                <a:solidFill>
                  <a:schemeClr val="bg1"/>
                </a:solidFill>
              </a:rPr>
              <a:t>                          </a:t>
            </a:r>
          </a:p>
          <a:p>
            <a:pPr algn="r"/>
            <a:endParaRPr lang="fr-FR" sz="2000" b="1" dirty="0" smtClean="0">
              <a:solidFill>
                <a:schemeClr val="bg1"/>
              </a:solidFill>
            </a:endParaRPr>
          </a:p>
          <a:p>
            <a:pPr algn="r"/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endParaRPr lang="fr-FR" sz="24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400" b="1" dirty="0" smtClean="0">
                <a:solidFill>
                  <a:schemeClr val="bg1"/>
                </a:solidFill>
              </a:rPr>
              <a:t> 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0" name="Rectangle avec flèche vers la gauche 9"/>
          <p:cNvSpPr/>
          <p:nvPr/>
        </p:nvSpPr>
        <p:spPr>
          <a:xfrm>
            <a:off x="7055768" y="0"/>
            <a:ext cx="2088232" cy="980728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2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0" y="0"/>
            <a:ext cx="7812360" cy="97443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مبدأ </a:t>
            </a:r>
            <a:r>
              <a:rPr lang="ar-DZ" sz="2400" b="1" dirty="0" err="1" smtClean="0">
                <a:solidFill>
                  <a:schemeClr val="bg1"/>
                </a:solidFill>
              </a:rPr>
              <a:t>نحفاظ</a:t>
            </a:r>
            <a:r>
              <a:rPr lang="ar-DZ" sz="2400" b="1" dirty="0" smtClean="0">
                <a:solidFill>
                  <a:schemeClr val="bg1"/>
                </a:solidFill>
              </a:rPr>
              <a:t>  الشحنة ومبدأ </a:t>
            </a:r>
            <a:r>
              <a:rPr lang="ar-DZ" sz="2400" b="1" dirty="0" err="1" smtClean="0">
                <a:solidFill>
                  <a:schemeClr val="bg1"/>
                </a:solidFill>
              </a:rPr>
              <a:t>انحفاظ</a:t>
            </a:r>
            <a:r>
              <a:rPr lang="ar-DZ" sz="2400" b="1" dirty="0" smtClean="0">
                <a:solidFill>
                  <a:schemeClr val="bg1"/>
                </a:solidFill>
              </a:rPr>
              <a:t> </a:t>
            </a:r>
            <a:r>
              <a:rPr lang="ar-DZ" sz="2400" b="1" dirty="0" err="1" smtClean="0">
                <a:solidFill>
                  <a:schemeClr val="bg1"/>
                </a:solidFill>
              </a:rPr>
              <a:t>الذرات</a:t>
            </a:r>
            <a:r>
              <a:rPr lang="ar-DZ" sz="2400" b="1" dirty="0" smtClean="0">
                <a:solidFill>
                  <a:schemeClr val="bg1"/>
                </a:solidFill>
              </a:rPr>
              <a:t>   </a:t>
            </a:r>
            <a:endParaRPr lang="fr-FR" sz="2400" b="1" dirty="0">
              <a:solidFill>
                <a:schemeClr val="bg1"/>
              </a:solidFill>
            </a:endParaRPr>
          </a:p>
        </p:txBody>
      </p:sp>
      <p:cxnSp>
        <p:nvCxnSpPr>
          <p:cNvPr id="15" name="Connecteur droit avec flèche 14"/>
          <p:cNvCxnSpPr/>
          <p:nvPr/>
        </p:nvCxnSpPr>
        <p:spPr>
          <a:xfrm>
            <a:off x="6372200" y="2708920"/>
            <a:ext cx="1080120" cy="0"/>
          </a:xfrm>
          <a:prstGeom prst="straightConnector1">
            <a:avLst/>
          </a:prstGeom>
          <a:ln w="508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1547664" y="3501008"/>
          <a:ext cx="6336705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235"/>
                <a:gridCol w="2112235"/>
                <a:gridCol w="2112235"/>
              </a:tblGrid>
              <a:tr h="370840">
                <a:tc>
                  <a:txBody>
                    <a:bodyPr/>
                    <a:lstStyle/>
                    <a:p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عدد ونوع </a:t>
                      </a:r>
                      <a:r>
                        <a:rPr lang="ar-DZ" sz="2000" b="1" dirty="0" err="1" smtClean="0">
                          <a:solidFill>
                            <a:schemeClr val="bg1"/>
                          </a:solidFill>
                        </a:rPr>
                        <a:t>الذرات</a:t>
                      </a:r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عدد الشحنات  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 smtClean="0">
                          <a:solidFill>
                            <a:schemeClr val="bg1"/>
                          </a:solidFill>
                        </a:rPr>
                        <a:t>1  Zn</a:t>
                      </a:r>
                    </a:p>
                    <a:p>
                      <a:pPr algn="ctr"/>
                      <a:r>
                        <a:rPr lang="fr-FR" sz="2000" b="1" dirty="0" smtClean="0">
                          <a:solidFill>
                            <a:schemeClr val="bg1"/>
                          </a:solidFill>
                        </a:rPr>
                        <a:t>2  Cl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 smtClean="0">
                          <a:solidFill>
                            <a:schemeClr val="bg1"/>
                          </a:solidFill>
                        </a:rPr>
                        <a:t>2+</a:t>
                      </a:r>
                    </a:p>
                    <a:p>
                      <a:pPr algn="ctr"/>
                      <a:r>
                        <a:rPr lang="fr-FR" sz="2000" b="1" dirty="0" smtClean="0">
                          <a:solidFill>
                            <a:schemeClr val="bg1"/>
                          </a:solidFill>
                        </a:rPr>
                        <a:t>2-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قبل التحليل</a:t>
                      </a:r>
                      <a:r>
                        <a:rPr lang="ar-DZ" sz="2000" b="1" baseline="0" dirty="0" smtClean="0">
                          <a:solidFill>
                            <a:schemeClr val="bg1"/>
                          </a:solidFill>
                        </a:rPr>
                        <a:t> الكهربائي  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 smtClean="0">
                          <a:solidFill>
                            <a:schemeClr val="bg1"/>
                          </a:solidFill>
                        </a:rPr>
                        <a:t>1  Zn</a:t>
                      </a:r>
                    </a:p>
                    <a:p>
                      <a:pPr algn="ctr"/>
                      <a:r>
                        <a:rPr lang="fr-FR" sz="2000" b="1" dirty="0" smtClean="0">
                          <a:solidFill>
                            <a:schemeClr val="bg1"/>
                          </a:solidFill>
                        </a:rPr>
                        <a:t>2  Cl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400" b="1" dirty="0" err="1" smtClean="0"/>
                        <a:t>/</a:t>
                      </a:r>
                      <a:endParaRPr lang="fr-FR" sz="2400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بعد التحليل الكهربائي  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cxnSp>
        <p:nvCxnSpPr>
          <p:cNvPr id="16" name="Connecteur droit avec flèche 15"/>
          <p:cNvCxnSpPr/>
          <p:nvPr/>
        </p:nvCxnSpPr>
        <p:spPr>
          <a:xfrm>
            <a:off x="3491880" y="3068960"/>
            <a:ext cx="1080120" cy="0"/>
          </a:xfrm>
          <a:prstGeom prst="straightConnector1">
            <a:avLst/>
          </a:prstGeom>
          <a:ln w="508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7092280" y="2060848"/>
            <a:ext cx="1080120" cy="0"/>
          </a:xfrm>
          <a:prstGeom prst="straightConnector1">
            <a:avLst/>
          </a:prstGeom>
          <a:ln w="508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90977233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à coins arrondis 3"/>
          <p:cNvSpPr/>
          <p:nvPr/>
        </p:nvSpPr>
        <p:spPr>
          <a:xfrm>
            <a:off x="0" y="1268760"/>
            <a:ext cx="9144000" cy="558924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مرحلة 1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نضع في انبوب اختبار فيه برادة الحديد او صوف الحديد قطرات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 من محلول حمض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الماء</a:t>
            </a:r>
          </a:p>
          <a:p>
            <a:pPr algn="r"/>
            <a:r>
              <a:rPr lang="ar-SA" sz="2000" b="1" dirty="0" smtClean="0">
                <a:solidFill>
                  <a:schemeClr val="bg1"/>
                </a:solidFill>
              </a:rPr>
              <a:t>الملاحظ</a:t>
            </a:r>
            <a:r>
              <a:rPr lang="ar-DZ" sz="2000" b="1" dirty="0" smtClean="0">
                <a:solidFill>
                  <a:schemeClr val="bg1"/>
                </a:solidFill>
              </a:rPr>
              <a:t>ة </a:t>
            </a:r>
            <a:r>
              <a:rPr lang="ar-SA" sz="2000" b="1" dirty="0" smtClean="0">
                <a:solidFill>
                  <a:schemeClr val="bg1"/>
                </a:solidFill>
              </a:rPr>
              <a:t>صعود ف</a:t>
            </a:r>
            <a:r>
              <a:rPr lang="ar-DZ" sz="2000" b="1" dirty="0" err="1" smtClean="0">
                <a:solidFill>
                  <a:schemeClr val="bg1"/>
                </a:solidFill>
              </a:rPr>
              <a:t>قا</a:t>
            </a:r>
            <a:r>
              <a:rPr lang="ar-SA" sz="2000" b="1" dirty="0" smtClean="0">
                <a:solidFill>
                  <a:schemeClr val="bg1"/>
                </a:solidFill>
              </a:rPr>
              <a:t>عات غازية و تشكل محلول جديد </a:t>
            </a:r>
            <a:r>
              <a:rPr lang="fr-FR" sz="2000" b="1" dirty="0" smtClean="0">
                <a:solidFill>
                  <a:schemeClr val="bg1"/>
                </a:solidFill>
              </a:rPr>
              <a:t/>
            </a:r>
            <a:br>
              <a:rPr lang="fr-FR" sz="2000" b="1" dirty="0" smtClean="0">
                <a:solidFill>
                  <a:schemeClr val="bg1"/>
                </a:solidFill>
              </a:rPr>
            </a:br>
            <a:r>
              <a:rPr lang="ar-SA" sz="2000" b="1" dirty="0" err="1" smtClean="0">
                <a:solidFill>
                  <a:schemeClr val="bg1"/>
                </a:solidFill>
              </a:rPr>
              <a:t>مرحلة2</a:t>
            </a:r>
            <a:r>
              <a:rPr lang="fr-FR" sz="2000" b="1" dirty="0" smtClean="0">
                <a:solidFill>
                  <a:schemeClr val="bg1"/>
                </a:solidFill>
              </a:rPr>
              <a:t/>
            </a:r>
            <a:br>
              <a:rPr lang="fr-FR" sz="2000" b="1" dirty="0" smtClean="0">
                <a:solidFill>
                  <a:schemeClr val="bg1"/>
                </a:solidFill>
              </a:rPr>
            </a:br>
            <a:r>
              <a:rPr lang="ar-SA" sz="2000" b="1" dirty="0" smtClean="0">
                <a:solidFill>
                  <a:schemeClr val="bg1"/>
                </a:solidFill>
              </a:rPr>
              <a:t>الكشف عن النواتج </a:t>
            </a:r>
            <a:r>
              <a:rPr lang="fr-FR" sz="2000" b="1" dirty="0" smtClean="0">
                <a:solidFill>
                  <a:schemeClr val="bg1"/>
                </a:solidFill>
              </a:rPr>
              <a:t/>
            </a:r>
            <a:br>
              <a:rPr lang="fr-FR" sz="2000" b="1" dirty="0" smtClean="0">
                <a:solidFill>
                  <a:schemeClr val="bg1"/>
                </a:solidFill>
              </a:rPr>
            </a:br>
            <a:r>
              <a:rPr lang="ar-DZ" sz="2000" b="1" dirty="0" err="1" smtClean="0">
                <a:solidFill>
                  <a:schemeClr val="bg1"/>
                </a:solidFill>
              </a:rPr>
              <a:t>-</a:t>
            </a:r>
            <a:r>
              <a:rPr lang="ar-SA" sz="2000" b="1" dirty="0" smtClean="0">
                <a:solidFill>
                  <a:schemeClr val="bg1"/>
                </a:solidFill>
              </a:rPr>
              <a:t>للكشف عن الغاز المنطلق نقرب عود ثقاب مشتعل من انبوب الاختبار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000" b="1" dirty="0" smtClean="0">
                <a:solidFill>
                  <a:schemeClr val="dk1"/>
                </a:solidFill>
              </a:rPr>
              <a:t>H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2</a:t>
            </a:r>
            <a:r>
              <a:rPr lang="ar-SA" sz="2000" b="1" dirty="0" smtClean="0">
                <a:solidFill>
                  <a:schemeClr val="bg1"/>
                </a:solidFill>
              </a:rPr>
              <a:t> بعد سده فتحدث فرقعة دليل على وجود غاز الهيدروجين </a:t>
            </a:r>
            <a:r>
              <a:rPr lang="fr-FR" sz="2000" b="1" dirty="0" smtClean="0">
                <a:solidFill>
                  <a:schemeClr val="bg1"/>
                </a:solidFill>
              </a:rPr>
              <a:t/>
            </a:r>
            <a:br>
              <a:rPr lang="fr-FR" sz="2000" b="1" dirty="0" smtClean="0">
                <a:solidFill>
                  <a:schemeClr val="bg1"/>
                </a:solidFill>
              </a:rPr>
            </a:b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-</a:t>
            </a:r>
            <a:r>
              <a:rPr lang="ar-SA" sz="2000" b="1" dirty="0" smtClean="0">
                <a:solidFill>
                  <a:schemeClr val="bg1"/>
                </a:solidFill>
              </a:rPr>
              <a:t>للكشف عن اسم المحلول الناتج نضع كمية من المحلول 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SA" sz="2000" b="1" dirty="0" smtClean="0">
                <a:solidFill>
                  <a:schemeClr val="bg1"/>
                </a:solidFill>
              </a:rPr>
              <a:t>في انبوبي اختبار 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(Ag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+</a:t>
            </a:r>
            <a:r>
              <a:rPr lang="fr-FR" sz="2000" b="1" dirty="0" smtClean="0">
                <a:solidFill>
                  <a:schemeClr val="dk1"/>
                </a:solidFill>
              </a:rPr>
              <a:t> NO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3</a:t>
            </a:r>
            <a:r>
              <a:rPr lang="fr-FR" sz="2000" b="1" baseline="30000" dirty="0" smtClean="0">
                <a:solidFill>
                  <a:schemeClr val="dk1"/>
                </a:solidFill>
              </a:rPr>
              <a:t>-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) </a:t>
            </a:r>
            <a:r>
              <a:rPr lang="ar-DZ" sz="2000" b="1" dirty="0" smtClean="0">
                <a:solidFill>
                  <a:schemeClr val="bg1"/>
                </a:solidFill>
              </a:rPr>
              <a:t>1-</a:t>
            </a:r>
            <a:r>
              <a:rPr lang="ar-SA" sz="2000" b="1" dirty="0" smtClean="0">
                <a:solidFill>
                  <a:schemeClr val="bg1"/>
                </a:solidFill>
              </a:rPr>
              <a:t> نضع في الانبوب  الاول قطرات من محلو</a:t>
            </a:r>
            <a:r>
              <a:rPr lang="ar-DZ" sz="2000" b="1" dirty="0" smtClean="0">
                <a:solidFill>
                  <a:schemeClr val="bg1"/>
                </a:solidFill>
              </a:rPr>
              <a:t>ل </a:t>
            </a: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SA" sz="2000" b="1" dirty="0" err="1" smtClean="0">
                <a:solidFill>
                  <a:schemeClr val="bg1"/>
                </a:solidFill>
              </a:rPr>
              <a:t>نترات</a:t>
            </a:r>
            <a:r>
              <a:rPr lang="ar-SA" sz="2000" b="1" dirty="0" smtClean="0">
                <a:solidFill>
                  <a:schemeClr val="bg1"/>
                </a:solidFill>
              </a:rPr>
              <a:t> الفضة 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Cl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- </a:t>
            </a:r>
            <a:r>
              <a:rPr lang="ar-SA" sz="2000" b="1" dirty="0" smtClean="0">
                <a:solidFill>
                  <a:schemeClr val="bg1"/>
                </a:solidFill>
              </a:rPr>
              <a:t>فيتشكل راسب ابيض دليل على وجود </a:t>
            </a:r>
            <a:r>
              <a:rPr lang="ar-SA" sz="2000" b="1" dirty="0" err="1" smtClean="0">
                <a:solidFill>
                  <a:schemeClr val="bg1"/>
                </a:solidFill>
              </a:rPr>
              <a:t>شوارد</a:t>
            </a: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SA" sz="2000" b="1" dirty="0" err="1" smtClean="0">
                <a:solidFill>
                  <a:schemeClr val="bg1"/>
                </a:solidFill>
              </a:rPr>
              <a:t>الكلور</a:t>
            </a: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2-نضع في </a:t>
            </a:r>
            <a:r>
              <a:rPr lang="ar-SA" sz="2000" b="1" dirty="0" smtClean="0">
                <a:solidFill>
                  <a:schemeClr val="bg1"/>
                </a:solidFill>
              </a:rPr>
              <a:t> الانبوب الثاني قطرات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(Na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+ OH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-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)</a:t>
            </a:r>
            <a:r>
              <a:rPr lang="ar-SA" sz="2000" b="1" dirty="0" smtClean="0">
                <a:solidFill>
                  <a:schemeClr val="bg1"/>
                </a:solidFill>
              </a:rPr>
              <a:t> من محلول </a:t>
            </a:r>
            <a:r>
              <a:rPr lang="ar-SA" sz="2000" b="1" dirty="0" err="1" smtClean="0">
                <a:solidFill>
                  <a:schemeClr val="bg1"/>
                </a:solidFill>
              </a:rPr>
              <a:t>هيدروكسيد</a:t>
            </a:r>
            <a:r>
              <a:rPr lang="ar-SA" sz="2000" b="1" dirty="0" smtClean="0">
                <a:solidFill>
                  <a:schemeClr val="bg1"/>
                </a:solidFill>
              </a:rPr>
              <a:t> الصوديوم 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Fe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2+</a:t>
            </a:r>
            <a:r>
              <a:rPr lang="ar-SA" sz="2000" b="1" dirty="0" smtClean="0">
                <a:solidFill>
                  <a:schemeClr val="bg1"/>
                </a:solidFill>
              </a:rPr>
              <a:t> فيتشكل راسب اخضر دليل على وجود </a:t>
            </a:r>
            <a:r>
              <a:rPr lang="ar-SA" sz="2000" b="1" dirty="0" err="1" smtClean="0">
                <a:solidFill>
                  <a:schemeClr val="bg1"/>
                </a:solidFill>
              </a:rPr>
              <a:t>شوارد</a:t>
            </a:r>
            <a:r>
              <a:rPr lang="ar-SA" sz="2000" b="1" dirty="0" smtClean="0">
                <a:solidFill>
                  <a:schemeClr val="bg1"/>
                </a:solidFill>
              </a:rPr>
              <a:t> الحديد </a:t>
            </a:r>
            <a:r>
              <a:rPr lang="ar-SA" sz="2000" b="1" dirty="0" err="1" smtClean="0">
                <a:solidFill>
                  <a:schemeClr val="bg1"/>
                </a:solidFill>
              </a:rPr>
              <a:t>الثنائ</a:t>
            </a:r>
            <a:r>
              <a:rPr lang="ar-DZ" sz="2000" b="1" dirty="0" smtClean="0">
                <a:solidFill>
                  <a:schemeClr val="bg1"/>
                </a:solidFill>
              </a:rPr>
              <a:t>ي </a:t>
            </a:r>
          </a:p>
          <a:p>
            <a:pPr algn="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(Fe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+2 Cl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-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) </a:t>
            </a:r>
            <a:r>
              <a:rPr lang="ar-DZ" sz="2000" b="1" dirty="0" smtClean="0">
                <a:solidFill>
                  <a:schemeClr val="bg1"/>
                </a:solidFill>
              </a:rPr>
              <a:t>اذن المحلول الناتج هو محلول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الحديد الثنائي </a:t>
            </a:r>
          </a:p>
          <a:p>
            <a:pPr algn="ctr"/>
            <a:r>
              <a:rPr lang="ar-DZ" sz="2000" b="1" dirty="0" smtClean="0">
                <a:solidFill>
                  <a:srgbClr val="FF0000"/>
                </a:solidFill>
              </a:rPr>
              <a:t>الاستنتاج عند تفاعل الحديد مع محلول حمض </a:t>
            </a:r>
            <a:r>
              <a:rPr lang="ar-DZ" sz="2000" b="1" dirty="0" err="1" smtClean="0">
                <a:solidFill>
                  <a:srgbClr val="FF0000"/>
                </a:solidFill>
              </a:rPr>
              <a:t>كلور</a:t>
            </a:r>
            <a:r>
              <a:rPr lang="ar-DZ" sz="2000" b="1" dirty="0" smtClean="0">
                <a:solidFill>
                  <a:srgbClr val="FF0000"/>
                </a:solidFill>
              </a:rPr>
              <a:t> الماء </a:t>
            </a:r>
          </a:p>
          <a:p>
            <a:pPr algn="ctr"/>
            <a:r>
              <a:rPr lang="ar-DZ" sz="2000" b="1" dirty="0" smtClean="0">
                <a:solidFill>
                  <a:srgbClr val="FF0000"/>
                </a:solidFill>
              </a:rPr>
              <a:t>ينتج انطلاق غاز الهيدروجين و تشكل محلول </a:t>
            </a:r>
            <a:r>
              <a:rPr lang="ar-DZ" sz="2000" b="1" dirty="0" err="1" smtClean="0">
                <a:solidFill>
                  <a:srgbClr val="FF0000"/>
                </a:solidFill>
              </a:rPr>
              <a:t>كلور</a:t>
            </a:r>
            <a:r>
              <a:rPr lang="ar-DZ" sz="2000" b="1" dirty="0" smtClean="0">
                <a:solidFill>
                  <a:srgbClr val="FF0000"/>
                </a:solidFill>
              </a:rPr>
              <a:t> الحديد الثنائي   </a:t>
            </a:r>
            <a:br>
              <a:rPr lang="ar-DZ" sz="2000" b="1" dirty="0" smtClean="0">
                <a:solidFill>
                  <a:srgbClr val="FF0000"/>
                </a:solidFill>
              </a:rPr>
            </a:br>
            <a:endParaRPr lang="ar-DZ" sz="2000" b="1" dirty="0" smtClean="0">
              <a:solidFill>
                <a:srgbClr val="FF0000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br>
              <a:rPr lang="ar-DZ" sz="2000" b="1" dirty="0" smtClean="0">
                <a:solidFill>
                  <a:schemeClr val="bg1"/>
                </a:solidFill>
              </a:rPr>
            </a:b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5" name="Image 4" descr="http://dc596.4shared.com/img/RaWQlIHvba/149ada702e0/_____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556792"/>
            <a:ext cx="2339752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Image 5" descr="tube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3356992"/>
            <a:ext cx="2160240" cy="1640210"/>
          </a:xfrm>
          <a:prstGeom prst="rect">
            <a:avLst/>
          </a:prstGeom>
          <a:solidFill>
            <a:schemeClr val="accent6"/>
          </a:solidFill>
        </p:spPr>
      </p:pic>
      <p:pic>
        <p:nvPicPr>
          <p:cNvPr id="8" name="Image 7" descr="8-10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4941168"/>
            <a:ext cx="2051720" cy="1728192"/>
          </a:xfrm>
          <a:prstGeom prst="rect">
            <a:avLst/>
          </a:prstGeom>
        </p:spPr>
      </p:pic>
      <p:sp>
        <p:nvSpPr>
          <p:cNvPr id="9" name="Rectangle avec flèche vers la gauche 8"/>
          <p:cNvSpPr/>
          <p:nvPr/>
        </p:nvSpPr>
        <p:spPr>
          <a:xfrm>
            <a:off x="7343800" y="0"/>
            <a:ext cx="1800200" cy="648072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الدرس  5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0" name="Rectangle à coins arrondis 9"/>
          <p:cNvSpPr/>
          <p:nvPr/>
        </p:nvSpPr>
        <p:spPr>
          <a:xfrm>
            <a:off x="0" y="0"/>
            <a:ext cx="8028384" cy="69269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التحولات الكيميائية    1 </a:t>
            </a:r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11" name="Rectangle avec flèche vers la gauche 10"/>
          <p:cNvSpPr/>
          <p:nvPr/>
        </p:nvSpPr>
        <p:spPr>
          <a:xfrm>
            <a:off x="7055768" y="620688"/>
            <a:ext cx="2088232" cy="720080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0" y="692696"/>
            <a:ext cx="7812360" cy="69269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تفاعل </a:t>
            </a:r>
            <a:r>
              <a:rPr lang="ar-DZ" sz="2400" b="1" dirty="0" err="1" smtClean="0">
                <a:solidFill>
                  <a:schemeClr val="bg1"/>
                </a:solidFill>
              </a:rPr>
              <a:t>معذن</a:t>
            </a:r>
            <a:r>
              <a:rPr lang="ar-DZ" sz="2400" b="1" dirty="0" smtClean="0">
                <a:solidFill>
                  <a:schemeClr val="bg1"/>
                </a:solidFill>
              </a:rPr>
              <a:t> مع محلول </a:t>
            </a:r>
            <a:r>
              <a:rPr lang="ar-DZ" sz="2400" b="1" dirty="0" err="1" smtClean="0">
                <a:solidFill>
                  <a:schemeClr val="bg1"/>
                </a:solidFill>
              </a:rPr>
              <a:t>حمضي </a:t>
            </a:r>
            <a:r>
              <a:rPr lang="ar-DZ" sz="2400" b="1" dirty="0" smtClean="0">
                <a:solidFill>
                  <a:schemeClr val="bg1"/>
                </a:solidFill>
              </a:rPr>
              <a:t>(الحديد مع حمض </a:t>
            </a:r>
            <a:r>
              <a:rPr lang="ar-DZ" sz="2400" b="1" dirty="0" err="1" smtClean="0">
                <a:solidFill>
                  <a:schemeClr val="bg1"/>
                </a:solidFill>
              </a:rPr>
              <a:t>كلور</a:t>
            </a:r>
            <a:r>
              <a:rPr lang="ar-DZ" sz="2400" b="1" dirty="0" smtClean="0">
                <a:solidFill>
                  <a:schemeClr val="bg1"/>
                </a:solidFill>
              </a:rPr>
              <a:t> الماء</a:t>
            </a:r>
            <a:r>
              <a:rPr lang="ar-DZ" sz="2400" b="1" dirty="0" err="1" smtClean="0">
                <a:solidFill>
                  <a:schemeClr val="bg1"/>
                </a:solidFill>
              </a:rPr>
              <a:t>)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294389_dreambox-sat.com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cxnSp>
        <p:nvCxnSpPr>
          <p:cNvPr id="10" name="Connecteur droit avec flèche 9"/>
          <p:cNvCxnSpPr/>
          <p:nvPr/>
        </p:nvCxnSpPr>
        <p:spPr>
          <a:xfrm flipH="1">
            <a:off x="7956376" y="2276872"/>
            <a:ext cx="8384" cy="855712"/>
          </a:xfrm>
          <a:prstGeom prst="straightConnector1">
            <a:avLst/>
          </a:prstGeom>
          <a:ln w="539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à coins arrondis 3"/>
          <p:cNvSpPr/>
          <p:nvPr/>
        </p:nvSpPr>
        <p:spPr>
          <a:xfrm>
            <a:off x="0" y="0"/>
            <a:ext cx="7812360" cy="78579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- معادلة التفاعل </a:t>
            </a:r>
            <a:r>
              <a:rPr lang="ar-DZ" sz="2000" b="1" dirty="0" err="1" smtClean="0">
                <a:solidFill>
                  <a:schemeClr val="bg1"/>
                </a:solidFill>
              </a:rPr>
              <a:t>المنمذج</a:t>
            </a:r>
            <a:r>
              <a:rPr lang="ar-DZ" sz="2000" b="1" dirty="0" smtClean="0">
                <a:solidFill>
                  <a:schemeClr val="bg1"/>
                </a:solidFill>
              </a:rPr>
              <a:t> للتحول </a:t>
            </a:r>
            <a:r>
              <a:rPr lang="ar-DZ" sz="2000" b="1" dirty="0" err="1" smtClean="0">
                <a:solidFill>
                  <a:schemeClr val="bg1"/>
                </a:solidFill>
              </a:rPr>
              <a:t>الكيميائي </a:t>
            </a:r>
            <a:r>
              <a:rPr lang="ar-DZ" sz="2000" b="1" dirty="0" smtClean="0">
                <a:solidFill>
                  <a:schemeClr val="bg1"/>
                </a:solidFill>
              </a:rPr>
              <a:t>(تفاعل الحديد مع محلول حمض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الماء</a:t>
            </a:r>
            <a:r>
              <a:rPr lang="ar-DZ" sz="2000" b="1" dirty="0" err="1" smtClean="0">
                <a:solidFill>
                  <a:schemeClr val="bg1"/>
                </a:solidFill>
              </a:rPr>
              <a:t>)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0" y="836712"/>
            <a:ext cx="9144000" cy="60212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من خلال نتائج التفاعل الكيميائي بين الحديد و محلول حمض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الماء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1-كتابة المعادلة الحرفية </a:t>
            </a:r>
          </a:p>
          <a:p>
            <a:r>
              <a:rPr lang="ar-DZ" sz="2000" b="1" dirty="0" smtClean="0">
                <a:solidFill>
                  <a:schemeClr val="bg1"/>
                </a:solidFill>
              </a:rPr>
              <a:t>غاز ثنائي الهيدروجين +محلول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الحديد الثنائي           محلول حمض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الماء +الحديد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2-كتابة معادلة التفاعل بالصيغة  </a:t>
            </a:r>
            <a:r>
              <a:rPr lang="ar-DZ" sz="2000" b="1" dirty="0" err="1" smtClean="0">
                <a:solidFill>
                  <a:schemeClr val="bg1"/>
                </a:solidFill>
              </a:rPr>
              <a:t>الشاردية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Fe (s)</a:t>
            </a:r>
            <a:r>
              <a:rPr lang="fr-FR" sz="2000" b="1" dirty="0" smtClean="0">
                <a:solidFill>
                  <a:schemeClr val="bg1"/>
                </a:solidFill>
              </a:rPr>
              <a:t>+ 2 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(H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+</a:t>
            </a:r>
            <a:r>
              <a:rPr lang="fr-FR" sz="2000" b="1" dirty="0" smtClean="0">
                <a:solidFill>
                  <a:schemeClr val="dk1"/>
                </a:solidFill>
              </a:rPr>
              <a:t> Cl</a:t>
            </a:r>
            <a:r>
              <a:rPr lang="fr-FR" sz="2000" b="1" baseline="30000" dirty="0" smtClean="0">
                <a:solidFill>
                  <a:schemeClr val="dk1"/>
                </a:solidFill>
              </a:rPr>
              <a:t>- 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                    ( Fe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+   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</a:t>
            </a:r>
            <a:r>
              <a:rPr lang="fr-FR" sz="2000" b="1" dirty="0" smtClean="0">
                <a:solidFill>
                  <a:schemeClr val="dk1"/>
                </a:solidFill>
              </a:rPr>
              <a:t> Cl</a:t>
            </a:r>
            <a:r>
              <a:rPr lang="fr-FR" sz="2000" b="1" baseline="30000" dirty="0" smtClean="0">
                <a:solidFill>
                  <a:schemeClr val="dk1"/>
                </a:solidFill>
              </a:rPr>
              <a:t>- 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  + </a:t>
            </a:r>
            <a:r>
              <a:rPr lang="fr-FR" sz="2000" b="1" dirty="0" smtClean="0">
                <a:solidFill>
                  <a:schemeClr val="dk1"/>
                </a:solidFill>
              </a:rPr>
              <a:t>H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2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(g)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مبدأ </a:t>
            </a:r>
            <a:r>
              <a:rPr lang="ar-DZ" sz="2000" b="1" dirty="0" err="1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الشحنة و </a:t>
            </a:r>
            <a:r>
              <a:rPr lang="ar-DZ" sz="2000" b="1" dirty="0" err="1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الذرات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</a:t>
            </a: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 كتابة معادلة تفاعل معدن مع محلول حمضي بصيغة </a:t>
            </a:r>
            <a:r>
              <a:rPr lang="ar-DZ" sz="2000" b="1" dirty="0" err="1" smtClean="0">
                <a:solidFill>
                  <a:schemeClr val="bg1"/>
                </a:solidFill>
              </a:rPr>
              <a:t>شاردية</a:t>
            </a:r>
            <a:r>
              <a:rPr lang="ar-DZ" sz="2000" b="1" dirty="0" smtClean="0">
                <a:solidFill>
                  <a:schemeClr val="bg1"/>
                </a:solidFill>
              </a:rPr>
              <a:t> يحقق مبدأ </a:t>
            </a:r>
            <a:r>
              <a:rPr lang="ar-DZ" sz="2000" b="1" dirty="0" err="1" smtClean="0">
                <a:solidFill>
                  <a:schemeClr val="bg1"/>
                </a:solidFill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</a:rPr>
              <a:t> الشحنة اي عدد الشحنات الموجبة و عدد الشحنات السالبة قبل و بعد التفاعل الكيميائي يكون متساو 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ويحقق مبدأ </a:t>
            </a:r>
            <a:r>
              <a:rPr lang="ar-DZ" sz="2000" b="1" dirty="0" err="1" smtClean="0">
                <a:solidFill>
                  <a:schemeClr val="bg1"/>
                </a:solidFill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الذرات</a:t>
            </a:r>
            <a:r>
              <a:rPr lang="ar-DZ" sz="2000" b="1" dirty="0" smtClean="0">
                <a:solidFill>
                  <a:schemeClr val="bg1"/>
                </a:solidFill>
              </a:rPr>
              <a:t> اي عدد ونوع </a:t>
            </a:r>
            <a:r>
              <a:rPr lang="ar-DZ" sz="2000" b="1" dirty="0" err="1" smtClean="0">
                <a:solidFill>
                  <a:schemeClr val="bg1"/>
                </a:solidFill>
              </a:rPr>
              <a:t>الذرات</a:t>
            </a:r>
            <a:r>
              <a:rPr lang="ar-DZ" sz="2000" b="1" dirty="0" smtClean="0">
                <a:solidFill>
                  <a:schemeClr val="bg1"/>
                </a:solidFill>
              </a:rPr>
              <a:t> و </a:t>
            </a:r>
            <a:r>
              <a:rPr lang="ar-DZ" sz="2000" b="1" dirty="0" err="1" smtClean="0">
                <a:solidFill>
                  <a:schemeClr val="bg1"/>
                </a:solidFill>
              </a:rPr>
              <a:t>الشوارد</a:t>
            </a:r>
            <a:r>
              <a:rPr lang="ar-DZ" sz="2000" b="1" dirty="0" smtClean="0">
                <a:solidFill>
                  <a:schemeClr val="bg1"/>
                </a:solidFill>
              </a:rPr>
              <a:t> قبل و بعد التفاعل الكيميائي يكون متساوي </a:t>
            </a: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ctr"/>
            <a:endParaRPr lang="fr-FR" sz="2000" dirty="0"/>
          </a:p>
        </p:txBody>
      </p:sp>
      <p:cxnSp>
        <p:nvCxnSpPr>
          <p:cNvPr id="11" name="Connecteur droit avec flèche 10"/>
          <p:cNvCxnSpPr/>
          <p:nvPr/>
        </p:nvCxnSpPr>
        <p:spPr>
          <a:xfrm>
            <a:off x="4067944" y="2492896"/>
            <a:ext cx="714380" cy="1588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>
            <a:off x="3419872" y="1916832"/>
            <a:ext cx="357190" cy="1588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251520" y="2996952"/>
          <a:ext cx="8208912" cy="2196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228"/>
                <a:gridCol w="2052228"/>
                <a:gridCol w="2052228"/>
                <a:gridCol w="2052228"/>
              </a:tblGrid>
              <a:tr h="226824">
                <a:tc gridSpan="2">
                  <a:txBody>
                    <a:bodyPr/>
                    <a:lstStyle/>
                    <a:p>
                      <a:pPr algn="ctr"/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قبل 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التفاعل  </a:t>
                      </a:r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(المتفاعلات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بعد 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التفاعل </a:t>
                      </a:r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(النواتج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ar-DZ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642352"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2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b="1" dirty="0" smtClean="0"/>
                        <a:t>عدد الشحنات الموجبة </a:t>
                      </a:r>
                    </a:p>
                    <a:p>
                      <a:r>
                        <a:rPr lang="ar-DZ" b="1" dirty="0" smtClean="0"/>
                        <a:t>عدد الشحنات السالبة  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2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b="1" dirty="0" smtClean="0"/>
                        <a:t>عدد الشحنات الموجبة </a:t>
                      </a:r>
                    </a:p>
                    <a:p>
                      <a:r>
                        <a:rPr lang="ar-DZ" b="1" dirty="0" smtClean="0"/>
                        <a:t>عدد الشحنات السالبة </a:t>
                      </a:r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الحديد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شوارد</a:t>
                      </a:r>
                      <a:r>
                        <a:rPr lang="ar-DZ" b="1" dirty="0" smtClean="0"/>
                        <a:t> الهيدروجين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شوارد</a:t>
                      </a:r>
                      <a:r>
                        <a:rPr lang="ar-DZ" b="1" dirty="0" smtClean="0"/>
                        <a:t> </a:t>
                      </a:r>
                      <a:r>
                        <a:rPr lang="ar-DZ" b="1" dirty="0" err="1" smtClean="0"/>
                        <a:t>الكلور</a:t>
                      </a:r>
                      <a:r>
                        <a:rPr lang="ar-DZ" b="1" dirty="0" smtClean="0"/>
                        <a:t> 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شوارد</a:t>
                      </a:r>
                      <a:r>
                        <a:rPr lang="ar-DZ" b="1" dirty="0" smtClean="0"/>
                        <a:t> الحديد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 الهيدروجين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شوارد</a:t>
                      </a:r>
                      <a:r>
                        <a:rPr lang="ar-DZ" b="1" dirty="0" smtClean="0"/>
                        <a:t> </a:t>
                      </a:r>
                      <a:r>
                        <a:rPr lang="ar-DZ" b="1" dirty="0" err="1" smtClean="0"/>
                        <a:t>الكلور</a:t>
                      </a:r>
                      <a:r>
                        <a:rPr lang="ar-DZ" b="1" dirty="0" smtClean="0"/>
                        <a:t> </a:t>
                      </a:r>
                      <a:endParaRPr lang="fr-FR" b="1" dirty="0" smtClean="0"/>
                    </a:p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avec flèche vers la gauche 11"/>
          <p:cNvSpPr/>
          <p:nvPr/>
        </p:nvSpPr>
        <p:spPr>
          <a:xfrm>
            <a:off x="7055768" y="0"/>
            <a:ext cx="2088232" cy="836712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2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294389_dreambox-sat.com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cxnSp>
        <p:nvCxnSpPr>
          <p:cNvPr id="10" name="Connecteur droit avec flèche 9"/>
          <p:cNvCxnSpPr/>
          <p:nvPr/>
        </p:nvCxnSpPr>
        <p:spPr>
          <a:xfrm flipH="1">
            <a:off x="7956376" y="2276872"/>
            <a:ext cx="8384" cy="855712"/>
          </a:xfrm>
          <a:prstGeom prst="straightConnector1">
            <a:avLst/>
          </a:prstGeom>
          <a:ln w="539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à coins arrondis 4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3-كتابة معادلة التفاعل بصيغة احصائية </a:t>
            </a:r>
          </a:p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Fe (s)</a:t>
            </a:r>
            <a:r>
              <a:rPr lang="fr-FR" sz="2000" b="1" dirty="0" smtClean="0">
                <a:solidFill>
                  <a:schemeClr val="bg1"/>
                </a:solidFill>
              </a:rPr>
              <a:t>+ 2 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H </a:t>
            </a:r>
            <a:r>
              <a:rPr lang="fr-FR" sz="2000" b="1" dirty="0" smtClean="0">
                <a:solidFill>
                  <a:schemeClr val="dk1"/>
                </a:solidFill>
              </a:rPr>
              <a:t>Cl</a:t>
            </a:r>
            <a:r>
              <a:rPr lang="fr-FR" sz="2000" b="1" baseline="30000" dirty="0" smtClean="0">
                <a:solidFill>
                  <a:schemeClr val="dk1"/>
                </a:solidFill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                      Fe </a:t>
            </a:r>
            <a:r>
              <a:rPr lang="fr-FR" sz="2000" b="1" dirty="0" smtClean="0">
                <a:solidFill>
                  <a:schemeClr val="dk1"/>
                </a:solidFill>
              </a:rPr>
              <a:t>Cl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2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  + </a:t>
            </a:r>
            <a:r>
              <a:rPr lang="fr-FR" sz="2000" b="1" dirty="0" smtClean="0">
                <a:solidFill>
                  <a:schemeClr val="dk1"/>
                </a:solidFill>
              </a:rPr>
              <a:t>H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2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(g)</a:t>
            </a:r>
          </a:p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lang="ar-DZ" sz="2000" b="1" dirty="0" smtClean="0">
              <a:solidFill>
                <a:schemeClr val="bg1"/>
              </a:solidFill>
              <a:latin typeface="Calibri" pitchFamily="34" charset="0"/>
              <a:ea typeface="Calibri" pitchFamily="34" charset="0"/>
              <a:cs typeface="Arial" pitchFamily="34" charset="0"/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مبدأ </a:t>
            </a:r>
            <a:r>
              <a:rPr lang="ar-DZ" sz="2000" b="1" dirty="0" err="1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الذرات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</a:t>
            </a: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كتابة معادلة تفاعل معدن مع محلول حمضي بصيغة احصائية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ويحقق مبدأ </a:t>
            </a:r>
            <a:r>
              <a:rPr lang="ar-DZ" sz="2000" b="1" dirty="0" err="1" smtClean="0">
                <a:solidFill>
                  <a:schemeClr val="bg1"/>
                </a:solidFill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الذرات</a:t>
            </a:r>
            <a:r>
              <a:rPr lang="ar-DZ" sz="2000" b="1" dirty="0" smtClean="0">
                <a:solidFill>
                  <a:schemeClr val="bg1"/>
                </a:solidFill>
              </a:rPr>
              <a:t>  فقط اي عدد ونوع </a:t>
            </a:r>
            <a:r>
              <a:rPr lang="ar-DZ" sz="2000" b="1" dirty="0" err="1" smtClean="0">
                <a:solidFill>
                  <a:schemeClr val="bg1"/>
                </a:solidFill>
              </a:rPr>
              <a:t>الذرات</a:t>
            </a:r>
            <a:r>
              <a:rPr lang="ar-DZ" sz="2000" b="1" dirty="0" smtClean="0">
                <a:solidFill>
                  <a:schemeClr val="bg1"/>
                </a:solidFill>
              </a:rPr>
              <a:t> قبل و بعد التفاعل الكيميائي يكون متساوي </a:t>
            </a: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كتابة المعادلة المختصرة او المواد المتفاعلة فقط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fr-FR" sz="24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Fe (s)</a:t>
            </a:r>
            <a:r>
              <a:rPr lang="fr-FR" sz="2400" b="1" dirty="0" smtClean="0">
                <a:solidFill>
                  <a:schemeClr val="bg1"/>
                </a:solidFill>
              </a:rPr>
              <a:t>+ 2  </a:t>
            </a:r>
            <a:r>
              <a:rPr lang="fr-FR" sz="24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H</a:t>
            </a:r>
            <a:r>
              <a:rPr lang="fr-FR" sz="24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+</a:t>
            </a:r>
            <a:r>
              <a:rPr lang="fr-FR" sz="24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(</a:t>
            </a:r>
            <a:r>
              <a:rPr lang="fr-FR" sz="24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4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</a:t>
            </a:r>
            <a:r>
              <a:rPr lang="ar-DZ" sz="24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              </a:t>
            </a:r>
            <a:r>
              <a:rPr lang="fr-FR" sz="24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Fe</a:t>
            </a:r>
            <a:r>
              <a:rPr lang="fr-FR" sz="24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2+</a:t>
            </a:r>
            <a:r>
              <a:rPr lang="fr-FR" sz="24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(</a:t>
            </a:r>
            <a:r>
              <a:rPr lang="fr-FR" sz="24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4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  + </a:t>
            </a:r>
            <a:r>
              <a:rPr lang="fr-FR" sz="2400" b="1" dirty="0" smtClean="0">
                <a:solidFill>
                  <a:schemeClr val="dk1"/>
                </a:solidFill>
              </a:rPr>
              <a:t>H</a:t>
            </a:r>
            <a:r>
              <a:rPr lang="fr-FR" sz="2400" b="1" baseline="-25000" dirty="0" smtClean="0">
                <a:solidFill>
                  <a:schemeClr val="dk1"/>
                </a:solidFill>
              </a:rPr>
              <a:t>2</a:t>
            </a:r>
            <a:r>
              <a:rPr lang="fr-FR" sz="24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(g)</a:t>
            </a:r>
          </a:p>
          <a:p>
            <a:pPr algn="ctr"/>
            <a:endParaRPr lang="ar-DZ" sz="24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  </a:t>
            </a:r>
          </a:p>
          <a:p>
            <a:pPr algn="ctr"/>
            <a:endParaRPr lang="fr-FR" sz="2000" dirty="0"/>
          </a:p>
        </p:txBody>
      </p:sp>
      <p:cxnSp>
        <p:nvCxnSpPr>
          <p:cNvPr id="7" name="Connecteur droit avec flèche 6"/>
          <p:cNvCxnSpPr/>
          <p:nvPr/>
        </p:nvCxnSpPr>
        <p:spPr>
          <a:xfrm>
            <a:off x="3995936" y="620688"/>
            <a:ext cx="714380" cy="1588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0" y="1484784"/>
          <a:ext cx="820891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228"/>
                <a:gridCol w="2052228"/>
                <a:gridCol w="2052228"/>
                <a:gridCol w="2052228"/>
              </a:tblGrid>
              <a:tr h="293752">
                <a:tc gridSpan="2">
                  <a:txBody>
                    <a:bodyPr/>
                    <a:lstStyle/>
                    <a:p>
                      <a:pPr algn="ctr"/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قبل 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التفاعل  </a:t>
                      </a:r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(المتفاعلات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بعد 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التفاعل </a:t>
                      </a:r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(النواتج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ar-DZ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الحديد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 الهيدروجين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 </a:t>
                      </a:r>
                      <a:r>
                        <a:rPr lang="ar-DZ" b="1" dirty="0" err="1" smtClean="0"/>
                        <a:t>الكلور</a:t>
                      </a:r>
                      <a:r>
                        <a:rPr lang="ar-DZ" b="1" dirty="0" smtClean="0"/>
                        <a:t> 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الحديد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 الهيدروجين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 </a:t>
                      </a:r>
                      <a:r>
                        <a:rPr lang="ar-DZ" b="1" dirty="0" err="1" smtClean="0"/>
                        <a:t>الكلور</a:t>
                      </a:r>
                      <a:r>
                        <a:rPr lang="ar-DZ" b="1" dirty="0" smtClean="0"/>
                        <a:t> </a:t>
                      </a:r>
                      <a:endParaRPr lang="fr-FR" b="1" dirty="0" smtClean="0"/>
                    </a:p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eur droit avec flèche 7"/>
          <p:cNvCxnSpPr/>
          <p:nvPr/>
        </p:nvCxnSpPr>
        <p:spPr>
          <a:xfrm>
            <a:off x="3995936" y="5157192"/>
            <a:ext cx="576064" cy="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90977234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4" name="Rectangle à coins arrondis 3"/>
          <p:cNvSpPr/>
          <p:nvPr/>
        </p:nvSpPr>
        <p:spPr>
          <a:xfrm>
            <a:off x="0" y="1556792"/>
            <a:ext cx="9144000" cy="530120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مرحلة 1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نضع في انبوب اختبار مسمار حديدي فيه محلول كبريات النحاس 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الملاحظة ترسب  طبقة حمراء من معدن معين على جزء المسمار المغمور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  و زوال اللون الازرق تدريجيا وتحوله الى اللون الاخضر الفاتح 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اي تشكل محلول جديد  </a:t>
            </a:r>
            <a:r>
              <a:rPr lang="fr-FR" sz="2000" b="1" dirty="0" smtClean="0">
                <a:solidFill>
                  <a:schemeClr val="bg1"/>
                </a:solidFill>
              </a:rPr>
              <a:t/>
            </a:r>
            <a:br>
              <a:rPr lang="fr-FR" sz="2000" b="1" dirty="0" smtClean="0">
                <a:solidFill>
                  <a:schemeClr val="bg1"/>
                </a:solidFill>
              </a:rPr>
            </a:br>
            <a:r>
              <a:rPr lang="ar-SA" sz="2000" b="1" dirty="0" err="1" smtClean="0">
                <a:solidFill>
                  <a:schemeClr val="bg1"/>
                </a:solidFill>
              </a:rPr>
              <a:t>مرحلة2</a:t>
            </a:r>
            <a:r>
              <a:rPr lang="fr-FR" sz="2000" b="1" dirty="0" smtClean="0">
                <a:solidFill>
                  <a:schemeClr val="bg1"/>
                </a:solidFill>
              </a:rPr>
              <a:t/>
            </a:r>
            <a:br>
              <a:rPr lang="fr-FR" sz="2000" b="1" dirty="0" smtClean="0">
                <a:solidFill>
                  <a:schemeClr val="bg1"/>
                </a:solidFill>
              </a:rPr>
            </a:br>
            <a:r>
              <a:rPr lang="ar-SA" sz="2000" b="1" dirty="0" smtClean="0">
                <a:solidFill>
                  <a:schemeClr val="bg1"/>
                </a:solidFill>
              </a:rPr>
              <a:t>الكشف عن النواتج </a:t>
            </a:r>
            <a:r>
              <a:rPr lang="fr-FR" sz="2000" b="1" dirty="0" smtClean="0">
                <a:solidFill>
                  <a:schemeClr val="bg1"/>
                </a:solidFill>
              </a:rPr>
              <a:t/>
            </a:r>
            <a:br>
              <a:rPr lang="fr-FR" sz="2000" b="1" dirty="0" smtClean="0">
                <a:solidFill>
                  <a:schemeClr val="bg1"/>
                </a:solidFill>
              </a:rPr>
            </a:b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-</a:t>
            </a:r>
            <a:r>
              <a:rPr lang="ar-SA" sz="2000" b="1" dirty="0" smtClean="0">
                <a:solidFill>
                  <a:schemeClr val="bg1"/>
                </a:solidFill>
              </a:rPr>
              <a:t>للكشف عن اسم المحلول الناتج نضع كمية من المحلول 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SA" sz="2000" b="1" dirty="0" smtClean="0">
                <a:solidFill>
                  <a:schemeClr val="bg1"/>
                </a:solidFill>
              </a:rPr>
              <a:t>في انبوبي اختبار 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(Ba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+2 Cl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-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) </a:t>
            </a:r>
            <a:r>
              <a:rPr lang="ar-DZ" sz="2000" b="1" dirty="0" smtClean="0">
                <a:solidFill>
                  <a:schemeClr val="bg1"/>
                </a:solidFill>
              </a:rPr>
              <a:t>1-</a:t>
            </a:r>
            <a:r>
              <a:rPr lang="ar-SA" sz="2000" b="1" dirty="0" smtClean="0">
                <a:solidFill>
                  <a:schemeClr val="bg1"/>
                </a:solidFill>
              </a:rPr>
              <a:t> نضع في الانبوب  الاول قطرات من محلو</a:t>
            </a:r>
            <a:r>
              <a:rPr lang="ar-DZ" sz="2000" b="1" dirty="0" smtClean="0">
                <a:solidFill>
                  <a:schemeClr val="bg1"/>
                </a:solidFill>
              </a:rPr>
              <a:t>ل </a:t>
            </a: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الباريوم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fr-FR" sz="2000" b="1" dirty="0" smtClean="0">
                <a:solidFill>
                  <a:schemeClr val="dk1"/>
                </a:solidFill>
              </a:rPr>
              <a:t>SO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4</a:t>
            </a:r>
            <a:r>
              <a:rPr lang="fr-FR" sz="2000" b="1" baseline="30000" dirty="0" smtClean="0">
                <a:solidFill>
                  <a:schemeClr val="dk1"/>
                </a:solidFill>
              </a:rPr>
              <a:t>2-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SA" sz="2000" b="1" dirty="0" smtClean="0">
                <a:solidFill>
                  <a:schemeClr val="bg1"/>
                </a:solidFill>
              </a:rPr>
              <a:t>فيتشكل راسب ابيض دليل على وجود </a:t>
            </a:r>
            <a:r>
              <a:rPr lang="ar-SA" sz="2000" b="1" dirty="0" err="1" smtClean="0">
                <a:solidFill>
                  <a:schemeClr val="bg1"/>
                </a:solidFill>
              </a:rPr>
              <a:t>شوارد</a:t>
            </a: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الكبريات 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2-نضع في </a:t>
            </a:r>
            <a:r>
              <a:rPr lang="ar-SA" sz="2000" b="1" dirty="0" smtClean="0">
                <a:solidFill>
                  <a:schemeClr val="bg1"/>
                </a:solidFill>
              </a:rPr>
              <a:t> الانبوب الثاني قطرات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(Na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+ OH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-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)</a:t>
            </a:r>
            <a:r>
              <a:rPr lang="ar-SA" sz="2000" b="1" dirty="0" smtClean="0">
                <a:solidFill>
                  <a:schemeClr val="bg1"/>
                </a:solidFill>
              </a:rPr>
              <a:t> من محلول </a:t>
            </a:r>
            <a:r>
              <a:rPr lang="ar-SA" sz="2000" b="1" dirty="0" err="1" smtClean="0">
                <a:solidFill>
                  <a:schemeClr val="bg1"/>
                </a:solidFill>
              </a:rPr>
              <a:t>هيدروكسيد</a:t>
            </a:r>
            <a:r>
              <a:rPr lang="ar-SA" sz="2000" b="1" dirty="0" smtClean="0">
                <a:solidFill>
                  <a:schemeClr val="bg1"/>
                </a:solidFill>
              </a:rPr>
              <a:t> الصوديوم 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Fe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2+</a:t>
            </a:r>
            <a:r>
              <a:rPr lang="ar-SA" sz="2000" b="1" dirty="0" smtClean="0">
                <a:solidFill>
                  <a:schemeClr val="bg1"/>
                </a:solidFill>
              </a:rPr>
              <a:t> فيتشكل راسب </a:t>
            </a:r>
            <a:r>
              <a:rPr lang="ar-DZ" sz="2000" b="1" dirty="0" smtClean="0">
                <a:solidFill>
                  <a:schemeClr val="bg1"/>
                </a:solidFill>
              </a:rPr>
              <a:t>اخضر </a:t>
            </a:r>
            <a:r>
              <a:rPr lang="ar-SA" sz="2000" b="1" dirty="0" smtClean="0">
                <a:solidFill>
                  <a:schemeClr val="bg1"/>
                </a:solidFill>
              </a:rPr>
              <a:t>دليل على وجود </a:t>
            </a:r>
            <a:r>
              <a:rPr lang="ar-SA" sz="2000" b="1" dirty="0" err="1" smtClean="0">
                <a:solidFill>
                  <a:schemeClr val="bg1"/>
                </a:solidFill>
              </a:rPr>
              <a:t>شوارد</a:t>
            </a: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االحديد</a:t>
            </a:r>
            <a:r>
              <a:rPr lang="ar-DZ" sz="2000" b="1" dirty="0" smtClean="0">
                <a:solidFill>
                  <a:schemeClr val="bg1"/>
                </a:solidFill>
              </a:rPr>
              <a:t> الثنائي  </a:t>
            </a:r>
          </a:p>
          <a:p>
            <a:pPr algn="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(Fe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+</a:t>
            </a:r>
            <a:r>
              <a:rPr lang="fr-FR" sz="2000" b="1" dirty="0" smtClean="0">
                <a:solidFill>
                  <a:schemeClr val="dk1"/>
                </a:solidFill>
              </a:rPr>
              <a:t>SO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4</a:t>
            </a:r>
            <a:r>
              <a:rPr lang="fr-FR" sz="2000" b="1" baseline="30000" dirty="0" smtClean="0">
                <a:solidFill>
                  <a:schemeClr val="dk1"/>
                </a:solidFill>
              </a:rPr>
              <a:t>2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</a:t>
            </a:r>
            <a:r>
              <a:rPr lang="ar-DZ" sz="2000" b="1" dirty="0" smtClean="0">
                <a:solidFill>
                  <a:schemeClr val="bg1"/>
                </a:solidFill>
              </a:rPr>
              <a:t>اذن المحلول الناتج هو محلول كبريات الحديد </a:t>
            </a:r>
          </a:p>
          <a:p>
            <a:pPr algn="r"/>
            <a:r>
              <a:rPr lang="ar-DZ" sz="2000" b="1" dirty="0" smtClean="0">
                <a:solidFill>
                  <a:srgbClr val="FF0000"/>
                </a:solidFill>
              </a:rPr>
              <a:t>الاستنتاج عند تفاعل الحديد مع محلول كبريات النحاس </a:t>
            </a:r>
          </a:p>
          <a:p>
            <a:pPr algn="r"/>
            <a:r>
              <a:rPr lang="ar-DZ" sz="2000" b="1" dirty="0" smtClean="0">
                <a:solidFill>
                  <a:srgbClr val="FF0000"/>
                </a:solidFill>
              </a:rPr>
              <a:t>ينتج معدن النحاس و تشكل محلول كبريات  الحديد الثنائي   </a:t>
            </a:r>
            <a:br>
              <a:rPr lang="ar-DZ" sz="2000" b="1" dirty="0" smtClean="0">
                <a:solidFill>
                  <a:srgbClr val="FF0000"/>
                </a:solidFill>
              </a:rPr>
            </a:br>
            <a:endParaRPr lang="ar-DZ" sz="2000" b="1" dirty="0" smtClean="0">
              <a:solidFill>
                <a:srgbClr val="FF0000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br>
              <a:rPr lang="ar-DZ" sz="2000" b="1" dirty="0" smtClean="0">
                <a:solidFill>
                  <a:schemeClr val="bg1"/>
                </a:solidFill>
              </a:rPr>
            </a:b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6" name="Image 5" descr="cufe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301208"/>
            <a:ext cx="2267744" cy="1556792"/>
          </a:xfrm>
          <a:prstGeom prst="rect">
            <a:avLst/>
          </a:prstGeom>
        </p:spPr>
      </p:pic>
      <p:pic>
        <p:nvPicPr>
          <p:cNvPr id="7" name="Image 6" descr="9-7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9512" y="3573016"/>
            <a:ext cx="2088232" cy="1728192"/>
          </a:xfrm>
          <a:prstGeom prst="rect">
            <a:avLst/>
          </a:prstGeom>
        </p:spPr>
      </p:pic>
      <p:pic>
        <p:nvPicPr>
          <p:cNvPr id="8" name="Image 7" descr="hqdefault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1556792"/>
            <a:ext cx="2376264" cy="2016224"/>
          </a:xfrm>
          <a:prstGeom prst="rect">
            <a:avLst/>
          </a:prstGeom>
        </p:spPr>
      </p:pic>
      <p:sp>
        <p:nvSpPr>
          <p:cNvPr id="9" name="Rectangle avec flèche vers la gauche 8"/>
          <p:cNvSpPr/>
          <p:nvPr/>
        </p:nvSpPr>
        <p:spPr>
          <a:xfrm>
            <a:off x="7055768" y="764704"/>
            <a:ext cx="2088232" cy="792088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1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0" name="Rectangle à coins arrondis 9"/>
          <p:cNvSpPr/>
          <p:nvPr/>
        </p:nvSpPr>
        <p:spPr>
          <a:xfrm>
            <a:off x="395536" y="836712"/>
            <a:ext cx="7416824" cy="78579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-تفاعل محلول ملحي  مع </a:t>
            </a:r>
            <a:r>
              <a:rPr lang="ar-DZ" sz="2400" b="1" dirty="0" err="1" smtClean="0">
                <a:solidFill>
                  <a:schemeClr val="bg1"/>
                </a:solidFill>
              </a:rPr>
              <a:t>معدن </a:t>
            </a:r>
            <a:r>
              <a:rPr lang="ar-DZ" sz="2400" b="1" dirty="0" smtClean="0">
                <a:solidFill>
                  <a:schemeClr val="bg1"/>
                </a:solidFill>
              </a:rPr>
              <a:t>(الحديد مع محلول كبريتات </a:t>
            </a:r>
            <a:r>
              <a:rPr lang="ar-DZ" sz="2400" b="1" dirty="0" err="1" smtClean="0">
                <a:solidFill>
                  <a:schemeClr val="bg1"/>
                </a:solidFill>
              </a:rPr>
              <a:t>النحاس )</a:t>
            </a:r>
            <a:r>
              <a:rPr lang="ar-DZ" sz="2400" b="1" dirty="0" smtClean="0">
                <a:solidFill>
                  <a:schemeClr val="bg1"/>
                </a:solidFill>
              </a:rPr>
              <a:t>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1" name="Rectangle avec flèche vers la gauche 10"/>
          <p:cNvSpPr/>
          <p:nvPr/>
        </p:nvSpPr>
        <p:spPr>
          <a:xfrm>
            <a:off x="7343800" y="0"/>
            <a:ext cx="1800200" cy="764704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الدرس  6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0" y="0"/>
            <a:ext cx="7956376" cy="83671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التحولات الكيميائية    2 </a:t>
            </a:r>
            <a:endParaRPr lang="fr-F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294389_dreambox-sat.com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cxnSp>
        <p:nvCxnSpPr>
          <p:cNvPr id="10" name="Connecteur droit avec flèche 9"/>
          <p:cNvCxnSpPr/>
          <p:nvPr/>
        </p:nvCxnSpPr>
        <p:spPr>
          <a:xfrm flipH="1">
            <a:off x="7956376" y="2276872"/>
            <a:ext cx="8384" cy="855712"/>
          </a:xfrm>
          <a:prstGeom prst="straightConnector1">
            <a:avLst/>
          </a:prstGeom>
          <a:ln w="539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à coins arrondis 3"/>
          <p:cNvSpPr/>
          <p:nvPr/>
        </p:nvSpPr>
        <p:spPr>
          <a:xfrm>
            <a:off x="0" y="0"/>
            <a:ext cx="7812360" cy="78579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- معادلة التفاعل </a:t>
            </a:r>
            <a:r>
              <a:rPr lang="ar-DZ" sz="2000" b="1" dirty="0" err="1" smtClean="0">
                <a:solidFill>
                  <a:schemeClr val="bg1"/>
                </a:solidFill>
              </a:rPr>
              <a:t>المنمذج</a:t>
            </a:r>
            <a:r>
              <a:rPr lang="ar-DZ" sz="2000" b="1" dirty="0" smtClean="0">
                <a:solidFill>
                  <a:schemeClr val="bg1"/>
                </a:solidFill>
              </a:rPr>
              <a:t> للتحول </a:t>
            </a:r>
            <a:r>
              <a:rPr lang="ar-DZ" sz="2000" b="1" dirty="0" err="1" smtClean="0">
                <a:solidFill>
                  <a:schemeClr val="bg1"/>
                </a:solidFill>
              </a:rPr>
              <a:t>الكيميائي </a:t>
            </a:r>
            <a:r>
              <a:rPr lang="ar-DZ" sz="2000" b="1" dirty="0" smtClean="0">
                <a:solidFill>
                  <a:schemeClr val="bg1"/>
                </a:solidFill>
              </a:rPr>
              <a:t>(تفاعل الحديد مع محلول كبريتات </a:t>
            </a:r>
            <a:r>
              <a:rPr lang="ar-DZ" sz="2000" b="1" dirty="0" err="1" smtClean="0">
                <a:solidFill>
                  <a:schemeClr val="bg1"/>
                </a:solidFill>
              </a:rPr>
              <a:t>النحاس )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0" y="836712"/>
            <a:ext cx="9144000" cy="602128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  <a:p>
            <a:pPr algn="ctr"/>
            <a:endParaRPr lang="fr-FR" sz="20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من خلال نتائج التفاعل الكيميائي بين الحديد و محلول كبريتات النحاس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1-كتابة المعادلة الحرفية </a:t>
            </a:r>
          </a:p>
          <a:p>
            <a:r>
              <a:rPr lang="ar-DZ" sz="2000" b="1" dirty="0" err="1" smtClean="0">
                <a:solidFill>
                  <a:schemeClr val="bg1"/>
                </a:solidFill>
              </a:rPr>
              <a:t>النحاس </a:t>
            </a:r>
            <a:r>
              <a:rPr lang="ar-DZ" sz="2000" b="1" dirty="0" smtClean="0">
                <a:solidFill>
                  <a:schemeClr val="bg1"/>
                </a:solidFill>
              </a:rPr>
              <a:t>+محلول كبريتات الحديد الثنائي           محلول كبريتات  </a:t>
            </a:r>
            <a:r>
              <a:rPr lang="ar-DZ" sz="2000" b="1" dirty="0" err="1" smtClean="0">
                <a:solidFill>
                  <a:schemeClr val="bg1"/>
                </a:solidFill>
              </a:rPr>
              <a:t>النحاس </a:t>
            </a:r>
            <a:r>
              <a:rPr lang="ar-DZ" sz="2000" b="1" dirty="0" smtClean="0">
                <a:solidFill>
                  <a:schemeClr val="bg1"/>
                </a:solidFill>
              </a:rPr>
              <a:t>+الحديد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2-كتابة معادلة التفاعل بصيغ </a:t>
            </a:r>
            <a:r>
              <a:rPr lang="ar-DZ" sz="2000" b="1" dirty="0" err="1" smtClean="0">
                <a:solidFill>
                  <a:schemeClr val="bg1"/>
                </a:solidFill>
              </a:rPr>
              <a:t>شاردية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Fe (s) </a:t>
            </a:r>
            <a:r>
              <a:rPr lang="fr-FR" sz="2000" b="1" dirty="0" smtClean="0">
                <a:solidFill>
                  <a:schemeClr val="bg1"/>
                </a:solidFill>
              </a:rPr>
              <a:t>+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(Cu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+</a:t>
            </a:r>
            <a:r>
              <a:rPr lang="fr-FR" sz="2000" b="1" dirty="0" smtClean="0">
                <a:solidFill>
                  <a:schemeClr val="dk1"/>
                </a:solidFill>
              </a:rPr>
              <a:t> SO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4</a:t>
            </a:r>
            <a:r>
              <a:rPr lang="fr-FR" sz="2000" b="1" baseline="30000" dirty="0" smtClean="0">
                <a:solidFill>
                  <a:schemeClr val="dk1"/>
                </a:solidFill>
              </a:rPr>
              <a:t>2-</a:t>
            </a:r>
            <a:r>
              <a:rPr lang="fr-FR" sz="2000" b="1" dirty="0" smtClean="0">
                <a:solidFill>
                  <a:schemeClr val="dk1"/>
                </a:solidFill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               ( Fe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+</a:t>
            </a:r>
            <a:r>
              <a:rPr lang="fr-FR" sz="2000" b="1" dirty="0" smtClean="0">
                <a:solidFill>
                  <a:schemeClr val="dk1"/>
                </a:solidFill>
              </a:rPr>
              <a:t> SO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4</a:t>
            </a:r>
            <a:r>
              <a:rPr lang="fr-FR" sz="2000" b="1" baseline="30000" dirty="0" smtClean="0">
                <a:solidFill>
                  <a:schemeClr val="dk1"/>
                </a:solidFill>
              </a:rPr>
              <a:t>2-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  + </a:t>
            </a:r>
            <a:r>
              <a:rPr lang="fr-FR" sz="2000" b="1" dirty="0" smtClean="0">
                <a:solidFill>
                  <a:schemeClr val="dk1"/>
                </a:solidFill>
              </a:rPr>
              <a:t>Cu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(s)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مبدأ </a:t>
            </a:r>
            <a:r>
              <a:rPr lang="ar-DZ" sz="2000" b="1" dirty="0" err="1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الشحنة و </a:t>
            </a:r>
            <a:r>
              <a:rPr lang="ar-DZ" sz="2000" b="1" dirty="0" err="1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الذرات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</a:t>
            </a: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 كتابة معادلة تفاعل </a:t>
            </a:r>
            <a:r>
              <a:rPr lang="ar-DZ" sz="2000" b="1" dirty="0" err="1" smtClean="0">
                <a:solidFill>
                  <a:schemeClr val="bg1"/>
                </a:solidFill>
              </a:rPr>
              <a:t>الحمعدن</a:t>
            </a:r>
            <a:r>
              <a:rPr lang="ar-DZ" sz="2000" b="1" dirty="0" smtClean="0">
                <a:solidFill>
                  <a:schemeClr val="bg1"/>
                </a:solidFill>
              </a:rPr>
              <a:t> مع محلول ملحي بصيغة </a:t>
            </a:r>
            <a:r>
              <a:rPr lang="ar-DZ" sz="2000" b="1" dirty="0" err="1" smtClean="0">
                <a:solidFill>
                  <a:schemeClr val="bg1"/>
                </a:solidFill>
              </a:rPr>
              <a:t>شاردية</a:t>
            </a:r>
            <a:r>
              <a:rPr lang="ar-DZ" sz="2000" b="1" dirty="0" smtClean="0">
                <a:solidFill>
                  <a:schemeClr val="bg1"/>
                </a:solidFill>
              </a:rPr>
              <a:t> يحقق مبدأ </a:t>
            </a:r>
            <a:r>
              <a:rPr lang="ar-DZ" sz="2000" b="1" dirty="0" err="1" smtClean="0">
                <a:solidFill>
                  <a:schemeClr val="bg1"/>
                </a:solidFill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</a:rPr>
              <a:t> الشحنة اي عدد الشحنات الموجبة و عدد الشحنات السالبة قبل و بعد التفاعل الكيميائي يكون متساو 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ويحقق مبدأ </a:t>
            </a:r>
            <a:r>
              <a:rPr lang="ar-DZ" sz="2000" b="1" dirty="0" err="1" smtClean="0">
                <a:solidFill>
                  <a:schemeClr val="bg1"/>
                </a:solidFill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الذرات</a:t>
            </a:r>
            <a:r>
              <a:rPr lang="ar-DZ" sz="2000" b="1" dirty="0" smtClean="0">
                <a:solidFill>
                  <a:schemeClr val="bg1"/>
                </a:solidFill>
              </a:rPr>
              <a:t>  اي عدد ونوع </a:t>
            </a:r>
            <a:r>
              <a:rPr lang="ar-DZ" sz="2000" b="1" dirty="0" err="1" smtClean="0">
                <a:solidFill>
                  <a:schemeClr val="bg1"/>
                </a:solidFill>
              </a:rPr>
              <a:t>الذرات</a:t>
            </a:r>
            <a:r>
              <a:rPr lang="ar-DZ" sz="2000" b="1" dirty="0" smtClean="0">
                <a:solidFill>
                  <a:schemeClr val="bg1"/>
                </a:solidFill>
              </a:rPr>
              <a:t> و </a:t>
            </a:r>
            <a:r>
              <a:rPr lang="ar-DZ" sz="2000" b="1" dirty="0" err="1" smtClean="0">
                <a:solidFill>
                  <a:schemeClr val="bg1"/>
                </a:solidFill>
              </a:rPr>
              <a:t>الشوارد</a:t>
            </a:r>
            <a:r>
              <a:rPr lang="ar-DZ" sz="2000" b="1" dirty="0" smtClean="0">
                <a:solidFill>
                  <a:schemeClr val="bg1"/>
                </a:solidFill>
              </a:rPr>
              <a:t> قبل و بعد التفاعل الكيميائي يكون متساوي </a:t>
            </a: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ctr"/>
            <a:endParaRPr lang="fr-FR" sz="2000" dirty="0"/>
          </a:p>
        </p:txBody>
      </p:sp>
      <p:cxnSp>
        <p:nvCxnSpPr>
          <p:cNvPr id="11" name="Connecteur droit avec flèche 10"/>
          <p:cNvCxnSpPr/>
          <p:nvPr/>
        </p:nvCxnSpPr>
        <p:spPr>
          <a:xfrm>
            <a:off x="4139952" y="2492896"/>
            <a:ext cx="714380" cy="1588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>
            <a:off x="3275856" y="1916832"/>
            <a:ext cx="357190" cy="1588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251520" y="2924944"/>
          <a:ext cx="8208912" cy="2196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228"/>
                <a:gridCol w="2052228"/>
                <a:gridCol w="2052228"/>
                <a:gridCol w="2052228"/>
              </a:tblGrid>
              <a:tr h="226824">
                <a:tc gridSpan="2">
                  <a:txBody>
                    <a:bodyPr/>
                    <a:lstStyle/>
                    <a:p>
                      <a:pPr algn="ctr"/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قبل 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التفاعل  </a:t>
                      </a:r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(المتفاعلات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بعد 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التفاعل </a:t>
                      </a:r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(النواتج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ar-DZ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642352"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2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b="1" dirty="0" smtClean="0"/>
                        <a:t>عدد الشحنات الموجبة </a:t>
                      </a:r>
                    </a:p>
                    <a:p>
                      <a:r>
                        <a:rPr lang="ar-DZ" b="1" dirty="0" smtClean="0"/>
                        <a:t>عدد الشحنات السالبة  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2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b="1" dirty="0" smtClean="0"/>
                        <a:t>عدد الشحنات الموجبة </a:t>
                      </a:r>
                    </a:p>
                    <a:p>
                      <a:r>
                        <a:rPr lang="ar-DZ" b="1" dirty="0" smtClean="0"/>
                        <a:t>عدد الشحنات السالبة </a:t>
                      </a:r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الحديد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شواردالنحاس</a:t>
                      </a:r>
                      <a:r>
                        <a:rPr lang="ar-DZ" b="1" dirty="0" smtClean="0"/>
                        <a:t>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شوارد</a:t>
                      </a:r>
                      <a:r>
                        <a:rPr lang="ar-DZ" b="1" dirty="0" smtClean="0"/>
                        <a:t> الكبريتات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شوارد</a:t>
                      </a:r>
                      <a:r>
                        <a:rPr lang="ar-DZ" b="1" dirty="0" smtClean="0"/>
                        <a:t> الحديد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النحاس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شوارد</a:t>
                      </a:r>
                      <a:r>
                        <a:rPr lang="ar-DZ" b="1" dirty="0" smtClean="0"/>
                        <a:t> الكبريتات </a:t>
                      </a:r>
                      <a:endParaRPr lang="fr-FR" b="1" dirty="0" smtClean="0"/>
                    </a:p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avec flèche vers la gauche 11"/>
          <p:cNvSpPr/>
          <p:nvPr/>
        </p:nvSpPr>
        <p:spPr>
          <a:xfrm>
            <a:off x="7055768" y="0"/>
            <a:ext cx="2088232" cy="764704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2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294389_dreambox-sat.com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cxnSp>
        <p:nvCxnSpPr>
          <p:cNvPr id="10" name="Connecteur droit avec flèche 9"/>
          <p:cNvCxnSpPr/>
          <p:nvPr/>
        </p:nvCxnSpPr>
        <p:spPr>
          <a:xfrm flipH="1">
            <a:off x="7956376" y="2276872"/>
            <a:ext cx="8384" cy="855712"/>
          </a:xfrm>
          <a:prstGeom prst="straightConnector1">
            <a:avLst/>
          </a:prstGeom>
          <a:ln w="539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à coins arrondis 4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3-كتابة معادلة التفاعل بصيغ احصائية </a:t>
            </a:r>
          </a:p>
          <a:p>
            <a:pPr algn="ctr"/>
            <a:endParaRPr lang="fr-FR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Fe (s) </a:t>
            </a:r>
            <a:r>
              <a:rPr lang="fr-FR" sz="2000" b="1" dirty="0" smtClean="0">
                <a:solidFill>
                  <a:schemeClr val="bg1"/>
                </a:solidFill>
              </a:rPr>
              <a:t>+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Cu </a:t>
            </a:r>
            <a:r>
              <a:rPr lang="fr-FR" sz="2000" b="1" dirty="0" smtClean="0">
                <a:solidFill>
                  <a:schemeClr val="dk1"/>
                </a:solidFill>
              </a:rPr>
              <a:t>SO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4</a:t>
            </a:r>
            <a:r>
              <a:rPr lang="fr-FR" sz="2000" b="1" dirty="0" smtClean="0">
                <a:solidFill>
                  <a:schemeClr val="dk1"/>
                </a:solidFill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                 Fe </a:t>
            </a:r>
            <a:r>
              <a:rPr lang="fr-FR" sz="2000" b="1" dirty="0" smtClean="0">
                <a:solidFill>
                  <a:schemeClr val="dk1"/>
                </a:solidFill>
              </a:rPr>
              <a:t>SO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4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  + </a:t>
            </a:r>
            <a:r>
              <a:rPr lang="fr-FR" sz="2000" b="1" dirty="0" smtClean="0">
                <a:solidFill>
                  <a:schemeClr val="dk1"/>
                </a:solidFill>
              </a:rPr>
              <a:t>Cu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(s)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مبدأ </a:t>
            </a:r>
            <a:r>
              <a:rPr lang="ar-DZ" sz="2000" b="1" dirty="0" err="1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الذرات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</a:t>
            </a: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كتابة معادلة تفاعل معدن مع محلول ملحي  بصيغة احصائية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ويحقق مبدأ </a:t>
            </a:r>
            <a:r>
              <a:rPr lang="ar-DZ" sz="2000" b="1" dirty="0" err="1" smtClean="0">
                <a:solidFill>
                  <a:schemeClr val="bg1"/>
                </a:solidFill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االذرات</a:t>
            </a:r>
            <a:r>
              <a:rPr lang="ar-DZ" sz="2000" b="1" dirty="0" smtClean="0">
                <a:solidFill>
                  <a:schemeClr val="bg1"/>
                </a:solidFill>
              </a:rPr>
              <a:t>  فقط اي عدد ونوع </a:t>
            </a:r>
            <a:r>
              <a:rPr lang="ar-DZ" sz="2000" b="1" dirty="0" err="1" smtClean="0">
                <a:solidFill>
                  <a:schemeClr val="bg1"/>
                </a:solidFill>
              </a:rPr>
              <a:t>الذرات</a:t>
            </a:r>
            <a:r>
              <a:rPr lang="ar-DZ" sz="2000" b="1" dirty="0" smtClean="0">
                <a:solidFill>
                  <a:schemeClr val="bg1"/>
                </a:solidFill>
              </a:rPr>
              <a:t> قبل و بعد التفاعل الكيميائي يكون متساو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كتابة المعادلة المختصرة او المواد </a:t>
            </a:r>
            <a:r>
              <a:rPr lang="ar-DZ" sz="2000" b="1" dirty="0" err="1" smtClean="0">
                <a:solidFill>
                  <a:schemeClr val="bg1"/>
                </a:solidFill>
              </a:rPr>
              <a:t>التفاعلة</a:t>
            </a:r>
            <a:r>
              <a:rPr lang="ar-DZ" sz="2000" b="1" dirty="0" smtClean="0">
                <a:solidFill>
                  <a:schemeClr val="bg1"/>
                </a:solidFill>
              </a:rPr>
              <a:t> فقط  </a:t>
            </a:r>
          </a:p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Fe (s) </a:t>
            </a:r>
            <a:r>
              <a:rPr lang="fr-FR" sz="2000" b="1" dirty="0" smtClean="0">
                <a:solidFill>
                  <a:schemeClr val="bg1"/>
                </a:solidFill>
              </a:rPr>
              <a:t>+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Cu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               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Fe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  + </a:t>
            </a:r>
            <a:r>
              <a:rPr lang="fr-FR" sz="2000" b="1" dirty="0" smtClean="0">
                <a:solidFill>
                  <a:schemeClr val="dk1"/>
                </a:solidFill>
              </a:rPr>
              <a:t>Cu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(s) </a:t>
            </a: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4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  </a:t>
            </a:r>
          </a:p>
          <a:p>
            <a:pPr algn="ctr"/>
            <a:endParaRPr lang="fr-FR" sz="2000" dirty="0"/>
          </a:p>
        </p:txBody>
      </p:sp>
      <p:cxnSp>
        <p:nvCxnSpPr>
          <p:cNvPr id="7" name="Connecteur droit avec flèche 6"/>
          <p:cNvCxnSpPr/>
          <p:nvPr/>
        </p:nvCxnSpPr>
        <p:spPr>
          <a:xfrm>
            <a:off x="3995936" y="1052736"/>
            <a:ext cx="714380" cy="1588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107504" y="1916832"/>
          <a:ext cx="82089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228"/>
                <a:gridCol w="2052228"/>
                <a:gridCol w="2052228"/>
                <a:gridCol w="2052228"/>
              </a:tblGrid>
              <a:tr h="226824">
                <a:tc gridSpan="2">
                  <a:txBody>
                    <a:bodyPr/>
                    <a:lstStyle/>
                    <a:p>
                      <a:pPr algn="ctr"/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قبل 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التفاعل  </a:t>
                      </a:r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(المتفاعلات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بعد 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التفاعل </a:t>
                      </a:r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(النواتج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ar-DZ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4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الحديد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 النحاس 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 الكبريت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الاكسجين  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4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الحديد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 النحاس 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 الكبريت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الاكسجين  </a:t>
                      </a:r>
                      <a:endParaRPr lang="fr-FR" b="1" dirty="0" smtClean="0"/>
                    </a:p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eur droit avec flèche 7"/>
          <p:cNvCxnSpPr/>
          <p:nvPr/>
        </p:nvCxnSpPr>
        <p:spPr>
          <a:xfrm>
            <a:off x="3995936" y="4725144"/>
            <a:ext cx="714380" cy="1588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390977235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4" name="Rectangle à coins arrondis 3"/>
          <p:cNvSpPr/>
          <p:nvPr/>
        </p:nvSpPr>
        <p:spPr>
          <a:xfrm>
            <a:off x="0" y="548680"/>
            <a:ext cx="7740352" cy="78579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         -تفاعل محلول حمضي  مع </a:t>
            </a:r>
            <a:r>
              <a:rPr lang="ar-DZ" sz="2000" b="1" dirty="0" err="1" smtClean="0">
                <a:solidFill>
                  <a:schemeClr val="bg1"/>
                </a:solidFill>
              </a:rPr>
              <a:t>ملح  </a:t>
            </a:r>
            <a:r>
              <a:rPr lang="ar-DZ" sz="2000" b="1" dirty="0" smtClean="0">
                <a:solidFill>
                  <a:schemeClr val="bg1"/>
                </a:solidFill>
              </a:rPr>
              <a:t>(كربونات الكالسيوم مع محلول حمض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الماء ))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0" y="1268760"/>
            <a:ext cx="9144000" cy="558924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نضع في انبوب اختبار محلول حمض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الماء </a:t>
            </a:r>
            <a:r>
              <a:rPr lang="ar-DZ" sz="2000" b="1" dirty="0" err="1" smtClean="0">
                <a:solidFill>
                  <a:schemeClr val="bg1"/>
                </a:solidFill>
              </a:rPr>
              <a:t>به</a:t>
            </a:r>
            <a:r>
              <a:rPr lang="ar-DZ" sz="2000" b="1" dirty="0" smtClean="0">
                <a:solidFill>
                  <a:schemeClr val="bg1"/>
                </a:solidFill>
              </a:rPr>
              <a:t> قطعة </a:t>
            </a:r>
            <a:r>
              <a:rPr lang="ar-DZ" sz="2000" b="1" dirty="0" err="1" smtClean="0">
                <a:solidFill>
                  <a:schemeClr val="bg1"/>
                </a:solidFill>
              </a:rPr>
              <a:t>طبشور</a:t>
            </a:r>
            <a:r>
              <a:rPr lang="ar-DZ" sz="2000" b="1" dirty="0" smtClean="0">
                <a:solidFill>
                  <a:schemeClr val="bg1"/>
                </a:solidFill>
              </a:rPr>
              <a:t> (كربونات الكالسيوم</a:t>
            </a:r>
            <a:r>
              <a:rPr lang="ar-DZ" sz="2000" b="1" dirty="0" err="1" smtClean="0">
                <a:solidFill>
                  <a:schemeClr val="bg1"/>
                </a:solidFill>
              </a:rPr>
              <a:t>)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  الملاحظة  انطلاق غاز و تشكل محلول جديد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مرحلة </a:t>
            </a:r>
            <a:r>
              <a:rPr lang="ar-DZ" sz="2000" b="1" dirty="0" err="1" smtClean="0">
                <a:solidFill>
                  <a:schemeClr val="bg1"/>
                </a:solidFill>
              </a:rPr>
              <a:t>2 </a:t>
            </a:r>
            <a:r>
              <a:rPr lang="ar-DZ" sz="2000" b="1" dirty="0" smtClean="0">
                <a:solidFill>
                  <a:schemeClr val="bg1"/>
                </a:solidFill>
              </a:rPr>
              <a:t>-الكشف عن النواتج</a:t>
            </a:r>
            <a:br>
              <a:rPr lang="ar-DZ" sz="2000" b="1" dirty="0" smtClean="0">
                <a:solidFill>
                  <a:schemeClr val="bg1"/>
                </a:solidFill>
              </a:rPr>
            </a:br>
            <a:r>
              <a:rPr lang="ar-DZ" sz="2000" b="1" dirty="0" smtClean="0">
                <a:solidFill>
                  <a:schemeClr val="bg1"/>
                </a:solidFill>
              </a:rPr>
              <a:t>-للكشف عن الغاز المنطلق</a:t>
            </a:r>
            <a:r>
              <a:rPr lang="ar-DZ" sz="2000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نجعل الغاز المنطلق نثبت ابوب الاختبار مثانة مطاطية ثم نضع المثانة في انبوب اختبار اخر فيه رائق </a:t>
            </a:r>
            <a:r>
              <a:rPr lang="ar-DZ" sz="2000" b="1" dirty="0" err="1" smtClean="0">
                <a:solidFill>
                  <a:schemeClr val="bg1"/>
                </a:solidFill>
              </a:rPr>
              <a:t>الكلس</a:t>
            </a:r>
            <a:r>
              <a:rPr lang="ar-DZ" sz="2000" b="1" dirty="0" smtClean="0">
                <a:solidFill>
                  <a:schemeClr val="bg1"/>
                </a:solidFill>
              </a:rPr>
              <a:t> فيحدث تعكر رائق </a:t>
            </a:r>
            <a:r>
              <a:rPr lang="ar-DZ" sz="2000" b="1" dirty="0" err="1" smtClean="0">
                <a:solidFill>
                  <a:schemeClr val="bg1"/>
                </a:solidFill>
              </a:rPr>
              <a:t>الكلس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endParaRPr lang="fr-FR" sz="20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000" b="1" dirty="0" smtClean="0">
                <a:solidFill>
                  <a:schemeClr val="dk1"/>
                </a:solidFill>
              </a:rPr>
              <a:t>CO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2</a:t>
            </a:r>
            <a:r>
              <a:rPr lang="ar-DZ" sz="2000" b="1" dirty="0" smtClean="0">
                <a:solidFill>
                  <a:schemeClr val="bg1"/>
                </a:solidFill>
              </a:rPr>
              <a:t> دليل على وجود غاز ثنائي اكسيد الكربون </a:t>
            </a:r>
            <a:r>
              <a:rPr lang="fr-FR" sz="2000" b="1" dirty="0" smtClean="0">
                <a:solidFill>
                  <a:schemeClr val="bg1"/>
                </a:solidFill>
              </a:rPr>
              <a:t/>
            </a:r>
            <a:br>
              <a:rPr lang="fr-FR" sz="2000" b="1" dirty="0" smtClean="0">
                <a:solidFill>
                  <a:schemeClr val="bg1"/>
                </a:solidFill>
              </a:rPr>
            </a:b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-</a:t>
            </a:r>
            <a:r>
              <a:rPr lang="ar-SA" sz="2000" b="1" dirty="0" smtClean="0">
                <a:solidFill>
                  <a:schemeClr val="bg1"/>
                </a:solidFill>
              </a:rPr>
              <a:t>للكشف عن اسم المحلول الناتج نضع كمية من المحلول 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r"/>
            <a:r>
              <a:rPr lang="ar-SA" sz="2000" b="1" dirty="0" smtClean="0">
                <a:solidFill>
                  <a:schemeClr val="bg1"/>
                </a:solidFill>
              </a:rPr>
              <a:t>في انبوبي اختبار 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1-</a:t>
            </a:r>
            <a:r>
              <a:rPr lang="ar-SA" sz="2000" b="1" dirty="0" smtClean="0">
                <a:solidFill>
                  <a:schemeClr val="bg1"/>
                </a:solidFill>
              </a:rPr>
              <a:t> نضع في الانبوب  الاول قطرات 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(Ag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+</a:t>
            </a:r>
            <a:r>
              <a:rPr lang="fr-FR" sz="2000" b="1" dirty="0" smtClean="0">
                <a:solidFill>
                  <a:schemeClr val="dk1"/>
                </a:solidFill>
              </a:rPr>
              <a:t> NO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3</a:t>
            </a:r>
            <a:r>
              <a:rPr lang="fr-FR" sz="2000" b="1" baseline="30000" dirty="0" smtClean="0">
                <a:solidFill>
                  <a:schemeClr val="dk1"/>
                </a:solidFill>
              </a:rPr>
              <a:t>-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) </a:t>
            </a:r>
            <a:r>
              <a:rPr lang="ar-SA" sz="2000" b="1" dirty="0" smtClean="0">
                <a:solidFill>
                  <a:schemeClr val="bg1"/>
                </a:solidFill>
              </a:rPr>
              <a:t>من محلو</a:t>
            </a:r>
            <a:r>
              <a:rPr lang="ar-DZ" sz="2000" b="1" dirty="0" smtClean="0">
                <a:solidFill>
                  <a:schemeClr val="bg1"/>
                </a:solidFill>
              </a:rPr>
              <a:t>ل </a:t>
            </a: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نترات</a:t>
            </a:r>
            <a:r>
              <a:rPr lang="ar-DZ" sz="2000" b="1" dirty="0" smtClean="0">
                <a:solidFill>
                  <a:schemeClr val="bg1"/>
                </a:solidFill>
              </a:rPr>
              <a:t> الفضة </a:t>
            </a:r>
          </a:p>
          <a:p>
            <a:pPr algn="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Cl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-</a:t>
            </a:r>
            <a:r>
              <a:rPr lang="ar-DZ" sz="2000" b="1" baseline="30000" dirty="0" smtClean="0">
                <a:solidFill>
                  <a:schemeClr val="dk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SA" sz="2000" b="1" dirty="0" smtClean="0">
                <a:solidFill>
                  <a:schemeClr val="bg1"/>
                </a:solidFill>
              </a:rPr>
              <a:t>فيتشكل راسب ابيض دليل على وجود </a:t>
            </a:r>
            <a:r>
              <a:rPr lang="ar-SA" sz="2000" b="1" dirty="0" err="1" smtClean="0">
                <a:solidFill>
                  <a:schemeClr val="bg1"/>
                </a:solidFill>
              </a:rPr>
              <a:t>شوار</a:t>
            </a:r>
            <a:r>
              <a:rPr lang="ar-DZ" sz="2000" b="1" dirty="0" smtClean="0">
                <a:solidFill>
                  <a:schemeClr val="bg1"/>
                </a:solidFill>
              </a:rPr>
              <a:t>د </a:t>
            </a:r>
            <a:r>
              <a:rPr lang="ar-DZ" sz="2000" b="1" dirty="0" err="1" smtClean="0">
                <a:solidFill>
                  <a:schemeClr val="bg1"/>
                </a:solidFill>
              </a:rPr>
              <a:t>الكلور</a:t>
            </a:r>
            <a:r>
              <a:rPr lang="ar-DZ" sz="2000" b="1" dirty="0" smtClean="0">
                <a:solidFill>
                  <a:schemeClr val="bg1"/>
                </a:solidFill>
              </a:rPr>
              <a:t>  </a:t>
            </a:r>
          </a:p>
          <a:p>
            <a:pPr algn="r"/>
            <a:r>
              <a:rPr lang="ar-DZ" sz="2000" b="1" dirty="0" smtClean="0">
                <a:solidFill>
                  <a:schemeClr val="bg1"/>
                </a:solidFill>
              </a:rPr>
              <a:t>2-نضع في </a:t>
            </a:r>
            <a:r>
              <a:rPr lang="ar-SA" sz="2000" b="1" dirty="0" smtClean="0">
                <a:solidFill>
                  <a:schemeClr val="bg1"/>
                </a:solidFill>
              </a:rPr>
              <a:t> الانبوب الثاني قطرات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(Na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+ </a:t>
            </a:r>
            <a:r>
              <a:rPr lang="fr-FR" sz="2000" b="1" dirty="0" smtClean="0">
                <a:solidFill>
                  <a:schemeClr val="dk1"/>
                </a:solidFill>
              </a:rPr>
              <a:t>CO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3</a:t>
            </a:r>
            <a:r>
              <a:rPr lang="fr-FR" sz="2000" b="1" baseline="30000" dirty="0" smtClean="0">
                <a:solidFill>
                  <a:schemeClr val="dk1"/>
                </a:solidFill>
              </a:rPr>
              <a:t>-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</a:t>
            </a:r>
            <a:r>
              <a:rPr lang="ar-SA" sz="2000" b="1" dirty="0" smtClean="0">
                <a:solidFill>
                  <a:schemeClr val="bg1"/>
                </a:solidFill>
              </a:rPr>
              <a:t> من محلول </a:t>
            </a:r>
            <a:r>
              <a:rPr lang="ar-DZ" sz="2000" b="1" dirty="0" smtClean="0">
                <a:solidFill>
                  <a:schemeClr val="bg1"/>
                </a:solidFill>
              </a:rPr>
              <a:t>كربونات </a:t>
            </a:r>
            <a:r>
              <a:rPr lang="ar-SA" sz="2000" b="1" dirty="0" smtClean="0">
                <a:solidFill>
                  <a:schemeClr val="bg1"/>
                </a:solidFill>
              </a:rPr>
              <a:t> الصوديوم 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Ca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2+</a:t>
            </a:r>
            <a:r>
              <a:rPr lang="ar-SA" sz="2000" b="1" dirty="0" smtClean="0">
                <a:solidFill>
                  <a:schemeClr val="bg1"/>
                </a:solidFill>
              </a:rPr>
              <a:t> فيتشكل راسب </a:t>
            </a:r>
            <a:r>
              <a:rPr lang="ar-DZ" sz="2000" b="1" dirty="0" smtClean="0">
                <a:solidFill>
                  <a:schemeClr val="bg1"/>
                </a:solidFill>
              </a:rPr>
              <a:t>ابيض  </a:t>
            </a:r>
            <a:r>
              <a:rPr lang="ar-SA" sz="2000" b="1" dirty="0" smtClean="0">
                <a:solidFill>
                  <a:schemeClr val="bg1"/>
                </a:solidFill>
              </a:rPr>
              <a:t>دليل على وجود </a:t>
            </a:r>
            <a:r>
              <a:rPr lang="ar-SA" sz="2000" b="1" dirty="0" err="1" smtClean="0">
                <a:solidFill>
                  <a:schemeClr val="bg1"/>
                </a:solidFill>
              </a:rPr>
              <a:t>شوارد</a:t>
            </a: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الكالسيوم </a:t>
            </a:r>
          </a:p>
          <a:p>
            <a:pPr algn="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(Ca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+2 Cl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-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</a:t>
            </a:r>
            <a:r>
              <a:rPr lang="ar-DZ" sz="2000" b="1" dirty="0" smtClean="0">
                <a:solidFill>
                  <a:schemeClr val="bg1"/>
                </a:solidFill>
              </a:rPr>
              <a:t>اذن المحلول الناتج هو محلول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الكالسيوم </a:t>
            </a:r>
          </a:p>
          <a:p>
            <a:pPr algn="ctr"/>
            <a:r>
              <a:rPr lang="ar-DZ" sz="2000" b="1" dirty="0" smtClean="0">
                <a:solidFill>
                  <a:srgbClr val="FF0000"/>
                </a:solidFill>
              </a:rPr>
              <a:t>الاستنتاج عند تفاعل محلول حمض </a:t>
            </a:r>
            <a:r>
              <a:rPr lang="ar-DZ" sz="2000" b="1" dirty="0" err="1" smtClean="0">
                <a:solidFill>
                  <a:srgbClr val="FF0000"/>
                </a:solidFill>
              </a:rPr>
              <a:t>كلور</a:t>
            </a:r>
            <a:r>
              <a:rPr lang="ar-DZ" sz="2000" b="1" dirty="0" smtClean="0">
                <a:solidFill>
                  <a:srgbClr val="FF0000"/>
                </a:solidFill>
              </a:rPr>
              <a:t> الماء  مع كربونات الكالسيوم </a:t>
            </a:r>
          </a:p>
          <a:p>
            <a:pPr algn="ctr"/>
            <a:r>
              <a:rPr lang="ar-DZ" sz="2000" b="1" dirty="0" smtClean="0">
                <a:solidFill>
                  <a:srgbClr val="FF0000"/>
                </a:solidFill>
              </a:rPr>
              <a:t>ينتج انطلاق غاز ثنائي اكسيد الكربون و محلول </a:t>
            </a:r>
            <a:r>
              <a:rPr lang="ar-DZ" sz="2000" b="1" dirty="0" err="1" smtClean="0">
                <a:solidFill>
                  <a:srgbClr val="FF0000"/>
                </a:solidFill>
              </a:rPr>
              <a:t>كلور</a:t>
            </a:r>
            <a:r>
              <a:rPr lang="ar-DZ" sz="2000" b="1" dirty="0" smtClean="0">
                <a:solidFill>
                  <a:srgbClr val="FF0000"/>
                </a:solidFill>
              </a:rPr>
              <a:t> الكالسيوم و الماء</a:t>
            </a:r>
          </a:p>
          <a:p>
            <a:pPr algn="ctr"/>
            <a:r>
              <a:rPr lang="ar-DZ" sz="2000" b="1" dirty="0" smtClean="0">
                <a:solidFill>
                  <a:srgbClr val="FF0000"/>
                </a:solidFill>
              </a:rPr>
              <a:t>    </a:t>
            </a:r>
            <a:br>
              <a:rPr lang="ar-DZ" sz="2000" b="1" dirty="0" smtClean="0">
                <a:solidFill>
                  <a:srgbClr val="FF0000"/>
                </a:solidFill>
              </a:rPr>
            </a:br>
            <a:endParaRPr lang="ar-DZ" sz="2000" b="1" dirty="0" smtClean="0">
              <a:solidFill>
                <a:srgbClr val="FF0000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br>
              <a:rPr lang="ar-DZ" sz="2000" b="1" dirty="0" smtClean="0">
                <a:solidFill>
                  <a:schemeClr val="bg1"/>
                </a:solidFill>
              </a:rPr>
            </a:b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6" name="Image 5" descr="maxresdefaul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3140968"/>
            <a:ext cx="2664296" cy="1707654"/>
          </a:xfrm>
          <a:prstGeom prst="rect">
            <a:avLst/>
          </a:prstGeom>
        </p:spPr>
      </p:pic>
      <p:sp>
        <p:nvSpPr>
          <p:cNvPr id="7" name="Rectangle avec flèche vers la gauche 6"/>
          <p:cNvSpPr/>
          <p:nvPr/>
        </p:nvSpPr>
        <p:spPr>
          <a:xfrm>
            <a:off x="7343800" y="0"/>
            <a:ext cx="1800200" cy="648072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الدرس  6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0" y="0"/>
            <a:ext cx="7956376" cy="69269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600" b="1" dirty="0" smtClean="0">
                <a:solidFill>
                  <a:schemeClr val="bg1"/>
                </a:solidFill>
              </a:rPr>
              <a:t>التحولات الكيميائية    3 </a:t>
            </a:r>
            <a:endParaRPr lang="fr-FR" sz="3600" b="1" dirty="0">
              <a:solidFill>
                <a:schemeClr val="bg1"/>
              </a:solidFill>
            </a:endParaRPr>
          </a:p>
        </p:txBody>
      </p:sp>
      <p:sp>
        <p:nvSpPr>
          <p:cNvPr id="9" name="Rectangle avec flèche vers la gauche 8"/>
          <p:cNvSpPr/>
          <p:nvPr/>
        </p:nvSpPr>
        <p:spPr>
          <a:xfrm>
            <a:off x="7055768" y="620688"/>
            <a:ext cx="2088232" cy="648072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1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294389_dreambox-sat.com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cxnSp>
        <p:nvCxnSpPr>
          <p:cNvPr id="10" name="Connecteur droit avec flèche 9"/>
          <p:cNvCxnSpPr/>
          <p:nvPr/>
        </p:nvCxnSpPr>
        <p:spPr>
          <a:xfrm flipH="1">
            <a:off x="7956376" y="2276872"/>
            <a:ext cx="8384" cy="855712"/>
          </a:xfrm>
          <a:prstGeom prst="straightConnector1">
            <a:avLst/>
          </a:prstGeom>
          <a:ln w="539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à coins arrondis 3"/>
          <p:cNvSpPr/>
          <p:nvPr/>
        </p:nvSpPr>
        <p:spPr>
          <a:xfrm>
            <a:off x="0" y="0"/>
            <a:ext cx="7812360" cy="78579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معادلة التفاعل </a:t>
            </a:r>
            <a:r>
              <a:rPr lang="ar-DZ" sz="2000" b="1" dirty="0" err="1" smtClean="0">
                <a:solidFill>
                  <a:schemeClr val="bg1"/>
                </a:solidFill>
              </a:rPr>
              <a:t>المنمذج</a:t>
            </a:r>
            <a:r>
              <a:rPr lang="ar-DZ" sz="2000" b="1" dirty="0" smtClean="0">
                <a:solidFill>
                  <a:schemeClr val="bg1"/>
                </a:solidFill>
              </a:rPr>
              <a:t> للتحول </a:t>
            </a:r>
            <a:r>
              <a:rPr lang="ar-DZ" sz="2000" b="1" dirty="0" err="1" smtClean="0">
                <a:solidFill>
                  <a:schemeClr val="bg1"/>
                </a:solidFill>
              </a:rPr>
              <a:t>الكيميائي </a:t>
            </a:r>
            <a:r>
              <a:rPr lang="ar-DZ" sz="2000" b="1" dirty="0" smtClean="0">
                <a:solidFill>
                  <a:schemeClr val="bg1"/>
                </a:solidFill>
              </a:rPr>
              <a:t>(تفاعل محلول حمض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الماء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مع كربونات </a:t>
            </a:r>
            <a:r>
              <a:rPr lang="ar-DZ" sz="2000" b="1" dirty="0" err="1" smtClean="0">
                <a:solidFill>
                  <a:schemeClr val="bg1"/>
                </a:solidFill>
              </a:rPr>
              <a:t>الكالسيوم )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0" y="764704"/>
            <a:ext cx="9144000" cy="609329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من خلال نتائج التفاعل الكيميائي بين محلول حمض </a:t>
            </a:r>
            <a:r>
              <a:rPr lang="ar-DZ" sz="2000" b="1" dirty="0" err="1" smtClean="0">
                <a:solidFill>
                  <a:schemeClr val="bg1"/>
                </a:solidFill>
              </a:rPr>
              <a:t>كلور</a:t>
            </a:r>
            <a:r>
              <a:rPr lang="ar-DZ" sz="2000" b="1" dirty="0" smtClean="0">
                <a:solidFill>
                  <a:schemeClr val="bg1"/>
                </a:solidFill>
              </a:rPr>
              <a:t> الماء و كربونات الكالسيوم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1-كتابة المعادلة الحرفية </a:t>
            </a:r>
          </a:p>
          <a:p>
            <a:r>
              <a:rPr lang="ar-DZ" b="1" dirty="0" smtClean="0">
                <a:solidFill>
                  <a:schemeClr val="bg1"/>
                </a:solidFill>
              </a:rPr>
              <a:t> لماء+غاز ثاني اكسيد </a:t>
            </a:r>
            <a:r>
              <a:rPr lang="ar-DZ" b="1" dirty="0" err="1" smtClean="0">
                <a:solidFill>
                  <a:schemeClr val="bg1"/>
                </a:solidFill>
              </a:rPr>
              <a:t>الكربون  </a:t>
            </a:r>
            <a:r>
              <a:rPr lang="ar-DZ" b="1" dirty="0" smtClean="0">
                <a:solidFill>
                  <a:schemeClr val="bg1"/>
                </a:solidFill>
              </a:rPr>
              <a:t>+محلول </a:t>
            </a:r>
            <a:r>
              <a:rPr lang="ar-DZ" b="1" dirty="0" err="1" smtClean="0">
                <a:solidFill>
                  <a:schemeClr val="bg1"/>
                </a:solidFill>
              </a:rPr>
              <a:t>كلور</a:t>
            </a:r>
            <a:r>
              <a:rPr lang="ar-DZ" b="1" dirty="0" smtClean="0">
                <a:solidFill>
                  <a:schemeClr val="bg1"/>
                </a:solidFill>
              </a:rPr>
              <a:t> الكالسيوم             محلول حمض </a:t>
            </a:r>
            <a:r>
              <a:rPr lang="ar-DZ" b="1" dirty="0" err="1" smtClean="0">
                <a:solidFill>
                  <a:schemeClr val="bg1"/>
                </a:solidFill>
              </a:rPr>
              <a:t>كلور</a:t>
            </a:r>
            <a:r>
              <a:rPr lang="ar-DZ" b="1" dirty="0" smtClean="0">
                <a:solidFill>
                  <a:schemeClr val="bg1"/>
                </a:solidFill>
              </a:rPr>
              <a:t> </a:t>
            </a:r>
            <a:r>
              <a:rPr lang="ar-DZ" b="1" dirty="0" err="1" smtClean="0">
                <a:solidFill>
                  <a:schemeClr val="bg1"/>
                </a:solidFill>
              </a:rPr>
              <a:t>الماء </a:t>
            </a:r>
            <a:r>
              <a:rPr lang="ar-DZ" b="1" dirty="0" smtClean="0">
                <a:solidFill>
                  <a:schemeClr val="bg1"/>
                </a:solidFill>
              </a:rPr>
              <a:t>+كربونات الكالسيوم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2-كتابة معادلة التفاعل بصيغ </a:t>
            </a:r>
            <a:r>
              <a:rPr lang="ar-DZ" sz="2000" b="1" dirty="0" err="1" smtClean="0">
                <a:solidFill>
                  <a:schemeClr val="bg1"/>
                </a:solidFill>
              </a:rPr>
              <a:t>شاردية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CaC</a:t>
            </a:r>
            <a:r>
              <a:rPr lang="fr-FR" sz="2000" b="1" dirty="0" smtClean="0">
                <a:solidFill>
                  <a:schemeClr val="dk1"/>
                </a:solidFill>
              </a:rPr>
              <a:t>O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3</a:t>
            </a:r>
            <a:r>
              <a:rPr lang="fr-FR" sz="2000" b="1" dirty="0" smtClean="0">
                <a:solidFill>
                  <a:schemeClr val="bg1"/>
                </a:solidFill>
              </a:rPr>
              <a:t>(s)+2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(H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+</a:t>
            </a:r>
            <a:r>
              <a:rPr lang="fr-FR" sz="2000" b="1" dirty="0" smtClean="0">
                <a:solidFill>
                  <a:schemeClr val="dk1"/>
                </a:solidFill>
              </a:rPr>
              <a:t> Cl</a:t>
            </a:r>
            <a:r>
              <a:rPr lang="fr-FR" sz="2000" b="1" baseline="30000" dirty="0" smtClean="0">
                <a:solidFill>
                  <a:schemeClr val="dk1"/>
                </a:solidFill>
              </a:rPr>
              <a:t>-</a:t>
            </a:r>
            <a:r>
              <a:rPr lang="fr-FR" sz="2000" b="1" dirty="0" smtClean="0">
                <a:solidFill>
                  <a:schemeClr val="dk1"/>
                </a:solidFill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           ( Ca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+</a:t>
            </a:r>
            <a:r>
              <a:rPr lang="fr-FR" sz="2000" b="1" dirty="0" smtClean="0">
                <a:solidFill>
                  <a:schemeClr val="dk1"/>
                </a:solidFill>
              </a:rPr>
              <a:t> 2Cl</a:t>
            </a:r>
            <a:r>
              <a:rPr lang="fr-FR" sz="2000" b="1" baseline="30000" dirty="0" smtClean="0">
                <a:solidFill>
                  <a:schemeClr val="dk1"/>
                </a:solidFill>
              </a:rPr>
              <a:t>-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+</a:t>
            </a:r>
            <a:r>
              <a:rPr lang="fr-FR" sz="2000" b="1" dirty="0" smtClean="0">
                <a:solidFill>
                  <a:schemeClr val="dk1"/>
                </a:solidFill>
              </a:rPr>
              <a:t> C</a:t>
            </a:r>
            <a:r>
              <a:rPr lang="fr-FR" sz="2000" b="1" dirty="0" smtClean="0">
                <a:solidFill>
                  <a:schemeClr val="bg1"/>
                </a:solidFill>
              </a:rPr>
              <a:t>O</a:t>
            </a:r>
            <a:r>
              <a:rPr lang="fr-FR" sz="2000" b="1" baseline="-25000" dirty="0" smtClean="0">
                <a:solidFill>
                  <a:schemeClr val="bg1"/>
                </a:solidFill>
              </a:rPr>
              <a:t>2</a:t>
            </a:r>
            <a:r>
              <a:rPr lang="fr-FR" sz="2000" b="1" dirty="0" smtClean="0">
                <a:solidFill>
                  <a:schemeClr val="dk1"/>
                </a:solidFill>
              </a:rPr>
              <a:t>  (g) +</a:t>
            </a:r>
            <a:r>
              <a:rPr lang="fr-FR" sz="2000" b="1" dirty="0" smtClean="0"/>
              <a:t> </a:t>
            </a:r>
            <a:r>
              <a:rPr lang="fr-FR" sz="2000" b="1" dirty="0" smtClean="0">
                <a:solidFill>
                  <a:schemeClr val="bg1"/>
                </a:solidFill>
              </a:rPr>
              <a:t>H</a:t>
            </a:r>
            <a:r>
              <a:rPr lang="fr-FR" sz="2000" b="1" baseline="-25000" dirty="0" smtClean="0">
                <a:solidFill>
                  <a:schemeClr val="bg1"/>
                </a:solidFill>
              </a:rPr>
              <a:t>2</a:t>
            </a:r>
            <a:r>
              <a:rPr lang="fr-FR" sz="2000" b="1" dirty="0" smtClean="0">
                <a:solidFill>
                  <a:schemeClr val="bg1"/>
                </a:solidFill>
              </a:rPr>
              <a:t>O(l)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مبدا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الشحنة و الذرة </a:t>
            </a:r>
            <a:endParaRPr lang="fr-FR" sz="2000" b="1" dirty="0" smtClean="0">
              <a:solidFill>
                <a:schemeClr val="bg1"/>
              </a:solidFill>
              <a:latin typeface="Calibri" pitchFamily="34" charset="0"/>
              <a:ea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مبدأ </a:t>
            </a:r>
            <a:r>
              <a:rPr lang="ar-DZ" sz="2000" b="1" dirty="0" err="1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الشحنة و الكتلة</a:t>
            </a: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 كتابة معادلة تفاعل محلول حمضي مع ملح بصيغة </a:t>
            </a:r>
            <a:r>
              <a:rPr lang="ar-DZ" sz="2000" b="1" dirty="0" err="1" smtClean="0">
                <a:solidFill>
                  <a:schemeClr val="bg1"/>
                </a:solidFill>
              </a:rPr>
              <a:t>شاردية</a:t>
            </a:r>
            <a:r>
              <a:rPr lang="ar-DZ" sz="2000" b="1" dirty="0" smtClean="0">
                <a:solidFill>
                  <a:schemeClr val="bg1"/>
                </a:solidFill>
              </a:rPr>
              <a:t> يحقق مبدأ </a:t>
            </a:r>
            <a:r>
              <a:rPr lang="ar-DZ" sz="2000" b="1" dirty="0" err="1" smtClean="0">
                <a:solidFill>
                  <a:schemeClr val="bg1"/>
                </a:solidFill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</a:rPr>
              <a:t> الشحنة اي عدد الشحنات الموجبة و عدد الشحنات السالبة قبل و بعد التفاعل الكيميائي يكون متساو 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ويحقق مبدأ </a:t>
            </a:r>
            <a:r>
              <a:rPr lang="ar-DZ" sz="2000" b="1" dirty="0" err="1" smtClean="0">
                <a:solidFill>
                  <a:schemeClr val="bg1"/>
                </a:solidFill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االذرات</a:t>
            </a:r>
            <a:r>
              <a:rPr lang="ar-DZ" sz="2000" b="1" dirty="0" smtClean="0">
                <a:solidFill>
                  <a:schemeClr val="bg1"/>
                </a:solidFill>
              </a:rPr>
              <a:t>  اي عدد ونوع </a:t>
            </a:r>
            <a:r>
              <a:rPr lang="ar-DZ" sz="2000" b="1" dirty="0" err="1" smtClean="0">
                <a:solidFill>
                  <a:schemeClr val="bg1"/>
                </a:solidFill>
              </a:rPr>
              <a:t>الذرات</a:t>
            </a:r>
            <a:r>
              <a:rPr lang="ar-DZ" sz="2000" b="1" dirty="0" smtClean="0">
                <a:solidFill>
                  <a:schemeClr val="bg1"/>
                </a:solidFill>
              </a:rPr>
              <a:t> و </a:t>
            </a:r>
            <a:r>
              <a:rPr lang="ar-DZ" sz="2000" b="1" dirty="0" err="1" smtClean="0">
                <a:solidFill>
                  <a:schemeClr val="bg1"/>
                </a:solidFill>
              </a:rPr>
              <a:t>الشوارد</a:t>
            </a:r>
            <a:r>
              <a:rPr lang="ar-DZ" sz="2000" b="1" dirty="0" smtClean="0">
                <a:solidFill>
                  <a:schemeClr val="bg1"/>
                </a:solidFill>
              </a:rPr>
              <a:t> قبل و بعد التفاعل الكيميائي يكون متساوي </a:t>
            </a:r>
          </a:p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ctr"/>
            <a:endParaRPr lang="fr-FR" sz="2000" dirty="0"/>
          </a:p>
        </p:txBody>
      </p:sp>
      <p:cxnSp>
        <p:nvCxnSpPr>
          <p:cNvPr id="11" name="Connecteur droit avec flèche 10"/>
          <p:cNvCxnSpPr/>
          <p:nvPr/>
        </p:nvCxnSpPr>
        <p:spPr>
          <a:xfrm>
            <a:off x="3707904" y="2348880"/>
            <a:ext cx="504056" cy="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>
            <a:off x="3923928" y="1772816"/>
            <a:ext cx="357190" cy="1588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251520" y="2924944"/>
          <a:ext cx="8208912" cy="281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228"/>
                <a:gridCol w="2052228"/>
                <a:gridCol w="2052228"/>
                <a:gridCol w="2052228"/>
              </a:tblGrid>
              <a:tr h="437768">
                <a:tc gridSpan="2">
                  <a:txBody>
                    <a:bodyPr/>
                    <a:lstStyle/>
                    <a:p>
                      <a:pPr algn="ctr"/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قبل 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التفاعل  </a:t>
                      </a:r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(المتفاعلات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بعد 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التفاعل </a:t>
                      </a:r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(النواتج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ar-DZ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642352"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2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b="1" dirty="0" smtClean="0"/>
                        <a:t>عدد الشحنات الموجبة </a:t>
                      </a:r>
                    </a:p>
                    <a:p>
                      <a:r>
                        <a:rPr lang="ar-DZ" b="1" dirty="0" smtClean="0"/>
                        <a:t>عدد الشحنات السالبة  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2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DZ" b="1" dirty="0" smtClean="0"/>
                        <a:t>عدد الشحنات الموجبة </a:t>
                      </a:r>
                    </a:p>
                    <a:p>
                      <a:r>
                        <a:rPr lang="ar-DZ" b="1" dirty="0" smtClean="0"/>
                        <a:t>عدد الشحنات السالبة </a:t>
                      </a:r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3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الكالسيوم 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الكربون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الاكسجين  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شوارد</a:t>
                      </a:r>
                      <a:r>
                        <a:rPr lang="ar-DZ" b="1" dirty="0" smtClean="0"/>
                        <a:t> الهيدروجين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شوارد</a:t>
                      </a:r>
                      <a:r>
                        <a:rPr lang="ar-DZ" b="1" baseline="0" dirty="0" smtClean="0"/>
                        <a:t> </a:t>
                      </a:r>
                      <a:r>
                        <a:rPr lang="ar-DZ" b="1" baseline="0" dirty="0" err="1" smtClean="0"/>
                        <a:t>الكلور</a:t>
                      </a:r>
                      <a:r>
                        <a:rPr lang="ar-DZ" b="1" baseline="0" dirty="0" smtClean="0"/>
                        <a:t> 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3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عدد  </a:t>
                      </a:r>
                      <a:r>
                        <a:rPr lang="ar-DZ" b="1" dirty="0" err="1" smtClean="0"/>
                        <a:t>شوارد</a:t>
                      </a:r>
                      <a:r>
                        <a:rPr lang="ar-DZ" b="1" dirty="0" smtClean="0"/>
                        <a:t>  الكالسيوم 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الكربون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الاكسجين  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الهيدروجين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شوارد</a:t>
                      </a:r>
                      <a:r>
                        <a:rPr lang="ar-DZ" b="1" baseline="0" dirty="0" smtClean="0"/>
                        <a:t> </a:t>
                      </a:r>
                      <a:r>
                        <a:rPr lang="ar-DZ" b="1" baseline="0" dirty="0" err="1" smtClean="0"/>
                        <a:t>الكلور</a:t>
                      </a:r>
                      <a:r>
                        <a:rPr lang="ar-DZ" b="1" baseline="0" dirty="0" smtClean="0"/>
                        <a:t> </a:t>
                      </a:r>
                      <a:endParaRPr lang="fr-FR" b="1" dirty="0" smtClean="0"/>
                    </a:p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avec flèche vers la gauche 11"/>
          <p:cNvSpPr/>
          <p:nvPr/>
        </p:nvSpPr>
        <p:spPr>
          <a:xfrm>
            <a:off x="7055768" y="0"/>
            <a:ext cx="2088232" cy="908720"/>
          </a:xfrm>
          <a:prstGeom prst="lef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النشاط   2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294389_dreambox-sat.com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cxnSp>
        <p:nvCxnSpPr>
          <p:cNvPr id="10" name="Connecteur droit avec flèche 9"/>
          <p:cNvCxnSpPr/>
          <p:nvPr/>
        </p:nvCxnSpPr>
        <p:spPr>
          <a:xfrm flipH="1">
            <a:off x="7956376" y="2276872"/>
            <a:ext cx="8384" cy="855712"/>
          </a:xfrm>
          <a:prstGeom prst="straightConnector1">
            <a:avLst/>
          </a:prstGeom>
          <a:ln w="539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à coins arrondis 4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DZ" sz="20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3-كتابة معادلة التفاعل بصيغ احصائية</a:t>
            </a:r>
            <a:endParaRPr lang="fr-FR" sz="2000" b="1" dirty="0" smtClean="0">
              <a:solidFill>
                <a:schemeClr val="bg1"/>
              </a:solidFill>
            </a:endParaRPr>
          </a:p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CaC</a:t>
            </a:r>
            <a:r>
              <a:rPr lang="fr-FR" sz="2000" b="1" dirty="0" smtClean="0">
                <a:solidFill>
                  <a:schemeClr val="dk1"/>
                </a:solidFill>
              </a:rPr>
              <a:t>O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3</a:t>
            </a:r>
            <a:r>
              <a:rPr lang="fr-FR" sz="2000" b="1" dirty="0" smtClean="0">
                <a:solidFill>
                  <a:schemeClr val="bg1"/>
                </a:solidFill>
              </a:rPr>
              <a:t>(s)+2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H </a:t>
            </a:r>
            <a:r>
              <a:rPr lang="fr-FR" sz="2000" b="1" dirty="0" smtClean="0">
                <a:solidFill>
                  <a:schemeClr val="dk1"/>
                </a:solidFill>
              </a:rPr>
              <a:t>Cl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           Ca </a:t>
            </a:r>
            <a:r>
              <a:rPr lang="fr-FR" sz="2000" b="1" dirty="0" smtClean="0">
                <a:solidFill>
                  <a:schemeClr val="dk1"/>
                </a:solidFill>
              </a:rPr>
              <a:t>Cl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2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+</a:t>
            </a:r>
            <a:r>
              <a:rPr lang="fr-FR" sz="2000" b="1" dirty="0" smtClean="0">
                <a:solidFill>
                  <a:schemeClr val="dk1"/>
                </a:solidFill>
              </a:rPr>
              <a:t> C</a:t>
            </a:r>
            <a:r>
              <a:rPr lang="fr-FR" sz="2000" b="1" dirty="0" smtClean="0">
                <a:solidFill>
                  <a:schemeClr val="bg1"/>
                </a:solidFill>
              </a:rPr>
              <a:t>O</a:t>
            </a:r>
            <a:r>
              <a:rPr lang="fr-FR" sz="2000" b="1" baseline="-25000" dirty="0" smtClean="0">
                <a:solidFill>
                  <a:schemeClr val="bg1"/>
                </a:solidFill>
              </a:rPr>
              <a:t>2</a:t>
            </a:r>
            <a:r>
              <a:rPr lang="fr-FR" sz="2000" b="1" dirty="0" smtClean="0">
                <a:solidFill>
                  <a:schemeClr val="dk1"/>
                </a:solidFill>
              </a:rPr>
              <a:t>  (g) +</a:t>
            </a:r>
            <a:r>
              <a:rPr lang="fr-FR" sz="2000" b="1" dirty="0" smtClean="0"/>
              <a:t> </a:t>
            </a:r>
            <a:r>
              <a:rPr lang="fr-FR" sz="2000" b="1" dirty="0" smtClean="0">
                <a:solidFill>
                  <a:schemeClr val="bg1"/>
                </a:solidFill>
              </a:rPr>
              <a:t>H</a:t>
            </a:r>
            <a:r>
              <a:rPr lang="fr-FR" sz="2000" b="1" baseline="-25000" dirty="0" smtClean="0">
                <a:solidFill>
                  <a:schemeClr val="bg1"/>
                </a:solidFill>
              </a:rPr>
              <a:t>2</a:t>
            </a:r>
            <a:r>
              <a:rPr lang="fr-FR" sz="2000" b="1" dirty="0" smtClean="0">
                <a:solidFill>
                  <a:schemeClr val="bg1"/>
                </a:solidFill>
              </a:rPr>
              <a:t>O(l)</a:t>
            </a:r>
            <a:endParaRPr lang="fr-FR" sz="2000" b="1" dirty="0" smtClean="0">
              <a:solidFill>
                <a:schemeClr val="bg1"/>
              </a:solidFill>
              <a:latin typeface="Calibri" pitchFamily="34" charset="0"/>
              <a:ea typeface="Calibri" pitchFamily="34" charset="0"/>
              <a:cs typeface="Arial" pitchFamily="34" charset="0"/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مبدأ </a:t>
            </a:r>
            <a:r>
              <a:rPr lang="ar-DZ" sz="2000" b="1" dirty="0" err="1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الذرات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</a:t>
            </a: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cs typeface="Arial" pitchFamily="34" charset="0"/>
              </a:rPr>
              <a:t>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كتابة معادلة تفاعل محلول حمضي مع ملح  بصيغة احصائية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ويحقق مبدأ </a:t>
            </a:r>
            <a:r>
              <a:rPr lang="ar-DZ" sz="2000" b="1" dirty="0" err="1" smtClean="0">
                <a:solidFill>
                  <a:schemeClr val="bg1"/>
                </a:solidFill>
              </a:rPr>
              <a:t>انحفاظ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err="1" smtClean="0">
                <a:solidFill>
                  <a:schemeClr val="bg1"/>
                </a:solidFill>
              </a:rPr>
              <a:t>االذرات</a:t>
            </a:r>
            <a:r>
              <a:rPr lang="ar-DZ" sz="2000" b="1" dirty="0" smtClean="0">
                <a:solidFill>
                  <a:schemeClr val="bg1"/>
                </a:solidFill>
              </a:rPr>
              <a:t>  فقط اي عدد ونوع </a:t>
            </a:r>
            <a:r>
              <a:rPr lang="ar-DZ" sz="2000" b="1" dirty="0" err="1" smtClean="0">
                <a:solidFill>
                  <a:schemeClr val="bg1"/>
                </a:solidFill>
              </a:rPr>
              <a:t>الذرات</a:t>
            </a:r>
            <a:r>
              <a:rPr lang="ar-DZ" sz="2000" b="1" dirty="0" smtClean="0">
                <a:solidFill>
                  <a:schemeClr val="bg1"/>
                </a:solidFill>
              </a:rPr>
              <a:t> قبل و بعد التفاعل الكيميائي يكون متساوي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كتابة المعادلة المختصرة او المواد المتفاعلة فقط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CaC</a:t>
            </a:r>
            <a:r>
              <a:rPr lang="fr-FR" sz="2000" b="1" dirty="0" smtClean="0">
                <a:solidFill>
                  <a:schemeClr val="dk1"/>
                </a:solidFill>
              </a:rPr>
              <a:t>O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3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(s)</a:t>
            </a:r>
            <a:r>
              <a:rPr lang="fr-FR" sz="2000" b="1" dirty="0" smtClean="0">
                <a:solidFill>
                  <a:schemeClr val="bg1"/>
                </a:solidFill>
              </a:rPr>
              <a:t>+ 2 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H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</a:t>
            </a:r>
            <a:r>
              <a:rPr lang="ar-DZ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              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Ca</a:t>
            </a:r>
            <a:r>
              <a:rPr lang="fr-FR" sz="2000" b="1" baseline="300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2+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(</a:t>
            </a:r>
            <a:r>
              <a:rPr lang="fr-FR" sz="20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aq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)   + </a:t>
            </a:r>
            <a:r>
              <a:rPr lang="fr-FR" sz="2000" b="1" dirty="0" smtClean="0">
                <a:solidFill>
                  <a:schemeClr val="dk1"/>
                </a:solidFill>
              </a:rPr>
              <a:t>CO</a:t>
            </a:r>
            <a:r>
              <a:rPr lang="fr-FR" sz="2000" b="1" baseline="-25000" dirty="0" smtClean="0">
                <a:solidFill>
                  <a:schemeClr val="dk1"/>
                </a:solidFill>
              </a:rPr>
              <a:t>2</a:t>
            </a:r>
            <a:r>
              <a:rPr lang="fr-FR" sz="20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(g)+</a:t>
            </a:r>
            <a:r>
              <a:rPr lang="fr-FR" sz="2000" b="1" dirty="0" smtClean="0">
                <a:solidFill>
                  <a:schemeClr val="bg1"/>
                </a:solidFill>
              </a:rPr>
              <a:t>H</a:t>
            </a:r>
            <a:r>
              <a:rPr lang="fr-FR" sz="2000" b="1" baseline="-25000" dirty="0" smtClean="0">
                <a:solidFill>
                  <a:schemeClr val="bg1"/>
                </a:solidFill>
              </a:rPr>
              <a:t>2</a:t>
            </a:r>
            <a:r>
              <a:rPr lang="fr-FR" sz="2000" b="1" dirty="0" smtClean="0">
                <a:solidFill>
                  <a:schemeClr val="bg1"/>
                </a:solidFill>
              </a:rPr>
              <a:t>O(l)</a:t>
            </a:r>
            <a:endParaRPr lang="fr-FR" sz="2000" b="1" dirty="0" smtClean="0">
              <a:solidFill>
                <a:schemeClr val="bg1"/>
              </a:solidFill>
              <a:latin typeface="Calibri" pitchFamily="34" charset="0"/>
              <a:ea typeface="Calibri" pitchFamily="34" charset="0"/>
              <a:cs typeface="Arial" pitchFamily="34" charset="0"/>
            </a:endParaRPr>
          </a:p>
          <a:p>
            <a:pPr algn="ctr"/>
            <a:endParaRPr lang="ar-DZ" sz="2000" b="1" dirty="0" smtClean="0">
              <a:solidFill>
                <a:schemeClr val="bg1"/>
              </a:solidFill>
              <a:latin typeface="Calibri" pitchFamily="34" charset="0"/>
              <a:cs typeface="Arial" pitchFamily="34" charset="0"/>
            </a:endParaRPr>
          </a:p>
          <a:p>
            <a:pPr algn="ctr"/>
            <a:endParaRPr lang="ar-DZ" sz="24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  </a:t>
            </a:r>
          </a:p>
          <a:p>
            <a:pPr algn="ctr"/>
            <a:endParaRPr lang="fr-FR" sz="2000" dirty="0"/>
          </a:p>
        </p:txBody>
      </p:sp>
      <p:cxnSp>
        <p:nvCxnSpPr>
          <p:cNvPr id="7" name="Connecteur droit avec flèche 6"/>
          <p:cNvCxnSpPr/>
          <p:nvPr/>
        </p:nvCxnSpPr>
        <p:spPr>
          <a:xfrm>
            <a:off x="3707904" y="980728"/>
            <a:ext cx="426348" cy="1588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0" y="1772816"/>
          <a:ext cx="820891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228"/>
                <a:gridCol w="2052228"/>
                <a:gridCol w="2052228"/>
                <a:gridCol w="2052228"/>
              </a:tblGrid>
              <a:tr h="226824">
                <a:tc gridSpan="2">
                  <a:txBody>
                    <a:bodyPr/>
                    <a:lstStyle/>
                    <a:p>
                      <a:pPr algn="ctr"/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قبل 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التفاعل  </a:t>
                      </a:r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(المتفاعلات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بعد 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التفاعل </a:t>
                      </a:r>
                      <a:r>
                        <a:rPr lang="ar-DZ" dirty="0" smtClean="0">
                          <a:solidFill>
                            <a:schemeClr val="bg1"/>
                          </a:solidFill>
                        </a:rPr>
                        <a:t>(النواتج</a:t>
                      </a:r>
                      <a:r>
                        <a:rPr lang="ar-DZ" dirty="0" err="1" smtClean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ar-DZ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3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الكالسيوم</a:t>
                      </a:r>
                      <a:r>
                        <a:rPr lang="ar-DZ" b="1" baseline="0" dirty="0" smtClean="0"/>
                        <a:t> </a:t>
                      </a:r>
                      <a:endParaRPr lang="ar-DZ" b="1" dirty="0" smtClean="0"/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 الكربون  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 الاكسجين 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الهيدروجين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</a:t>
                      </a:r>
                      <a:r>
                        <a:rPr lang="ar-DZ" b="1" dirty="0" err="1" smtClean="0"/>
                        <a:t>الكلور</a:t>
                      </a:r>
                      <a:r>
                        <a:rPr lang="ar-DZ" b="1" dirty="0" smtClean="0"/>
                        <a:t>   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1</a:t>
                      </a:r>
                    </a:p>
                    <a:p>
                      <a:pPr algn="ctr"/>
                      <a:r>
                        <a:rPr lang="ar-DZ" b="1" dirty="0" smtClean="0"/>
                        <a:t>3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</a:p>
                    <a:p>
                      <a:pPr algn="ctr"/>
                      <a:r>
                        <a:rPr lang="ar-DZ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b="1" dirty="0" err="1" smtClean="0"/>
                        <a:t>دد</a:t>
                      </a:r>
                      <a:r>
                        <a:rPr lang="ar-DZ" b="1" dirty="0" smtClean="0"/>
                        <a:t>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الكالسيوم</a:t>
                      </a:r>
                      <a:r>
                        <a:rPr lang="ar-DZ" b="1" baseline="0" dirty="0" smtClean="0"/>
                        <a:t> </a:t>
                      </a:r>
                      <a:endParaRPr lang="ar-DZ" b="1" dirty="0" smtClean="0"/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 الكربون  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 الاكسجين 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الهيدروجين </a:t>
                      </a:r>
                    </a:p>
                    <a:p>
                      <a:pPr algn="r"/>
                      <a:r>
                        <a:rPr lang="ar-DZ" b="1" dirty="0" smtClean="0"/>
                        <a:t>عدد </a:t>
                      </a:r>
                      <a:r>
                        <a:rPr lang="ar-DZ" b="1" dirty="0" err="1" smtClean="0"/>
                        <a:t>ذرات</a:t>
                      </a:r>
                      <a:r>
                        <a:rPr lang="ar-DZ" b="1" dirty="0" smtClean="0"/>
                        <a:t> </a:t>
                      </a:r>
                      <a:r>
                        <a:rPr lang="ar-DZ" b="1" dirty="0" err="1" smtClean="0"/>
                        <a:t>الكلور</a:t>
                      </a:r>
                      <a:r>
                        <a:rPr lang="ar-DZ" b="1" dirty="0" smtClean="0"/>
                        <a:t>   </a:t>
                      </a:r>
                      <a:endParaRPr lang="fr-FR" b="1" dirty="0" smtClean="0"/>
                    </a:p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eur droit avec flèche 7"/>
          <p:cNvCxnSpPr/>
          <p:nvPr/>
        </p:nvCxnSpPr>
        <p:spPr>
          <a:xfrm>
            <a:off x="4139952" y="5229200"/>
            <a:ext cx="426348" cy="1588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84570869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6857999"/>
          </a:xfrm>
          <a:prstGeom prst="rect">
            <a:avLst/>
          </a:prstGeom>
        </p:spPr>
      </p:pic>
      <p:sp>
        <p:nvSpPr>
          <p:cNvPr id="4" name="Rectangle à coins arrondis 3"/>
          <p:cNvSpPr/>
          <p:nvPr/>
        </p:nvSpPr>
        <p:spPr>
          <a:xfrm>
            <a:off x="0" y="0"/>
            <a:ext cx="9144000" cy="78579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جدول </a:t>
            </a:r>
            <a:r>
              <a:rPr lang="ar-DZ" sz="2400" b="1" dirty="0" err="1" smtClean="0">
                <a:solidFill>
                  <a:schemeClr val="bg1"/>
                </a:solidFill>
              </a:rPr>
              <a:t>الكواشف</a:t>
            </a:r>
            <a:r>
              <a:rPr lang="ar-DZ" sz="2400" b="1" dirty="0" smtClean="0">
                <a:solidFill>
                  <a:schemeClr val="bg1"/>
                </a:solidFill>
              </a:rPr>
              <a:t> </a:t>
            </a:r>
            <a:endParaRPr lang="fr-FR" sz="2400" b="1" dirty="0">
              <a:solidFill>
                <a:schemeClr val="bg1"/>
              </a:solidFill>
            </a:endParaRPr>
          </a:p>
        </p:txBody>
      </p:sp>
      <p:pic>
        <p:nvPicPr>
          <p:cNvPr id="5" name="Image 4" descr="1.png"/>
          <p:cNvPicPr>
            <a:picLocks noChangeAspect="1"/>
          </p:cNvPicPr>
          <p:nvPr/>
        </p:nvPicPr>
        <p:blipFill>
          <a:blip r:embed="rId3" cstate="print"/>
          <a:srcRect l="35084" t="11151" r="20740" b="31100"/>
          <a:stretch>
            <a:fillRect/>
          </a:stretch>
        </p:blipFill>
        <p:spPr>
          <a:xfrm>
            <a:off x="0" y="764704"/>
            <a:ext cx="9144000" cy="6093296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3046593923_862e5593c7_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80528" y="0"/>
            <a:ext cx="9324528" cy="6858000"/>
          </a:xfrm>
          <a:prstGeom prst="rect">
            <a:avLst/>
          </a:prstGeom>
        </p:spPr>
      </p:pic>
      <p:pic>
        <p:nvPicPr>
          <p:cNvPr id="4" name="Image 3" descr="téléchargement (1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80528" y="0"/>
            <a:ext cx="9324528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3880</TotalTime>
  <Words>1925</Words>
  <Application>Microsoft Office PowerPoint</Application>
  <PresentationFormat>Affichage à l'écran (4:3)</PresentationFormat>
  <Paragraphs>840</Paragraphs>
  <Slides>24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5" baseType="lpstr">
      <vt:lpstr>Apex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HMI</dc:creator>
  <cp:lastModifiedBy>H-Info</cp:lastModifiedBy>
  <cp:revision>1388</cp:revision>
  <dcterms:created xsi:type="dcterms:W3CDTF">2016-02-23T11:37:09Z</dcterms:created>
  <dcterms:modified xsi:type="dcterms:W3CDTF">2020-08-13T07:47:01Z</dcterms:modified>
</cp:coreProperties>
</file>