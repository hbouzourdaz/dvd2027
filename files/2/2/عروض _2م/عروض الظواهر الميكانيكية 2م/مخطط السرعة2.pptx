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6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019300" y="3471863"/>
            <a:ext cx="511333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838" y="5054600"/>
            <a:ext cx="673100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DD1F6-1311-4545-B77F-91F0C53B2B8F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2463" y="5054600"/>
            <a:ext cx="4064000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6725" y="5054600"/>
            <a:ext cx="414338" cy="2794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1E576-E390-4C6E-B141-B5D0C9FE34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65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277938" y="2354263"/>
            <a:ext cx="659606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052E1-39A3-46A0-B000-CD68C268969F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DDAAE-E887-4045-B996-44B5341CFC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43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277938" y="3598863"/>
            <a:ext cx="659606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17846-7D63-4238-B05E-9626E2D0428D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5B7BD-53CD-49D7-889F-7605A56625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377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77938" y="2355850"/>
            <a:ext cx="659606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9632C-197A-411B-8EC0-3FE143DC92EB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98E22-DA99-4B08-AE08-A9874246A2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205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7938" y="2354263"/>
            <a:ext cx="659606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3C2CF7-A25A-4B9F-BACB-CE5B1930E10F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4133D-96AC-4537-B71B-495E4AE62B8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263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1277938" y="2354263"/>
            <a:ext cx="659606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384E27-3E4A-41FB-A4E3-91F564301607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A38ED-A34A-4539-87F6-EDE3166DEB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092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F8C0D-3766-4040-83BD-97A4C036F36C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7B197-C836-4349-989C-6E7BEA01AC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50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77938" y="2913063"/>
            <a:ext cx="233362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9C527-6ADE-423A-9EF7-475A4A48B176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D408D-DA26-4D7C-9538-F596D894AF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07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8221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30E16-8B00-429B-BDBE-6EDF846BAA7C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DA1B7-7DDB-4C52-949C-4C28587C6F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4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36315-D6CC-4084-BB56-56045719D08E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338B9-B711-42C0-9B4C-D40C69B4C3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41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277938" y="4140200"/>
            <a:ext cx="660717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486E5-DC95-445A-9B8E-CA8991655C15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EBEEF-A80B-4EFE-83AB-F76BCD03BD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968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849313" y="904875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en-US" altLang="en-US" sz="7200"/>
              <a:t>“</a:t>
            </a: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7634288" y="2827338"/>
            <a:ext cx="4572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r>
              <a:rPr lang="en-US" altLang="en-US" sz="7200"/>
              <a:t>”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77938" y="4140200"/>
            <a:ext cx="659606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84FCE-E5FB-4FAE-AB7A-59894EA37B6B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20F5E-3CEA-492C-86A7-0C2D37DC96F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665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5A1BA-0F77-4991-B81E-91175F2BB923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D3085-1836-4529-BF13-A7B165D217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86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877888" y="896938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en-US" altLang="en-US" sz="8000"/>
              <a:t>“</a:t>
            </a: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7650163" y="2608263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/>
            <a:r>
              <a:rPr lang="en-US" altLang="en-US" sz="8000"/>
              <a:t>”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277938" y="3429000"/>
            <a:ext cx="659606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3559A-0872-4D01-9CB7-0B18691BC451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E849-4BE4-46D4-80D2-FB1A6FEED6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440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1277938" y="3429000"/>
            <a:ext cx="660717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rtlCol="0">
            <a:normAutofit/>
          </a:bodyPr>
          <a:lstStyle>
            <a:lvl1pPr>
              <a:defRPr lang="en-US" sz="3200" b="0" dirty="0"/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39AAF0-FA2F-4E91-9B14-3A3870D4D128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91355-BFE6-4D9A-B6C2-635725B66F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488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277938" y="2354263"/>
            <a:ext cx="660717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3C118-6913-4305-B920-0E436703C0DC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E6034-BA3A-41C1-A89E-7F3C8D69C08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23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245225" y="906463"/>
            <a:ext cx="0" cy="4968875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EF06D-5A68-4C04-B01D-852960A31F4A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9C57FF-D2D4-4092-A162-4DD34F7E30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6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SD-PanelContent-GrommetsCombined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1176338" y="915988"/>
            <a:ext cx="6799262" cy="130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smtClean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76338" y="2490788"/>
            <a:ext cx="6799262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350" y="5961063"/>
            <a:ext cx="114935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D866FA02-D308-422B-8A4E-2176C8A688C5}" type="datetimeFigureOut">
              <a:rPr lang="en-US"/>
              <a:pPr>
                <a:defRPr/>
              </a:pPr>
              <a:t>2/3/2019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338" y="5961063"/>
            <a:ext cx="51054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 dirty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313" y="5961063"/>
            <a:ext cx="39528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ED1EE117-2F9D-4A23-B91D-C6B52FB2F0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19" r:id="rId7"/>
    <p:sldLayoutId id="2147483729" r:id="rId8"/>
    <p:sldLayoutId id="2147483720" r:id="rId9"/>
    <p:sldLayoutId id="2147483721" r:id="rId10"/>
    <p:sldLayoutId id="2147483730" r:id="rId11"/>
    <p:sldLayoutId id="2147483731" r:id="rId12"/>
    <p:sldLayoutId id="2147483722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000" kern="1200">
          <a:ln w="3175" cmpd="sng">
            <a:noFill/>
          </a:ln>
          <a:solidFill>
            <a:srgbClr val="262626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262626"/>
          </a:solidFill>
          <a:latin typeface="Garamond" panose="02020404030301010803" pitchFamily="18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fontAlgn="base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2400" kern="1200">
          <a:solidFill>
            <a:srgbClr val="262626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2pPr>
      <a:lvl3pPr marL="1200150" indent="-285750" algn="l" defTabSz="457200" rtl="0" eaLnBrk="1" fontAlgn="base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3pPr>
      <a:lvl4pPr marL="1543050" indent="-171450" algn="l" defTabSz="457200" rtl="0" eaLnBrk="1" fontAlgn="base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600" kern="1200">
          <a:solidFill>
            <a:srgbClr val="262626"/>
          </a:solidFill>
          <a:latin typeface="+mn-lt"/>
          <a:ea typeface="+mn-ea"/>
          <a:cs typeface="+mn-cs"/>
        </a:defRPr>
      </a:lvl4pPr>
      <a:lvl5pPr marL="2000250" indent="-171450" algn="l" defTabSz="457200" rtl="0" eaLnBrk="1" fontAlgn="base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 pitchFamily="34" charset="0"/>
        <a:buChar char="•"/>
        <a:defRPr sz="1400"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1922463" y="1811338"/>
            <a:ext cx="5308600" cy="1516062"/>
          </a:xfrm>
        </p:spPr>
        <p:txBody>
          <a:bodyPr/>
          <a:lstStyle/>
          <a:p>
            <a:r>
              <a:rPr lang="ar-DZ" altLang="en-US" sz="6600" dirty="0" smtClean="0">
                <a:ln>
                  <a:noFill/>
                </a:ln>
              </a:rPr>
              <a:t>مخطط السرعة</a:t>
            </a:r>
            <a:endParaRPr lang="en-US" altLang="en-US" sz="6600" dirty="0" smtClean="0">
              <a:ln>
                <a:noFill/>
              </a:ln>
            </a:endParaRPr>
          </a:p>
        </p:txBody>
      </p:sp>
      <p:sp>
        <p:nvSpPr>
          <p:cNvPr id="15363" name="Subtitle 2"/>
          <p:cNvSpPr>
            <a:spLocks noGrp="1"/>
          </p:cNvSpPr>
          <p:nvPr>
            <p:ph type="subTitle" idx="1"/>
          </p:nvPr>
        </p:nvSpPr>
        <p:spPr>
          <a:xfrm>
            <a:off x="1922463" y="3598863"/>
            <a:ext cx="5308600" cy="1376362"/>
          </a:xfrm>
        </p:spPr>
        <p:txBody>
          <a:bodyPr>
            <a:normAutofit/>
          </a:bodyPr>
          <a:lstStyle/>
          <a:p>
            <a:r>
              <a:rPr lang="ar-DZ" altLang="en-US" sz="3200" dirty="0" smtClean="0"/>
              <a:t>رسم وقراءة مخطط السرعة</a:t>
            </a:r>
            <a:endParaRPr lang="en-US" alt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0" y="495300"/>
          <a:ext cx="6095999" cy="741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769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t(mn)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2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4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6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8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10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12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13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15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17</a:t>
                      </a:r>
                      <a:endParaRPr lang="en-US" sz="1800" b="1" dirty="0"/>
                    </a:p>
                  </a:txBody>
                  <a:tcPr marT="45700" marB="45700" anchor="ctr"/>
                </a:tc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V(Km/h)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00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20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40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60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80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80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80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80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40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00</a:t>
                      </a:r>
                      <a:endParaRPr lang="en-US" sz="1800" b="1" dirty="0"/>
                    </a:p>
                  </a:txBody>
                  <a:tcPr marT="45700" marB="4570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90575" y="2106613"/>
            <a:ext cx="11049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V(Km/h)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1642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2435225"/>
            <a:ext cx="6870700" cy="360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V="1">
            <a:off x="1266825" y="2435225"/>
            <a:ext cx="0" cy="32321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31100" y="5424488"/>
            <a:ext cx="11049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t(mn)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266825" y="5667375"/>
            <a:ext cx="644842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023938" y="5557838"/>
            <a:ext cx="266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0</a:t>
            </a:r>
            <a:endParaRPr lang="en-US" altLang="en-US" b="1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481138" y="5597525"/>
            <a:ext cx="266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1</a:t>
            </a:r>
            <a:endParaRPr lang="en-US" altLang="en-US" b="1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839913" y="5599113"/>
            <a:ext cx="266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2</a:t>
            </a:r>
            <a:endParaRPr lang="en-US" altLang="en-US" b="1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2200275" y="5599113"/>
            <a:ext cx="266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3</a:t>
            </a:r>
            <a:endParaRPr lang="en-US" altLang="en-US" b="1"/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2559050" y="5599113"/>
            <a:ext cx="266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4</a:t>
            </a:r>
            <a:endParaRPr lang="en-US" altLang="en-US" b="1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2919413" y="5599113"/>
            <a:ext cx="266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5</a:t>
            </a:r>
            <a:endParaRPr lang="en-US" altLang="en-US" b="1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282950" y="5599113"/>
            <a:ext cx="266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6</a:t>
            </a:r>
            <a:endParaRPr lang="en-US" altLang="en-US" b="1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644900" y="5599113"/>
            <a:ext cx="266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7</a:t>
            </a:r>
            <a:endParaRPr lang="en-US" altLang="en-US" b="1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006850" y="5599113"/>
            <a:ext cx="266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8</a:t>
            </a:r>
            <a:endParaRPr lang="en-US" altLang="en-US" b="1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4368800" y="5599113"/>
            <a:ext cx="266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9</a:t>
            </a:r>
            <a:endParaRPr lang="en-US" altLang="en-US" b="1"/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4689475" y="5599113"/>
            <a:ext cx="401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10</a:t>
            </a:r>
            <a:endParaRPr lang="en-US" altLang="en-US" b="1"/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5026025" y="5599113"/>
            <a:ext cx="401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11</a:t>
            </a:r>
            <a:endParaRPr lang="en-US" altLang="en-US" b="1"/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5362575" y="5597525"/>
            <a:ext cx="4238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12</a:t>
            </a:r>
            <a:endParaRPr lang="en-US" altLang="en-US" b="1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721350" y="5597525"/>
            <a:ext cx="4016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13</a:t>
            </a:r>
            <a:endParaRPr lang="en-US" altLang="en-US" b="1"/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6105525" y="5597525"/>
            <a:ext cx="385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14</a:t>
            </a:r>
            <a:endParaRPr lang="en-US" altLang="en-US" b="1"/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6448425" y="5597525"/>
            <a:ext cx="4238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15</a:t>
            </a:r>
            <a:endParaRPr lang="en-US" altLang="en-US" b="1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807200" y="5597525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16</a:t>
            </a:r>
            <a:endParaRPr lang="en-US" altLang="en-US" b="1"/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183438" y="5597525"/>
            <a:ext cx="400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17</a:t>
            </a:r>
            <a:endParaRPr lang="en-US" altLang="en-US" b="1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927100" y="5133975"/>
            <a:ext cx="460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10</a:t>
            </a:r>
            <a:endParaRPr lang="en-US" altLang="en-US" b="1"/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927100" y="4773613"/>
            <a:ext cx="46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20</a:t>
            </a:r>
            <a:endParaRPr lang="en-US" altLang="en-US" b="1"/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927100" y="4414838"/>
            <a:ext cx="460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30</a:t>
            </a:r>
            <a:endParaRPr lang="en-US" altLang="en-US" b="1"/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936625" y="4035425"/>
            <a:ext cx="46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40</a:t>
            </a:r>
            <a:endParaRPr lang="en-US" altLang="en-US" b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927100" y="3675063"/>
            <a:ext cx="460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50</a:t>
            </a:r>
            <a:endParaRPr lang="en-US" altLang="en-US" b="1"/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927100" y="3332163"/>
            <a:ext cx="46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60</a:t>
            </a:r>
            <a:endParaRPr lang="en-US" altLang="en-US" b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927100" y="2960688"/>
            <a:ext cx="46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70</a:t>
            </a:r>
            <a:endParaRPr lang="en-US" altLang="en-US" b="1"/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927100" y="2619375"/>
            <a:ext cx="460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/>
            <a:r>
              <a:rPr lang="fr-FR" altLang="en-US" b="1"/>
              <a:t>80</a:t>
            </a:r>
            <a:endParaRPr lang="en-US" altLang="en-US" b="1"/>
          </a:p>
        </p:txBody>
      </p:sp>
      <p:sp>
        <p:nvSpPr>
          <p:cNvPr id="48" name="4-Point Star 47"/>
          <p:cNvSpPr/>
          <p:nvPr/>
        </p:nvSpPr>
        <p:spPr>
          <a:xfrm>
            <a:off x="1187450" y="5592763"/>
            <a:ext cx="152400" cy="152400"/>
          </a:xfrm>
          <a:prstGeom prst="star4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1981200" y="4957763"/>
            <a:ext cx="0" cy="709612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263650" y="4957763"/>
            <a:ext cx="717550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4-Point Star 56"/>
          <p:cNvSpPr/>
          <p:nvPr/>
        </p:nvSpPr>
        <p:spPr>
          <a:xfrm>
            <a:off x="1908175" y="4876800"/>
            <a:ext cx="152400" cy="152400"/>
          </a:xfrm>
          <a:prstGeom prst="star4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H="1" flipV="1">
            <a:off x="2695575" y="4238625"/>
            <a:ext cx="11113" cy="1360488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1263650" y="4237038"/>
            <a:ext cx="6127750" cy="1587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4-Point Star 48"/>
          <p:cNvSpPr/>
          <p:nvPr/>
        </p:nvSpPr>
        <p:spPr>
          <a:xfrm>
            <a:off x="2624138" y="4160838"/>
            <a:ext cx="152400" cy="152400"/>
          </a:xfrm>
          <a:prstGeom prst="star4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0" name="Straight Connector 49"/>
          <p:cNvCxnSpPr/>
          <p:nvPr/>
        </p:nvCxnSpPr>
        <p:spPr>
          <a:xfrm flipH="1" flipV="1">
            <a:off x="3429000" y="3516313"/>
            <a:ext cx="0" cy="2116137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1290638" y="3516313"/>
            <a:ext cx="6092825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4-Point Star 51"/>
          <p:cNvSpPr/>
          <p:nvPr/>
        </p:nvSpPr>
        <p:spPr>
          <a:xfrm>
            <a:off x="3340100" y="3440113"/>
            <a:ext cx="152400" cy="152400"/>
          </a:xfrm>
          <a:prstGeom prst="star4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5" name="Straight Connector 54"/>
          <p:cNvCxnSpPr/>
          <p:nvPr/>
        </p:nvCxnSpPr>
        <p:spPr>
          <a:xfrm flipH="1" flipV="1">
            <a:off x="4152900" y="2803525"/>
            <a:ext cx="6350" cy="2847975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1290638" y="2794000"/>
            <a:ext cx="6092825" cy="14288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4849813" y="2786063"/>
            <a:ext cx="7937" cy="2846387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 flipV="1">
            <a:off x="5567363" y="2773363"/>
            <a:ext cx="7937" cy="2847975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 flipV="1">
            <a:off x="5922963" y="2774950"/>
            <a:ext cx="7937" cy="2847975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 flipV="1">
            <a:off x="6640513" y="4205288"/>
            <a:ext cx="26987" cy="1444625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4-Point Star 62"/>
          <p:cNvSpPr/>
          <p:nvPr/>
        </p:nvSpPr>
        <p:spPr>
          <a:xfrm>
            <a:off x="4076700" y="2732088"/>
            <a:ext cx="152400" cy="152400"/>
          </a:xfrm>
          <a:prstGeom prst="star4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4" name="4-Point Star 63"/>
          <p:cNvSpPr/>
          <p:nvPr/>
        </p:nvSpPr>
        <p:spPr>
          <a:xfrm>
            <a:off x="4783138" y="2732088"/>
            <a:ext cx="152400" cy="152400"/>
          </a:xfrm>
          <a:prstGeom prst="star4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5" name="4-Point Star 64"/>
          <p:cNvSpPr/>
          <p:nvPr/>
        </p:nvSpPr>
        <p:spPr>
          <a:xfrm>
            <a:off x="6591300" y="4160838"/>
            <a:ext cx="152400" cy="152400"/>
          </a:xfrm>
          <a:prstGeom prst="star4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6" name="4-Point Star 65"/>
          <p:cNvSpPr/>
          <p:nvPr/>
        </p:nvSpPr>
        <p:spPr>
          <a:xfrm>
            <a:off x="5854700" y="2732088"/>
            <a:ext cx="152400" cy="152400"/>
          </a:xfrm>
          <a:prstGeom prst="star4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7" name="4-Point Star 66"/>
          <p:cNvSpPr/>
          <p:nvPr/>
        </p:nvSpPr>
        <p:spPr>
          <a:xfrm>
            <a:off x="5497513" y="2717800"/>
            <a:ext cx="152400" cy="152400"/>
          </a:xfrm>
          <a:prstGeom prst="star4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8" name="4-Point Star 67"/>
          <p:cNvSpPr/>
          <p:nvPr/>
        </p:nvSpPr>
        <p:spPr>
          <a:xfrm>
            <a:off x="7315200" y="5589588"/>
            <a:ext cx="152400" cy="152400"/>
          </a:xfrm>
          <a:prstGeom prst="star4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263650" y="2835275"/>
            <a:ext cx="2860675" cy="282416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endCxn id="66" idx="1"/>
          </p:cNvCxnSpPr>
          <p:nvPr/>
        </p:nvCxnSpPr>
        <p:spPr>
          <a:xfrm flipV="1">
            <a:off x="4176713" y="2808288"/>
            <a:ext cx="1677987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930900" y="2849563"/>
            <a:ext cx="1460500" cy="27876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Left Brace 72"/>
          <p:cNvSpPr/>
          <p:nvPr/>
        </p:nvSpPr>
        <p:spPr>
          <a:xfrm rot="16200000">
            <a:off x="2502694" y="4899819"/>
            <a:ext cx="382587" cy="2860675"/>
          </a:xfrm>
          <a:prstGeom prst="leftBrace">
            <a:avLst>
              <a:gd name="adj1" fmla="val 57231"/>
              <a:gd name="adj2" fmla="val 5011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4" name="Left Brace 73"/>
          <p:cNvSpPr/>
          <p:nvPr/>
        </p:nvSpPr>
        <p:spPr>
          <a:xfrm rot="16200000">
            <a:off x="4858544" y="5457032"/>
            <a:ext cx="382587" cy="1746250"/>
          </a:xfrm>
          <a:prstGeom prst="leftBrace">
            <a:avLst>
              <a:gd name="adj1" fmla="val 57231"/>
              <a:gd name="adj2" fmla="val 5011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5" name="Left Brace 74"/>
          <p:cNvSpPr/>
          <p:nvPr/>
        </p:nvSpPr>
        <p:spPr>
          <a:xfrm rot="16200000">
            <a:off x="6492875" y="5618163"/>
            <a:ext cx="382588" cy="1414462"/>
          </a:xfrm>
          <a:prstGeom prst="leftBrace">
            <a:avLst>
              <a:gd name="adj1" fmla="val 57231"/>
              <a:gd name="adj2" fmla="val 5011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1811338" y="6437826"/>
            <a:ext cx="20367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/>
            <a:r>
              <a:rPr lang="ar-DZ" altLang="en-US" sz="2400" b="1"/>
              <a:t>المرحلة الأولى</a:t>
            </a:r>
            <a:endParaRPr lang="en-US" altLang="en-US" sz="2400" b="1"/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3895725" y="6441001"/>
            <a:ext cx="2036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/>
            <a:r>
              <a:rPr lang="ar-DZ" altLang="en-US" sz="2400" b="1"/>
              <a:t>المرحلة الثانية</a:t>
            </a:r>
            <a:endParaRPr lang="en-US" altLang="en-US" sz="2400" b="1"/>
          </a:p>
        </p:txBody>
      </p: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5789613" y="6456876"/>
            <a:ext cx="20367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/>
            <a:r>
              <a:rPr lang="ar-DZ" altLang="en-US" sz="2400" b="1" dirty="0"/>
              <a:t>المرحلة الثالثة</a:t>
            </a:r>
            <a:endParaRPr lang="en-US" altLang="en-US" sz="2400" b="1" dirty="0"/>
          </a:p>
        </p:txBody>
      </p:sp>
      <p:graphicFrame>
        <p:nvGraphicFramePr>
          <p:cNvPr id="79" name="Table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06113"/>
              </p:ext>
            </p:extLst>
          </p:nvPr>
        </p:nvGraphicFramePr>
        <p:xfrm>
          <a:off x="1487488" y="582614"/>
          <a:ext cx="60960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681">
                <a:tc>
                  <a:txBody>
                    <a:bodyPr/>
                    <a:lstStyle/>
                    <a:p>
                      <a:r>
                        <a:rPr lang="ar-DZ" sz="1800" b="1" dirty="0" smtClean="0"/>
                        <a:t>مراحل الحركة</a:t>
                      </a:r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b="1" dirty="0" smtClean="0"/>
                        <a:t>المرحلة</a:t>
                      </a:r>
                      <a:r>
                        <a:rPr lang="ar-DZ" sz="1800" b="1" baseline="0" dirty="0" smtClean="0"/>
                        <a:t> الأولى</a:t>
                      </a:r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b="1" dirty="0" smtClean="0"/>
                        <a:t>المرحلة الثانية</a:t>
                      </a:r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b="1" dirty="0" smtClean="0"/>
                        <a:t>المرحلة الثالثة</a:t>
                      </a:r>
                      <a:endParaRPr lang="en-US" sz="1800" b="1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b="1" dirty="0" smtClean="0"/>
                        <a:t>المجال الزمني</a:t>
                      </a:r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b="1" dirty="0" smtClean="0"/>
                        <a:t>طبيعة السرعة</a:t>
                      </a:r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b="1" dirty="0" smtClean="0"/>
                        <a:t>نوع الحركة</a:t>
                      </a:r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b="1" dirty="0"/>
                    </a:p>
                  </a:txBody>
                  <a:tcPr marT="45700" marB="45700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052763" y="930277"/>
            <a:ext cx="1449387" cy="37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0mn – 8mn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4571999" y="927102"/>
            <a:ext cx="1449387" cy="37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8mn – 13mn</a:t>
            </a:r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065477" y="923927"/>
            <a:ext cx="1449387" cy="37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13mn – 17mn</a:t>
            </a:r>
            <a:endParaRPr 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3052763" y="1340892"/>
            <a:ext cx="1449387" cy="37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b="1" dirty="0" smtClean="0"/>
              <a:t>متزايدة</a:t>
            </a:r>
            <a:endParaRPr lang="en-US" b="1" dirty="0"/>
          </a:p>
        </p:txBody>
      </p:sp>
      <p:sp>
        <p:nvSpPr>
          <p:cNvPr id="81" name="TextBox 80"/>
          <p:cNvSpPr txBox="1"/>
          <p:nvPr/>
        </p:nvSpPr>
        <p:spPr>
          <a:xfrm>
            <a:off x="4571999" y="1337717"/>
            <a:ext cx="1449387" cy="37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b="1" dirty="0" smtClean="0"/>
              <a:t>ثابتة</a:t>
            </a:r>
            <a:endParaRPr lang="en-US" b="1" dirty="0"/>
          </a:p>
        </p:txBody>
      </p:sp>
      <p:sp>
        <p:nvSpPr>
          <p:cNvPr id="82" name="TextBox 81"/>
          <p:cNvSpPr txBox="1"/>
          <p:nvPr/>
        </p:nvSpPr>
        <p:spPr>
          <a:xfrm>
            <a:off x="6065477" y="1334542"/>
            <a:ext cx="1449387" cy="37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b="1" dirty="0" smtClean="0"/>
              <a:t>متناقصة</a:t>
            </a:r>
            <a:endParaRPr lang="en-US" b="1" dirty="0"/>
          </a:p>
        </p:txBody>
      </p:sp>
      <p:sp>
        <p:nvSpPr>
          <p:cNvPr id="83" name="TextBox 82"/>
          <p:cNvSpPr txBox="1"/>
          <p:nvPr/>
        </p:nvSpPr>
        <p:spPr>
          <a:xfrm>
            <a:off x="2999099" y="1699356"/>
            <a:ext cx="1449387" cy="37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b="1" dirty="0" smtClean="0"/>
              <a:t>متسارعة</a:t>
            </a:r>
            <a:endParaRPr lang="en-US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4518335" y="1696181"/>
            <a:ext cx="1449387" cy="37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b="1" dirty="0" smtClean="0"/>
              <a:t>منتظمة</a:t>
            </a:r>
            <a:endParaRPr lang="en-US" b="1" dirty="0"/>
          </a:p>
        </p:txBody>
      </p:sp>
      <p:sp>
        <p:nvSpPr>
          <p:cNvPr id="85" name="TextBox 84"/>
          <p:cNvSpPr txBox="1"/>
          <p:nvPr/>
        </p:nvSpPr>
        <p:spPr>
          <a:xfrm>
            <a:off x="6011813" y="1693006"/>
            <a:ext cx="1449387" cy="373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DZ" b="1" dirty="0" smtClean="0"/>
              <a:t>متباطئة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 nodeType="clickPar">
                      <p:stCondLst>
                        <p:cond delay="indefinite"/>
                      </p:stCondLst>
                      <p:childTnLst>
                        <p:par>
                          <p:cTn id="2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 nodeType="clickPar">
                      <p:stCondLst>
                        <p:cond delay="indefinite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 nodeType="clickPar">
                      <p:stCondLst>
                        <p:cond delay="indefinite"/>
                      </p:stCondLst>
                      <p:childTnLst>
                        <p:par>
                          <p:cTn id="2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 nodeType="clickPar">
                      <p:stCondLst>
                        <p:cond delay="indefinite"/>
                      </p:stCondLst>
                      <p:childTnLst>
                        <p:par>
                          <p:cTn id="2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 nodeType="clickPar">
                      <p:stCondLst>
                        <p:cond delay="indefinite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 nodeType="clickPar">
                      <p:stCondLst>
                        <p:cond delay="indefinite"/>
                      </p:stCondLst>
                      <p:childTnLst>
                        <p:par>
                          <p:cTn id="2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 nodeType="clickPar">
                      <p:stCondLst>
                        <p:cond delay="indefinite"/>
                      </p:stCondLst>
                      <p:childTnLst>
                        <p:par>
                          <p:cTn id="2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indefinite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4" grpId="0"/>
      <p:bldP spid="45" grpId="0"/>
      <p:bldP spid="46" grpId="0"/>
      <p:bldP spid="47" grpId="0"/>
      <p:bldP spid="48" grpId="0" animBg="1"/>
      <p:bldP spid="57" grpId="0" animBg="1"/>
      <p:bldP spid="49" grpId="0" animBg="1"/>
      <p:bldP spid="5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73" grpId="0" animBg="1"/>
      <p:bldP spid="74" grpId="0" animBg="1"/>
      <p:bldP spid="75" grpId="0" animBg="1"/>
      <p:bldP spid="76" grpId="0"/>
      <p:bldP spid="77" grpId="0"/>
      <p:bldP spid="78" grpId="0"/>
      <p:bldP spid="3" grpId="0"/>
      <p:bldP spid="71" grpId="0"/>
      <p:bldP spid="72" grpId="0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98" y="1793331"/>
            <a:ext cx="8097380" cy="4610743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7961"/>
              </p:ext>
            </p:extLst>
          </p:nvPr>
        </p:nvGraphicFramePr>
        <p:xfrm>
          <a:off x="1487488" y="582614"/>
          <a:ext cx="60960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مراحل الحركة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المرحلة</a:t>
                      </a:r>
                      <a:r>
                        <a:rPr lang="ar-DZ" sz="1800" baseline="0" dirty="0" smtClean="0"/>
                        <a:t> الأولى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المرحلة الثانية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المرحلة الثالثة</a:t>
                      </a:r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المجال الزمني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طبيعة السرعة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نوع الحركة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 flipV="1">
            <a:off x="927279" y="3322749"/>
            <a:ext cx="1931831" cy="229244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893884" y="3322749"/>
            <a:ext cx="15364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430332" y="3340553"/>
            <a:ext cx="746975" cy="112841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177307" y="4468969"/>
            <a:ext cx="115909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02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98" y="1793331"/>
            <a:ext cx="8097380" cy="4610743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7961"/>
              </p:ext>
            </p:extLst>
          </p:nvPr>
        </p:nvGraphicFramePr>
        <p:xfrm>
          <a:off x="1487488" y="582614"/>
          <a:ext cx="60960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مراحل الحركة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المرحلة</a:t>
                      </a:r>
                      <a:r>
                        <a:rPr lang="ar-DZ" sz="1800" baseline="0" dirty="0" smtClean="0"/>
                        <a:t> الأولى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المرحلة الثانية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المرحلة الثالثة</a:t>
                      </a:r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المجال الزمني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طبيعة السرعة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نوع الحركة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2498501" y="3322749"/>
            <a:ext cx="759854" cy="193183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62053" y="3322749"/>
            <a:ext cx="15364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3258356" y="3701162"/>
            <a:ext cx="1171976" cy="15534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430332" y="3701162"/>
            <a:ext cx="115909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33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98" y="1793331"/>
            <a:ext cx="8097380" cy="4610743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47961"/>
              </p:ext>
            </p:extLst>
          </p:nvPr>
        </p:nvGraphicFramePr>
        <p:xfrm>
          <a:off x="1487488" y="582614"/>
          <a:ext cx="6096000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مراحل الحركة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المرحلة</a:t>
                      </a:r>
                      <a:r>
                        <a:rPr lang="ar-DZ" sz="1800" baseline="0" dirty="0" smtClean="0"/>
                        <a:t> الأولى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المرحلة الثانية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المرحلة الثالثة</a:t>
                      </a:r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المجال الزمني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طبيعة السرعة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ar-DZ" sz="1800" dirty="0" smtClean="0"/>
                        <a:t>نوع الحركة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2498502" y="2962139"/>
            <a:ext cx="759854" cy="26659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62053" y="2962140"/>
            <a:ext cx="15364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4404576" y="4047186"/>
            <a:ext cx="1171976" cy="155341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258356" y="5602310"/>
            <a:ext cx="115909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63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8186" y="695459"/>
            <a:ext cx="774020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u="sng" dirty="0" smtClean="0">
                <a:solidFill>
                  <a:srgbClr val="FF0000"/>
                </a:solidFill>
              </a:rPr>
              <a:t>4- مخطط السرعة:</a:t>
            </a:r>
          </a:p>
          <a:p>
            <a:pPr algn="r" rtl="1"/>
            <a:r>
              <a:rPr lang="ar-DZ" sz="2000" b="1" dirty="0" smtClean="0"/>
              <a:t>قيم سرعة السيارة على طريق مستقيم:</a:t>
            </a:r>
          </a:p>
          <a:p>
            <a:pPr algn="r" rtl="1"/>
            <a:endParaRPr lang="ar-DZ" sz="2000" b="1" u="sng" dirty="0" smtClean="0">
              <a:solidFill>
                <a:srgbClr val="FF0000"/>
              </a:solidFill>
            </a:endParaRPr>
          </a:p>
          <a:p>
            <a:pPr algn="r" rtl="1"/>
            <a:endParaRPr lang="ar-DZ" sz="2000" b="1" u="sng" dirty="0" smtClean="0">
              <a:solidFill>
                <a:srgbClr val="FF0000"/>
              </a:solidFill>
            </a:endParaRPr>
          </a:p>
          <a:p>
            <a:pPr algn="r" rtl="1"/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642970"/>
              </p:ext>
            </p:extLst>
          </p:nvPr>
        </p:nvGraphicFramePr>
        <p:xfrm>
          <a:off x="1582057" y="1554844"/>
          <a:ext cx="6095999" cy="7413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6769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  <a:gridCol w="468923"/>
              </a:tblGrid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t(mn)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2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4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6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8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10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12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13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15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17</a:t>
                      </a:r>
                      <a:endParaRPr lang="en-US" sz="1800" b="1" dirty="0"/>
                    </a:p>
                  </a:txBody>
                  <a:tcPr marT="45700" marB="45700" anchor="ctr"/>
                </a:tc>
              </a:tr>
              <a:tr h="370682"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V(Km/h)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00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20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40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60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80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80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80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80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40</a:t>
                      </a:r>
                      <a:endParaRPr lang="en-US" sz="1800" b="1" dirty="0"/>
                    </a:p>
                  </a:txBody>
                  <a:tcPr marT="45700" marB="457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1" dirty="0" smtClean="0"/>
                        <a:t>00</a:t>
                      </a:r>
                      <a:endParaRPr lang="en-US" sz="1800" b="1" dirty="0"/>
                    </a:p>
                  </a:txBody>
                  <a:tcPr marT="45700" marB="45700"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6750" y="2408579"/>
            <a:ext cx="1965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DZ" sz="2000" b="1" dirty="0" smtClean="0"/>
              <a:t>مراحل حركة السيارة:</a:t>
            </a:r>
            <a:endParaRPr lang="en-US" sz="2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057" y="2808690"/>
            <a:ext cx="6096000" cy="15753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186" y="4607059"/>
            <a:ext cx="7740203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u="sng" dirty="0" smtClean="0">
                <a:solidFill>
                  <a:srgbClr val="FF0000"/>
                </a:solidFill>
              </a:rPr>
              <a:t>نتيجة:</a:t>
            </a:r>
          </a:p>
          <a:p>
            <a:pPr algn="r" rtl="1"/>
            <a:r>
              <a:rPr lang="ar-DZ" sz="2000" b="1" dirty="0" smtClean="0"/>
              <a:t>مخطط السرعة تمثيل بياني لتطور السرعة بدلالة الزمن، انطلاقا منه نتعرف على سرعة متحرك ومراحل حركته، ونحددها زمنيًا.</a:t>
            </a:r>
          </a:p>
          <a:p>
            <a:pPr algn="r" rtl="1"/>
            <a:endParaRPr lang="ar-DZ" sz="2000" b="1" dirty="0"/>
          </a:p>
          <a:p>
            <a:pPr algn="r" rtl="1"/>
            <a:r>
              <a:rPr lang="ar-DZ" sz="2000" b="1" dirty="0" smtClean="0">
                <a:solidFill>
                  <a:srgbClr val="0070C0"/>
                </a:solidFill>
              </a:rPr>
              <a:t>تمرين: 11-14 ص 80-81</a:t>
            </a:r>
          </a:p>
          <a:p>
            <a:pPr algn="r" rtl="1"/>
            <a:endParaRPr lang="ar-DZ" sz="2000" b="1" u="sng" dirty="0" smtClean="0">
              <a:solidFill>
                <a:srgbClr val="FF0000"/>
              </a:solidFill>
            </a:endParaRPr>
          </a:p>
          <a:p>
            <a:pPr algn="r" rtl="1"/>
            <a:endParaRPr lang="ar-DZ" sz="2000" b="1" u="sng" dirty="0" smtClean="0">
              <a:solidFill>
                <a:srgbClr val="FF0000"/>
              </a:solidFill>
            </a:endParaRP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4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4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مخطط السرعة" id="{2FA2CA49-FBB1-4F3B-BC55-85D36AB963BC}" vid="{8645A2A2-F38E-4F8E-8D56-6969E9CD46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مخطط السرعة</Template>
  <TotalTime>56</TotalTime>
  <Words>204</Words>
  <Application>Microsoft Office PowerPoint</Application>
  <PresentationFormat>On-screen Show (4:3)</PresentationFormat>
  <Paragraphs>123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Garamond</vt:lpstr>
      <vt:lpstr>Arial</vt:lpstr>
      <vt:lpstr>Calibri</vt:lpstr>
      <vt:lpstr>Times New Roman</vt:lpstr>
      <vt:lpstr>Organic</vt:lpstr>
      <vt:lpstr>مخطط السرعة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مخطط السرعة</dc:title>
  <dc:creator>said</dc:creator>
  <cp:lastModifiedBy>said</cp:lastModifiedBy>
  <cp:revision>7</cp:revision>
  <dcterms:created xsi:type="dcterms:W3CDTF">2019-02-03T11:12:32Z</dcterms:created>
  <dcterms:modified xsi:type="dcterms:W3CDTF">2019-02-03T12:08:58Z</dcterms:modified>
</cp:coreProperties>
</file>