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24"/>
  </p:notesMasterIdLst>
  <p:handoutMasterIdLst>
    <p:handoutMasterId r:id="rId25"/>
  </p:handoutMasterIdLst>
  <p:sldIdLst>
    <p:sldId id="283" r:id="rId2"/>
    <p:sldId id="257" r:id="rId3"/>
    <p:sldId id="269" r:id="rId4"/>
    <p:sldId id="258" r:id="rId5"/>
    <p:sldId id="259" r:id="rId6"/>
    <p:sldId id="260" r:id="rId7"/>
    <p:sldId id="275" r:id="rId8"/>
    <p:sldId id="261" r:id="rId9"/>
    <p:sldId id="280" r:id="rId10"/>
    <p:sldId id="262" r:id="rId11"/>
    <p:sldId id="263" r:id="rId12"/>
    <p:sldId id="276" r:id="rId13"/>
    <p:sldId id="279" r:id="rId14"/>
    <p:sldId id="265" r:id="rId15"/>
    <p:sldId id="281" r:id="rId16"/>
    <p:sldId id="271" r:id="rId17"/>
    <p:sldId id="272" r:id="rId18"/>
    <p:sldId id="273" r:id="rId19"/>
    <p:sldId id="274" r:id="rId20"/>
    <p:sldId id="277" r:id="rId21"/>
    <p:sldId id="278" r:id="rId22"/>
    <p:sldId id="282" r:id="rId23"/>
  </p:sldIdLst>
  <p:sldSz cx="9144000" cy="6858000" type="screen4x3"/>
  <p:notesSz cx="6858000" cy="9144000"/>
  <p:defaultTextStyle>
    <a:defPPr>
      <a:defRPr lang="fr-FR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3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16" autoAdjust="0"/>
    <p:restoredTop sz="86477" autoAdjust="0"/>
  </p:normalViewPr>
  <p:slideViewPr>
    <p:cSldViewPr>
      <p:cViewPr varScale="1">
        <p:scale>
          <a:sx n="74" d="100"/>
          <a:sy n="74" d="100"/>
        </p:scale>
        <p:origin x="-48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4C89049-29AC-42CD-B148-2797B7A3BD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61A85E-EA38-473F-B643-0E200FABF2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DB074AB-B7B6-4A1E-8610-4A0FCDB26B2C}" type="datetimeFigureOut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571FDE-5AD1-44AE-9E00-D7E7AF9A94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0D9996-667C-48E1-B24B-12CF1148E7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0">
              <a:defRPr sz="1200">
                <a:latin typeface="Calibri" panose="020F0502020204030204" pitchFamily="34" charset="0"/>
              </a:defRPr>
            </a:lvl1pPr>
          </a:lstStyle>
          <a:p>
            <a:fld id="{A4950B7C-F6C1-4FB0-AA8F-68FDAB023ED7}" type="slidenum">
              <a:rPr lang="fr-FR" altLang="en-US"/>
              <a:pPr/>
              <a:t>‹#›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D99848E-7211-4877-8B5C-9D1FD62A60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5BFAE1-404A-4301-BDF7-B03930DC3DA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30BCAB1-DF16-4BF2-8A57-56717CB56138}" type="datetimeFigureOut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4FFA811A-4B9C-47BA-96D0-2B2CD656A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id="{AE39439A-1F68-43DB-8020-2C93A0671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E70340-CD44-4BC3-96D0-6B28B424F6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FB01B9-764E-4319-8F89-D20FF1BB4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0">
              <a:defRPr sz="1200">
                <a:latin typeface="Calibri" panose="020F0502020204030204" pitchFamily="34" charset="0"/>
              </a:defRPr>
            </a:lvl1pPr>
          </a:lstStyle>
          <a:p>
            <a:fld id="{6BA4754F-457B-46D2-9A9B-53A3AD2F65B5}" type="slidenum">
              <a:rPr lang="fr-FR" altLang="en-US"/>
              <a:pPr/>
              <a:t>‹#›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>
            <a:extLst>
              <a:ext uri="{FF2B5EF4-FFF2-40B4-BE49-F238E27FC236}">
                <a16:creationId xmlns:a16="http://schemas.microsoft.com/office/drawing/2014/main" id="{F5F5C314-602E-409B-8B1D-F9D474A027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Espace réservé des commentaires 2">
            <a:extLst>
              <a:ext uri="{FF2B5EF4-FFF2-40B4-BE49-F238E27FC236}">
                <a16:creationId xmlns:a16="http://schemas.microsoft.com/office/drawing/2014/main" id="{3A24D934-8F73-4815-80D8-7E9EC6F6BA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SA" altLang="en-US"/>
          </a:p>
        </p:txBody>
      </p:sp>
      <p:sp>
        <p:nvSpPr>
          <p:cNvPr id="25604" name="Espace réservé du numéro de diapositive 3">
            <a:extLst>
              <a:ext uri="{FF2B5EF4-FFF2-40B4-BE49-F238E27FC236}">
                <a16:creationId xmlns:a16="http://schemas.microsoft.com/office/drawing/2014/main" id="{8561715A-9496-485F-A915-135008397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FD9DFB-76B8-4389-A3FD-0102B6476A31}" type="slidenum">
              <a:rPr lang="fr-FR" altLang="en-US">
                <a:latin typeface="Calibri" panose="020F0502020204030204" pitchFamily="34" charset="0"/>
              </a:rPr>
              <a:pPr eaLnBrk="1" hangingPunct="1"/>
              <a:t>2</a:t>
            </a:fld>
            <a:endParaRPr lang="fr-FR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E0A6079-006B-484C-8E24-4A7031142B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Espace réservé des commentaires 2">
            <a:extLst>
              <a:ext uri="{FF2B5EF4-FFF2-40B4-BE49-F238E27FC236}">
                <a16:creationId xmlns:a16="http://schemas.microsoft.com/office/drawing/2014/main" id="{1D500F3C-92C9-4F5E-8B54-BA61013671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SA" altLang="en-US"/>
          </a:p>
        </p:txBody>
      </p:sp>
      <p:sp>
        <p:nvSpPr>
          <p:cNvPr id="25604" name="Espace réservé du numéro de diapositive 3">
            <a:extLst>
              <a:ext uri="{FF2B5EF4-FFF2-40B4-BE49-F238E27FC236}">
                <a16:creationId xmlns:a16="http://schemas.microsoft.com/office/drawing/2014/main" id="{ED0A7D39-10DA-4EC3-ACF3-A2D26E1DF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1DEDD4E-1BDB-4A39-B971-56AD1CAA8E1E}" type="slidenum">
              <a:rPr lang="fr-FR" altLang="en-US">
                <a:latin typeface="Calibri" panose="020F0502020204030204" pitchFamily="34" charset="0"/>
              </a:rPr>
              <a:pPr eaLnBrk="1" hangingPunct="1"/>
              <a:t>3</a:t>
            </a:fld>
            <a:endParaRPr lang="fr-FR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879751-DD18-4B6E-9532-D51E51B9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7CE82-75E3-4C71-93BD-8F62024B4FAA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9F1E4C-D14D-4365-9B40-FB67FE48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FD1FE2-93F9-4567-855B-EF5C80E0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83D0-DBF3-4176-9269-22A05293358E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47674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88153C-7DFE-4029-982E-1AA99F69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2ABCD-E14F-44A8-AE0D-160556825100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0935FA-3EC3-49D7-86DF-A41919D2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0FBCF3-2ADB-4BB6-A33C-EA1B5415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9E01E5-96A9-482D-8087-266AC9A2A140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46114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24C48F-A8B3-4AA5-9FC5-2DEC2C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B68A9-32E5-42DF-A98B-C2BDB8BBC7DE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13D0FD-F255-484C-B515-E7E7BF29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042CAA-C201-44E6-84EB-5D71C4BA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F1FDE-D22C-40A8-B388-00B4D4F8BE77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63653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944F63C5-B5E0-4DD0-AA8F-392508A8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0C793-7436-4BB5-9A8A-76D6720D87C4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1A481B14-7D92-4CAC-9706-165370DA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B9BC2019-6F7C-41A6-8D88-F6EBB03E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21ECD9-91B5-4718-8E8A-7559E1983435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60702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246372EC-3BDE-4E50-B6B0-12B64AD5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C92B6-E6CD-4EC0-AA17-4733EB08AAFD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FB3A7880-5BA0-4E3B-B68F-0A546A56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B5E6ABF6-CCD4-48AD-BEAF-EC177CE7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C4B96F-8EEF-42E7-A174-8A7B10B34FE8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2413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4E76BE7C-D543-4000-B90D-6CFB05EA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6AD1B-5F77-46A3-A25A-6581BFA5B066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91798C57-B0DE-490C-8810-ABC89743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8D1FCBE1-A1BF-4B92-8C90-DD61E659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5911C-6982-4D6B-86CA-A241D6978224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69465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B0F5FB7-8449-4513-94D7-A3963ED5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9CFDF-4813-4548-B06F-4973CAD4E8E0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EB8CBD2-54D2-4F50-90D1-DDDADF9F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7F761B6D-805A-4AF4-A39B-CFC44A59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E49EC-E66B-44BC-93FC-1F0CB358541C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199562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7A1B55C4-E6EE-4BCE-90AA-9959BEE3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B2ACFD-2022-4DA8-86C5-6583A309FFC9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6BA6D1CD-8AA6-41C2-AA4E-CC3C7F727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49276CD-8FAE-49A2-874F-2C068C6D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5EE64-D278-427C-8D73-3D436C7DEAEC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23816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ED40609F-9CF3-4551-AD51-DBA59C8D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69221-E881-455B-97A1-439F4551C8EE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21A5013-CB14-4429-8D8A-E5543339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ACE7EC61-1967-491A-BD5F-4DEEF124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B44E3D-7B2C-4F68-96F4-F894A0231335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58929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616CC8-238D-4B56-8589-B2F9D2AB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5AFB1-3CD9-46E9-A2FC-27A479BA368D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320562-6751-4C98-81D9-96E917CA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B58EEB-ADEE-494C-BFE5-2C90E841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24B979-E393-4115-A5A1-4DFE0597D3DA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76043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9AE03-6DC0-4005-B32E-D23251B7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117C5-89D3-434F-AD31-F75CD352064E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3DA14C-F3EB-4378-A7CA-26AD4FA8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02DF40-C7E5-4311-B530-FCF68FC4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EFF0CF-B4C8-482E-8191-9AA3E144A3EB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85060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>
            <a:extLst>
              <a:ext uri="{FF2B5EF4-FFF2-40B4-BE49-F238E27FC236}">
                <a16:creationId xmlns:a16="http://schemas.microsoft.com/office/drawing/2014/main" id="{9975B2C1-A820-4EA5-8B68-2525E53C3D0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 style du titre</a:t>
            </a:r>
          </a:p>
        </p:txBody>
      </p:sp>
      <p:sp>
        <p:nvSpPr>
          <p:cNvPr id="1027" name="Espace réservé du texte 2">
            <a:extLst>
              <a:ext uri="{FF2B5EF4-FFF2-40B4-BE49-F238E27FC236}">
                <a16:creationId xmlns:a16="http://schemas.microsoft.com/office/drawing/2014/main" id="{9C90E5D9-C186-4C15-A255-0305CDA14B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E56FB9-5E9F-48EB-92DC-EF225842E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739E5E4-28E5-4C33-B9AA-32C8F331A0F4}" type="datetime1">
              <a:rPr lang="fr-FR"/>
              <a:pPr>
                <a:defRPr/>
              </a:pPr>
              <a:t>11/04/2018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5B9D6-A58D-4D2B-9D31-D2C439BB2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ar-MA"/>
              <a:t>مركز التجديد في تكنولوجيا الإعلام من أجل التكمية البشرية جامعة الأخوين(</a:t>
            </a:r>
            <a:r>
              <a:rPr lang="fr-FR"/>
              <a:t>CITI)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09C74A-A0A9-41B8-8AB6-36A6627B7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CE22830D-7946-4F25-AEFB-E7B3485BDF89}" type="slidenum">
              <a:rPr lang="fr-FR" altLang="en-US"/>
              <a:pPr/>
              <a:t>‹#›</a:t>
            </a:fld>
            <a:endParaRPr lang="fr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7846B320-20F2-4010-B297-7E7C27ED79D4}"/>
              </a:ext>
            </a:extLst>
          </p:cNvPr>
          <p:cNvSpPr txBox="1">
            <a:spLocks/>
          </p:cNvSpPr>
          <p:nvPr/>
        </p:nvSpPr>
        <p:spPr>
          <a:xfrm>
            <a:off x="1679575" y="846138"/>
            <a:ext cx="5715000" cy="1457325"/>
          </a:xfrm>
          <a:prstGeom prst="rect">
            <a:avLst/>
          </a:prstGeom>
        </p:spPr>
        <p:txBody>
          <a:bodyPr rtlCol="1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ar-MA" sz="6600" b="1" dirty="0" err="1">
                <a:solidFill>
                  <a:srgbClr val="FF0000"/>
                </a:solidFill>
                <a:latin typeface="Times New Roman" pitchFamily="18" charset="0"/>
                <a:cs typeface="+mj-cs"/>
              </a:rPr>
              <a:t>الض</a:t>
            </a:r>
            <a:r>
              <a:rPr lang="ar-SA" sz="6600" b="1" dirty="0">
                <a:solidFill>
                  <a:srgbClr val="FF0000"/>
                </a:solidFill>
                <a:latin typeface="Times New Roman" pitchFamily="18" charset="0"/>
                <a:cs typeface="+mj-cs"/>
              </a:rPr>
              <a:t>ــــــــــ</a:t>
            </a:r>
            <a:r>
              <a:rPr lang="ar-MA" sz="6600" b="1" dirty="0" err="1">
                <a:solidFill>
                  <a:srgbClr val="FF0000"/>
                </a:solidFill>
                <a:latin typeface="Times New Roman" pitchFamily="18" charset="0"/>
                <a:cs typeface="+mj-cs"/>
              </a:rPr>
              <a:t>وء</a:t>
            </a:r>
            <a:endParaRPr lang="fr-FR" sz="6600" b="1" dirty="0">
              <a:solidFill>
                <a:srgbClr val="FF0000"/>
              </a:solidFill>
              <a:latin typeface="Times New Roman" pitchFamily="18" charset="0"/>
              <a:cs typeface="+mj-cs"/>
            </a:endParaRPr>
          </a:p>
        </p:txBody>
      </p:sp>
      <p:sp>
        <p:nvSpPr>
          <p:cNvPr id="2051" name="Sous-titre 2">
            <a:extLst>
              <a:ext uri="{FF2B5EF4-FFF2-40B4-BE49-F238E27FC236}">
                <a16:creationId xmlns:a16="http://schemas.microsoft.com/office/drawing/2014/main" id="{E051958E-FA4A-4AAB-8E61-A6B35245ECD0}"/>
              </a:ext>
            </a:extLst>
          </p:cNvPr>
          <p:cNvSpPr txBox="1">
            <a:spLocks/>
          </p:cNvSpPr>
          <p:nvPr/>
        </p:nvSpPr>
        <p:spPr bwMode="auto">
          <a:xfrm>
            <a:off x="1338263" y="2187575"/>
            <a:ext cx="64008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fr-FR" altLang="en-US" sz="5400" b="1">
                <a:solidFill>
                  <a:srgbClr val="1606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Lumière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537654C-1BEF-4E07-9984-A868FDB3F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258888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 sz="4000" b="1" u="sng">
                <a:solidFill>
                  <a:srgbClr val="FF0000"/>
                </a:solidFill>
              </a:rPr>
              <a:t>1</a:t>
            </a:r>
            <a:r>
              <a:rPr lang="ar-SA" altLang="en-US" sz="4000" b="1" u="sng">
                <a:solidFill>
                  <a:srgbClr val="FF0000"/>
                </a:solidFill>
              </a:rPr>
              <a:t>- </a:t>
            </a:r>
            <a:r>
              <a:rPr lang="ar-MA" altLang="en-US" sz="4000" b="1" u="sng">
                <a:solidFill>
                  <a:srgbClr val="FF0000"/>
                </a:solidFill>
              </a:rPr>
              <a:t>انتشار الضوء</a:t>
            </a:r>
            <a:endParaRPr lang="fr-FR" altLang="en-US" sz="4000" b="1" u="sng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1A7BF-7901-45FD-AEE3-A3E1F3B36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4864100"/>
            <a:ext cx="8072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MA" altLang="en-US" sz="2800"/>
              <a:t>في الليل، عند دخول غرفة، لا يمكن رؤية أي شيء إلا بعد إنارة </a:t>
            </a:r>
            <a:endParaRPr lang="ar-SA" altLang="en-US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C02B4A-81A6-4017-A8D8-59738862E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25" y="5597525"/>
            <a:ext cx="5756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الغرفة بواسطة منبع ضوئي (مصباح، شمعة، ...</a:t>
            </a:r>
            <a:r>
              <a:rPr lang="ar-SA" altLang="en-US" sz="2800"/>
              <a:t>)</a:t>
            </a:r>
          </a:p>
        </p:txBody>
      </p:sp>
      <p:pic>
        <p:nvPicPr>
          <p:cNvPr id="22" name="Image 21" descr="Picture1.jpg">
            <a:extLst>
              <a:ext uri="{FF2B5EF4-FFF2-40B4-BE49-F238E27FC236}">
                <a16:creationId xmlns:a16="http://schemas.microsoft.com/office/drawing/2014/main" id="{D57ABBB8-42F2-4A76-8FC5-CCAE217AB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388" y="2286000"/>
            <a:ext cx="3770312" cy="222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322F74-A75D-4569-9E26-C7019E3AC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2143125"/>
            <a:ext cx="5735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ينتقل الضوء من المنبع إلى كل أرجاء الغرفة</a:t>
            </a:r>
            <a:endParaRPr lang="ar-SA" altLang="en-US" sz="2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D3DCA9-8D29-4D8B-9D54-185460074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2855913"/>
            <a:ext cx="4787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مما يمكن من رؤية الأشياء الموجودة بها.</a:t>
            </a:r>
            <a:endParaRPr lang="ar-SA" alt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A89AA5-5250-4938-9B09-5E7C8610D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450" y="4857750"/>
            <a:ext cx="56070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نقول أن الضوء ينتشر من المنبع إلى محيطه.</a:t>
            </a:r>
          </a:p>
        </p:txBody>
      </p:sp>
      <p:sp>
        <p:nvSpPr>
          <p:cNvPr id="13" name="ZoneTexte 8">
            <a:extLst>
              <a:ext uri="{FF2B5EF4-FFF2-40B4-BE49-F238E27FC236}">
                <a16:creationId xmlns:a16="http://schemas.microsoft.com/office/drawing/2014/main" id="{8F24D0A3-5BD0-4E12-BDC2-8C0A4B419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1263650"/>
            <a:ext cx="3429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SA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ملاحظــة</a:t>
            </a:r>
            <a:endParaRPr lang="fr-FR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ZoneTexte 8">
            <a:extLst>
              <a:ext uri="{FF2B5EF4-FFF2-40B4-BE49-F238E27FC236}">
                <a16:creationId xmlns:a16="http://schemas.microsoft.com/office/drawing/2014/main" id="{7869BC77-0E9E-4D37-AB2D-F4495E431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850" y="3970338"/>
            <a:ext cx="3429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SA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استنتــاج</a:t>
            </a:r>
            <a:endParaRPr lang="fr-FR" altLang="en-US" sz="36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42F547-BAB3-4D7A-BDAE-74C5167D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73138"/>
            <a:ext cx="8229600" cy="1143000"/>
          </a:xfrm>
        </p:spPr>
        <p:txBody>
          <a:bodyPr rtlCol="1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ar-SA" sz="4000" b="1" u="sng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2- </a:t>
            </a:r>
            <a:r>
              <a:rPr lang="ar-MA" sz="4000" b="1" u="sng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أوساط انتشار الضوء:</a:t>
            </a:r>
            <a:endParaRPr lang="fr-FR" sz="4000" b="1" u="sng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DED20A3-A9E0-4E2D-B27A-29C9C4FB9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200" y="5700713"/>
            <a:ext cx="1214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زجاج أملس</a:t>
            </a:r>
            <a:endParaRPr lang="fr-F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9CD24A6-338C-4EF1-BBF2-C6EBF03B0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675" y="5694363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زجاج خشن</a:t>
            </a:r>
            <a:endParaRPr lang="fr-F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55C0486-7444-4FC3-A48C-D34305DEE06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517650" y="5700713"/>
            <a:ext cx="1387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ورق مقوى</a:t>
            </a:r>
            <a:endParaRPr lang="fr-F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182D1A-121B-4328-8E9B-B1904BC37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2851150"/>
            <a:ext cx="657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نضع شيئا مضيئا (حرف </a:t>
            </a:r>
            <a:r>
              <a:rPr lang="fr-FR" altLang="en-US" sz="2800"/>
              <a:t>F</a:t>
            </a:r>
            <a:r>
              <a:rPr lang="ar-MA" altLang="en-US" sz="2800"/>
              <a:t>)، ونضع أمامه على التوالي:</a:t>
            </a:r>
            <a:endParaRPr lang="ar-SA" alt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D2653A-D186-4C3F-B38E-7EFB1F1A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3565525"/>
            <a:ext cx="490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زجاج أملس و</a:t>
            </a:r>
            <a:r>
              <a:rPr lang="ar-SA" altLang="en-US" sz="2800"/>
              <a:t> </a:t>
            </a:r>
            <a:r>
              <a:rPr lang="ar-MA" altLang="en-US" sz="2800"/>
              <a:t>زجاج خشن و ورق مقوى.</a:t>
            </a:r>
            <a:endParaRPr lang="ar-SA" altLang="en-US" sz="2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462417-6971-4376-BBDE-9E0FE131258B}"/>
              </a:ext>
            </a:extLst>
          </p:cNvPr>
          <p:cNvSpPr/>
          <p:nvPr/>
        </p:nvSpPr>
        <p:spPr>
          <a:xfrm>
            <a:off x="7051675" y="2098675"/>
            <a:ext cx="1189038" cy="585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ar-MA" sz="3200" b="1" u="sng" dirty="0">
                <a:solidFill>
                  <a:srgbClr val="33CC33"/>
                </a:solidFill>
                <a:latin typeface="+mn-lt"/>
                <a:cs typeface="+mn-cs"/>
              </a:rPr>
              <a:t>تجارب:</a:t>
            </a:r>
          </a:p>
        </p:txBody>
      </p:sp>
      <p:pic>
        <p:nvPicPr>
          <p:cNvPr id="24" name="Image 23" descr="Picture3.jpg">
            <a:extLst>
              <a:ext uri="{FF2B5EF4-FFF2-40B4-BE49-F238E27FC236}">
                <a16:creationId xmlns:a16="http://schemas.microsoft.com/office/drawing/2014/main" id="{80B53338-5D78-4CAF-8B1B-266B0374B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4429125"/>
            <a:ext cx="17875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Image 24" descr="Picture4''.jpg">
            <a:extLst>
              <a:ext uri="{FF2B5EF4-FFF2-40B4-BE49-F238E27FC236}">
                <a16:creationId xmlns:a16="http://schemas.microsoft.com/office/drawing/2014/main" id="{9CF327C7-AFFE-4ADE-8845-03F2FE335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363" y="4419600"/>
            <a:ext cx="17526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Image 25" descr="Picture4'.jpg">
            <a:extLst>
              <a:ext uri="{FF2B5EF4-FFF2-40B4-BE49-F238E27FC236}">
                <a16:creationId xmlns:a16="http://schemas.microsoft.com/office/drawing/2014/main" id="{B713729F-41BD-4341-B786-45776015A7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050" y="4422775"/>
            <a:ext cx="17653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5" grpId="0"/>
      <p:bldP spid="20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4493C995-0972-4321-86DA-C0350E81FC48}"/>
              </a:ext>
            </a:extLst>
          </p:cNvPr>
          <p:cNvSpPr txBox="1">
            <a:spLocks noChangeArrowheads="1"/>
          </p:cNvSpPr>
          <p:nvPr/>
        </p:nvSpPr>
        <p:spPr>
          <a:xfrm>
            <a:off x="3357563" y="1500188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ملاحظ</a:t>
            </a:r>
            <a:r>
              <a:rPr lang="ar-S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ة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EE22BC-7676-4F8A-9B92-3C86820C9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700" y="2851150"/>
            <a:ext cx="5724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الحرف </a:t>
            </a:r>
            <a:r>
              <a:rPr lang="fr-FR" altLang="en-US" sz="2800"/>
              <a:t>F</a:t>
            </a:r>
            <a:r>
              <a:rPr lang="ar-MA" altLang="en-US" sz="2800"/>
              <a:t> يظهر واضحا عبر الزجاج الأملس.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3F6EF9-49A1-4526-99FA-6E991EA82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3722688"/>
            <a:ext cx="6130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الحرف </a:t>
            </a:r>
            <a:r>
              <a:rPr lang="fr-FR" altLang="en-US" sz="2800"/>
              <a:t>F</a:t>
            </a:r>
            <a:r>
              <a:rPr lang="ar-MA" altLang="en-US" sz="2800"/>
              <a:t> يظهر غير واضح عبر الزجاج الخشن.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D2150D-C0AB-4276-8622-7B048C084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5" y="4579938"/>
            <a:ext cx="5592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لا يمكن رؤية الحرف </a:t>
            </a:r>
            <a:r>
              <a:rPr lang="fr-FR" altLang="en-US" sz="2800"/>
              <a:t>F</a:t>
            </a:r>
            <a:r>
              <a:rPr lang="ar-MA" altLang="en-US" sz="2800"/>
              <a:t> عبر الورق المقوى.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F6D1148F-F18E-48F5-B7F1-0960F62BA469}"/>
              </a:ext>
            </a:extLst>
          </p:cNvPr>
          <p:cNvSpPr txBox="1">
            <a:spLocks noChangeArrowheads="1"/>
          </p:cNvSpPr>
          <p:nvPr/>
        </p:nvSpPr>
        <p:spPr>
          <a:xfrm>
            <a:off x="3357563" y="1500188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استنتاج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2921B4-6DDD-47DA-950A-54EB2592B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2841625"/>
            <a:ext cx="7358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fr-FR" altLang="en-US" sz="2800"/>
              <a:t> </a:t>
            </a:r>
            <a:r>
              <a:rPr lang="ar-MA" altLang="en-US" sz="2800"/>
              <a:t>الزجاج الأملس: وسط شفاف</a:t>
            </a:r>
            <a:r>
              <a:rPr lang="fr-FR" altLang="en-US" sz="2800"/>
              <a:t>) </a:t>
            </a:r>
            <a:r>
              <a:rPr lang="ar-MA" altLang="en-US" sz="2800"/>
              <a:t> </a:t>
            </a:r>
            <a:r>
              <a:rPr lang="fr-FR" altLang="en-US" sz="2800"/>
              <a:t>Milieu transparent</a:t>
            </a:r>
            <a:r>
              <a:rPr lang="ar-MA" altLang="en-US" sz="2800"/>
              <a:t>).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B2B407-B9DC-4F3E-8377-6FBC52BB9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3716338"/>
            <a:ext cx="7715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fr-FR" altLang="en-US" sz="2800"/>
              <a:t> </a:t>
            </a:r>
            <a:r>
              <a:rPr lang="ar-MA" altLang="en-US" sz="2800"/>
              <a:t>الزجاج الخشن: وسط نصف شفاف (</a:t>
            </a:r>
            <a:r>
              <a:rPr lang="fr-FR" altLang="en-US" sz="2800"/>
              <a:t>Milieu translucide</a:t>
            </a:r>
            <a:r>
              <a:rPr lang="ar-MA" altLang="en-US" sz="2800"/>
              <a:t> 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C08993-B1F9-4E58-8964-068F5D030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4578350"/>
            <a:ext cx="65008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fr-FR" altLang="en-US" sz="2800"/>
              <a:t> </a:t>
            </a:r>
            <a:r>
              <a:rPr lang="ar-MA" altLang="en-US" sz="2800"/>
              <a:t>الورق المقوى: وسط معتم ( </a:t>
            </a:r>
            <a:r>
              <a:rPr lang="fr-FR" altLang="en-US" sz="2800"/>
              <a:t>Milieu opaque</a:t>
            </a:r>
            <a:r>
              <a:rPr lang="ar-MA" altLang="en-US" sz="2800"/>
              <a:t> ).</a:t>
            </a:r>
            <a:endParaRPr lang="fr-FR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7">
            <a:extLst>
              <a:ext uri="{FF2B5EF4-FFF2-40B4-BE49-F238E27FC236}">
                <a16:creationId xmlns:a16="http://schemas.microsoft.com/office/drawing/2014/main" id="{3F43F13F-A60C-4B74-8389-E6CEA417B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2714625"/>
            <a:ext cx="4000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SA" altLang="en-US" sz="4000">
                <a:solidFill>
                  <a:srgbClr val="0000FF"/>
                </a:solidFill>
              </a:rPr>
              <a:t>انظر المحاكاة</a:t>
            </a:r>
            <a:endParaRPr lang="en-US" altLang="en-US" sz="4000">
              <a:solidFill>
                <a:srgbClr val="0000FF"/>
              </a:solidFill>
            </a:endParaRPr>
          </a:p>
          <a:p>
            <a:pPr algn="ctr" eaLnBrk="1" hangingPunct="1"/>
            <a:r>
              <a:rPr lang="ar-SA" altLang="en-US" sz="2000">
                <a:solidFill>
                  <a:srgbClr val="000000"/>
                </a:solidFill>
              </a:rPr>
              <a:t>(</a:t>
            </a:r>
            <a:r>
              <a:rPr lang="ar-MA" altLang="en-US" sz="2000" b="1"/>
              <a:t>أوساط انتشار الضوء</a:t>
            </a:r>
            <a:r>
              <a:rPr lang="ar-SA" altLang="en-US" sz="200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8195" name="ZoneTexte 8">
            <a:extLst>
              <a:ext uri="{FF2B5EF4-FFF2-40B4-BE49-F238E27FC236}">
                <a16:creationId xmlns:a16="http://schemas.microsoft.com/office/drawing/2014/main" id="{872DD0A4-8FC4-459B-91B6-1A03B5D16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3" y="190500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الض</a:t>
            </a:r>
            <a:r>
              <a:rPr lang="ar-S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ــــــــــ</a:t>
            </a:r>
            <a:r>
              <a:rPr lang="ar-M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وء</a:t>
            </a:r>
            <a:endParaRPr lang="fr-FR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CC109DA4-F626-4968-80AB-4F6F26D0D4FD}"/>
              </a:ext>
            </a:extLst>
          </p:cNvPr>
          <p:cNvSpPr txBox="1">
            <a:spLocks noChangeArrowheads="1"/>
          </p:cNvSpPr>
          <p:nvPr/>
        </p:nvSpPr>
        <p:spPr>
          <a:xfrm>
            <a:off x="3357563" y="1262063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S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خلاصة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A9E590-06C8-4D0F-B473-CE82EFD04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2346325"/>
            <a:ext cx="6378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الوسط الشفاف هو الوسط الذي يسمح بمرور الضوء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904111-B43B-4CDE-9B81-E3A299226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778250"/>
            <a:ext cx="728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الوسط نصف الشفاف هو الوسط الذي يسمح بمرور جزئي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54470-DC7A-45FD-8AA0-7CCCC9321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230813"/>
            <a:ext cx="7215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ar-SA" altLang="en-US" sz="2800"/>
              <a:t> </a:t>
            </a:r>
            <a:r>
              <a:rPr lang="ar-MA" altLang="en-US" sz="2800"/>
              <a:t>الوسط المعتم هو الوسط الذي لا يسمح بمرور الضوء عبره.</a:t>
            </a:r>
            <a:endParaRPr lang="fr-FR" alt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89708D-8872-4456-AB2C-0EEBE14FA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518025"/>
            <a:ext cx="6777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للضوء عبره</a:t>
            </a:r>
            <a:r>
              <a:rPr lang="ar-SA" altLang="en-US" sz="2800"/>
              <a:t> يمكن من رؤية الأجسام بوضوح</a:t>
            </a:r>
            <a:r>
              <a:rPr lang="ar-MA" altLang="en-US" sz="280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FE57B-6D30-458E-B440-779DB8DB7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3060700"/>
            <a:ext cx="7194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SA" altLang="en-US" sz="2800"/>
              <a:t>و برؤية الأجسام من خلاله بوضوح (مثل الهواء، الفراغ ....</a:t>
            </a:r>
            <a:r>
              <a:rPr lang="ar-MA" altLang="en-US" sz="2800"/>
              <a:t>.</a:t>
            </a:r>
            <a:r>
              <a:rPr lang="ar-SA" altLang="en-US" sz="2800"/>
              <a:t>)</a:t>
            </a:r>
            <a:endParaRPr lang="ar-MA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C90BFC-2521-41C4-907B-97EA602F4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3" y="3244850"/>
            <a:ext cx="70691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تقدر سرعة انتشار الضوء في الفراغ ب: </a:t>
            </a:r>
            <a:r>
              <a:rPr lang="fr-FR" altLang="en-US" sz="2800"/>
              <a:t>300 000 Km/s</a:t>
            </a:r>
            <a:endParaRPr lang="ar-SA" altLang="en-US" sz="280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B6DE602-6A09-424C-B307-AE038BA5DB39}"/>
              </a:ext>
            </a:extLst>
          </p:cNvPr>
          <p:cNvSpPr txBox="1">
            <a:spLocks noChangeArrowheads="1"/>
          </p:cNvSpPr>
          <p:nvPr/>
        </p:nvSpPr>
        <p:spPr>
          <a:xfrm>
            <a:off x="3357563" y="1500188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ملح</a:t>
            </a:r>
            <a:r>
              <a:rPr lang="ar-S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و</a:t>
            </a: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ظ</a:t>
            </a:r>
            <a:r>
              <a:rPr lang="ar-S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ة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>
            <a:extLst>
              <a:ext uri="{FF2B5EF4-FFF2-40B4-BE49-F238E27FC236}">
                <a16:creationId xmlns:a16="http://schemas.microsoft.com/office/drawing/2014/main" id="{8324B426-3495-46F4-8BBE-013262614E47}"/>
              </a:ext>
            </a:extLst>
          </p:cNvPr>
          <p:cNvSpPr txBox="1">
            <a:spLocks/>
          </p:cNvSpPr>
          <p:nvPr/>
        </p:nvSpPr>
        <p:spPr bwMode="auto">
          <a:xfrm>
            <a:off x="714375" y="110966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SA" altLang="en-US" sz="4000" b="1" u="sng">
                <a:solidFill>
                  <a:srgbClr val="FF0000"/>
                </a:solidFill>
              </a:rPr>
              <a:t>3- </a:t>
            </a:r>
            <a:r>
              <a:rPr lang="ar-MA" altLang="en-US" sz="4000" b="1" u="sng">
                <a:solidFill>
                  <a:srgbClr val="FF0000"/>
                </a:solidFill>
              </a:rPr>
              <a:t>الانتشار المستقيمي للضوء:</a:t>
            </a:r>
            <a:endParaRPr lang="fr-FR" altLang="en-US" sz="4000" b="1" u="sng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1CE906-711D-41B4-B393-E7E40FEBB270}"/>
              </a:ext>
            </a:extLst>
          </p:cNvPr>
          <p:cNvSpPr/>
          <p:nvPr/>
        </p:nvSpPr>
        <p:spPr>
          <a:xfrm>
            <a:off x="4987925" y="2401888"/>
            <a:ext cx="3389313" cy="5857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ar-MA" sz="32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تعريف الحزمة الضوئية:</a:t>
            </a:r>
            <a:endParaRPr lang="ar-MA" sz="3200" b="1" u="sng" dirty="0">
              <a:solidFill>
                <a:srgbClr val="33CC33"/>
              </a:solidFill>
              <a:latin typeface="+mn-lt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22B3A5-31A1-463A-89DF-C63205312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3421063"/>
            <a:ext cx="7572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الحزمة الضوئية هي مجموعة من الأشعة الضوئية</a:t>
            </a:r>
            <a:r>
              <a:rPr lang="ar-SA" altLang="en-US" sz="2800"/>
              <a:t>.</a:t>
            </a:r>
            <a:r>
              <a:rPr lang="ar-MA" altLang="en-US" sz="2800"/>
              <a:t> </a:t>
            </a:r>
            <a:endParaRPr lang="ar-SA" alt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685656-C55F-4CE7-AFF7-41ABBB88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4283075"/>
            <a:ext cx="75723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يمكن الحصول على حزمة ضوئية بوضع حجاب معتم به فتحة</a:t>
            </a:r>
            <a:endParaRPr lang="ar-SA" alt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82F9D5-E246-49DB-A732-3C51A0636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613" y="5294313"/>
            <a:ext cx="213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أمام منبع ضوئي.</a:t>
            </a:r>
            <a:endParaRPr lang="ar-SA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 descr="img1'a.jpg">
            <a:extLst>
              <a:ext uri="{FF2B5EF4-FFF2-40B4-BE49-F238E27FC236}">
                <a16:creationId xmlns:a16="http://schemas.microsoft.com/office/drawing/2014/main" id="{52410387-B2F4-4332-9B38-E581652BB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75" y="1985963"/>
            <a:ext cx="6457950" cy="332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D59AB3BB-F4CB-4A1B-B33B-FACF53EBF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2897188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منبع ضوئي</a:t>
            </a:r>
            <a:endParaRPr lang="fr-F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621425-07C8-439B-A20F-D12228231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5430838"/>
            <a:ext cx="64722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SA" altLang="en-US" sz="2800"/>
              <a:t>ما هو الشرط اللازم حتى تستطيع رؤية  ضوء الشمعة ؟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3C550612-D542-4DA6-9A89-0896ACEDE168}"/>
              </a:ext>
            </a:extLst>
          </p:cNvPr>
          <p:cNvCxnSpPr/>
          <p:nvPr/>
        </p:nvCxnSpPr>
        <p:spPr>
          <a:xfrm>
            <a:off x="1906588" y="3106738"/>
            <a:ext cx="539750" cy="15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4">
            <a:extLst>
              <a:ext uri="{FF2B5EF4-FFF2-40B4-BE49-F238E27FC236}">
                <a16:creationId xmlns:a16="http://schemas.microsoft.com/office/drawing/2014/main" id="{FE960247-9887-4E1C-BB4E-FA3D92D84D2A}"/>
              </a:ext>
            </a:extLst>
          </p:cNvPr>
          <p:cNvSpPr txBox="1">
            <a:spLocks noChangeArrowheads="1"/>
          </p:cNvSpPr>
          <p:nvPr/>
        </p:nvSpPr>
        <p:spPr>
          <a:xfrm>
            <a:off x="3357563" y="1112838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تجربة</a:t>
            </a:r>
            <a:endParaRPr lang="fr-FR" sz="4400" b="1" u="sng" dirty="0">
              <a:solidFill>
                <a:srgbClr val="33CC33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e 9">
            <a:extLst>
              <a:ext uri="{FF2B5EF4-FFF2-40B4-BE49-F238E27FC236}">
                <a16:creationId xmlns:a16="http://schemas.microsoft.com/office/drawing/2014/main" id="{25C840CA-5D2E-46ED-84BD-981328746671}"/>
              </a:ext>
            </a:extLst>
          </p:cNvPr>
          <p:cNvGrpSpPr>
            <a:grpSpLocks/>
          </p:cNvGrpSpPr>
          <p:nvPr/>
        </p:nvGrpSpPr>
        <p:grpSpPr bwMode="auto">
          <a:xfrm>
            <a:off x="6834188" y="133350"/>
            <a:ext cx="2247900" cy="657225"/>
            <a:chOff x="6834078" y="133350"/>
            <a:chExt cx="2248007" cy="657225"/>
          </a:xfrm>
        </p:grpSpPr>
        <p:grpSp>
          <p:nvGrpSpPr>
            <p:cNvPr id="13321" name="Groupe 5">
              <a:extLst>
                <a:ext uri="{FF2B5EF4-FFF2-40B4-BE49-F238E27FC236}">
                  <a16:creationId xmlns:a16="http://schemas.microsoft.com/office/drawing/2014/main" id="{26E12316-5C93-4CA6-BFD3-2A00E3C34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00985" y="152400"/>
              <a:ext cx="1181100" cy="638175"/>
              <a:chOff x="8099174" y="152016"/>
              <a:chExt cx="982692" cy="638348"/>
            </a:xfrm>
          </p:grpSpPr>
          <p:sp>
            <p:nvSpPr>
              <p:cNvPr id="13" name="Titre 1">
                <a:extLst>
                  <a:ext uri="{FF2B5EF4-FFF2-40B4-BE49-F238E27FC236}">
                    <a16:creationId xmlns:a16="http://schemas.microsoft.com/office/drawing/2014/main" id="{8530AED1-47E9-4AB9-B0CE-D592B73A70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99127" y="152016"/>
                <a:ext cx="968208" cy="247717"/>
              </a:xfrm>
              <a:prstGeom prst="rect">
                <a:avLst/>
              </a:prstGeom>
            </p:spPr>
            <p:txBody>
              <a:bodyPr anchor="ctr"/>
              <a:lstStyle/>
              <a:p>
                <a:pPr fontAlgn="auto">
                  <a:spcBef>
                    <a:spcPct val="20000"/>
                  </a:spcBef>
                  <a:spcAft>
                    <a:spcPts val="0"/>
                  </a:spcAft>
                  <a:buClr>
                    <a:schemeClr val="hlink"/>
                  </a:buClr>
                  <a:buFont typeface="Wingdings" pitchFamily="2" charset="2"/>
                  <a:buNone/>
                  <a:defRPr/>
                </a:pPr>
                <a:r>
                  <a:rPr lang="ar-SA" sz="1000" b="1" dirty="0">
                    <a:solidFill>
                      <a:srgbClr val="000000"/>
                    </a:solidFill>
                    <a:ea typeface="+mj-ea"/>
                  </a:rPr>
                  <a:t>المادة</a:t>
                </a:r>
                <a:r>
                  <a:rPr lang="en-US" sz="1000" b="1" dirty="0">
                    <a:solidFill>
                      <a:srgbClr val="000000"/>
                    </a:solidFill>
                    <a:ea typeface="+mj-ea"/>
                  </a:rPr>
                  <a:t>       </a:t>
                </a:r>
                <a:r>
                  <a:rPr lang="ar-SA" sz="1000" b="1" dirty="0">
                    <a:solidFill>
                      <a:srgbClr val="000000"/>
                    </a:solidFill>
                    <a:ea typeface="+mj-ea"/>
                  </a:rPr>
                  <a:t>:</a:t>
                </a:r>
                <a:r>
                  <a:rPr lang="en-US" sz="1000" b="1" dirty="0">
                    <a:solidFill>
                      <a:srgbClr val="000000"/>
                    </a:solidFill>
                    <a:ea typeface="+mj-ea"/>
                  </a:rPr>
                  <a:t>   </a:t>
                </a:r>
                <a:endParaRPr lang="fr-FR" sz="1000" b="1" dirty="0">
                  <a:solidFill>
                    <a:srgbClr val="000000"/>
                  </a:solidFill>
                  <a:ea typeface="+mj-ea"/>
                </a:endParaRPr>
              </a:p>
            </p:txBody>
          </p:sp>
          <p:sp>
            <p:nvSpPr>
              <p:cNvPr id="14" name="Titre 1">
                <a:extLst>
                  <a:ext uri="{FF2B5EF4-FFF2-40B4-BE49-F238E27FC236}">
                    <a16:creationId xmlns:a16="http://schemas.microsoft.com/office/drawing/2014/main" id="{A40598C9-0EDF-49F0-8B24-AC733D0D8E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9895" y="542647"/>
                <a:ext cx="851971" cy="247717"/>
              </a:xfrm>
              <a:prstGeom prst="rect">
                <a:avLst/>
              </a:prstGeom>
            </p:spPr>
            <p:txBody>
              <a:bodyPr anchor="ctr"/>
              <a:lstStyle/>
              <a:p>
                <a:pPr fontAlgn="auto">
                  <a:spcBef>
                    <a:spcPct val="20000"/>
                  </a:spcBef>
                  <a:spcAft>
                    <a:spcPts val="0"/>
                  </a:spcAft>
                  <a:buClr>
                    <a:schemeClr val="hlink"/>
                  </a:buClr>
                  <a:buFont typeface="Wingdings" pitchFamily="2" charset="2"/>
                  <a:buNone/>
                  <a:defRPr/>
                </a:pPr>
                <a:r>
                  <a:rPr lang="ar-SA" sz="1000" b="1" dirty="0">
                    <a:solidFill>
                      <a:srgbClr val="000000"/>
                    </a:solidFill>
                    <a:ea typeface="+mj-ea"/>
                  </a:rPr>
                  <a:t>المستوى</a:t>
                </a:r>
                <a:r>
                  <a:rPr lang="en-US" sz="1000" b="1" dirty="0">
                    <a:solidFill>
                      <a:srgbClr val="000000"/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ar-SA" sz="1000" b="1" dirty="0">
                    <a:solidFill>
                      <a:srgbClr val="000000"/>
                    </a:solidFill>
                    <a:latin typeface="+mj-lt"/>
                    <a:ea typeface="+mj-ea"/>
                    <a:cs typeface="+mj-cs"/>
                  </a:rPr>
                  <a:t> </a:t>
                </a:r>
                <a:r>
                  <a:rPr lang="en-US" sz="1000" b="1" dirty="0">
                    <a:solidFill>
                      <a:srgbClr val="000000"/>
                    </a:solidFill>
                    <a:latin typeface="+mj-lt"/>
                    <a:ea typeface="+mj-ea"/>
                    <a:cs typeface="+mj-cs"/>
                  </a:rPr>
                  <a:t>  </a:t>
                </a:r>
                <a:r>
                  <a:rPr lang="ar-SA" sz="1000" b="1" dirty="0">
                    <a:solidFill>
                      <a:srgbClr val="000000"/>
                    </a:solidFill>
                    <a:latin typeface="+mj-lt"/>
                    <a:ea typeface="+mj-ea"/>
                    <a:cs typeface="+mj-cs"/>
                  </a:rPr>
                  <a:t>:</a:t>
                </a:r>
                <a:r>
                  <a:rPr lang="en-US" sz="1000" b="1" dirty="0">
                    <a:solidFill>
                      <a:srgbClr val="000000"/>
                    </a:solidFill>
                    <a:latin typeface="+mj-lt"/>
                    <a:ea typeface="+mj-ea"/>
                    <a:cs typeface="+mj-cs"/>
                  </a:rPr>
                  <a:t> </a:t>
                </a:r>
                <a:endParaRPr lang="fr-FR" sz="1000" b="1" dirty="0">
                  <a:solidFill>
                    <a:srgbClr val="000000"/>
                  </a:solidFill>
                  <a:latin typeface="+mj-lt"/>
                  <a:ea typeface="+mj-ea"/>
                  <a:cs typeface="+mj-cs"/>
                </a:endParaRPr>
              </a:p>
            </p:txBody>
          </p:sp>
        </p:grpSp>
        <p:sp>
          <p:nvSpPr>
            <p:cNvPr id="13322" name="ZoneTexte 9">
              <a:extLst>
                <a:ext uri="{FF2B5EF4-FFF2-40B4-BE49-F238E27FC236}">
                  <a16:creationId xmlns:a16="http://schemas.microsoft.com/office/drawing/2014/main" id="{E4405733-4DA9-48C0-BA7D-A1C4D4F76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4078" y="133350"/>
              <a:ext cx="13716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ar-SA" altLang="en-US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العلوم الفيزيائية</a:t>
              </a:r>
              <a:endParaRPr lang="fr-FR" altLang="en-US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1CC0A4E9-B3E0-4B14-9E5C-4AA17B51D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" y="4667250"/>
            <a:ext cx="7786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SA" altLang="en-US" sz="2400"/>
              <a:t>الشرط هو ازاحة القطعة </a:t>
            </a:r>
            <a:r>
              <a:rPr lang="en-US" altLang="en-US" sz="2400"/>
              <a:t>(C)</a:t>
            </a:r>
            <a:r>
              <a:rPr lang="ar-SA" altLang="en-US" sz="2400"/>
              <a:t>الأخيرة حتى تصبح الثقب الثلاث على استقامة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28D772-9733-4ED1-B3C8-B1D5A21AF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5816600"/>
            <a:ext cx="7092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SA" altLang="en-US" sz="2400"/>
              <a:t>أي أن الضوء ينتقل في الهواء (وسط شفاف) وفق خطوط مستقيمية.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7FFCF5-B133-473B-9BF8-6A7AEA71F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925" y="5222875"/>
            <a:ext cx="7000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SA" altLang="en-US" sz="2400"/>
              <a:t>واحدة وهدا يدل على أن الضوء عبر الثقب الثلاث .</a:t>
            </a:r>
          </a:p>
        </p:txBody>
      </p:sp>
      <p:grpSp>
        <p:nvGrpSpPr>
          <p:cNvPr id="4" name="Groupe 16">
            <a:extLst>
              <a:ext uri="{FF2B5EF4-FFF2-40B4-BE49-F238E27FC236}">
                <a16:creationId xmlns:a16="http://schemas.microsoft.com/office/drawing/2014/main" id="{37C5317D-41B6-4719-8D7C-D7761845A157}"/>
              </a:ext>
            </a:extLst>
          </p:cNvPr>
          <p:cNvGrpSpPr>
            <a:grpSpLocks/>
          </p:cNvGrpSpPr>
          <p:nvPr/>
        </p:nvGrpSpPr>
        <p:grpSpPr bwMode="auto">
          <a:xfrm>
            <a:off x="1603375" y="1271588"/>
            <a:ext cx="6443663" cy="3371850"/>
            <a:chOff x="1603375" y="1271588"/>
            <a:chExt cx="6443663" cy="3371850"/>
          </a:xfrm>
        </p:grpSpPr>
        <p:pic>
          <p:nvPicPr>
            <p:cNvPr id="13319" name="Image 21" descr="img1'.jpg">
              <a:extLst>
                <a:ext uri="{FF2B5EF4-FFF2-40B4-BE49-F238E27FC236}">
                  <a16:creationId xmlns:a16="http://schemas.microsoft.com/office/drawing/2014/main" id="{C776ECE1-B850-4B21-88ED-967D07320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3375" y="1271588"/>
              <a:ext cx="6443663" cy="3371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9B8405F0-110E-43A0-8E08-2C518EFFB8A6}"/>
                </a:ext>
              </a:extLst>
            </p:cNvPr>
            <p:cNvCxnSpPr/>
            <p:nvPr/>
          </p:nvCxnSpPr>
          <p:spPr>
            <a:xfrm>
              <a:off x="6550025" y="2406650"/>
              <a:ext cx="785813" cy="158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7">
            <a:extLst>
              <a:ext uri="{FF2B5EF4-FFF2-40B4-BE49-F238E27FC236}">
                <a16:creationId xmlns:a16="http://schemas.microsoft.com/office/drawing/2014/main" id="{5464F85A-C831-4302-A885-FEA521064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2714625"/>
            <a:ext cx="4000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SA" altLang="en-US" sz="4000">
                <a:solidFill>
                  <a:srgbClr val="0000FF"/>
                </a:solidFill>
              </a:rPr>
              <a:t>انظر المحاكاة</a:t>
            </a:r>
            <a:endParaRPr lang="en-US" altLang="en-US" sz="4000">
              <a:solidFill>
                <a:srgbClr val="0000FF"/>
              </a:solidFill>
            </a:endParaRPr>
          </a:p>
          <a:p>
            <a:pPr algn="ctr" eaLnBrk="1" hangingPunct="1"/>
            <a:r>
              <a:rPr lang="ar-SA" altLang="en-US" sz="2000">
                <a:solidFill>
                  <a:srgbClr val="000000"/>
                </a:solidFill>
              </a:rPr>
              <a:t>(</a:t>
            </a:r>
            <a:r>
              <a:rPr lang="ar-MA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الانتشار المستقيمي للضوء</a:t>
            </a:r>
            <a:r>
              <a:rPr lang="ar-SA" altLang="en-US" sz="2000"/>
              <a:t>)</a:t>
            </a:r>
          </a:p>
        </p:txBody>
      </p:sp>
      <p:sp>
        <p:nvSpPr>
          <p:cNvPr id="14339" name="ZoneTexte 8">
            <a:extLst>
              <a:ext uri="{FF2B5EF4-FFF2-40B4-BE49-F238E27FC236}">
                <a16:creationId xmlns:a16="http://schemas.microsoft.com/office/drawing/2014/main" id="{AEDD7E45-DDF5-4666-BD37-162D61460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3" y="190500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الض</a:t>
            </a:r>
            <a:r>
              <a:rPr lang="ar-S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ــــــــــ</a:t>
            </a:r>
            <a:r>
              <a:rPr lang="ar-M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وء</a:t>
            </a:r>
            <a:endParaRPr lang="fr-FR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>
            <a:extLst>
              <a:ext uri="{FF2B5EF4-FFF2-40B4-BE49-F238E27FC236}">
                <a16:creationId xmlns:a16="http://schemas.microsoft.com/office/drawing/2014/main" id="{B8DCDAB7-31FD-4382-BB3A-4FCC5A61B39E}"/>
              </a:ext>
            </a:extLst>
          </p:cNvPr>
          <p:cNvSpPr txBox="1">
            <a:spLocks noChangeArrowheads="1"/>
          </p:cNvSpPr>
          <p:nvPr/>
        </p:nvSpPr>
        <p:spPr>
          <a:xfrm>
            <a:off x="1863725" y="1555750"/>
            <a:ext cx="585787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مبدأ الانتشار </a:t>
            </a:r>
            <a:r>
              <a:rPr lang="ar-MA" sz="44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المستقيمي</a:t>
            </a: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للضوء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5EA844-3BDE-48C5-9EB7-D117DDAA5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132138"/>
            <a:ext cx="728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ينتشر الضوء من الجسم الضوئي إلى المستقبل في وسط شفاف</a:t>
            </a:r>
            <a:endParaRPr lang="fr-FR" altLang="en-US"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427F8F-95E6-416E-B74B-8867DC58B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4151313"/>
            <a:ext cx="6951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/>
              <a:t>ومتجانس </a:t>
            </a:r>
            <a:r>
              <a:rPr lang="ar-SA" altLang="en-US" sz="2800"/>
              <a:t>وفق </a:t>
            </a:r>
            <a:r>
              <a:rPr lang="ar-MA" altLang="en-US" sz="2800"/>
              <a:t>خطوط مستقيمية تسمى : الأشعة الضوئية </a:t>
            </a:r>
            <a:endParaRPr lang="fr-FR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8">
            <a:extLst>
              <a:ext uri="{FF2B5EF4-FFF2-40B4-BE49-F238E27FC236}">
                <a16:creationId xmlns:a16="http://schemas.microsoft.com/office/drawing/2014/main" id="{3D979B7E-B125-4C55-9A55-D4850622026E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4154488"/>
            <a:ext cx="4000500" cy="1071562"/>
            <a:chOff x="2928926" y="4000511"/>
            <a:chExt cx="4000500" cy="1071563"/>
          </a:xfrm>
        </p:grpSpPr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D7D911B2-9718-4EC3-AE12-8DA0156068BA}"/>
                </a:ext>
              </a:extLst>
            </p:cNvPr>
            <p:cNvCxnSpPr>
              <a:cxnSpLocks noChangeAspect="1"/>
            </p:cNvCxnSpPr>
            <p:nvPr/>
          </p:nvCxnSpPr>
          <p:spPr>
            <a:xfrm flipV="1">
              <a:off x="4816463" y="4467236"/>
              <a:ext cx="360363" cy="93662"/>
            </a:xfrm>
            <a:prstGeom prst="straightConnector1">
              <a:avLst/>
            </a:prstGeom>
            <a:ln w="57150">
              <a:solidFill>
                <a:srgbClr val="FF132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5EFB2DEC-B5CA-443F-BA50-4D4135C64D64}"/>
                </a:ext>
              </a:extLst>
            </p:cNvPr>
            <p:cNvCxnSpPr/>
            <p:nvPr/>
          </p:nvCxnSpPr>
          <p:spPr>
            <a:xfrm flipV="1">
              <a:off x="2928926" y="4000511"/>
              <a:ext cx="4000500" cy="1071563"/>
            </a:xfrm>
            <a:prstGeom prst="line">
              <a:avLst/>
            </a:prstGeom>
            <a:ln w="57150">
              <a:solidFill>
                <a:srgbClr val="FF132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4BDFA32-0326-40D8-A43A-C9FAB996C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2560638"/>
            <a:ext cx="7150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ar-MA" altLang="en-US" sz="2800"/>
              <a:t>يصطلح تمثيل الشعاع بخط مستقيم يحمل سهما يدل على منحى</a:t>
            </a:r>
            <a:endParaRPr lang="ar-SA" altLang="en-US" sz="280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7D958EB-9C1C-46B8-9697-5A146FDDE6A6}"/>
              </a:ext>
            </a:extLst>
          </p:cNvPr>
          <p:cNvSpPr txBox="1">
            <a:spLocks noChangeArrowheads="1"/>
          </p:cNvSpPr>
          <p:nvPr/>
        </p:nvSpPr>
        <p:spPr>
          <a:xfrm>
            <a:off x="3425825" y="1401763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ملح</a:t>
            </a:r>
            <a:r>
              <a:rPr lang="ar-S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و</a:t>
            </a: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ظ</a:t>
            </a:r>
            <a:r>
              <a:rPr lang="ar-S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ة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619464-E934-4404-BFE6-F5CECC239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286125"/>
            <a:ext cx="1735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ar-MA" altLang="en-US" sz="2800"/>
              <a:t>انتشار الضوء</a:t>
            </a:r>
            <a:endParaRPr lang="ar-SA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re 1">
            <a:extLst>
              <a:ext uri="{FF2B5EF4-FFF2-40B4-BE49-F238E27FC236}">
                <a16:creationId xmlns:a16="http://schemas.microsoft.com/office/drawing/2014/main" id="{77C39499-3952-49C7-98AB-7B61D4CD0C47}"/>
              </a:ext>
            </a:extLst>
          </p:cNvPr>
          <p:cNvSpPr txBox="1">
            <a:spLocks/>
          </p:cNvSpPr>
          <p:nvPr/>
        </p:nvSpPr>
        <p:spPr bwMode="auto">
          <a:xfrm>
            <a:off x="714375" y="82708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SA" altLang="en-US" sz="3600" b="1" u="sng">
                <a:solidFill>
                  <a:srgbClr val="FF0000"/>
                </a:solidFill>
              </a:rPr>
              <a:t>4- </a:t>
            </a:r>
            <a:r>
              <a:rPr lang="ar-MA" altLang="en-US" sz="3600" b="1" u="sng">
                <a:solidFill>
                  <a:srgbClr val="FF0000"/>
                </a:solidFill>
              </a:rPr>
              <a:t>تصنيف الحزم الضوئية و تمثيلها:</a:t>
            </a:r>
            <a:endParaRPr lang="fr-FR" altLang="en-US" sz="3600" b="1" u="sng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388475-2FCC-487F-9359-99541D9C181D}"/>
              </a:ext>
            </a:extLst>
          </p:cNvPr>
          <p:cNvSpPr/>
          <p:nvPr/>
        </p:nvSpPr>
        <p:spPr>
          <a:xfrm>
            <a:off x="3617913" y="1984375"/>
            <a:ext cx="4964112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ar-MA" sz="28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الحزم الضوئية المتوازية</a:t>
            </a:r>
            <a:r>
              <a:rPr lang="fr-FR" sz="28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ar-SA" sz="28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أو الأسطوانية</a:t>
            </a:r>
            <a:r>
              <a:rPr lang="ar-MA" sz="28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:</a:t>
            </a:r>
            <a:endParaRPr lang="ar-MA" sz="2800" b="1" u="sng" dirty="0">
              <a:solidFill>
                <a:srgbClr val="33CC33"/>
              </a:solidFill>
              <a:latin typeface="+mn-lt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3D1B8A-A007-43CC-868E-D7B2FBA36D2A}"/>
              </a:ext>
            </a:extLst>
          </p:cNvPr>
          <p:cNvSpPr/>
          <p:nvPr/>
        </p:nvSpPr>
        <p:spPr>
          <a:xfrm>
            <a:off x="7248525" y="2682875"/>
            <a:ext cx="99218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ar-MA" sz="2800" b="1" u="sng" dirty="0">
                <a:solidFill>
                  <a:srgbClr val="33CC33"/>
                </a:solidFill>
                <a:latin typeface="+mn-lt"/>
                <a:cs typeface="+mn-cs"/>
              </a:rPr>
              <a:t>تجربة: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D232B8-148B-4F6C-9043-FA2F7CF8C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3429000"/>
            <a:ext cx="4803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SA" altLang="en-US" sz="2400"/>
              <a:t>نأخذ فانوس به حجاب يعطي ثلاث حزم ضوئية</a:t>
            </a:r>
            <a:r>
              <a:rPr lang="ar-MA" altLang="en-US" sz="2400"/>
              <a:t>.</a:t>
            </a:r>
            <a:endParaRPr lang="ar-SA" altLang="en-US" sz="2400"/>
          </a:p>
        </p:txBody>
      </p:sp>
      <p:pic>
        <p:nvPicPr>
          <p:cNvPr id="15" name="Image 14" descr="Picture6.jpg">
            <a:extLst>
              <a:ext uri="{FF2B5EF4-FFF2-40B4-BE49-F238E27FC236}">
                <a16:creationId xmlns:a16="http://schemas.microsoft.com/office/drawing/2014/main" id="{0685DDA2-A372-47E8-9D0C-22C602123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4143375"/>
            <a:ext cx="332422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0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ZoneTexte 33">
            <a:extLst>
              <a:ext uri="{FF2B5EF4-FFF2-40B4-BE49-F238E27FC236}">
                <a16:creationId xmlns:a16="http://schemas.microsoft.com/office/drawing/2014/main" id="{FA0BDC48-BFCB-4E89-AEFF-51ADA10F0B87}"/>
              </a:ext>
            </a:extLst>
          </p:cNvPr>
          <p:cNvSpPr txBox="1"/>
          <p:nvPr/>
        </p:nvSpPr>
        <p:spPr>
          <a:xfrm>
            <a:off x="2276475" y="3429000"/>
            <a:ext cx="528002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dirty="0">
                <a:latin typeface="Times New Roman" pitchFamily="18" charset="0"/>
                <a:cs typeface="Times New Roman" pitchFamily="18" charset="0"/>
              </a:rPr>
              <a:t>نحصل على ثلاث حزم ضوئية متوازية.</a:t>
            </a:r>
            <a:endParaRPr lang="fr-FR" sz="3200" dirty="0">
              <a:latin typeface="+mn-lt"/>
              <a:cs typeface="+mj-cs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84995E7-816E-4DBF-8C36-29EB8C697208}"/>
              </a:ext>
            </a:extLst>
          </p:cNvPr>
          <p:cNvSpPr txBox="1">
            <a:spLocks noChangeArrowheads="1"/>
          </p:cNvSpPr>
          <p:nvPr/>
        </p:nvSpPr>
        <p:spPr>
          <a:xfrm>
            <a:off x="2928938" y="1978025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ملاحظة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436" name="ZoneTexte 8">
            <a:extLst>
              <a:ext uri="{FF2B5EF4-FFF2-40B4-BE49-F238E27FC236}">
                <a16:creationId xmlns:a16="http://schemas.microsoft.com/office/drawing/2014/main" id="{57BF610C-C654-4257-8235-74BB06495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3" y="190500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الض</a:t>
            </a:r>
            <a:r>
              <a:rPr lang="ar-S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ــــــــــ</a:t>
            </a:r>
            <a:r>
              <a:rPr lang="ar-MA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وء</a:t>
            </a:r>
            <a:endParaRPr lang="fr-FR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1">
            <a:extLst>
              <a:ext uri="{FF2B5EF4-FFF2-40B4-BE49-F238E27FC236}">
                <a16:creationId xmlns:a16="http://schemas.microsoft.com/office/drawing/2014/main" id="{F904FF01-2CDF-45E6-984D-6363049AF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338" y="1254125"/>
            <a:ext cx="3595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3200" b="1" u="sng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الحزم الضوئية المتقاربة 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1A52B9-D274-4DA7-BDCA-3BCF68C98ED2}"/>
              </a:ext>
            </a:extLst>
          </p:cNvPr>
          <p:cNvSpPr/>
          <p:nvPr/>
        </p:nvSpPr>
        <p:spPr>
          <a:xfrm>
            <a:off x="7132638" y="2114550"/>
            <a:ext cx="11080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ar-MA" sz="3200" b="1" u="sng" dirty="0">
                <a:solidFill>
                  <a:srgbClr val="33CC33"/>
                </a:solidFill>
                <a:latin typeface="+mn-lt"/>
                <a:cs typeface="+mn-cs"/>
              </a:rPr>
              <a:t>تجربة: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6E0D05-64CA-4415-921E-6914C0003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5286375"/>
            <a:ext cx="485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نضع أمام الحجاب وسطا شفافا و متجانسا.</a:t>
            </a:r>
            <a:endParaRPr lang="ar-SA" altLang="en-US" sz="2800"/>
          </a:p>
        </p:txBody>
      </p:sp>
      <p:pic>
        <p:nvPicPr>
          <p:cNvPr id="17" name="Image 16" descr="Picture7.jpg">
            <a:extLst>
              <a:ext uri="{FF2B5EF4-FFF2-40B4-BE49-F238E27FC236}">
                <a16:creationId xmlns:a16="http://schemas.microsoft.com/office/drawing/2014/main" id="{8CF020AB-148B-4956-99A3-BF8CA9C84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681288"/>
            <a:ext cx="328295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ZoneTexte 33">
            <a:extLst>
              <a:ext uri="{FF2B5EF4-FFF2-40B4-BE49-F238E27FC236}">
                <a16:creationId xmlns:a16="http://schemas.microsoft.com/office/drawing/2014/main" id="{044CBF13-69C2-4C9E-B68E-C32596C38248}"/>
              </a:ext>
            </a:extLst>
          </p:cNvPr>
          <p:cNvSpPr txBox="1"/>
          <p:nvPr/>
        </p:nvSpPr>
        <p:spPr>
          <a:xfrm>
            <a:off x="2014538" y="5143500"/>
            <a:ext cx="5843587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dirty="0">
                <a:latin typeface="Times New Roman" pitchFamily="18" charset="0"/>
                <a:cs typeface="Times New Roman" pitchFamily="18" charset="0"/>
              </a:rPr>
              <a:t>تقترب الحزم الضوئية </a:t>
            </a:r>
            <a:r>
              <a:rPr lang="ar-SA" sz="3200" dirty="0">
                <a:latin typeface="Times New Roman" pitchFamily="18" charset="0"/>
                <a:cs typeface="Times New Roman" pitchFamily="18" charset="0"/>
              </a:rPr>
              <a:t>من</a:t>
            </a:r>
            <a:r>
              <a:rPr lang="ar-MA" sz="3200" dirty="0">
                <a:latin typeface="Times New Roman" pitchFamily="18" charset="0"/>
                <a:cs typeface="Times New Roman" pitchFamily="18" charset="0"/>
              </a:rPr>
              <a:t> الحزمة الوسطى ،</a:t>
            </a:r>
            <a:endParaRPr lang="fr-FR" sz="3200" dirty="0">
              <a:latin typeface="+mn-lt"/>
              <a:cs typeface="+mj-cs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E85DE334-EBE1-4CA5-A76C-BB7A1048498B}"/>
              </a:ext>
            </a:extLst>
          </p:cNvPr>
          <p:cNvSpPr txBox="1">
            <a:spLocks noChangeArrowheads="1"/>
          </p:cNvSpPr>
          <p:nvPr/>
        </p:nvSpPr>
        <p:spPr>
          <a:xfrm>
            <a:off x="3357563" y="1500188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ملاحظة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907D482-1915-4770-B1DD-C4974C381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38" y="5730875"/>
            <a:ext cx="3678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ونحصل على حزم متقاربة.</a:t>
            </a:r>
          </a:p>
        </p:txBody>
      </p:sp>
      <p:pic>
        <p:nvPicPr>
          <p:cNvPr id="20485" name="Image 13" descr="Picture7.jpg">
            <a:extLst>
              <a:ext uri="{FF2B5EF4-FFF2-40B4-BE49-F238E27FC236}">
                <a16:creationId xmlns:a16="http://schemas.microsoft.com/office/drawing/2014/main" id="{CF3A0459-8D9B-44E5-87F6-D2CF2E054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681288"/>
            <a:ext cx="328295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1">
            <a:extLst>
              <a:ext uri="{FF2B5EF4-FFF2-40B4-BE49-F238E27FC236}">
                <a16:creationId xmlns:a16="http://schemas.microsoft.com/office/drawing/2014/main" id="{471B1CEF-3571-4888-820F-AE9881FC0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1254125"/>
            <a:ext cx="3619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3200" b="1" u="sng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الحزم الضوئية المتب</a:t>
            </a:r>
            <a:r>
              <a:rPr lang="ar-SA" altLang="en-US" sz="3200" b="1" u="sng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MA" altLang="en-US" sz="3200" b="1" u="sng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عدة 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CEC703-CBD7-419C-973A-8E215E384602}"/>
              </a:ext>
            </a:extLst>
          </p:cNvPr>
          <p:cNvSpPr/>
          <p:nvPr/>
        </p:nvSpPr>
        <p:spPr>
          <a:xfrm>
            <a:off x="7132638" y="2114550"/>
            <a:ext cx="11080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ar-MA" sz="3200" b="1" u="sng" dirty="0">
                <a:solidFill>
                  <a:srgbClr val="33CC33"/>
                </a:solidFill>
                <a:latin typeface="+mn-lt"/>
                <a:cs typeface="+mn-cs"/>
              </a:rPr>
              <a:t>تجربة:</a:t>
            </a:r>
          </a:p>
        </p:txBody>
      </p:sp>
      <p:pic>
        <p:nvPicPr>
          <p:cNvPr id="16" name="Image 15" descr="Picture8.jpg">
            <a:extLst>
              <a:ext uri="{FF2B5EF4-FFF2-40B4-BE49-F238E27FC236}">
                <a16:creationId xmlns:a16="http://schemas.microsoft.com/office/drawing/2014/main" id="{9195CEEF-D554-42AB-82EE-D48FE69FE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3054350"/>
            <a:ext cx="32924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ZoneTexte 33">
            <a:extLst>
              <a:ext uri="{FF2B5EF4-FFF2-40B4-BE49-F238E27FC236}">
                <a16:creationId xmlns:a16="http://schemas.microsoft.com/office/drawing/2014/main" id="{C2555F3E-526E-49A7-92AF-AC3254A0362D}"/>
              </a:ext>
            </a:extLst>
          </p:cNvPr>
          <p:cNvSpPr txBox="1"/>
          <p:nvPr/>
        </p:nvSpPr>
        <p:spPr>
          <a:xfrm>
            <a:off x="2160588" y="5143500"/>
            <a:ext cx="5697537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ar-MA" sz="3200" dirty="0">
                <a:latin typeface="Times New Roman" pitchFamily="18" charset="0"/>
                <a:cs typeface="Times New Roman" pitchFamily="18" charset="0"/>
              </a:rPr>
              <a:t>تبتعد الحزم الضوئية عن الحزمة الوسطى ،</a:t>
            </a:r>
            <a:endParaRPr lang="fr-FR" sz="3200" dirty="0">
              <a:latin typeface="+mn-lt"/>
              <a:cs typeface="+mj-cs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CF2B45E5-CDDC-43AA-8B7E-08744CFC1969}"/>
              </a:ext>
            </a:extLst>
          </p:cNvPr>
          <p:cNvSpPr txBox="1">
            <a:spLocks noChangeArrowheads="1"/>
          </p:cNvSpPr>
          <p:nvPr/>
        </p:nvSpPr>
        <p:spPr>
          <a:xfrm>
            <a:off x="3357563" y="1500188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MA" sz="4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ملاحظة</a:t>
            </a:r>
            <a:endParaRPr lang="fr-FR" sz="44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2A84C0-41CB-48E9-96E6-CA292F725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38" y="5730875"/>
            <a:ext cx="3678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ونحصل على حزم متباعدة.</a:t>
            </a:r>
          </a:p>
        </p:txBody>
      </p:sp>
      <p:pic>
        <p:nvPicPr>
          <p:cNvPr id="22533" name="Image 12" descr="Picture8.jpg">
            <a:extLst>
              <a:ext uri="{FF2B5EF4-FFF2-40B4-BE49-F238E27FC236}">
                <a16:creationId xmlns:a16="http://schemas.microsoft.com/office/drawing/2014/main" id="{EEFDD8F1-E862-47D2-8C44-C81EA9F45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714625"/>
            <a:ext cx="32924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FDB33AFD-721D-4F22-9EC5-EE98D7F39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5630863"/>
            <a:ext cx="2143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/>
              <a:t>حزمة ضوئية متباعدة</a:t>
            </a:r>
            <a:endParaRPr lang="fr-FR" altLang="en-US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7C41FB3-36F5-4EBE-9636-276E5EF5F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5626100"/>
            <a:ext cx="2357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>
                <a:solidFill>
                  <a:srgbClr val="000000"/>
                </a:solidFill>
              </a:rPr>
              <a:t>حزمة ضوئية متقاربة</a:t>
            </a:r>
            <a:endParaRPr lang="fr-FR" altLang="en-US">
              <a:solidFill>
                <a:srgbClr val="000000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65726E0-D458-46E0-9ADD-DB4F6A281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8" y="5630863"/>
            <a:ext cx="2000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ar-MA" altLang="en-US">
                <a:solidFill>
                  <a:srgbClr val="000000"/>
                </a:solidFill>
              </a:rPr>
              <a:t>حزمة ضوئية متوازية</a:t>
            </a:r>
            <a:endParaRPr lang="fr-FR" altLang="en-US">
              <a:solidFill>
                <a:srgbClr val="000000"/>
              </a:solidFill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4CCD90F8-AAB6-4B8C-8FD2-A2A4D8F91536}"/>
              </a:ext>
            </a:extLst>
          </p:cNvPr>
          <p:cNvSpPr txBox="1">
            <a:spLocks noChangeArrowheads="1"/>
          </p:cNvSpPr>
          <p:nvPr/>
        </p:nvSpPr>
        <p:spPr>
          <a:xfrm>
            <a:off x="3214688" y="1071563"/>
            <a:ext cx="3286125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ar-SA" sz="36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خلاصة</a:t>
            </a:r>
            <a:endParaRPr lang="fr-FR" sz="3600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250518-D543-4FED-B784-A9293FB50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9663" y="1947863"/>
            <a:ext cx="6207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ar-SA" altLang="en-US" sz="2400"/>
              <a:t> </a:t>
            </a:r>
            <a:r>
              <a:rPr lang="ar-MA" altLang="en-US" sz="2400"/>
              <a:t>ينتشر الضوء من المنبع إلى الجهات المحيطة به على شكل </a:t>
            </a:r>
            <a:endParaRPr lang="ar-SA" altLang="en-US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323547-4F97-48DC-8B16-75AA8B5B8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9863" y="2527300"/>
            <a:ext cx="4240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ar-MA" altLang="en-US" sz="2400"/>
              <a:t>حزم ضوئية</a:t>
            </a:r>
            <a:r>
              <a:rPr lang="fr-FR" altLang="en-US" sz="2400"/>
              <a:t>.Faisceaux lumineux </a:t>
            </a:r>
            <a:endParaRPr lang="ar-MA" altLang="en-US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E32C6A-3F1F-4AFC-8902-0633B1565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3098800"/>
            <a:ext cx="6029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ar-SA" altLang="en-US" sz="2400"/>
              <a:t> </a:t>
            </a:r>
            <a:r>
              <a:rPr lang="ar-MA" altLang="en-US" sz="2400"/>
              <a:t>تتكون الحزمة الضوئية من</a:t>
            </a:r>
            <a:r>
              <a:rPr lang="ar-SA" altLang="en-US" sz="2400"/>
              <a:t> مجموعة من</a:t>
            </a:r>
            <a:r>
              <a:rPr lang="ar-MA" altLang="en-US" sz="2400"/>
              <a:t> الأشعة الضوئية</a:t>
            </a:r>
            <a:r>
              <a:rPr lang="ar-SA" altLang="en-US" sz="2400"/>
              <a:t>.</a:t>
            </a:r>
            <a:endParaRPr lang="ar-MA" altLang="en-US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B57AE4-7FA9-4C0D-B24D-8026F3C06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3814763"/>
            <a:ext cx="4506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ar-SA" altLang="en-US" sz="2400"/>
              <a:t> </a:t>
            </a:r>
            <a:r>
              <a:rPr lang="ar-MA" altLang="en-US" sz="2400"/>
              <a:t>تصنف الحزم الضوئية إلى ثلاث</a:t>
            </a:r>
            <a:r>
              <a:rPr lang="ar-SA" altLang="en-US" sz="2400"/>
              <a:t> أصناف</a:t>
            </a:r>
            <a:r>
              <a:rPr lang="ar-MA" altLang="en-US" sz="2400"/>
              <a:t>:</a:t>
            </a:r>
            <a:endParaRPr lang="ar-SA" altLang="en-US" sz="2400"/>
          </a:p>
        </p:txBody>
      </p:sp>
      <p:grpSp>
        <p:nvGrpSpPr>
          <p:cNvPr id="2" name="Groupe 26">
            <a:extLst>
              <a:ext uri="{FF2B5EF4-FFF2-40B4-BE49-F238E27FC236}">
                <a16:creationId xmlns:a16="http://schemas.microsoft.com/office/drawing/2014/main" id="{D1478772-5DF6-474B-BCDF-1D66A2D61735}"/>
              </a:ext>
            </a:extLst>
          </p:cNvPr>
          <p:cNvGrpSpPr>
            <a:grpSpLocks/>
          </p:cNvGrpSpPr>
          <p:nvPr/>
        </p:nvGrpSpPr>
        <p:grpSpPr bwMode="auto">
          <a:xfrm>
            <a:off x="776288" y="4670425"/>
            <a:ext cx="2143125" cy="1588"/>
            <a:chOff x="2428860" y="4857760"/>
            <a:chExt cx="2143140" cy="1588"/>
          </a:xfrm>
        </p:grpSpPr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797DA6A9-77DA-428F-AAAA-AC7D40779D6D}"/>
                </a:ext>
              </a:extLst>
            </p:cNvPr>
            <p:cNvCxnSpPr/>
            <p:nvPr/>
          </p:nvCxnSpPr>
          <p:spPr>
            <a:xfrm>
              <a:off x="2428860" y="4857760"/>
              <a:ext cx="214314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031AD164-1D83-4AE8-860D-0DCA42F4998A}"/>
                </a:ext>
              </a:extLst>
            </p:cNvPr>
            <p:cNvCxnSpPr/>
            <p:nvPr/>
          </p:nvCxnSpPr>
          <p:spPr>
            <a:xfrm>
              <a:off x="3327391" y="4857760"/>
              <a:ext cx="285752" cy="158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27">
            <a:extLst>
              <a:ext uri="{FF2B5EF4-FFF2-40B4-BE49-F238E27FC236}">
                <a16:creationId xmlns:a16="http://schemas.microsoft.com/office/drawing/2014/main" id="{AFE2E96B-9A85-4753-8A07-0D33505C4FD5}"/>
              </a:ext>
            </a:extLst>
          </p:cNvPr>
          <p:cNvGrpSpPr>
            <a:grpSpLocks/>
          </p:cNvGrpSpPr>
          <p:nvPr/>
        </p:nvGrpSpPr>
        <p:grpSpPr bwMode="auto">
          <a:xfrm>
            <a:off x="776288" y="5022850"/>
            <a:ext cx="2143125" cy="1588"/>
            <a:chOff x="2428860" y="4857760"/>
            <a:chExt cx="2143140" cy="1588"/>
          </a:xfrm>
        </p:grpSpPr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A9CC8953-4D85-4197-8F8E-451D48A46298}"/>
                </a:ext>
              </a:extLst>
            </p:cNvPr>
            <p:cNvCxnSpPr/>
            <p:nvPr/>
          </p:nvCxnSpPr>
          <p:spPr>
            <a:xfrm>
              <a:off x="2428860" y="4857760"/>
              <a:ext cx="214314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EEF57BF2-42A1-42E6-B658-DAA6831E5A3F}"/>
                </a:ext>
              </a:extLst>
            </p:cNvPr>
            <p:cNvCxnSpPr/>
            <p:nvPr/>
          </p:nvCxnSpPr>
          <p:spPr>
            <a:xfrm>
              <a:off x="3327391" y="4857760"/>
              <a:ext cx="285752" cy="158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e 40">
            <a:extLst>
              <a:ext uri="{FF2B5EF4-FFF2-40B4-BE49-F238E27FC236}">
                <a16:creationId xmlns:a16="http://schemas.microsoft.com/office/drawing/2014/main" id="{621D0EA0-306D-4F1B-8384-A9F79A65C61D}"/>
              </a:ext>
            </a:extLst>
          </p:cNvPr>
          <p:cNvGrpSpPr>
            <a:grpSpLocks/>
          </p:cNvGrpSpPr>
          <p:nvPr/>
        </p:nvGrpSpPr>
        <p:grpSpPr bwMode="auto">
          <a:xfrm rot="600000">
            <a:off x="3686175" y="4664075"/>
            <a:ext cx="2143125" cy="1588"/>
            <a:chOff x="2428860" y="4857760"/>
            <a:chExt cx="2143140" cy="1588"/>
          </a:xfrm>
        </p:grpSpPr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808A4978-1C49-45B4-9623-A146B5B1C6A9}"/>
                </a:ext>
              </a:extLst>
            </p:cNvPr>
            <p:cNvCxnSpPr/>
            <p:nvPr/>
          </p:nvCxnSpPr>
          <p:spPr>
            <a:xfrm>
              <a:off x="2428860" y="4857760"/>
              <a:ext cx="214314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13549CE4-CB10-44CC-A5E2-0A631E3F9878}"/>
                </a:ext>
              </a:extLst>
            </p:cNvPr>
            <p:cNvCxnSpPr/>
            <p:nvPr/>
          </p:nvCxnSpPr>
          <p:spPr>
            <a:xfrm>
              <a:off x="3326471" y="4855181"/>
              <a:ext cx="285752" cy="158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e 43">
            <a:extLst>
              <a:ext uri="{FF2B5EF4-FFF2-40B4-BE49-F238E27FC236}">
                <a16:creationId xmlns:a16="http://schemas.microsoft.com/office/drawing/2014/main" id="{A4FB692E-062B-4D3A-824E-B9B0C6FC4852}"/>
              </a:ext>
            </a:extLst>
          </p:cNvPr>
          <p:cNvGrpSpPr>
            <a:grpSpLocks/>
          </p:cNvGrpSpPr>
          <p:nvPr/>
        </p:nvGrpSpPr>
        <p:grpSpPr bwMode="auto">
          <a:xfrm rot="-600000">
            <a:off x="3686175" y="5041900"/>
            <a:ext cx="2143125" cy="1588"/>
            <a:chOff x="2428860" y="4857760"/>
            <a:chExt cx="2143140" cy="1588"/>
          </a:xfrm>
        </p:grpSpPr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54D6D744-C8FC-452B-B8B5-4AADD599802F}"/>
                </a:ext>
              </a:extLst>
            </p:cNvPr>
            <p:cNvCxnSpPr/>
            <p:nvPr/>
          </p:nvCxnSpPr>
          <p:spPr>
            <a:xfrm>
              <a:off x="2428860" y="4857760"/>
              <a:ext cx="214314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45">
              <a:extLst>
                <a:ext uri="{FF2B5EF4-FFF2-40B4-BE49-F238E27FC236}">
                  <a16:creationId xmlns:a16="http://schemas.microsoft.com/office/drawing/2014/main" id="{BE4190ED-6A2D-4284-81AE-3B4F91FA4E5E}"/>
                </a:ext>
              </a:extLst>
            </p:cNvPr>
            <p:cNvCxnSpPr/>
            <p:nvPr/>
          </p:nvCxnSpPr>
          <p:spPr>
            <a:xfrm>
              <a:off x="3327023" y="4857213"/>
              <a:ext cx="285752" cy="158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e 46">
            <a:extLst>
              <a:ext uri="{FF2B5EF4-FFF2-40B4-BE49-F238E27FC236}">
                <a16:creationId xmlns:a16="http://schemas.microsoft.com/office/drawing/2014/main" id="{7BCCDDDC-2AA2-4264-A24F-E5DCD0D39D01}"/>
              </a:ext>
            </a:extLst>
          </p:cNvPr>
          <p:cNvGrpSpPr>
            <a:grpSpLocks/>
          </p:cNvGrpSpPr>
          <p:nvPr/>
        </p:nvGrpSpPr>
        <p:grpSpPr bwMode="auto">
          <a:xfrm rot="-600000">
            <a:off x="6445250" y="4659313"/>
            <a:ext cx="2143125" cy="1587"/>
            <a:chOff x="2428860" y="4857760"/>
            <a:chExt cx="2143140" cy="1588"/>
          </a:xfrm>
        </p:grpSpPr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CF784F96-B783-4DAE-BCBE-ADEFF20915C1}"/>
                </a:ext>
              </a:extLst>
            </p:cNvPr>
            <p:cNvCxnSpPr/>
            <p:nvPr/>
          </p:nvCxnSpPr>
          <p:spPr>
            <a:xfrm>
              <a:off x="2428860" y="4857760"/>
              <a:ext cx="214314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D3147CB8-7C8A-4476-B675-EA0230E168A9}"/>
                </a:ext>
              </a:extLst>
            </p:cNvPr>
            <p:cNvCxnSpPr/>
            <p:nvPr/>
          </p:nvCxnSpPr>
          <p:spPr>
            <a:xfrm>
              <a:off x="3327023" y="4857212"/>
              <a:ext cx="285752" cy="158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e 49">
            <a:extLst>
              <a:ext uri="{FF2B5EF4-FFF2-40B4-BE49-F238E27FC236}">
                <a16:creationId xmlns:a16="http://schemas.microsoft.com/office/drawing/2014/main" id="{D36D6D92-521B-4D03-8599-CB129279B132}"/>
              </a:ext>
            </a:extLst>
          </p:cNvPr>
          <p:cNvGrpSpPr>
            <a:grpSpLocks/>
          </p:cNvGrpSpPr>
          <p:nvPr/>
        </p:nvGrpSpPr>
        <p:grpSpPr bwMode="auto">
          <a:xfrm rot="600000">
            <a:off x="6445250" y="5033963"/>
            <a:ext cx="2143125" cy="1587"/>
            <a:chOff x="2428860" y="4857760"/>
            <a:chExt cx="2143140" cy="1588"/>
          </a:xfrm>
        </p:grpSpPr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201D49DD-B682-4AC6-AA8D-E3597F50188D}"/>
                </a:ext>
              </a:extLst>
            </p:cNvPr>
            <p:cNvCxnSpPr/>
            <p:nvPr/>
          </p:nvCxnSpPr>
          <p:spPr>
            <a:xfrm>
              <a:off x="2428860" y="4857760"/>
              <a:ext cx="214314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A51D3B47-B45B-45AB-B1FB-BA7DAB7BBC05}"/>
                </a:ext>
              </a:extLst>
            </p:cNvPr>
            <p:cNvCxnSpPr/>
            <p:nvPr/>
          </p:nvCxnSpPr>
          <p:spPr>
            <a:xfrm>
              <a:off x="3326471" y="4855179"/>
              <a:ext cx="285752" cy="158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18" grpId="0"/>
      <p:bldP spid="19" grpId="0"/>
      <p:bldP spid="20" grpId="0"/>
      <p:bldP spid="2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4716</TotalTime>
  <Words>504</Words>
  <Application>Microsoft Office PowerPoint</Application>
  <PresentationFormat>On-screen Show (4:3)</PresentationFormat>
  <Paragraphs>87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Thème Office</vt:lpstr>
      <vt:lpstr>PowerPoint Presentation</vt:lpstr>
      <vt:lpstr>PowerPoint Presentation</vt:lpstr>
      <vt:lpstr>PowerPoint Presentation</vt:lpstr>
      <vt:lpstr>2- أوساط انتشار الضوء: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الضوء LA LUMIERE</dc:title>
  <dc:creator>User</dc:creator>
  <cp:lastModifiedBy>cloudconvert_7</cp:lastModifiedBy>
  <cp:revision>1574</cp:revision>
  <dcterms:created xsi:type="dcterms:W3CDTF">2007-12-01T05:57:47Z</dcterms:created>
  <dcterms:modified xsi:type="dcterms:W3CDTF">2018-04-11T10:08:16Z</dcterms:modified>
</cp:coreProperties>
</file>