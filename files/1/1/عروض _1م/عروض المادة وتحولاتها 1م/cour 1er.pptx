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84" autoAdjust="0"/>
    <p:restoredTop sz="94660"/>
  </p:normalViewPr>
  <p:slideViewPr>
    <p:cSldViewPr snapToGrid="0">
      <p:cViewPr varScale="1">
        <p:scale>
          <a:sx n="69" d="100"/>
          <a:sy n="69" d="100"/>
        </p:scale>
        <p:origin x="-115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CA7F1-56C1-49A9-A157-1949BC8D88A1}" type="datetimeFigureOut">
              <a:rPr lang="fr-FR" smtClean="0"/>
              <a:pPr/>
              <a:t>10/01/2019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96200-5E78-469F-87CE-E0DF168A09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343891" y="443345"/>
            <a:ext cx="663632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الجمهورية الجزائرية الديمقراطية الشعبية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6386946" y="1163782"/>
            <a:ext cx="2507672" cy="3740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ar-DZ" b="1" dirty="0" smtClean="0"/>
              <a:t>متوسطة:</a:t>
            </a:r>
            <a:r>
              <a:rPr lang="ar-DZ" b="1" dirty="0" err="1" smtClean="0"/>
              <a:t>براهمي</a:t>
            </a:r>
            <a:r>
              <a:rPr lang="ar-DZ" b="1" dirty="0" smtClean="0"/>
              <a:t> عبد القادر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29492" y="1302326"/>
            <a:ext cx="257694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ar-DZ" b="1" dirty="0" smtClean="0"/>
              <a:t>السنة الدراسية 2018/2019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452254" y="2175165"/>
            <a:ext cx="435032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درس حول خصائص الحالة الفيزيائية </a:t>
            </a:r>
            <a:endParaRPr lang="fr-FR" b="1" dirty="0"/>
          </a:p>
        </p:txBody>
      </p:sp>
      <p:pic>
        <p:nvPicPr>
          <p:cNvPr id="9218" name="Picture 2" descr="ÙØªÙØ¬Ø© Ø¨Ø­Ø« Ø§ÙØµÙØ± Ø¹Ù Ø§ÙØ­Ø§ÙØ§Øª Ø§ÙÙÙØ²ÙØ§Ø¦ÙØ©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9065" y="2951018"/>
            <a:ext cx="5382492" cy="2563091"/>
          </a:xfrm>
          <a:prstGeom prst="rect">
            <a:avLst/>
          </a:prstGeom>
          <a:noFill/>
        </p:spPr>
      </p:pic>
      <p:sp>
        <p:nvSpPr>
          <p:cNvPr id="10" name="ZoneTexte 9"/>
          <p:cNvSpPr txBox="1"/>
          <p:nvPr/>
        </p:nvSpPr>
        <p:spPr>
          <a:xfrm>
            <a:off x="457200" y="6082145"/>
            <a:ext cx="2881745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ar-DZ" b="1" dirty="0" err="1" smtClean="0"/>
              <a:t>الاستاد</a:t>
            </a:r>
            <a:r>
              <a:rPr lang="ar-DZ" b="1" dirty="0" smtClean="0"/>
              <a:t> :</a:t>
            </a:r>
            <a:r>
              <a:rPr lang="ar-DZ" b="1" dirty="0" err="1" smtClean="0"/>
              <a:t>مقداد</a:t>
            </a:r>
            <a:r>
              <a:rPr lang="ar-DZ" b="1" dirty="0" smtClean="0"/>
              <a:t> </a:t>
            </a:r>
            <a:r>
              <a:rPr lang="ar-DZ" b="1" dirty="0" err="1" smtClean="0"/>
              <a:t>ابوبكر</a:t>
            </a:r>
            <a:endParaRPr lang="fr-FR" b="1" dirty="0"/>
          </a:p>
        </p:txBody>
      </p:sp>
    </p:spTree>
    <p:extLst>
      <p:ext uri="{BB962C8B-B14F-4D97-AF65-F5344CB8AC3E}">
        <p14:creationId xmlns="" xmlns:p14="http://schemas.microsoft.com/office/powerpoint/2010/main" val="400421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1815737" y="1"/>
            <a:ext cx="5513110" cy="36575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الميدان : المادة وتحولاتها </a:t>
            </a:r>
            <a:endParaRPr lang="fr-FR" b="1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1841863" y="6479177"/>
            <a:ext cx="5415236" cy="378823"/>
          </a:xfrm>
          <a:prstGeom prst="roundRect">
            <a:avLst>
              <a:gd name="adj" fmla="val 3254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المقطع </a:t>
            </a:r>
            <a:r>
              <a:rPr lang="ar-DZ" b="1" dirty="0" err="1" smtClean="0"/>
              <a:t>التعلمي</a:t>
            </a:r>
            <a:r>
              <a:rPr lang="ar-DZ" b="1" dirty="0" smtClean="0"/>
              <a:t> :خصائص حالات المادة</a:t>
            </a:r>
            <a:endParaRPr lang="fr-FR" b="1" dirty="0"/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5133703" y="666206"/>
            <a:ext cx="3600000" cy="57600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85653" y="762391"/>
            <a:ext cx="3579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u="sng" dirty="0" smtClean="0">
                <a:solidFill>
                  <a:schemeClr val="accent6">
                    <a:lumMod val="50000"/>
                  </a:schemeClr>
                </a:solidFill>
                <a:latin typeface="Batang" pitchFamily="18" charset="-127"/>
                <a:ea typeface="Batang" pitchFamily="18" charset="-127"/>
              </a:rPr>
              <a:t>الوضعية التعليمة1 </a:t>
            </a:r>
            <a:r>
              <a:rPr lang="ar-DZ" b="1" dirty="0" smtClean="0"/>
              <a:t>:التعرف على حالات المادة</a:t>
            </a:r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1097278" y="1332412"/>
            <a:ext cx="7632000" cy="9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ar-DZ" b="1" dirty="0" smtClean="0">
                <a:solidFill>
                  <a:schemeClr val="tx1"/>
                </a:solidFill>
              </a:rPr>
              <a:t>إليك المواد الآتية أقلام-ممحاة-هواء محبوس في كيس-قطعة جليد-ماء مسكوب في </a:t>
            </a:r>
            <a:r>
              <a:rPr lang="ar-DZ" b="1" dirty="0" err="1" smtClean="0">
                <a:solidFill>
                  <a:schemeClr val="tx1"/>
                </a:solidFill>
              </a:rPr>
              <a:t>بيشر</a:t>
            </a:r>
            <a:r>
              <a:rPr lang="ar-DZ" b="1" dirty="0" smtClean="0">
                <a:solidFill>
                  <a:schemeClr val="tx1"/>
                </a:solidFill>
              </a:rPr>
              <a:t>-زيت </a:t>
            </a: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 س1 بماذا تشترك جميع هده الأجسام </a:t>
            </a: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س2 حاول تصنيف هده الأجسام حسب الحالة الفيزيائية وفق الجدول </a:t>
            </a:r>
            <a:r>
              <a:rPr lang="ar-DZ" b="1" dirty="0" err="1" smtClean="0">
                <a:solidFill>
                  <a:schemeClr val="tx1"/>
                </a:solidFill>
              </a:rPr>
              <a:t>الاتي</a:t>
            </a:r>
            <a:r>
              <a:rPr lang="ar-DZ" b="1" dirty="0" smtClean="0">
                <a:solidFill>
                  <a:schemeClr val="tx1"/>
                </a:solidFill>
              </a:rPr>
              <a:t> </a:t>
            </a:r>
          </a:p>
          <a:p>
            <a:pPr algn="r" rtl="1"/>
            <a:endParaRPr lang="ar-DZ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 rtl="1"/>
            <a:endParaRPr lang="fr-F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287385" y="3894029"/>
          <a:ext cx="4624249" cy="1273716"/>
        </p:xfrm>
        <a:graphic>
          <a:graphicData uri="http://schemas.openxmlformats.org/drawingml/2006/table">
            <a:tbl>
              <a:tblPr/>
              <a:tblGrid>
                <a:gridCol w="1541067"/>
                <a:gridCol w="1541067"/>
                <a:gridCol w="1542115"/>
              </a:tblGrid>
              <a:tr h="555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r>
                        <a:rPr lang="ar-DZ" sz="1400" b="1" dirty="0">
                          <a:latin typeface="Calibri"/>
                          <a:ea typeface="Times New Roman"/>
                          <a:cs typeface="Arial"/>
                        </a:rPr>
                        <a:t>حالة غازية</a:t>
                      </a:r>
                      <a:endParaRPr lang="fr-FR" sz="1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r>
                        <a:rPr lang="ar-DZ" sz="1400" b="1" dirty="0">
                          <a:latin typeface="Calibri"/>
                          <a:ea typeface="Times New Roman"/>
                          <a:cs typeface="Arial"/>
                        </a:rPr>
                        <a:t>حالة سائلة</a:t>
                      </a:r>
                      <a:endParaRPr lang="fr-FR" sz="1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r>
                        <a:rPr lang="ar-DZ" sz="1400" b="1" dirty="0">
                          <a:latin typeface="Calibri"/>
                          <a:ea typeface="Times New Roman"/>
                          <a:cs typeface="Arial"/>
                        </a:rPr>
                        <a:t>حالة صلبة</a:t>
                      </a:r>
                      <a:endParaRPr lang="fr-FR" sz="1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718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endParaRPr lang="fr-FR" sz="1600" b="1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endParaRPr lang="fr-FR" sz="1600" b="1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540385" algn="l"/>
                        </a:tabLst>
                      </a:pPr>
                      <a:endParaRPr lang="fr-FR" sz="1600" b="1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33" name="Picture 9" descr="ÙØªÙØ¬Ø© Ø¨Ø­Ø« Ø§ÙØµÙØ± Ø¹Ù Ø§ÙÙØ§Ù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9430" y="2404290"/>
            <a:ext cx="1371600" cy="11594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5" name="Picture 11" descr="ØµÙØ±Ø© Ø°Ø§Øª ØµÙØ©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0142" y="2399345"/>
            <a:ext cx="1306285" cy="1192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7" name="Picture 13" descr="ØµÙØ±Ø© Ø°Ø§Øª ØµÙØ©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80360" y="2388127"/>
            <a:ext cx="1586752" cy="1188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9" name="Picture 15" descr="ÙØªÙØ¬Ø© Ø¨Ø­Ø« Ø§ÙØµÙØ± Ø¹Ù ÙØ§Ø¡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56221" y="2427317"/>
            <a:ext cx="1411968" cy="1130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1" name="ZoneTexte 40"/>
          <p:cNvSpPr txBox="1"/>
          <p:nvPr/>
        </p:nvSpPr>
        <p:spPr>
          <a:xfrm>
            <a:off x="5773783" y="4062549"/>
            <a:ext cx="3148148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ar-DZ" dirty="0" smtClean="0">
                <a:ln>
                  <a:solidFill>
                    <a:srgbClr val="7030A0"/>
                  </a:solidFill>
                </a:ln>
                <a:solidFill>
                  <a:srgbClr val="FF0000"/>
                </a:solidFill>
              </a:rPr>
              <a:t>ا</a:t>
            </a:r>
            <a:r>
              <a:rPr lang="ar-DZ" sz="2000" b="1" dirty="0" smtClean="0">
                <a:ln>
                  <a:solidFill>
                    <a:srgbClr val="7030A0"/>
                  </a:solidFill>
                </a:ln>
                <a:solidFill>
                  <a:srgbClr val="FF0000"/>
                </a:solidFill>
              </a:rPr>
              <a:t>لحل</a:t>
            </a:r>
          </a:p>
          <a:p>
            <a:pPr algn="r" rtl="1"/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جميع </a:t>
            </a:r>
            <a:r>
              <a:rPr lang="ar-DZ" b="1" dirty="0" err="1" smtClean="0">
                <a:solidFill>
                  <a:schemeClr val="accent6">
                    <a:lumMod val="75000"/>
                  </a:schemeClr>
                </a:solidFill>
              </a:rPr>
              <a:t>هاته</a:t>
            </a:r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  تملك كتلة </a:t>
            </a:r>
            <a:r>
              <a:rPr lang="ar-DZ" b="1" dirty="0" err="1" smtClean="0">
                <a:solidFill>
                  <a:schemeClr val="accent6">
                    <a:lumMod val="75000"/>
                  </a:schemeClr>
                </a:solidFill>
              </a:rPr>
              <a:t>و</a:t>
            </a:r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 حجم </a:t>
            </a:r>
            <a:r>
              <a:rPr lang="ar-DZ" b="1" dirty="0" err="1" smtClean="0">
                <a:solidFill>
                  <a:schemeClr val="accent6">
                    <a:lumMod val="75000"/>
                  </a:schemeClr>
                </a:solidFill>
              </a:rPr>
              <a:t>ادا</a:t>
            </a:r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 تسمى أجسام مادية 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1476103" y="5368834"/>
          <a:ext cx="6531428" cy="666206"/>
        </p:xfrm>
        <a:graphic>
          <a:graphicData uri="http://schemas.openxmlformats.org/drawingml/2006/table">
            <a:tbl>
              <a:tblPr/>
              <a:tblGrid>
                <a:gridCol w="6531428"/>
              </a:tblGrid>
              <a:tr h="666206">
                <a:tc>
                  <a:txBody>
                    <a:bodyPr/>
                    <a:lstStyle/>
                    <a:p>
                      <a:pPr indent="-4019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699135" algn="l"/>
                        </a:tabLst>
                      </a:pPr>
                      <a:r>
                        <a:rPr lang="ar-DZ" sz="1800" b="1" dirty="0" smtClean="0">
                          <a:solidFill>
                            <a:srgbClr val="5F497A"/>
                          </a:solidFill>
                          <a:latin typeface="Calibri"/>
                          <a:ea typeface="Times New Roman"/>
                          <a:cs typeface="Arial"/>
                        </a:rPr>
                        <a:t>ا</a:t>
                      </a:r>
                      <a:r>
                        <a:rPr lang="ar-DZ" sz="1000" b="1" dirty="0" smtClean="0">
                          <a:solidFill>
                            <a:srgbClr val="5F497A"/>
                          </a:solidFill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ar-DZ" sz="1800" b="1" dirty="0" smtClean="0">
                          <a:solidFill>
                            <a:srgbClr val="5F497A"/>
                          </a:solidFill>
                          <a:latin typeface="Calibri"/>
                          <a:ea typeface="Times New Roman"/>
                          <a:cs typeface="Arial"/>
                        </a:rPr>
                        <a:t>لجسم </a:t>
                      </a:r>
                      <a:r>
                        <a:rPr lang="ar-DZ" sz="1800" b="1" dirty="0">
                          <a:solidFill>
                            <a:srgbClr val="5F497A"/>
                          </a:solidFill>
                          <a:latin typeface="Calibri"/>
                          <a:ea typeface="Times New Roman"/>
                          <a:cs typeface="Arial"/>
                        </a:rPr>
                        <a:t>المادي</a:t>
                      </a:r>
                      <a:r>
                        <a:rPr lang="ar-DZ" sz="1800" b="1" dirty="0">
                          <a:solidFill>
                            <a:srgbClr val="6699FF"/>
                          </a:solidFill>
                          <a:latin typeface="Calibri"/>
                          <a:ea typeface="Times New Roman"/>
                          <a:cs typeface="Arial"/>
                        </a:rPr>
                        <a:t>: 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هو كل جسم يشغل حيزا من الفراغ له كتلة </a:t>
                      </a:r>
                      <a:r>
                        <a:rPr lang="ar-DZ" sz="1800" b="1" dirty="0" err="1" smtClean="0">
                          <a:latin typeface="Calibri"/>
                          <a:ea typeface="Times New Roman"/>
                          <a:cs typeface="Arial"/>
                        </a:rPr>
                        <a:t>و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  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حجم </a:t>
                      </a:r>
                      <a:r>
                        <a:rPr lang="ar-DZ" sz="1800" b="1" dirty="0" err="1">
                          <a:latin typeface="Calibri"/>
                          <a:ea typeface="Times New Roman"/>
                          <a:cs typeface="Arial"/>
                        </a:rPr>
                        <a:t>و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 يوجد عل شكل </a:t>
                      </a:r>
                      <a:r>
                        <a:rPr lang="ar-DZ" sz="1800" b="1" dirty="0" err="1">
                          <a:latin typeface="Calibri"/>
                          <a:ea typeface="Times New Roman"/>
                          <a:cs typeface="Arial"/>
                        </a:rPr>
                        <a:t>ثلاتة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 حالات –الصلب –السائل-الغازي</a:t>
                      </a:r>
                      <a:endParaRPr lang="fr-FR" sz="1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89535" marR="89535" marT="0" marB="0"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1842654" y="4475017"/>
            <a:ext cx="1496291" cy="70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tabLst>
                <a:tab pos="-540385" algn="l"/>
              </a:tabLst>
            </a:pPr>
            <a:r>
              <a:rPr lang="ar-DZ" b="1" dirty="0" smtClean="0">
                <a:latin typeface="Calibri"/>
                <a:ea typeface="Times New Roman"/>
              </a:rPr>
              <a:t>ماء مسكوب في كأس </a:t>
            </a:r>
            <a:endParaRPr lang="fr-FR" b="1" dirty="0">
              <a:latin typeface="Calibri"/>
              <a:ea typeface="Times New Roman"/>
              <a:cs typeface="Arial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4114800" y="4572000"/>
            <a:ext cx="678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sz="2000" dirty="0" err="1" smtClean="0"/>
              <a:t>ا</a:t>
            </a:r>
            <a:r>
              <a:rPr lang="ar-DZ" sz="2000" b="1" dirty="0" err="1" smtClean="0"/>
              <a:t>قلام</a:t>
            </a:r>
            <a:r>
              <a:rPr lang="ar-DZ" sz="2000" b="1" dirty="0" smtClean="0"/>
              <a:t>-</a:t>
            </a:r>
            <a:endParaRPr lang="fr-FR" sz="2000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318655" y="4475018"/>
            <a:ext cx="1468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هواء محبوس في كيس مطاطي</a:t>
            </a:r>
            <a:endParaRPr lang="fr-FR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3380512" y="4585854"/>
            <a:ext cx="1011382" cy="374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b="1" dirty="0" smtClean="0"/>
              <a:t>قطع جليد</a:t>
            </a:r>
            <a:endParaRPr lang="fr-FR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2285998" y="4793674"/>
            <a:ext cx="692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b="1" dirty="0" smtClean="0"/>
              <a:t>- زيت</a:t>
            </a:r>
            <a:endParaRPr lang="fr-FR" b="1" dirty="0"/>
          </a:p>
        </p:txBody>
      </p:sp>
      <p:pic>
        <p:nvPicPr>
          <p:cNvPr id="8194" name="Picture 2" descr="ÙØªÙØ¬Ø© Ø¨Ø­Ø« Ø§ÙØµÙØ± Ø¹Ù Ø¨Ø§ÙÙÙ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4072" y="2424545"/>
            <a:ext cx="1745673" cy="11360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/>
      <p:bldP spid="33" grpId="0" animBg="1"/>
      <p:bldP spid="41" grpId="0" animBg="1"/>
      <p:bldP spid="16" grpId="0"/>
      <p:bldP spid="17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ndir un rectangle avec un coin diagonal 4"/>
          <p:cNvSpPr/>
          <p:nvPr/>
        </p:nvSpPr>
        <p:spPr>
          <a:xfrm>
            <a:off x="5042263" y="378823"/>
            <a:ext cx="3822070" cy="43200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u="sng" dirty="0" smtClean="0">
                <a:solidFill>
                  <a:schemeClr val="accent6">
                    <a:lumMod val="50000"/>
                  </a:schemeClr>
                </a:solidFill>
                <a:latin typeface="Batang" pitchFamily="18" charset="-127"/>
                <a:ea typeface="Batang" pitchFamily="18" charset="-127"/>
              </a:rPr>
              <a:t>الوضعية التعليمة 2 </a:t>
            </a:r>
            <a:r>
              <a:rPr lang="ar-DZ" sz="2000" b="1" dirty="0" smtClean="0">
                <a:solidFill>
                  <a:schemeClr val="tx1"/>
                </a:solidFill>
              </a:rPr>
              <a:t>:خصائص الحالة الصلبة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5885" y="880751"/>
            <a:ext cx="8554426" cy="154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7030A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  إليك الأجسام الآتية قطعة نقدية-قطعة جليد-ورق-رمل هل يمكننا مسكها </a:t>
            </a:r>
            <a:r>
              <a:rPr lang="ar-DZ" b="1" dirty="0" err="1" smtClean="0">
                <a:solidFill>
                  <a:schemeClr val="tx1"/>
                </a:solidFill>
              </a:rPr>
              <a:t>با</a:t>
            </a:r>
            <a:r>
              <a:rPr lang="ar-DZ" b="1" dirty="0" smtClean="0">
                <a:solidFill>
                  <a:schemeClr val="tx1"/>
                </a:solidFill>
              </a:rPr>
              <a:t> اليد </a:t>
            </a:r>
          </a:p>
          <a:p>
            <a:pPr algn="r"/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س1: هل يمكننا مسك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هاته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الأجسام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با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اليد؟ صنف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هاته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الاجسام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حسب خواصها في الجدول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الاتي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</a:t>
            </a:r>
          </a:p>
          <a:p>
            <a:pPr algn="r" rtl="1"/>
            <a:r>
              <a:rPr lang="ar-DZ" b="1" dirty="0" smtClean="0">
                <a:solidFill>
                  <a:schemeClr val="tx1"/>
                </a:solidFill>
                <a:latin typeface="Calibri"/>
              </a:rPr>
              <a:t>س2 : بما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</a:rPr>
              <a:t>ان</a:t>
            </a:r>
            <a:r>
              <a:rPr lang="ar-DZ" b="1" dirty="0" smtClean="0">
                <a:solidFill>
                  <a:schemeClr val="tx1"/>
                </a:solidFill>
                <a:latin typeface="Calibri"/>
              </a:rPr>
              <a:t> الرمل هو مادة صلبة كيف هي مجزاة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</a:rPr>
              <a:t>او</a:t>
            </a:r>
            <a:r>
              <a:rPr lang="ar-DZ" b="1" dirty="0" smtClean="0">
                <a:solidFill>
                  <a:schemeClr val="tx1"/>
                </a:solidFill>
                <a:latin typeface="Calibri"/>
              </a:rPr>
              <a:t> غير مجزاة ؟ما هو الشكل الذي تتخذه الرمال</a:t>
            </a:r>
            <a:endParaRPr lang="ar-DZ" b="1" dirty="0" smtClean="0">
              <a:solidFill>
                <a:schemeClr val="tx1"/>
              </a:solidFill>
            </a:endParaRP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س3 : نعرف أن الماء في شروطه  العادية يكون سائل بعد إدخاله الثلاجة يصبح في حالة صلبة نقول عن الجليد </a:t>
            </a:r>
            <a:r>
              <a:rPr lang="ar-DZ" b="1" dirty="0" err="1" smtClean="0">
                <a:solidFill>
                  <a:schemeClr val="tx1"/>
                </a:solidFill>
              </a:rPr>
              <a:t>ادا</a:t>
            </a:r>
            <a:r>
              <a:rPr lang="ar-DZ" b="1" dirty="0" smtClean="0">
                <a:solidFill>
                  <a:schemeClr val="tx1"/>
                </a:solidFill>
              </a:rPr>
              <a:t> انه....... .........ما نستنتج </a:t>
            </a:r>
            <a:r>
              <a:rPr lang="ar-D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؟         </a:t>
            </a:r>
            <a:endParaRPr lang="fr-FR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algn="r" rtl="1"/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4849090" y="4059382"/>
            <a:ext cx="4128655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ar-DZ" dirty="0" smtClean="0">
                <a:solidFill>
                  <a:schemeClr val="tx1"/>
                </a:solidFill>
              </a:rPr>
              <a:t>الحل</a:t>
            </a:r>
          </a:p>
          <a:p>
            <a:pPr algn="r"/>
            <a:r>
              <a:rPr lang="ar-DZ" dirty="0" smtClean="0"/>
              <a:t> </a:t>
            </a:r>
            <a:r>
              <a:rPr lang="ar-DZ" b="1" dirty="0" smtClean="0">
                <a:solidFill>
                  <a:schemeClr val="tx1"/>
                </a:solidFill>
              </a:rPr>
              <a:t>ج1: نعم يمكننا مسك </a:t>
            </a:r>
            <a:r>
              <a:rPr lang="ar-DZ" b="1" dirty="0" err="1" smtClean="0">
                <a:solidFill>
                  <a:schemeClr val="tx1"/>
                </a:solidFill>
              </a:rPr>
              <a:t>هاتة</a:t>
            </a:r>
            <a:r>
              <a:rPr lang="ar-DZ" b="1" dirty="0" smtClean="0">
                <a:solidFill>
                  <a:schemeClr val="tx1"/>
                </a:solidFill>
              </a:rPr>
              <a:t> الأجسام </a:t>
            </a:r>
            <a:r>
              <a:rPr lang="ar-DZ" b="1" dirty="0" err="1" smtClean="0">
                <a:solidFill>
                  <a:schemeClr val="tx1"/>
                </a:solidFill>
              </a:rPr>
              <a:t>با</a:t>
            </a:r>
            <a:r>
              <a:rPr lang="ar-DZ" b="1" dirty="0" smtClean="0">
                <a:solidFill>
                  <a:schemeClr val="tx1"/>
                </a:solidFill>
              </a:rPr>
              <a:t> اليد</a:t>
            </a: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 ج2: الرمل مادة صلبة مجزاة نستنتج </a:t>
            </a:r>
            <a:r>
              <a:rPr lang="ar-DZ" b="1" dirty="0" err="1" smtClean="0">
                <a:solidFill>
                  <a:schemeClr val="tx1"/>
                </a:solidFill>
              </a:rPr>
              <a:t>ان</a:t>
            </a:r>
            <a:r>
              <a:rPr lang="ar-DZ" b="1" dirty="0" smtClean="0">
                <a:solidFill>
                  <a:schemeClr val="tx1"/>
                </a:solidFill>
              </a:rPr>
              <a:t> المواد الصلبة تنقسم </a:t>
            </a:r>
            <a:r>
              <a:rPr lang="ar-DZ" b="1" dirty="0" err="1" smtClean="0">
                <a:solidFill>
                  <a:schemeClr val="tx1"/>
                </a:solidFill>
              </a:rPr>
              <a:t>الى</a:t>
            </a:r>
            <a:r>
              <a:rPr lang="ar-DZ" b="1" dirty="0" smtClean="0">
                <a:solidFill>
                  <a:schemeClr val="tx1"/>
                </a:solidFill>
              </a:rPr>
              <a:t> </a:t>
            </a:r>
            <a:r>
              <a:rPr lang="ar-DZ" b="1" u="sng" dirty="0" smtClean="0">
                <a:solidFill>
                  <a:srgbClr val="7030A0"/>
                </a:solidFill>
              </a:rPr>
              <a:t>مواد صلبة متماسكة </a:t>
            </a:r>
            <a:r>
              <a:rPr lang="ar-DZ" b="1" u="sng" dirty="0" err="1" smtClean="0">
                <a:solidFill>
                  <a:srgbClr val="7030A0"/>
                </a:solidFill>
              </a:rPr>
              <a:t>و</a:t>
            </a:r>
            <a:r>
              <a:rPr lang="ar-DZ" b="1" u="sng" dirty="0" smtClean="0">
                <a:solidFill>
                  <a:srgbClr val="7030A0"/>
                </a:solidFill>
              </a:rPr>
              <a:t> مواد صلبة غير متماسكة</a:t>
            </a:r>
            <a:endParaRPr lang="ar-DZ" b="1" dirty="0" smtClean="0">
              <a:solidFill>
                <a:schemeClr val="tx1"/>
              </a:solidFill>
            </a:endParaRP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ج3:  نقول عن قطعة الجليد انه في حالة صلبة لكن في شروط </a:t>
            </a:r>
            <a:r>
              <a:rPr lang="ar-DZ" b="1" u="sng" dirty="0" err="1" smtClean="0">
                <a:solidFill>
                  <a:srgbClr val="7030A0"/>
                </a:solidFill>
              </a:rPr>
              <a:t>غيرعادية</a:t>
            </a:r>
            <a:r>
              <a:rPr lang="ar-DZ" b="1" u="sng" dirty="0" smtClean="0">
                <a:solidFill>
                  <a:srgbClr val="7030A0"/>
                </a:solidFill>
              </a:rPr>
              <a:t> </a:t>
            </a:r>
            <a:r>
              <a:rPr lang="ar-DZ" b="1" u="sng" dirty="0" err="1" smtClean="0">
                <a:solidFill>
                  <a:srgbClr val="7030A0"/>
                </a:solidFill>
              </a:rPr>
              <a:t>بتاتير</a:t>
            </a:r>
            <a:r>
              <a:rPr lang="ar-DZ" b="1" u="sng" dirty="0" smtClean="0">
                <a:solidFill>
                  <a:srgbClr val="7030A0"/>
                </a:solidFill>
              </a:rPr>
              <a:t> </a:t>
            </a:r>
            <a:r>
              <a:rPr lang="ar-DZ" b="1" dirty="0" smtClean="0">
                <a:solidFill>
                  <a:schemeClr val="tx1"/>
                </a:solidFill>
              </a:rPr>
              <a:t>درجة الحرارة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1651378" y="0"/>
            <a:ext cx="5585445" cy="313509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الميدان : المادة وتحولاتها </a:t>
            </a:r>
            <a:endParaRPr lang="fr-FR" b="1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1705970" y="6567055"/>
            <a:ext cx="5373703" cy="290945"/>
          </a:xfrm>
          <a:prstGeom prst="roundRect">
            <a:avLst>
              <a:gd name="adj" fmla="val 3254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المقطع </a:t>
            </a:r>
            <a:r>
              <a:rPr lang="ar-DZ" b="1" dirty="0" err="1" smtClean="0"/>
              <a:t>التعلمي</a:t>
            </a:r>
            <a:r>
              <a:rPr lang="ar-DZ" b="1" dirty="0" smtClean="0"/>
              <a:t> :خصائص حالات المادة</a:t>
            </a:r>
            <a:endParaRPr lang="fr-FR" b="1" dirty="0"/>
          </a:p>
        </p:txBody>
      </p:sp>
      <p:pic>
        <p:nvPicPr>
          <p:cNvPr id="15363" name="Picture 3" descr="ÙØªÙØ¬Ø© Ø¨Ø­Ø« Ø§ÙØµÙØ± Ø¹Ù ÙØ·Ø¹Ø© ÙÙØ¯ÙØ©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6788" y="2559211"/>
            <a:ext cx="1828799" cy="12506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Picture 13" descr="ØµÙØ±Ø© Ø°Ø§Øª ØµÙØ©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9862" y="2609799"/>
            <a:ext cx="1586752" cy="1188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367" name="Picture 7" descr="ØµÙØ±Ø© Ø°Ø§Øª ØµÙØ©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2492" y="2582091"/>
            <a:ext cx="1282400" cy="12279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371" name="Picture 11" descr="ØµÙØ±Ø© Ø°Ø§Øª ØµÙØ©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7088" y="2595945"/>
            <a:ext cx="1502228" cy="1191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166255" y="3976254"/>
          <a:ext cx="4599710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99855"/>
                <a:gridCol w="2299855"/>
              </a:tblGrid>
              <a:tr h="351905"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الجسم الصلب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الخاصية</a:t>
                      </a:r>
                      <a:endParaRPr lang="fr-FR" dirty="0"/>
                    </a:p>
                  </a:txBody>
                  <a:tcPr/>
                </a:tc>
              </a:tr>
              <a:tr h="351905">
                <a:tc>
                  <a:txBody>
                    <a:bodyPr/>
                    <a:lstStyle/>
                    <a:p>
                      <a:pPr algn="r" rtl="1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  <a:tr h="351905"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  <a:tr h="351905"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  <a:tr h="351905"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  <a:tr h="351905"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ZoneTexte 40"/>
          <p:cNvSpPr txBox="1"/>
          <p:nvPr/>
        </p:nvSpPr>
        <p:spPr>
          <a:xfrm>
            <a:off x="221673" y="430876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قطعة نقدية /جليد/ورقة /رمل</a:t>
            </a:r>
            <a:endParaRPr lang="fr-FR" b="1" dirty="0"/>
          </a:p>
        </p:txBody>
      </p:sp>
      <p:sp>
        <p:nvSpPr>
          <p:cNvPr id="42" name="ZoneTexte 41"/>
          <p:cNvSpPr txBox="1"/>
          <p:nvPr/>
        </p:nvSpPr>
        <p:spPr>
          <a:xfrm>
            <a:off x="983672" y="5056909"/>
            <a:ext cx="144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قطعة نقدية /جليد</a:t>
            </a:r>
            <a:endParaRPr lang="fr-FR" b="1" dirty="0"/>
          </a:p>
        </p:txBody>
      </p:sp>
      <p:sp>
        <p:nvSpPr>
          <p:cNvPr id="43" name="ZoneTexte 42"/>
          <p:cNvSpPr txBox="1"/>
          <p:nvPr/>
        </p:nvSpPr>
        <p:spPr>
          <a:xfrm>
            <a:off x="207818" y="468283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قطعة نقدية /جليد/ورقة</a:t>
            </a:r>
            <a:endParaRPr lang="fr-FR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2854037" y="4322618"/>
            <a:ext cx="12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b="1" dirty="0" smtClean="0"/>
              <a:t>المسك </a:t>
            </a:r>
            <a:r>
              <a:rPr lang="ar-DZ" b="1" dirty="0" err="1" smtClean="0"/>
              <a:t>با</a:t>
            </a:r>
            <a:r>
              <a:rPr lang="ar-DZ" b="1" dirty="0" smtClean="0"/>
              <a:t> اليد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618509" y="4724400"/>
            <a:ext cx="1884218" cy="374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ثبات الشكل </a:t>
            </a:r>
            <a:r>
              <a:rPr lang="ar-DZ" b="1" dirty="0" err="1" smtClean="0"/>
              <a:t>و</a:t>
            </a:r>
            <a:r>
              <a:rPr lang="ar-DZ" b="1" dirty="0" smtClean="0"/>
              <a:t> الحجم </a:t>
            </a:r>
            <a:endParaRPr lang="fr-FR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3158837" y="508461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dirty="0" err="1" smtClean="0"/>
              <a:t>ا</a:t>
            </a:r>
            <a:r>
              <a:rPr lang="ar-DZ" b="1" dirty="0" err="1" smtClean="0"/>
              <a:t>لقساوة</a:t>
            </a:r>
            <a:r>
              <a:rPr lang="ar-DZ" b="1" dirty="0" smtClean="0"/>
              <a:t> 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3089564" y="5430981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dirty="0" smtClean="0"/>
              <a:t>ا</a:t>
            </a:r>
            <a:r>
              <a:rPr lang="ar-DZ" b="1" dirty="0" smtClean="0"/>
              <a:t>لليونة </a:t>
            </a:r>
            <a:endParaRPr lang="fr-FR" b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3089565" y="5832763"/>
            <a:ext cx="101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b="1" dirty="0" smtClean="0"/>
              <a:t>الانضغاط </a:t>
            </a:r>
            <a:endParaRPr lang="fr-FR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1094509" y="360218"/>
            <a:ext cx="63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1662546" y="5444837"/>
            <a:ext cx="63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ورقة</a:t>
            </a:r>
            <a:endParaRPr lang="fr-FR" b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401781" y="5860473"/>
            <a:ext cx="20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كلها غير قابلة للانضغاط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41" grpId="0"/>
      <p:bldP spid="42" grpId="0"/>
      <p:bldP spid="43" grpId="0"/>
      <p:bldP spid="17" grpId="0"/>
      <p:bldP spid="18" grpId="0"/>
      <p:bldP spid="20" grpId="0"/>
      <p:bldP spid="22" grpId="0"/>
      <p:bldP spid="24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1705970" y="6525491"/>
            <a:ext cx="5512248" cy="332509"/>
          </a:xfrm>
          <a:prstGeom prst="roundRect">
            <a:avLst>
              <a:gd name="adj" fmla="val 3254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المقطع </a:t>
            </a:r>
            <a:r>
              <a:rPr lang="ar-DZ" b="1" dirty="0" err="1" smtClean="0"/>
              <a:t>التعلمي</a:t>
            </a:r>
            <a:r>
              <a:rPr lang="ar-DZ" b="1" dirty="0" smtClean="0"/>
              <a:t> :خصائص حالات المادة</a:t>
            </a:r>
            <a:endParaRPr lang="fr-FR" b="1" dirty="0"/>
          </a:p>
        </p:txBody>
      </p:sp>
      <p:sp>
        <p:nvSpPr>
          <p:cNvPr id="9" name="Arrondir un rectangle avec un coin diagonal 8"/>
          <p:cNvSpPr/>
          <p:nvPr/>
        </p:nvSpPr>
        <p:spPr>
          <a:xfrm>
            <a:off x="942108" y="4170219"/>
            <a:ext cx="7703127" cy="2038365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540385" algn="ctr">
              <a:lnSpc>
                <a:spcPct val="115000"/>
              </a:lnSpc>
              <a:spcAft>
                <a:spcPts val="1000"/>
              </a:spcAft>
            </a:pPr>
            <a:r>
              <a:rPr lang="ar-DZ" b="1" dirty="0" smtClean="0">
                <a:solidFill>
                  <a:schemeClr val="tx2">
                    <a:lumMod val="75000"/>
                  </a:schemeClr>
                </a:solidFill>
                <a:latin typeface="Calibri"/>
                <a:ea typeface="Times New Roman"/>
              </a:rPr>
              <a:t>تنقسم الأجسام الصلبة </a:t>
            </a:r>
            <a:r>
              <a:rPr lang="ar-DZ" b="1" dirty="0" err="1" smtClean="0">
                <a:solidFill>
                  <a:schemeClr val="tx2">
                    <a:lumMod val="75000"/>
                  </a:schemeClr>
                </a:solidFill>
                <a:latin typeface="Calibri"/>
                <a:ea typeface="Times New Roman"/>
              </a:rPr>
              <a:t>الى</a:t>
            </a:r>
            <a:endParaRPr lang="fr-FR" b="1" dirty="0" smtClean="0">
              <a:solidFill>
                <a:schemeClr val="tx2">
                  <a:lumMod val="75000"/>
                </a:schemeClr>
              </a:solidFill>
              <a:latin typeface="Calibri"/>
              <a:ea typeface="Times New Roman"/>
              <a:cs typeface="Arial"/>
            </a:endParaRPr>
          </a:p>
          <a:p>
            <a:pPr indent="-540385" algn="r" rtl="1">
              <a:lnSpc>
                <a:spcPct val="115000"/>
              </a:lnSpc>
              <a:spcAft>
                <a:spcPts val="1000"/>
              </a:spcAft>
            </a:pPr>
            <a:r>
              <a:rPr lang="ar-DZ" dirty="0" smtClean="0">
                <a:solidFill>
                  <a:srgbClr val="4BACC6"/>
                </a:solidFill>
                <a:latin typeface="Calibri"/>
                <a:ea typeface="Times New Roman"/>
              </a:rPr>
              <a:t> </a:t>
            </a:r>
            <a:r>
              <a:rPr lang="ar-DZ" b="1" u="sng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Times New Roman"/>
              </a:rPr>
              <a:t>أجسام صلبة متماسكة: 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قابلة للامساك لها حجم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و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شكل ثابت وغير قابلة  للانضغاط مثل الخشب</a:t>
            </a:r>
          </a:p>
          <a:p>
            <a:pPr indent="-540385" algn="r">
              <a:lnSpc>
                <a:spcPct val="115000"/>
              </a:lnSpc>
              <a:spcAft>
                <a:spcPts val="1000"/>
              </a:spcAft>
            </a:pPr>
            <a:r>
              <a:rPr lang="ar-DZ" b="1" u="sng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Times New Roman"/>
              </a:rPr>
              <a:t>أجسام صلبة غير متماسكة</a:t>
            </a:r>
            <a:r>
              <a:rPr lang="ar-DZ" u="sng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Times New Roman"/>
              </a:rPr>
              <a:t>: 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لها حجم ثابت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  <a:ea typeface="Times New Roman"/>
              </a:rPr>
              <a:t>وتاخد</a:t>
            </a:r>
            <a:r>
              <a:rPr lang="ar-DZ" b="1" dirty="0" smtClean="0">
                <a:solidFill>
                  <a:schemeClr val="tx1"/>
                </a:solidFill>
                <a:latin typeface="Calibri"/>
                <a:ea typeface="Times New Roman"/>
              </a:rPr>
              <a:t> شكل الإناء الموضوع فيه</a:t>
            </a:r>
          </a:p>
          <a:p>
            <a:pPr indent="-540385" algn="ctr">
              <a:lnSpc>
                <a:spcPct val="115000"/>
              </a:lnSpc>
              <a:spcAft>
                <a:spcPts val="1000"/>
              </a:spcAft>
            </a:pPr>
            <a:r>
              <a:rPr lang="ar-DZ" sz="1600" b="1" dirty="0" smtClean="0">
                <a:solidFill>
                  <a:schemeClr val="tx1"/>
                </a:solidFill>
              </a:rPr>
              <a:t>قد تكون </a:t>
            </a:r>
            <a:r>
              <a:rPr lang="ar-DZ" sz="1600" b="1" dirty="0" err="1" smtClean="0">
                <a:solidFill>
                  <a:schemeClr val="tx1"/>
                </a:solidFill>
              </a:rPr>
              <a:t>الاجسام</a:t>
            </a:r>
            <a:r>
              <a:rPr lang="ar-DZ" sz="1600" b="1" dirty="0" smtClean="0">
                <a:solidFill>
                  <a:schemeClr val="tx1"/>
                </a:solidFill>
              </a:rPr>
              <a:t> الصلبة في الشروط عادية </a:t>
            </a:r>
            <a:r>
              <a:rPr lang="ar-DZ" sz="1600" b="1" dirty="0" err="1" smtClean="0">
                <a:solidFill>
                  <a:schemeClr val="tx1"/>
                </a:solidFill>
              </a:rPr>
              <a:t>او</a:t>
            </a:r>
            <a:r>
              <a:rPr lang="ar-DZ" sz="1600" b="1" dirty="0" smtClean="0">
                <a:solidFill>
                  <a:schemeClr val="tx1"/>
                </a:solidFill>
              </a:rPr>
              <a:t> في شروط  غير عادية تحت </a:t>
            </a:r>
            <a:r>
              <a:rPr lang="ar-DZ" sz="1600" b="1" dirty="0" err="1" smtClean="0">
                <a:solidFill>
                  <a:schemeClr val="tx1"/>
                </a:solidFill>
              </a:rPr>
              <a:t>تاثير</a:t>
            </a:r>
            <a:r>
              <a:rPr lang="ar-DZ" sz="1600" b="1" dirty="0" smtClean="0">
                <a:solidFill>
                  <a:schemeClr val="tx1"/>
                </a:solidFill>
              </a:rPr>
              <a:t>  درجة الحرارة </a:t>
            </a:r>
            <a:r>
              <a:rPr lang="ar-DZ" sz="1600" b="1" dirty="0" err="1" smtClean="0">
                <a:solidFill>
                  <a:schemeClr val="tx1"/>
                </a:solidFill>
              </a:rPr>
              <a:t>او</a:t>
            </a:r>
            <a:r>
              <a:rPr lang="ar-DZ" sz="1600" b="1" dirty="0" smtClean="0">
                <a:solidFill>
                  <a:schemeClr val="tx1"/>
                </a:solidFill>
              </a:rPr>
              <a:t> الضغط </a:t>
            </a:r>
            <a:endParaRPr lang="fr-FR" sz="1600" b="1" dirty="0" smtClean="0">
              <a:solidFill>
                <a:schemeClr val="tx1"/>
              </a:solidFill>
            </a:endParaRPr>
          </a:p>
          <a:p>
            <a:pPr indent="-540385" algn="ctr">
              <a:lnSpc>
                <a:spcPct val="115000"/>
              </a:lnSpc>
              <a:spcAft>
                <a:spcPts val="1000"/>
              </a:spcAft>
            </a:pPr>
            <a:r>
              <a:rPr lang="ar-DZ" sz="1600" b="1" dirty="0" smtClean="0">
                <a:latin typeface="Calibri"/>
                <a:ea typeface="Times New Roman"/>
              </a:rPr>
              <a:t> </a:t>
            </a:r>
            <a:endParaRPr lang="fr-FR" sz="1600" dirty="0">
              <a:latin typeface="Calibri"/>
              <a:ea typeface="Times New Roman"/>
              <a:cs typeface="Arial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427018" y="374072"/>
            <a:ext cx="732905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حضرت </a:t>
            </a:r>
            <a:r>
              <a:rPr lang="ar-DZ" b="1" dirty="0" err="1" smtClean="0"/>
              <a:t>الام</a:t>
            </a:r>
            <a:r>
              <a:rPr lang="ar-DZ" b="1" dirty="0" smtClean="0"/>
              <a:t> طبق </a:t>
            </a:r>
            <a:r>
              <a:rPr lang="ar-DZ" b="1" dirty="0" err="1" smtClean="0"/>
              <a:t>البغرير</a:t>
            </a:r>
            <a:r>
              <a:rPr lang="ar-DZ" b="1" dirty="0" smtClean="0"/>
              <a:t> عن طريق رمي خليط </a:t>
            </a:r>
            <a:r>
              <a:rPr lang="ar-DZ" b="1" dirty="0" err="1" smtClean="0"/>
              <a:t>البغرير</a:t>
            </a:r>
            <a:r>
              <a:rPr lang="ar-DZ" b="1" dirty="0" smtClean="0"/>
              <a:t> في الزيت </a:t>
            </a:r>
            <a:r>
              <a:rPr lang="ar-DZ" b="1" dirty="0" err="1" smtClean="0"/>
              <a:t>ماهي</a:t>
            </a:r>
            <a:r>
              <a:rPr lang="ar-DZ" b="1" dirty="0" smtClean="0"/>
              <a:t> الحالة الفيزيائية </a:t>
            </a:r>
            <a:r>
              <a:rPr lang="ar-DZ" b="1" dirty="0" err="1" smtClean="0"/>
              <a:t>لهادا</a:t>
            </a:r>
            <a:r>
              <a:rPr lang="ar-DZ" b="1" dirty="0" smtClean="0"/>
              <a:t> الطبق  مادا نقول عنه ؟ </a:t>
            </a:r>
            <a:endParaRPr lang="fr-FR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1496291" y="3366654"/>
            <a:ext cx="73290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الحل:عندما ترمي </a:t>
            </a:r>
            <a:r>
              <a:rPr lang="ar-DZ" b="1" dirty="0" err="1" smtClean="0"/>
              <a:t>الام</a:t>
            </a:r>
            <a:r>
              <a:rPr lang="ar-DZ" b="1" dirty="0" smtClean="0"/>
              <a:t> خليط </a:t>
            </a:r>
            <a:r>
              <a:rPr lang="ar-DZ" b="1" dirty="0" err="1" smtClean="0"/>
              <a:t>البغرير</a:t>
            </a:r>
            <a:r>
              <a:rPr lang="ar-DZ" b="1" dirty="0" smtClean="0"/>
              <a:t> يصبح صلب بفعل درجة الحرارة </a:t>
            </a:r>
            <a:r>
              <a:rPr lang="ar-DZ" b="1" dirty="0" err="1" smtClean="0"/>
              <a:t>ادا</a:t>
            </a:r>
            <a:r>
              <a:rPr lang="ar-DZ" b="1" dirty="0" smtClean="0"/>
              <a:t> هو في شروط غي طبيعية </a:t>
            </a:r>
            <a:endParaRPr lang="fr-FR" b="1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720650" y="0"/>
            <a:ext cx="5585445" cy="313509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الميدان : المادة وتحولاتها </a:t>
            </a:r>
            <a:endParaRPr lang="fr-FR" b="1" dirty="0"/>
          </a:p>
        </p:txBody>
      </p:sp>
      <p:pic>
        <p:nvPicPr>
          <p:cNvPr id="6146" name="Picture 2" descr="ÙØªÙØ¬Ø© Ø¨Ø­Ø« Ø§ÙØµÙØ± Ø¹Ù Ø§ÙØ¨ØºØ±ÙØ±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4484" y="1163782"/>
            <a:ext cx="4416425" cy="20227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ndir un rectangle avec un coin diagonal 1"/>
          <p:cNvSpPr/>
          <p:nvPr/>
        </p:nvSpPr>
        <p:spPr>
          <a:xfrm>
            <a:off x="4963886" y="352697"/>
            <a:ext cx="3887384" cy="46800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u="sng" dirty="0" smtClean="0">
                <a:solidFill>
                  <a:schemeClr val="accent6">
                    <a:lumMod val="50000"/>
                  </a:schemeClr>
                </a:solidFill>
                <a:latin typeface="Batang" pitchFamily="18" charset="-127"/>
                <a:ea typeface="Batang" pitchFamily="18" charset="-127"/>
              </a:rPr>
              <a:t>الوضعية التعليمة 3 </a:t>
            </a:r>
            <a:r>
              <a:rPr lang="ar-DZ" sz="2000" b="1" dirty="0" smtClean="0">
                <a:solidFill>
                  <a:schemeClr val="tx1"/>
                </a:solidFill>
              </a:rPr>
              <a:t>:</a:t>
            </a:r>
            <a:r>
              <a:rPr lang="ar-DZ" sz="2000" b="1" dirty="0" smtClean="0"/>
              <a:t> </a:t>
            </a:r>
            <a:r>
              <a:rPr lang="ar-DZ" sz="2000" b="1" dirty="0" smtClean="0">
                <a:solidFill>
                  <a:schemeClr val="tx1"/>
                </a:solidFill>
              </a:rPr>
              <a:t>خصائص الحالة السائلة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095898" y="875210"/>
            <a:ext cx="5891348" cy="12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قم بسكب</a:t>
            </a:r>
            <a:r>
              <a:rPr lang="fr-FR" b="1" dirty="0" smtClean="0"/>
              <a:t>ml</a:t>
            </a:r>
            <a:r>
              <a:rPr lang="ar-DZ" b="1" dirty="0" smtClean="0"/>
              <a:t> 100من الماء الملون في مخبار تم اعد سكبه في </a:t>
            </a:r>
            <a:r>
              <a:rPr lang="ar-DZ" b="1" dirty="0" err="1" smtClean="0"/>
              <a:t>حوجلة</a:t>
            </a:r>
            <a:endParaRPr lang="ar-DZ" b="1" dirty="0" smtClean="0"/>
          </a:p>
          <a:p>
            <a:pPr algn="r" rtl="1"/>
            <a:r>
              <a:rPr lang="ar-DZ" b="1" dirty="0" smtClean="0">
                <a:solidFill>
                  <a:srgbClr val="7030A0"/>
                </a:solidFill>
              </a:rPr>
              <a:t>س1:</a:t>
            </a:r>
            <a:r>
              <a:rPr lang="ar-DZ" b="1" dirty="0" smtClean="0"/>
              <a:t>هل الماء قابل للسكب </a:t>
            </a:r>
            <a:r>
              <a:rPr lang="ar-DZ" b="1" dirty="0" err="1" smtClean="0"/>
              <a:t>با</a:t>
            </a:r>
            <a:r>
              <a:rPr lang="ar-DZ" b="1" dirty="0" smtClean="0"/>
              <a:t> اليد مادا تلاحظ فيما يخص شكل الماء هل له شكل معين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</a:rPr>
              <a:t>س2:</a:t>
            </a:r>
            <a:r>
              <a:rPr lang="ar-DZ" b="1" dirty="0" smtClean="0"/>
              <a:t>اعد نفس التجربة هل تغير السطح الحر للماء ؟هل يتغير عند إمالة الإناء </a:t>
            </a:r>
          </a:p>
          <a:p>
            <a:pPr algn="r" rtl="1"/>
            <a:r>
              <a:rPr lang="fr-FR" b="1" dirty="0" smtClean="0"/>
              <a:t> 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6413862" y="2194560"/>
            <a:ext cx="2364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 هل السوائل قابلة للانضغاط ؟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899956" y="2573383"/>
            <a:ext cx="606116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خد كمية من الماء الملون بواسطة إبرة بلاستكية</a:t>
            </a:r>
          </a:p>
          <a:p>
            <a:pPr algn="r"/>
            <a:r>
              <a:rPr lang="ar-DZ" b="1" dirty="0" smtClean="0">
                <a:solidFill>
                  <a:srgbClr val="7030A0"/>
                </a:solidFill>
              </a:rPr>
              <a:t>س3:</a:t>
            </a:r>
            <a:r>
              <a:rPr lang="ar-DZ" b="1" dirty="0" smtClean="0"/>
              <a:t>بماد تحس عندما تضغط على مكبس </a:t>
            </a:r>
            <a:r>
              <a:rPr lang="ar-DZ" b="1" dirty="0" err="1" smtClean="0"/>
              <a:t>الابرة</a:t>
            </a:r>
            <a:r>
              <a:rPr lang="ar-DZ" b="1" dirty="0" smtClean="0"/>
              <a:t> مادا يحدث لو واصلنا الضغط</a:t>
            </a:r>
            <a:endParaRPr lang="fr-F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8393" y="624640"/>
            <a:ext cx="1839413" cy="1071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30" name="Picture 6" descr="ÙØªÙØ¬Ø© Ø¨Ø­Ø« Ø§ÙØµÙØ± Ø¹Ù Ø§ÙØ³Ø·Ø­ Ø§ÙØ­Ø± ÙÙÙØ§Ø¡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155" y="2769326"/>
            <a:ext cx="2011406" cy="16067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ZoneTexte 12"/>
          <p:cNvSpPr txBox="1"/>
          <p:nvPr/>
        </p:nvSpPr>
        <p:spPr>
          <a:xfrm>
            <a:off x="457993" y="2092828"/>
            <a:ext cx="184186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ar-DZ" dirty="0" smtClean="0"/>
              <a:t>السطح الحر للماء أفقي</a:t>
            </a:r>
            <a:endParaRPr lang="fr-FR" dirty="0"/>
          </a:p>
        </p:txBody>
      </p:sp>
      <p:sp>
        <p:nvSpPr>
          <p:cNvPr id="17" name="Flèche vers le bas 16"/>
          <p:cNvSpPr/>
          <p:nvPr/>
        </p:nvSpPr>
        <p:spPr>
          <a:xfrm>
            <a:off x="706583" y="2604653"/>
            <a:ext cx="166254" cy="734291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vers le bas 17"/>
          <p:cNvSpPr/>
          <p:nvPr/>
        </p:nvSpPr>
        <p:spPr>
          <a:xfrm flipH="1">
            <a:off x="1856507" y="2563089"/>
            <a:ext cx="138545" cy="952797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1705970" y="6594764"/>
            <a:ext cx="5387557" cy="263236"/>
          </a:xfrm>
          <a:prstGeom prst="roundRect">
            <a:avLst>
              <a:gd name="adj" fmla="val 3254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المقطع </a:t>
            </a:r>
            <a:r>
              <a:rPr lang="ar-DZ" b="1" dirty="0" err="1" smtClean="0"/>
              <a:t>التعلمي</a:t>
            </a:r>
            <a:r>
              <a:rPr lang="ar-DZ" b="1" dirty="0" smtClean="0"/>
              <a:t> :خصائص حالات المادة</a:t>
            </a:r>
            <a:endParaRPr lang="fr-FR" b="1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1651379" y="1"/>
            <a:ext cx="5552986" cy="263236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 smtClean="0"/>
              <a:t>الميدان : المادة وتحولاتها </a:t>
            </a:r>
            <a:endParaRPr lang="fr-FR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4447309" y="3205151"/>
            <a:ext cx="450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أ</a:t>
            </a:r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جسام سائلة في الشروط العادية </a:t>
            </a:r>
            <a:r>
              <a:rPr lang="ar-DZ" b="1" dirty="0" err="1" smtClean="0">
                <a:solidFill>
                  <a:schemeClr val="accent6">
                    <a:lumMod val="75000"/>
                  </a:schemeClr>
                </a:solidFill>
              </a:rPr>
              <a:t>و</a:t>
            </a:r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 الشروط غير عادية  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909454" y="3532910"/>
            <a:ext cx="5999019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ينتج مصور الشمع من </a:t>
            </a:r>
            <a:r>
              <a:rPr lang="ar-DZ" b="1" dirty="0" err="1" smtClean="0"/>
              <a:t>دوبان</a:t>
            </a:r>
            <a:r>
              <a:rPr lang="ar-DZ" b="1" dirty="0" smtClean="0"/>
              <a:t> الشمع </a:t>
            </a:r>
            <a:r>
              <a:rPr lang="ar-DZ" b="1" dirty="0" smtClean="0">
                <a:solidFill>
                  <a:srgbClr val="7030A0"/>
                </a:solidFill>
              </a:rPr>
              <a:t>س4:</a:t>
            </a:r>
            <a:r>
              <a:rPr lang="ar-DZ" b="1" dirty="0" err="1" smtClean="0"/>
              <a:t>ماهي</a:t>
            </a:r>
            <a:r>
              <a:rPr lang="ar-DZ" b="1" dirty="0" smtClean="0"/>
              <a:t> الحالة الفيزيائية </a:t>
            </a:r>
            <a:r>
              <a:rPr lang="ar-DZ" b="1" dirty="0" err="1" smtClean="0"/>
              <a:t>لمصهور</a:t>
            </a:r>
            <a:r>
              <a:rPr lang="ar-DZ" b="1" dirty="0" smtClean="0"/>
              <a:t>  الشمع هل  هو في </a:t>
            </a:r>
            <a:r>
              <a:rPr lang="ar-DZ" b="1" dirty="0" smtClean="0">
                <a:solidFill>
                  <a:srgbClr val="7030A0"/>
                </a:solidFill>
              </a:rPr>
              <a:t>شروط</a:t>
            </a:r>
            <a:r>
              <a:rPr lang="ar-DZ" b="1" dirty="0" smtClean="0"/>
              <a:t> </a:t>
            </a:r>
            <a:r>
              <a:rPr lang="ar-DZ" b="1" dirty="0" smtClean="0">
                <a:solidFill>
                  <a:srgbClr val="7030A0"/>
                </a:solidFill>
              </a:rPr>
              <a:t>عادية</a:t>
            </a:r>
            <a:r>
              <a:rPr lang="ar-DZ" b="1" dirty="0" smtClean="0"/>
              <a:t> ؟ </a:t>
            </a:r>
            <a:endParaRPr lang="fr-FR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2424546" y="4314241"/>
            <a:ext cx="6523512" cy="2031325"/>
          </a:xfrm>
          <a:prstGeom prst="rect">
            <a:avLst/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ar-DZ" b="1" dirty="0" smtClean="0">
                <a:solidFill>
                  <a:schemeClr val="accent6">
                    <a:lumMod val="75000"/>
                  </a:schemeClr>
                </a:solidFill>
              </a:rPr>
              <a:t>الحل </a:t>
            </a:r>
          </a:p>
          <a:p>
            <a:pPr algn="r"/>
            <a:r>
              <a:rPr lang="ar-DZ" b="1" dirty="0" smtClean="0">
                <a:solidFill>
                  <a:srgbClr val="7030A0"/>
                </a:solidFill>
              </a:rPr>
              <a:t>ج:1</a:t>
            </a:r>
            <a:r>
              <a:rPr lang="ar-DZ" b="1" dirty="0" smtClean="0"/>
              <a:t>لا يمكننا مسك الماء </a:t>
            </a:r>
            <a:r>
              <a:rPr lang="ar-DZ" b="1" dirty="0" err="1" smtClean="0"/>
              <a:t>با</a:t>
            </a:r>
            <a:r>
              <a:rPr lang="ar-DZ" b="1" dirty="0" smtClean="0"/>
              <a:t> اليد ولا يتغير حجمه عند إعادة سكبه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</a:rPr>
              <a:t> ج2:</a:t>
            </a:r>
            <a:r>
              <a:rPr lang="ar-DZ" b="1" dirty="0" smtClean="0"/>
              <a:t> الماء يأخذ شكل الإناء الموضوع فيه </a:t>
            </a:r>
            <a:r>
              <a:rPr lang="ar-DZ" b="1" dirty="0" err="1" smtClean="0"/>
              <a:t>نلاحض</a:t>
            </a:r>
            <a:r>
              <a:rPr lang="ar-DZ" b="1" dirty="0" smtClean="0"/>
              <a:t> آن السطح الحر للماء </a:t>
            </a:r>
            <a:r>
              <a:rPr lang="ar-DZ" b="1" dirty="0" smtClean="0">
                <a:solidFill>
                  <a:schemeClr val="accent3">
                    <a:lumMod val="75000"/>
                  </a:schemeClr>
                </a:solidFill>
              </a:rPr>
              <a:t>مستوي أفقي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  <a:latin typeface="Calibri"/>
                <a:ea typeface="Times New Roman"/>
              </a:rPr>
              <a:t>ج3: </a:t>
            </a:r>
            <a:r>
              <a:rPr lang="ar-DZ" b="1" dirty="0" smtClean="0">
                <a:latin typeface="Calibri"/>
                <a:ea typeface="Times New Roman"/>
              </a:rPr>
              <a:t>نحس </a:t>
            </a:r>
            <a:r>
              <a:rPr lang="ar-DZ" b="1" dirty="0" err="1" smtClean="0">
                <a:latin typeface="Calibri"/>
                <a:ea typeface="Times New Roman"/>
              </a:rPr>
              <a:t>ان</a:t>
            </a:r>
            <a:r>
              <a:rPr lang="ar-DZ" b="1" dirty="0" smtClean="0">
                <a:latin typeface="Calibri"/>
                <a:ea typeface="Times New Roman"/>
              </a:rPr>
              <a:t> مكبس الإبرة لا يتقدم عند مواصلة الضغط يخرج الماء من خلال السدادة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  <a:latin typeface="Calibri"/>
              </a:rPr>
              <a:t>ج4</a:t>
            </a:r>
            <a:r>
              <a:rPr lang="ar-DZ" b="1" dirty="0" smtClean="0">
                <a:solidFill>
                  <a:schemeClr val="tx1"/>
                </a:solidFill>
                <a:latin typeface="Calibri"/>
              </a:rPr>
              <a:t>: الحالة الفيزيائية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</a:rPr>
              <a:t>لمصهور</a:t>
            </a:r>
            <a:r>
              <a:rPr lang="ar-DZ" b="1" dirty="0" smtClean="0">
                <a:solidFill>
                  <a:schemeClr val="tx1"/>
                </a:solidFill>
                <a:latin typeface="Calibri"/>
              </a:rPr>
              <a:t> الشمع سائلة وهو في شروط غير عادية بفعل درجة الحرارة نستنتج إن المواد السائلة تنقسم إلى مواد في </a:t>
            </a:r>
            <a:r>
              <a:rPr lang="ar-DZ" b="1" u="sng" dirty="0" smtClean="0">
                <a:solidFill>
                  <a:schemeClr val="accent3">
                    <a:lumMod val="75000"/>
                  </a:schemeClr>
                </a:solidFill>
                <a:latin typeface="Calibri"/>
              </a:rPr>
              <a:t>شروط عادية </a:t>
            </a:r>
            <a:r>
              <a:rPr lang="ar-DZ" b="1" dirty="0" err="1" smtClean="0">
                <a:solidFill>
                  <a:schemeClr val="tx1"/>
                </a:solidFill>
                <a:latin typeface="Calibri"/>
              </a:rPr>
              <a:t>و</a:t>
            </a:r>
            <a:r>
              <a:rPr lang="ar-DZ" b="1" dirty="0" smtClean="0">
                <a:solidFill>
                  <a:schemeClr val="tx1"/>
                </a:solidFill>
                <a:latin typeface="Calibri"/>
              </a:rPr>
              <a:t> مواد في </a:t>
            </a:r>
            <a:r>
              <a:rPr lang="ar-DZ" b="1" u="sng" dirty="0" smtClean="0">
                <a:solidFill>
                  <a:schemeClr val="accent3">
                    <a:lumMod val="75000"/>
                  </a:schemeClr>
                </a:solidFill>
                <a:latin typeface="Calibri"/>
              </a:rPr>
              <a:t>شروط غير عادية</a:t>
            </a:r>
            <a:endParaRPr lang="fr-FR" u="sng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11" grpId="0" animBg="1"/>
      <p:bldP spid="13" grpId="0" animBg="1"/>
      <p:bldP spid="17" grpId="0" animBg="1"/>
      <p:bldP spid="18" grpId="0" animBg="1"/>
      <p:bldP spid="20" grpId="0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ndir un rectangle avec un coin diagonal 14"/>
          <p:cNvSpPr/>
          <p:nvPr/>
        </p:nvSpPr>
        <p:spPr>
          <a:xfrm>
            <a:off x="1842658" y="2646219"/>
            <a:ext cx="6913416" cy="1731817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DZ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الخلاصة</a:t>
            </a:r>
            <a:r>
              <a:rPr lang="fr-FR" b="1" dirty="0" smtClean="0">
                <a:solidFill>
                  <a:srgbClr val="4BACC6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</a:t>
            </a:r>
            <a:endParaRPr lang="en-US" b="1" dirty="0" smtClean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تتميز الأجسام السائلة انه ليس لها شكل ثابت </a:t>
            </a:r>
            <a:r>
              <a:rPr lang="ar-DZ" b="1" dirty="0" smtClean="0">
                <a:solidFill>
                  <a:srgbClr val="00B05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قابلة للسكب والجريان-غير قابلة للانضغاط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</a:t>
            </a:r>
            <a:r>
              <a:rPr lang="ar-DZ" b="1" dirty="0" err="1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تاخد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شكل الإناء المسكوب</a:t>
            </a:r>
            <a:r>
              <a:rPr lang="fr-FR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فيه</a:t>
            </a:r>
            <a:r>
              <a:rPr lang="fr-FR" b="1" dirty="0" smtClean="0">
                <a:solidFill>
                  <a:srgbClr val="00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*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يكون سطح السائل في حالة راحة </a:t>
            </a:r>
            <a:r>
              <a:rPr lang="ar-DZ" b="1" u="sng" dirty="0" smtClean="0">
                <a:solidFill>
                  <a:srgbClr val="00B05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مستوي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أفقي</a:t>
            </a:r>
            <a:endParaRPr lang="en-US" b="1" dirty="0" smtClean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* تنقسم  الأجسام السائلة إلى مواد في </a:t>
            </a:r>
            <a:r>
              <a:rPr lang="ar-DZ" b="1" u="sng" dirty="0" smtClean="0">
                <a:solidFill>
                  <a:srgbClr val="00B05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شروط عادية</a:t>
            </a:r>
            <a:r>
              <a:rPr lang="ar-DZ" b="1" u="sng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ar-DZ" b="1" dirty="0" err="1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و</a:t>
            </a:r>
            <a:r>
              <a:rPr lang="ar-DZ" b="1" dirty="0" smtClean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مواد </a:t>
            </a:r>
            <a:r>
              <a:rPr lang="ar-DZ" b="1" dirty="0" smtClean="0">
                <a:solidFill>
                  <a:srgbClr val="00B05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في </a:t>
            </a:r>
            <a:r>
              <a:rPr lang="ar-DZ" b="1" u="sng" dirty="0" smtClean="0">
                <a:solidFill>
                  <a:srgbClr val="00B05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شروط غير عادية</a:t>
            </a:r>
          </a:p>
        </p:txBody>
      </p:sp>
      <p:sp>
        <p:nvSpPr>
          <p:cNvPr id="18" name="Organigramme : Alternative 17"/>
          <p:cNvSpPr/>
          <p:nvPr/>
        </p:nvSpPr>
        <p:spPr>
          <a:xfrm>
            <a:off x="1842654" y="498763"/>
            <a:ext cx="6927273" cy="1025237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 smtClean="0">
                <a:solidFill>
                  <a:schemeClr val="tx1"/>
                </a:solidFill>
              </a:rPr>
              <a:t>تقويم</a:t>
            </a:r>
            <a:r>
              <a:rPr lang="ar-DZ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ar-DZ" sz="2000" b="1" dirty="0" smtClean="0">
              <a:solidFill>
                <a:schemeClr val="tx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tx1"/>
                </a:solidFill>
              </a:rPr>
              <a:t>قم بسكب كمية من الدقيق  في ببشر </a:t>
            </a:r>
            <a:r>
              <a:rPr lang="ar-DZ" sz="2000" b="1" dirty="0" err="1" smtClean="0">
                <a:solidFill>
                  <a:schemeClr val="tx1"/>
                </a:solidFill>
              </a:rPr>
              <a:t>ماهو</a:t>
            </a:r>
            <a:r>
              <a:rPr lang="ar-DZ" sz="2000" b="1" dirty="0" smtClean="0">
                <a:solidFill>
                  <a:schemeClr val="tx1"/>
                </a:solidFill>
              </a:rPr>
              <a:t> شكل الذي </a:t>
            </a:r>
            <a:r>
              <a:rPr lang="ar-DZ" sz="2000" b="1" dirty="0" err="1" smtClean="0">
                <a:solidFill>
                  <a:schemeClr val="tx1"/>
                </a:solidFill>
              </a:rPr>
              <a:t>ياخده</a:t>
            </a:r>
            <a:r>
              <a:rPr lang="ar-DZ" sz="2000" b="1" dirty="0" smtClean="0">
                <a:solidFill>
                  <a:schemeClr val="tx1"/>
                </a:solidFill>
              </a:rPr>
              <a:t> الرمل هل يمكن اعتباره جسم 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9" name="Organigramme : Alternative 18"/>
          <p:cNvSpPr/>
          <p:nvPr/>
        </p:nvSpPr>
        <p:spPr>
          <a:xfrm>
            <a:off x="1981199" y="1593273"/>
            <a:ext cx="6844145" cy="886692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ar-DZ" b="1" dirty="0" smtClean="0"/>
              <a:t>الدقيق </a:t>
            </a:r>
            <a:r>
              <a:rPr lang="ar-DZ" b="1" dirty="0" err="1" smtClean="0"/>
              <a:t>ياخد</a:t>
            </a:r>
            <a:r>
              <a:rPr lang="ar-DZ" b="1" dirty="0" smtClean="0"/>
              <a:t> شكل </a:t>
            </a:r>
            <a:r>
              <a:rPr lang="ar-DZ" b="1" dirty="0" err="1" smtClean="0"/>
              <a:t>البيشر</a:t>
            </a:r>
            <a:r>
              <a:rPr lang="ar-DZ" b="1" dirty="0" smtClean="0"/>
              <a:t> و لكن لا يمكننا اعتباره جسم سائل </a:t>
            </a:r>
            <a:r>
              <a:rPr lang="ar-DZ" b="1" dirty="0" err="1" smtClean="0"/>
              <a:t>لانه</a:t>
            </a:r>
            <a:r>
              <a:rPr lang="ar-DZ" b="1" dirty="0" smtClean="0"/>
              <a:t> قابل للمسك </a:t>
            </a:r>
            <a:r>
              <a:rPr lang="ar-DZ" b="1" dirty="0" err="1" smtClean="0"/>
              <a:t>با</a:t>
            </a:r>
            <a:r>
              <a:rPr lang="ar-DZ" b="1" dirty="0" smtClean="0"/>
              <a:t> اليد </a:t>
            </a:r>
            <a:r>
              <a:rPr lang="ar-DZ" b="1" dirty="0" err="1" smtClean="0"/>
              <a:t>و</a:t>
            </a:r>
            <a:r>
              <a:rPr lang="ar-DZ" b="1" dirty="0" smtClean="0"/>
              <a:t> سطحه الحر </a:t>
            </a:r>
            <a:r>
              <a:rPr lang="ar-DZ" b="1" u="sng" dirty="0" smtClean="0">
                <a:solidFill>
                  <a:srgbClr val="00B050"/>
                </a:solidFill>
              </a:rPr>
              <a:t>ليس مستوي  </a:t>
            </a:r>
            <a:endParaRPr lang="fr-FR" u="sng" dirty="0">
              <a:solidFill>
                <a:srgbClr val="00B050"/>
              </a:solidFill>
            </a:endParaRPr>
          </a:p>
        </p:txBody>
      </p:sp>
      <p:pic>
        <p:nvPicPr>
          <p:cNvPr id="1032" name="Picture 8" descr="ØµÙØ±Ø© Ø°Ø§Øª ØµÙØ©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1418" y="4488874"/>
            <a:ext cx="4128655" cy="19697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https://cf1.s3.souqcdn.com/item/2018/11/01/37/65/49/27/item_XL_37654927_2c07f2845489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71668"/>
            <a:ext cx="1625130" cy="1261787"/>
          </a:xfrm>
          <a:prstGeom prst="rect">
            <a:avLst/>
          </a:prstGeom>
          <a:noFill/>
        </p:spPr>
      </p:pic>
      <p:pic>
        <p:nvPicPr>
          <p:cNvPr id="3" name="Imag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3236" y="1136072"/>
            <a:ext cx="1911928" cy="1246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6" name="Arrondir un rectangle avec un coin diagonal 5"/>
          <p:cNvSpPr/>
          <p:nvPr/>
        </p:nvSpPr>
        <p:spPr>
          <a:xfrm>
            <a:off x="5019304" y="311134"/>
            <a:ext cx="3887384" cy="46800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u="sng" dirty="0" smtClean="0">
                <a:solidFill>
                  <a:schemeClr val="accent6">
                    <a:lumMod val="50000"/>
                  </a:schemeClr>
                </a:solidFill>
                <a:latin typeface="Batang" pitchFamily="18" charset="-127"/>
                <a:ea typeface="Batang" pitchFamily="18" charset="-127"/>
              </a:rPr>
              <a:t>الوضعية التعليمة 3 </a:t>
            </a:r>
            <a:r>
              <a:rPr lang="ar-DZ" sz="2000" b="1" dirty="0" smtClean="0">
                <a:solidFill>
                  <a:schemeClr val="tx1"/>
                </a:solidFill>
              </a:rPr>
              <a:t>:</a:t>
            </a:r>
            <a:r>
              <a:rPr lang="ar-DZ" sz="2000" b="1" dirty="0" smtClean="0"/>
              <a:t> </a:t>
            </a:r>
            <a:r>
              <a:rPr lang="ar-DZ" sz="2000" b="1" dirty="0" smtClean="0">
                <a:solidFill>
                  <a:schemeClr val="tx1"/>
                </a:solidFill>
              </a:rPr>
              <a:t>خصائص الحالة الغازية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8" name="Arrondir un rectangle avec un coin diagonal 7"/>
          <p:cNvSpPr/>
          <p:nvPr/>
        </p:nvSpPr>
        <p:spPr>
          <a:xfrm>
            <a:off x="2396836" y="858983"/>
            <a:ext cx="6539346" cy="2230582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2549236" y="928255"/>
          <a:ext cx="6137563" cy="2400808"/>
        </p:xfrm>
        <a:graphic>
          <a:graphicData uri="http://schemas.openxmlformats.org/drawingml/2006/table">
            <a:tbl>
              <a:tblPr/>
              <a:tblGrid>
                <a:gridCol w="6137563"/>
              </a:tblGrid>
              <a:tr h="2092036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خد 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مضخة هواء يلتصق </a:t>
                      </a:r>
                      <a:r>
                        <a:rPr lang="ar-DZ" sz="1800" b="1" dirty="0" err="1">
                          <a:latin typeface="Calibri"/>
                          <a:ea typeface="Times New Roman"/>
                          <a:cs typeface="Arial"/>
                        </a:rPr>
                        <a:t>بها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 أنبوب متصل بكيس مطاطي نقوم بضخ 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الهواء</a:t>
                      </a: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r>
                        <a:rPr lang="ar-DZ" sz="1800" b="1" dirty="0">
                          <a:solidFill>
                            <a:srgbClr val="7030A0"/>
                          </a:solidFill>
                          <a:latin typeface="Calibri"/>
                          <a:ea typeface="Times New Roman"/>
                          <a:cs typeface="Arial"/>
                        </a:rPr>
                        <a:t>س1: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مادا تلاحظ؟ أعد نفس التجربة ولكن نغير شكل الكيس المطاطي مادا تلاحظ؟ </a:t>
                      </a:r>
                      <a:endParaRPr lang="ar-DZ" sz="1800" b="1" dirty="0" smtClean="0"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      مادا </a:t>
                      </a:r>
                      <a:r>
                        <a:rPr lang="ar-DZ" sz="1800" b="1" dirty="0">
                          <a:latin typeface="Calibri"/>
                          <a:ea typeface="Times New Roman"/>
                          <a:cs typeface="Arial"/>
                        </a:rPr>
                        <a:t>تستنتج فيما يخص خواص الأجسام 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الغازية 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r>
                        <a:rPr lang="ar-DZ" sz="1800" b="1" dirty="0" smtClean="0">
                          <a:solidFill>
                            <a:srgbClr val="7030A0"/>
                          </a:solidFill>
                          <a:latin typeface="Calibri"/>
                          <a:ea typeface="Times New Roman"/>
                          <a:cs typeface="Arial"/>
                        </a:rPr>
                        <a:t>س2: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خد إبرة بلاستكية مسدودة </a:t>
                      </a:r>
                      <a:r>
                        <a:rPr lang="ar-DZ" sz="1800" b="1" dirty="0" err="1" smtClean="0">
                          <a:latin typeface="Calibri"/>
                          <a:ea typeface="Times New Roman"/>
                          <a:cs typeface="Arial"/>
                        </a:rPr>
                        <a:t>باحكام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 قم </a:t>
                      </a:r>
                      <a:r>
                        <a:rPr lang="ar-DZ" sz="1800" b="1" dirty="0" err="1" smtClean="0">
                          <a:latin typeface="Calibri"/>
                          <a:ea typeface="Times New Roman"/>
                          <a:cs typeface="Arial"/>
                        </a:rPr>
                        <a:t>با</a:t>
                      </a:r>
                      <a:r>
                        <a:rPr lang="ar-DZ" sz="1800" b="1" dirty="0" smtClean="0">
                          <a:latin typeface="Calibri"/>
                          <a:ea typeface="Times New Roman"/>
                          <a:cs typeface="Arial"/>
                        </a:rPr>
                        <a:t> الضغط على مكبسها مادا تلاحظ ؟ ماذا تستنتج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endParaRPr lang="fr-FR" sz="1800" b="1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2673927" y="3199153"/>
          <a:ext cx="6096000" cy="280416"/>
        </p:xfrm>
        <a:graphic>
          <a:graphicData uri="http://schemas.openxmlformats.org/drawingml/2006/table">
            <a:tbl>
              <a:tblPr/>
              <a:tblGrid>
                <a:gridCol w="6096000"/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-540385" algn="l"/>
                        </a:tabLst>
                      </a:pPr>
                      <a:r>
                        <a:rPr lang="ar-DZ" sz="1600" b="1" dirty="0" smtClean="0">
                          <a:solidFill>
                            <a:srgbClr val="0070C0"/>
                          </a:solidFill>
                          <a:latin typeface="Calibri"/>
                          <a:ea typeface="Times New Roman"/>
                          <a:cs typeface="Arial"/>
                        </a:rPr>
                        <a:t> *أجسام غازية  </a:t>
                      </a:r>
                      <a:r>
                        <a:rPr lang="ar-DZ" sz="1600" b="1" dirty="0">
                          <a:solidFill>
                            <a:srgbClr val="0070C0"/>
                          </a:solidFill>
                          <a:latin typeface="Calibri"/>
                          <a:ea typeface="Times New Roman"/>
                          <a:cs typeface="Arial"/>
                        </a:rPr>
                        <a:t>في الشروط العادية </a:t>
                      </a:r>
                      <a:r>
                        <a:rPr lang="ar-DZ" sz="1600" b="1" dirty="0" err="1">
                          <a:solidFill>
                            <a:srgbClr val="0070C0"/>
                          </a:solidFill>
                          <a:latin typeface="Calibri"/>
                          <a:ea typeface="Times New Roman"/>
                          <a:cs typeface="Arial"/>
                        </a:rPr>
                        <a:t>و</a:t>
                      </a:r>
                      <a:r>
                        <a:rPr lang="ar-DZ" sz="1600" b="1" dirty="0">
                          <a:solidFill>
                            <a:srgbClr val="0070C0"/>
                          </a:solidFill>
                          <a:latin typeface="Calibri"/>
                          <a:ea typeface="Times New Roman"/>
                          <a:cs typeface="Arial"/>
                        </a:rPr>
                        <a:t> الشروط غير </a:t>
                      </a:r>
                      <a:r>
                        <a:rPr lang="ar-DZ" sz="1600" b="1" dirty="0" smtClean="0">
                          <a:solidFill>
                            <a:srgbClr val="0070C0"/>
                          </a:solidFill>
                          <a:latin typeface="Calibri"/>
                          <a:ea typeface="Times New Roman"/>
                          <a:cs typeface="Arial"/>
                        </a:rPr>
                        <a:t>عادية</a:t>
                      </a:r>
                      <a:endParaRPr lang="fr-FR" sz="1600" dirty="0">
                        <a:solidFill>
                          <a:srgbClr val="0070C0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8" name="Image 17" descr="ÙØªÙØ¬Ø© Ø¨Ø­Ø« Ø§ÙØµÙØ± Ø¹Ù ÙØ¶ØºØ© ÙØ¯ÙÙØ©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63092" y="3408219"/>
            <a:ext cx="1385455" cy="1062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2" name="AutoShape 2"/>
          <p:cNvSpPr>
            <a:spLocks noChangeArrowheads="1"/>
          </p:cNvSpPr>
          <p:nvPr/>
        </p:nvSpPr>
        <p:spPr bwMode="auto">
          <a:xfrm>
            <a:off x="1856509" y="3602182"/>
            <a:ext cx="983673" cy="387927"/>
          </a:xfrm>
          <a:prstGeom prst="leftArrow">
            <a:avLst>
              <a:gd name="adj1" fmla="val 50000"/>
              <a:gd name="adj2" fmla="val 41489"/>
            </a:avLst>
          </a:prstGeom>
          <a:solidFill>
            <a:srgbClr val="C0504D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5" name="Arrondir un rectangle avec un coin diagonal 24"/>
          <p:cNvSpPr/>
          <p:nvPr/>
        </p:nvSpPr>
        <p:spPr>
          <a:xfrm>
            <a:off x="4682836" y="3532909"/>
            <a:ext cx="4073237" cy="997527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ar-DZ" b="1" dirty="0" smtClean="0"/>
              <a:t>دائما ما نلاحظ عند تسخين الماء انطلاق بخار</a:t>
            </a:r>
          </a:p>
          <a:p>
            <a:pPr algn="r" rtl="1"/>
            <a:r>
              <a:rPr lang="ar-DZ" b="1" dirty="0" smtClean="0"/>
              <a:t>س1:</a:t>
            </a:r>
            <a:r>
              <a:rPr lang="ar-DZ" b="1" dirty="0" err="1" smtClean="0"/>
              <a:t>ماهي</a:t>
            </a:r>
            <a:r>
              <a:rPr lang="ar-DZ" b="1" dirty="0" smtClean="0"/>
              <a:t> الحالة الفيزيائية للبخار هل هو في شروط عادية </a:t>
            </a:r>
            <a:endParaRPr lang="fr-FR" b="1" dirty="0"/>
          </a:p>
        </p:txBody>
      </p:sp>
      <p:sp>
        <p:nvSpPr>
          <p:cNvPr id="26" name="Arrondir un rectangle avec un coin diagonal 25"/>
          <p:cNvSpPr/>
          <p:nvPr/>
        </p:nvSpPr>
        <p:spPr>
          <a:xfrm>
            <a:off x="1593273" y="4613563"/>
            <a:ext cx="7329054" cy="1537856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b="1" dirty="0" smtClean="0"/>
          </a:p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الجواب</a:t>
            </a:r>
          </a:p>
          <a:p>
            <a:pPr indent="179388" algn="r"/>
            <a:r>
              <a:rPr lang="ar-DZ" b="1" dirty="0" smtClean="0">
                <a:solidFill>
                  <a:srgbClr val="7030A0"/>
                </a:solidFill>
              </a:rPr>
              <a:t>ج1:</a:t>
            </a:r>
            <a:r>
              <a:rPr lang="ar-DZ" b="1" dirty="0" smtClean="0">
                <a:solidFill>
                  <a:schemeClr val="tx1"/>
                </a:solidFill>
              </a:rPr>
              <a:t> نلاحظ انتفاخ الكيس في كلتا التجربتين أي آن الهواء أخد شكل الكيس الذي ضخ في</a:t>
            </a:r>
          </a:p>
          <a:p>
            <a:pPr algn="r" rtl="1"/>
            <a:r>
              <a:rPr lang="ar-DZ" b="1" dirty="0" smtClean="0">
                <a:solidFill>
                  <a:schemeClr val="tx1"/>
                </a:solidFill>
              </a:rPr>
              <a:t>نستنتج أن الهواء ليس له شكل محدد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</a:rPr>
              <a:t>ج2:</a:t>
            </a:r>
            <a:r>
              <a:rPr lang="ar-DZ" b="1" dirty="0" err="1" smtClean="0">
                <a:solidFill>
                  <a:schemeClr val="tx1"/>
                </a:solidFill>
              </a:rPr>
              <a:t>نلاحض</a:t>
            </a:r>
            <a:r>
              <a:rPr lang="ar-DZ" b="1" dirty="0" smtClean="0">
                <a:solidFill>
                  <a:schemeClr val="tx1"/>
                </a:solidFill>
              </a:rPr>
              <a:t> انضغاط </a:t>
            </a:r>
            <a:r>
              <a:rPr lang="ar-DZ" b="1" dirty="0" err="1" smtClean="0">
                <a:solidFill>
                  <a:schemeClr val="tx1"/>
                </a:solidFill>
              </a:rPr>
              <a:t>البرة</a:t>
            </a:r>
            <a:r>
              <a:rPr lang="ar-DZ" b="1" dirty="0" smtClean="0">
                <a:solidFill>
                  <a:schemeClr val="tx1"/>
                </a:solidFill>
              </a:rPr>
              <a:t> تدريجيا نستنتج </a:t>
            </a:r>
            <a:r>
              <a:rPr lang="ar-DZ" b="1" dirty="0" err="1" smtClean="0">
                <a:solidFill>
                  <a:schemeClr val="tx1"/>
                </a:solidFill>
              </a:rPr>
              <a:t>ان</a:t>
            </a:r>
            <a:r>
              <a:rPr lang="ar-DZ" b="1" dirty="0" smtClean="0">
                <a:solidFill>
                  <a:schemeClr val="tx1"/>
                </a:solidFill>
              </a:rPr>
              <a:t> الأجسام الغازية قابلة للانضغاط</a:t>
            </a:r>
          </a:p>
          <a:p>
            <a:pPr algn="r" rtl="1"/>
            <a:r>
              <a:rPr lang="ar-DZ" b="1" dirty="0" smtClean="0">
                <a:solidFill>
                  <a:srgbClr val="7030A0"/>
                </a:solidFill>
              </a:rPr>
              <a:t>ج3:</a:t>
            </a:r>
            <a:r>
              <a:rPr lang="ar-DZ" b="1" dirty="0" smtClean="0">
                <a:solidFill>
                  <a:schemeClr val="tx1"/>
                </a:solidFill>
              </a:rPr>
              <a:t>الحالة الفيزيائية لبخار </a:t>
            </a:r>
            <a:r>
              <a:rPr lang="ar-DZ" b="1" dirty="0" err="1" smtClean="0">
                <a:solidFill>
                  <a:schemeClr val="tx1"/>
                </a:solidFill>
              </a:rPr>
              <a:t>الما</a:t>
            </a:r>
            <a:r>
              <a:rPr lang="ar-DZ" b="1" dirty="0" smtClean="0">
                <a:solidFill>
                  <a:schemeClr val="tx1"/>
                </a:solidFill>
              </a:rPr>
              <a:t> هي غازية لكن في شروط غير طبيعية بفعل درجة الحرارة</a:t>
            </a:r>
            <a:r>
              <a:rPr lang="ar-DZ" b="1" dirty="0" smtClean="0"/>
              <a:t> </a:t>
            </a:r>
          </a:p>
          <a:p>
            <a:pPr algn="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1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0482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1808594" y="209117"/>
            <a:ext cx="7335406" cy="12600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19050" cap="rnd">
            <a:solidFill>
              <a:srgbClr val="7030A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DZ" sz="2000" b="1" i="0" u="none" strike="noStrike" cap="none" normalizeH="0" baseline="0" dirty="0" smtClean="0">
                <a:ln>
                  <a:noFill/>
                </a:ln>
                <a:solidFill>
                  <a:srgbClr val="31849B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تقويم: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DZ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نشب حريق في منزل جيران احمد  مما أدى إلى ظهور الدخان فشتم احد رائحة الحريق فسارع للمساعد</a:t>
            </a:r>
            <a:endParaRPr kumimoji="0" lang="fr-F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DZ" sz="1600" b="1" i="0" u="none" strike="noStrike" cap="none" normalizeH="0" baseline="0" dirty="0" smtClean="0">
                <a:ln>
                  <a:noFill/>
                </a:ln>
                <a:solidFill>
                  <a:srgbClr val="31849B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س:</a:t>
            </a:r>
            <a:r>
              <a:rPr kumimoji="0" lang="ar-DZ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ar-DZ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ماهي</a:t>
            </a:r>
            <a:r>
              <a:rPr kumimoji="0" lang="ar-DZ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الحالة الفيزيائية للدخان ؟ اذكر خاصية أخرى التي تتميز </a:t>
            </a:r>
            <a:r>
              <a:rPr kumimoji="0" lang="ar-DZ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بها</a:t>
            </a:r>
            <a:r>
              <a:rPr kumimoji="0" lang="ar-DZ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الأجسام الغازية</a:t>
            </a:r>
            <a:endParaRPr kumimoji="0" lang="fr-FR" sz="1400" b="1" i="0" u="none" strike="noStrike" cap="none" normalizeH="0" baseline="0" dirty="0" smtClean="0">
              <a:ln>
                <a:noFill/>
              </a:ln>
              <a:solidFill>
                <a:srgbClr val="31849B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fr-FR" sz="1100" b="1" i="0" u="none" strike="noStrike" cap="none" normalizeH="0" baseline="0" dirty="0" smtClean="0">
              <a:ln>
                <a:noFill/>
              </a:ln>
              <a:solidFill>
                <a:srgbClr val="31849B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fr-FR" sz="1100" b="1" i="0" u="none" strike="noStrike" cap="none" normalizeH="0" baseline="0" dirty="0" smtClean="0">
              <a:ln>
                <a:noFill/>
              </a:ln>
              <a:solidFill>
                <a:srgbClr val="31849B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rganigramme : Alternative 3"/>
          <p:cNvSpPr/>
          <p:nvPr/>
        </p:nvSpPr>
        <p:spPr>
          <a:xfrm>
            <a:off x="1316181" y="1482437"/>
            <a:ext cx="7620001" cy="1025238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 smtClean="0">
                <a:solidFill>
                  <a:schemeClr val="tx1"/>
                </a:solidFill>
              </a:rPr>
              <a:t>الحل</a:t>
            </a:r>
          </a:p>
          <a:p>
            <a:pPr algn="r"/>
            <a:r>
              <a:rPr lang="ar-DZ" b="1" dirty="0" smtClean="0">
                <a:solidFill>
                  <a:schemeClr val="tx1"/>
                </a:solidFill>
              </a:rPr>
              <a:t>*الحالة الفيزيائية للدخان هي حالة غازية *خاصية </a:t>
            </a:r>
            <a:r>
              <a:rPr lang="ar-DZ" b="1" dirty="0" err="1" smtClean="0">
                <a:solidFill>
                  <a:schemeClr val="tx1"/>
                </a:solidFill>
              </a:rPr>
              <a:t>اخرى</a:t>
            </a:r>
            <a:r>
              <a:rPr lang="ar-DZ" b="1" dirty="0" smtClean="0">
                <a:solidFill>
                  <a:schemeClr val="tx1"/>
                </a:solidFill>
              </a:rPr>
              <a:t> تتميز </a:t>
            </a:r>
            <a:r>
              <a:rPr lang="ar-DZ" b="1" dirty="0" err="1" smtClean="0">
                <a:solidFill>
                  <a:schemeClr val="tx1"/>
                </a:solidFill>
              </a:rPr>
              <a:t>بها</a:t>
            </a:r>
            <a:r>
              <a:rPr lang="ar-DZ" b="1" dirty="0" smtClean="0">
                <a:solidFill>
                  <a:schemeClr val="tx1"/>
                </a:solidFill>
              </a:rPr>
              <a:t> الغازات هي خاصية </a:t>
            </a:r>
            <a:r>
              <a:rPr lang="ar-DZ" b="1" dirty="0" smtClean="0">
                <a:solidFill>
                  <a:srgbClr val="00B050"/>
                </a:solidFill>
              </a:rPr>
              <a:t>الانتشار</a:t>
            </a:r>
          </a:p>
        </p:txBody>
      </p:sp>
      <p:pic>
        <p:nvPicPr>
          <p:cNvPr id="2" name="Picture 2" descr="ÙØªÙØ¬Ø© Ø¨Ø­Ø« Ø§ÙØµÙØ± Ø¹Ù Ø­Ø±ÙÙ ÙØ±ØªÙÙ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975" y="2892394"/>
            <a:ext cx="2213697" cy="2138901"/>
          </a:xfrm>
          <a:prstGeom prst="rect">
            <a:avLst/>
          </a:prstGeom>
          <a:noFill/>
        </p:spPr>
      </p:pic>
      <p:pic>
        <p:nvPicPr>
          <p:cNvPr id="1028" name="Picture 4" descr="ÙØªÙØ¬Ø© Ø¨Ø­Ø« Ø§ÙØµÙØ± Ø¹Ù Ø¯Ø®Ø§Ù ÙØ±ØªÙÙ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230" y="2744211"/>
            <a:ext cx="2185843" cy="1419226"/>
          </a:xfrm>
          <a:prstGeom prst="rect">
            <a:avLst/>
          </a:prstGeom>
          <a:noFill/>
        </p:spPr>
      </p:pic>
      <p:sp>
        <p:nvSpPr>
          <p:cNvPr id="7" name="Flèche droite 6"/>
          <p:cNvSpPr/>
          <p:nvPr/>
        </p:nvSpPr>
        <p:spPr>
          <a:xfrm>
            <a:off x="3103419" y="4087091"/>
            <a:ext cx="1690254" cy="31865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3131129" y="4627419"/>
            <a:ext cx="14270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ar-DZ" b="1" dirty="0" smtClean="0"/>
              <a:t>انتشار الدخان </a:t>
            </a:r>
            <a:endParaRPr lang="fr-FR" b="1" dirty="0"/>
          </a:p>
        </p:txBody>
      </p:sp>
      <p:pic>
        <p:nvPicPr>
          <p:cNvPr id="1030" name="Picture 6" descr="ÙØªÙØ¬Ø© Ø¨Ø­Ø« Ø§ÙØµÙØ± Ø¹Ù Ø·ÙÙ ÙØ±ØªÙÙ ÙØ¶Ø­Ù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34394" y="2867891"/>
            <a:ext cx="1989859" cy="1551709"/>
          </a:xfrm>
          <a:prstGeom prst="rect">
            <a:avLst/>
          </a:prstGeom>
          <a:noFill/>
        </p:spPr>
      </p:pic>
      <p:sp>
        <p:nvSpPr>
          <p:cNvPr id="10" name="ZoneTexte 9"/>
          <p:cNvSpPr txBox="1"/>
          <p:nvPr/>
        </p:nvSpPr>
        <p:spPr>
          <a:xfrm>
            <a:off x="5112326" y="4544291"/>
            <a:ext cx="22444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اشتمام رائحة الدخان </a:t>
            </a:r>
            <a:r>
              <a:rPr lang="ar-DZ" b="1" dirty="0" err="1" smtClean="0"/>
              <a:t>و</a:t>
            </a:r>
            <a:r>
              <a:rPr lang="ar-DZ" b="1" dirty="0" smtClean="0"/>
              <a:t> المسارعة </a:t>
            </a:r>
            <a:r>
              <a:rPr lang="ar-DZ" b="1" dirty="0" err="1" smtClean="0"/>
              <a:t>الى</a:t>
            </a:r>
            <a:r>
              <a:rPr lang="ar-DZ" b="1" dirty="0" smtClean="0"/>
              <a:t> النجدة </a:t>
            </a:r>
            <a:endParaRPr lang="fr-FR" b="1" dirty="0"/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>
            <a:off x="1108364" y="5351319"/>
            <a:ext cx="7910946" cy="1104900"/>
          </a:xfrm>
          <a:prstGeom prst="flowChartAlternateProcess">
            <a:avLst/>
          </a:prstGeom>
          <a:solidFill>
            <a:srgbClr val="EEECE1"/>
          </a:solidFill>
          <a:ln w="6350">
            <a:solidFill>
              <a:srgbClr val="7030A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DZ" b="1" i="0" u="none" strike="noStrike" cap="none" normalizeH="0" baseline="0" dirty="0" err="1" smtClean="0">
                <a:ln>
                  <a:noFill/>
                </a:ln>
                <a:solidFill>
                  <a:srgbClr val="31849B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الخلاصةا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31849B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الأجسام الغازية ليس لها حجم معين أو شكل معين </a:t>
            </a:r>
            <a:r>
              <a:rPr kumimoji="0" lang="ar-DZ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و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هي 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قابلة للانضغاط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ar-DZ" b="1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و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الانتشار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ar-DZ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و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تنقسم الأجسام غازية في 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شروط عادية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مثل الهواء </a:t>
            </a:r>
            <a:r>
              <a:rPr kumimoji="0" lang="ar-DZ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و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أجسام غازية في شروط 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غير عادية</a:t>
            </a:r>
            <a:r>
              <a:rPr kumimoji="0" lang="ar-D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مثل الدخان</a:t>
            </a: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nimBg="1"/>
      <p:bldP spid="4" grpId="0" animBg="1"/>
      <p:bldP spid="7" grpId="0" animBg="1"/>
      <p:bldP spid="8" grpId="0" animBg="1"/>
      <p:bldP spid="10" grpId="0" animBg="1"/>
      <p:bldP spid="10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44983" y="498764"/>
            <a:ext cx="336665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ar-DZ" dirty="0" smtClean="0"/>
              <a:t>يوجد حالة </a:t>
            </a:r>
            <a:r>
              <a:rPr lang="ar-DZ" dirty="0" err="1" smtClean="0"/>
              <a:t>اخرى</a:t>
            </a:r>
            <a:r>
              <a:rPr lang="ar-DZ" dirty="0" smtClean="0"/>
              <a:t> للمادة يطلق عليها </a:t>
            </a:r>
            <a:r>
              <a:rPr lang="ar-DZ" b="1" dirty="0" smtClean="0">
                <a:solidFill>
                  <a:srgbClr val="7030A0"/>
                </a:solidFill>
              </a:rPr>
              <a:t>بلازما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54182" y="4114799"/>
            <a:ext cx="834043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وتطلق كلمة بلازما على أي غاز في حالة التأين، يتألف من عدد كبير من الجسيمات الموجبة الشحنة والسالبة الشحنة إضافةً إلى وجود حالات </a:t>
            </a:r>
            <a:r>
              <a:rPr lang="ar-DZ" b="1" dirty="0" err="1" smtClean="0"/>
              <a:t>اخرى</a:t>
            </a:r>
            <a:endParaRPr lang="fr-FR" b="1" dirty="0"/>
          </a:p>
        </p:txBody>
      </p:sp>
      <p:sp>
        <p:nvSpPr>
          <p:cNvPr id="7" name="Rectangle 6"/>
          <p:cNvSpPr/>
          <p:nvPr/>
        </p:nvSpPr>
        <p:spPr>
          <a:xfrm>
            <a:off x="1122218" y="3632309"/>
            <a:ext cx="732905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ar-DZ" b="1" dirty="0" smtClean="0"/>
              <a:t>في عام 1879 اكتشف العالم السير وليام </a:t>
            </a:r>
            <a:r>
              <a:rPr lang="ar-DZ" b="1" dirty="0" err="1" smtClean="0"/>
              <a:t>كروكس</a:t>
            </a:r>
            <a:r>
              <a:rPr lang="ar-DZ" b="1" dirty="0" smtClean="0"/>
              <a:t> البلازما </a:t>
            </a:r>
            <a:r>
              <a:rPr lang="ar-DZ" b="1" dirty="0" err="1" smtClean="0"/>
              <a:t>واطلق</a:t>
            </a:r>
            <a:r>
              <a:rPr lang="ar-DZ" b="1" dirty="0" smtClean="0"/>
              <a:t> عليها آنذاك “المادة الإشعاعية</a:t>
            </a:r>
            <a:r>
              <a:rPr lang="ar-DZ" dirty="0" smtClean="0"/>
              <a:t>”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400800" y="4835236"/>
            <a:ext cx="2438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ar-DZ" b="1" dirty="0" smtClean="0"/>
              <a:t>أمثلة عن </a:t>
            </a:r>
            <a:r>
              <a:rPr lang="ar-DZ" b="1" dirty="0" err="1" smtClean="0"/>
              <a:t>البلازماالنجوم</a:t>
            </a:r>
            <a:r>
              <a:rPr lang="ar-DZ" b="1" dirty="0" smtClean="0"/>
              <a:t>  </a:t>
            </a:r>
            <a:endParaRPr lang="fr-FR" b="1" dirty="0"/>
          </a:p>
        </p:txBody>
      </p:sp>
      <p:pic>
        <p:nvPicPr>
          <p:cNvPr id="1028" name="Picture 4" descr="ÙØªÙØ¬Ø© Ø¨Ø­Ø« Ø§ÙØµÙØ± Ø¹Ù Ø­Ø§ÙØ© Ø§ÙÙØ§Ø¯Ø© Ø¨ÙØ§Ø²ÙØ§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6555" y="845126"/>
            <a:ext cx="5497081" cy="2590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0" name="Picture 6" descr="ÙØªÙØ¬Ø© Ø¨Ø­Ø« Ø§ÙØµÙØ± Ø¹Ù Ø§ÙÙØ¬ÙÙ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34145" y="4875358"/>
            <a:ext cx="2477942" cy="1456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7030A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1562</TotalTime>
  <Words>949</Words>
  <Application>Microsoft Office PowerPoint</Application>
  <PresentationFormat>Affichage à l'écran (4:3)</PresentationFormat>
  <Paragraphs>106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Waveform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meguedad</dc:creator>
  <cp:lastModifiedBy>meguedad</cp:lastModifiedBy>
  <cp:revision>175</cp:revision>
  <dcterms:created xsi:type="dcterms:W3CDTF">2014-09-16T21:41:51Z</dcterms:created>
  <dcterms:modified xsi:type="dcterms:W3CDTF">2019-01-10T06:21:59Z</dcterms:modified>
</cp:coreProperties>
</file>