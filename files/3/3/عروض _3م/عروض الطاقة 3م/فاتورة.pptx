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0" r:id="rId2"/>
    <p:sldId id="265" r:id="rId3"/>
    <p:sldId id="261" r:id="rId4"/>
    <p:sldId id="262" r:id="rId5"/>
    <p:sldId id="256" r:id="rId6"/>
    <p:sldId id="257" r:id="rId7"/>
    <p:sldId id="259" r:id="rId8"/>
    <p:sldId id="263" r:id="rId9"/>
    <p:sldId id="264" r:id="rId10"/>
    <p:sldId id="258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6BD58-9395-4A3D-B945-677F7FFEB082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EE188-D11A-4510-A4E0-546A06A80C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AEE188-D11A-4510-A4E0-546A06A80C0C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5B17890-1D0B-4B06-890E-64807DF790FD}" type="datetimeFigureOut">
              <a:rPr lang="fr-FR" smtClean="0"/>
              <a:pPr/>
              <a:t>16/01/2019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6577C75-D597-4ED5-B574-5A860CB66C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611560" y="692696"/>
            <a:ext cx="7851648" cy="21602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6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abic Typesetting" pitchFamily="66" charset="-78"/>
                <a:ea typeface="+mj-ea"/>
                <a:cs typeface="Arabic Typesetting" pitchFamily="66" charset="-78"/>
              </a:rPr>
              <a:t>كيفية قراءة الفاتورة  الكهرباء </a:t>
            </a:r>
            <a:r>
              <a:rPr kumimoji="0" lang="ar-DZ" sz="66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abic Typesetting" pitchFamily="66" charset="-78"/>
                <a:ea typeface="+mj-ea"/>
                <a:cs typeface="Arabic Typesetting" pitchFamily="66" charset="-78"/>
              </a:rPr>
              <a:t>و</a:t>
            </a:r>
            <a:r>
              <a:rPr kumimoji="0" lang="ar-DZ" sz="6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abic Typesetting" pitchFamily="66" charset="-78"/>
                <a:ea typeface="+mj-ea"/>
                <a:cs typeface="Arabic Typesetting" pitchFamily="66" charset="-78"/>
              </a:rPr>
              <a:t> الغاز</a:t>
            </a:r>
            <a:br>
              <a:rPr kumimoji="0" lang="ar-DZ" sz="6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abic Typesetting" pitchFamily="66" charset="-78"/>
                <a:ea typeface="+mj-ea"/>
                <a:cs typeface="Arabic Typesetting" pitchFamily="66" charset="-78"/>
              </a:rPr>
            </a:br>
            <a:r>
              <a:rPr kumimoji="0" lang="ar-DZ" sz="6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abic Typesetting" pitchFamily="66" charset="-78"/>
                <a:ea typeface="+mj-ea"/>
                <a:cs typeface="Arabic Typesetting" pitchFamily="66" charset="-78"/>
              </a:rPr>
              <a:t>سنة 2017 </a:t>
            </a:r>
            <a:endParaRPr kumimoji="0" lang="fr-FR" sz="6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abic Typesetting" pitchFamily="66" charset="-78"/>
              <a:ea typeface="+mj-ea"/>
              <a:cs typeface="Arabic Typesetting" pitchFamily="66" charset="-78"/>
            </a:endParaRPr>
          </a:p>
        </p:txBody>
      </p:sp>
      <p:pic>
        <p:nvPicPr>
          <p:cNvPr id="5" name="Image 4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357158" y="2571744"/>
            <a:ext cx="8213504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42852"/>
            <a:ext cx="5286412" cy="650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428596" y="500042"/>
            <a:ext cx="8470450" cy="2304256"/>
          </a:xfrm>
        </p:spPr>
        <p:txBody>
          <a:bodyPr>
            <a:noAutofit/>
          </a:bodyPr>
          <a:lstStyle/>
          <a:p>
            <a:pPr algn="r"/>
            <a:r>
              <a:rPr lang="ar-DZ" sz="4400" u="sng" dirty="0" smtClean="0">
                <a:solidFill>
                  <a:srgbClr val="FF0000"/>
                </a:solidFill>
                <a:latin typeface="Arabic Typesetting" pitchFamily="66" charset="-78"/>
                <a:cs typeface="Arabic Typesetting" pitchFamily="66" charset="-78"/>
              </a:rPr>
              <a:t>تفاصيل  الفاتورة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/>
            </a:r>
            <a:br>
              <a:rPr lang="ar-DZ" sz="4400" dirty="0" smtClean="0">
                <a:latin typeface="Arabic Typesetting" pitchFamily="66" charset="-78"/>
                <a:cs typeface="Arabic Typesetting" pitchFamily="66" charset="-78"/>
              </a:rPr>
            </a:b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> تسلم الفاتورة الكهرباء و الغاز  من طرف شركة الكهرباء و الغاز إلى الزبون كل </a:t>
            </a:r>
            <a:r>
              <a:rPr lang="ar-DZ" sz="4400" dirty="0" err="1" smtClean="0">
                <a:latin typeface="Arabic Typesetting" pitchFamily="66" charset="-78"/>
                <a:cs typeface="Arabic Typesetting" pitchFamily="66" charset="-78"/>
              </a:rPr>
              <a:t>ثلاتة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> أشهر و هي تحتوي إلى </a:t>
            </a:r>
            <a:r>
              <a:rPr lang="ar-DZ" sz="4400" dirty="0" err="1" smtClean="0">
                <a:latin typeface="Arabic Typesetting" pitchFamily="66" charset="-78"/>
                <a:cs typeface="Arabic Typesetting" pitchFamily="66" charset="-78"/>
              </a:rPr>
              <a:t>قسمين .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/>
            </a:r>
            <a:br>
              <a:rPr lang="ar-DZ" sz="4400" dirty="0" smtClean="0">
                <a:latin typeface="Arabic Typesetting" pitchFamily="66" charset="-78"/>
                <a:cs typeface="Arabic Typesetting" pitchFamily="66" charset="-78"/>
              </a:rPr>
            </a:br>
            <a:endParaRPr lang="fr-FR" dirty="0"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5" name="Parchemin horizontal 4"/>
          <p:cNvSpPr/>
          <p:nvPr/>
        </p:nvSpPr>
        <p:spPr>
          <a:xfrm>
            <a:off x="214282" y="2571744"/>
            <a:ext cx="8748464" cy="3528392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4400" u="sng" dirty="0" smtClean="0">
                <a:solidFill>
                  <a:srgbClr val="FFFF00"/>
                </a:solidFill>
                <a:latin typeface="Arabic Typesetting" pitchFamily="66" charset="-78"/>
                <a:cs typeface="Arabic Typesetting" pitchFamily="66" charset="-78"/>
              </a:rPr>
              <a:t>القسم الأول :  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>نجد فيه معلومات خاصة بالشركة </a:t>
            </a:r>
            <a:r>
              <a:rPr lang="ar-DZ" sz="4400" dirty="0" err="1" smtClean="0">
                <a:latin typeface="Arabic Typesetting" pitchFamily="66" charset="-78"/>
                <a:cs typeface="Arabic Typesetting" pitchFamily="66" charset="-78"/>
              </a:rPr>
              <a:t>و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>الزبون </a:t>
            </a:r>
          </a:p>
          <a:p>
            <a:pPr algn="ctr"/>
            <a:r>
              <a:rPr lang="ar-DZ" sz="4400" u="sng" dirty="0" smtClean="0">
                <a:solidFill>
                  <a:srgbClr val="FFFF00"/>
                </a:solidFill>
                <a:latin typeface="Arabic Typesetting" pitchFamily="66" charset="-78"/>
                <a:cs typeface="Arabic Typesetting" pitchFamily="66" charset="-78"/>
              </a:rPr>
              <a:t>القسم </a:t>
            </a:r>
            <a:r>
              <a:rPr lang="ar-DZ" sz="4400" u="sng" dirty="0" smtClean="0">
                <a:solidFill>
                  <a:srgbClr val="FFFF00"/>
                </a:solidFill>
                <a:latin typeface="Arabic Typesetting" pitchFamily="66" charset="-78"/>
                <a:cs typeface="Arabic Typesetting" pitchFamily="66" charset="-78"/>
              </a:rPr>
              <a:t>الثاني :  </a:t>
            </a:r>
            <a:r>
              <a:rPr lang="ar-DZ" sz="4400" dirty="0" smtClean="0">
                <a:latin typeface="Arabic Typesetting" pitchFamily="66" charset="-78"/>
                <a:cs typeface="Arabic Typesetting" pitchFamily="66" charset="-78"/>
              </a:rPr>
              <a:t>نجد فيه تفاصيل الفاتورة و هو مقسم إلى قسمين</a:t>
            </a:r>
            <a:r>
              <a:rPr lang="ar-DZ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endParaRPr lang="fr-FR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357290" y="428604"/>
            <a:ext cx="75724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sz="4400" b="1" u="sng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القسم الأول</a:t>
            </a:r>
            <a:br>
              <a:rPr lang="ar-DZ" sz="4400" b="1" u="sng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</a:br>
            <a:r>
              <a:rPr lang="ar-DZ" sz="44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نجد في أعلى فاتورة معلومات خاصة بالشركة.</a:t>
            </a:r>
            <a:br>
              <a:rPr lang="ar-DZ" sz="44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</a:br>
            <a:r>
              <a:rPr lang="ar-DZ" sz="44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الشركة الجزائرية لتوزيع الكهرباء </a:t>
            </a:r>
            <a:r>
              <a:rPr lang="ar-DZ" sz="4400" b="1" dirty="0" err="1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و</a:t>
            </a:r>
            <a:r>
              <a:rPr lang="ar-DZ" sz="44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الغاز</a:t>
            </a:r>
            <a:endParaRPr lang="fr-FR" sz="4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Image 4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1857356" y="1285860"/>
            <a:ext cx="1441870" cy="93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643206"/>
            <a:ext cx="8429684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214414" y="2928934"/>
            <a:ext cx="7643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u="sng" dirty="0">
                <a:solidFill>
                  <a:srgbClr val="7030A0"/>
                </a:solidFill>
                <a:latin typeface="Adobe Devanagari" pitchFamily="18" charset="0"/>
              </a:rPr>
              <a:t>المرحلة </a:t>
            </a:r>
            <a:r>
              <a:rPr lang="ar-SA" b="1" u="sng" dirty="0" err="1">
                <a:solidFill>
                  <a:srgbClr val="7030A0"/>
                </a:solidFill>
                <a:latin typeface="Adobe Devanagari" pitchFamily="18" charset="0"/>
              </a:rPr>
              <a:t>الاولى</a:t>
            </a:r>
            <a:r>
              <a:rPr lang="ar-SA" b="1" u="sng" dirty="0">
                <a:solidFill>
                  <a:srgbClr val="7030A0"/>
                </a:solidFill>
                <a:latin typeface="Adobe Devanagari" pitchFamily="18" charset="0"/>
              </a:rPr>
              <a:t> </a:t>
            </a:r>
            <a:r>
              <a:rPr lang="fr-FR" b="1" u="sng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  <a:cs typeface="Adobe Devanagari" pitchFamily="18" charset="0"/>
              </a:rPr>
              <a:t>:</a:t>
            </a:r>
            <a:r>
              <a:rPr lang="ar-DZ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     </a:t>
            </a:r>
            <a:r>
              <a:rPr lang="ar-SA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حساب </a:t>
            </a:r>
            <a:r>
              <a:rPr lang="ar-SA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كمية الطاقة المستهلكة = </a:t>
            </a:r>
            <a:r>
              <a:rPr lang="ar-DZ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(التسجيل </a:t>
            </a:r>
            <a:r>
              <a:rPr lang="ar-SA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الجديد – التسجيل </a:t>
            </a:r>
            <a:r>
              <a:rPr lang="ar-SA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القديم</a:t>
            </a:r>
            <a:r>
              <a:rPr lang="ar-DZ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)* المعامل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Adobe Devanagari" pitchFamily="18" charset="0"/>
              <a:cs typeface="Adobe Devanagari" pitchFamily="18" charset="0"/>
            </a:endParaRPr>
          </a:p>
          <a:p>
            <a:pPr algn="r" rtl="1"/>
            <a:endParaRPr lang="fr-FR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928662" y="3429000"/>
          <a:ext cx="8001054" cy="2143140"/>
        </p:xfrm>
        <a:graphic>
          <a:graphicData uri="http://schemas.openxmlformats.org/drawingml/2006/table">
            <a:tbl>
              <a:tblPr rtl="1"/>
              <a:tblGrid>
                <a:gridCol w="1670428"/>
                <a:gridCol w="716500"/>
                <a:gridCol w="959824"/>
                <a:gridCol w="357828"/>
                <a:gridCol w="835216"/>
                <a:gridCol w="357828"/>
                <a:gridCol w="959824"/>
                <a:gridCol w="1427106"/>
                <a:gridCol w="716500"/>
              </a:tblGrid>
              <a:tr h="736947">
                <a:tc>
                  <a:txBody>
                    <a:bodyPr/>
                    <a:lstStyle/>
                    <a:p>
                      <a:pPr marL="111125" indent="-111125"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000" b="1" dirty="0">
                          <a:latin typeface="Calibri"/>
                          <a:ea typeface="Times New Roman"/>
                          <a:cs typeface="Times New Roman"/>
                        </a:rPr>
                        <a:t>الاستهلاك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b="1" dirty="0">
                          <a:latin typeface="Times New Roman"/>
                          <a:ea typeface="Times New Roman"/>
                          <a:cs typeface="Arial"/>
                        </a:rPr>
                        <a:t>CONSOMMATION(kWh/Th)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000" b="1">
                          <a:latin typeface="Calibri"/>
                          <a:ea typeface="Times New Roman"/>
                          <a:cs typeface="Times New Roman"/>
                        </a:rPr>
                        <a:t>المعامل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b="1">
                          <a:latin typeface="Times New Roman"/>
                          <a:ea typeface="Times New Roman"/>
                          <a:cs typeface="Arial"/>
                        </a:rPr>
                        <a:t>COEF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000" b="1">
                          <a:latin typeface="Calibri"/>
                          <a:ea typeface="Times New Roman"/>
                          <a:cs typeface="Times New Roman"/>
                        </a:rPr>
                        <a:t>الفرق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b="1">
                          <a:latin typeface="Times New Roman"/>
                          <a:ea typeface="Times New Roman"/>
                          <a:cs typeface="Arial"/>
                        </a:rPr>
                        <a:t>Differece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000" b="1" dirty="0">
                          <a:latin typeface="Calibri"/>
                          <a:ea typeface="Times New Roman"/>
                          <a:cs typeface="Times New Roman"/>
                        </a:rPr>
                        <a:t>البيان القديم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b="1" dirty="0">
                          <a:latin typeface="Times New Roman"/>
                          <a:ea typeface="Times New Roman"/>
                          <a:cs typeface="Arial"/>
                        </a:rPr>
                        <a:t>Index Ancien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000" b="1">
                          <a:latin typeface="Calibri"/>
                          <a:ea typeface="Times New Roman"/>
                          <a:cs typeface="Times New Roman"/>
                        </a:rPr>
                        <a:t>البيان الجديد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b="1">
                          <a:latin typeface="Times New Roman"/>
                          <a:ea typeface="Times New Roman"/>
                          <a:cs typeface="Arial"/>
                        </a:rPr>
                        <a:t>Index Nouveau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000" b="1">
                          <a:latin typeface="Calibri"/>
                          <a:ea typeface="Times New Roman"/>
                          <a:cs typeface="Times New Roman"/>
                        </a:rPr>
                        <a:t>رقم العداد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b="1">
                          <a:latin typeface="Times New Roman"/>
                          <a:ea typeface="Times New Roman"/>
                          <a:cs typeface="Arial"/>
                        </a:rPr>
                        <a:t>N°COMPTEUR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1000">
                          <a:latin typeface="Calibri"/>
                          <a:ea typeface="Times New Roman"/>
                          <a:cs typeface="Times New Roman"/>
                        </a:rPr>
                        <a:t>التسعيرة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latin typeface="Times New Roman"/>
                          <a:ea typeface="Times New Roman"/>
                          <a:cs typeface="Arial"/>
                        </a:rPr>
                        <a:t>TARIF</a:t>
                      </a:r>
                      <a:endParaRPr lang="fr-FR" sz="11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C1"/>
                    </a:solidFill>
                  </a:tcPr>
                </a:tc>
              </a:tr>
              <a:tr h="1406193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strike="noStrike" dirty="0" smtClean="0">
                          <a:latin typeface="Adobe Devanagari" pitchFamily="18" charset="0"/>
                        </a:rPr>
                        <a:t>445</a:t>
                      </a:r>
                      <a:endParaRPr lang="fr-FR" sz="1400" b="1" strike="noStrike" dirty="0">
                        <a:latin typeface="Adobe Devanagari" pitchFamily="18" charset="0"/>
                        <a:cs typeface="Adobe Devanagari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rgbClr val="00B050"/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solidFill>
                            <a:srgbClr val="00B050"/>
                          </a:solidFill>
                          <a:latin typeface="Adobe Devanagari" pitchFamily="18" charset="0"/>
                          <a:ea typeface="Times New Roman"/>
                          <a:cs typeface="Arial"/>
                        </a:rPr>
                        <a:t>536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rgbClr val="00B050"/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dobe Devanagari" pitchFamily="18" charset="0"/>
                          <a:cs typeface="Adobe Devanagari" pitchFamily="18" charset="0"/>
                        </a:rPr>
                        <a:t>1.00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9.10</a:t>
                      </a:r>
                      <a:endParaRPr lang="fr-FR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solidFill>
                            <a:srgbClr val="FF0000"/>
                          </a:solidFill>
                          <a:latin typeface="Adobe Devanagari" pitchFamily="18" charset="0"/>
                          <a:ea typeface="Times New Roman"/>
                          <a:cs typeface="Times New Roman"/>
                        </a:rPr>
                        <a:t>445</a:t>
                      </a: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rgbClr val="FF0000"/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solidFill>
                            <a:srgbClr val="FF0000"/>
                          </a:solidFill>
                          <a:latin typeface="Adobe Devanagari" pitchFamily="18" charset="0"/>
                          <a:ea typeface="Times New Roman"/>
                          <a:cs typeface="Arial"/>
                        </a:rPr>
                        <a:t>59</a:t>
                      </a: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rgbClr val="00B050"/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R</a:t>
                      </a: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rgbClr val="00B050"/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rgbClr val="00B050"/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R</a:t>
                      </a:r>
                      <a:endParaRPr lang="ar-DZ" sz="1400" b="1" dirty="0" smtClean="0">
                        <a:solidFill>
                          <a:srgbClr val="00B050"/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latin typeface="Adobe Devanagari" pitchFamily="18" charset="0"/>
                          <a:ea typeface="Calibri"/>
                          <a:cs typeface="Arial"/>
                        </a:rPr>
                        <a:t>22578</a:t>
                      </a:r>
                      <a:endParaRPr lang="fr-FR" sz="1400" b="1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latin typeface="Adobe Devanagari" pitchFamily="18" charset="0"/>
                          <a:ea typeface="Times New Roman"/>
                          <a:cs typeface="Arial"/>
                        </a:rPr>
                        <a:t>19939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b="1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rgbClr val="00B050"/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R</a:t>
                      </a: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rgbClr val="00B050"/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rgbClr val="00B050"/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R</a:t>
                      </a: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solidFill>
                            <a:srgbClr val="000000"/>
                          </a:solidFill>
                          <a:latin typeface="Adobe Devanagari" pitchFamily="18" charset="0"/>
                          <a:ea typeface="Times New Roman"/>
                          <a:cs typeface="Times New Roman"/>
                        </a:rPr>
                        <a:t>23023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rgbClr val="000000"/>
                        </a:solidFill>
                        <a:latin typeface="Adobe Devanagari" pitchFamily="18" charset="0"/>
                        <a:ea typeface="Calibri"/>
                        <a:cs typeface="Times New Roman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400" b="1" dirty="0" smtClean="0">
                          <a:solidFill>
                            <a:srgbClr val="000000"/>
                          </a:solidFill>
                          <a:latin typeface="Adobe Devanagari" pitchFamily="18" charset="0"/>
                          <a:ea typeface="Calibri"/>
                          <a:cs typeface="Times New Roman"/>
                        </a:rPr>
                        <a:t>19998</a:t>
                      </a:r>
                      <a:endParaRPr lang="fr-FR" sz="1400" dirty="0"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005466</a:t>
                      </a:r>
                      <a:endParaRPr lang="fr-FR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dobe Devanagari" pitchFamily="18" charset="0"/>
                          <a:ea typeface="Calibri"/>
                          <a:cs typeface="Adobe Devanagari" pitchFamily="18" charset="0"/>
                        </a:rPr>
                        <a:t>151673</a:t>
                      </a:r>
                      <a:endParaRPr lang="fr-FR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54M</a:t>
                      </a:r>
                      <a:endParaRPr lang="ar-DZ" sz="14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dobe Devanagari" pitchFamily="18" charset="0"/>
                          <a:ea typeface="Times New Roman"/>
                          <a:cs typeface="Adobe Devanagari" pitchFamily="18" charset="0"/>
                        </a:rPr>
                        <a:t>23M</a:t>
                      </a:r>
                      <a:endParaRPr lang="ar-DZ" sz="14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1400" b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Times New Roman"/>
                        <a:cs typeface="Arial"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dobe Devanagari" pitchFamily="18" charset="0"/>
                        <a:ea typeface="Calibri"/>
                        <a:cs typeface="Adobe Devanagari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2071670" y="5702874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 smtClean="0">
                <a:latin typeface="Adobe Devanagari" pitchFamily="18" charset="0"/>
              </a:rPr>
              <a:t>كمية الطاقة المستهلكة</a:t>
            </a:r>
            <a:r>
              <a:rPr lang="ar-DZ" b="1" dirty="0" smtClean="0">
                <a:latin typeface="Adobe Devanagari" pitchFamily="18" charset="0"/>
              </a:rPr>
              <a:t> </a:t>
            </a:r>
            <a:r>
              <a:rPr lang="fr-FR" b="1" dirty="0" smtClean="0">
                <a:latin typeface="Adobe Devanagari" pitchFamily="18" charset="0"/>
              </a:rPr>
              <a:t> </a:t>
            </a:r>
            <a:r>
              <a:rPr lang="ar-DZ" b="1" dirty="0" smtClean="0">
                <a:latin typeface="Adobe Devanagari" pitchFamily="18" charset="0"/>
              </a:rPr>
              <a:t>للكهرباء = 23023-22578 = 445 * 1:00 =</a:t>
            </a:r>
            <a:r>
              <a:rPr lang="fr-FR" b="1" dirty="0" smtClean="0">
                <a:latin typeface="Adobe Devanagari" pitchFamily="18" charset="0"/>
              </a:rPr>
              <a:t> </a:t>
            </a:r>
            <a:r>
              <a:rPr lang="ar-DZ" b="1" dirty="0" smtClean="0">
                <a:latin typeface="Adobe Devanagari" pitchFamily="18" charset="0"/>
              </a:rPr>
              <a:t>445 </a:t>
            </a:r>
            <a:r>
              <a:rPr lang="fr-FR" b="1" dirty="0" err="1" smtClean="0">
                <a:latin typeface="Adobe Devanagari" pitchFamily="18" charset="0"/>
              </a:rPr>
              <a:t>kwh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2071670" y="6143644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 smtClean="0">
                <a:latin typeface="Adobe Devanagari" pitchFamily="18" charset="0"/>
              </a:rPr>
              <a:t>كمية الطاقة المستهلكة</a:t>
            </a:r>
            <a:r>
              <a:rPr lang="ar-DZ" b="1" dirty="0" smtClean="0">
                <a:latin typeface="Adobe Devanagari" pitchFamily="18" charset="0"/>
              </a:rPr>
              <a:t> </a:t>
            </a:r>
            <a:r>
              <a:rPr lang="fr-FR" b="1" dirty="0" smtClean="0">
                <a:latin typeface="Adobe Devanagari" pitchFamily="18" charset="0"/>
              </a:rPr>
              <a:t> </a:t>
            </a:r>
            <a:r>
              <a:rPr lang="ar-DZ" b="1" dirty="0" smtClean="0">
                <a:latin typeface="Adobe Devanagari" pitchFamily="18" charset="0"/>
              </a:rPr>
              <a:t>للغاز = 19998-19939 = 59 * 9.1 =</a:t>
            </a:r>
            <a:r>
              <a:rPr lang="fr-FR" b="1" dirty="0" smtClean="0">
                <a:latin typeface="Adobe Devanagari" pitchFamily="18" charset="0"/>
              </a:rPr>
              <a:t> </a:t>
            </a:r>
            <a:r>
              <a:rPr lang="ar-DZ" b="1" dirty="0" smtClean="0">
                <a:latin typeface="Adobe Devanagari" pitchFamily="18" charset="0"/>
              </a:rPr>
              <a:t>536 </a:t>
            </a:r>
            <a:r>
              <a:rPr lang="fr-FR" b="1" dirty="0" smtClean="0">
                <a:latin typeface="Adobe Devanagari" pitchFamily="18" charset="0"/>
              </a:rPr>
              <a:t>th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428596" y="642918"/>
            <a:ext cx="83582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b="1" dirty="0">
                <a:latin typeface="Adobe Devanagari" pitchFamily="18" charset="0"/>
              </a:rPr>
              <a:t>الوحدة المستعملة لقياس الطاقة الكهربائية المستعملة هي الكيلو </a:t>
            </a:r>
            <a:r>
              <a:rPr lang="ar-DZ" b="1" dirty="0" err="1">
                <a:latin typeface="Adobe Devanagari" pitchFamily="18" charset="0"/>
              </a:rPr>
              <a:t>واط</a:t>
            </a:r>
            <a:r>
              <a:rPr lang="ar-DZ" b="1" dirty="0">
                <a:latin typeface="Adobe Devanagari" pitchFamily="18" charset="0"/>
              </a:rPr>
              <a:t> ساعي </a:t>
            </a:r>
            <a:r>
              <a:rPr lang="fr-FR" b="1" dirty="0">
                <a:latin typeface="Adobe Devanagari" pitchFamily="18" charset="0"/>
                <a:cs typeface="Adobe Devanagari" pitchFamily="18" charset="0"/>
              </a:rPr>
              <a:t>(KWh)</a:t>
            </a:r>
            <a:r>
              <a:rPr lang="ar-DZ" b="1" dirty="0">
                <a:latin typeface="Adobe Devanagari" pitchFamily="18" charset="0"/>
              </a:rPr>
              <a:t>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pPr lvl="0" algn="r" rtl="1"/>
            <a:r>
              <a:rPr lang="fr-FR" b="1" dirty="0">
                <a:latin typeface="Adobe Devanagari" pitchFamily="18" charset="0"/>
                <a:cs typeface="Adobe Devanagari" pitchFamily="18" charset="0"/>
              </a:rPr>
              <a:t>PMD</a:t>
            </a:r>
            <a:r>
              <a:rPr lang="ar-DZ" b="1" dirty="0">
                <a:latin typeface="Adobe Devanagari" pitchFamily="18" charset="0"/>
              </a:rPr>
              <a:t>: </a:t>
            </a:r>
            <a:r>
              <a:rPr lang="fr-FR" b="1" dirty="0">
                <a:latin typeface="Adobe Devanagari" pitchFamily="18" charset="0"/>
                <a:cs typeface="Adobe Devanagari" pitchFamily="18" charset="0"/>
              </a:rPr>
              <a:t>(Puissance Moyenne Disponible)</a:t>
            </a:r>
            <a:r>
              <a:rPr lang="ar-DZ" b="1" dirty="0">
                <a:latin typeface="Adobe Devanagari" pitchFamily="18" charset="0"/>
              </a:rPr>
              <a:t> و تعني الاستطاعة  المتوسطة المتوفرة.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pPr lvl="0" algn="r" rtl="1"/>
            <a:r>
              <a:rPr lang="fr-FR" b="1" dirty="0">
                <a:latin typeface="Adobe Devanagari" pitchFamily="18" charset="0"/>
                <a:cs typeface="Adobe Devanagari" pitchFamily="18" charset="0"/>
              </a:rPr>
              <a:t>DMD</a:t>
            </a:r>
            <a:r>
              <a:rPr lang="ar-DZ" b="1" dirty="0">
                <a:latin typeface="Adobe Devanagari" pitchFamily="18" charset="0"/>
              </a:rPr>
              <a:t>: </a:t>
            </a:r>
            <a:r>
              <a:rPr lang="fr-FR" b="1" dirty="0">
                <a:latin typeface="Adobe Devanagari" pitchFamily="18" charset="0"/>
                <a:cs typeface="Adobe Devanagari" pitchFamily="18" charset="0"/>
              </a:rPr>
              <a:t>(Débit Moyen Disponible)</a:t>
            </a:r>
            <a:r>
              <a:rPr lang="ar-DZ" b="1" dirty="0">
                <a:latin typeface="Adobe Devanagari" pitchFamily="18" charset="0"/>
              </a:rPr>
              <a:t> تعني التدفق المتوسط للغاز المتوفر.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pPr lvl="0" algn="r" rtl="1"/>
            <a:r>
              <a:rPr lang="fr-FR" b="1" dirty="0">
                <a:latin typeface="Adobe Devanagari" pitchFamily="18" charset="0"/>
                <a:cs typeface="Adobe Devanagari" pitchFamily="18" charset="0"/>
              </a:rPr>
              <a:t>54M</a:t>
            </a:r>
            <a:r>
              <a:rPr lang="ar-DZ" b="1" dirty="0">
                <a:latin typeface="Adobe Devanagari" pitchFamily="18" charset="0"/>
              </a:rPr>
              <a:t>: تعني كهرباء الاستهلاك المنزلي.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pPr lvl="0" algn="r" rtl="1"/>
            <a:r>
              <a:rPr lang="fr-FR" b="1" dirty="0">
                <a:latin typeface="Adobe Devanagari" pitchFamily="18" charset="0"/>
                <a:cs typeface="Adobe Devanagari" pitchFamily="18" charset="0"/>
              </a:rPr>
              <a:t>23M</a:t>
            </a:r>
            <a:r>
              <a:rPr lang="ar-DZ" b="1" dirty="0">
                <a:latin typeface="Adobe Devanagari" pitchFamily="18" charset="0"/>
              </a:rPr>
              <a:t>: تعني غاز الاستهلاك المنزلي.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pPr lvl="0" algn="r" rtl="1"/>
            <a:r>
              <a:rPr lang="ar-DZ" b="1" dirty="0">
                <a:latin typeface="Adobe Devanagari" pitchFamily="18" charset="0"/>
              </a:rPr>
              <a:t>الوحدة المستعملة لقياس الطاقة الكهربائية المستهلكة هي الكيلو </a:t>
            </a:r>
            <a:r>
              <a:rPr lang="ar-DZ" b="1" dirty="0" err="1">
                <a:latin typeface="Adobe Devanagari" pitchFamily="18" charset="0"/>
              </a:rPr>
              <a:t>واط</a:t>
            </a:r>
            <a:r>
              <a:rPr lang="ar-DZ" b="1" dirty="0">
                <a:latin typeface="Adobe Devanagari" pitchFamily="18" charset="0"/>
              </a:rPr>
              <a:t> ساعي </a:t>
            </a:r>
            <a:r>
              <a:rPr lang="fr-FR" b="1" dirty="0">
                <a:latin typeface="Adobe Devanagari" pitchFamily="18" charset="0"/>
                <a:cs typeface="Adobe Devanagari" pitchFamily="18" charset="0"/>
              </a:rPr>
              <a:t>(KWh)</a:t>
            </a:r>
            <a:r>
              <a:rPr lang="ar-DZ" b="1" dirty="0">
                <a:latin typeface="Adobe Devanagari" pitchFamily="18" charset="0"/>
              </a:rPr>
              <a:t>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pPr algn="r" rtl="1"/>
            <a:endParaRPr lang="fr-FR" b="1" dirty="0">
              <a:latin typeface="Adobe Devanagari" pitchFamily="18" charset="0"/>
              <a:cs typeface="Adobe Devanagari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000364" y="0"/>
            <a:ext cx="5429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sz="44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القسم الثاني: </a:t>
            </a:r>
            <a:r>
              <a:rPr lang="ar-DZ" sz="3600" dirty="0" smtClean="0"/>
              <a:t>ينقسم إلى  مرحلتين</a:t>
            </a:r>
            <a:endParaRPr lang="fr-FR" sz="4400" b="1" dirty="0">
              <a:solidFill>
                <a:schemeClr val="accent1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286116" y="2428868"/>
            <a:ext cx="407196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>
                <a:solidFill>
                  <a:srgbClr val="FF0000"/>
                </a:solidFill>
                <a:latin typeface="Adobe Devanagari" pitchFamily="18" charset="0"/>
              </a:rPr>
              <a:t>كيف تحسب فاتورة الكهرباء </a:t>
            </a:r>
            <a:r>
              <a:rPr lang="ar-SA" sz="2400" b="1" dirty="0">
                <a:solidFill>
                  <a:srgbClr val="FF0000"/>
                </a:solidFill>
                <a:latin typeface="Adobe Devanagari" pitchFamily="18" charset="0"/>
              </a:rPr>
              <a:t>و الغاز؟</a:t>
            </a:r>
            <a:endParaRPr lang="fr-FR" sz="2400" b="1" dirty="0">
              <a:solidFill>
                <a:srgbClr val="FF0000"/>
              </a:solidFill>
              <a:latin typeface="Adobe Devanagari" pitchFamily="18" charset="0"/>
              <a:cs typeface="Adobe Devanagari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2844" y="2571744"/>
            <a:ext cx="1187054" cy="857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chemeClr val="tx1"/>
                </a:solidFill>
              </a:rPr>
              <a:t>PMD=6KW</a:t>
            </a:r>
          </a:p>
          <a:p>
            <a:pPr algn="ctr"/>
            <a:endParaRPr lang="fr-FR" sz="1400" dirty="0" smtClean="0">
              <a:solidFill>
                <a:schemeClr val="tx1"/>
              </a:solidFill>
            </a:endParaRPr>
          </a:p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DMD=</a:t>
            </a:r>
            <a:r>
              <a:rPr lang="fr-FR" sz="1200" b="1" dirty="0" smtClean="0">
                <a:solidFill>
                  <a:schemeClr val="tx1"/>
                </a:solidFill>
              </a:rPr>
              <a:t>5 m</a:t>
            </a:r>
            <a:r>
              <a:rPr lang="fr-FR" sz="1200" b="1" baseline="30000" dirty="0" smtClean="0">
                <a:solidFill>
                  <a:schemeClr val="tx1"/>
                </a:solidFill>
              </a:rPr>
              <a:t>3</a:t>
            </a:r>
            <a:r>
              <a:rPr lang="fr-FR" sz="1200" b="1" dirty="0" smtClean="0">
                <a:solidFill>
                  <a:schemeClr val="tx1"/>
                </a:solidFill>
              </a:rPr>
              <a:t>h</a:t>
            </a:r>
            <a:r>
              <a:rPr lang="ar-DZ" sz="1200" b="1" dirty="0" smtClean="0">
                <a:solidFill>
                  <a:schemeClr val="tx1"/>
                </a:solidFill>
              </a:rPr>
              <a:t> </a:t>
            </a:r>
            <a:endParaRPr lang="fr-FR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10" grpId="0" build="allAtOnce"/>
      <p:bldP spid="11" grpId="0" build="allAtOnce"/>
      <p:bldP spid="13" grpId="0" build="p"/>
      <p:bldP spid="14" grpId="0" build="allAtOnce"/>
      <p:bldP spid="15" grpId="0" build="allAtOnce"/>
      <p:bldP spid="16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85984" y="642918"/>
            <a:ext cx="657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b="1" u="sng" dirty="0">
                <a:solidFill>
                  <a:srgbClr val="7030A0"/>
                </a:solidFill>
                <a:latin typeface="Adobe Devanagari" pitchFamily="18" charset="0"/>
              </a:rPr>
              <a:t>المرحلة الثانية</a:t>
            </a:r>
            <a:r>
              <a:rPr lang="ar-SA" b="1" dirty="0">
                <a:solidFill>
                  <a:srgbClr val="7030A0"/>
                </a:solidFill>
                <a:latin typeface="Adobe Devanagari" pitchFamily="18" charset="0"/>
              </a:rPr>
              <a:t> </a:t>
            </a:r>
            <a:r>
              <a:rPr lang="ar-SA" b="1" dirty="0" smtClean="0">
                <a:solidFill>
                  <a:srgbClr val="7030A0"/>
                </a:solidFill>
                <a:latin typeface="Adobe Devanagari" pitchFamily="18" charset="0"/>
              </a:rPr>
              <a:t>:</a:t>
            </a:r>
            <a:r>
              <a:rPr lang="ar-DZ" b="1" dirty="0">
                <a:solidFill>
                  <a:srgbClr val="7030A0"/>
                </a:solidFill>
                <a:latin typeface="Adobe Devanagari" pitchFamily="18" charset="0"/>
              </a:rPr>
              <a:t> </a:t>
            </a:r>
            <a:r>
              <a:rPr lang="ar-SA" b="1" dirty="0" smtClean="0">
                <a:latin typeface="Adobe Devanagari" pitchFamily="18" charset="0"/>
              </a:rPr>
              <a:t>حساب </a:t>
            </a:r>
            <a:r>
              <a:rPr lang="ar-SA" b="1" dirty="0">
                <a:latin typeface="Adobe Devanagari" pitchFamily="18" charset="0"/>
              </a:rPr>
              <a:t>ثمن الطاقة الكهربائية المستهلكة </a:t>
            </a:r>
            <a:r>
              <a:rPr lang="ar-SA" b="1" dirty="0" err="1">
                <a:latin typeface="Adobe Devanagari" pitchFamily="18" charset="0"/>
              </a:rPr>
              <a:t>و</a:t>
            </a:r>
            <a:r>
              <a:rPr lang="ar-SA" b="1" dirty="0">
                <a:latin typeface="Adobe Devanagari" pitchFamily="18" charset="0"/>
              </a:rPr>
              <a:t> ( الرسوم </a:t>
            </a:r>
            <a:r>
              <a:rPr lang="ar-SA" b="1" dirty="0" err="1">
                <a:latin typeface="Adobe Devanagari" pitchFamily="18" charset="0"/>
              </a:rPr>
              <a:t>و</a:t>
            </a:r>
            <a:r>
              <a:rPr lang="ar-SA" b="1" dirty="0">
                <a:latin typeface="Adobe Devanagari" pitchFamily="18" charset="0"/>
              </a:rPr>
              <a:t> الضرائب).</a:t>
            </a:r>
            <a:endParaRPr lang="fr-FR" b="1" dirty="0">
              <a:latin typeface="Adobe Devanagari" pitchFamily="18" charset="0"/>
              <a:cs typeface="Adobe Devanagari" pitchFamily="18" charset="0"/>
            </a:endParaRPr>
          </a:p>
          <a:p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928662" y="1357298"/>
            <a:ext cx="7929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b="1" dirty="0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قسمت شركة </a:t>
            </a:r>
            <a:r>
              <a:rPr lang="ar-DZ" b="1" dirty="0" err="1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سونلغاز</a:t>
            </a:r>
            <a:r>
              <a:rPr lang="ar-DZ" b="1" dirty="0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 الطاقة المستهلكة </a:t>
            </a:r>
            <a:r>
              <a:rPr lang="ar-DZ" b="1" dirty="0" smtClean="0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إلي </a:t>
            </a:r>
            <a:r>
              <a:rPr lang="ar-DZ" b="1" dirty="0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أربعة أشطر يختلف ثمن الوحدة بين شطر </a:t>
            </a:r>
            <a:r>
              <a:rPr lang="ar-DZ" b="1" dirty="0" err="1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و</a:t>
            </a:r>
            <a:r>
              <a:rPr lang="ar-DZ" b="1" dirty="0">
                <a:solidFill>
                  <a:schemeClr val="accent2">
                    <a:lumMod val="75000"/>
                  </a:schemeClr>
                </a:solidFill>
                <a:latin typeface="Adobe Devanagari" pitchFamily="18" charset="0"/>
              </a:rPr>
              <a:t> آخر، حتى تكون هناك عقلانية في استهلاك الطاقة.</a:t>
            </a:r>
            <a:endParaRPr lang="fr-FR" b="1" dirty="0">
              <a:solidFill>
                <a:schemeClr val="accent2">
                  <a:lumMod val="75000"/>
                </a:schemeClr>
              </a:solidFill>
              <a:latin typeface="Adobe Devanagari" pitchFamily="18" charset="0"/>
              <a:cs typeface="Adobe Devanagari" pitchFamily="18" charset="0"/>
            </a:endParaRPr>
          </a:p>
          <a:p>
            <a:pPr algn="r" rtl="1"/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285852" y="2285992"/>
            <a:ext cx="742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التكلفة = الطاقة المستهلكة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  <a:cs typeface="Adobe Devanagari" pitchFamily="18" charset="0"/>
              </a:rPr>
              <a:t> 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  <a:cs typeface="Adobe Devanagari" pitchFamily="18" charset="0"/>
              </a:rPr>
              <a:t>x </a:t>
            </a:r>
            <a:r>
              <a:rPr lang="ar-DZ" b="1" dirty="0" smtClean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 </a:t>
            </a:r>
            <a:r>
              <a:rPr lang="ar-DZ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سعر الوحدة ( مع مراعاة سعر الوحدة لكل شطر </a:t>
            </a:r>
            <a:r>
              <a:rPr lang="ar-DZ" b="1" dirty="0" err="1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و</a:t>
            </a:r>
            <a:r>
              <a:rPr lang="ar-DZ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 </a:t>
            </a:r>
            <a:r>
              <a:rPr lang="ar-DZ" b="1" dirty="0" err="1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الضراب</a:t>
            </a:r>
            <a:r>
              <a:rPr lang="ar-DZ" b="1" dirty="0">
                <a:solidFill>
                  <a:schemeClr val="accent1">
                    <a:lumMod val="75000"/>
                  </a:schemeClr>
                </a:solidFill>
                <a:latin typeface="Adobe Devanagari" pitchFamily="18" charset="0"/>
              </a:rPr>
              <a:t>...).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Adobe Devanagari" pitchFamily="18" charset="0"/>
              <a:cs typeface="Adobe Devanagari" pitchFamily="18" charset="0"/>
            </a:endParaRP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285720" y="2857496"/>
          <a:ext cx="8606759" cy="3714777"/>
        </p:xfrm>
        <a:graphic>
          <a:graphicData uri="http://schemas.openxmlformats.org/drawingml/2006/table">
            <a:tbl>
              <a:tblPr/>
              <a:tblGrid>
                <a:gridCol w="1544803"/>
                <a:gridCol w="2133299"/>
                <a:gridCol w="1912613"/>
                <a:gridCol w="1944475"/>
                <a:gridCol w="1071569"/>
              </a:tblGrid>
              <a:tr h="5444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الشطر الرابع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الشطر الثالت</a:t>
                      </a:r>
                      <a:endParaRPr lang="fr-FR" sz="2400" b="1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الشطر الثاني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الشطر الأول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الإستهلاك</a:t>
                      </a:r>
                      <a:endParaRPr lang="fr-FR" sz="2400" b="1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8853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1000 </a:t>
                      </a:r>
                      <a:r>
                        <a:rPr lang="fr-FR" sz="2000" b="1" dirty="0" err="1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kw</a:t>
                      </a:r>
                      <a:r>
                        <a:rPr lang="fr-FR" sz="2400" b="1" dirty="0" err="1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h</a:t>
                      </a: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أ</a:t>
                      </a:r>
                      <a:r>
                        <a:rPr lang="ar-DZ" sz="20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كتر</a:t>
                      </a:r>
                      <a:r>
                        <a:rPr lang="ar-DZ" sz="20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من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0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1000kwh </a:t>
                      </a:r>
                      <a:r>
                        <a:rPr lang="ar-DZ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من 251 إلى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250</a:t>
                      </a:r>
                      <a:r>
                        <a:rPr lang="fr-FR" sz="2400" b="1" dirty="0" err="1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kwh</a:t>
                      </a: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من125 إلى</a:t>
                      </a: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8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125</a:t>
                      </a:r>
                      <a:r>
                        <a:rPr lang="fr-FR" sz="28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r>
                        <a:rPr lang="fr-FR" sz="2400" b="1" baseline="0" dirty="0" err="1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kwh</a:t>
                      </a:r>
                      <a:r>
                        <a:rPr lang="fr-FR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r>
                        <a:rPr lang="ar-DZ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إلى</a:t>
                      </a:r>
                      <a:r>
                        <a:rPr lang="fr-FR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0 </a:t>
                      </a:r>
                      <a:r>
                        <a:rPr lang="ar-DZ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من</a:t>
                      </a:r>
                      <a:endParaRPr lang="fr-FR" sz="28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>
                          <a:solidFill>
                            <a:srgbClr val="FF0000"/>
                          </a:solidFill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54M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26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DA</a:t>
                      </a: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5.4796</a:t>
                      </a:r>
                      <a:r>
                        <a:rPr lang="fr-FR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DA</a:t>
                      </a: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4.8120</a:t>
                      </a: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r>
                        <a:rPr lang="fr-FR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 </a:t>
                      </a: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4.1789</a:t>
                      </a:r>
                      <a:r>
                        <a:rPr lang="fr-FR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 DA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1.7787</a:t>
                      </a:r>
                      <a:r>
                        <a:rPr lang="fr-FR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 DA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solidFill>
                            <a:srgbClr val="FF0000"/>
                          </a:solidFill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ثمن وحدة</a:t>
                      </a:r>
                      <a:endParaRPr lang="fr-FR" sz="2400" b="1" dirty="0">
                        <a:solidFill>
                          <a:srgbClr val="FF0000"/>
                        </a:solidFill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28265"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أكتر </a:t>
                      </a: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من </a:t>
                      </a: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7500th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من </a:t>
                      </a: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2501 </a:t>
                      </a:r>
                      <a:r>
                        <a:rPr lang="ar-DZ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إلى</a:t>
                      </a:r>
                      <a:r>
                        <a:rPr lang="fr-FR" sz="2400" b="1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7500th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من1125 إلى</a:t>
                      </a:r>
                      <a:r>
                        <a:rPr lang="fr-FR" sz="2400" b="1" baseline="0" dirty="0" smtClean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      2500th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1125th</a:t>
                      </a:r>
                      <a:r>
                        <a:rPr lang="ar-DZ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من 0 إلى </a:t>
                      </a:r>
                      <a:endParaRPr lang="fr-FR" sz="2400" b="1" dirty="0"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>
                          <a:solidFill>
                            <a:srgbClr val="FF0000"/>
                          </a:solidFill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23M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93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0.4599 DA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0.4025 DA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0.3245 DA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2400" b="1" dirty="0"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0.1682   DA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400" b="1" dirty="0">
                          <a:solidFill>
                            <a:srgbClr val="FF0000"/>
                          </a:solidFill>
                          <a:latin typeface="Arabic Typesetting" pitchFamily="66" charset="-78"/>
                          <a:ea typeface="Calibri"/>
                          <a:cs typeface="Arabic Typesetting" pitchFamily="66" charset="-78"/>
                        </a:rPr>
                        <a:t>ثمن وحدة</a:t>
                      </a:r>
                      <a:endParaRPr lang="fr-FR" sz="2400" b="1" dirty="0">
                        <a:solidFill>
                          <a:srgbClr val="FF0000"/>
                        </a:solidFill>
                        <a:latin typeface="Arabic Typesetting" pitchFamily="66" charset="-78"/>
                        <a:ea typeface="Calibri"/>
                        <a:cs typeface="Arabic Typesetting" pitchFamily="66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42852"/>
            <a:ext cx="8715404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>
              <a:buFont typeface="Wingdings" pitchFamily="2" charset="2"/>
              <a:buChar char="ü"/>
            </a:pPr>
            <a:r>
              <a:rPr lang="ar-DZ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ثمن </a:t>
            </a: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كمية الاستهلاك في الشطر </a:t>
            </a:r>
            <a:r>
              <a:rPr lang="ar-SA" sz="2400" b="1" dirty="0" err="1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الاول</a:t>
            </a: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125</a:t>
            </a: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× </a:t>
            </a:r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1.7787</a:t>
            </a: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=</a:t>
            </a:r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222.3375DA</a:t>
            </a:r>
          </a:p>
          <a:p>
            <a:pPr lvl="0" algn="r" rtl="1">
              <a:buFont typeface="Wingdings" pitchFamily="2" charset="2"/>
              <a:buChar char="ü"/>
            </a:pP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ثمن كمية الاستهلاك في الشطر الثاني </a:t>
            </a:r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125</a:t>
            </a: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× </a:t>
            </a:r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4.1789</a:t>
            </a:r>
            <a:r>
              <a:rPr lang="ar-SA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=</a:t>
            </a:r>
            <a:r>
              <a:rPr lang="fr-FR" sz="2400" b="1" dirty="0" smtClean="0">
                <a:solidFill>
                  <a:schemeClr val="accent5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522.3625DA</a:t>
            </a:r>
          </a:p>
          <a:p>
            <a:pPr lvl="0" algn="r" rtl="1"/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</a:p>
          <a:p>
            <a:pPr lvl="0" algn="r" rtl="1">
              <a:buFont typeface="Wingdings" pitchFamily="2" charset="2"/>
              <a:buChar char="ü"/>
            </a:pPr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ثمن </a:t>
            </a:r>
            <a:r>
              <a:rPr lang="ar-SA" sz="2400" b="1" dirty="0" smtClean="0">
                <a:latin typeface="Arabic Typesetting" pitchFamily="66" charset="-78"/>
                <a:cs typeface="Arabic Typesetting" pitchFamily="66" charset="-78"/>
              </a:rPr>
              <a:t>كمية الاستهلاك في الشطر الأول</a:t>
            </a:r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+</a:t>
            </a:r>
            <a:r>
              <a:rPr lang="ar-SA" sz="2400" b="1" dirty="0" smtClean="0">
                <a:latin typeface="Arabic Typesetting" pitchFamily="66" charset="-78"/>
                <a:cs typeface="Arabic Typesetting" pitchFamily="66" charset="-78"/>
              </a:rPr>
              <a:t>الشطر الثاني</a:t>
            </a:r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=</a:t>
            </a: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222.3375 DA</a:t>
            </a:r>
            <a:r>
              <a:rPr lang="ar-SA" sz="2400" b="1" dirty="0" smtClean="0">
                <a:latin typeface="Arabic Typesetting" pitchFamily="66" charset="-78"/>
                <a:cs typeface="Arabic Typesetting" pitchFamily="66" charset="-78"/>
              </a:rPr>
              <a:t>+</a:t>
            </a: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522.3625 DA</a:t>
            </a:r>
            <a:r>
              <a:rPr lang="ar-SA" sz="2400" b="1" dirty="0" smtClean="0">
                <a:latin typeface="Arabic Typesetting" pitchFamily="66" charset="-78"/>
                <a:cs typeface="Arabic Typesetting" pitchFamily="66" charset="-78"/>
              </a:rPr>
              <a:t> =</a:t>
            </a: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744.70 DA</a:t>
            </a:r>
            <a:endParaRPr lang="ar-DZ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algn="ctr"/>
            <a:r>
              <a:rPr lang="ar-DZ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= ثمن </a:t>
            </a:r>
            <a:r>
              <a:rPr lang="ar-DZ" sz="2400" b="1" u="heavy" dirty="0" err="1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الشطرين</a:t>
            </a:r>
            <a:r>
              <a:rPr lang="ar-DZ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 *  100/9</a:t>
            </a:r>
            <a:r>
              <a:rPr lang="fr-FR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TVA</a:t>
            </a:r>
            <a:r>
              <a:rPr lang="ar-DZ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بحساب الضريبة </a:t>
            </a:r>
            <a:endParaRPr lang="fr-FR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algn="ctr" rtl="1"/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TVA=744.70 * 9 /100 = 67.02 DA  </a:t>
            </a:r>
            <a:endParaRPr lang="ar-DZ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algn="ctr" rtl="1"/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744.70+ 67.02   =   </a:t>
            </a:r>
            <a:r>
              <a:rPr lang="fr-FR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811.72DA</a:t>
            </a:r>
            <a:r>
              <a:rPr lang="ar-DZ" sz="2400" b="1" dirty="0" smtClean="0">
                <a:solidFill>
                  <a:srgbClr val="FF0000"/>
                </a:solidFill>
                <a:latin typeface="Arabic Typesetting" pitchFamily="66" charset="-78"/>
                <a:cs typeface="Arabic Typesetting" pitchFamily="66" charset="-78"/>
              </a:rPr>
              <a:t>            </a:t>
            </a:r>
            <a:endParaRPr lang="ar-DZ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lvl="0" algn="r" rtl="1">
              <a:buFont typeface="Wingdings" pitchFamily="2" charset="2"/>
              <a:buChar char="ü"/>
            </a:pPr>
            <a:r>
              <a:rPr lang="ar-SA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ثمن كمية الاستهلاك في الشطر الثالث 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195</a:t>
            </a:r>
            <a:r>
              <a:rPr lang="ar-SA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× 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4.8120</a:t>
            </a:r>
            <a:r>
              <a:rPr lang="ar-SA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=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   938.34 DA</a:t>
            </a:r>
          </a:p>
          <a:p>
            <a:pPr lvl="0" algn="r" rtl="1">
              <a:buFont typeface="Wingdings" pitchFamily="2" charset="2"/>
              <a:buChar char="ü"/>
            </a:pPr>
            <a:r>
              <a:rPr lang="ar-SA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ثمن كمية الاستهلاك في الشطر الرابع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 0  </a:t>
            </a:r>
            <a:r>
              <a:rPr lang="ar-SA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× 5.4796 =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DA</a:t>
            </a:r>
            <a:r>
              <a:rPr lang="ar-SA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0 </a:t>
            </a:r>
          </a:p>
          <a:p>
            <a:pPr lvl="0" algn="r" rtl="1"/>
            <a:endParaRPr lang="ar-DZ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lvl="0" algn="r" rtl="1">
              <a:buFont typeface="Wingdings" pitchFamily="2" charset="2"/>
              <a:buChar char="ü"/>
            </a:pPr>
            <a:r>
              <a:rPr lang="ar-SA" sz="2400" b="1" dirty="0" smtClean="0">
                <a:latin typeface="Arabic Typesetting" pitchFamily="66" charset="-78"/>
                <a:cs typeface="Arabic Typesetting" pitchFamily="66" charset="-78"/>
              </a:rPr>
              <a:t>ثمن كمية الاستهلاك في الشطر الثالث +الشطر الرابع</a:t>
            </a: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     938.34 DA=0 + 938.34 =  </a:t>
            </a:r>
          </a:p>
          <a:p>
            <a:pPr algn="ctr"/>
            <a:r>
              <a:rPr lang="ar-DZ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= ثمن </a:t>
            </a:r>
            <a:r>
              <a:rPr lang="ar-DZ" sz="2400" b="1" u="heavy" dirty="0" err="1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الشطرين</a:t>
            </a:r>
            <a:r>
              <a:rPr lang="ar-DZ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 *   100/19</a:t>
            </a:r>
            <a:r>
              <a:rPr lang="fr-FR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TVA</a:t>
            </a:r>
            <a:r>
              <a:rPr lang="ar-DZ" sz="24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بحساب الضريبة </a:t>
            </a:r>
            <a:endParaRPr lang="fr-FR" sz="2400" b="1" u="heavy" dirty="0" smtClean="0">
              <a:solidFill>
                <a:srgbClr val="00B050"/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algn="ctr"/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TVA = 938.34 * 19 /100 = 178.28 DA             </a:t>
            </a:r>
            <a:endParaRPr lang="ar-DZ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algn="ctr"/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178.28 + 938.34 </a:t>
            </a: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=</a:t>
            </a:r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  </a:t>
            </a:r>
            <a:r>
              <a:rPr lang="ar-DZ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1116.62</a:t>
            </a:r>
            <a:r>
              <a:rPr lang="fr-FR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       </a:t>
            </a:r>
            <a:endParaRPr lang="ar-DZ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algn="r"/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primes fixes </a:t>
            </a:r>
            <a:r>
              <a:rPr lang="ar-DZ" sz="2400" b="1" dirty="0" smtClean="0">
                <a:solidFill>
                  <a:schemeClr val="accent1">
                    <a:lumMod val="75000"/>
                  </a:schemeClr>
                </a:solidFill>
                <a:effectLst/>
                <a:latin typeface="Arabic Typesetting" pitchFamily="66" charset="-78"/>
                <a:cs typeface="Arabic Typesetting" pitchFamily="66" charset="-78"/>
              </a:rPr>
              <a:t>القيمة الثابتة </a:t>
            </a:r>
            <a:r>
              <a:rPr lang="ar-DZ" sz="2400" b="1" dirty="0" smtClean="0">
                <a:effectLst/>
                <a:latin typeface="Arabic Typesetting" pitchFamily="66" charset="-78"/>
                <a:cs typeface="Arabic Typesetting" pitchFamily="66" charset="-78"/>
              </a:rPr>
              <a:t/>
            </a:r>
            <a:br>
              <a:rPr lang="ar-DZ" sz="2400" b="1" dirty="0" smtClean="0">
                <a:effectLst/>
                <a:latin typeface="Arabic Typesetting" pitchFamily="66" charset="-78"/>
                <a:cs typeface="Arabic Typesetting" pitchFamily="66" charset="-78"/>
              </a:rPr>
            </a:br>
            <a:r>
              <a:rPr lang="ar-DZ" sz="2400" b="1" dirty="0" smtClean="0">
                <a:effectLst/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4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78.66  *  9 / 100 = </a:t>
            </a:r>
            <a:r>
              <a:rPr lang="fr-FR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7.08 DA</a:t>
            </a:r>
            <a:r>
              <a:rPr lang="ar-DZ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2400" b="1" dirty="0" smtClean="0">
                <a:effectLst/>
                <a:latin typeface="Arabic Typesetting" pitchFamily="66" charset="-78"/>
                <a:cs typeface="Arabic Typesetting" pitchFamily="66" charset="-78"/>
              </a:rPr>
              <a:t>                </a:t>
            </a:r>
            <a:r>
              <a:rPr lang="ar-SA" sz="2400" b="1" dirty="0" smtClean="0">
                <a:latin typeface="Arabic Typesetting" pitchFamily="66" charset="-78"/>
                <a:cs typeface="Arabic Typesetting" pitchFamily="66" charset="-78"/>
              </a:rPr>
              <a:t>حساب قيمة الضريبة على القيمة الثابتة</a:t>
            </a:r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                       </a:t>
            </a:r>
            <a:b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</a:br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400" dirty="0" smtClean="0">
                <a:latin typeface="Arabic Typesetting" pitchFamily="66" charset="-78"/>
                <a:cs typeface="Arabic Typesetting" pitchFamily="66" charset="-78"/>
              </a:rPr>
              <a:t/>
            </a:r>
            <a:br>
              <a:rPr lang="fr-FR" sz="2400" dirty="0" smtClean="0">
                <a:latin typeface="Arabic Typesetting" pitchFamily="66" charset="-78"/>
                <a:cs typeface="Arabic Typesetting" pitchFamily="66" charset="-78"/>
              </a:rPr>
            </a:br>
            <a:r>
              <a:rPr lang="ar-DZ" sz="2400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4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78.66  +   7.08  =  </a:t>
            </a:r>
            <a:r>
              <a:rPr lang="fr-FR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85.74 DA</a:t>
            </a:r>
            <a:r>
              <a:rPr lang="ar-DZ" sz="24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 </a:t>
            </a:r>
            <a:r>
              <a:rPr lang="ar-DZ" sz="2400" b="1" dirty="0" smtClean="0">
                <a:latin typeface="Arabic Typesetting" pitchFamily="66" charset="-78"/>
                <a:cs typeface="Arabic Typesetting" pitchFamily="66" charset="-78"/>
              </a:rPr>
              <a:t>              حساب قيمة ثابتة + قيمة ضريبة مطبقة عليها</a:t>
            </a:r>
            <a:r>
              <a:rPr lang="ar-DZ" sz="2400" b="1" dirty="0" smtClean="0">
                <a:effectLst/>
                <a:latin typeface="Arabic Typesetting" pitchFamily="66" charset="-78"/>
                <a:cs typeface="Arabic Typesetting" pitchFamily="66" charset="-78"/>
              </a:rPr>
              <a:t>                 </a:t>
            </a:r>
            <a:br>
              <a:rPr lang="ar-DZ" sz="2400" b="1" dirty="0" smtClean="0">
                <a:effectLst/>
                <a:latin typeface="Arabic Typesetting" pitchFamily="66" charset="-78"/>
                <a:cs typeface="Arabic Typesetting" pitchFamily="66" charset="-78"/>
              </a:rPr>
            </a:br>
            <a:endParaRPr lang="fr-FR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lvl="0" algn="r" rtl="1"/>
            <a:endParaRPr lang="fr-FR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lvl="0" algn="r" rtl="1"/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                                                              </a:t>
            </a:r>
          </a:p>
          <a:p>
            <a:pPr lvl="0" algn="r" rtl="1"/>
            <a:endParaRPr lang="fr-FR" sz="24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algn="r" rtl="1"/>
            <a:r>
              <a:rPr lang="fr-FR" sz="2400" b="1" dirty="0" smtClean="0">
                <a:latin typeface="Arabic Typesetting" pitchFamily="66" charset="-78"/>
                <a:cs typeface="Arabic Typesetting" pitchFamily="66" charset="-78"/>
              </a:rPr>
              <a:t> </a:t>
            </a:r>
          </a:p>
          <a:p>
            <a:pPr algn="r" rtl="1"/>
            <a:endParaRPr lang="fr-FR" sz="2400" b="1" dirty="0">
              <a:latin typeface="Arabic Typesetting" pitchFamily="66" charset="-78"/>
              <a:cs typeface="Arabic Typesetting" pitchFamily="66" charset="-78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214290"/>
            <a:ext cx="8715404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3600" b="1" dirty="0" smtClean="0">
                <a:solidFill>
                  <a:srgbClr val="92D050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حساب السعر الإجمالي :</a:t>
            </a:r>
            <a:r>
              <a:rPr lang="ar-DZ" sz="3200" b="1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3200" b="1" dirty="0" err="1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الشطرين</a:t>
            </a:r>
            <a:r>
              <a:rPr lang="ar-DZ" sz="32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الأول </a:t>
            </a:r>
            <a:r>
              <a:rPr lang="ar-DZ" sz="3200" b="1" dirty="0" err="1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و</a:t>
            </a:r>
            <a:r>
              <a:rPr lang="ar-DZ" sz="32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الثاني مع الضريبة + الشطر </a:t>
            </a:r>
            <a:r>
              <a:rPr lang="ar-DZ" sz="3200" b="1" dirty="0" err="1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الثالت</a:t>
            </a:r>
            <a:r>
              <a:rPr lang="ar-DZ" sz="32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مع الضريبة + القيمة الثابتة + القيمة الثابتة  مع الضريبة </a:t>
            </a:r>
            <a:r>
              <a:rPr lang="ar-DZ" sz="3600" b="1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 </a:t>
            </a:r>
            <a:br>
              <a:rPr lang="ar-DZ" sz="3600" b="1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</a:br>
            <a:r>
              <a:rPr lang="fr-FR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811.72DA</a:t>
            </a:r>
            <a:r>
              <a:rPr lang="ar-DZ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+ 1116.62 + </a:t>
            </a:r>
            <a:r>
              <a:rPr lang="fr-FR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85.74 DA</a:t>
            </a:r>
            <a:r>
              <a:rPr lang="ar-DZ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= 2014.08 </a:t>
            </a:r>
            <a:r>
              <a:rPr lang="ar-DZ" sz="3200" b="1" dirty="0" err="1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دج</a:t>
            </a:r>
            <a:r>
              <a:rPr lang="ar-DZ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.................(1)</a:t>
            </a:r>
            <a:endParaRPr lang="fr-FR" sz="3200" b="1" dirty="0" smtClean="0">
              <a:latin typeface="Arabic Typesetting" pitchFamily="66" charset="-78"/>
              <a:cs typeface="Arabic Typesetting" pitchFamily="66" charset="-78"/>
            </a:endParaRPr>
          </a:p>
          <a:p>
            <a:pPr lvl="0" algn="r" rtl="1">
              <a:buFont typeface="Wingdings" pitchFamily="2" charset="2"/>
              <a:buChar char="ü"/>
            </a:pPr>
            <a:r>
              <a:rPr lang="ar-SA" sz="3600" b="1" dirty="0" smtClean="0">
                <a:latin typeface="Arabic Typesetting" pitchFamily="66" charset="-78"/>
                <a:cs typeface="Arabic Typesetting" pitchFamily="66" charset="-78"/>
              </a:rPr>
              <a:t>ثمن كمية الاستهلاك في الغاز </a:t>
            </a:r>
            <a:r>
              <a:rPr lang="fr-FR" sz="3600" b="1" dirty="0" smtClean="0">
                <a:latin typeface="Arabic Typesetting" pitchFamily="66" charset="-78"/>
                <a:cs typeface="Arabic Typesetting" pitchFamily="66" charset="-78"/>
              </a:rPr>
              <a:t> 536.90 </a:t>
            </a:r>
            <a:r>
              <a:rPr lang="ar-SA" sz="3600" b="1" dirty="0" smtClean="0">
                <a:latin typeface="Arabic Typesetting" pitchFamily="66" charset="-78"/>
                <a:cs typeface="Arabic Typesetting" pitchFamily="66" charset="-78"/>
              </a:rPr>
              <a:t>×</a:t>
            </a:r>
            <a:r>
              <a:rPr lang="fr-FR" sz="3600" b="1" dirty="0" smtClean="0">
                <a:latin typeface="Arabic Typesetting" pitchFamily="66" charset="-78"/>
                <a:cs typeface="Arabic Typesetting" pitchFamily="66" charset="-78"/>
              </a:rPr>
              <a:t> 0.1682 </a:t>
            </a:r>
            <a:r>
              <a:rPr lang="ar-SA" sz="3600" b="1" dirty="0" smtClean="0">
                <a:latin typeface="Arabic Typesetting" pitchFamily="66" charset="-78"/>
                <a:cs typeface="Arabic Typesetting" pitchFamily="66" charset="-78"/>
              </a:rPr>
              <a:t> =  </a:t>
            </a:r>
            <a:r>
              <a:rPr lang="fr-FR" sz="3600" b="1" dirty="0" smtClean="0">
                <a:latin typeface="Arabic Typesetting" pitchFamily="66" charset="-78"/>
                <a:cs typeface="Arabic Typesetting" pitchFamily="66" charset="-78"/>
              </a:rPr>
              <a:t>90.31 DA</a:t>
            </a:r>
            <a:endParaRPr lang="fr-FR" sz="5400" b="1" u="heavy" dirty="0">
              <a:solidFill>
                <a:srgbClr val="00B050"/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algn="ctr"/>
            <a:r>
              <a:rPr lang="ar-DZ" sz="40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= ثمن </a:t>
            </a:r>
            <a:r>
              <a:rPr lang="ar-DZ" sz="4000" b="1" u="heavy" dirty="0" err="1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الشطرين</a:t>
            </a:r>
            <a:r>
              <a:rPr lang="ar-DZ" sz="40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 *  100/9</a:t>
            </a:r>
            <a:r>
              <a:rPr lang="fr-FR" sz="40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TVA</a:t>
            </a:r>
            <a:r>
              <a:rPr lang="ar-DZ" sz="4000" b="1" u="heavy" dirty="0" smtClean="0">
                <a:solidFill>
                  <a:srgbClr val="00B050"/>
                </a:solidFill>
                <a:latin typeface="Arabic Typesetting" pitchFamily="66" charset="-78"/>
                <a:cs typeface="Arabic Typesetting" pitchFamily="66" charset="-78"/>
              </a:rPr>
              <a:t>بحساب الضريبة </a:t>
            </a:r>
            <a:endParaRPr lang="fr-FR" sz="4000" b="1" u="heavy" dirty="0" smtClean="0">
              <a:solidFill>
                <a:srgbClr val="00B050"/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algn="ctr"/>
            <a:r>
              <a:rPr lang="fr-FR" sz="2800" b="1" dirty="0" smtClean="0">
                <a:latin typeface="Adobe Devanagari" pitchFamily="18" charset="0"/>
                <a:cs typeface="Adobe Devanagari" pitchFamily="18" charset="0"/>
              </a:rPr>
              <a:t>TVA = 9</a:t>
            </a:r>
            <a:r>
              <a:rPr lang="ar-DZ" sz="2800" b="1" dirty="0" smtClean="0">
                <a:latin typeface="Adobe Devanagari" pitchFamily="18" charset="0"/>
                <a:cs typeface="Adobe Devanagari" pitchFamily="18" charset="0"/>
              </a:rPr>
              <a:t>0</a:t>
            </a:r>
            <a:r>
              <a:rPr lang="fr-FR" sz="2800" b="1" dirty="0" smtClean="0">
                <a:latin typeface="Adobe Devanagari" pitchFamily="18" charset="0"/>
                <a:cs typeface="Adobe Devanagari" pitchFamily="18" charset="0"/>
              </a:rPr>
              <a:t>.31 * 9 /100 = 8.13 DA</a:t>
            </a:r>
            <a:endParaRPr lang="ar-DZ" sz="2800" b="1" dirty="0" smtClean="0">
              <a:latin typeface="Adobe Devanagari" pitchFamily="18" charset="0"/>
              <a:cs typeface="Adobe Devanagari" pitchFamily="18" charset="0"/>
            </a:endParaRPr>
          </a:p>
          <a:p>
            <a:pPr algn="ctr"/>
            <a:r>
              <a:rPr lang="fr-FR" sz="2800" b="1" dirty="0" smtClean="0">
                <a:latin typeface="Adobe Devanagari" pitchFamily="18" charset="0"/>
                <a:cs typeface="Adobe Devanagari" pitchFamily="18" charset="0"/>
              </a:rPr>
              <a:t>90.31 + 8.13 = 98.44 DA</a:t>
            </a:r>
          </a:p>
          <a:p>
            <a:pPr lvl="0" algn="r"/>
            <a:r>
              <a:rPr lang="fr-FR" sz="2800" b="1" dirty="0" smtClean="0">
                <a:solidFill>
                  <a:schemeClr val="accent1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primes fixes </a:t>
            </a:r>
            <a:r>
              <a:rPr lang="ar-DZ" sz="2800" b="1" dirty="0" smtClean="0">
                <a:solidFill>
                  <a:schemeClr val="accent1">
                    <a:lumMod val="75000"/>
                  </a:schemeClr>
                </a:solidFill>
                <a:effectLst/>
                <a:latin typeface="Arabic Typesetting" pitchFamily="66" charset="-78"/>
                <a:cs typeface="Arabic Typesetting" pitchFamily="66" charset="-78"/>
              </a:rPr>
              <a:t>القيمة الثابتة </a:t>
            </a:r>
            <a:r>
              <a:rPr lang="ar-DZ" sz="2800" b="1" dirty="0" smtClean="0">
                <a:effectLst/>
                <a:latin typeface="Arabic Typesetting" pitchFamily="66" charset="-78"/>
                <a:cs typeface="Arabic Typesetting" pitchFamily="66" charset="-78"/>
              </a:rPr>
              <a:t/>
            </a:r>
            <a:br>
              <a:rPr lang="ar-DZ" sz="2800" b="1" dirty="0" smtClean="0">
                <a:effectLst/>
                <a:latin typeface="Arabic Typesetting" pitchFamily="66" charset="-78"/>
                <a:cs typeface="Arabic Typesetting" pitchFamily="66" charset="-78"/>
              </a:rPr>
            </a:br>
            <a:r>
              <a:rPr lang="ar-DZ" sz="2800" b="1" dirty="0" smtClean="0">
                <a:effectLst/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8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85.50  *  9 / 100 = </a:t>
            </a:r>
            <a:r>
              <a:rPr lang="fr-FR" sz="28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7.70 DA</a:t>
            </a:r>
            <a:r>
              <a:rPr lang="ar-DZ" sz="28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2800" b="1" dirty="0" smtClean="0">
                <a:effectLst/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SA" sz="2800" b="1" dirty="0" smtClean="0">
                <a:latin typeface="Arabic Typesetting" pitchFamily="66" charset="-78"/>
                <a:cs typeface="Arabic Typesetting" pitchFamily="66" charset="-78"/>
              </a:rPr>
              <a:t>حساب قيمة الضريبة على القيمة الثابتة</a:t>
            </a:r>
            <a:r>
              <a:rPr lang="ar-DZ" sz="2800" b="1" dirty="0" smtClean="0">
                <a:latin typeface="Arabic Typesetting" pitchFamily="66" charset="-78"/>
                <a:cs typeface="Arabic Typesetting" pitchFamily="66" charset="-78"/>
              </a:rPr>
              <a:t>         </a:t>
            </a:r>
            <a:r>
              <a:rPr lang="fr-FR" sz="2800" b="1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800" dirty="0" smtClean="0">
                <a:latin typeface="Arabic Typesetting" pitchFamily="66" charset="-78"/>
                <a:cs typeface="Arabic Typesetting" pitchFamily="66" charset="-78"/>
              </a:rPr>
              <a:t/>
            </a:r>
            <a:br>
              <a:rPr lang="fr-FR" sz="2800" dirty="0" smtClean="0">
                <a:latin typeface="Arabic Typesetting" pitchFamily="66" charset="-78"/>
                <a:cs typeface="Arabic Typesetting" pitchFamily="66" charset="-78"/>
              </a:rPr>
            </a:br>
            <a:r>
              <a:rPr lang="ar-DZ" sz="2800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fr-FR" sz="28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85.50  +   7.70 =  </a:t>
            </a:r>
            <a:r>
              <a:rPr lang="fr-FR" sz="28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93.20 DA</a:t>
            </a:r>
            <a:r>
              <a:rPr lang="ar-DZ" sz="28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2800" b="1" dirty="0" smtClean="0">
                <a:latin typeface="Arabic Typesetting" pitchFamily="66" charset="-78"/>
                <a:cs typeface="Arabic Typesetting" pitchFamily="66" charset="-78"/>
              </a:rPr>
              <a:t>حساب قيمة ثابتة + قيمة ضريبة مطبقة عليها</a:t>
            </a:r>
            <a:r>
              <a:rPr lang="ar-DZ" sz="2800" b="1" dirty="0" smtClean="0">
                <a:effectLst/>
                <a:latin typeface="Arabic Typesetting" pitchFamily="66" charset="-78"/>
                <a:cs typeface="Arabic Typesetting" pitchFamily="66" charset="-78"/>
              </a:rPr>
              <a:t>   </a:t>
            </a:r>
            <a:br>
              <a:rPr lang="ar-DZ" sz="2800" b="1" dirty="0" smtClean="0">
                <a:effectLst/>
                <a:latin typeface="Arabic Typesetting" pitchFamily="66" charset="-78"/>
                <a:cs typeface="Arabic Typesetting" pitchFamily="66" charset="-78"/>
              </a:rPr>
            </a:br>
            <a:r>
              <a:rPr lang="ar-DZ" sz="3200" b="1" dirty="0" smtClean="0">
                <a:solidFill>
                  <a:srgbClr val="92D050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حساب السعر الإجمالي :</a:t>
            </a:r>
            <a:r>
              <a:rPr lang="ar-DZ" sz="2800" b="1" dirty="0" smtClean="0"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2800" b="1" dirty="0" err="1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الشطرين</a:t>
            </a:r>
            <a:r>
              <a:rPr lang="ar-DZ" sz="28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الأول </a:t>
            </a:r>
            <a:r>
              <a:rPr lang="ar-DZ" sz="2800" b="1" dirty="0" err="1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و</a:t>
            </a:r>
            <a:r>
              <a:rPr lang="ar-DZ" sz="28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الثاني مع الضريبة + الشطر </a:t>
            </a:r>
            <a:r>
              <a:rPr lang="ar-DZ" sz="2800" b="1" dirty="0" err="1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الثالت</a:t>
            </a:r>
            <a:r>
              <a:rPr lang="ar-DZ" sz="28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مع الضريبة + القيمة الثابتة + القيمة الثابتة  مع الضريبة </a:t>
            </a:r>
            <a:endParaRPr lang="fr-FR" sz="3200" b="1" dirty="0">
              <a:latin typeface="Arabic Typesetting" pitchFamily="66" charset="-78"/>
              <a:cs typeface="Arabic Typesetting" pitchFamily="66" charset="-78"/>
            </a:endParaRPr>
          </a:p>
          <a:p>
            <a:pPr algn="r"/>
            <a:r>
              <a:rPr lang="ar-DZ" sz="2800" b="1" dirty="0" smtClean="0">
                <a:latin typeface="Adobe Devanagari" pitchFamily="18" charset="0"/>
                <a:cs typeface="Adobe Devanagari" pitchFamily="18" charset="0"/>
              </a:rPr>
              <a:t> </a:t>
            </a:r>
            <a:r>
              <a:rPr lang="ar-DZ" sz="2800" b="1" dirty="0" smtClean="0">
                <a:solidFill>
                  <a:srgbClr val="C00000"/>
                </a:solidFill>
                <a:latin typeface="Adobe Devanagari" pitchFamily="18" charset="0"/>
                <a:cs typeface="Adobe Devanagari" pitchFamily="18" charset="0"/>
              </a:rPr>
              <a:t>98.44 + 93.20 = 191.64 </a:t>
            </a:r>
            <a:r>
              <a:rPr lang="ar-DZ" sz="2800" b="1" dirty="0" err="1" smtClean="0">
                <a:solidFill>
                  <a:srgbClr val="C00000"/>
                </a:solidFill>
                <a:latin typeface="Adobe Devanagari" pitchFamily="18" charset="0"/>
                <a:cs typeface="Adobe Devanagari" pitchFamily="18" charset="0"/>
              </a:rPr>
              <a:t>دج</a:t>
            </a:r>
            <a:r>
              <a:rPr lang="ar-DZ" sz="2800" b="1" dirty="0" smtClean="0">
                <a:solidFill>
                  <a:srgbClr val="C00000"/>
                </a:solidFill>
                <a:latin typeface="Adobe Devanagari" pitchFamily="18" charset="0"/>
                <a:cs typeface="Adobe Devanagari" pitchFamily="18" charset="0"/>
              </a:rPr>
              <a:t> ...........................(2)</a:t>
            </a:r>
          </a:p>
          <a:p>
            <a:pPr algn="r"/>
            <a:r>
              <a:rPr lang="fr-FR" sz="2800" b="1" dirty="0" smtClean="0">
                <a:latin typeface="Adobe Devanagari" pitchFamily="18" charset="0"/>
                <a:cs typeface="Adobe Devanagari" pitchFamily="18" charset="0"/>
              </a:rPr>
              <a:t> </a:t>
            </a:r>
            <a:endParaRPr lang="fr-FR" sz="1600" b="1" dirty="0" smtClean="0">
              <a:latin typeface="Adobe Devanagari" pitchFamily="18" charset="0"/>
              <a:cs typeface="Adobe Devanagari" pitchFamily="18" charset="0"/>
            </a:endParaRPr>
          </a:p>
          <a:p>
            <a:endParaRPr lang="fr-FR" sz="24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714348" y="285729"/>
            <a:ext cx="8001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DZ" sz="3200" b="1" u="dash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حساب القيمة الإجمالية للحقوق </a:t>
            </a:r>
            <a:r>
              <a:rPr lang="ar-DZ" sz="3200" b="1" u="dash" dirty="0" err="1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و</a:t>
            </a:r>
            <a:r>
              <a:rPr lang="ar-DZ" sz="3200" b="1" u="dash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 الضرائب:</a:t>
            </a:r>
            <a:r>
              <a:rPr lang="ar-DZ" sz="3200" b="1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     </a:t>
            </a:r>
            <a:r>
              <a:rPr lang="ar-DZ" sz="3200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3200" b="1" dirty="0" smtClean="0">
                <a:solidFill>
                  <a:schemeClr val="tx1"/>
                </a:solidFill>
                <a:effectLst/>
                <a:latin typeface="Arabic Typesetting" pitchFamily="66" charset="-78"/>
                <a:cs typeface="Arabic Typesetting" pitchFamily="66" charset="-78"/>
              </a:rPr>
              <a:t>الحقوق الثابتة  +  ضريبة السكن</a:t>
            </a:r>
          </a:p>
          <a:p>
            <a:pPr algn="ctr" rtl="1"/>
            <a:r>
              <a:rPr lang="ar-DZ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                                            100 + 150 = 250 </a:t>
            </a:r>
            <a:r>
              <a:rPr lang="fr-FR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DA</a:t>
            </a:r>
            <a:r>
              <a:rPr lang="ar-DZ" sz="32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..............(3)</a:t>
            </a:r>
            <a:endParaRPr lang="fr-FR" sz="3200" dirty="0" smtClean="0">
              <a:solidFill>
                <a:srgbClr val="C00000"/>
              </a:solidFill>
            </a:endParaRPr>
          </a:p>
        </p:txBody>
      </p:sp>
      <p:sp>
        <p:nvSpPr>
          <p:cNvPr id="7" name="Parchemin horizontal 6"/>
          <p:cNvSpPr/>
          <p:nvPr/>
        </p:nvSpPr>
        <p:spPr>
          <a:xfrm>
            <a:off x="108676" y="1357298"/>
            <a:ext cx="8892480" cy="2664296"/>
          </a:xfrm>
          <a:prstGeom prst="horizontalScroll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b="1" u="dash" dirty="0" smtClean="0">
              <a:solidFill>
                <a:schemeClr val="tx1"/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algn="r"/>
            <a:r>
              <a:rPr lang="ar-DZ" b="1" u="dash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   </a:t>
            </a:r>
            <a:r>
              <a:rPr lang="ar-DZ" sz="4000" b="1" u="dash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حساب المبلغ المستحق:</a:t>
            </a:r>
          </a:p>
          <a:p>
            <a:pPr algn="ctr"/>
            <a:r>
              <a:rPr lang="ar-DZ" sz="40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سعر التكلفة الإجمالية للغاز(2) +</a:t>
            </a:r>
            <a:r>
              <a:rPr lang="fr-FR" sz="40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40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سعر التكلفة الاجمالية للكهرباء  (1)  + الاجمالية للحقوق و الضرائب (3)  + ضريبة الطابع         </a:t>
            </a:r>
            <a:r>
              <a:rPr lang="fr-FR" sz="40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DZ" sz="4000" b="1" dirty="0" smtClean="0">
                <a:solidFill>
                  <a:schemeClr val="tx1"/>
                </a:solidFill>
                <a:latin typeface="Arabic Typesetting" pitchFamily="66" charset="-78"/>
                <a:cs typeface="Arabic Typesetting" pitchFamily="66" charset="-78"/>
              </a:rPr>
              <a:t>    قيمة</a:t>
            </a:r>
            <a:endParaRPr lang="fr-FR" sz="4000" dirty="0"/>
          </a:p>
        </p:txBody>
      </p:sp>
      <p:sp>
        <p:nvSpPr>
          <p:cNvPr id="9" name="ZoneTexte 8"/>
          <p:cNvSpPr txBox="1"/>
          <p:nvPr/>
        </p:nvSpPr>
        <p:spPr>
          <a:xfrm>
            <a:off x="571472" y="4507064"/>
            <a:ext cx="885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sz="40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2014.08 </a:t>
            </a:r>
            <a:r>
              <a:rPr lang="ar-DZ" sz="4000" b="1" dirty="0" err="1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دج</a:t>
            </a:r>
            <a:r>
              <a:rPr lang="ar-DZ" sz="40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+   191.64 </a:t>
            </a:r>
            <a:r>
              <a:rPr lang="ar-DZ" sz="4000" b="1" dirty="0" err="1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دج</a:t>
            </a:r>
            <a:r>
              <a:rPr lang="ar-DZ" sz="40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 + 250 </a:t>
            </a:r>
            <a:r>
              <a:rPr lang="ar-DZ" sz="4000" b="1" dirty="0" err="1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دج</a:t>
            </a:r>
            <a:r>
              <a:rPr lang="ar-DZ" sz="40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  + 25 </a:t>
            </a:r>
            <a:r>
              <a:rPr lang="ar-DZ" sz="4000" b="1" dirty="0" err="1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دج</a:t>
            </a:r>
            <a:r>
              <a:rPr lang="ar-DZ" sz="4000" b="1" dirty="0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= 2480.72 </a:t>
            </a:r>
            <a:r>
              <a:rPr lang="ar-DZ" sz="4000" b="1" dirty="0" err="1" smtClean="0">
                <a:solidFill>
                  <a:srgbClr val="C00000"/>
                </a:solidFill>
                <a:latin typeface="Arabic Typesetting" pitchFamily="66" charset="-78"/>
                <a:cs typeface="Arabic Typesetting" pitchFamily="66" charset="-78"/>
              </a:rPr>
              <a:t>دج</a:t>
            </a:r>
            <a:endParaRPr lang="fr-FR" sz="4000" dirty="0">
              <a:latin typeface="Arabic Typesetting" pitchFamily="66" charset="-78"/>
              <a:cs typeface="Arabic Typesetting" pitchFamily="66" charset="-78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allAtOnce" animBg="1"/>
      <p:bldP spid="9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4" y="0"/>
            <a:ext cx="885828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414</TotalTime>
  <Words>530</Words>
  <Application>Microsoft Office PowerPoint</Application>
  <PresentationFormat>Affichage à l'écran (4:3)</PresentationFormat>
  <Paragraphs>122</Paragraphs>
  <Slides>10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Oriel</vt:lpstr>
      <vt:lpstr>Diapositive 1</vt:lpstr>
      <vt:lpstr>Diapositive 2</vt:lpstr>
      <vt:lpstr>تفاصيل  الفاتورة  تسلم الفاتورة الكهرباء و الغاز  من طرف شركة الكهرباء و الغاز إلى الزبون كل ثلاتة أشهر و هي تحتوي إلى قسمين . 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nassima</dc:creator>
  <cp:lastModifiedBy>nassima</cp:lastModifiedBy>
  <cp:revision>69</cp:revision>
  <dcterms:created xsi:type="dcterms:W3CDTF">2019-01-16T13:01:06Z</dcterms:created>
  <dcterms:modified xsi:type="dcterms:W3CDTF">2019-01-16T19:56:30Z</dcterms:modified>
</cp:coreProperties>
</file>